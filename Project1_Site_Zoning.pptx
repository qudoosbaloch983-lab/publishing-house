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ANALYSIS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the site plan provided in the project handout (p.4), unaltered, shown in light grey. Highlights are overlays.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pic>
        <p:nvPicPr>
          <p:cNvPr id="6" name="Image 0" descr="Site plan from the project handout (base, unaltere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42" y="1097280"/>
            <a:ext cx="7849676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2842" y="1097280"/>
            <a:ext cx="7849676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54443" y="1981328"/>
            <a:ext cx="3733016" cy="3409421"/>
          </a:xfrm>
          <a:custGeom>
            <a:avLst/>
            <a:gdLst/>
            <a:ahLst/>
            <a:cxnLst/>
            <a:rect l="l" t="t" r="r" b="b"/>
            <a:pathLst>
              <a:path w="3733016" h="3409421">
                <a:moveTo>
                  <a:pt x="383643" y="126769"/>
                </a:moveTo>
                <a:lnTo>
                  <a:pt x="300243" y="210170"/>
                </a:lnTo>
                <a:lnTo>
                  <a:pt x="193490" y="363627"/>
                </a:lnTo>
                <a:lnTo>
                  <a:pt x="126769" y="483724"/>
                </a:lnTo>
                <a:lnTo>
                  <a:pt x="53376" y="657198"/>
                </a:lnTo>
                <a:lnTo>
                  <a:pt x="3336" y="897392"/>
                </a:lnTo>
                <a:lnTo>
                  <a:pt x="0" y="1040841"/>
                </a:lnTo>
                <a:lnTo>
                  <a:pt x="20016" y="1281035"/>
                </a:lnTo>
                <a:lnTo>
                  <a:pt x="73393" y="1517893"/>
                </a:lnTo>
                <a:lnTo>
                  <a:pt x="130105" y="1691367"/>
                </a:lnTo>
                <a:lnTo>
                  <a:pt x="246866" y="1971593"/>
                </a:lnTo>
                <a:lnTo>
                  <a:pt x="356955" y="2191771"/>
                </a:lnTo>
                <a:lnTo>
                  <a:pt x="613829" y="2615447"/>
                </a:lnTo>
                <a:lnTo>
                  <a:pt x="720582" y="2752224"/>
                </a:lnTo>
                <a:lnTo>
                  <a:pt x="857359" y="2892337"/>
                </a:lnTo>
                <a:lnTo>
                  <a:pt x="1090881" y="3065810"/>
                </a:lnTo>
                <a:lnTo>
                  <a:pt x="1371108" y="3199252"/>
                </a:lnTo>
                <a:lnTo>
                  <a:pt x="1764759" y="3309340"/>
                </a:lnTo>
                <a:lnTo>
                  <a:pt x="2024969" y="3356045"/>
                </a:lnTo>
                <a:lnTo>
                  <a:pt x="2335220" y="3392741"/>
                </a:lnTo>
                <a:lnTo>
                  <a:pt x="2585422" y="3409421"/>
                </a:lnTo>
                <a:lnTo>
                  <a:pt x="2949049" y="3409421"/>
                </a:lnTo>
                <a:lnTo>
                  <a:pt x="3222604" y="3386069"/>
                </a:lnTo>
                <a:lnTo>
                  <a:pt x="3359381" y="3322685"/>
                </a:lnTo>
                <a:lnTo>
                  <a:pt x="3619591" y="3079154"/>
                </a:lnTo>
                <a:lnTo>
                  <a:pt x="3729680" y="2755560"/>
                </a:lnTo>
                <a:lnTo>
                  <a:pt x="3733016" y="2698847"/>
                </a:lnTo>
                <a:lnTo>
                  <a:pt x="3539526" y="2321876"/>
                </a:lnTo>
                <a:lnTo>
                  <a:pt x="3119187" y="1567933"/>
                </a:lnTo>
                <a:lnTo>
                  <a:pt x="2975738" y="1351092"/>
                </a:lnTo>
                <a:lnTo>
                  <a:pt x="2782248" y="1134250"/>
                </a:lnTo>
                <a:lnTo>
                  <a:pt x="2548726" y="947432"/>
                </a:lnTo>
                <a:lnTo>
                  <a:pt x="2138394" y="693894"/>
                </a:lnTo>
                <a:lnTo>
                  <a:pt x="1437828" y="330267"/>
                </a:lnTo>
                <a:lnTo>
                  <a:pt x="867367" y="63385"/>
                </a:lnTo>
                <a:lnTo>
                  <a:pt x="743934" y="16680"/>
                </a:lnTo>
                <a:lnTo>
                  <a:pt x="563789" y="0"/>
                </a:lnTo>
                <a:close/>
              </a:path>
            </a:pathLst>
          </a:custGeom>
          <a:ln w="2540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42636" y="3232338"/>
            <a:ext cx="1467853" cy="1401132"/>
          </a:xfrm>
          <a:custGeom>
            <a:avLst/>
            <a:gdLst/>
            <a:ahLst/>
            <a:cxnLst/>
            <a:rect l="l" t="t" r="r" b="b"/>
            <a:pathLst>
              <a:path w="1467853" h="1401132">
                <a:moveTo>
                  <a:pt x="133441" y="133441"/>
                </a:moveTo>
                <a:lnTo>
                  <a:pt x="800647" y="0"/>
                </a:lnTo>
                <a:lnTo>
                  <a:pt x="1134250" y="400323"/>
                </a:lnTo>
                <a:lnTo>
                  <a:pt x="1401132" y="867367"/>
                </a:lnTo>
                <a:lnTo>
                  <a:pt x="1467853" y="1200970"/>
                </a:lnTo>
                <a:lnTo>
                  <a:pt x="1200970" y="1334411"/>
                </a:lnTo>
                <a:lnTo>
                  <a:pt x="533765" y="1401132"/>
                </a:lnTo>
                <a:lnTo>
                  <a:pt x="200162" y="1134250"/>
                </a:lnTo>
                <a:lnTo>
                  <a:pt x="0" y="667206"/>
                </a:lnTo>
                <a:close/>
              </a:path>
            </a:pathLst>
          </a:custGeom>
          <a:ln w="12700">
            <a:solidFill>
              <a:srgbClr val="1B1B1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361115" y="1964647"/>
            <a:ext cx="1214314" cy="3069146"/>
          </a:xfrm>
          <a:custGeom>
            <a:avLst/>
            <a:gdLst/>
            <a:ahLst/>
            <a:cxnLst/>
            <a:rect l="l" t="t" r="r" b="b"/>
            <a:pathLst>
              <a:path w="1214314" h="3069146">
                <a:moveTo>
                  <a:pt x="13344" y="600485"/>
                </a:moveTo>
                <a:lnTo>
                  <a:pt x="580469" y="0"/>
                </a:lnTo>
                <a:lnTo>
                  <a:pt x="1147594" y="200162"/>
                </a:lnTo>
                <a:lnTo>
                  <a:pt x="1147594" y="1334411"/>
                </a:lnTo>
                <a:lnTo>
                  <a:pt x="947432" y="2268500"/>
                </a:lnTo>
                <a:lnTo>
                  <a:pt x="1214314" y="3069146"/>
                </a:lnTo>
                <a:lnTo>
                  <a:pt x="580469" y="2602102"/>
                </a:lnTo>
                <a:lnTo>
                  <a:pt x="213506" y="1868176"/>
                </a:lnTo>
                <a:lnTo>
                  <a:pt x="0" y="1000809"/>
                </a:lnTo>
                <a:close/>
              </a:path>
            </a:pathLst>
          </a:custGeom>
          <a:solidFill>
            <a:srgbClr val="4F7A43">
              <a:alpha val="30000"/>
            </a:srgbClr>
          </a:solidFill>
          <a:ln w="12700">
            <a:solidFill>
              <a:srgbClr val="4F7A43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1835211" y="2559649"/>
            <a:ext cx="411291" cy="411291"/>
          </a:xfrm>
          <a:prstGeom prst="ellipse">
            <a:avLst/>
          </a:prstGeom>
          <a:ln w="15875">
            <a:solidFill>
              <a:srgbClr val="1B1B1B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1652237" y="2417948"/>
            <a:ext cx="77724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652237" y="241794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 JUNCTION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6238769" y="5228472"/>
            <a:ext cx="411291" cy="411291"/>
          </a:xfrm>
          <a:prstGeom prst="ellipse">
            <a:avLst/>
          </a:prstGeom>
          <a:ln w="15875">
            <a:solidFill>
              <a:srgbClr val="1B1B1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055794" y="5086771"/>
            <a:ext cx="77724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55794" y="5086771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JUNCTION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6477775" y="5701000"/>
            <a:ext cx="467044" cy="974120"/>
          </a:xfrm>
          <a:custGeom>
            <a:avLst/>
            <a:gdLst/>
            <a:ahLst/>
            <a:cxnLst/>
            <a:rect l="l" t="t" r="r" b="b"/>
            <a:pathLst>
              <a:path w="467044" h="974120">
                <a:moveTo>
                  <a:pt x="0" y="0"/>
                </a:moveTo>
                <a:lnTo>
                  <a:pt x="467044" y="974120"/>
                </a:lnTo>
              </a:path>
            </a:pathLst>
          </a:custGeom>
          <a:ln w="50800">
            <a:solidFill>
              <a:srgbClr val="C426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76724" y="3966265"/>
            <a:ext cx="900728" cy="1401132"/>
          </a:xfrm>
          <a:custGeom>
            <a:avLst/>
            <a:gdLst/>
            <a:ahLst/>
            <a:cxnLst/>
            <a:rect l="l" t="t" r="r" b="b"/>
            <a:pathLst>
              <a:path w="900728" h="1401132">
                <a:moveTo>
                  <a:pt x="533765" y="0"/>
                </a:moveTo>
                <a:lnTo>
                  <a:pt x="733926" y="333603"/>
                </a:lnTo>
                <a:lnTo>
                  <a:pt x="900728" y="733926"/>
                </a:lnTo>
                <a:lnTo>
                  <a:pt x="867367" y="934088"/>
                </a:lnTo>
                <a:lnTo>
                  <a:pt x="667206" y="1200970"/>
                </a:lnTo>
                <a:lnTo>
                  <a:pt x="400323" y="1367772"/>
                </a:lnTo>
                <a:lnTo>
                  <a:pt x="0" y="1401132"/>
                </a:lnTo>
              </a:path>
            </a:pathLst>
          </a:custGeom>
          <a:ln w="50800">
            <a:solidFill>
              <a:srgbClr val="C426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62244" y="4159995"/>
            <a:ext cx="1561429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862244" y="4159995"/>
            <a:ext cx="156142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TREE COVER (as drawn)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2362007" y="3692951"/>
            <a:ext cx="1292596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362007" y="3692951"/>
            <a:ext cx="12925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F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TREES (as drawn)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6293202" y="5994811"/>
            <a:ext cx="188403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93202" y="5994811"/>
            <a:ext cx="18840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RD · media street (handout)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5797508" y="4159995"/>
            <a:ext cx="1400129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797508" y="4159995"/>
            <a:ext cx="140012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EDGE → Davis / Durand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2423407" y="3979631"/>
            <a:ext cx="3371576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423407" y="3979631"/>
            <a:ext cx="3371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SHIMLA PAHARI · contoured (plan note) · levels not shown</a:t>
            </a:r>
            <a:endParaRPr lang="en-US" sz="65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1143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ON THE PLAN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1362456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≈136,530 sq ft · 3.134 ac, oval island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Empress · Egerton · Abbot (NW) · Davis · Durand (SE)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two, one at each tip, with traffic islands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at W end + perimeter; least cover centre-east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8412480" y="24688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IDENTIFIABLE FROM PROVIDED SITE PLAN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2688336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Club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footprint or entrances drawn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noted as contoured, no levels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access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gates / paths drawn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· scale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shown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· noise · protest spot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shown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of the two long-side roads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labelled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8412480" y="4160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HANDOUT (TEXT)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437997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Rd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historically a media street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Mound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artificial, brick-kiln origin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topography not to be altered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412480" y="5180076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1B1B1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05088" y="511149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boundary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8412480" y="5381244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C4262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705088" y="531266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public edge / Davis Rd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412480" y="5522976"/>
            <a:ext cx="201168" cy="128016"/>
          </a:xfrm>
          <a:prstGeom prst="rect">
            <a:avLst/>
          </a:prstGeom>
          <a:solidFill>
            <a:srgbClr val="4F7A43">
              <a:alpha val="7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705088" y="55138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trees (as drawn)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412480" y="5783580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19050">
            <a:solidFill>
              <a:srgbClr val="1B1B1B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8705088" y="571500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tree cover (as drawn)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439912" y="5916168"/>
            <a:ext cx="146304" cy="146304"/>
          </a:xfrm>
          <a:prstGeom prst="ellipse">
            <a:avLst/>
          </a:prstGeom>
          <a:ln w="19050">
            <a:solidFill>
              <a:srgbClr val="1B1B1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05088" y="591616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junction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+ CONSTRAINTS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drawn site offers, and what limits it.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pic>
        <p:nvPicPr>
          <p:cNvPr id="6" name="Image 0" descr="Site plan from the project handout (base, unaltere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42" y="1097280"/>
            <a:ext cx="7849676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2842" y="1097280"/>
            <a:ext cx="7849676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54443" y="1981328"/>
            <a:ext cx="3733016" cy="3409421"/>
          </a:xfrm>
          <a:custGeom>
            <a:avLst/>
            <a:gdLst/>
            <a:ahLst/>
            <a:cxnLst/>
            <a:rect l="l" t="t" r="r" b="b"/>
            <a:pathLst>
              <a:path w="3733016" h="3409421">
                <a:moveTo>
                  <a:pt x="383643" y="126769"/>
                </a:moveTo>
                <a:lnTo>
                  <a:pt x="300243" y="210170"/>
                </a:lnTo>
                <a:lnTo>
                  <a:pt x="193490" y="363627"/>
                </a:lnTo>
                <a:lnTo>
                  <a:pt x="126769" y="483724"/>
                </a:lnTo>
                <a:lnTo>
                  <a:pt x="53376" y="657198"/>
                </a:lnTo>
                <a:lnTo>
                  <a:pt x="3336" y="897392"/>
                </a:lnTo>
                <a:lnTo>
                  <a:pt x="0" y="1040841"/>
                </a:lnTo>
                <a:lnTo>
                  <a:pt x="20016" y="1281035"/>
                </a:lnTo>
                <a:lnTo>
                  <a:pt x="73393" y="1517893"/>
                </a:lnTo>
                <a:lnTo>
                  <a:pt x="130105" y="1691367"/>
                </a:lnTo>
                <a:lnTo>
                  <a:pt x="246866" y="1971593"/>
                </a:lnTo>
                <a:lnTo>
                  <a:pt x="356955" y="2191771"/>
                </a:lnTo>
                <a:lnTo>
                  <a:pt x="613829" y="2615447"/>
                </a:lnTo>
                <a:lnTo>
                  <a:pt x="720582" y="2752224"/>
                </a:lnTo>
                <a:lnTo>
                  <a:pt x="857359" y="2892337"/>
                </a:lnTo>
                <a:lnTo>
                  <a:pt x="1090881" y="3065810"/>
                </a:lnTo>
                <a:lnTo>
                  <a:pt x="1371108" y="3199252"/>
                </a:lnTo>
                <a:lnTo>
                  <a:pt x="1764759" y="3309340"/>
                </a:lnTo>
                <a:lnTo>
                  <a:pt x="2024969" y="3356045"/>
                </a:lnTo>
                <a:lnTo>
                  <a:pt x="2335220" y="3392741"/>
                </a:lnTo>
                <a:lnTo>
                  <a:pt x="2585422" y="3409421"/>
                </a:lnTo>
                <a:lnTo>
                  <a:pt x="2949049" y="3409421"/>
                </a:lnTo>
                <a:lnTo>
                  <a:pt x="3222604" y="3386069"/>
                </a:lnTo>
                <a:lnTo>
                  <a:pt x="3359381" y="3322685"/>
                </a:lnTo>
                <a:lnTo>
                  <a:pt x="3619591" y="3079154"/>
                </a:lnTo>
                <a:lnTo>
                  <a:pt x="3729680" y="2755560"/>
                </a:lnTo>
                <a:lnTo>
                  <a:pt x="3733016" y="2698847"/>
                </a:lnTo>
                <a:lnTo>
                  <a:pt x="3539526" y="2321876"/>
                </a:lnTo>
                <a:lnTo>
                  <a:pt x="3119187" y="1567933"/>
                </a:lnTo>
                <a:lnTo>
                  <a:pt x="2975738" y="1351092"/>
                </a:lnTo>
                <a:lnTo>
                  <a:pt x="2782248" y="1134250"/>
                </a:lnTo>
                <a:lnTo>
                  <a:pt x="2548726" y="947432"/>
                </a:lnTo>
                <a:lnTo>
                  <a:pt x="2138394" y="693894"/>
                </a:lnTo>
                <a:lnTo>
                  <a:pt x="1437828" y="330267"/>
                </a:lnTo>
                <a:lnTo>
                  <a:pt x="867367" y="63385"/>
                </a:lnTo>
                <a:lnTo>
                  <a:pt x="743934" y="16680"/>
                </a:lnTo>
                <a:lnTo>
                  <a:pt x="563789" y="0"/>
                </a:lnTo>
                <a:close/>
              </a:path>
            </a:pathLst>
          </a:custGeom>
          <a:ln w="2540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42636" y="3232338"/>
            <a:ext cx="1467853" cy="1401132"/>
          </a:xfrm>
          <a:custGeom>
            <a:avLst/>
            <a:gdLst/>
            <a:ahLst/>
            <a:cxnLst/>
            <a:rect l="l" t="t" r="r" b="b"/>
            <a:pathLst>
              <a:path w="1467853" h="1401132">
                <a:moveTo>
                  <a:pt x="133441" y="133441"/>
                </a:moveTo>
                <a:lnTo>
                  <a:pt x="800647" y="0"/>
                </a:lnTo>
                <a:lnTo>
                  <a:pt x="1134250" y="400323"/>
                </a:lnTo>
                <a:lnTo>
                  <a:pt x="1401132" y="867367"/>
                </a:lnTo>
                <a:lnTo>
                  <a:pt x="1467853" y="1200970"/>
                </a:lnTo>
                <a:lnTo>
                  <a:pt x="1200970" y="1334411"/>
                </a:lnTo>
                <a:lnTo>
                  <a:pt x="533765" y="1401132"/>
                </a:lnTo>
                <a:lnTo>
                  <a:pt x="200162" y="1134250"/>
                </a:lnTo>
                <a:lnTo>
                  <a:pt x="0" y="667206"/>
                </a:lnTo>
                <a:close/>
              </a:path>
            </a:pathLst>
          </a:custGeom>
          <a:ln w="12700">
            <a:solidFill>
              <a:srgbClr val="1B1B1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361115" y="1964647"/>
            <a:ext cx="1214314" cy="3069146"/>
          </a:xfrm>
          <a:custGeom>
            <a:avLst/>
            <a:gdLst/>
            <a:ahLst/>
            <a:cxnLst/>
            <a:rect l="l" t="t" r="r" b="b"/>
            <a:pathLst>
              <a:path w="1214314" h="3069146">
                <a:moveTo>
                  <a:pt x="13344" y="600485"/>
                </a:moveTo>
                <a:lnTo>
                  <a:pt x="580469" y="0"/>
                </a:lnTo>
                <a:lnTo>
                  <a:pt x="1147594" y="200162"/>
                </a:lnTo>
                <a:lnTo>
                  <a:pt x="1147594" y="1334411"/>
                </a:lnTo>
                <a:lnTo>
                  <a:pt x="947432" y="2268500"/>
                </a:lnTo>
                <a:lnTo>
                  <a:pt x="1214314" y="3069146"/>
                </a:lnTo>
                <a:lnTo>
                  <a:pt x="580469" y="2602102"/>
                </a:lnTo>
                <a:lnTo>
                  <a:pt x="213506" y="1868176"/>
                </a:lnTo>
                <a:lnTo>
                  <a:pt x="0" y="1000809"/>
                </a:lnTo>
                <a:close/>
              </a:path>
            </a:pathLst>
          </a:custGeom>
          <a:solidFill>
            <a:srgbClr val="4F7A43">
              <a:alpha val="30000"/>
            </a:srgbClr>
          </a:solidFill>
          <a:ln w="12700">
            <a:solidFill>
              <a:srgbClr val="4F7A43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1835211" y="2559649"/>
            <a:ext cx="411291" cy="411291"/>
          </a:xfrm>
          <a:prstGeom prst="ellipse">
            <a:avLst/>
          </a:prstGeom>
          <a:ln w="15875">
            <a:solidFill>
              <a:srgbClr val="1B1B1B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238769" y="5228472"/>
            <a:ext cx="411291" cy="411291"/>
          </a:xfrm>
          <a:prstGeom prst="ellipse">
            <a:avLst/>
          </a:prstGeom>
          <a:ln w="15875">
            <a:solidFill>
              <a:srgbClr val="1B1B1B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77775" y="5701000"/>
            <a:ext cx="467044" cy="974120"/>
          </a:xfrm>
          <a:custGeom>
            <a:avLst/>
            <a:gdLst/>
            <a:ahLst/>
            <a:cxnLst/>
            <a:rect l="l" t="t" r="r" b="b"/>
            <a:pathLst>
              <a:path w="467044" h="974120">
                <a:moveTo>
                  <a:pt x="0" y="0"/>
                </a:moveTo>
                <a:lnTo>
                  <a:pt x="467044" y="974120"/>
                </a:lnTo>
              </a:path>
            </a:pathLst>
          </a:custGeom>
          <a:ln w="50800">
            <a:solidFill>
              <a:srgbClr val="C426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76724" y="3966265"/>
            <a:ext cx="900728" cy="1401132"/>
          </a:xfrm>
          <a:custGeom>
            <a:avLst/>
            <a:gdLst/>
            <a:ahLst/>
            <a:cxnLst/>
            <a:rect l="l" t="t" r="r" b="b"/>
            <a:pathLst>
              <a:path w="900728" h="1401132">
                <a:moveTo>
                  <a:pt x="533765" y="0"/>
                </a:moveTo>
                <a:lnTo>
                  <a:pt x="733926" y="333603"/>
                </a:lnTo>
                <a:lnTo>
                  <a:pt x="900728" y="733926"/>
                </a:lnTo>
                <a:lnTo>
                  <a:pt x="867367" y="934088"/>
                </a:lnTo>
                <a:lnTo>
                  <a:pt x="667206" y="1200970"/>
                </a:lnTo>
                <a:lnTo>
                  <a:pt x="400323" y="1367772"/>
                </a:lnTo>
                <a:lnTo>
                  <a:pt x="0" y="1401132"/>
                </a:lnTo>
              </a:path>
            </a:pathLst>
          </a:custGeom>
          <a:ln w="50800">
            <a:solidFill>
              <a:srgbClr val="C426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34363" y="4924066"/>
            <a:ext cx="219456" cy="219456"/>
          </a:xfrm>
          <a:prstGeom prst="ellipse">
            <a:avLst/>
          </a:prstGeom>
          <a:solidFill>
            <a:srgbClr val="C4262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34363" y="49240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866834" y="3923257"/>
            <a:ext cx="219456" cy="219456"/>
          </a:xfrm>
          <a:prstGeom prst="ellipse">
            <a:avLst/>
          </a:prstGeom>
          <a:solidFill>
            <a:srgbClr val="C426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66834" y="39232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931937" y="3189331"/>
            <a:ext cx="219456" cy="219456"/>
          </a:xfrm>
          <a:prstGeom prst="ellipse">
            <a:avLst/>
          </a:prstGeom>
          <a:solidFill>
            <a:srgbClr val="C4262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931937" y="318933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866834" y="2722287"/>
            <a:ext cx="219456" cy="219456"/>
          </a:xfrm>
          <a:prstGeom prst="ellipse">
            <a:avLst/>
          </a:prstGeom>
          <a:solidFill>
            <a:srgbClr val="C4262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66834" y="272228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999466" y="3623015"/>
            <a:ext cx="219456" cy="219456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999466" y="362301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598334" y="4123419"/>
            <a:ext cx="219456" cy="219456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598334" y="412341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333878" y="2121802"/>
            <a:ext cx="219456" cy="219456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333878" y="21218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398981" y="5057507"/>
            <a:ext cx="219456" cy="219456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398981" y="505750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8412480" y="1143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1362456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tip faces the Davis / Durand junction: the handout's media street — the public, civic end.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Centre-east has the least tree cover as drawn: the most buildable ground.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W-end trees: keep as a landscape the public can walk through.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long edge has a thin stretch of trees: possible service entry.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8412480" y="3200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3419856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Topography must not be altered — levels unknown: building placement to be checked against a survey.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ring along almost the whole perimeter: entries must thread between trees.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on every side: all edges exposed to traffic (volumes not shown).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Club position unknown: zoning must stay flexible around it.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439912" y="5340096"/>
            <a:ext cx="146304" cy="146304"/>
          </a:xfrm>
          <a:prstGeom prst="ellipse">
            <a:avLst/>
          </a:prstGeom>
          <a:ln w="19050">
            <a:solidFill>
              <a:srgbClr val="C4262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05088" y="534009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(numbered)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8439912" y="5541264"/>
            <a:ext cx="146304" cy="146304"/>
          </a:xfrm>
          <a:prstGeom prst="ellipse">
            <a:avLst/>
          </a:prstGeom>
          <a:ln w="19050">
            <a:solidFill>
              <a:srgbClr val="1B1B1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705088" y="554126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(lettered)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PRIVATE ZONING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straight line: public at the SE edge AND an open top; working parts split to face the service edge.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pic>
        <p:nvPicPr>
          <p:cNvPr id="6" name="Image 0" descr="Site plan from the project handout (base, unaltere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42" y="1097280"/>
            <a:ext cx="7849676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2842" y="1097280"/>
            <a:ext cx="7849676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54443" y="1981328"/>
            <a:ext cx="3733016" cy="3409421"/>
          </a:xfrm>
          <a:custGeom>
            <a:avLst/>
            <a:gdLst/>
            <a:ahLst/>
            <a:cxnLst/>
            <a:rect l="l" t="t" r="r" b="b"/>
            <a:pathLst>
              <a:path w="3733016" h="3409421">
                <a:moveTo>
                  <a:pt x="383643" y="126769"/>
                </a:moveTo>
                <a:lnTo>
                  <a:pt x="300243" y="210170"/>
                </a:lnTo>
                <a:lnTo>
                  <a:pt x="193490" y="363627"/>
                </a:lnTo>
                <a:lnTo>
                  <a:pt x="126769" y="483724"/>
                </a:lnTo>
                <a:lnTo>
                  <a:pt x="53376" y="657198"/>
                </a:lnTo>
                <a:lnTo>
                  <a:pt x="3336" y="897392"/>
                </a:lnTo>
                <a:lnTo>
                  <a:pt x="0" y="1040841"/>
                </a:lnTo>
                <a:lnTo>
                  <a:pt x="20016" y="1281035"/>
                </a:lnTo>
                <a:lnTo>
                  <a:pt x="73393" y="1517893"/>
                </a:lnTo>
                <a:lnTo>
                  <a:pt x="130105" y="1691367"/>
                </a:lnTo>
                <a:lnTo>
                  <a:pt x="246866" y="1971593"/>
                </a:lnTo>
                <a:lnTo>
                  <a:pt x="356955" y="2191771"/>
                </a:lnTo>
                <a:lnTo>
                  <a:pt x="613829" y="2615447"/>
                </a:lnTo>
                <a:lnTo>
                  <a:pt x="720582" y="2752224"/>
                </a:lnTo>
                <a:lnTo>
                  <a:pt x="857359" y="2892337"/>
                </a:lnTo>
                <a:lnTo>
                  <a:pt x="1090881" y="3065810"/>
                </a:lnTo>
                <a:lnTo>
                  <a:pt x="1371108" y="3199252"/>
                </a:lnTo>
                <a:lnTo>
                  <a:pt x="1764759" y="3309340"/>
                </a:lnTo>
                <a:lnTo>
                  <a:pt x="2024969" y="3356045"/>
                </a:lnTo>
                <a:lnTo>
                  <a:pt x="2335220" y="3392741"/>
                </a:lnTo>
                <a:lnTo>
                  <a:pt x="2585422" y="3409421"/>
                </a:lnTo>
                <a:lnTo>
                  <a:pt x="2949049" y="3409421"/>
                </a:lnTo>
                <a:lnTo>
                  <a:pt x="3222604" y="3386069"/>
                </a:lnTo>
                <a:lnTo>
                  <a:pt x="3359381" y="3322685"/>
                </a:lnTo>
                <a:lnTo>
                  <a:pt x="3619591" y="3079154"/>
                </a:lnTo>
                <a:lnTo>
                  <a:pt x="3729680" y="2755560"/>
                </a:lnTo>
                <a:lnTo>
                  <a:pt x="3733016" y="2698847"/>
                </a:lnTo>
                <a:lnTo>
                  <a:pt x="3539526" y="2321876"/>
                </a:lnTo>
                <a:lnTo>
                  <a:pt x="3119187" y="1567933"/>
                </a:lnTo>
                <a:lnTo>
                  <a:pt x="2975738" y="1351092"/>
                </a:lnTo>
                <a:lnTo>
                  <a:pt x="2782248" y="1134250"/>
                </a:lnTo>
                <a:lnTo>
                  <a:pt x="2548726" y="947432"/>
                </a:lnTo>
                <a:lnTo>
                  <a:pt x="2138394" y="693894"/>
                </a:lnTo>
                <a:lnTo>
                  <a:pt x="1437828" y="330267"/>
                </a:lnTo>
                <a:lnTo>
                  <a:pt x="867367" y="63385"/>
                </a:lnTo>
                <a:lnTo>
                  <a:pt x="743934" y="16680"/>
                </a:lnTo>
                <a:lnTo>
                  <a:pt x="563789" y="0"/>
                </a:lnTo>
                <a:close/>
              </a:path>
            </a:pathLst>
          </a:custGeom>
          <a:ln w="2540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84468" y="2012353"/>
            <a:ext cx="1953912" cy="2581419"/>
          </a:xfrm>
          <a:custGeom>
            <a:avLst/>
            <a:gdLst/>
            <a:ahLst/>
            <a:cxnLst/>
            <a:rect l="l" t="t" r="r" b="b"/>
            <a:pathLst>
              <a:path w="1953912" h="2581419">
                <a:moveTo>
                  <a:pt x="293237" y="198494"/>
                </a:moveTo>
                <a:lnTo>
                  <a:pt x="188819" y="348615"/>
                </a:lnTo>
                <a:lnTo>
                  <a:pt x="123767" y="466043"/>
                </a:lnTo>
                <a:lnTo>
                  <a:pt x="52042" y="635180"/>
                </a:lnTo>
                <a:lnTo>
                  <a:pt x="3336" y="869703"/>
                </a:lnTo>
                <a:lnTo>
                  <a:pt x="0" y="1008815"/>
                </a:lnTo>
                <a:lnTo>
                  <a:pt x="19683" y="1245340"/>
                </a:lnTo>
                <a:lnTo>
                  <a:pt x="72392" y="1478862"/>
                </a:lnTo>
                <a:lnTo>
                  <a:pt x="128104" y="1650000"/>
                </a:lnTo>
                <a:lnTo>
                  <a:pt x="244197" y="1928225"/>
                </a:lnTo>
                <a:lnTo>
                  <a:pt x="353285" y="2146067"/>
                </a:lnTo>
                <a:lnTo>
                  <a:pt x="608492" y="2567408"/>
                </a:lnTo>
                <a:lnTo>
                  <a:pt x="619501" y="2581419"/>
                </a:lnTo>
                <a:lnTo>
                  <a:pt x="1953912" y="616498"/>
                </a:lnTo>
                <a:lnTo>
                  <a:pt x="1394460" y="326264"/>
                </a:lnTo>
                <a:lnTo>
                  <a:pt x="825667" y="60049"/>
                </a:lnTo>
                <a:lnTo>
                  <a:pt x="707238" y="15012"/>
                </a:lnTo>
                <a:lnTo>
                  <a:pt x="542105" y="0"/>
                </a:lnTo>
                <a:lnTo>
                  <a:pt x="372968" y="118763"/>
                </a:lnTo>
                <a:close/>
              </a:path>
            </a:pathLst>
          </a:custGeom>
          <a:solidFill>
            <a:srgbClr val="4F7A43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7646" y="3909552"/>
            <a:ext cx="1389456" cy="1451172"/>
          </a:xfrm>
          <a:custGeom>
            <a:avLst/>
            <a:gdLst/>
            <a:ahLst/>
            <a:cxnLst/>
            <a:rect l="l" t="t" r="r" b="b"/>
            <a:pathLst>
              <a:path w="1389456" h="1451172">
                <a:moveTo>
                  <a:pt x="24687" y="1434492"/>
                </a:moveTo>
                <a:lnTo>
                  <a:pt x="273221" y="1451172"/>
                </a:lnTo>
                <a:lnTo>
                  <a:pt x="634513" y="1451172"/>
                </a:lnTo>
                <a:lnTo>
                  <a:pt x="901729" y="1428487"/>
                </a:lnTo>
                <a:lnTo>
                  <a:pt x="1029165" y="1369106"/>
                </a:lnTo>
                <a:lnTo>
                  <a:pt x="1280368" y="1134250"/>
                </a:lnTo>
                <a:lnTo>
                  <a:pt x="1386787" y="821664"/>
                </a:lnTo>
                <a:lnTo>
                  <a:pt x="1389456" y="776961"/>
                </a:lnTo>
                <a:lnTo>
                  <a:pt x="1199970" y="407663"/>
                </a:lnTo>
                <a:lnTo>
                  <a:pt x="972452" y="0"/>
                </a:lnTo>
                <a:lnTo>
                  <a:pt x="0" y="1431824"/>
                </a:lnTo>
                <a:close/>
              </a:path>
            </a:pathLst>
          </a:custGeom>
          <a:solidFill>
            <a:srgbClr val="C4262E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99449" y="3037848"/>
            <a:ext cx="2040649" cy="2303528"/>
          </a:xfrm>
          <a:custGeom>
            <a:avLst/>
            <a:gdLst/>
            <a:ahLst/>
            <a:cxnLst/>
            <a:rect l="l" t="t" r="r" b="b"/>
            <a:pathLst>
              <a:path w="2040649" h="2303528">
                <a:moveTo>
                  <a:pt x="136777" y="2114375"/>
                </a:moveTo>
                <a:lnTo>
                  <a:pt x="526425" y="2223463"/>
                </a:lnTo>
                <a:lnTo>
                  <a:pt x="784300" y="2269834"/>
                </a:lnTo>
                <a:lnTo>
                  <a:pt x="1068196" y="2303528"/>
                </a:lnTo>
                <a:lnTo>
                  <a:pt x="2040649" y="871704"/>
                </a:lnTo>
                <a:lnTo>
                  <a:pt x="1848494" y="527093"/>
                </a:lnTo>
                <a:lnTo>
                  <a:pt x="1707046" y="312919"/>
                </a:lnTo>
                <a:lnTo>
                  <a:pt x="1516559" y="99747"/>
                </a:lnTo>
                <a:lnTo>
                  <a:pt x="1392125" y="0"/>
                </a:lnTo>
                <a:lnTo>
                  <a:pt x="0" y="2049322"/>
                </a:lnTo>
                <a:close/>
              </a:path>
            </a:pathLst>
          </a:custGeom>
          <a:solidFill>
            <a:srgbClr val="E8898F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03968" y="3289718"/>
            <a:ext cx="1522564" cy="1797452"/>
          </a:xfrm>
          <a:custGeom>
            <a:avLst/>
            <a:gdLst/>
            <a:ahLst/>
            <a:cxnLst/>
            <a:rect l="l" t="t" r="r" b="b"/>
            <a:pathLst>
              <a:path w="1522564" h="1797452">
                <a:moveTo>
                  <a:pt x="93742" y="1424151"/>
                </a:moveTo>
                <a:lnTo>
                  <a:pt x="227517" y="1561261"/>
                </a:lnTo>
                <a:lnTo>
                  <a:pt x="457036" y="1731733"/>
                </a:lnTo>
                <a:lnTo>
                  <a:pt x="595481" y="1797452"/>
                </a:lnTo>
                <a:lnTo>
                  <a:pt x="1522564" y="432349"/>
                </a:lnTo>
                <a:lnTo>
                  <a:pt x="885716" y="0"/>
                </a:lnTo>
                <a:lnTo>
                  <a:pt x="0" y="1304054"/>
                </a:lnTo>
                <a:close/>
              </a:path>
            </a:pathLst>
          </a:custGeom>
          <a:solidFill>
            <a:srgbClr val="B5B5B5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89684" y="2628851"/>
            <a:ext cx="1101890" cy="1093217"/>
          </a:xfrm>
          <a:custGeom>
            <a:avLst/>
            <a:gdLst/>
            <a:ahLst/>
            <a:cxnLst/>
            <a:rect l="l" t="t" r="r" b="b"/>
            <a:pathLst>
              <a:path w="1101890" h="1093217">
                <a:moveTo>
                  <a:pt x="996138" y="324596"/>
                </a:moveTo>
                <a:lnTo>
                  <a:pt x="588475" y="72392"/>
                </a:lnTo>
                <a:lnTo>
                  <a:pt x="448696" y="0"/>
                </a:lnTo>
                <a:lnTo>
                  <a:pt x="0" y="660867"/>
                </a:lnTo>
                <a:lnTo>
                  <a:pt x="636848" y="1093217"/>
                </a:lnTo>
                <a:lnTo>
                  <a:pt x="1101890" y="408997"/>
                </a:lnTo>
                <a:close/>
              </a:path>
            </a:pathLst>
          </a:custGeom>
          <a:solidFill>
            <a:srgbClr val="4A4A4A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77007" y="3463859"/>
            <a:ext cx="366963" cy="366963"/>
          </a:xfrm>
          <a:custGeom>
            <a:avLst/>
            <a:gdLst/>
            <a:ahLst/>
            <a:cxnLst/>
            <a:rect l="l" t="t" r="r" b="b"/>
            <a:pathLst>
              <a:path w="366963" h="366963">
                <a:moveTo>
                  <a:pt x="366296" y="171472"/>
                </a:moveTo>
                <a:lnTo>
                  <a:pt x="365295" y="159796"/>
                </a:lnTo>
                <a:lnTo>
                  <a:pt x="363294" y="147786"/>
                </a:lnTo>
                <a:lnTo>
                  <a:pt x="360625" y="136110"/>
                </a:lnTo>
                <a:lnTo>
                  <a:pt x="356955" y="124767"/>
                </a:lnTo>
                <a:lnTo>
                  <a:pt x="352952" y="113425"/>
                </a:lnTo>
                <a:lnTo>
                  <a:pt x="347948" y="102416"/>
                </a:lnTo>
                <a:lnTo>
                  <a:pt x="342277" y="91741"/>
                </a:lnTo>
                <a:lnTo>
                  <a:pt x="335938" y="81733"/>
                </a:lnTo>
                <a:lnTo>
                  <a:pt x="328932" y="72058"/>
                </a:lnTo>
                <a:lnTo>
                  <a:pt x="321260" y="62717"/>
                </a:lnTo>
                <a:lnTo>
                  <a:pt x="312919" y="54044"/>
                </a:lnTo>
                <a:lnTo>
                  <a:pt x="304246" y="45704"/>
                </a:lnTo>
                <a:lnTo>
                  <a:pt x="294905" y="38031"/>
                </a:lnTo>
                <a:lnTo>
                  <a:pt x="285230" y="31025"/>
                </a:lnTo>
                <a:lnTo>
                  <a:pt x="275222" y="24687"/>
                </a:lnTo>
                <a:lnTo>
                  <a:pt x="264547" y="19015"/>
                </a:lnTo>
                <a:lnTo>
                  <a:pt x="253538" y="14011"/>
                </a:lnTo>
                <a:lnTo>
                  <a:pt x="242196" y="10008"/>
                </a:lnTo>
                <a:lnTo>
                  <a:pt x="230853" y="6338"/>
                </a:lnTo>
                <a:lnTo>
                  <a:pt x="219177" y="3670"/>
                </a:lnTo>
                <a:lnTo>
                  <a:pt x="207167" y="1668"/>
                </a:lnTo>
                <a:lnTo>
                  <a:pt x="195158" y="667"/>
                </a:lnTo>
                <a:lnTo>
                  <a:pt x="183482" y="0"/>
                </a:lnTo>
                <a:lnTo>
                  <a:pt x="171472" y="667"/>
                </a:lnTo>
                <a:lnTo>
                  <a:pt x="159462" y="1668"/>
                </a:lnTo>
                <a:lnTo>
                  <a:pt x="147452" y="3670"/>
                </a:lnTo>
                <a:lnTo>
                  <a:pt x="135776" y="6338"/>
                </a:lnTo>
                <a:lnTo>
                  <a:pt x="124434" y="10008"/>
                </a:lnTo>
                <a:lnTo>
                  <a:pt x="113091" y="14011"/>
                </a:lnTo>
                <a:lnTo>
                  <a:pt x="102082" y="19015"/>
                </a:lnTo>
                <a:lnTo>
                  <a:pt x="91741" y="24687"/>
                </a:lnTo>
                <a:lnTo>
                  <a:pt x="81399" y="31025"/>
                </a:lnTo>
                <a:lnTo>
                  <a:pt x="71725" y="38031"/>
                </a:lnTo>
                <a:lnTo>
                  <a:pt x="62384" y="45704"/>
                </a:lnTo>
                <a:lnTo>
                  <a:pt x="53710" y="54044"/>
                </a:lnTo>
                <a:lnTo>
                  <a:pt x="45370" y="62717"/>
                </a:lnTo>
                <a:lnTo>
                  <a:pt x="37697" y="72058"/>
                </a:lnTo>
                <a:lnTo>
                  <a:pt x="30691" y="81733"/>
                </a:lnTo>
                <a:lnTo>
                  <a:pt x="24353" y="91741"/>
                </a:lnTo>
                <a:lnTo>
                  <a:pt x="18682" y="102416"/>
                </a:lnTo>
                <a:lnTo>
                  <a:pt x="13678" y="113425"/>
                </a:lnTo>
                <a:lnTo>
                  <a:pt x="9674" y="124767"/>
                </a:lnTo>
                <a:lnTo>
                  <a:pt x="6005" y="136110"/>
                </a:lnTo>
                <a:lnTo>
                  <a:pt x="3336" y="147786"/>
                </a:lnTo>
                <a:lnTo>
                  <a:pt x="1334" y="159796"/>
                </a:lnTo>
                <a:lnTo>
                  <a:pt x="334" y="171472"/>
                </a:lnTo>
                <a:lnTo>
                  <a:pt x="0" y="183482"/>
                </a:lnTo>
                <a:lnTo>
                  <a:pt x="334" y="195491"/>
                </a:lnTo>
                <a:lnTo>
                  <a:pt x="1334" y="207501"/>
                </a:lnTo>
                <a:lnTo>
                  <a:pt x="3336" y="219511"/>
                </a:lnTo>
                <a:lnTo>
                  <a:pt x="6005" y="231187"/>
                </a:lnTo>
                <a:lnTo>
                  <a:pt x="9674" y="242529"/>
                </a:lnTo>
                <a:lnTo>
                  <a:pt x="13678" y="253872"/>
                </a:lnTo>
                <a:lnTo>
                  <a:pt x="18682" y="264881"/>
                </a:lnTo>
                <a:lnTo>
                  <a:pt x="24353" y="275222"/>
                </a:lnTo>
                <a:lnTo>
                  <a:pt x="30691" y="285564"/>
                </a:lnTo>
                <a:lnTo>
                  <a:pt x="37697" y="295239"/>
                </a:lnTo>
                <a:lnTo>
                  <a:pt x="45370" y="304579"/>
                </a:lnTo>
                <a:lnTo>
                  <a:pt x="53710" y="313253"/>
                </a:lnTo>
                <a:lnTo>
                  <a:pt x="62384" y="321593"/>
                </a:lnTo>
                <a:lnTo>
                  <a:pt x="71725" y="329266"/>
                </a:lnTo>
                <a:lnTo>
                  <a:pt x="81399" y="336272"/>
                </a:lnTo>
                <a:lnTo>
                  <a:pt x="91741" y="342610"/>
                </a:lnTo>
                <a:lnTo>
                  <a:pt x="102082" y="348281"/>
                </a:lnTo>
                <a:lnTo>
                  <a:pt x="113091" y="353285"/>
                </a:lnTo>
                <a:lnTo>
                  <a:pt x="124434" y="357289"/>
                </a:lnTo>
                <a:lnTo>
                  <a:pt x="135776" y="360958"/>
                </a:lnTo>
                <a:lnTo>
                  <a:pt x="147452" y="363627"/>
                </a:lnTo>
                <a:lnTo>
                  <a:pt x="159462" y="365629"/>
                </a:lnTo>
                <a:lnTo>
                  <a:pt x="171472" y="366630"/>
                </a:lnTo>
                <a:lnTo>
                  <a:pt x="183482" y="366963"/>
                </a:lnTo>
                <a:lnTo>
                  <a:pt x="195158" y="366630"/>
                </a:lnTo>
                <a:lnTo>
                  <a:pt x="207167" y="365629"/>
                </a:lnTo>
                <a:lnTo>
                  <a:pt x="219177" y="363627"/>
                </a:lnTo>
                <a:lnTo>
                  <a:pt x="230853" y="360958"/>
                </a:lnTo>
                <a:lnTo>
                  <a:pt x="242196" y="357289"/>
                </a:lnTo>
                <a:lnTo>
                  <a:pt x="253538" y="353285"/>
                </a:lnTo>
                <a:lnTo>
                  <a:pt x="264547" y="348281"/>
                </a:lnTo>
                <a:lnTo>
                  <a:pt x="275222" y="342610"/>
                </a:lnTo>
                <a:lnTo>
                  <a:pt x="285230" y="336272"/>
                </a:lnTo>
                <a:lnTo>
                  <a:pt x="294905" y="329266"/>
                </a:lnTo>
                <a:lnTo>
                  <a:pt x="304246" y="321593"/>
                </a:lnTo>
                <a:lnTo>
                  <a:pt x="312919" y="313253"/>
                </a:lnTo>
                <a:lnTo>
                  <a:pt x="321260" y="304579"/>
                </a:lnTo>
                <a:lnTo>
                  <a:pt x="328932" y="295239"/>
                </a:lnTo>
                <a:lnTo>
                  <a:pt x="335938" y="285564"/>
                </a:lnTo>
                <a:lnTo>
                  <a:pt x="342277" y="275222"/>
                </a:lnTo>
                <a:lnTo>
                  <a:pt x="347948" y="264881"/>
                </a:lnTo>
                <a:lnTo>
                  <a:pt x="352952" y="253872"/>
                </a:lnTo>
                <a:lnTo>
                  <a:pt x="356955" y="242529"/>
                </a:lnTo>
                <a:lnTo>
                  <a:pt x="360625" y="231187"/>
                </a:lnTo>
                <a:lnTo>
                  <a:pt x="363294" y="219511"/>
                </a:lnTo>
                <a:lnTo>
                  <a:pt x="365295" y="207501"/>
                </a:lnTo>
                <a:lnTo>
                  <a:pt x="366296" y="195491"/>
                </a:lnTo>
                <a:lnTo>
                  <a:pt x="366963" y="183482"/>
                </a:lnTo>
                <a:close/>
              </a:path>
            </a:pathLst>
          </a:custGeom>
          <a:solidFill>
            <a:srgbClr val="C4262E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4292" y="4900654"/>
            <a:ext cx="539862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224292" y="4900654"/>
            <a:ext cx="5398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252353" y="4241894"/>
            <a:ext cx="898307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52353" y="4241894"/>
            <a:ext cx="8983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SEMI-PUBLIC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059264" y="4532440"/>
            <a:ext cx="969996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059264" y="4532440"/>
            <a:ext cx="9699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SEMI-PRIVATE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212583" y="2982377"/>
            <a:ext cx="611551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212583" y="2982377"/>
            <a:ext cx="6115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203629" y="2900293"/>
            <a:ext cx="1256751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203629" y="2900293"/>
            <a:ext cx="12567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LANDSCAPE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691985" y="3345588"/>
            <a:ext cx="737006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691985" y="3345588"/>
            <a:ext cx="7370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TOP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939673" y="4762575"/>
            <a:ext cx="638182" cy="738263"/>
          </a:xfrm>
          <a:custGeom>
            <a:avLst/>
            <a:gdLst/>
            <a:ahLst/>
            <a:cxnLst/>
            <a:rect l="l" t="t" r="r" b="b"/>
            <a:pathLst>
              <a:path w="638182" h="738263">
                <a:moveTo>
                  <a:pt x="638182" y="738263"/>
                </a:moveTo>
                <a:lnTo>
                  <a:pt x="0" y="0"/>
                </a:lnTo>
              </a:path>
            </a:pathLst>
          </a:custGeom>
          <a:ln w="2540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540456" y="5694568"/>
            <a:ext cx="1023762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540456" y="5694568"/>
            <a:ext cx="10237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arrives here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043282" y="2231530"/>
            <a:ext cx="400323" cy="500404"/>
          </a:xfrm>
          <a:custGeom>
            <a:avLst/>
            <a:gdLst/>
            <a:ahLst/>
            <a:cxnLst/>
            <a:rect l="l" t="t" r="r" b="b"/>
            <a:pathLst>
              <a:path w="400323" h="500404">
                <a:moveTo>
                  <a:pt x="400323" y="0"/>
                </a:moveTo>
                <a:lnTo>
                  <a:pt x="0" y="500404"/>
                </a:lnTo>
              </a:path>
            </a:pathLst>
          </a:custGeom>
          <a:ln w="25400">
            <a:solidFill>
              <a:srgbClr val="1B1B1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863053" y="2024937"/>
            <a:ext cx="1561429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863053" y="2024937"/>
            <a:ext cx="156142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edge → private side</a:t>
            </a:r>
            <a:endParaRPr lang="en-US" sz="600" dirty="0"/>
          </a:p>
        </p:txBody>
      </p:sp>
      <p:sp>
        <p:nvSpPr>
          <p:cNvPr id="33" name="Text 30"/>
          <p:cNvSpPr txBox="1"/>
          <p:nvPr/>
        </p:nvSpPr>
        <p:spPr>
          <a:xfrm>
            <a:off x="8412480" y="1143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SITS WHERE IT DOES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1362456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 tip meets the junction and the media street — where crowds, cameras and speech already arrive.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Semi-public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ring in: reached through the public zone, never directly from the road.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Semi-private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side of the centre, away from the service edge: research + archive reading.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side of the centre, next to the only thin tree stretch: loading reaches it without crossing public ground.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landscape + top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wooded W end and the open top stay public: the gradient reverses as you reach them.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412480" y="4572000"/>
            <a:ext cx="201168" cy="128016"/>
          </a:xfrm>
          <a:prstGeom prst="rect">
            <a:avLst/>
          </a:prstGeom>
          <a:solidFill>
            <a:srgbClr val="C4262E">
              <a:alpha val="7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705088" y="456285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8412480" y="4773168"/>
            <a:ext cx="201168" cy="128016"/>
          </a:xfrm>
          <a:prstGeom prst="rect">
            <a:avLst/>
          </a:prstGeom>
          <a:solidFill>
            <a:srgbClr val="E8898F">
              <a:alpha val="75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705088" y="476402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semi-public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412480" y="4974336"/>
            <a:ext cx="201168" cy="128016"/>
          </a:xfrm>
          <a:prstGeom prst="rect">
            <a:avLst/>
          </a:prstGeom>
          <a:solidFill>
            <a:srgbClr val="B5B5B5">
              <a:alpha val="7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705088" y="496519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semi-private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412480" y="5175504"/>
            <a:ext cx="201168" cy="128016"/>
          </a:xfrm>
          <a:prstGeom prst="rect">
            <a:avLst/>
          </a:prstGeom>
          <a:solidFill>
            <a:srgbClr val="4A4A4A">
              <a:alpha val="7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705088" y="516636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412480" y="5376672"/>
            <a:ext cx="201168" cy="128016"/>
          </a:xfrm>
          <a:prstGeom prst="rect">
            <a:avLst/>
          </a:prstGeom>
          <a:solidFill>
            <a:srgbClr val="4F7A43">
              <a:alpha val="75000"/>
            </a:srgbClr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705088" y="53675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landscape (preserved)</a:t>
            </a:r>
            <a:endParaRPr lang="en-US" sz="700" dirty="0"/>
          </a:p>
        </p:txBody>
      </p:sp>
      <p:sp>
        <p:nvSpPr>
          <p:cNvPr id="45" name="Text 42"/>
          <p:cNvSpPr txBox="1"/>
          <p:nvPr/>
        </p:nvSpPr>
        <p:spPr>
          <a:xfrm>
            <a:off x="8412480" y="5806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is my design interpretation; zone lines are diagrammatic, to be checked against levels + Press Club position.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ZONING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program clusters on the site — no rooms, no areas yet.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pic>
        <p:nvPicPr>
          <p:cNvPr id="6" name="Image 0" descr="Site plan from the project handout (base, unaltere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42" y="1097280"/>
            <a:ext cx="7849676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2842" y="1097280"/>
            <a:ext cx="7849676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54443" y="1981328"/>
            <a:ext cx="3733016" cy="3409421"/>
          </a:xfrm>
          <a:custGeom>
            <a:avLst/>
            <a:gdLst/>
            <a:ahLst/>
            <a:cxnLst/>
            <a:rect l="l" t="t" r="r" b="b"/>
            <a:pathLst>
              <a:path w="3733016" h="3409421">
                <a:moveTo>
                  <a:pt x="383643" y="126769"/>
                </a:moveTo>
                <a:lnTo>
                  <a:pt x="300243" y="210170"/>
                </a:lnTo>
                <a:lnTo>
                  <a:pt x="193490" y="363627"/>
                </a:lnTo>
                <a:lnTo>
                  <a:pt x="126769" y="483724"/>
                </a:lnTo>
                <a:lnTo>
                  <a:pt x="53376" y="657198"/>
                </a:lnTo>
                <a:lnTo>
                  <a:pt x="3336" y="897392"/>
                </a:lnTo>
                <a:lnTo>
                  <a:pt x="0" y="1040841"/>
                </a:lnTo>
                <a:lnTo>
                  <a:pt x="20016" y="1281035"/>
                </a:lnTo>
                <a:lnTo>
                  <a:pt x="73393" y="1517893"/>
                </a:lnTo>
                <a:lnTo>
                  <a:pt x="130105" y="1691367"/>
                </a:lnTo>
                <a:lnTo>
                  <a:pt x="246866" y="1971593"/>
                </a:lnTo>
                <a:lnTo>
                  <a:pt x="356955" y="2191771"/>
                </a:lnTo>
                <a:lnTo>
                  <a:pt x="613829" y="2615447"/>
                </a:lnTo>
                <a:lnTo>
                  <a:pt x="720582" y="2752224"/>
                </a:lnTo>
                <a:lnTo>
                  <a:pt x="857359" y="2892337"/>
                </a:lnTo>
                <a:lnTo>
                  <a:pt x="1090881" y="3065810"/>
                </a:lnTo>
                <a:lnTo>
                  <a:pt x="1371108" y="3199252"/>
                </a:lnTo>
                <a:lnTo>
                  <a:pt x="1764759" y="3309340"/>
                </a:lnTo>
                <a:lnTo>
                  <a:pt x="2024969" y="3356045"/>
                </a:lnTo>
                <a:lnTo>
                  <a:pt x="2335220" y="3392741"/>
                </a:lnTo>
                <a:lnTo>
                  <a:pt x="2585422" y="3409421"/>
                </a:lnTo>
                <a:lnTo>
                  <a:pt x="2949049" y="3409421"/>
                </a:lnTo>
                <a:lnTo>
                  <a:pt x="3222604" y="3386069"/>
                </a:lnTo>
                <a:lnTo>
                  <a:pt x="3359381" y="3322685"/>
                </a:lnTo>
                <a:lnTo>
                  <a:pt x="3619591" y="3079154"/>
                </a:lnTo>
                <a:lnTo>
                  <a:pt x="3729680" y="2755560"/>
                </a:lnTo>
                <a:lnTo>
                  <a:pt x="3733016" y="2698847"/>
                </a:lnTo>
                <a:lnTo>
                  <a:pt x="3539526" y="2321876"/>
                </a:lnTo>
                <a:lnTo>
                  <a:pt x="3119187" y="1567933"/>
                </a:lnTo>
                <a:lnTo>
                  <a:pt x="2975738" y="1351092"/>
                </a:lnTo>
                <a:lnTo>
                  <a:pt x="2782248" y="1134250"/>
                </a:lnTo>
                <a:lnTo>
                  <a:pt x="2548726" y="947432"/>
                </a:lnTo>
                <a:lnTo>
                  <a:pt x="2138394" y="693894"/>
                </a:lnTo>
                <a:lnTo>
                  <a:pt x="1437828" y="330267"/>
                </a:lnTo>
                <a:lnTo>
                  <a:pt x="867367" y="63385"/>
                </a:lnTo>
                <a:lnTo>
                  <a:pt x="743934" y="16680"/>
                </a:lnTo>
                <a:lnTo>
                  <a:pt x="563789" y="0"/>
                </a:lnTo>
                <a:close/>
              </a:path>
            </a:pathLst>
          </a:custGeom>
          <a:ln w="2540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84468" y="2012353"/>
            <a:ext cx="1953912" cy="2581419"/>
          </a:xfrm>
          <a:custGeom>
            <a:avLst/>
            <a:gdLst/>
            <a:ahLst/>
            <a:cxnLst/>
            <a:rect l="l" t="t" r="r" b="b"/>
            <a:pathLst>
              <a:path w="1953912" h="2581419">
                <a:moveTo>
                  <a:pt x="293237" y="198494"/>
                </a:moveTo>
                <a:lnTo>
                  <a:pt x="188819" y="348615"/>
                </a:lnTo>
                <a:lnTo>
                  <a:pt x="123767" y="466043"/>
                </a:lnTo>
                <a:lnTo>
                  <a:pt x="52042" y="635180"/>
                </a:lnTo>
                <a:lnTo>
                  <a:pt x="3336" y="869703"/>
                </a:lnTo>
                <a:lnTo>
                  <a:pt x="0" y="1008815"/>
                </a:lnTo>
                <a:lnTo>
                  <a:pt x="19683" y="1245340"/>
                </a:lnTo>
                <a:lnTo>
                  <a:pt x="72392" y="1478862"/>
                </a:lnTo>
                <a:lnTo>
                  <a:pt x="128104" y="1650000"/>
                </a:lnTo>
                <a:lnTo>
                  <a:pt x="244197" y="1928225"/>
                </a:lnTo>
                <a:lnTo>
                  <a:pt x="353285" y="2146067"/>
                </a:lnTo>
                <a:lnTo>
                  <a:pt x="608492" y="2567408"/>
                </a:lnTo>
                <a:lnTo>
                  <a:pt x="619501" y="2581419"/>
                </a:lnTo>
                <a:lnTo>
                  <a:pt x="1953912" y="616498"/>
                </a:lnTo>
                <a:lnTo>
                  <a:pt x="1394460" y="326264"/>
                </a:lnTo>
                <a:lnTo>
                  <a:pt x="825667" y="60049"/>
                </a:lnTo>
                <a:lnTo>
                  <a:pt x="707238" y="15012"/>
                </a:lnTo>
                <a:lnTo>
                  <a:pt x="542105" y="0"/>
                </a:lnTo>
                <a:lnTo>
                  <a:pt x="372968" y="118763"/>
                </a:lnTo>
                <a:close/>
              </a:path>
            </a:pathLst>
          </a:custGeom>
          <a:solidFill>
            <a:srgbClr val="4F7A43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64552" y="4160422"/>
            <a:ext cx="1092549" cy="1200303"/>
          </a:xfrm>
          <a:custGeom>
            <a:avLst/>
            <a:gdLst/>
            <a:ahLst/>
            <a:cxnLst/>
            <a:rect l="l" t="t" r="r" b="b"/>
            <a:pathLst>
              <a:path w="1092549" h="1200303">
                <a:moveTo>
                  <a:pt x="337606" y="1200303"/>
                </a:moveTo>
                <a:lnTo>
                  <a:pt x="604822" y="1177618"/>
                </a:lnTo>
                <a:lnTo>
                  <a:pt x="732258" y="1118237"/>
                </a:lnTo>
                <a:lnTo>
                  <a:pt x="983461" y="883380"/>
                </a:lnTo>
                <a:lnTo>
                  <a:pt x="1089881" y="570795"/>
                </a:lnTo>
                <a:lnTo>
                  <a:pt x="1092549" y="526092"/>
                </a:lnTo>
                <a:lnTo>
                  <a:pt x="903063" y="156793"/>
                </a:lnTo>
                <a:lnTo>
                  <a:pt x="815325" y="0"/>
                </a:lnTo>
                <a:lnTo>
                  <a:pt x="0" y="1200303"/>
                </a:lnTo>
                <a:close/>
              </a:path>
            </a:pathLst>
          </a:custGeom>
          <a:solidFill>
            <a:srgbClr val="C4262E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96265" y="3497219"/>
            <a:ext cx="1583613" cy="1863506"/>
          </a:xfrm>
          <a:custGeom>
            <a:avLst/>
            <a:gdLst/>
            <a:ahLst/>
            <a:cxnLst/>
            <a:rect l="l" t="t" r="r" b="b"/>
            <a:pathLst>
              <a:path w="1583613" h="1863506">
                <a:moveTo>
                  <a:pt x="187485" y="1810463"/>
                </a:moveTo>
                <a:lnTo>
                  <a:pt x="496067" y="1846825"/>
                </a:lnTo>
                <a:lnTo>
                  <a:pt x="744602" y="1863506"/>
                </a:lnTo>
                <a:lnTo>
                  <a:pt x="768287" y="1863506"/>
                </a:lnTo>
                <a:lnTo>
                  <a:pt x="1583613" y="663203"/>
                </a:lnTo>
                <a:lnTo>
                  <a:pt x="1251678" y="67721"/>
                </a:lnTo>
                <a:lnTo>
                  <a:pt x="1206975" y="0"/>
                </a:lnTo>
                <a:lnTo>
                  <a:pt x="0" y="1776769"/>
                </a:lnTo>
                <a:close/>
              </a:path>
            </a:pathLst>
          </a:custGeom>
          <a:solidFill>
            <a:srgbClr val="C4262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7720" y="2934431"/>
            <a:ext cx="1055519" cy="1179286"/>
          </a:xfrm>
          <a:custGeom>
            <a:avLst/>
            <a:gdLst/>
            <a:ahLst/>
            <a:cxnLst/>
            <a:rect l="l" t="t" r="r" b="b"/>
            <a:pathLst>
              <a:path w="1055519" h="1179286">
                <a:moveTo>
                  <a:pt x="958775" y="416336"/>
                </a:moveTo>
                <a:lnTo>
                  <a:pt x="768287" y="203164"/>
                </a:lnTo>
                <a:lnTo>
                  <a:pt x="538101" y="19015"/>
                </a:lnTo>
                <a:lnTo>
                  <a:pt x="507410" y="0"/>
                </a:lnTo>
                <a:lnTo>
                  <a:pt x="0" y="746937"/>
                </a:lnTo>
                <a:lnTo>
                  <a:pt x="636514" y="1179286"/>
                </a:lnTo>
                <a:lnTo>
                  <a:pt x="1055519" y="562788"/>
                </a:lnTo>
                <a:close/>
              </a:path>
            </a:pathLst>
          </a:custGeom>
          <a:solidFill>
            <a:srgbClr val="3E5C7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03968" y="3289718"/>
            <a:ext cx="1381116" cy="1720056"/>
          </a:xfrm>
          <a:custGeom>
            <a:avLst/>
            <a:gdLst/>
            <a:ahLst/>
            <a:cxnLst/>
            <a:rect l="l" t="t" r="r" b="b"/>
            <a:pathLst>
              <a:path w="1381116" h="1720056">
                <a:moveTo>
                  <a:pt x="93742" y="1424151"/>
                </a:moveTo>
                <a:lnTo>
                  <a:pt x="227517" y="1561261"/>
                </a:lnTo>
                <a:lnTo>
                  <a:pt x="441357" y="1720056"/>
                </a:lnTo>
                <a:lnTo>
                  <a:pt x="1381116" y="336272"/>
                </a:lnTo>
                <a:lnTo>
                  <a:pt x="885716" y="0"/>
                </a:lnTo>
                <a:lnTo>
                  <a:pt x="0" y="1304054"/>
                </a:lnTo>
                <a:close/>
              </a:path>
            </a:pathLst>
          </a:custGeom>
          <a:solidFill>
            <a:srgbClr val="3E5C76">
              <a:alpha val="9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45325" y="3681368"/>
            <a:ext cx="1538910" cy="1592620"/>
          </a:xfrm>
          <a:custGeom>
            <a:avLst/>
            <a:gdLst/>
            <a:ahLst/>
            <a:cxnLst/>
            <a:rect l="l" t="t" r="r" b="b"/>
            <a:pathLst>
              <a:path w="1538910" h="1592620">
                <a:moveTo>
                  <a:pt x="15679" y="1340083"/>
                </a:moveTo>
                <a:lnTo>
                  <a:pt x="290902" y="1470855"/>
                </a:lnTo>
                <a:lnTo>
                  <a:pt x="680550" y="1579943"/>
                </a:lnTo>
                <a:lnTo>
                  <a:pt x="750940" y="1592620"/>
                </a:lnTo>
                <a:lnTo>
                  <a:pt x="1538910" y="432349"/>
                </a:lnTo>
                <a:lnTo>
                  <a:pt x="902396" y="0"/>
                </a:lnTo>
                <a:lnTo>
                  <a:pt x="0" y="1328407"/>
                </a:lnTo>
                <a:close/>
              </a:path>
            </a:pathLst>
          </a:custGeom>
          <a:solidFill>
            <a:srgbClr val="D9A441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89684" y="2628851"/>
            <a:ext cx="965447" cy="997139"/>
          </a:xfrm>
          <a:custGeom>
            <a:avLst/>
            <a:gdLst/>
            <a:ahLst/>
            <a:cxnLst/>
            <a:rect l="l" t="t" r="r" b="b"/>
            <a:pathLst>
              <a:path w="965447" h="997139">
                <a:moveTo>
                  <a:pt x="588475" y="72392"/>
                </a:moveTo>
                <a:lnTo>
                  <a:pt x="448696" y="0"/>
                </a:lnTo>
                <a:lnTo>
                  <a:pt x="0" y="660867"/>
                </a:lnTo>
                <a:lnTo>
                  <a:pt x="495400" y="997139"/>
                </a:lnTo>
                <a:lnTo>
                  <a:pt x="965447" y="305580"/>
                </a:lnTo>
                <a:close/>
              </a:path>
            </a:pathLst>
          </a:custGeom>
          <a:solidFill>
            <a:srgbClr val="9C6B3C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62065" y="2930428"/>
            <a:ext cx="467044" cy="467044"/>
          </a:xfrm>
          <a:custGeom>
            <a:avLst/>
            <a:gdLst/>
            <a:ahLst/>
            <a:cxnLst/>
            <a:rect l="l" t="t" r="r" b="b"/>
            <a:pathLst>
              <a:path w="467044" h="467044">
                <a:moveTo>
                  <a:pt x="466377" y="218510"/>
                </a:moveTo>
                <a:lnTo>
                  <a:pt x="465042" y="203164"/>
                </a:lnTo>
                <a:lnTo>
                  <a:pt x="462374" y="188152"/>
                </a:lnTo>
                <a:lnTo>
                  <a:pt x="459038" y="173140"/>
                </a:lnTo>
                <a:lnTo>
                  <a:pt x="454701" y="158461"/>
                </a:lnTo>
                <a:lnTo>
                  <a:pt x="449029" y="144450"/>
                </a:lnTo>
                <a:lnTo>
                  <a:pt x="442691" y="130439"/>
                </a:lnTo>
                <a:lnTo>
                  <a:pt x="435685" y="116761"/>
                </a:lnTo>
                <a:lnTo>
                  <a:pt x="427679" y="104084"/>
                </a:lnTo>
                <a:lnTo>
                  <a:pt x="418672" y="91407"/>
                </a:lnTo>
                <a:lnTo>
                  <a:pt x="408997" y="79731"/>
                </a:lnTo>
                <a:lnTo>
                  <a:pt x="398655" y="68389"/>
                </a:lnTo>
                <a:lnTo>
                  <a:pt x="387313" y="58047"/>
                </a:lnTo>
                <a:lnTo>
                  <a:pt x="375637" y="48372"/>
                </a:lnTo>
                <a:lnTo>
                  <a:pt x="363294" y="39365"/>
                </a:lnTo>
                <a:lnTo>
                  <a:pt x="350283" y="31359"/>
                </a:lnTo>
                <a:lnTo>
                  <a:pt x="336605" y="24353"/>
                </a:lnTo>
                <a:lnTo>
                  <a:pt x="322928" y="18015"/>
                </a:lnTo>
                <a:lnTo>
                  <a:pt x="308583" y="12677"/>
                </a:lnTo>
                <a:lnTo>
                  <a:pt x="293904" y="8006"/>
                </a:lnTo>
                <a:lnTo>
                  <a:pt x="278892" y="4670"/>
                </a:lnTo>
                <a:lnTo>
                  <a:pt x="263880" y="2002"/>
                </a:lnTo>
                <a:lnTo>
                  <a:pt x="248534" y="667"/>
                </a:lnTo>
                <a:lnTo>
                  <a:pt x="233522" y="0"/>
                </a:lnTo>
                <a:lnTo>
                  <a:pt x="218176" y="667"/>
                </a:lnTo>
                <a:lnTo>
                  <a:pt x="202831" y="2002"/>
                </a:lnTo>
                <a:lnTo>
                  <a:pt x="187818" y="4670"/>
                </a:lnTo>
                <a:lnTo>
                  <a:pt x="172806" y="8006"/>
                </a:lnTo>
                <a:lnTo>
                  <a:pt x="158461" y="12677"/>
                </a:lnTo>
                <a:lnTo>
                  <a:pt x="144116" y="18015"/>
                </a:lnTo>
                <a:lnTo>
                  <a:pt x="130105" y="24353"/>
                </a:lnTo>
                <a:lnTo>
                  <a:pt x="116761" y="31359"/>
                </a:lnTo>
                <a:lnTo>
                  <a:pt x="103750" y="39365"/>
                </a:lnTo>
                <a:lnTo>
                  <a:pt x="91407" y="48372"/>
                </a:lnTo>
                <a:lnTo>
                  <a:pt x="79397" y="58047"/>
                </a:lnTo>
                <a:lnTo>
                  <a:pt x="68389" y="68389"/>
                </a:lnTo>
                <a:lnTo>
                  <a:pt x="57713" y="79731"/>
                </a:lnTo>
                <a:lnTo>
                  <a:pt x="48039" y="91407"/>
                </a:lnTo>
                <a:lnTo>
                  <a:pt x="39365" y="104084"/>
                </a:lnTo>
                <a:lnTo>
                  <a:pt x="31025" y="116761"/>
                </a:lnTo>
                <a:lnTo>
                  <a:pt x="24019" y="130439"/>
                </a:lnTo>
                <a:lnTo>
                  <a:pt x="17681" y="144450"/>
                </a:lnTo>
                <a:lnTo>
                  <a:pt x="12343" y="158461"/>
                </a:lnTo>
                <a:lnTo>
                  <a:pt x="8006" y="173140"/>
                </a:lnTo>
                <a:lnTo>
                  <a:pt x="4337" y="188152"/>
                </a:lnTo>
                <a:lnTo>
                  <a:pt x="2002" y="203164"/>
                </a:lnTo>
                <a:lnTo>
                  <a:pt x="334" y="218510"/>
                </a:lnTo>
                <a:lnTo>
                  <a:pt x="0" y="233522"/>
                </a:lnTo>
                <a:lnTo>
                  <a:pt x="334" y="248868"/>
                </a:lnTo>
                <a:lnTo>
                  <a:pt x="2002" y="264213"/>
                </a:lnTo>
                <a:lnTo>
                  <a:pt x="4337" y="279226"/>
                </a:lnTo>
                <a:lnTo>
                  <a:pt x="8006" y="294238"/>
                </a:lnTo>
                <a:lnTo>
                  <a:pt x="12343" y="308583"/>
                </a:lnTo>
                <a:lnTo>
                  <a:pt x="17681" y="322928"/>
                </a:lnTo>
                <a:lnTo>
                  <a:pt x="24019" y="336939"/>
                </a:lnTo>
                <a:lnTo>
                  <a:pt x="31025" y="350283"/>
                </a:lnTo>
                <a:lnTo>
                  <a:pt x="39365" y="363294"/>
                </a:lnTo>
                <a:lnTo>
                  <a:pt x="48039" y="375970"/>
                </a:lnTo>
                <a:lnTo>
                  <a:pt x="57713" y="387647"/>
                </a:lnTo>
                <a:lnTo>
                  <a:pt x="68389" y="398655"/>
                </a:lnTo>
                <a:lnTo>
                  <a:pt x="79397" y="409331"/>
                </a:lnTo>
                <a:lnTo>
                  <a:pt x="91407" y="419005"/>
                </a:lnTo>
                <a:lnTo>
                  <a:pt x="103750" y="427679"/>
                </a:lnTo>
                <a:lnTo>
                  <a:pt x="116761" y="436019"/>
                </a:lnTo>
                <a:lnTo>
                  <a:pt x="130105" y="443025"/>
                </a:lnTo>
                <a:lnTo>
                  <a:pt x="144116" y="449363"/>
                </a:lnTo>
                <a:lnTo>
                  <a:pt x="158461" y="454701"/>
                </a:lnTo>
                <a:lnTo>
                  <a:pt x="172806" y="459371"/>
                </a:lnTo>
                <a:lnTo>
                  <a:pt x="187818" y="462707"/>
                </a:lnTo>
                <a:lnTo>
                  <a:pt x="202831" y="465042"/>
                </a:lnTo>
                <a:lnTo>
                  <a:pt x="218176" y="466710"/>
                </a:lnTo>
                <a:lnTo>
                  <a:pt x="233522" y="467044"/>
                </a:lnTo>
                <a:lnTo>
                  <a:pt x="248534" y="466710"/>
                </a:lnTo>
                <a:lnTo>
                  <a:pt x="263880" y="465042"/>
                </a:lnTo>
                <a:lnTo>
                  <a:pt x="278892" y="462707"/>
                </a:lnTo>
                <a:lnTo>
                  <a:pt x="293904" y="459371"/>
                </a:lnTo>
                <a:lnTo>
                  <a:pt x="308583" y="454701"/>
                </a:lnTo>
                <a:lnTo>
                  <a:pt x="322928" y="449363"/>
                </a:lnTo>
                <a:lnTo>
                  <a:pt x="336605" y="443025"/>
                </a:lnTo>
                <a:lnTo>
                  <a:pt x="350283" y="436019"/>
                </a:lnTo>
                <a:lnTo>
                  <a:pt x="363294" y="427679"/>
                </a:lnTo>
                <a:lnTo>
                  <a:pt x="375637" y="419005"/>
                </a:lnTo>
                <a:lnTo>
                  <a:pt x="387313" y="409331"/>
                </a:lnTo>
                <a:lnTo>
                  <a:pt x="398655" y="398655"/>
                </a:lnTo>
                <a:lnTo>
                  <a:pt x="408997" y="387647"/>
                </a:lnTo>
                <a:lnTo>
                  <a:pt x="418672" y="375970"/>
                </a:lnTo>
                <a:lnTo>
                  <a:pt x="427679" y="363294"/>
                </a:lnTo>
                <a:lnTo>
                  <a:pt x="435685" y="350283"/>
                </a:lnTo>
                <a:lnTo>
                  <a:pt x="442691" y="336939"/>
                </a:lnTo>
                <a:lnTo>
                  <a:pt x="449029" y="322928"/>
                </a:lnTo>
                <a:lnTo>
                  <a:pt x="454701" y="308583"/>
                </a:lnTo>
                <a:lnTo>
                  <a:pt x="459038" y="294238"/>
                </a:lnTo>
                <a:lnTo>
                  <a:pt x="462374" y="279226"/>
                </a:lnTo>
                <a:lnTo>
                  <a:pt x="465042" y="264213"/>
                </a:lnTo>
                <a:lnTo>
                  <a:pt x="466377" y="248868"/>
                </a:lnTo>
                <a:lnTo>
                  <a:pt x="467044" y="233522"/>
                </a:lnTo>
                <a:close/>
              </a:path>
            </a:pathLst>
          </a:custGeom>
          <a:solidFill>
            <a:srgbClr val="7A7A7A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77007" y="3463859"/>
            <a:ext cx="366963" cy="366963"/>
          </a:xfrm>
          <a:custGeom>
            <a:avLst/>
            <a:gdLst/>
            <a:ahLst/>
            <a:cxnLst/>
            <a:rect l="l" t="t" r="r" b="b"/>
            <a:pathLst>
              <a:path w="366963" h="366963">
                <a:moveTo>
                  <a:pt x="366296" y="171472"/>
                </a:moveTo>
                <a:lnTo>
                  <a:pt x="365295" y="159796"/>
                </a:lnTo>
                <a:lnTo>
                  <a:pt x="363294" y="147786"/>
                </a:lnTo>
                <a:lnTo>
                  <a:pt x="360625" y="136110"/>
                </a:lnTo>
                <a:lnTo>
                  <a:pt x="356955" y="124767"/>
                </a:lnTo>
                <a:lnTo>
                  <a:pt x="352952" y="113425"/>
                </a:lnTo>
                <a:lnTo>
                  <a:pt x="347948" y="102416"/>
                </a:lnTo>
                <a:lnTo>
                  <a:pt x="342277" y="91741"/>
                </a:lnTo>
                <a:lnTo>
                  <a:pt x="335938" y="81733"/>
                </a:lnTo>
                <a:lnTo>
                  <a:pt x="328932" y="72058"/>
                </a:lnTo>
                <a:lnTo>
                  <a:pt x="321260" y="62717"/>
                </a:lnTo>
                <a:lnTo>
                  <a:pt x="312919" y="54044"/>
                </a:lnTo>
                <a:lnTo>
                  <a:pt x="304246" y="45704"/>
                </a:lnTo>
                <a:lnTo>
                  <a:pt x="294905" y="38031"/>
                </a:lnTo>
                <a:lnTo>
                  <a:pt x="285230" y="31025"/>
                </a:lnTo>
                <a:lnTo>
                  <a:pt x="275222" y="24687"/>
                </a:lnTo>
                <a:lnTo>
                  <a:pt x="264547" y="19015"/>
                </a:lnTo>
                <a:lnTo>
                  <a:pt x="253538" y="14011"/>
                </a:lnTo>
                <a:lnTo>
                  <a:pt x="242196" y="10008"/>
                </a:lnTo>
                <a:lnTo>
                  <a:pt x="230853" y="6338"/>
                </a:lnTo>
                <a:lnTo>
                  <a:pt x="219177" y="3670"/>
                </a:lnTo>
                <a:lnTo>
                  <a:pt x="207167" y="1668"/>
                </a:lnTo>
                <a:lnTo>
                  <a:pt x="195158" y="667"/>
                </a:lnTo>
                <a:lnTo>
                  <a:pt x="183482" y="0"/>
                </a:lnTo>
                <a:lnTo>
                  <a:pt x="171472" y="667"/>
                </a:lnTo>
                <a:lnTo>
                  <a:pt x="159462" y="1668"/>
                </a:lnTo>
                <a:lnTo>
                  <a:pt x="147452" y="3670"/>
                </a:lnTo>
                <a:lnTo>
                  <a:pt x="135776" y="6338"/>
                </a:lnTo>
                <a:lnTo>
                  <a:pt x="124434" y="10008"/>
                </a:lnTo>
                <a:lnTo>
                  <a:pt x="113091" y="14011"/>
                </a:lnTo>
                <a:lnTo>
                  <a:pt x="102082" y="19015"/>
                </a:lnTo>
                <a:lnTo>
                  <a:pt x="91741" y="24687"/>
                </a:lnTo>
                <a:lnTo>
                  <a:pt x="81399" y="31025"/>
                </a:lnTo>
                <a:lnTo>
                  <a:pt x="71725" y="38031"/>
                </a:lnTo>
                <a:lnTo>
                  <a:pt x="62384" y="45704"/>
                </a:lnTo>
                <a:lnTo>
                  <a:pt x="53710" y="54044"/>
                </a:lnTo>
                <a:lnTo>
                  <a:pt x="45370" y="62717"/>
                </a:lnTo>
                <a:lnTo>
                  <a:pt x="37697" y="72058"/>
                </a:lnTo>
                <a:lnTo>
                  <a:pt x="30691" y="81733"/>
                </a:lnTo>
                <a:lnTo>
                  <a:pt x="24353" y="91741"/>
                </a:lnTo>
                <a:lnTo>
                  <a:pt x="18682" y="102416"/>
                </a:lnTo>
                <a:lnTo>
                  <a:pt x="13678" y="113425"/>
                </a:lnTo>
                <a:lnTo>
                  <a:pt x="9674" y="124767"/>
                </a:lnTo>
                <a:lnTo>
                  <a:pt x="6005" y="136110"/>
                </a:lnTo>
                <a:lnTo>
                  <a:pt x="3336" y="147786"/>
                </a:lnTo>
                <a:lnTo>
                  <a:pt x="1334" y="159796"/>
                </a:lnTo>
                <a:lnTo>
                  <a:pt x="334" y="171472"/>
                </a:lnTo>
                <a:lnTo>
                  <a:pt x="0" y="183482"/>
                </a:lnTo>
                <a:lnTo>
                  <a:pt x="334" y="195491"/>
                </a:lnTo>
                <a:lnTo>
                  <a:pt x="1334" y="207501"/>
                </a:lnTo>
                <a:lnTo>
                  <a:pt x="3336" y="219511"/>
                </a:lnTo>
                <a:lnTo>
                  <a:pt x="6005" y="231187"/>
                </a:lnTo>
                <a:lnTo>
                  <a:pt x="9674" y="242529"/>
                </a:lnTo>
                <a:lnTo>
                  <a:pt x="13678" y="253872"/>
                </a:lnTo>
                <a:lnTo>
                  <a:pt x="18682" y="264881"/>
                </a:lnTo>
                <a:lnTo>
                  <a:pt x="24353" y="275222"/>
                </a:lnTo>
                <a:lnTo>
                  <a:pt x="30691" y="285564"/>
                </a:lnTo>
                <a:lnTo>
                  <a:pt x="37697" y="295239"/>
                </a:lnTo>
                <a:lnTo>
                  <a:pt x="45370" y="304579"/>
                </a:lnTo>
                <a:lnTo>
                  <a:pt x="53710" y="313253"/>
                </a:lnTo>
                <a:lnTo>
                  <a:pt x="62384" y="321593"/>
                </a:lnTo>
                <a:lnTo>
                  <a:pt x="71725" y="329266"/>
                </a:lnTo>
                <a:lnTo>
                  <a:pt x="81399" y="336272"/>
                </a:lnTo>
                <a:lnTo>
                  <a:pt x="91741" y="342610"/>
                </a:lnTo>
                <a:lnTo>
                  <a:pt x="102082" y="348281"/>
                </a:lnTo>
                <a:lnTo>
                  <a:pt x="113091" y="353285"/>
                </a:lnTo>
                <a:lnTo>
                  <a:pt x="124434" y="357289"/>
                </a:lnTo>
                <a:lnTo>
                  <a:pt x="135776" y="360958"/>
                </a:lnTo>
                <a:lnTo>
                  <a:pt x="147452" y="363627"/>
                </a:lnTo>
                <a:lnTo>
                  <a:pt x="159462" y="365629"/>
                </a:lnTo>
                <a:lnTo>
                  <a:pt x="171472" y="366630"/>
                </a:lnTo>
                <a:lnTo>
                  <a:pt x="183482" y="366963"/>
                </a:lnTo>
                <a:lnTo>
                  <a:pt x="195158" y="366630"/>
                </a:lnTo>
                <a:lnTo>
                  <a:pt x="207167" y="365629"/>
                </a:lnTo>
                <a:lnTo>
                  <a:pt x="219177" y="363627"/>
                </a:lnTo>
                <a:lnTo>
                  <a:pt x="230853" y="360958"/>
                </a:lnTo>
                <a:lnTo>
                  <a:pt x="242196" y="357289"/>
                </a:lnTo>
                <a:lnTo>
                  <a:pt x="253538" y="353285"/>
                </a:lnTo>
                <a:lnTo>
                  <a:pt x="264547" y="348281"/>
                </a:lnTo>
                <a:lnTo>
                  <a:pt x="275222" y="342610"/>
                </a:lnTo>
                <a:lnTo>
                  <a:pt x="285230" y="336272"/>
                </a:lnTo>
                <a:lnTo>
                  <a:pt x="294905" y="329266"/>
                </a:lnTo>
                <a:lnTo>
                  <a:pt x="304246" y="321593"/>
                </a:lnTo>
                <a:lnTo>
                  <a:pt x="312919" y="313253"/>
                </a:lnTo>
                <a:lnTo>
                  <a:pt x="321260" y="304579"/>
                </a:lnTo>
                <a:lnTo>
                  <a:pt x="328932" y="295239"/>
                </a:lnTo>
                <a:lnTo>
                  <a:pt x="335938" y="285564"/>
                </a:lnTo>
                <a:lnTo>
                  <a:pt x="342277" y="275222"/>
                </a:lnTo>
                <a:lnTo>
                  <a:pt x="347948" y="264881"/>
                </a:lnTo>
                <a:lnTo>
                  <a:pt x="352952" y="253872"/>
                </a:lnTo>
                <a:lnTo>
                  <a:pt x="356955" y="242529"/>
                </a:lnTo>
                <a:lnTo>
                  <a:pt x="360625" y="231187"/>
                </a:lnTo>
                <a:lnTo>
                  <a:pt x="363294" y="219511"/>
                </a:lnTo>
                <a:lnTo>
                  <a:pt x="365295" y="207501"/>
                </a:lnTo>
                <a:lnTo>
                  <a:pt x="366296" y="195491"/>
                </a:lnTo>
                <a:lnTo>
                  <a:pt x="366963" y="18348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93326" y="4919702"/>
            <a:ext cx="717728" cy="1348423"/>
          </a:xfrm>
          <a:custGeom>
            <a:avLst/>
            <a:gdLst/>
            <a:ahLst/>
            <a:cxnLst/>
            <a:rect l="l" t="t" r="r" b="b"/>
            <a:pathLst>
              <a:path w="717728" h="1348423">
                <a:moveTo>
                  <a:pt x="0" y="0"/>
                </a:moveTo>
                <a:lnTo>
                  <a:pt x="717728" y="1348423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70466" y="4896842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0" name="Shape 17"/>
          <p:cNvSpPr/>
          <p:nvPr/>
        </p:nvSpPr>
        <p:spPr>
          <a:xfrm>
            <a:off x="5327719" y="6194972"/>
            <a:ext cx="2166671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27719" y="6194972"/>
            <a:ext cx="216667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 FORUM UNDER TREES · PROTEST EDGE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976103" y="4233147"/>
            <a:ext cx="1901995" cy="500571"/>
          </a:xfrm>
          <a:custGeom>
            <a:avLst/>
            <a:gdLst/>
            <a:ahLst/>
            <a:cxnLst/>
            <a:rect l="l" t="t" r="r" b="b"/>
            <a:pathLst>
              <a:path w="1901995" h="500571">
                <a:moveTo>
                  <a:pt x="0" y="500571"/>
                </a:moveTo>
                <a:lnTo>
                  <a:pt x="1901995" y="0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53243" y="4710858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4" name="Shape 21"/>
          <p:cNvSpPr/>
          <p:nvPr/>
        </p:nvSpPr>
        <p:spPr>
          <a:xfrm>
            <a:off x="5590897" y="4159995"/>
            <a:ext cx="257440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90897" y="4159995"/>
            <a:ext cx="257440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EXHIBITION · FORUM · AUDITORIUM · PRESS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985521" y="3381221"/>
            <a:ext cx="1592334" cy="585044"/>
          </a:xfrm>
          <a:custGeom>
            <a:avLst/>
            <a:gdLst/>
            <a:ahLst/>
            <a:cxnLst/>
            <a:rect l="l" t="t" r="r" b="b"/>
            <a:pathLst>
              <a:path w="1592334" h="585044">
                <a:moveTo>
                  <a:pt x="0" y="0"/>
                </a:moveTo>
                <a:lnTo>
                  <a:pt x="1592334" y="585044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62661" y="3358361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8" name="Shape 25"/>
          <p:cNvSpPr/>
          <p:nvPr/>
        </p:nvSpPr>
        <p:spPr>
          <a:xfrm>
            <a:off x="5931375" y="3893113"/>
            <a:ext cx="129296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31375" y="3893113"/>
            <a:ext cx="12929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LIBRARY + READING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4389287" y="2765294"/>
            <a:ext cx="1721524" cy="270752"/>
          </a:xfrm>
          <a:custGeom>
            <a:avLst/>
            <a:gdLst/>
            <a:ahLst/>
            <a:cxnLst/>
            <a:rect l="l" t="t" r="r" b="b"/>
            <a:pathLst>
              <a:path w="1721524" h="270752">
                <a:moveTo>
                  <a:pt x="0" y="270752"/>
                </a:moveTo>
                <a:lnTo>
                  <a:pt x="1721524" y="0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66427" y="3013186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2" name="Shape 29"/>
          <p:cNvSpPr/>
          <p:nvPr/>
        </p:nvSpPr>
        <p:spPr>
          <a:xfrm>
            <a:off x="5027476" y="2692142"/>
            <a:ext cx="2166671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7476" y="2692142"/>
            <a:ext cx="216667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C/D  MEDIA · EDITORIAL · PUBLISHING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95497" y="2098089"/>
            <a:ext cx="848109" cy="1065986"/>
          </a:xfrm>
          <a:custGeom>
            <a:avLst/>
            <a:gdLst/>
            <a:ahLst/>
            <a:cxnLst/>
            <a:rect l="l" t="t" r="r" b="b"/>
            <a:pathLst>
              <a:path w="848109" h="1065986">
                <a:moveTo>
                  <a:pt x="0" y="1065986"/>
                </a:moveTo>
                <a:lnTo>
                  <a:pt x="848109" y="0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637" y="3141215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6" name="Shape 33"/>
          <p:cNvSpPr/>
          <p:nvPr/>
        </p:nvSpPr>
        <p:spPr>
          <a:xfrm>
            <a:off x="4855372" y="2024937"/>
            <a:ext cx="1176467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55372" y="2024937"/>
            <a:ext cx="11764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 ADMIN · SERVICE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3708871" y="4787690"/>
            <a:ext cx="333508" cy="1280273"/>
          </a:xfrm>
          <a:custGeom>
            <a:avLst/>
            <a:gdLst/>
            <a:ahLst/>
            <a:cxnLst/>
            <a:rect l="l" t="t" r="r" b="b"/>
            <a:pathLst>
              <a:path w="333508" h="1280273">
                <a:moveTo>
                  <a:pt x="333508" y="0"/>
                </a:moveTo>
                <a:lnTo>
                  <a:pt x="0" y="1280273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19518" y="4764830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0" name="Shape 37"/>
          <p:cNvSpPr/>
          <p:nvPr/>
        </p:nvSpPr>
        <p:spPr>
          <a:xfrm>
            <a:off x="2945896" y="5994811"/>
            <a:ext cx="1525951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945896" y="5994811"/>
            <a:ext cx="15259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WORKSHOPS · EDUCATION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574621" y="4347350"/>
            <a:ext cx="934255" cy="1353649"/>
          </a:xfrm>
          <a:custGeom>
            <a:avLst/>
            <a:gdLst/>
            <a:ahLst/>
            <a:cxnLst/>
            <a:rect l="l" t="t" r="r" b="b"/>
            <a:pathLst>
              <a:path w="934255" h="1353649">
                <a:moveTo>
                  <a:pt x="934255" y="0"/>
                </a:moveTo>
                <a:lnTo>
                  <a:pt x="0" y="1353649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86016" y="4324490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4" name="Shape 41"/>
          <p:cNvSpPr/>
          <p:nvPr/>
        </p:nvSpPr>
        <p:spPr>
          <a:xfrm>
            <a:off x="1899017" y="5627848"/>
            <a:ext cx="135120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899017" y="5627848"/>
            <a:ext cx="13512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ARCHIVE + RESEARCH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1573813" y="2973445"/>
            <a:ext cx="1258192" cy="1059540"/>
          </a:xfrm>
          <a:custGeom>
            <a:avLst/>
            <a:gdLst/>
            <a:ahLst/>
            <a:cxnLst/>
            <a:rect l="l" t="t" r="r" b="b"/>
            <a:pathLst>
              <a:path w="1258192" h="1059540">
                <a:moveTo>
                  <a:pt x="1258192" y="0"/>
                </a:moveTo>
                <a:lnTo>
                  <a:pt x="0" y="1059540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809145" y="2950585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8" name="Shape 45"/>
          <p:cNvSpPr/>
          <p:nvPr/>
        </p:nvSpPr>
        <p:spPr>
          <a:xfrm>
            <a:off x="869084" y="3959833"/>
            <a:ext cx="1409456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9084" y="3959833"/>
            <a:ext cx="140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 PRESERVED LANDSCAPE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3772635" y="3281580"/>
            <a:ext cx="575706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3772635" y="3281580"/>
            <a:ext cx="5757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TOP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8412480" y="1188720"/>
            <a:ext cx="201168" cy="128016"/>
          </a:xfrm>
          <a:prstGeom prst="rect">
            <a:avLst/>
          </a:prstGeom>
          <a:solidFill>
            <a:srgbClr val="C4262E">
              <a:alpha val="75000"/>
            </a:srgbClr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8705088" y="117957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G  PUBLIC / CIVIC — forum, auditorium, exhibition, gathering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8412480" y="1389888"/>
            <a:ext cx="201168" cy="128016"/>
          </a:xfrm>
          <a:prstGeom prst="rect">
            <a:avLst/>
          </a:prstGeom>
          <a:solidFill>
            <a:srgbClr val="3E5C76">
              <a:alpha val="75000"/>
            </a:srgbClr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8705088" y="138074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KNOWLEDGE — library, reading, archive, research</a:t>
            </a:r>
            <a:endParaRPr lang="en-US" sz="700" dirty="0"/>
          </a:p>
        </p:txBody>
      </p:sp>
      <p:sp>
        <p:nvSpPr>
          <p:cNvPr id="56" name="Shape 53"/>
          <p:cNvSpPr/>
          <p:nvPr/>
        </p:nvSpPr>
        <p:spPr>
          <a:xfrm>
            <a:off x="8412480" y="1591056"/>
            <a:ext cx="201168" cy="128016"/>
          </a:xfrm>
          <a:prstGeom prst="rect">
            <a:avLst/>
          </a:prstGeom>
          <a:solidFill>
            <a:srgbClr val="9C6B3C">
              <a:alpha val="75000"/>
            </a:srgbClr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705088" y="158191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C/D  PRODUCTION — editorial, publishing, media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8412480" y="1792224"/>
            <a:ext cx="201168" cy="128016"/>
          </a:xfrm>
          <a:prstGeom prst="rect">
            <a:avLst/>
          </a:prstGeom>
          <a:solidFill>
            <a:srgbClr val="D9A441">
              <a:alpha val="75000"/>
            </a:srgbClr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8705088" y="178308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LEARNING — workshops, education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8412480" y="1993392"/>
            <a:ext cx="201168" cy="128016"/>
          </a:xfrm>
          <a:prstGeom prst="rect">
            <a:avLst/>
          </a:prstGeom>
          <a:solidFill>
            <a:srgbClr val="7A7A7A">
              <a:alpha val="75000"/>
            </a:srgbClr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705088" y="19842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 ADMIN / SERVICE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8412480" y="2194560"/>
            <a:ext cx="201168" cy="128016"/>
          </a:xfrm>
          <a:prstGeom prst="rect">
            <a:avLst/>
          </a:prstGeom>
          <a:solidFill>
            <a:srgbClr val="4F7A43">
              <a:alpha val="75000"/>
            </a:srgb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705088" y="218541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 LANDSCAPE — preserved, walkable</a:t>
            </a:r>
            <a:endParaRPr lang="en-US" sz="700" dirty="0"/>
          </a:p>
        </p:txBody>
      </p:sp>
      <p:sp>
        <p:nvSpPr>
          <p:cNvPr id="64" name="Text 61"/>
          <p:cNvSpPr txBox="1"/>
          <p:nvPr/>
        </p:nvSpPr>
        <p:spPr>
          <a:xfrm>
            <a:off x="8412480" y="2560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ORDER (SE → NW)</a:t>
            </a:r>
            <a:endParaRPr lang="en-US" sz="800" dirty="0"/>
          </a:p>
        </p:txBody>
      </p:sp>
      <p:sp>
        <p:nvSpPr>
          <p:cNvPr id="65" name="Text 62"/>
          <p:cNvSpPr txBox="1"/>
          <p:nvPr/>
        </p:nvSpPr>
        <p:spPr>
          <a:xfrm>
            <a:off x="8412480" y="2779776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+ junction → forum under trees (G)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halls facing it (A)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+ learning, side by side (B, E)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+ research | media + publishing (B, C/D)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top → wooded W end (H)</a:t>
            </a:r>
            <a:endParaRPr lang="en-US" sz="750" dirty="0"/>
          </a:p>
        </p:txBody>
      </p:sp>
      <p:sp>
        <p:nvSpPr>
          <p:cNvPr id="66" name="Text 63"/>
          <p:cNvSpPr txBox="1"/>
          <p:nvPr/>
        </p:nvSpPr>
        <p:spPr>
          <a:xfrm>
            <a:off x="8412480" y="4160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ORDER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412480" y="437997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program sits where the public already arrives; knowledge sits between the public and production so both reach it; production sits on the service edge; the most wooded ground stays unbuilt.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412480" y="5303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from handout: required = library + reading, archive, research + studios, media + recording, publishing. ‘May include’ = exhibition, forum, auditorium, workshops, education.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+ USER CIRCULATION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systems. Entry points are PROPOSED — existing gates are not shown on the plan.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pic>
        <p:nvPicPr>
          <p:cNvPr id="6" name="Image 0" descr="Site plan from the project handout (base, unaltere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42" y="1097280"/>
            <a:ext cx="7849676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2842" y="1097280"/>
            <a:ext cx="7849676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54443" y="1981328"/>
            <a:ext cx="3733016" cy="3409421"/>
          </a:xfrm>
          <a:custGeom>
            <a:avLst/>
            <a:gdLst/>
            <a:ahLst/>
            <a:cxnLst/>
            <a:rect l="l" t="t" r="r" b="b"/>
            <a:pathLst>
              <a:path w="3733016" h="3409421">
                <a:moveTo>
                  <a:pt x="383643" y="126769"/>
                </a:moveTo>
                <a:lnTo>
                  <a:pt x="300243" y="210170"/>
                </a:lnTo>
                <a:lnTo>
                  <a:pt x="193490" y="363627"/>
                </a:lnTo>
                <a:lnTo>
                  <a:pt x="126769" y="483724"/>
                </a:lnTo>
                <a:lnTo>
                  <a:pt x="53376" y="657198"/>
                </a:lnTo>
                <a:lnTo>
                  <a:pt x="3336" y="897392"/>
                </a:lnTo>
                <a:lnTo>
                  <a:pt x="0" y="1040841"/>
                </a:lnTo>
                <a:lnTo>
                  <a:pt x="20016" y="1281035"/>
                </a:lnTo>
                <a:lnTo>
                  <a:pt x="73393" y="1517893"/>
                </a:lnTo>
                <a:lnTo>
                  <a:pt x="130105" y="1691367"/>
                </a:lnTo>
                <a:lnTo>
                  <a:pt x="246866" y="1971593"/>
                </a:lnTo>
                <a:lnTo>
                  <a:pt x="356955" y="2191771"/>
                </a:lnTo>
                <a:lnTo>
                  <a:pt x="613829" y="2615447"/>
                </a:lnTo>
                <a:lnTo>
                  <a:pt x="720582" y="2752224"/>
                </a:lnTo>
                <a:lnTo>
                  <a:pt x="857359" y="2892337"/>
                </a:lnTo>
                <a:lnTo>
                  <a:pt x="1090881" y="3065810"/>
                </a:lnTo>
                <a:lnTo>
                  <a:pt x="1371108" y="3199252"/>
                </a:lnTo>
                <a:lnTo>
                  <a:pt x="1764759" y="3309340"/>
                </a:lnTo>
                <a:lnTo>
                  <a:pt x="2024969" y="3356045"/>
                </a:lnTo>
                <a:lnTo>
                  <a:pt x="2335220" y="3392741"/>
                </a:lnTo>
                <a:lnTo>
                  <a:pt x="2585422" y="3409421"/>
                </a:lnTo>
                <a:lnTo>
                  <a:pt x="2949049" y="3409421"/>
                </a:lnTo>
                <a:lnTo>
                  <a:pt x="3222604" y="3386069"/>
                </a:lnTo>
                <a:lnTo>
                  <a:pt x="3359381" y="3322685"/>
                </a:lnTo>
                <a:lnTo>
                  <a:pt x="3619591" y="3079154"/>
                </a:lnTo>
                <a:lnTo>
                  <a:pt x="3729680" y="2755560"/>
                </a:lnTo>
                <a:lnTo>
                  <a:pt x="3733016" y="2698847"/>
                </a:lnTo>
                <a:lnTo>
                  <a:pt x="3539526" y="2321876"/>
                </a:lnTo>
                <a:lnTo>
                  <a:pt x="3119187" y="1567933"/>
                </a:lnTo>
                <a:lnTo>
                  <a:pt x="2975738" y="1351092"/>
                </a:lnTo>
                <a:lnTo>
                  <a:pt x="2782248" y="1134250"/>
                </a:lnTo>
                <a:lnTo>
                  <a:pt x="2548726" y="947432"/>
                </a:lnTo>
                <a:lnTo>
                  <a:pt x="2138394" y="693894"/>
                </a:lnTo>
                <a:lnTo>
                  <a:pt x="1437828" y="330267"/>
                </a:lnTo>
                <a:lnTo>
                  <a:pt x="867367" y="63385"/>
                </a:lnTo>
                <a:lnTo>
                  <a:pt x="743934" y="16680"/>
                </a:lnTo>
                <a:lnTo>
                  <a:pt x="563789" y="0"/>
                </a:lnTo>
                <a:close/>
              </a:path>
            </a:pathLst>
          </a:custGeom>
          <a:ln w="2540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84468" y="2012353"/>
            <a:ext cx="1953912" cy="2581419"/>
          </a:xfrm>
          <a:custGeom>
            <a:avLst/>
            <a:gdLst/>
            <a:ahLst/>
            <a:cxnLst/>
            <a:rect l="l" t="t" r="r" b="b"/>
            <a:pathLst>
              <a:path w="1953912" h="2581419">
                <a:moveTo>
                  <a:pt x="293237" y="198494"/>
                </a:moveTo>
                <a:lnTo>
                  <a:pt x="188819" y="348615"/>
                </a:lnTo>
                <a:lnTo>
                  <a:pt x="123767" y="466043"/>
                </a:lnTo>
                <a:lnTo>
                  <a:pt x="52042" y="635180"/>
                </a:lnTo>
                <a:lnTo>
                  <a:pt x="3336" y="869703"/>
                </a:lnTo>
                <a:lnTo>
                  <a:pt x="0" y="1008815"/>
                </a:lnTo>
                <a:lnTo>
                  <a:pt x="19683" y="1245340"/>
                </a:lnTo>
                <a:lnTo>
                  <a:pt x="72392" y="1478862"/>
                </a:lnTo>
                <a:lnTo>
                  <a:pt x="128104" y="1650000"/>
                </a:lnTo>
                <a:lnTo>
                  <a:pt x="244197" y="1928225"/>
                </a:lnTo>
                <a:lnTo>
                  <a:pt x="353285" y="2146067"/>
                </a:lnTo>
                <a:lnTo>
                  <a:pt x="608492" y="2567408"/>
                </a:lnTo>
                <a:lnTo>
                  <a:pt x="619501" y="2581419"/>
                </a:lnTo>
                <a:lnTo>
                  <a:pt x="1953912" y="616498"/>
                </a:lnTo>
                <a:lnTo>
                  <a:pt x="1394460" y="326264"/>
                </a:lnTo>
                <a:lnTo>
                  <a:pt x="825667" y="60049"/>
                </a:lnTo>
                <a:lnTo>
                  <a:pt x="707238" y="15012"/>
                </a:lnTo>
                <a:lnTo>
                  <a:pt x="542105" y="0"/>
                </a:lnTo>
                <a:lnTo>
                  <a:pt x="372968" y="118763"/>
                </a:lnTo>
                <a:close/>
              </a:path>
            </a:pathLst>
          </a:custGeom>
          <a:solidFill>
            <a:srgbClr val="4F7A43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64552" y="4160422"/>
            <a:ext cx="1092549" cy="1200303"/>
          </a:xfrm>
          <a:custGeom>
            <a:avLst/>
            <a:gdLst/>
            <a:ahLst/>
            <a:cxnLst/>
            <a:rect l="l" t="t" r="r" b="b"/>
            <a:pathLst>
              <a:path w="1092549" h="1200303">
                <a:moveTo>
                  <a:pt x="337606" y="1200303"/>
                </a:moveTo>
                <a:lnTo>
                  <a:pt x="604822" y="1177618"/>
                </a:lnTo>
                <a:lnTo>
                  <a:pt x="732258" y="1118237"/>
                </a:lnTo>
                <a:lnTo>
                  <a:pt x="983461" y="883380"/>
                </a:lnTo>
                <a:lnTo>
                  <a:pt x="1089881" y="570795"/>
                </a:lnTo>
                <a:lnTo>
                  <a:pt x="1092549" y="526092"/>
                </a:lnTo>
                <a:lnTo>
                  <a:pt x="903063" y="156793"/>
                </a:lnTo>
                <a:lnTo>
                  <a:pt x="815325" y="0"/>
                </a:lnTo>
                <a:lnTo>
                  <a:pt x="0" y="1200303"/>
                </a:lnTo>
                <a:close/>
              </a:path>
            </a:pathLst>
          </a:custGeom>
          <a:solidFill>
            <a:srgbClr val="C4262E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96265" y="3497219"/>
            <a:ext cx="1583613" cy="1863506"/>
          </a:xfrm>
          <a:custGeom>
            <a:avLst/>
            <a:gdLst/>
            <a:ahLst/>
            <a:cxnLst/>
            <a:rect l="l" t="t" r="r" b="b"/>
            <a:pathLst>
              <a:path w="1583613" h="1863506">
                <a:moveTo>
                  <a:pt x="187485" y="1810463"/>
                </a:moveTo>
                <a:lnTo>
                  <a:pt x="496067" y="1846825"/>
                </a:lnTo>
                <a:lnTo>
                  <a:pt x="744602" y="1863506"/>
                </a:lnTo>
                <a:lnTo>
                  <a:pt x="768287" y="1863506"/>
                </a:lnTo>
                <a:lnTo>
                  <a:pt x="1583613" y="663203"/>
                </a:lnTo>
                <a:lnTo>
                  <a:pt x="1251678" y="67721"/>
                </a:lnTo>
                <a:lnTo>
                  <a:pt x="1206975" y="0"/>
                </a:lnTo>
                <a:lnTo>
                  <a:pt x="0" y="1776769"/>
                </a:lnTo>
                <a:close/>
              </a:path>
            </a:pathLst>
          </a:custGeom>
          <a:solidFill>
            <a:srgbClr val="C4262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7720" y="2934431"/>
            <a:ext cx="1055519" cy="1179286"/>
          </a:xfrm>
          <a:custGeom>
            <a:avLst/>
            <a:gdLst/>
            <a:ahLst/>
            <a:cxnLst/>
            <a:rect l="l" t="t" r="r" b="b"/>
            <a:pathLst>
              <a:path w="1055519" h="1179286">
                <a:moveTo>
                  <a:pt x="958775" y="416336"/>
                </a:moveTo>
                <a:lnTo>
                  <a:pt x="768287" y="203164"/>
                </a:lnTo>
                <a:lnTo>
                  <a:pt x="538101" y="19015"/>
                </a:lnTo>
                <a:lnTo>
                  <a:pt x="507410" y="0"/>
                </a:lnTo>
                <a:lnTo>
                  <a:pt x="0" y="746937"/>
                </a:lnTo>
                <a:lnTo>
                  <a:pt x="636514" y="1179286"/>
                </a:lnTo>
                <a:lnTo>
                  <a:pt x="1055519" y="562788"/>
                </a:lnTo>
                <a:close/>
              </a:path>
            </a:pathLst>
          </a:custGeom>
          <a:solidFill>
            <a:srgbClr val="3E5C7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03968" y="3289718"/>
            <a:ext cx="1381116" cy="1720056"/>
          </a:xfrm>
          <a:custGeom>
            <a:avLst/>
            <a:gdLst/>
            <a:ahLst/>
            <a:cxnLst/>
            <a:rect l="l" t="t" r="r" b="b"/>
            <a:pathLst>
              <a:path w="1381116" h="1720056">
                <a:moveTo>
                  <a:pt x="93742" y="1424151"/>
                </a:moveTo>
                <a:lnTo>
                  <a:pt x="227517" y="1561261"/>
                </a:lnTo>
                <a:lnTo>
                  <a:pt x="441357" y="1720056"/>
                </a:lnTo>
                <a:lnTo>
                  <a:pt x="1381116" y="336272"/>
                </a:lnTo>
                <a:lnTo>
                  <a:pt x="885716" y="0"/>
                </a:lnTo>
                <a:lnTo>
                  <a:pt x="0" y="1304054"/>
                </a:lnTo>
                <a:close/>
              </a:path>
            </a:pathLst>
          </a:custGeom>
          <a:solidFill>
            <a:srgbClr val="3E5C76">
              <a:alpha val="9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45325" y="3681368"/>
            <a:ext cx="1538910" cy="1592620"/>
          </a:xfrm>
          <a:custGeom>
            <a:avLst/>
            <a:gdLst/>
            <a:ahLst/>
            <a:cxnLst/>
            <a:rect l="l" t="t" r="r" b="b"/>
            <a:pathLst>
              <a:path w="1538910" h="1592620">
                <a:moveTo>
                  <a:pt x="15679" y="1340083"/>
                </a:moveTo>
                <a:lnTo>
                  <a:pt x="290902" y="1470855"/>
                </a:lnTo>
                <a:lnTo>
                  <a:pt x="680550" y="1579943"/>
                </a:lnTo>
                <a:lnTo>
                  <a:pt x="750940" y="1592620"/>
                </a:lnTo>
                <a:lnTo>
                  <a:pt x="1538910" y="432349"/>
                </a:lnTo>
                <a:lnTo>
                  <a:pt x="902396" y="0"/>
                </a:lnTo>
                <a:lnTo>
                  <a:pt x="0" y="1328407"/>
                </a:lnTo>
                <a:close/>
              </a:path>
            </a:pathLst>
          </a:custGeom>
          <a:solidFill>
            <a:srgbClr val="D9A441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89684" y="2628851"/>
            <a:ext cx="965447" cy="997139"/>
          </a:xfrm>
          <a:custGeom>
            <a:avLst/>
            <a:gdLst/>
            <a:ahLst/>
            <a:cxnLst/>
            <a:rect l="l" t="t" r="r" b="b"/>
            <a:pathLst>
              <a:path w="965447" h="997139">
                <a:moveTo>
                  <a:pt x="588475" y="72392"/>
                </a:moveTo>
                <a:lnTo>
                  <a:pt x="448696" y="0"/>
                </a:lnTo>
                <a:lnTo>
                  <a:pt x="0" y="660867"/>
                </a:lnTo>
                <a:lnTo>
                  <a:pt x="495400" y="997139"/>
                </a:lnTo>
                <a:lnTo>
                  <a:pt x="965447" y="305580"/>
                </a:lnTo>
                <a:close/>
              </a:path>
            </a:pathLst>
          </a:custGeom>
          <a:solidFill>
            <a:srgbClr val="9C6B3C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62065" y="2930428"/>
            <a:ext cx="467044" cy="467044"/>
          </a:xfrm>
          <a:custGeom>
            <a:avLst/>
            <a:gdLst/>
            <a:ahLst/>
            <a:cxnLst/>
            <a:rect l="l" t="t" r="r" b="b"/>
            <a:pathLst>
              <a:path w="467044" h="467044">
                <a:moveTo>
                  <a:pt x="466377" y="218510"/>
                </a:moveTo>
                <a:lnTo>
                  <a:pt x="465042" y="203164"/>
                </a:lnTo>
                <a:lnTo>
                  <a:pt x="462374" y="188152"/>
                </a:lnTo>
                <a:lnTo>
                  <a:pt x="459038" y="173140"/>
                </a:lnTo>
                <a:lnTo>
                  <a:pt x="454701" y="158461"/>
                </a:lnTo>
                <a:lnTo>
                  <a:pt x="449029" y="144450"/>
                </a:lnTo>
                <a:lnTo>
                  <a:pt x="442691" y="130439"/>
                </a:lnTo>
                <a:lnTo>
                  <a:pt x="435685" y="116761"/>
                </a:lnTo>
                <a:lnTo>
                  <a:pt x="427679" y="104084"/>
                </a:lnTo>
                <a:lnTo>
                  <a:pt x="418672" y="91407"/>
                </a:lnTo>
                <a:lnTo>
                  <a:pt x="408997" y="79731"/>
                </a:lnTo>
                <a:lnTo>
                  <a:pt x="398655" y="68389"/>
                </a:lnTo>
                <a:lnTo>
                  <a:pt x="387313" y="58047"/>
                </a:lnTo>
                <a:lnTo>
                  <a:pt x="375637" y="48372"/>
                </a:lnTo>
                <a:lnTo>
                  <a:pt x="363294" y="39365"/>
                </a:lnTo>
                <a:lnTo>
                  <a:pt x="350283" y="31359"/>
                </a:lnTo>
                <a:lnTo>
                  <a:pt x="336605" y="24353"/>
                </a:lnTo>
                <a:lnTo>
                  <a:pt x="322928" y="18015"/>
                </a:lnTo>
                <a:lnTo>
                  <a:pt x="308583" y="12677"/>
                </a:lnTo>
                <a:lnTo>
                  <a:pt x="293904" y="8006"/>
                </a:lnTo>
                <a:lnTo>
                  <a:pt x="278892" y="4670"/>
                </a:lnTo>
                <a:lnTo>
                  <a:pt x="263880" y="2002"/>
                </a:lnTo>
                <a:lnTo>
                  <a:pt x="248534" y="667"/>
                </a:lnTo>
                <a:lnTo>
                  <a:pt x="233522" y="0"/>
                </a:lnTo>
                <a:lnTo>
                  <a:pt x="218176" y="667"/>
                </a:lnTo>
                <a:lnTo>
                  <a:pt x="202831" y="2002"/>
                </a:lnTo>
                <a:lnTo>
                  <a:pt x="187818" y="4670"/>
                </a:lnTo>
                <a:lnTo>
                  <a:pt x="172806" y="8006"/>
                </a:lnTo>
                <a:lnTo>
                  <a:pt x="158461" y="12677"/>
                </a:lnTo>
                <a:lnTo>
                  <a:pt x="144116" y="18015"/>
                </a:lnTo>
                <a:lnTo>
                  <a:pt x="130105" y="24353"/>
                </a:lnTo>
                <a:lnTo>
                  <a:pt x="116761" y="31359"/>
                </a:lnTo>
                <a:lnTo>
                  <a:pt x="103750" y="39365"/>
                </a:lnTo>
                <a:lnTo>
                  <a:pt x="91407" y="48372"/>
                </a:lnTo>
                <a:lnTo>
                  <a:pt x="79397" y="58047"/>
                </a:lnTo>
                <a:lnTo>
                  <a:pt x="68389" y="68389"/>
                </a:lnTo>
                <a:lnTo>
                  <a:pt x="57713" y="79731"/>
                </a:lnTo>
                <a:lnTo>
                  <a:pt x="48039" y="91407"/>
                </a:lnTo>
                <a:lnTo>
                  <a:pt x="39365" y="104084"/>
                </a:lnTo>
                <a:lnTo>
                  <a:pt x="31025" y="116761"/>
                </a:lnTo>
                <a:lnTo>
                  <a:pt x="24019" y="130439"/>
                </a:lnTo>
                <a:lnTo>
                  <a:pt x="17681" y="144450"/>
                </a:lnTo>
                <a:lnTo>
                  <a:pt x="12343" y="158461"/>
                </a:lnTo>
                <a:lnTo>
                  <a:pt x="8006" y="173140"/>
                </a:lnTo>
                <a:lnTo>
                  <a:pt x="4337" y="188152"/>
                </a:lnTo>
                <a:lnTo>
                  <a:pt x="2002" y="203164"/>
                </a:lnTo>
                <a:lnTo>
                  <a:pt x="334" y="218510"/>
                </a:lnTo>
                <a:lnTo>
                  <a:pt x="0" y="233522"/>
                </a:lnTo>
                <a:lnTo>
                  <a:pt x="334" y="248868"/>
                </a:lnTo>
                <a:lnTo>
                  <a:pt x="2002" y="264213"/>
                </a:lnTo>
                <a:lnTo>
                  <a:pt x="4337" y="279226"/>
                </a:lnTo>
                <a:lnTo>
                  <a:pt x="8006" y="294238"/>
                </a:lnTo>
                <a:lnTo>
                  <a:pt x="12343" y="308583"/>
                </a:lnTo>
                <a:lnTo>
                  <a:pt x="17681" y="322928"/>
                </a:lnTo>
                <a:lnTo>
                  <a:pt x="24019" y="336939"/>
                </a:lnTo>
                <a:lnTo>
                  <a:pt x="31025" y="350283"/>
                </a:lnTo>
                <a:lnTo>
                  <a:pt x="39365" y="363294"/>
                </a:lnTo>
                <a:lnTo>
                  <a:pt x="48039" y="375970"/>
                </a:lnTo>
                <a:lnTo>
                  <a:pt x="57713" y="387647"/>
                </a:lnTo>
                <a:lnTo>
                  <a:pt x="68389" y="398655"/>
                </a:lnTo>
                <a:lnTo>
                  <a:pt x="79397" y="409331"/>
                </a:lnTo>
                <a:lnTo>
                  <a:pt x="91407" y="419005"/>
                </a:lnTo>
                <a:lnTo>
                  <a:pt x="103750" y="427679"/>
                </a:lnTo>
                <a:lnTo>
                  <a:pt x="116761" y="436019"/>
                </a:lnTo>
                <a:lnTo>
                  <a:pt x="130105" y="443025"/>
                </a:lnTo>
                <a:lnTo>
                  <a:pt x="144116" y="449363"/>
                </a:lnTo>
                <a:lnTo>
                  <a:pt x="158461" y="454701"/>
                </a:lnTo>
                <a:lnTo>
                  <a:pt x="172806" y="459371"/>
                </a:lnTo>
                <a:lnTo>
                  <a:pt x="187818" y="462707"/>
                </a:lnTo>
                <a:lnTo>
                  <a:pt x="202831" y="465042"/>
                </a:lnTo>
                <a:lnTo>
                  <a:pt x="218176" y="466710"/>
                </a:lnTo>
                <a:lnTo>
                  <a:pt x="233522" y="467044"/>
                </a:lnTo>
                <a:lnTo>
                  <a:pt x="248534" y="466710"/>
                </a:lnTo>
                <a:lnTo>
                  <a:pt x="263880" y="465042"/>
                </a:lnTo>
                <a:lnTo>
                  <a:pt x="278892" y="462707"/>
                </a:lnTo>
                <a:lnTo>
                  <a:pt x="293904" y="459371"/>
                </a:lnTo>
                <a:lnTo>
                  <a:pt x="308583" y="454701"/>
                </a:lnTo>
                <a:lnTo>
                  <a:pt x="322928" y="449363"/>
                </a:lnTo>
                <a:lnTo>
                  <a:pt x="336605" y="443025"/>
                </a:lnTo>
                <a:lnTo>
                  <a:pt x="350283" y="436019"/>
                </a:lnTo>
                <a:lnTo>
                  <a:pt x="363294" y="427679"/>
                </a:lnTo>
                <a:lnTo>
                  <a:pt x="375637" y="419005"/>
                </a:lnTo>
                <a:lnTo>
                  <a:pt x="387313" y="409331"/>
                </a:lnTo>
                <a:lnTo>
                  <a:pt x="398655" y="398655"/>
                </a:lnTo>
                <a:lnTo>
                  <a:pt x="408997" y="387647"/>
                </a:lnTo>
                <a:lnTo>
                  <a:pt x="418672" y="375970"/>
                </a:lnTo>
                <a:lnTo>
                  <a:pt x="427679" y="363294"/>
                </a:lnTo>
                <a:lnTo>
                  <a:pt x="435685" y="350283"/>
                </a:lnTo>
                <a:lnTo>
                  <a:pt x="442691" y="336939"/>
                </a:lnTo>
                <a:lnTo>
                  <a:pt x="449029" y="322928"/>
                </a:lnTo>
                <a:lnTo>
                  <a:pt x="454701" y="308583"/>
                </a:lnTo>
                <a:lnTo>
                  <a:pt x="459038" y="294238"/>
                </a:lnTo>
                <a:lnTo>
                  <a:pt x="462374" y="279226"/>
                </a:lnTo>
                <a:lnTo>
                  <a:pt x="465042" y="264213"/>
                </a:lnTo>
                <a:lnTo>
                  <a:pt x="466377" y="248868"/>
                </a:lnTo>
                <a:lnTo>
                  <a:pt x="467044" y="233522"/>
                </a:lnTo>
                <a:close/>
              </a:path>
            </a:pathLst>
          </a:custGeom>
          <a:solidFill>
            <a:srgbClr val="7A7A7A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77007" y="3463859"/>
            <a:ext cx="366963" cy="366963"/>
          </a:xfrm>
          <a:custGeom>
            <a:avLst/>
            <a:gdLst/>
            <a:ahLst/>
            <a:cxnLst/>
            <a:rect l="l" t="t" r="r" b="b"/>
            <a:pathLst>
              <a:path w="366963" h="366963">
                <a:moveTo>
                  <a:pt x="366296" y="171472"/>
                </a:moveTo>
                <a:lnTo>
                  <a:pt x="365295" y="159796"/>
                </a:lnTo>
                <a:lnTo>
                  <a:pt x="363294" y="147786"/>
                </a:lnTo>
                <a:lnTo>
                  <a:pt x="360625" y="136110"/>
                </a:lnTo>
                <a:lnTo>
                  <a:pt x="356955" y="124767"/>
                </a:lnTo>
                <a:lnTo>
                  <a:pt x="352952" y="113425"/>
                </a:lnTo>
                <a:lnTo>
                  <a:pt x="347948" y="102416"/>
                </a:lnTo>
                <a:lnTo>
                  <a:pt x="342277" y="91741"/>
                </a:lnTo>
                <a:lnTo>
                  <a:pt x="335938" y="81733"/>
                </a:lnTo>
                <a:lnTo>
                  <a:pt x="328932" y="72058"/>
                </a:lnTo>
                <a:lnTo>
                  <a:pt x="321260" y="62717"/>
                </a:lnTo>
                <a:lnTo>
                  <a:pt x="312919" y="54044"/>
                </a:lnTo>
                <a:lnTo>
                  <a:pt x="304246" y="45704"/>
                </a:lnTo>
                <a:lnTo>
                  <a:pt x="294905" y="38031"/>
                </a:lnTo>
                <a:lnTo>
                  <a:pt x="285230" y="31025"/>
                </a:lnTo>
                <a:lnTo>
                  <a:pt x="275222" y="24687"/>
                </a:lnTo>
                <a:lnTo>
                  <a:pt x="264547" y="19015"/>
                </a:lnTo>
                <a:lnTo>
                  <a:pt x="253538" y="14011"/>
                </a:lnTo>
                <a:lnTo>
                  <a:pt x="242196" y="10008"/>
                </a:lnTo>
                <a:lnTo>
                  <a:pt x="230853" y="6338"/>
                </a:lnTo>
                <a:lnTo>
                  <a:pt x="219177" y="3670"/>
                </a:lnTo>
                <a:lnTo>
                  <a:pt x="207167" y="1668"/>
                </a:lnTo>
                <a:lnTo>
                  <a:pt x="195158" y="667"/>
                </a:lnTo>
                <a:lnTo>
                  <a:pt x="183482" y="0"/>
                </a:lnTo>
                <a:lnTo>
                  <a:pt x="171472" y="667"/>
                </a:lnTo>
                <a:lnTo>
                  <a:pt x="159462" y="1668"/>
                </a:lnTo>
                <a:lnTo>
                  <a:pt x="147452" y="3670"/>
                </a:lnTo>
                <a:lnTo>
                  <a:pt x="135776" y="6338"/>
                </a:lnTo>
                <a:lnTo>
                  <a:pt x="124434" y="10008"/>
                </a:lnTo>
                <a:lnTo>
                  <a:pt x="113091" y="14011"/>
                </a:lnTo>
                <a:lnTo>
                  <a:pt x="102082" y="19015"/>
                </a:lnTo>
                <a:lnTo>
                  <a:pt x="91741" y="24687"/>
                </a:lnTo>
                <a:lnTo>
                  <a:pt x="81399" y="31025"/>
                </a:lnTo>
                <a:lnTo>
                  <a:pt x="71725" y="38031"/>
                </a:lnTo>
                <a:lnTo>
                  <a:pt x="62384" y="45704"/>
                </a:lnTo>
                <a:lnTo>
                  <a:pt x="53710" y="54044"/>
                </a:lnTo>
                <a:lnTo>
                  <a:pt x="45370" y="62717"/>
                </a:lnTo>
                <a:lnTo>
                  <a:pt x="37697" y="72058"/>
                </a:lnTo>
                <a:lnTo>
                  <a:pt x="30691" y="81733"/>
                </a:lnTo>
                <a:lnTo>
                  <a:pt x="24353" y="91741"/>
                </a:lnTo>
                <a:lnTo>
                  <a:pt x="18682" y="102416"/>
                </a:lnTo>
                <a:lnTo>
                  <a:pt x="13678" y="113425"/>
                </a:lnTo>
                <a:lnTo>
                  <a:pt x="9674" y="124767"/>
                </a:lnTo>
                <a:lnTo>
                  <a:pt x="6005" y="136110"/>
                </a:lnTo>
                <a:lnTo>
                  <a:pt x="3336" y="147786"/>
                </a:lnTo>
                <a:lnTo>
                  <a:pt x="1334" y="159796"/>
                </a:lnTo>
                <a:lnTo>
                  <a:pt x="334" y="171472"/>
                </a:lnTo>
                <a:lnTo>
                  <a:pt x="0" y="183482"/>
                </a:lnTo>
                <a:lnTo>
                  <a:pt x="334" y="195491"/>
                </a:lnTo>
                <a:lnTo>
                  <a:pt x="1334" y="207501"/>
                </a:lnTo>
                <a:lnTo>
                  <a:pt x="3336" y="219511"/>
                </a:lnTo>
                <a:lnTo>
                  <a:pt x="6005" y="231187"/>
                </a:lnTo>
                <a:lnTo>
                  <a:pt x="9674" y="242529"/>
                </a:lnTo>
                <a:lnTo>
                  <a:pt x="13678" y="253872"/>
                </a:lnTo>
                <a:lnTo>
                  <a:pt x="18682" y="264881"/>
                </a:lnTo>
                <a:lnTo>
                  <a:pt x="24353" y="275222"/>
                </a:lnTo>
                <a:lnTo>
                  <a:pt x="30691" y="285564"/>
                </a:lnTo>
                <a:lnTo>
                  <a:pt x="37697" y="295239"/>
                </a:lnTo>
                <a:lnTo>
                  <a:pt x="45370" y="304579"/>
                </a:lnTo>
                <a:lnTo>
                  <a:pt x="53710" y="313253"/>
                </a:lnTo>
                <a:lnTo>
                  <a:pt x="62384" y="321593"/>
                </a:lnTo>
                <a:lnTo>
                  <a:pt x="71725" y="329266"/>
                </a:lnTo>
                <a:lnTo>
                  <a:pt x="81399" y="336272"/>
                </a:lnTo>
                <a:lnTo>
                  <a:pt x="91741" y="342610"/>
                </a:lnTo>
                <a:lnTo>
                  <a:pt x="102082" y="348281"/>
                </a:lnTo>
                <a:lnTo>
                  <a:pt x="113091" y="353285"/>
                </a:lnTo>
                <a:lnTo>
                  <a:pt x="124434" y="357289"/>
                </a:lnTo>
                <a:lnTo>
                  <a:pt x="135776" y="360958"/>
                </a:lnTo>
                <a:lnTo>
                  <a:pt x="147452" y="363627"/>
                </a:lnTo>
                <a:lnTo>
                  <a:pt x="159462" y="365629"/>
                </a:lnTo>
                <a:lnTo>
                  <a:pt x="171472" y="366630"/>
                </a:lnTo>
                <a:lnTo>
                  <a:pt x="183482" y="366963"/>
                </a:lnTo>
                <a:lnTo>
                  <a:pt x="195158" y="366630"/>
                </a:lnTo>
                <a:lnTo>
                  <a:pt x="207167" y="365629"/>
                </a:lnTo>
                <a:lnTo>
                  <a:pt x="219177" y="363627"/>
                </a:lnTo>
                <a:lnTo>
                  <a:pt x="230853" y="360958"/>
                </a:lnTo>
                <a:lnTo>
                  <a:pt x="242196" y="357289"/>
                </a:lnTo>
                <a:lnTo>
                  <a:pt x="253538" y="353285"/>
                </a:lnTo>
                <a:lnTo>
                  <a:pt x="264547" y="348281"/>
                </a:lnTo>
                <a:lnTo>
                  <a:pt x="275222" y="342610"/>
                </a:lnTo>
                <a:lnTo>
                  <a:pt x="285230" y="336272"/>
                </a:lnTo>
                <a:lnTo>
                  <a:pt x="294905" y="329266"/>
                </a:lnTo>
                <a:lnTo>
                  <a:pt x="304246" y="321593"/>
                </a:lnTo>
                <a:lnTo>
                  <a:pt x="312919" y="313253"/>
                </a:lnTo>
                <a:lnTo>
                  <a:pt x="321260" y="304579"/>
                </a:lnTo>
                <a:lnTo>
                  <a:pt x="328932" y="295239"/>
                </a:lnTo>
                <a:lnTo>
                  <a:pt x="335938" y="285564"/>
                </a:lnTo>
                <a:lnTo>
                  <a:pt x="342277" y="275222"/>
                </a:lnTo>
                <a:lnTo>
                  <a:pt x="347948" y="264881"/>
                </a:lnTo>
                <a:lnTo>
                  <a:pt x="352952" y="253872"/>
                </a:lnTo>
                <a:lnTo>
                  <a:pt x="356955" y="242529"/>
                </a:lnTo>
                <a:lnTo>
                  <a:pt x="360625" y="231187"/>
                </a:lnTo>
                <a:lnTo>
                  <a:pt x="363294" y="219511"/>
                </a:lnTo>
                <a:lnTo>
                  <a:pt x="365295" y="207501"/>
                </a:lnTo>
                <a:lnTo>
                  <a:pt x="366296" y="195491"/>
                </a:lnTo>
                <a:lnTo>
                  <a:pt x="366963" y="18348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60488" y="3647340"/>
            <a:ext cx="2350566" cy="1820137"/>
          </a:xfrm>
          <a:custGeom>
            <a:avLst/>
            <a:gdLst/>
            <a:ahLst/>
            <a:cxnLst/>
            <a:rect l="l" t="t" r="r" b="b"/>
            <a:pathLst>
              <a:path w="2350566" h="1820137">
                <a:moveTo>
                  <a:pt x="2350566" y="1820137"/>
                </a:moveTo>
                <a:lnTo>
                  <a:pt x="1879185" y="1115234"/>
                </a:lnTo>
                <a:lnTo>
                  <a:pt x="1206975" y="658866"/>
                </a:lnTo>
                <a:lnTo>
                  <a:pt x="774292" y="2002"/>
                </a:lnTo>
                <a:lnTo>
                  <a:pt x="0" y="0"/>
                </a:lnTo>
              </a:path>
            </a:pathLst>
          </a:custGeom>
          <a:ln w="3175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060488" y="3647340"/>
            <a:ext cx="649191" cy="1920218"/>
          </a:xfrm>
          <a:custGeom>
            <a:avLst/>
            <a:gdLst/>
            <a:ahLst/>
            <a:cxnLst/>
            <a:rect l="l" t="t" r="r" b="b"/>
            <a:pathLst>
              <a:path w="649191" h="1920218">
                <a:moveTo>
                  <a:pt x="582471" y="1920218"/>
                </a:moveTo>
                <a:lnTo>
                  <a:pt x="649191" y="1519895"/>
                </a:lnTo>
                <a:lnTo>
                  <a:pt x="436686" y="498736"/>
                </a:lnTo>
                <a:lnTo>
                  <a:pt x="0" y="0"/>
                </a:lnTo>
              </a:path>
            </a:pathLst>
          </a:custGeom>
          <a:ln w="22225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974136" y="2898736"/>
            <a:ext cx="2086352" cy="748605"/>
          </a:xfrm>
          <a:custGeom>
            <a:avLst/>
            <a:gdLst/>
            <a:ahLst/>
            <a:cxnLst/>
            <a:rect l="l" t="t" r="r" b="b"/>
            <a:pathLst>
              <a:path w="2086352" h="748605">
                <a:moveTo>
                  <a:pt x="0" y="0"/>
                </a:moveTo>
                <a:lnTo>
                  <a:pt x="600485" y="200162"/>
                </a:lnTo>
                <a:lnTo>
                  <a:pt x="1241336" y="13678"/>
                </a:lnTo>
                <a:lnTo>
                  <a:pt x="2086352" y="748605"/>
                </a:lnTo>
              </a:path>
            </a:pathLst>
          </a:custGeom>
          <a:ln w="22225">
            <a:solidFill>
              <a:srgbClr val="C4262E"/>
            </a:solidFill>
            <a:prstDash val="dash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950066" y="3209653"/>
            <a:ext cx="2627790" cy="1957582"/>
          </a:xfrm>
          <a:custGeom>
            <a:avLst/>
            <a:gdLst/>
            <a:ahLst/>
            <a:cxnLst/>
            <a:rect l="l" t="t" r="r" b="b"/>
            <a:pathLst>
              <a:path w="2627790" h="1957582">
                <a:moveTo>
                  <a:pt x="2627790" y="1957582"/>
                </a:moveTo>
                <a:lnTo>
                  <a:pt x="1893863" y="1623979"/>
                </a:lnTo>
                <a:lnTo>
                  <a:pt x="1317398" y="1096553"/>
                </a:lnTo>
                <a:lnTo>
                  <a:pt x="355954" y="0"/>
                </a:lnTo>
                <a:lnTo>
                  <a:pt x="0" y="524090"/>
                </a:lnTo>
              </a:path>
            </a:pathLst>
          </a:custGeom>
          <a:ln w="22225">
            <a:solidFill>
              <a:srgbClr val="1B1B1B"/>
            </a:solidFill>
            <a:prstDash val="dash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306020" y="2698574"/>
            <a:ext cx="937424" cy="511080"/>
          </a:xfrm>
          <a:custGeom>
            <a:avLst/>
            <a:gdLst/>
            <a:ahLst/>
            <a:cxnLst/>
            <a:rect l="l" t="t" r="r" b="b"/>
            <a:pathLst>
              <a:path w="937424" h="511080">
                <a:moveTo>
                  <a:pt x="937424" y="0"/>
                </a:moveTo>
                <a:lnTo>
                  <a:pt x="401991" y="299909"/>
                </a:lnTo>
                <a:lnTo>
                  <a:pt x="0" y="511080"/>
                </a:lnTo>
              </a:path>
            </a:pathLst>
          </a:custGeom>
          <a:ln w="22225">
            <a:solidFill>
              <a:srgbClr val="1B1B1B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708012" y="2431691"/>
            <a:ext cx="935756" cy="566791"/>
          </a:xfrm>
          <a:custGeom>
            <a:avLst/>
            <a:gdLst/>
            <a:ahLst/>
            <a:cxnLst/>
            <a:rect l="l" t="t" r="r" b="b"/>
            <a:pathLst>
              <a:path w="935756" h="566791">
                <a:moveTo>
                  <a:pt x="935756" y="0"/>
                </a:moveTo>
                <a:lnTo>
                  <a:pt x="468712" y="233522"/>
                </a:lnTo>
                <a:lnTo>
                  <a:pt x="0" y="566791"/>
                </a:lnTo>
              </a:path>
            </a:pathLst>
          </a:custGeom>
          <a:ln w="31750">
            <a:solidFill>
              <a:srgbClr val="7A7A7A"/>
            </a:solidFill>
            <a:prstDash val="sysDot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843426" y="489985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43426" y="489985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345078" y="5128450"/>
            <a:ext cx="1197864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345078" y="5128450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vs staff arrival</a:t>
            </a:r>
            <a:endParaRPr lang="en-US" sz="550" dirty="0"/>
          </a:p>
        </p:txBody>
      </p:sp>
      <p:sp>
        <p:nvSpPr>
          <p:cNvPr id="28" name="Shape 25"/>
          <p:cNvSpPr/>
          <p:nvPr/>
        </p:nvSpPr>
        <p:spPr>
          <a:xfrm>
            <a:off x="4976059" y="2544613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76059" y="254461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477711" y="2773213"/>
            <a:ext cx="1197864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477711" y="2773213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vs pedestrians</a:t>
            </a:r>
            <a:endParaRPr lang="en-US" sz="550" dirty="0"/>
          </a:p>
        </p:txBody>
      </p:sp>
      <p:sp>
        <p:nvSpPr>
          <p:cNvPr id="32" name="Shape 29"/>
          <p:cNvSpPr/>
          <p:nvPr/>
        </p:nvSpPr>
        <p:spPr>
          <a:xfrm>
            <a:off x="3849482" y="3633159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849482" y="363315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300842" y="3861759"/>
            <a:ext cx="1298448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300842" y="3861759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route vs research</a:t>
            </a:r>
            <a:endParaRPr lang="en-US" sz="550" dirty="0"/>
          </a:p>
        </p:txBody>
      </p:sp>
      <p:sp>
        <p:nvSpPr>
          <p:cNvPr id="36" name="Shape 33"/>
          <p:cNvSpPr/>
          <p:nvPr/>
        </p:nvSpPr>
        <p:spPr>
          <a:xfrm>
            <a:off x="6435301" y="5627848"/>
            <a:ext cx="92519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35301" y="5627848"/>
            <a:ext cx="9251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ARRIVAL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5272978" y="2258459"/>
            <a:ext cx="1507663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272978" y="2258459"/>
            <a:ext cx="150766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ENTRY (proposed)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8412480" y="1248156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C4262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705088" y="117957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PUBLIC — junction → forum → halls → library → open top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8412480" y="1449324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19050">
            <a:solidFill>
              <a:srgbClr val="1B1B1B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8705088" y="138074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 · RESEARCHERS · STAFF — own entry + route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8412480" y="1650492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7A7A7A"/>
            </a:solidFill>
            <a:prstDash val="sysDot"/>
          </a:ln>
        </p:spPr>
      </p:sp>
      <p:sp>
        <p:nvSpPr>
          <p:cNvPr id="45" name="Text 42"/>
          <p:cNvSpPr txBox="1"/>
          <p:nvPr/>
        </p:nvSpPr>
        <p:spPr>
          <a:xfrm>
            <a:off x="8705088" y="158191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DELIVERY — NE edge only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8412480" y="1851660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19050">
            <a:solidFill>
              <a:srgbClr val="C4262E"/>
            </a:solidFill>
            <a:prstDash val="dash"/>
          </a:ln>
        </p:spPr>
      </p:sp>
      <p:sp>
        <p:nvSpPr>
          <p:cNvPr id="47" name="Text 44"/>
          <p:cNvSpPr txBox="1"/>
          <p:nvPr/>
        </p:nvSpPr>
        <p:spPr>
          <a:xfrm>
            <a:off x="8705088" y="178308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path through the wooded W end</a:t>
            </a:r>
            <a:endParaRPr lang="en-US" sz="700" dirty="0"/>
          </a:p>
        </p:txBody>
      </p:sp>
      <p:sp>
        <p:nvSpPr>
          <p:cNvPr id="48" name="Text 45"/>
          <p:cNvSpPr txBox="1"/>
          <p:nvPr/>
        </p:nvSpPr>
        <p:spPr>
          <a:xfrm>
            <a:off x="8412480" y="22402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POINTS → ZONING ANSWER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412480" y="2459736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tip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protest crowds + staff arriving together → staff get a second door off the SE route, beside the press room, not through the forum.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edge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vehicles cross the footpath → one short service bay only, next to production, trees kept either side.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route passes research → research on the SW side, route on the NE of it; windows, not doors, face the path.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8412480" y="42976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841248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stores · production floor · loading · admin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ZONING OPTIONS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site, same program, three priorities. Not ranked.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PUBLIC-CENTRIC</a:t>
            </a:r>
            <a:endParaRPr lang="en-US" sz="1000" dirty="0"/>
          </a:p>
        </p:txBody>
      </p:sp>
      <p:pic>
        <p:nvPicPr>
          <p:cNvPr id="7" name="Image 0" descr="Site plan from the project handout (base, unaltere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88339"/>
            <a:ext cx="3749040" cy="26640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388339"/>
            <a:ext cx="3749040" cy="266400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12181" y="1810564"/>
            <a:ext cx="1782905" cy="1628355"/>
          </a:xfrm>
          <a:custGeom>
            <a:avLst/>
            <a:gdLst/>
            <a:ahLst/>
            <a:cxnLst/>
            <a:rect l="l" t="t" r="r" b="b"/>
            <a:pathLst>
              <a:path w="1782905" h="1628355">
                <a:moveTo>
                  <a:pt x="183230" y="60545"/>
                </a:moveTo>
                <a:lnTo>
                  <a:pt x="143397" y="100378"/>
                </a:lnTo>
                <a:lnTo>
                  <a:pt x="92412" y="173670"/>
                </a:lnTo>
                <a:lnTo>
                  <a:pt x="60545" y="231029"/>
                </a:lnTo>
                <a:lnTo>
                  <a:pt x="25493" y="313881"/>
                </a:lnTo>
                <a:lnTo>
                  <a:pt x="1593" y="428598"/>
                </a:lnTo>
                <a:lnTo>
                  <a:pt x="0" y="497110"/>
                </a:lnTo>
                <a:lnTo>
                  <a:pt x="9560" y="611828"/>
                </a:lnTo>
                <a:lnTo>
                  <a:pt x="35053" y="724952"/>
                </a:lnTo>
                <a:lnTo>
                  <a:pt x="62139" y="807804"/>
                </a:lnTo>
                <a:lnTo>
                  <a:pt x="117904" y="941642"/>
                </a:lnTo>
                <a:lnTo>
                  <a:pt x="170483" y="1046800"/>
                </a:lnTo>
                <a:lnTo>
                  <a:pt x="293168" y="1249149"/>
                </a:lnTo>
                <a:lnTo>
                  <a:pt x="344153" y="1314474"/>
                </a:lnTo>
                <a:lnTo>
                  <a:pt x="409479" y="1381393"/>
                </a:lnTo>
                <a:lnTo>
                  <a:pt x="521010" y="1464245"/>
                </a:lnTo>
                <a:lnTo>
                  <a:pt x="654847" y="1527977"/>
                </a:lnTo>
                <a:lnTo>
                  <a:pt x="842857" y="1580556"/>
                </a:lnTo>
                <a:lnTo>
                  <a:pt x="967134" y="1602862"/>
                </a:lnTo>
                <a:lnTo>
                  <a:pt x="1115312" y="1620388"/>
                </a:lnTo>
                <a:lnTo>
                  <a:pt x="1234809" y="1628355"/>
                </a:lnTo>
                <a:lnTo>
                  <a:pt x="1408479" y="1628355"/>
                </a:lnTo>
                <a:lnTo>
                  <a:pt x="1539130" y="1617202"/>
                </a:lnTo>
                <a:lnTo>
                  <a:pt x="1604455" y="1586929"/>
                </a:lnTo>
                <a:lnTo>
                  <a:pt x="1728733" y="1470618"/>
                </a:lnTo>
                <a:lnTo>
                  <a:pt x="1781312" y="1316068"/>
                </a:lnTo>
                <a:lnTo>
                  <a:pt x="1782905" y="1288981"/>
                </a:lnTo>
                <a:lnTo>
                  <a:pt x="1690494" y="1108938"/>
                </a:lnTo>
                <a:lnTo>
                  <a:pt x="1489738" y="748852"/>
                </a:lnTo>
                <a:lnTo>
                  <a:pt x="1421226" y="645287"/>
                </a:lnTo>
                <a:lnTo>
                  <a:pt x="1328814" y="541723"/>
                </a:lnTo>
                <a:lnTo>
                  <a:pt x="1217283" y="452498"/>
                </a:lnTo>
                <a:lnTo>
                  <a:pt x="1021307" y="331407"/>
                </a:lnTo>
                <a:lnTo>
                  <a:pt x="686713" y="157737"/>
                </a:lnTo>
                <a:lnTo>
                  <a:pt x="414259" y="30273"/>
                </a:lnTo>
                <a:lnTo>
                  <a:pt x="355306" y="7967"/>
                </a:lnTo>
                <a:lnTo>
                  <a:pt x="269268" y="0"/>
                </a:lnTo>
                <a:close/>
              </a:path>
            </a:pathLst>
          </a:custGeom>
          <a:ln w="15875">
            <a:solidFill>
              <a:srgbClr val="1B1B1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22916" y="1951731"/>
            <a:ext cx="782152" cy="1049827"/>
          </a:xfrm>
          <a:custGeom>
            <a:avLst/>
            <a:gdLst/>
            <a:ahLst/>
            <a:cxnLst/>
            <a:rect l="l" t="t" r="r" b="b"/>
            <a:pathLst>
              <a:path w="782152" h="1049827">
                <a:moveTo>
                  <a:pt x="20235" y="794580"/>
                </a:moveTo>
                <a:lnTo>
                  <a:pt x="72336" y="898622"/>
                </a:lnTo>
                <a:lnTo>
                  <a:pt x="163951" y="1049827"/>
                </a:lnTo>
                <a:lnTo>
                  <a:pt x="782152" y="139733"/>
                </a:lnTo>
                <a:lnTo>
                  <a:pt x="569606" y="29476"/>
                </a:lnTo>
                <a:lnTo>
                  <a:pt x="506670" y="0"/>
                </a:lnTo>
                <a:lnTo>
                  <a:pt x="0" y="745984"/>
                </a:lnTo>
                <a:close/>
              </a:path>
            </a:pathLst>
          </a:custGeom>
          <a:solidFill>
            <a:srgbClr val="4F7A4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26840" y="1825382"/>
            <a:ext cx="314677" cy="468272"/>
          </a:xfrm>
          <a:custGeom>
            <a:avLst/>
            <a:gdLst/>
            <a:ahLst/>
            <a:cxnLst/>
            <a:rect l="l" t="t" r="r" b="b"/>
            <a:pathLst>
              <a:path w="314677" h="468272">
                <a:moveTo>
                  <a:pt x="139733" y="94801"/>
                </a:moveTo>
                <a:lnTo>
                  <a:pt x="89862" y="166500"/>
                </a:lnTo>
                <a:lnTo>
                  <a:pt x="58793" y="222584"/>
                </a:lnTo>
                <a:lnTo>
                  <a:pt x="24537" y="303365"/>
                </a:lnTo>
                <a:lnTo>
                  <a:pt x="1275" y="415374"/>
                </a:lnTo>
                <a:lnTo>
                  <a:pt x="0" y="468272"/>
                </a:lnTo>
                <a:lnTo>
                  <a:pt x="314677" y="5099"/>
                </a:lnTo>
                <a:lnTo>
                  <a:pt x="258593" y="0"/>
                </a:lnTo>
                <a:lnTo>
                  <a:pt x="177813" y="56722"/>
                </a:lnTo>
                <a:close/>
              </a:path>
            </a:pathLst>
          </a:custGeom>
          <a:solidFill>
            <a:srgbClr val="4F7A4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7218" y="2091464"/>
            <a:ext cx="808601" cy="735628"/>
          </a:xfrm>
          <a:custGeom>
            <a:avLst/>
            <a:gdLst/>
            <a:ahLst/>
            <a:cxnLst/>
            <a:rect l="l" t="t" r="r" b="b"/>
            <a:pathLst>
              <a:path w="808601" h="735628">
                <a:moveTo>
                  <a:pt x="772433" y="475441"/>
                </a:moveTo>
                <a:lnTo>
                  <a:pt x="704877" y="373151"/>
                </a:lnTo>
                <a:lnTo>
                  <a:pt x="613899" y="271339"/>
                </a:lnTo>
                <a:lnTo>
                  <a:pt x="503961" y="183389"/>
                </a:lnTo>
                <a:lnTo>
                  <a:pt x="309260" y="62935"/>
                </a:lnTo>
                <a:lnTo>
                  <a:pt x="187850" y="0"/>
                </a:lnTo>
                <a:lnTo>
                  <a:pt x="0" y="276597"/>
                </a:lnTo>
                <a:lnTo>
                  <a:pt x="675879" y="735628"/>
                </a:lnTo>
                <a:lnTo>
                  <a:pt x="808601" y="540289"/>
                </a:lnTo>
                <a:close/>
              </a:path>
            </a:pathLst>
          </a:custGeom>
          <a:solidFill>
            <a:srgbClr val="3E5C76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6867" y="2486603"/>
            <a:ext cx="1025609" cy="915193"/>
          </a:xfrm>
          <a:custGeom>
            <a:avLst/>
            <a:gdLst/>
            <a:ahLst/>
            <a:cxnLst/>
            <a:rect l="l" t="t" r="r" b="b"/>
            <a:pathLst>
              <a:path w="1025609" h="915193">
                <a:moveTo>
                  <a:pt x="30273" y="564985"/>
                </a:moveTo>
                <a:lnTo>
                  <a:pt x="80302" y="629036"/>
                </a:lnTo>
                <a:lnTo>
                  <a:pt x="144194" y="694520"/>
                </a:lnTo>
                <a:lnTo>
                  <a:pt x="253813" y="775938"/>
                </a:lnTo>
                <a:lnTo>
                  <a:pt x="385260" y="838396"/>
                </a:lnTo>
                <a:lnTo>
                  <a:pt x="571358" y="890497"/>
                </a:lnTo>
                <a:lnTo>
                  <a:pt x="694520" y="912643"/>
                </a:lnTo>
                <a:lnTo>
                  <a:pt x="715871" y="915193"/>
                </a:lnTo>
                <a:lnTo>
                  <a:pt x="1025609" y="459190"/>
                </a:lnTo>
                <a:lnTo>
                  <a:pt x="349730" y="0"/>
                </a:lnTo>
                <a:lnTo>
                  <a:pt x="0" y="514955"/>
                </a:lnTo>
                <a:close/>
              </a:path>
            </a:pathLst>
          </a:custGeom>
          <a:solidFill>
            <a:srgbClr val="9C6B3C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02737" y="2631752"/>
            <a:ext cx="777850" cy="792827"/>
          </a:xfrm>
          <a:custGeom>
            <a:avLst/>
            <a:gdLst/>
            <a:ahLst/>
            <a:cxnLst/>
            <a:rect l="l" t="t" r="r" b="b"/>
            <a:pathLst>
              <a:path w="777850" h="792827">
                <a:moveTo>
                  <a:pt x="126030" y="784861"/>
                </a:moveTo>
                <a:lnTo>
                  <a:pt x="244731" y="792827"/>
                </a:lnTo>
                <a:lnTo>
                  <a:pt x="417286" y="792827"/>
                </a:lnTo>
                <a:lnTo>
                  <a:pt x="544909" y="781993"/>
                </a:lnTo>
                <a:lnTo>
                  <a:pt x="605773" y="753632"/>
                </a:lnTo>
                <a:lnTo>
                  <a:pt x="725749" y="641463"/>
                </a:lnTo>
                <a:lnTo>
                  <a:pt x="776575" y="492171"/>
                </a:lnTo>
                <a:lnTo>
                  <a:pt x="777850" y="470821"/>
                </a:lnTo>
                <a:lnTo>
                  <a:pt x="687351" y="294442"/>
                </a:lnTo>
                <a:lnTo>
                  <a:pt x="523081" y="0"/>
                </a:lnTo>
                <a:lnTo>
                  <a:pt x="0" y="770043"/>
                </a:lnTo>
                <a:close/>
              </a:path>
            </a:pathLst>
          </a:custGeom>
          <a:solidFill>
            <a:srgbClr val="C4262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26521" y="1830481"/>
            <a:ext cx="603065" cy="867234"/>
          </a:xfrm>
          <a:custGeom>
            <a:avLst/>
            <a:gdLst/>
            <a:ahLst/>
            <a:cxnLst/>
            <a:rect l="l" t="t" r="r" b="b"/>
            <a:pathLst>
              <a:path w="603065" h="867234">
                <a:moveTo>
                  <a:pt x="0" y="476716"/>
                </a:moveTo>
                <a:lnTo>
                  <a:pt x="9400" y="589681"/>
                </a:lnTo>
                <a:lnTo>
                  <a:pt x="34575" y="701212"/>
                </a:lnTo>
                <a:lnTo>
                  <a:pt x="61183" y="782949"/>
                </a:lnTo>
                <a:lnTo>
                  <a:pt x="96395" y="867234"/>
                </a:lnTo>
                <a:lnTo>
                  <a:pt x="603065" y="121250"/>
                </a:lnTo>
                <a:lnTo>
                  <a:pt x="394342" y="23581"/>
                </a:lnTo>
                <a:lnTo>
                  <a:pt x="337780" y="2071"/>
                </a:lnTo>
                <a:lnTo>
                  <a:pt x="314996" y="0"/>
                </a:lnTo>
                <a:lnTo>
                  <a:pt x="319" y="463173"/>
                </a:lnTo>
                <a:close/>
              </a:path>
            </a:pathLst>
          </a:custGeom>
          <a:solidFill>
            <a:srgbClr val="C4262E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64442" y="1970373"/>
            <a:ext cx="1716146" cy="1266357"/>
          </a:xfrm>
          <a:custGeom>
            <a:avLst/>
            <a:gdLst/>
            <a:ahLst/>
            <a:cxnLst/>
            <a:rect l="l" t="t" r="r" b="b"/>
            <a:pathLst>
              <a:path w="1716146" h="1266357">
                <a:moveTo>
                  <a:pt x="52260" y="21510"/>
                </a:moveTo>
                <a:lnTo>
                  <a:pt x="21191" y="77594"/>
                </a:lnTo>
                <a:lnTo>
                  <a:pt x="0" y="127624"/>
                </a:lnTo>
                <a:lnTo>
                  <a:pt x="1676473" y="1266357"/>
                </a:lnTo>
                <a:lnTo>
                  <a:pt x="1714871" y="1153551"/>
                </a:lnTo>
                <a:lnTo>
                  <a:pt x="1716146" y="1132201"/>
                </a:lnTo>
                <a:lnTo>
                  <a:pt x="1706427" y="1113400"/>
                </a:lnTo>
                <a:lnTo>
                  <a:pt x="67237" y="0"/>
                </a:lnTo>
                <a:close/>
              </a:path>
            </a:pathLst>
          </a:custGeom>
          <a:solidFill>
            <a:srgbClr val="C4262E">
              <a:alpha val="9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street crosses the whole site, junction to junction; civic halls at both ends.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45902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strongest public presence; links both junctions · − cuts the wooded W end; production split by the street; many entries to secure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4224528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KNOWLEDGE / PRODUCTION</a:t>
            </a:r>
            <a:endParaRPr lang="en-US" sz="1000" dirty="0"/>
          </a:p>
        </p:txBody>
      </p:sp>
      <p:pic>
        <p:nvPicPr>
          <p:cNvPr id="20" name="Image 1" descr="Site plan from the project handout (base, unaltered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388339"/>
            <a:ext cx="3749040" cy="2664001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224528" y="1388339"/>
            <a:ext cx="3749040" cy="266400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170949" y="1810564"/>
            <a:ext cx="1782905" cy="1628355"/>
          </a:xfrm>
          <a:custGeom>
            <a:avLst/>
            <a:gdLst/>
            <a:ahLst/>
            <a:cxnLst/>
            <a:rect l="l" t="t" r="r" b="b"/>
            <a:pathLst>
              <a:path w="1782905" h="1628355">
                <a:moveTo>
                  <a:pt x="183230" y="60545"/>
                </a:moveTo>
                <a:lnTo>
                  <a:pt x="143397" y="100378"/>
                </a:lnTo>
                <a:lnTo>
                  <a:pt x="92412" y="173670"/>
                </a:lnTo>
                <a:lnTo>
                  <a:pt x="60545" y="231029"/>
                </a:lnTo>
                <a:lnTo>
                  <a:pt x="25493" y="313881"/>
                </a:lnTo>
                <a:lnTo>
                  <a:pt x="1593" y="428598"/>
                </a:lnTo>
                <a:lnTo>
                  <a:pt x="0" y="497110"/>
                </a:lnTo>
                <a:lnTo>
                  <a:pt x="9560" y="611828"/>
                </a:lnTo>
                <a:lnTo>
                  <a:pt x="35053" y="724952"/>
                </a:lnTo>
                <a:lnTo>
                  <a:pt x="62139" y="807804"/>
                </a:lnTo>
                <a:lnTo>
                  <a:pt x="117904" y="941642"/>
                </a:lnTo>
                <a:lnTo>
                  <a:pt x="170483" y="1046800"/>
                </a:lnTo>
                <a:lnTo>
                  <a:pt x="293168" y="1249149"/>
                </a:lnTo>
                <a:lnTo>
                  <a:pt x="344153" y="1314474"/>
                </a:lnTo>
                <a:lnTo>
                  <a:pt x="409479" y="1381393"/>
                </a:lnTo>
                <a:lnTo>
                  <a:pt x="521010" y="1464245"/>
                </a:lnTo>
                <a:lnTo>
                  <a:pt x="654847" y="1527977"/>
                </a:lnTo>
                <a:lnTo>
                  <a:pt x="842857" y="1580556"/>
                </a:lnTo>
                <a:lnTo>
                  <a:pt x="967134" y="1602862"/>
                </a:lnTo>
                <a:lnTo>
                  <a:pt x="1115312" y="1620388"/>
                </a:lnTo>
                <a:lnTo>
                  <a:pt x="1234809" y="1628355"/>
                </a:lnTo>
                <a:lnTo>
                  <a:pt x="1408479" y="1628355"/>
                </a:lnTo>
                <a:lnTo>
                  <a:pt x="1539130" y="1617202"/>
                </a:lnTo>
                <a:lnTo>
                  <a:pt x="1604455" y="1586929"/>
                </a:lnTo>
                <a:lnTo>
                  <a:pt x="1728733" y="1470618"/>
                </a:lnTo>
                <a:lnTo>
                  <a:pt x="1781312" y="1316068"/>
                </a:lnTo>
                <a:lnTo>
                  <a:pt x="1782905" y="1288981"/>
                </a:lnTo>
                <a:lnTo>
                  <a:pt x="1690494" y="1108938"/>
                </a:lnTo>
                <a:lnTo>
                  <a:pt x="1489738" y="748852"/>
                </a:lnTo>
                <a:lnTo>
                  <a:pt x="1421226" y="645287"/>
                </a:lnTo>
                <a:lnTo>
                  <a:pt x="1328814" y="541723"/>
                </a:lnTo>
                <a:lnTo>
                  <a:pt x="1217283" y="452498"/>
                </a:lnTo>
                <a:lnTo>
                  <a:pt x="1021307" y="331407"/>
                </a:lnTo>
                <a:lnTo>
                  <a:pt x="686713" y="157737"/>
                </a:lnTo>
                <a:lnTo>
                  <a:pt x="414259" y="30273"/>
                </a:lnTo>
                <a:lnTo>
                  <a:pt x="355306" y="7967"/>
                </a:lnTo>
                <a:lnTo>
                  <a:pt x="269268" y="0"/>
                </a:lnTo>
                <a:close/>
              </a:path>
            </a:pathLst>
          </a:custGeom>
          <a:ln w="15875">
            <a:solidFill>
              <a:srgbClr val="1B1B1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185289" y="1825382"/>
            <a:ext cx="1229073" cy="1459624"/>
          </a:xfrm>
          <a:custGeom>
            <a:avLst/>
            <a:gdLst/>
            <a:ahLst/>
            <a:cxnLst/>
            <a:rect l="l" t="t" r="r" b="b"/>
            <a:pathLst>
              <a:path w="1229073" h="1459624">
                <a:moveTo>
                  <a:pt x="140051" y="94801"/>
                </a:moveTo>
                <a:lnTo>
                  <a:pt x="90181" y="166500"/>
                </a:lnTo>
                <a:lnTo>
                  <a:pt x="59112" y="222584"/>
                </a:lnTo>
                <a:lnTo>
                  <a:pt x="24856" y="303365"/>
                </a:lnTo>
                <a:lnTo>
                  <a:pt x="1593" y="415374"/>
                </a:lnTo>
                <a:lnTo>
                  <a:pt x="0" y="481815"/>
                </a:lnTo>
                <a:lnTo>
                  <a:pt x="9400" y="594780"/>
                </a:lnTo>
                <a:lnTo>
                  <a:pt x="34575" y="706311"/>
                </a:lnTo>
                <a:lnTo>
                  <a:pt x="61183" y="788047"/>
                </a:lnTo>
                <a:lnTo>
                  <a:pt x="116630" y="920929"/>
                </a:lnTo>
                <a:lnTo>
                  <a:pt x="168731" y="1024971"/>
                </a:lnTo>
                <a:lnTo>
                  <a:pt x="290618" y="1226205"/>
                </a:lnTo>
                <a:lnTo>
                  <a:pt x="340648" y="1290256"/>
                </a:lnTo>
                <a:lnTo>
                  <a:pt x="404539" y="1355741"/>
                </a:lnTo>
                <a:lnTo>
                  <a:pt x="514159" y="1437159"/>
                </a:lnTo>
                <a:lnTo>
                  <a:pt x="561639" y="1459624"/>
                </a:lnTo>
                <a:lnTo>
                  <a:pt x="1229073" y="477035"/>
                </a:lnTo>
                <a:lnTo>
                  <a:pt x="1194658" y="449471"/>
                </a:lnTo>
                <a:lnTo>
                  <a:pt x="999956" y="329017"/>
                </a:lnTo>
                <a:lnTo>
                  <a:pt x="666000" y="155825"/>
                </a:lnTo>
                <a:lnTo>
                  <a:pt x="394342" y="28679"/>
                </a:lnTo>
                <a:lnTo>
                  <a:pt x="337780" y="7170"/>
                </a:lnTo>
                <a:lnTo>
                  <a:pt x="258912" y="0"/>
                </a:lnTo>
                <a:lnTo>
                  <a:pt x="178131" y="56722"/>
                </a:lnTo>
                <a:close/>
              </a:path>
            </a:pathLst>
          </a:custGeom>
          <a:solidFill>
            <a:srgbClr val="4F7A4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73615" y="2302417"/>
            <a:ext cx="655644" cy="733238"/>
          </a:xfrm>
          <a:custGeom>
            <a:avLst/>
            <a:gdLst/>
            <a:ahLst/>
            <a:cxnLst/>
            <a:rect l="l" t="t" r="r" b="b"/>
            <a:pathLst>
              <a:path w="655644" h="733238">
                <a:moveTo>
                  <a:pt x="474804" y="264488"/>
                </a:moveTo>
                <a:lnTo>
                  <a:pt x="407248" y="162198"/>
                </a:lnTo>
                <a:lnTo>
                  <a:pt x="316270" y="60386"/>
                </a:lnTo>
                <a:lnTo>
                  <a:pt x="240748" y="0"/>
                </a:lnTo>
                <a:lnTo>
                  <a:pt x="0" y="354510"/>
                </a:lnTo>
                <a:lnTo>
                  <a:pt x="557496" y="733238"/>
                </a:lnTo>
                <a:lnTo>
                  <a:pt x="655644" y="588884"/>
                </a:lnTo>
                <a:close/>
              </a:path>
            </a:pathLst>
          </a:custGeom>
          <a:solidFill>
            <a:srgbClr val="3E5C76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746928" y="2656927"/>
            <a:ext cx="984183" cy="767653"/>
          </a:xfrm>
          <a:custGeom>
            <a:avLst/>
            <a:gdLst/>
            <a:ahLst/>
            <a:cxnLst/>
            <a:rect l="l" t="t" r="r" b="b"/>
            <a:pathLst>
              <a:path w="984183" h="767653">
                <a:moveTo>
                  <a:pt x="83967" y="668072"/>
                </a:moveTo>
                <a:lnTo>
                  <a:pt x="270065" y="720173"/>
                </a:lnTo>
                <a:lnTo>
                  <a:pt x="393227" y="742319"/>
                </a:lnTo>
                <a:lnTo>
                  <a:pt x="540607" y="759686"/>
                </a:lnTo>
                <a:lnTo>
                  <a:pt x="659308" y="767653"/>
                </a:lnTo>
                <a:lnTo>
                  <a:pt x="720013" y="767653"/>
                </a:lnTo>
                <a:lnTo>
                  <a:pt x="984183" y="378728"/>
                </a:lnTo>
                <a:lnTo>
                  <a:pt x="426686" y="0"/>
                </a:lnTo>
                <a:lnTo>
                  <a:pt x="0" y="628080"/>
                </a:lnTo>
                <a:close/>
              </a:path>
            </a:pathLst>
          </a:custGeom>
          <a:solidFill>
            <a:srgbClr val="9C6B3C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66941" y="2891301"/>
            <a:ext cx="472414" cy="533278"/>
          </a:xfrm>
          <a:custGeom>
            <a:avLst/>
            <a:gdLst/>
            <a:ahLst/>
            <a:cxnLst/>
            <a:rect l="l" t="t" r="r" b="b"/>
            <a:pathLst>
              <a:path w="472414" h="533278">
                <a:moveTo>
                  <a:pt x="111850" y="533278"/>
                </a:moveTo>
                <a:lnTo>
                  <a:pt x="239473" y="522444"/>
                </a:lnTo>
                <a:lnTo>
                  <a:pt x="300337" y="494083"/>
                </a:lnTo>
                <a:lnTo>
                  <a:pt x="420313" y="381915"/>
                </a:lnTo>
                <a:lnTo>
                  <a:pt x="471139" y="232622"/>
                </a:lnTo>
                <a:lnTo>
                  <a:pt x="472414" y="211272"/>
                </a:lnTo>
                <a:lnTo>
                  <a:pt x="381915" y="34893"/>
                </a:lnTo>
                <a:lnTo>
                  <a:pt x="362317" y="0"/>
                </a:lnTo>
                <a:lnTo>
                  <a:pt x="0" y="533278"/>
                </a:lnTo>
                <a:close/>
              </a:path>
            </a:pathLst>
          </a:custGeom>
          <a:solidFill>
            <a:srgbClr val="C4262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224528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compact knowledge + production core on the least-wooded ground; small public front at the SE tip.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4224528" y="45902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efficient, easy to service and secure; smallest disturbance · − public limited to one edge; weakest civic engagement</a:t>
            </a:r>
            <a:endParaRPr lang="en-US" sz="750" dirty="0"/>
          </a:p>
        </p:txBody>
      </p:sp>
      <p:sp>
        <p:nvSpPr>
          <p:cNvPr id="29" name="Text 25"/>
          <p:cNvSpPr txBox="1"/>
          <p:nvPr/>
        </p:nvSpPr>
        <p:spPr>
          <a:xfrm>
            <a:off x="8083296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SITE / TOPOGRAPHY</a:t>
            </a:r>
            <a:endParaRPr lang="en-US" sz="1000" dirty="0"/>
          </a:p>
        </p:txBody>
      </p:sp>
      <p:pic>
        <p:nvPicPr>
          <p:cNvPr id="30" name="Image 2" descr="Site plan from the project handout (base, unaltered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96" y="1388339"/>
            <a:ext cx="3749040" cy="2664001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8083296" y="1388339"/>
            <a:ext cx="3749040" cy="266400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029717" y="1810564"/>
            <a:ext cx="1782905" cy="1628355"/>
          </a:xfrm>
          <a:custGeom>
            <a:avLst/>
            <a:gdLst/>
            <a:ahLst/>
            <a:cxnLst/>
            <a:rect l="l" t="t" r="r" b="b"/>
            <a:pathLst>
              <a:path w="1782905" h="1628355">
                <a:moveTo>
                  <a:pt x="183230" y="60545"/>
                </a:moveTo>
                <a:lnTo>
                  <a:pt x="143397" y="100378"/>
                </a:lnTo>
                <a:lnTo>
                  <a:pt x="92412" y="173670"/>
                </a:lnTo>
                <a:lnTo>
                  <a:pt x="60545" y="231029"/>
                </a:lnTo>
                <a:lnTo>
                  <a:pt x="25493" y="313881"/>
                </a:lnTo>
                <a:lnTo>
                  <a:pt x="1593" y="428598"/>
                </a:lnTo>
                <a:lnTo>
                  <a:pt x="0" y="497110"/>
                </a:lnTo>
                <a:lnTo>
                  <a:pt x="9560" y="611828"/>
                </a:lnTo>
                <a:lnTo>
                  <a:pt x="35053" y="724952"/>
                </a:lnTo>
                <a:lnTo>
                  <a:pt x="62139" y="807804"/>
                </a:lnTo>
                <a:lnTo>
                  <a:pt x="117904" y="941642"/>
                </a:lnTo>
                <a:lnTo>
                  <a:pt x="170483" y="1046800"/>
                </a:lnTo>
                <a:lnTo>
                  <a:pt x="293168" y="1249149"/>
                </a:lnTo>
                <a:lnTo>
                  <a:pt x="344153" y="1314474"/>
                </a:lnTo>
                <a:lnTo>
                  <a:pt x="409479" y="1381393"/>
                </a:lnTo>
                <a:lnTo>
                  <a:pt x="521010" y="1464245"/>
                </a:lnTo>
                <a:lnTo>
                  <a:pt x="654847" y="1527977"/>
                </a:lnTo>
                <a:lnTo>
                  <a:pt x="842857" y="1580556"/>
                </a:lnTo>
                <a:lnTo>
                  <a:pt x="967134" y="1602862"/>
                </a:lnTo>
                <a:lnTo>
                  <a:pt x="1115312" y="1620388"/>
                </a:lnTo>
                <a:lnTo>
                  <a:pt x="1234809" y="1628355"/>
                </a:lnTo>
                <a:lnTo>
                  <a:pt x="1408479" y="1628355"/>
                </a:lnTo>
                <a:lnTo>
                  <a:pt x="1539130" y="1617202"/>
                </a:lnTo>
                <a:lnTo>
                  <a:pt x="1604455" y="1586929"/>
                </a:lnTo>
                <a:lnTo>
                  <a:pt x="1728733" y="1470618"/>
                </a:lnTo>
                <a:lnTo>
                  <a:pt x="1781312" y="1316068"/>
                </a:lnTo>
                <a:lnTo>
                  <a:pt x="1782905" y="1288981"/>
                </a:lnTo>
                <a:lnTo>
                  <a:pt x="1690494" y="1108938"/>
                </a:lnTo>
                <a:lnTo>
                  <a:pt x="1489738" y="748852"/>
                </a:lnTo>
                <a:lnTo>
                  <a:pt x="1421226" y="645287"/>
                </a:lnTo>
                <a:lnTo>
                  <a:pt x="1328814" y="541723"/>
                </a:lnTo>
                <a:lnTo>
                  <a:pt x="1217283" y="452498"/>
                </a:lnTo>
                <a:lnTo>
                  <a:pt x="1021307" y="331407"/>
                </a:lnTo>
                <a:lnTo>
                  <a:pt x="686713" y="157737"/>
                </a:lnTo>
                <a:lnTo>
                  <a:pt x="414259" y="30273"/>
                </a:lnTo>
                <a:lnTo>
                  <a:pt x="355306" y="7967"/>
                </a:lnTo>
                <a:lnTo>
                  <a:pt x="269268" y="0"/>
                </a:lnTo>
                <a:close/>
              </a:path>
            </a:pathLst>
          </a:custGeom>
          <a:ln w="15875">
            <a:solidFill>
              <a:srgbClr val="1B1B1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044057" y="1825382"/>
            <a:ext cx="896710" cy="1195295"/>
          </a:xfrm>
          <a:custGeom>
            <a:avLst/>
            <a:gdLst/>
            <a:ahLst/>
            <a:cxnLst/>
            <a:rect l="l" t="t" r="r" b="b"/>
            <a:pathLst>
              <a:path w="896710" h="1195295">
                <a:moveTo>
                  <a:pt x="140051" y="94801"/>
                </a:moveTo>
                <a:lnTo>
                  <a:pt x="90181" y="166500"/>
                </a:lnTo>
                <a:lnTo>
                  <a:pt x="59112" y="222584"/>
                </a:lnTo>
                <a:lnTo>
                  <a:pt x="24856" y="303365"/>
                </a:lnTo>
                <a:lnTo>
                  <a:pt x="1593" y="415374"/>
                </a:lnTo>
                <a:lnTo>
                  <a:pt x="0" y="481815"/>
                </a:lnTo>
                <a:lnTo>
                  <a:pt x="9400" y="594780"/>
                </a:lnTo>
                <a:lnTo>
                  <a:pt x="34575" y="706311"/>
                </a:lnTo>
                <a:lnTo>
                  <a:pt x="61183" y="788047"/>
                </a:lnTo>
                <a:lnTo>
                  <a:pt x="116630" y="920929"/>
                </a:lnTo>
                <a:lnTo>
                  <a:pt x="168731" y="1024971"/>
                </a:lnTo>
                <a:lnTo>
                  <a:pt x="271977" y="1195295"/>
                </a:lnTo>
                <a:lnTo>
                  <a:pt x="896710" y="275482"/>
                </a:lnTo>
                <a:lnTo>
                  <a:pt x="666000" y="155825"/>
                </a:lnTo>
                <a:lnTo>
                  <a:pt x="394342" y="28679"/>
                </a:lnTo>
                <a:lnTo>
                  <a:pt x="337780" y="7170"/>
                </a:lnTo>
                <a:lnTo>
                  <a:pt x="258912" y="0"/>
                </a:lnTo>
                <a:lnTo>
                  <a:pt x="178131" y="56722"/>
                </a:lnTo>
                <a:close/>
              </a:path>
            </a:pathLst>
          </a:custGeom>
          <a:solidFill>
            <a:srgbClr val="4F7A4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316034" y="2100864"/>
            <a:ext cx="1482090" cy="1323715"/>
          </a:xfrm>
          <a:custGeom>
            <a:avLst/>
            <a:gdLst/>
            <a:ahLst/>
            <a:cxnLst/>
            <a:rect l="l" t="t" r="r" b="b"/>
            <a:pathLst>
              <a:path w="1482090" h="1323715">
                <a:moveTo>
                  <a:pt x="18642" y="950723"/>
                </a:moveTo>
                <a:lnTo>
                  <a:pt x="68671" y="1014774"/>
                </a:lnTo>
                <a:lnTo>
                  <a:pt x="132563" y="1080259"/>
                </a:lnTo>
                <a:lnTo>
                  <a:pt x="242182" y="1161677"/>
                </a:lnTo>
                <a:lnTo>
                  <a:pt x="373629" y="1224134"/>
                </a:lnTo>
                <a:lnTo>
                  <a:pt x="559727" y="1276235"/>
                </a:lnTo>
                <a:lnTo>
                  <a:pt x="682889" y="1298382"/>
                </a:lnTo>
                <a:lnTo>
                  <a:pt x="830270" y="1315749"/>
                </a:lnTo>
                <a:lnTo>
                  <a:pt x="948971" y="1323715"/>
                </a:lnTo>
                <a:lnTo>
                  <a:pt x="1121525" y="1323715"/>
                </a:lnTo>
                <a:lnTo>
                  <a:pt x="1249149" y="1312881"/>
                </a:lnTo>
                <a:lnTo>
                  <a:pt x="1310013" y="1284520"/>
                </a:lnTo>
                <a:lnTo>
                  <a:pt x="1429989" y="1172352"/>
                </a:lnTo>
                <a:lnTo>
                  <a:pt x="1480815" y="1023059"/>
                </a:lnTo>
                <a:lnTo>
                  <a:pt x="1482090" y="1001709"/>
                </a:lnTo>
                <a:lnTo>
                  <a:pt x="1391590" y="825331"/>
                </a:lnTo>
                <a:lnTo>
                  <a:pt x="1191153" y="466041"/>
                </a:lnTo>
                <a:lnTo>
                  <a:pt x="1123597" y="363751"/>
                </a:lnTo>
                <a:lnTo>
                  <a:pt x="1032619" y="261939"/>
                </a:lnTo>
                <a:lnTo>
                  <a:pt x="922681" y="173989"/>
                </a:lnTo>
                <a:lnTo>
                  <a:pt x="727980" y="53535"/>
                </a:lnTo>
                <a:lnTo>
                  <a:pt x="624734" y="0"/>
                </a:lnTo>
                <a:lnTo>
                  <a:pt x="560524" y="94642"/>
                </a:lnTo>
                <a:lnTo>
                  <a:pt x="691334" y="162676"/>
                </a:lnTo>
                <a:lnTo>
                  <a:pt x="847159" y="258912"/>
                </a:lnTo>
                <a:lnTo>
                  <a:pt x="934950" y="329176"/>
                </a:lnTo>
                <a:lnTo>
                  <a:pt x="1007764" y="410753"/>
                </a:lnTo>
                <a:lnTo>
                  <a:pt x="1061936" y="492490"/>
                </a:lnTo>
                <a:lnTo>
                  <a:pt x="1222222" y="780081"/>
                </a:lnTo>
                <a:lnTo>
                  <a:pt x="1294558" y="921088"/>
                </a:lnTo>
                <a:lnTo>
                  <a:pt x="1293602" y="938136"/>
                </a:lnTo>
                <a:lnTo>
                  <a:pt x="1252973" y="1057634"/>
                </a:lnTo>
                <a:lnTo>
                  <a:pt x="1156897" y="1147337"/>
                </a:lnTo>
                <a:lnTo>
                  <a:pt x="1108142" y="1169962"/>
                </a:lnTo>
                <a:lnTo>
                  <a:pt x="1006170" y="1178725"/>
                </a:lnTo>
                <a:lnTo>
                  <a:pt x="868190" y="1178725"/>
                </a:lnTo>
                <a:lnTo>
                  <a:pt x="773230" y="1172352"/>
                </a:lnTo>
                <a:lnTo>
                  <a:pt x="655325" y="1158490"/>
                </a:lnTo>
                <a:lnTo>
                  <a:pt x="556700" y="1140804"/>
                </a:lnTo>
                <a:lnTo>
                  <a:pt x="407726" y="1099060"/>
                </a:lnTo>
                <a:lnTo>
                  <a:pt x="302568" y="1049030"/>
                </a:lnTo>
                <a:lnTo>
                  <a:pt x="215096" y="983864"/>
                </a:lnTo>
                <a:lnTo>
                  <a:pt x="163791" y="931444"/>
                </a:lnTo>
                <a:lnTo>
                  <a:pt x="123800" y="880299"/>
                </a:lnTo>
                <a:lnTo>
                  <a:pt x="78072" y="804777"/>
                </a:lnTo>
                <a:lnTo>
                  <a:pt x="0" y="919813"/>
                </a:lnTo>
                <a:close/>
              </a:path>
            </a:pathLst>
          </a:custGeom>
          <a:solidFill>
            <a:srgbClr val="C4262E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394106" y="2195506"/>
            <a:ext cx="1216486" cy="1084083"/>
          </a:xfrm>
          <a:custGeom>
            <a:avLst/>
            <a:gdLst/>
            <a:ahLst/>
            <a:cxnLst/>
            <a:rect l="l" t="t" r="r" b="b"/>
            <a:pathLst>
              <a:path w="1216486" h="1084083">
                <a:moveTo>
                  <a:pt x="45728" y="785657"/>
                </a:moveTo>
                <a:lnTo>
                  <a:pt x="85720" y="836802"/>
                </a:lnTo>
                <a:lnTo>
                  <a:pt x="137024" y="889222"/>
                </a:lnTo>
                <a:lnTo>
                  <a:pt x="224496" y="954388"/>
                </a:lnTo>
                <a:lnTo>
                  <a:pt x="329654" y="1004418"/>
                </a:lnTo>
                <a:lnTo>
                  <a:pt x="478628" y="1046162"/>
                </a:lnTo>
                <a:lnTo>
                  <a:pt x="577253" y="1063848"/>
                </a:lnTo>
                <a:lnTo>
                  <a:pt x="695158" y="1077710"/>
                </a:lnTo>
                <a:lnTo>
                  <a:pt x="790119" y="1084083"/>
                </a:lnTo>
                <a:lnTo>
                  <a:pt x="928099" y="1084083"/>
                </a:lnTo>
                <a:lnTo>
                  <a:pt x="1030070" y="1075320"/>
                </a:lnTo>
                <a:lnTo>
                  <a:pt x="1078825" y="1052695"/>
                </a:lnTo>
                <a:lnTo>
                  <a:pt x="1174901" y="962992"/>
                </a:lnTo>
                <a:lnTo>
                  <a:pt x="1215530" y="843494"/>
                </a:lnTo>
                <a:lnTo>
                  <a:pt x="1216486" y="826446"/>
                </a:lnTo>
                <a:lnTo>
                  <a:pt x="1144150" y="685439"/>
                </a:lnTo>
                <a:lnTo>
                  <a:pt x="983864" y="397848"/>
                </a:lnTo>
                <a:lnTo>
                  <a:pt x="929692" y="316111"/>
                </a:lnTo>
                <a:lnTo>
                  <a:pt x="856878" y="234534"/>
                </a:lnTo>
                <a:lnTo>
                  <a:pt x="769087" y="164269"/>
                </a:lnTo>
                <a:lnTo>
                  <a:pt x="613262" y="68034"/>
                </a:lnTo>
                <a:lnTo>
                  <a:pt x="482452" y="0"/>
                </a:lnTo>
                <a:lnTo>
                  <a:pt x="385898" y="142282"/>
                </a:lnTo>
                <a:lnTo>
                  <a:pt x="391315" y="144831"/>
                </a:lnTo>
                <a:lnTo>
                  <a:pt x="558293" y="231507"/>
                </a:lnTo>
                <a:lnTo>
                  <a:pt x="655644" y="291574"/>
                </a:lnTo>
                <a:lnTo>
                  <a:pt x="710613" y="335549"/>
                </a:lnTo>
                <a:lnTo>
                  <a:pt x="756022" y="386535"/>
                </a:lnTo>
                <a:lnTo>
                  <a:pt x="789800" y="437680"/>
                </a:lnTo>
                <a:lnTo>
                  <a:pt x="890019" y="617405"/>
                </a:lnTo>
                <a:lnTo>
                  <a:pt x="935268" y="705514"/>
                </a:lnTo>
                <a:lnTo>
                  <a:pt x="934631" y="716189"/>
                </a:lnTo>
                <a:lnTo>
                  <a:pt x="909298" y="790756"/>
                </a:lnTo>
                <a:lnTo>
                  <a:pt x="849230" y="846999"/>
                </a:lnTo>
                <a:lnTo>
                  <a:pt x="818798" y="861020"/>
                </a:lnTo>
                <a:lnTo>
                  <a:pt x="755066" y="866597"/>
                </a:lnTo>
                <a:lnTo>
                  <a:pt x="668709" y="866597"/>
                </a:lnTo>
                <a:lnTo>
                  <a:pt x="609438" y="862614"/>
                </a:lnTo>
                <a:lnTo>
                  <a:pt x="535668" y="853851"/>
                </a:lnTo>
                <a:lnTo>
                  <a:pt x="474167" y="842857"/>
                </a:lnTo>
                <a:lnTo>
                  <a:pt x="381118" y="816727"/>
                </a:lnTo>
                <a:lnTo>
                  <a:pt x="315314" y="785498"/>
                </a:lnTo>
                <a:lnTo>
                  <a:pt x="260664" y="744869"/>
                </a:lnTo>
                <a:lnTo>
                  <a:pt x="228639" y="712047"/>
                </a:lnTo>
                <a:lnTo>
                  <a:pt x="203624" y="680021"/>
                </a:lnTo>
                <a:lnTo>
                  <a:pt x="142601" y="579484"/>
                </a:lnTo>
                <a:lnTo>
                  <a:pt x="119816" y="533916"/>
                </a:lnTo>
                <a:lnTo>
                  <a:pt x="0" y="710135"/>
                </a:lnTo>
                <a:close/>
              </a:path>
            </a:pathLst>
          </a:custGeom>
          <a:solidFill>
            <a:srgbClr val="3E5C76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513922" y="2337788"/>
            <a:ext cx="815452" cy="724315"/>
          </a:xfrm>
          <a:custGeom>
            <a:avLst/>
            <a:gdLst/>
            <a:ahLst/>
            <a:cxnLst/>
            <a:rect l="l" t="t" r="r" b="b"/>
            <a:pathLst>
              <a:path w="815452" h="724315">
                <a:moveTo>
                  <a:pt x="22784" y="437202"/>
                </a:moveTo>
                <a:lnTo>
                  <a:pt x="83808" y="537739"/>
                </a:lnTo>
                <a:lnTo>
                  <a:pt x="108823" y="569765"/>
                </a:lnTo>
                <a:lnTo>
                  <a:pt x="140848" y="602587"/>
                </a:lnTo>
                <a:lnTo>
                  <a:pt x="195498" y="643216"/>
                </a:lnTo>
                <a:lnTo>
                  <a:pt x="261302" y="674445"/>
                </a:lnTo>
                <a:lnTo>
                  <a:pt x="354350" y="700575"/>
                </a:lnTo>
                <a:lnTo>
                  <a:pt x="415852" y="711569"/>
                </a:lnTo>
                <a:lnTo>
                  <a:pt x="489622" y="720332"/>
                </a:lnTo>
                <a:lnTo>
                  <a:pt x="548893" y="724315"/>
                </a:lnTo>
                <a:lnTo>
                  <a:pt x="635250" y="724315"/>
                </a:lnTo>
                <a:lnTo>
                  <a:pt x="698982" y="718739"/>
                </a:lnTo>
                <a:lnTo>
                  <a:pt x="729414" y="704718"/>
                </a:lnTo>
                <a:lnTo>
                  <a:pt x="789481" y="648474"/>
                </a:lnTo>
                <a:lnTo>
                  <a:pt x="814815" y="573907"/>
                </a:lnTo>
                <a:lnTo>
                  <a:pt x="815452" y="563232"/>
                </a:lnTo>
                <a:lnTo>
                  <a:pt x="770202" y="475123"/>
                </a:lnTo>
                <a:lnTo>
                  <a:pt x="669984" y="295398"/>
                </a:lnTo>
                <a:lnTo>
                  <a:pt x="636206" y="244253"/>
                </a:lnTo>
                <a:lnTo>
                  <a:pt x="590796" y="193268"/>
                </a:lnTo>
                <a:lnTo>
                  <a:pt x="535828" y="149292"/>
                </a:lnTo>
                <a:lnTo>
                  <a:pt x="438477" y="89225"/>
                </a:lnTo>
                <a:lnTo>
                  <a:pt x="271499" y="2549"/>
                </a:lnTo>
                <a:lnTo>
                  <a:pt x="266081" y="0"/>
                </a:lnTo>
                <a:lnTo>
                  <a:pt x="0" y="391634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083296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Rings follow the mound: public along the toe, knowledge mid-slope, open top; W end kept.</a:t>
            </a:r>
            <a:endParaRPr lang="en-US" sz="800" dirty="0"/>
          </a:p>
        </p:txBody>
      </p:sp>
      <p:sp>
        <p:nvSpPr>
          <p:cNvPr id="38" name="Text 33"/>
          <p:cNvSpPr txBox="1"/>
          <p:nvPr/>
        </p:nvSpPr>
        <p:spPr>
          <a:xfrm>
            <a:off x="8083296" y="45902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reads the mound; open top; route climbs · − depends on real levels (not on plan); ring along the toe faces traffic</a:t>
            </a:r>
            <a:endParaRPr lang="en-US" sz="750" dirty="0"/>
          </a:p>
        </p:txBody>
      </p:sp>
      <p:sp>
        <p:nvSpPr>
          <p:cNvPr id="39" name="Text 34"/>
          <p:cNvSpPr txBox="1"/>
          <p:nvPr/>
        </p:nvSpPr>
        <p:spPr>
          <a:xfrm>
            <a:off x="365760" y="5212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CLUB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the SE civic end, or sits on the street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junctions open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TOPOGRAPHY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 must cross levels</a:t>
            </a:r>
            <a:endParaRPr lang="en-US" sz="750" dirty="0"/>
          </a:p>
        </p:txBody>
      </p:sp>
      <p:sp>
        <p:nvSpPr>
          <p:cNvPr id="40" name="Text 35"/>
          <p:cNvSpPr txBox="1"/>
          <p:nvPr/>
        </p:nvSpPr>
        <p:spPr>
          <a:xfrm>
            <a:off x="4224528" y="5212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CLUB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stands as the core's public face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public edge (SE)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TOPOGRAPHY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area smallest</a:t>
            </a:r>
            <a:endParaRPr lang="en-US" sz="750" dirty="0"/>
          </a:p>
        </p:txBody>
      </p:sp>
      <p:sp>
        <p:nvSpPr>
          <p:cNvPr id="41" name="Text 36"/>
          <p:cNvSpPr txBox="1"/>
          <p:nvPr/>
        </p:nvSpPr>
        <p:spPr>
          <a:xfrm>
            <a:off x="8083296" y="5212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CLUB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the outer public ring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toe faces the road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TOPOGRAPHY  </a:t>
            </a:r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zoning follows levels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365760" y="5989320"/>
            <a:ext cx="201168" cy="128016"/>
          </a:xfrm>
          <a:prstGeom prst="rect">
            <a:avLst/>
          </a:prstGeom>
          <a:solidFill>
            <a:srgbClr val="C4262E">
              <a:alpha val="75000"/>
            </a:srgbClr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58368" y="598017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civic</a:t>
            </a:r>
            <a:endParaRPr lang="en-US" sz="700" dirty="0"/>
          </a:p>
        </p:txBody>
      </p:sp>
      <p:sp>
        <p:nvSpPr>
          <p:cNvPr id="44" name="Shape 39"/>
          <p:cNvSpPr/>
          <p:nvPr/>
        </p:nvSpPr>
        <p:spPr>
          <a:xfrm>
            <a:off x="365760" y="6190488"/>
            <a:ext cx="201168" cy="128016"/>
          </a:xfrm>
          <a:prstGeom prst="rect">
            <a:avLst/>
          </a:prstGeom>
          <a:solidFill>
            <a:srgbClr val="3E5C76">
              <a:alpha val="75000"/>
            </a:srgbClr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658368" y="61813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365760" y="6391656"/>
            <a:ext cx="201168" cy="128016"/>
          </a:xfrm>
          <a:prstGeom prst="rect">
            <a:avLst/>
          </a:prstGeom>
          <a:solidFill>
            <a:srgbClr val="9C6B3C">
              <a:alpha val="75000"/>
            </a:srgbClr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58368" y="63825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365760" y="6592824"/>
            <a:ext cx="201168" cy="128016"/>
          </a:xfrm>
          <a:prstGeom prst="rect">
            <a:avLst/>
          </a:prstGeom>
          <a:solidFill>
            <a:srgbClr val="4F7A43">
              <a:alpha val="75000"/>
            </a:srgbClr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658368" y="658368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ZONING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Draws on all three: B's compact core, C's reading of the mound, A's public arrival.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400" dirty="0"/>
          </a:p>
        </p:txBody>
      </p:sp>
      <p:pic>
        <p:nvPicPr>
          <p:cNvPr id="6" name="Image 0" descr="Site plan from the project handout (base, unaltere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42" y="1097280"/>
            <a:ext cx="7849676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2842" y="1097280"/>
            <a:ext cx="7849676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54443" y="1981328"/>
            <a:ext cx="3733016" cy="3409421"/>
          </a:xfrm>
          <a:custGeom>
            <a:avLst/>
            <a:gdLst/>
            <a:ahLst/>
            <a:cxnLst/>
            <a:rect l="l" t="t" r="r" b="b"/>
            <a:pathLst>
              <a:path w="3733016" h="3409421">
                <a:moveTo>
                  <a:pt x="383643" y="126769"/>
                </a:moveTo>
                <a:lnTo>
                  <a:pt x="300243" y="210170"/>
                </a:lnTo>
                <a:lnTo>
                  <a:pt x="193490" y="363627"/>
                </a:lnTo>
                <a:lnTo>
                  <a:pt x="126769" y="483724"/>
                </a:lnTo>
                <a:lnTo>
                  <a:pt x="53376" y="657198"/>
                </a:lnTo>
                <a:lnTo>
                  <a:pt x="3336" y="897392"/>
                </a:lnTo>
                <a:lnTo>
                  <a:pt x="0" y="1040841"/>
                </a:lnTo>
                <a:lnTo>
                  <a:pt x="20016" y="1281035"/>
                </a:lnTo>
                <a:lnTo>
                  <a:pt x="73393" y="1517893"/>
                </a:lnTo>
                <a:lnTo>
                  <a:pt x="130105" y="1691367"/>
                </a:lnTo>
                <a:lnTo>
                  <a:pt x="246866" y="1971593"/>
                </a:lnTo>
                <a:lnTo>
                  <a:pt x="356955" y="2191771"/>
                </a:lnTo>
                <a:lnTo>
                  <a:pt x="613829" y="2615447"/>
                </a:lnTo>
                <a:lnTo>
                  <a:pt x="720582" y="2752224"/>
                </a:lnTo>
                <a:lnTo>
                  <a:pt x="857359" y="2892337"/>
                </a:lnTo>
                <a:lnTo>
                  <a:pt x="1090881" y="3065810"/>
                </a:lnTo>
                <a:lnTo>
                  <a:pt x="1371108" y="3199252"/>
                </a:lnTo>
                <a:lnTo>
                  <a:pt x="1764759" y="3309340"/>
                </a:lnTo>
                <a:lnTo>
                  <a:pt x="2024969" y="3356045"/>
                </a:lnTo>
                <a:lnTo>
                  <a:pt x="2335220" y="3392741"/>
                </a:lnTo>
                <a:lnTo>
                  <a:pt x="2585422" y="3409421"/>
                </a:lnTo>
                <a:lnTo>
                  <a:pt x="2949049" y="3409421"/>
                </a:lnTo>
                <a:lnTo>
                  <a:pt x="3222604" y="3386069"/>
                </a:lnTo>
                <a:lnTo>
                  <a:pt x="3359381" y="3322685"/>
                </a:lnTo>
                <a:lnTo>
                  <a:pt x="3619591" y="3079154"/>
                </a:lnTo>
                <a:lnTo>
                  <a:pt x="3729680" y="2755560"/>
                </a:lnTo>
                <a:lnTo>
                  <a:pt x="3733016" y="2698847"/>
                </a:lnTo>
                <a:lnTo>
                  <a:pt x="3539526" y="2321876"/>
                </a:lnTo>
                <a:lnTo>
                  <a:pt x="3119187" y="1567933"/>
                </a:lnTo>
                <a:lnTo>
                  <a:pt x="2975738" y="1351092"/>
                </a:lnTo>
                <a:lnTo>
                  <a:pt x="2782248" y="1134250"/>
                </a:lnTo>
                <a:lnTo>
                  <a:pt x="2548726" y="947432"/>
                </a:lnTo>
                <a:lnTo>
                  <a:pt x="2138394" y="693894"/>
                </a:lnTo>
                <a:lnTo>
                  <a:pt x="1437828" y="330267"/>
                </a:lnTo>
                <a:lnTo>
                  <a:pt x="867367" y="63385"/>
                </a:lnTo>
                <a:lnTo>
                  <a:pt x="743934" y="16680"/>
                </a:lnTo>
                <a:lnTo>
                  <a:pt x="563789" y="0"/>
                </a:lnTo>
                <a:close/>
              </a:path>
            </a:pathLst>
          </a:custGeom>
          <a:ln w="25400">
            <a:solidFill>
              <a:srgbClr val="1B1B1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84468" y="2012353"/>
            <a:ext cx="1953912" cy="2581419"/>
          </a:xfrm>
          <a:custGeom>
            <a:avLst/>
            <a:gdLst/>
            <a:ahLst/>
            <a:cxnLst/>
            <a:rect l="l" t="t" r="r" b="b"/>
            <a:pathLst>
              <a:path w="1953912" h="2581419">
                <a:moveTo>
                  <a:pt x="293237" y="198494"/>
                </a:moveTo>
                <a:lnTo>
                  <a:pt x="188819" y="348615"/>
                </a:lnTo>
                <a:lnTo>
                  <a:pt x="123767" y="466043"/>
                </a:lnTo>
                <a:lnTo>
                  <a:pt x="52042" y="635180"/>
                </a:lnTo>
                <a:lnTo>
                  <a:pt x="3336" y="869703"/>
                </a:lnTo>
                <a:lnTo>
                  <a:pt x="0" y="1008815"/>
                </a:lnTo>
                <a:lnTo>
                  <a:pt x="19683" y="1245340"/>
                </a:lnTo>
                <a:lnTo>
                  <a:pt x="72392" y="1478862"/>
                </a:lnTo>
                <a:lnTo>
                  <a:pt x="128104" y="1650000"/>
                </a:lnTo>
                <a:lnTo>
                  <a:pt x="244197" y="1928225"/>
                </a:lnTo>
                <a:lnTo>
                  <a:pt x="353285" y="2146067"/>
                </a:lnTo>
                <a:lnTo>
                  <a:pt x="608492" y="2567408"/>
                </a:lnTo>
                <a:lnTo>
                  <a:pt x="619501" y="2581419"/>
                </a:lnTo>
                <a:lnTo>
                  <a:pt x="1953912" y="616498"/>
                </a:lnTo>
                <a:lnTo>
                  <a:pt x="1394460" y="326264"/>
                </a:lnTo>
                <a:lnTo>
                  <a:pt x="825667" y="60049"/>
                </a:lnTo>
                <a:lnTo>
                  <a:pt x="707238" y="15012"/>
                </a:lnTo>
                <a:lnTo>
                  <a:pt x="542105" y="0"/>
                </a:lnTo>
                <a:lnTo>
                  <a:pt x="372968" y="118763"/>
                </a:lnTo>
                <a:close/>
              </a:path>
            </a:pathLst>
          </a:custGeom>
          <a:solidFill>
            <a:srgbClr val="4F7A43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64552" y="4160422"/>
            <a:ext cx="1092549" cy="1200303"/>
          </a:xfrm>
          <a:custGeom>
            <a:avLst/>
            <a:gdLst/>
            <a:ahLst/>
            <a:cxnLst/>
            <a:rect l="l" t="t" r="r" b="b"/>
            <a:pathLst>
              <a:path w="1092549" h="1200303">
                <a:moveTo>
                  <a:pt x="337606" y="1200303"/>
                </a:moveTo>
                <a:lnTo>
                  <a:pt x="604822" y="1177618"/>
                </a:lnTo>
                <a:lnTo>
                  <a:pt x="732258" y="1118237"/>
                </a:lnTo>
                <a:lnTo>
                  <a:pt x="983461" y="883380"/>
                </a:lnTo>
                <a:lnTo>
                  <a:pt x="1089881" y="570795"/>
                </a:lnTo>
                <a:lnTo>
                  <a:pt x="1092549" y="526092"/>
                </a:lnTo>
                <a:lnTo>
                  <a:pt x="903063" y="156793"/>
                </a:lnTo>
                <a:lnTo>
                  <a:pt x="815325" y="0"/>
                </a:lnTo>
                <a:lnTo>
                  <a:pt x="0" y="1200303"/>
                </a:lnTo>
                <a:close/>
              </a:path>
            </a:pathLst>
          </a:custGeom>
          <a:solidFill>
            <a:srgbClr val="C4262E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96265" y="3497219"/>
            <a:ext cx="1583613" cy="1863506"/>
          </a:xfrm>
          <a:custGeom>
            <a:avLst/>
            <a:gdLst/>
            <a:ahLst/>
            <a:cxnLst/>
            <a:rect l="l" t="t" r="r" b="b"/>
            <a:pathLst>
              <a:path w="1583613" h="1863506">
                <a:moveTo>
                  <a:pt x="187485" y="1810463"/>
                </a:moveTo>
                <a:lnTo>
                  <a:pt x="496067" y="1846825"/>
                </a:lnTo>
                <a:lnTo>
                  <a:pt x="744602" y="1863506"/>
                </a:lnTo>
                <a:lnTo>
                  <a:pt x="768287" y="1863506"/>
                </a:lnTo>
                <a:lnTo>
                  <a:pt x="1583613" y="663203"/>
                </a:lnTo>
                <a:lnTo>
                  <a:pt x="1251678" y="67721"/>
                </a:lnTo>
                <a:lnTo>
                  <a:pt x="1206975" y="0"/>
                </a:lnTo>
                <a:lnTo>
                  <a:pt x="0" y="1776769"/>
                </a:lnTo>
                <a:close/>
              </a:path>
            </a:pathLst>
          </a:custGeom>
          <a:solidFill>
            <a:srgbClr val="C4262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7720" y="2934431"/>
            <a:ext cx="1055519" cy="1179286"/>
          </a:xfrm>
          <a:custGeom>
            <a:avLst/>
            <a:gdLst/>
            <a:ahLst/>
            <a:cxnLst/>
            <a:rect l="l" t="t" r="r" b="b"/>
            <a:pathLst>
              <a:path w="1055519" h="1179286">
                <a:moveTo>
                  <a:pt x="958775" y="416336"/>
                </a:moveTo>
                <a:lnTo>
                  <a:pt x="768287" y="203164"/>
                </a:lnTo>
                <a:lnTo>
                  <a:pt x="538101" y="19015"/>
                </a:lnTo>
                <a:lnTo>
                  <a:pt x="507410" y="0"/>
                </a:lnTo>
                <a:lnTo>
                  <a:pt x="0" y="746937"/>
                </a:lnTo>
                <a:lnTo>
                  <a:pt x="636514" y="1179286"/>
                </a:lnTo>
                <a:lnTo>
                  <a:pt x="1055519" y="562788"/>
                </a:lnTo>
                <a:close/>
              </a:path>
            </a:pathLst>
          </a:custGeom>
          <a:solidFill>
            <a:srgbClr val="3E5C7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03968" y="3289718"/>
            <a:ext cx="1381116" cy="1720056"/>
          </a:xfrm>
          <a:custGeom>
            <a:avLst/>
            <a:gdLst/>
            <a:ahLst/>
            <a:cxnLst/>
            <a:rect l="l" t="t" r="r" b="b"/>
            <a:pathLst>
              <a:path w="1381116" h="1720056">
                <a:moveTo>
                  <a:pt x="93742" y="1424151"/>
                </a:moveTo>
                <a:lnTo>
                  <a:pt x="227517" y="1561261"/>
                </a:lnTo>
                <a:lnTo>
                  <a:pt x="441357" y="1720056"/>
                </a:lnTo>
                <a:lnTo>
                  <a:pt x="1381116" y="336272"/>
                </a:lnTo>
                <a:lnTo>
                  <a:pt x="885716" y="0"/>
                </a:lnTo>
                <a:lnTo>
                  <a:pt x="0" y="1304054"/>
                </a:lnTo>
                <a:close/>
              </a:path>
            </a:pathLst>
          </a:custGeom>
          <a:solidFill>
            <a:srgbClr val="3E5C76">
              <a:alpha val="9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45325" y="3681368"/>
            <a:ext cx="1538910" cy="1592620"/>
          </a:xfrm>
          <a:custGeom>
            <a:avLst/>
            <a:gdLst/>
            <a:ahLst/>
            <a:cxnLst/>
            <a:rect l="l" t="t" r="r" b="b"/>
            <a:pathLst>
              <a:path w="1538910" h="1592620">
                <a:moveTo>
                  <a:pt x="15679" y="1340083"/>
                </a:moveTo>
                <a:lnTo>
                  <a:pt x="290902" y="1470855"/>
                </a:lnTo>
                <a:lnTo>
                  <a:pt x="680550" y="1579943"/>
                </a:lnTo>
                <a:lnTo>
                  <a:pt x="750940" y="1592620"/>
                </a:lnTo>
                <a:lnTo>
                  <a:pt x="1538910" y="432349"/>
                </a:lnTo>
                <a:lnTo>
                  <a:pt x="902396" y="0"/>
                </a:lnTo>
                <a:lnTo>
                  <a:pt x="0" y="1328407"/>
                </a:lnTo>
                <a:close/>
              </a:path>
            </a:pathLst>
          </a:custGeom>
          <a:solidFill>
            <a:srgbClr val="D9A441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89684" y="2628851"/>
            <a:ext cx="965447" cy="997139"/>
          </a:xfrm>
          <a:custGeom>
            <a:avLst/>
            <a:gdLst/>
            <a:ahLst/>
            <a:cxnLst/>
            <a:rect l="l" t="t" r="r" b="b"/>
            <a:pathLst>
              <a:path w="965447" h="997139">
                <a:moveTo>
                  <a:pt x="588475" y="72392"/>
                </a:moveTo>
                <a:lnTo>
                  <a:pt x="448696" y="0"/>
                </a:lnTo>
                <a:lnTo>
                  <a:pt x="0" y="660867"/>
                </a:lnTo>
                <a:lnTo>
                  <a:pt x="495400" y="997139"/>
                </a:lnTo>
                <a:lnTo>
                  <a:pt x="965447" y="305580"/>
                </a:lnTo>
                <a:close/>
              </a:path>
            </a:pathLst>
          </a:custGeom>
          <a:solidFill>
            <a:srgbClr val="9C6B3C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62065" y="2930428"/>
            <a:ext cx="467044" cy="467044"/>
          </a:xfrm>
          <a:custGeom>
            <a:avLst/>
            <a:gdLst/>
            <a:ahLst/>
            <a:cxnLst/>
            <a:rect l="l" t="t" r="r" b="b"/>
            <a:pathLst>
              <a:path w="467044" h="467044">
                <a:moveTo>
                  <a:pt x="466377" y="218510"/>
                </a:moveTo>
                <a:lnTo>
                  <a:pt x="465042" y="203164"/>
                </a:lnTo>
                <a:lnTo>
                  <a:pt x="462374" y="188152"/>
                </a:lnTo>
                <a:lnTo>
                  <a:pt x="459038" y="173140"/>
                </a:lnTo>
                <a:lnTo>
                  <a:pt x="454701" y="158461"/>
                </a:lnTo>
                <a:lnTo>
                  <a:pt x="449029" y="144450"/>
                </a:lnTo>
                <a:lnTo>
                  <a:pt x="442691" y="130439"/>
                </a:lnTo>
                <a:lnTo>
                  <a:pt x="435685" y="116761"/>
                </a:lnTo>
                <a:lnTo>
                  <a:pt x="427679" y="104084"/>
                </a:lnTo>
                <a:lnTo>
                  <a:pt x="418672" y="91407"/>
                </a:lnTo>
                <a:lnTo>
                  <a:pt x="408997" y="79731"/>
                </a:lnTo>
                <a:lnTo>
                  <a:pt x="398655" y="68389"/>
                </a:lnTo>
                <a:lnTo>
                  <a:pt x="387313" y="58047"/>
                </a:lnTo>
                <a:lnTo>
                  <a:pt x="375637" y="48372"/>
                </a:lnTo>
                <a:lnTo>
                  <a:pt x="363294" y="39365"/>
                </a:lnTo>
                <a:lnTo>
                  <a:pt x="350283" y="31359"/>
                </a:lnTo>
                <a:lnTo>
                  <a:pt x="336605" y="24353"/>
                </a:lnTo>
                <a:lnTo>
                  <a:pt x="322928" y="18015"/>
                </a:lnTo>
                <a:lnTo>
                  <a:pt x="308583" y="12677"/>
                </a:lnTo>
                <a:lnTo>
                  <a:pt x="293904" y="8006"/>
                </a:lnTo>
                <a:lnTo>
                  <a:pt x="278892" y="4670"/>
                </a:lnTo>
                <a:lnTo>
                  <a:pt x="263880" y="2002"/>
                </a:lnTo>
                <a:lnTo>
                  <a:pt x="248534" y="667"/>
                </a:lnTo>
                <a:lnTo>
                  <a:pt x="233522" y="0"/>
                </a:lnTo>
                <a:lnTo>
                  <a:pt x="218176" y="667"/>
                </a:lnTo>
                <a:lnTo>
                  <a:pt x="202831" y="2002"/>
                </a:lnTo>
                <a:lnTo>
                  <a:pt x="187818" y="4670"/>
                </a:lnTo>
                <a:lnTo>
                  <a:pt x="172806" y="8006"/>
                </a:lnTo>
                <a:lnTo>
                  <a:pt x="158461" y="12677"/>
                </a:lnTo>
                <a:lnTo>
                  <a:pt x="144116" y="18015"/>
                </a:lnTo>
                <a:lnTo>
                  <a:pt x="130105" y="24353"/>
                </a:lnTo>
                <a:lnTo>
                  <a:pt x="116761" y="31359"/>
                </a:lnTo>
                <a:lnTo>
                  <a:pt x="103750" y="39365"/>
                </a:lnTo>
                <a:lnTo>
                  <a:pt x="91407" y="48372"/>
                </a:lnTo>
                <a:lnTo>
                  <a:pt x="79397" y="58047"/>
                </a:lnTo>
                <a:lnTo>
                  <a:pt x="68389" y="68389"/>
                </a:lnTo>
                <a:lnTo>
                  <a:pt x="57713" y="79731"/>
                </a:lnTo>
                <a:lnTo>
                  <a:pt x="48039" y="91407"/>
                </a:lnTo>
                <a:lnTo>
                  <a:pt x="39365" y="104084"/>
                </a:lnTo>
                <a:lnTo>
                  <a:pt x="31025" y="116761"/>
                </a:lnTo>
                <a:lnTo>
                  <a:pt x="24019" y="130439"/>
                </a:lnTo>
                <a:lnTo>
                  <a:pt x="17681" y="144450"/>
                </a:lnTo>
                <a:lnTo>
                  <a:pt x="12343" y="158461"/>
                </a:lnTo>
                <a:lnTo>
                  <a:pt x="8006" y="173140"/>
                </a:lnTo>
                <a:lnTo>
                  <a:pt x="4337" y="188152"/>
                </a:lnTo>
                <a:lnTo>
                  <a:pt x="2002" y="203164"/>
                </a:lnTo>
                <a:lnTo>
                  <a:pt x="334" y="218510"/>
                </a:lnTo>
                <a:lnTo>
                  <a:pt x="0" y="233522"/>
                </a:lnTo>
                <a:lnTo>
                  <a:pt x="334" y="248868"/>
                </a:lnTo>
                <a:lnTo>
                  <a:pt x="2002" y="264213"/>
                </a:lnTo>
                <a:lnTo>
                  <a:pt x="4337" y="279226"/>
                </a:lnTo>
                <a:lnTo>
                  <a:pt x="8006" y="294238"/>
                </a:lnTo>
                <a:lnTo>
                  <a:pt x="12343" y="308583"/>
                </a:lnTo>
                <a:lnTo>
                  <a:pt x="17681" y="322928"/>
                </a:lnTo>
                <a:lnTo>
                  <a:pt x="24019" y="336939"/>
                </a:lnTo>
                <a:lnTo>
                  <a:pt x="31025" y="350283"/>
                </a:lnTo>
                <a:lnTo>
                  <a:pt x="39365" y="363294"/>
                </a:lnTo>
                <a:lnTo>
                  <a:pt x="48039" y="375970"/>
                </a:lnTo>
                <a:lnTo>
                  <a:pt x="57713" y="387647"/>
                </a:lnTo>
                <a:lnTo>
                  <a:pt x="68389" y="398655"/>
                </a:lnTo>
                <a:lnTo>
                  <a:pt x="79397" y="409331"/>
                </a:lnTo>
                <a:lnTo>
                  <a:pt x="91407" y="419005"/>
                </a:lnTo>
                <a:lnTo>
                  <a:pt x="103750" y="427679"/>
                </a:lnTo>
                <a:lnTo>
                  <a:pt x="116761" y="436019"/>
                </a:lnTo>
                <a:lnTo>
                  <a:pt x="130105" y="443025"/>
                </a:lnTo>
                <a:lnTo>
                  <a:pt x="144116" y="449363"/>
                </a:lnTo>
                <a:lnTo>
                  <a:pt x="158461" y="454701"/>
                </a:lnTo>
                <a:lnTo>
                  <a:pt x="172806" y="459371"/>
                </a:lnTo>
                <a:lnTo>
                  <a:pt x="187818" y="462707"/>
                </a:lnTo>
                <a:lnTo>
                  <a:pt x="202831" y="465042"/>
                </a:lnTo>
                <a:lnTo>
                  <a:pt x="218176" y="466710"/>
                </a:lnTo>
                <a:lnTo>
                  <a:pt x="233522" y="467044"/>
                </a:lnTo>
                <a:lnTo>
                  <a:pt x="248534" y="466710"/>
                </a:lnTo>
                <a:lnTo>
                  <a:pt x="263880" y="465042"/>
                </a:lnTo>
                <a:lnTo>
                  <a:pt x="278892" y="462707"/>
                </a:lnTo>
                <a:lnTo>
                  <a:pt x="293904" y="459371"/>
                </a:lnTo>
                <a:lnTo>
                  <a:pt x="308583" y="454701"/>
                </a:lnTo>
                <a:lnTo>
                  <a:pt x="322928" y="449363"/>
                </a:lnTo>
                <a:lnTo>
                  <a:pt x="336605" y="443025"/>
                </a:lnTo>
                <a:lnTo>
                  <a:pt x="350283" y="436019"/>
                </a:lnTo>
                <a:lnTo>
                  <a:pt x="363294" y="427679"/>
                </a:lnTo>
                <a:lnTo>
                  <a:pt x="375637" y="419005"/>
                </a:lnTo>
                <a:lnTo>
                  <a:pt x="387313" y="409331"/>
                </a:lnTo>
                <a:lnTo>
                  <a:pt x="398655" y="398655"/>
                </a:lnTo>
                <a:lnTo>
                  <a:pt x="408997" y="387647"/>
                </a:lnTo>
                <a:lnTo>
                  <a:pt x="418672" y="375970"/>
                </a:lnTo>
                <a:lnTo>
                  <a:pt x="427679" y="363294"/>
                </a:lnTo>
                <a:lnTo>
                  <a:pt x="435685" y="350283"/>
                </a:lnTo>
                <a:lnTo>
                  <a:pt x="442691" y="336939"/>
                </a:lnTo>
                <a:lnTo>
                  <a:pt x="449029" y="322928"/>
                </a:lnTo>
                <a:lnTo>
                  <a:pt x="454701" y="308583"/>
                </a:lnTo>
                <a:lnTo>
                  <a:pt x="459038" y="294238"/>
                </a:lnTo>
                <a:lnTo>
                  <a:pt x="462374" y="279226"/>
                </a:lnTo>
                <a:lnTo>
                  <a:pt x="465042" y="264213"/>
                </a:lnTo>
                <a:lnTo>
                  <a:pt x="466377" y="248868"/>
                </a:lnTo>
                <a:lnTo>
                  <a:pt x="467044" y="233522"/>
                </a:lnTo>
                <a:close/>
              </a:path>
            </a:pathLst>
          </a:custGeom>
          <a:solidFill>
            <a:srgbClr val="7A7A7A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77007" y="3463859"/>
            <a:ext cx="366963" cy="366963"/>
          </a:xfrm>
          <a:custGeom>
            <a:avLst/>
            <a:gdLst/>
            <a:ahLst/>
            <a:cxnLst/>
            <a:rect l="l" t="t" r="r" b="b"/>
            <a:pathLst>
              <a:path w="366963" h="366963">
                <a:moveTo>
                  <a:pt x="366296" y="171472"/>
                </a:moveTo>
                <a:lnTo>
                  <a:pt x="365295" y="159796"/>
                </a:lnTo>
                <a:lnTo>
                  <a:pt x="363294" y="147786"/>
                </a:lnTo>
                <a:lnTo>
                  <a:pt x="360625" y="136110"/>
                </a:lnTo>
                <a:lnTo>
                  <a:pt x="356955" y="124767"/>
                </a:lnTo>
                <a:lnTo>
                  <a:pt x="352952" y="113425"/>
                </a:lnTo>
                <a:lnTo>
                  <a:pt x="347948" y="102416"/>
                </a:lnTo>
                <a:lnTo>
                  <a:pt x="342277" y="91741"/>
                </a:lnTo>
                <a:lnTo>
                  <a:pt x="335938" y="81733"/>
                </a:lnTo>
                <a:lnTo>
                  <a:pt x="328932" y="72058"/>
                </a:lnTo>
                <a:lnTo>
                  <a:pt x="321260" y="62717"/>
                </a:lnTo>
                <a:lnTo>
                  <a:pt x="312919" y="54044"/>
                </a:lnTo>
                <a:lnTo>
                  <a:pt x="304246" y="45704"/>
                </a:lnTo>
                <a:lnTo>
                  <a:pt x="294905" y="38031"/>
                </a:lnTo>
                <a:lnTo>
                  <a:pt x="285230" y="31025"/>
                </a:lnTo>
                <a:lnTo>
                  <a:pt x="275222" y="24687"/>
                </a:lnTo>
                <a:lnTo>
                  <a:pt x="264547" y="19015"/>
                </a:lnTo>
                <a:lnTo>
                  <a:pt x="253538" y="14011"/>
                </a:lnTo>
                <a:lnTo>
                  <a:pt x="242196" y="10008"/>
                </a:lnTo>
                <a:lnTo>
                  <a:pt x="230853" y="6338"/>
                </a:lnTo>
                <a:lnTo>
                  <a:pt x="219177" y="3670"/>
                </a:lnTo>
                <a:lnTo>
                  <a:pt x="207167" y="1668"/>
                </a:lnTo>
                <a:lnTo>
                  <a:pt x="195158" y="667"/>
                </a:lnTo>
                <a:lnTo>
                  <a:pt x="183482" y="0"/>
                </a:lnTo>
                <a:lnTo>
                  <a:pt x="171472" y="667"/>
                </a:lnTo>
                <a:lnTo>
                  <a:pt x="159462" y="1668"/>
                </a:lnTo>
                <a:lnTo>
                  <a:pt x="147452" y="3670"/>
                </a:lnTo>
                <a:lnTo>
                  <a:pt x="135776" y="6338"/>
                </a:lnTo>
                <a:lnTo>
                  <a:pt x="124434" y="10008"/>
                </a:lnTo>
                <a:lnTo>
                  <a:pt x="113091" y="14011"/>
                </a:lnTo>
                <a:lnTo>
                  <a:pt x="102082" y="19015"/>
                </a:lnTo>
                <a:lnTo>
                  <a:pt x="91741" y="24687"/>
                </a:lnTo>
                <a:lnTo>
                  <a:pt x="81399" y="31025"/>
                </a:lnTo>
                <a:lnTo>
                  <a:pt x="71725" y="38031"/>
                </a:lnTo>
                <a:lnTo>
                  <a:pt x="62384" y="45704"/>
                </a:lnTo>
                <a:lnTo>
                  <a:pt x="53710" y="54044"/>
                </a:lnTo>
                <a:lnTo>
                  <a:pt x="45370" y="62717"/>
                </a:lnTo>
                <a:lnTo>
                  <a:pt x="37697" y="72058"/>
                </a:lnTo>
                <a:lnTo>
                  <a:pt x="30691" y="81733"/>
                </a:lnTo>
                <a:lnTo>
                  <a:pt x="24353" y="91741"/>
                </a:lnTo>
                <a:lnTo>
                  <a:pt x="18682" y="102416"/>
                </a:lnTo>
                <a:lnTo>
                  <a:pt x="13678" y="113425"/>
                </a:lnTo>
                <a:lnTo>
                  <a:pt x="9674" y="124767"/>
                </a:lnTo>
                <a:lnTo>
                  <a:pt x="6005" y="136110"/>
                </a:lnTo>
                <a:lnTo>
                  <a:pt x="3336" y="147786"/>
                </a:lnTo>
                <a:lnTo>
                  <a:pt x="1334" y="159796"/>
                </a:lnTo>
                <a:lnTo>
                  <a:pt x="334" y="171472"/>
                </a:lnTo>
                <a:lnTo>
                  <a:pt x="0" y="183482"/>
                </a:lnTo>
                <a:lnTo>
                  <a:pt x="334" y="195491"/>
                </a:lnTo>
                <a:lnTo>
                  <a:pt x="1334" y="207501"/>
                </a:lnTo>
                <a:lnTo>
                  <a:pt x="3336" y="219511"/>
                </a:lnTo>
                <a:lnTo>
                  <a:pt x="6005" y="231187"/>
                </a:lnTo>
                <a:lnTo>
                  <a:pt x="9674" y="242529"/>
                </a:lnTo>
                <a:lnTo>
                  <a:pt x="13678" y="253872"/>
                </a:lnTo>
                <a:lnTo>
                  <a:pt x="18682" y="264881"/>
                </a:lnTo>
                <a:lnTo>
                  <a:pt x="24353" y="275222"/>
                </a:lnTo>
                <a:lnTo>
                  <a:pt x="30691" y="285564"/>
                </a:lnTo>
                <a:lnTo>
                  <a:pt x="37697" y="295239"/>
                </a:lnTo>
                <a:lnTo>
                  <a:pt x="45370" y="304579"/>
                </a:lnTo>
                <a:lnTo>
                  <a:pt x="53710" y="313253"/>
                </a:lnTo>
                <a:lnTo>
                  <a:pt x="62384" y="321593"/>
                </a:lnTo>
                <a:lnTo>
                  <a:pt x="71725" y="329266"/>
                </a:lnTo>
                <a:lnTo>
                  <a:pt x="81399" y="336272"/>
                </a:lnTo>
                <a:lnTo>
                  <a:pt x="91741" y="342610"/>
                </a:lnTo>
                <a:lnTo>
                  <a:pt x="102082" y="348281"/>
                </a:lnTo>
                <a:lnTo>
                  <a:pt x="113091" y="353285"/>
                </a:lnTo>
                <a:lnTo>
                  <a:pt x="124434" y="357289"/>
                </a:lnTo>
                <a:lnTo>
                  <a:pt x="135776" y="360958"/>
                </a:lnTo>
                <a:lnTo>
                  <a:pt x="147452" y="363627"/>
                </a:lnTo>
                <a:lnTo>
                  <a:pt x="159462" y="365629"/>
                </a:lnTo>
                <a:lnTo>
                  <a:pt x="171472" y="366630"/>
                </a:lnTo>
                <a:lnTo>
                  <a:pt x="183482" y="366963"/>
                </a:lnTo>
                <a:lnTo>
                  <a:pt x="195158" y="366630"/>
                </a:lnTo>
                <a:lnTo>
                  <a:pt x="207167" y="365629"/>
                </a:lnTo>
                <a:lnTo>
                  <a:pt x="219177" y="363627"/>
                </a:lnTo>
                <a:lnTo>
                  <a:pt x="230853" y="360958"/>
                </a:lnTo>
                <a:lnTo>
                  <a:pt x="242196" y="357289"/>
                </a:lnTo>
                <a:lnTo>
                  <a:pt x="253538" y="353285"/>
                </a:lnTo>
                <a:lnTo>
                  <a:pt x="264547" y="348281"/>
                </a:lnTo>
                <a:lnTo>
                  <a:pt x="275222" y="342610"/>
                </a:lnTo>
                <a:lnTo>
                  <a:pt x="285230" y="336272"/>
                </a:lnTo>
                <a:lnTo>
                  <a:pt x="294905" y="329266"/>
                </a:lnTo>
                <a:lnTo>
                  <a:pt x="304246" y="321593"/>
                </a:lnTo>
                <a:lnTo>
                  <a:pt x="312919" y="313253"/>
                </a:lnTo>
                <a:lnTo>
                  <a:pt x="321260" y="304579"/>
                </a:lnTo>
                <a:lnTo>
                  <a:pt x="328932" y="295239"/>
                </a:lnTo>
                <a:lnTo>
                  <a:pt x="335938" y="285564"/>
                </a:lnTo>
                <a:lnTo>
                  <a:pt x="342277" y="275222"/>
                </a:lnTo>
                <a:lnTo>
                  <a:pt x="347948" y="264881"/>
                </a:lnTo>
                <a:lnTo>
                  <a:pt x="352952" y="253872"/>
                </a:lnTo>
                <a:lnTo>
                  <a:pt x="356955" y="242529"/>
                </a:lnTo>
                <a:lnTo>
                  <a:pt x="360625" y="231187"/>
                </a:lnTo>
                <a:lnTo>
                  <a:pt x="363294" y="219511"/>
                </a:lnTo>
                <a:lnTo>
                  <a:pt x="365295" y="207501"/>
                </a:lnTo>
                <a:lnTo>
                  <a:pt x="366296" y="195491"/>
                </a:lnTo>
                <a:lnTo>
                  <a:pt x="366963" y="18348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93326" y="4919702"/>
            <a:ext cx="717728" cy="1348423"/>
          </a:xfrm>
          <a:custGeom>
            <a:avLst/>
            <a:gdLst/>
            <a:ahLst/>
            <a:cxnLst/>
            <a:rect l="l" t="t" r="r" b="b"/>
            <a:pathLst>
              <a:path w="717728" h="1348423">
                <a:moveTo>
                  <a:pt x="0" y="0"/>
                </a:moveTo>
                <a:lnTo>
                  <a:pt x="717728" y="1348423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70466" y="4896842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0" name="Shape 17"/>
          <p:cNvSpPr/>
          <p:nvPr/>
        </p:nvSpPr>
        <p:spPr>
          <a:xfrm>
            <a:off x="5327719" y="6194972"/>
            <a:ext cx="2166671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27719" y="6194972"/>
            <a:ext cx="216667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 FORUM UNDER TREES · PROTEST EDGE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976103" y="4233147"/>
            <a:ext cx="1901995" cy="500571"/>
          </a:xfrm>
          <a:custGeom>
            <a:avLst/>
            <a:gdLst/>
            <a:ahLst/>
            <a:cxnLst/>
            <a:rect l="l" t="t" r="r" b="b"/>
            <a:pathLst>
              <a:path w="1901995" h="500571">
                <a:moveTo>
                  <a:pt x="0" y="500571"/>
                </a:moveTo>
                <a:lnTo>
                  <a:pt x="1901995" y="0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53243" y="4710858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4" name="Shape 21"/>
          <p:cNvSpPr/>
          <p:nvPr/>
        </p:nvSpPr>
        <p:spPr>
          <a:xfrm>
            <a:off x="5590897" y="4159995"/>
            <a:ext cx="257440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90897" y="4159995"/>
            <a:ext cx="257440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EXHIBITION · FORUM · AUDITORIUM · PRESS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985521" y="3381221"/>
            <a:ext cx="1592334" cy="585044"/>
          </a:xfrm>
          <a:custGeom>
            <a:avLst/>
            <a:gdLst/>
            <a:ahLst/>
            <a:cxnLst/>
            <a:rect l="l" t="t" r="r" b="b"/>
            <a:pathLst>
              <a:path w="1592334" h="585044">
                <a:moveTo>
                  <a:pt x="0" y="0"/>
                </a:moveTo>
                <a:lnTo>
                  <a:pt x="1592334" y="585044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62661" y="3358361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8" name="Shape 25"/>
          <p:cNvSpPr/>
          <p:nvPr/>
        </p:nvSpPr>
        <p:spPr>
          <a:xfrm>
            <a:off x="5931375" y="3893113"/>
            <a:ext cx="129296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31375" y="3893113"/>
            <a:ext cx="12929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LIBRARY + READING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4389287" y="2765294"/>
            <a:ext cx="1721524" cy="270752"/>
          </a:xfrm>
          <a:custGeom>
            <a:avLst/>
            <a:gdLst/>
            <a:ahLst/>
            <a:cxnLst/>
            <a:rect l="l" t="t" r="r" b="b"/>
            <a:pathLst>
              <a:path w="1721524" h="270752">
                <a:moveTo>
                  <a:pt x="0" y="270752"/>
                </a:moveTo>
                <a:lnTo>
                  <a:pt x="1721524" y="0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66427" y="3013186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2" name="Shape 29"/>
          <p:cNvSpPr/>
          <p:nvPr/>
        </p:nvSpPr>
        <p:spPr>
          <a:xfrm>
            <a:off x="5027476" y="2692142"/>
            <a:ext cx="2166671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7476" y="2692142"/>
            <a:ext cx="216667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C/D  MEDIA · EDITORIAL · PUBLISHING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95497" y="2098089"/>
            <a:ext cx="848109" cy="1065986"/>
          </a:xfrm>
          <a:custGeom>
            <a:avLst/>
            <a:gdLst/>
            <a:ahLst/>
            <a:cxnLst/>
            <a:rect l="l" t="t" r="r" b="b"/>
            <a:pathLst>
              <a:path w="848109" h="1065986">
                <a:moveTo>
                  <a:pt x="0" y="1065986"/>
                </a:moveTo>
                <a:lnTo>
                  <a:pt x="848109" y="0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637" y="3141215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6" name="Shape 33"/>
          <p:cNvSpPr/>
          <p:nvPr/>
        </p:nvSpPr>
        <p:spPr>
          <a:xfrm>
            <a:off x="4855372" y="2024937"/>
            <a:ext cx="1176467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55372" y="2024937"/>
            <a:ext cx="11764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 ADMIN · SERVICE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3708871" y="4787690"/>
            <a:ext cx="333508" cy="1280273"/>
          </a:xfrm>
          <a:custGeom>
            <a:avLst/>
            <a:gdLst/>
            <a:ahLst/>
            <a:cxnLst/>
            <a:rect l="l" t="t" r="r" b="b"/>
            <a:pathLst>
              <a:path w="333508" h="1280273">
                <a:moveTo>
                  <a:pt x="333508" y="0"/>
                </a:moveTo>
                <a:lnTo>
                  <a:pt x="0" y="1280273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19518" y="4764830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0" name="Shape 37"/>
          <p:cNvSpPr/>
          <p:nvPr/>
        </p:nvSpPr>
        <p:spPr>
          <a:xfrm>
            <a:off x="2945896" y="5994811"/>
            <a:ext cx="1525951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945896" y="5994811"/>
            <a:ext cx="15259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WORKSHOPS · EDUCATION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574621" y="4347350"/>
            <a:ext cx="934255" cy="1353649"/>
          </a:xfrm>
          <a:custGeom>
            <a:avLst/>
            <a:gdLst/>
            <a:ahLst/>
            <a:cxnLst/>
            <a:rect l="l" t="t" r="r" b="b"/>
            <a:pathLst>
              <a:path w="934255" h="1353649">
                <a:moveTo>
                  <a:pt x="934255" y="0"/>
                </a:moveTo>
                <a:lnTo>
                  <a:pt x="0" y="1353649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86016" y="4324490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4" name="Shape 41"/>
          <p:cNvSpPr/>
          <p:nvPr/>
        </p:nvSpPr>
        <p:spPr>
          <a:xfrm>
            <a:off x="1899017" y="5627848"/>
            <a:ext cx="135120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899017" y="5627848"/>
            <a:ext cx="13512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ARCHIVE + RESEARCH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1573813" y="2973445"/>
            <a:ext cx="1258192" cy="1059540"/>
          </a:xfrm>
          <a:custGeom>
            <a:avLst/>
            <a:gdLst/>
            <a:ahLst/>
            <a:cxnLst/>
            <a:rect l="l" t="t" r="r" b="b"/>
            <a:pathLst>
              <a:path w="1258192" h="1059540">
                <a:moveTo>
                  <a:pt x="1258192" y="0"/>
                </a:moveTo>
                <a:lnTo>
                  <a:pt x="0" y="1059540"/>
                </a:lnTo>
              </a:path>
            </a:pathLst>
          </a:custGeom>
          <a:ln w="6350">
            <a:solidFill>
              <a:srgbClr val="1B1B1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809145" y="2950585"/>
            <a:ext cx="45720" cy="4572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8" name="Shape 45"/>
          <p:cNvSpPr/>
          <p:nvPr/>
        </p:nvSpPr>
        <p:spPr>
          <a:xfrm>
            <a:off x="869084" y="3959833"/>
            <a:ext cx="1409456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9084" y="3959833"/>
            <a:ext cx="140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 PRESERVED LANDSCAPE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3772635" y="3281580"/>
            <a:ext cx="575706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3772635" y="3281580"/>
            <a:ext cx="5757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TOP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060488" y="3647340"/>
            <a:ext cx="2350566" cy="1820137"/>
          </a:xfrm>
          <a:custGeom>
            <a:avLst/>
            <a:gdLst/>
            <a:ahLst/>
            <a:cxnLst/>
            <a:rect l="l" t="t" r="r" b="b"/>
            <a:pathLst>
              <a:path w="2350566" h="1820137">
                <a:moveTo>
                  <a:pt x="2350566" y="1820137"/>
                </a:moveTo>
                <a:lnTo>
                  <a:pt x="1879185" y="1115234"/>
                </a:lnTo>
                <a:lnTo>
                  <a:pt x="1206975" y="658866"/>
                </a:lnTo>
                <a:lnTo>
                  <a:pt x="774292" y="2002"/>
                </a:lnTo>
                <a:lnTo>
                  <a:pt x="0" y="0"/>
                </a:lnTo>
              </a:path>
            </a:pathLst>
          </a:custGeom>
          <a:ln w="2540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4060488" y="3647340"/>
            <a:ext cx="649191" cy="1920218"/>
          </a:xfrm>
          <a:custGeom>
            <a:avLst/>
            <a:gdLst/>
            <a:ahLst/>
            <a:cxnLst/>
            <a:rect l="l" t="t" r="r" b="b"/>
            <a:pathLst>
              <a:path w="649191" h="1920218">
                <a:moveTo>
                  <a:pt x="582471" y="1920218"/>
                </a:moveTo>
                <a:lnTo>
                  <a:pt x="649191" y="1519895"/>
                </a:lnTo>
                <a:lnTo>
                  <a:pt x="436686" y="498736"/>
                </a:lnTo>
                <a:lnTo>
                  <a:pt x="0" y="0"/>
                </a:lnTo>
              </a:path>
            </a:pathLst>
          </a:custGeom>
          <a:ln w="1778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1974136" y="2898736"/>
            <a:ext cx="2086352" cy="748605"/>
          </a:xfrm>
          <a:custGeom>
            <a:avLst/>
            <a:gdLst/>
            <a:ahLst/>
            <a:cxnLst/>
            <a:rect l="l" t="t" r="r" b="b"/>
            <a:pathLst>
              <a:path w="2086352" h="748605">
                <a:moveTo>
                  <a:pt x="0" y="0"/>
                </a:moveTo>
                <a:lnTo>
                  <a:pt x="600485" y="200162"/>
                </a:lnTo>
                <a:lnTo>
                  <a:pt x="1241336" y="13678"/>
                </a:lnTo>
                <a:lnTo>
                  <a:pt x="2086352" y="748605"/>
                </a:lnTo>
              </a:path>
            </a:pathLst>
          </a:custGeom>
          <a:ln w="17780">
            <a:solidFill>
              <a:srgbClr val="C4262E"/>
            </a:solidFill>
            <a:prstDash val="dash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3950066" y="3209653"/>
            <a:ext cx="2627790" cy="1957582"/>
          </a:xfrm>
          <a:custGeom>
            <a:avLst/>
            <a:gdLst/>
            <a:ahLst/>
            <a:cxnLst/>
            <a:rect l="l" t="t" r="r" b="b"/>
            <a:pathLst>
              <a:path w="2627790" h="1957582">
                <a:moveTo>
                  <a:pt x="2627790" y="1957582"/>
                </a:moveTo>
                <a:lnTo>
                  <a:pt x="1893863" y="1623979"/>
                </a:lnTo>
                <a:lnTo>
                  <a:pt x="1317398" y="1096553"/>
                </a:lnTo>
                <a:lnTo>
                  <a:pt x="355954" y="0"/>
                </a:lnTo>
                <a:lnTo>
                  <a:pt x="0" y="524090"/>
                </a:lnTo>
              </a:path>
            </a:pathLst>
          </a:custGeom>
          <a:ln w="17780">
            <a:solidFill>
              <a:srgbClr val="1B1B1B"/>
            </a:solidFill>
            <a:prstDash val="dash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4306020" y="2698574"/>
            <a:ext cx="937424" cy="511080"/>
          </a:xfrm>
          <a:custGeom>
            <a:avLst/>
            <a:gdLst/>
            <a:ahLst/>
            <a:cxnLst/>
            <a:rect l="l" t="t" r="r" b="b"/>
            <a:pathLst>
              <a:path w="937424" h="511080">
                <a:moveTo>
                  <a:pt x="937424" y="0"/>
                </a:moveTo>
                <a:lnTo>
                  <a:pt x="401991" y="299909"/>
                </a:lnTo>
                <a:lnTo>
                  <a:pt x="0" y="511080"/>
                </a:lnTo>
              </a:path>
            </a:pathLst>
          </a:custGeom>
          <a:ln w="17780">
            <a:solidFill>
              <a:srgbClr val="1B1B1B"/>
            </a:solidFill>
            <a:prstDash val="dash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4708012" y="2431691"/>
            <a:ext cx="935756" cy="566791"/>
          </a:xfrm>
          <a:custGeom>
            <a:avLst/>
            <a:gdLst/>
            <a:ahLst/>
            <a:cxnLst/>
            <a:rect l="l" t="t" r="r" b="b"/>
            <a:pathLst>
              <a:path w="935756" h="566791">
                <a:moveTo>
                  <a:pt x="935756" y="0"/>
                </a:moveTo>
                <a:lnTo>
                  <a:pt x="468712" y="233522"/>
                </a:lnTo>
                <a:lnTo>
                  <a:pt x="0" y="566791"/>
                </a:lnTo>
              </a:path>
            </a:pathLst>
          </a:custGeom>
          <a:ln w="25400">
            <a:solidFill>
              <a:srgbClr val="7A7A7A"/>
            </a:solidFill>
            <a:prstDash val="sysDot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5176724" y="3966265"/>
            <a:ext cx="900728" cy="1401132"/>
          </a:xfrm>
          <a:custGeom>
            <a:avLst/>
            <a:gdLst/>
            <a:ahLst/>
            <a:cxnLst/>
            <a:rect l="l" t="t" r="r" b="b"/>
            <a:pathLst>
              <a:path w="900728" h="1401132">
                <a:moveTo>
                  <a:pt x="533765" y="0"/>
                </a:moveTo>
                <a:lnTo>
                  <a:pt x="733926" y="333603"/>
                </a:lnTo>
                <a:lnTo>
                  <a:pt x="900728" y="733926"/>
                </a:lnTo>
                <a:lnTo>
                  <a:pt x="867367" y="934088"/>
                </a:lnTo>
                <a:lnTo>
                  <a:pt x="667206" y="1200970"/>
                </a:lnTo>
                <a:lnTo>
                  <a:pt x="400323" y="1367772"/>
                </a:lnTo>
                <a:lnTo>
                  <a:pt x="0" y="1401132"/>
                </a:lnTo>
              </a:path>
            </a:pathLst>
          </a:custGeom>
          <a:ln w="50800">
            <a:solidFill>
              <a:srgbClr val="C4262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412480" y="1143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8412480" y="1362456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where the junction and media street are; building on the least-wooded ground; the W woods stay.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in the middle, reachable from both the public and the working side.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entries; they meet in the forum, library and on the route.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reaches the top of the landmark; production is next to the route, not hidden.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TOPOGRAPHY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follow the mound in plan; no flattening. Levels to be surveyed.</a:t>
            </a:r>
            <a:endParaRPr lang="en-US" sz="750" dirty="0"/>
          </a:p>
        </p:txBody>
      </p:sp>
      <p:sp>
        <p:nvSpPr>
          <p:cNvPr id="61" name="Text 58"/>
          <p:cNvSpPr txBox="1"/>
          <p:nvPr/>
        </p:nvSpPr>
        <p:spPr>
          <a:xfrm>
            <a:off x="8412480" y="3886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CLUB OPTIONS (not on plan)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8412480" y="4105656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near the SE tip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it; it becomes the press face of the civic zone A, sharing the forum G.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mid-site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it; the public route passes it; link at ground level.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 the W woods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as a pavilion in the landscape; connect by path.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8412480" y="5349240"/>
            <a:ext cx="201168" cy="128016"/>
          </a:xfrm>
          <a:prstGeom prst="rect">
            <a:avLst/>
          </a:prstGeom>
          <a:solidFill>
            <a:srgbClr val="C4262E">
              <a:alpha val="75000"/>
            </a:srgbClr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8705088" y="53400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civic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412480" y="5550408"/>
            <a:ext cx="201168" cy="128016"/>
          </a:xfrm>
          <a:prstGeom prst="rect">
            <a:avLst/>
          </a:prstGeom>
          <a:solidFill>
            <a:srgbClr val="3E5C76">
              <a:alpha val="75000"/>
            </a:srgbClr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8705088" y="55412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412480" y="5751576"/>
            <a:ext cx="201168" cy="128016"/>
          </a:xfrm>
          <a:prstGeom prst="rect">
            <a:avLst/>
          </a:prstGeom>
          <a:solidFill>
            <a:srgbClr val="9C6B3C">
              <a:alpha val="75000"/>
            </a:srgbClr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8705088" y="5742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8412480" y="5952744"/>
            <a:ext cx="201168" cy="128016"/>
          </a:xfrm>
          <a:prstGeom prst="rect">
            <a:avLst/>
          </a:prstGeom>
          <a:solidFill>
            <a:srgbClr val="D9A441">
              <a:alpha val="75000"/>
            </a:srgbClr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8705088" y="5943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8412480" y="6153912"/>
            <a:ext cx="201168" cy="128016"/>
          </a:xfrm>
          <a:prstGeom prst="rect">
            <a:avLst/>
          </a:prstGeom>
          <a:solidFill>
            <a:srgbClr val="4F7A43">
              <a:alpha val="75000"/>
            </a:srgbClr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8705088" y="61447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10058400" y="5408676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C4262E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0351008" y="53400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10058400" y="5609844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19050">
            <a:solidFill>
              <a:srgbClr val="1B1B1B"/>
            </a:solidFill>
            <a:prstDash val="dash"/>
          </a:ln>
        </p:spPr>
      </p:sp>
      <p:sp>
        <p:nvSpPr>
          <p:cNvPr id="76" name="Text 73"/>
          <p:cNvSpPr txBox="1"/>
          <p:nvPr/>
        </p:nvSpPr>
        <p:spPr>
          <a:xfrm>
            <a:off x="10351008" y="55412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10058400" y="5811012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7A7A7A"/>
            </a:solidFill>
            <a:prstDash val="sysDot"/>
          </a:ln>
        </p:spPr>
      </p:sp>
      <p:sp>
        <p:nvSpPr>
          <p:cNvPr id="78" name="Text 75"/>
          <p:cNvSpPr txBox="1"/>
          <p:nvPr/>
        </p:nvSpPr>
        <p:spPr>
          <a:xfrm>
            <a:off x="10351008" y="57424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ZONING BOARD (A1 landscape, scaled)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1640312" cy="6355080"/>
          </a:xfrm>
          <a:prstGeom prst="rect">
            <a:avLst/>
          </a:prstGeom>
          <a:ln w="9525">
            <a:solidFill>
              <a:srgbClr val="1B1B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ZONING — SHIMLA PAHARI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566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→ CONDITIONS → OPPORTUNITIES / CONSTRAINTS → ACCESS → USERS → PROGRAM → OPTIONS → FINAL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SITE CONDITIONS</a:t>
            </a:r>
            <a:endParaRPr lang="en-US" sz="700" dirty="0"/>
          </a:p>
        </p:txBody>
      </p:sp>
      <p:pic>
        <p:nvPicPr>
          <p:cNvPr id="7" name="Image 0" descr="Site plan from the project handout (base, unaltere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8629"/>
            <a:ext cx="2286000" cy="16243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08629"/>
            <a:ext cx="2286000" cy="162439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34286" y="1466083"/>
            <a:ext cx="1087137" cy="992899"/>
          </a:xfrm>
          <a:custGeom>
            <a:avLst/>
            <a:gdLst/>
            <a:ahLst/>
            <a:cxnLst/>
            <a:rect l="l" t="t" r="r" b="b"/>
            <a:pathLst>
              <a:path w="1087137" h="992899">
                <a:moveTo>
                  <a:pt x="111725" y="36918"/>
                </a:moveTo>
                <a:lnTo>
                  <a:pt x="87437" y="61206"/>
                </a:lnTo>
                <a:lnTo>
                  <a:pt x="56348" y="105896"/>
                </a:lnTo>
                <a:lnTo>
                  <a:pt x="36918" y="140871"/>
                </a:lnTo>
                <a:lnTo>
                  <a:pt x="15544" y="191391"/>
                </a:lnTo>
                <a:lnTo>
                  <a:pt x="972" y="261340"/>
                </a:lnTo>
                <a:lnTo>
                  <a:pt x="0" y="303116"/>
                </a:lnTo>
                <a:lnTo>
                  <a:pt x="5829" y="373066"/>
                </a:lnTo>
                <a:lnTo>
                  <a:pt x="21374" y="442044"/>
                </a:lnTo>
                <a:lnTo>
                  <a:pt x="37890" y="492564"/>
                </a:lnTo>
                <a:lnTo>
                  <a:pt x="71893" y="574172"/>
                </a:lnTo>
                <a:lnTo>
                  <a:pt x="103953" y="638292"/>
                </a:lnTo>
                <a:lnTo>
                  <a:pt x="178761" y="761676"/>
                </a:lnTo>
                <a:lnTo>
                  <a:pt x="209850" y="801509"/>
                </a:lnTo>
                <a:lnTo>
                  <a:pt x="249682" y="842313"/>
                </a:lnTo>
                <a:lnTo>
                  <a:pt x="317689" y="892832"/>
                </a:lnTo>
                <a:lnTo>
                  <a:pt x="399297" y="931693"/>
                </a:lnTo>
                <a:lnTo>
                  <a:pt x="513937" y="963754"/>
                </a:lnTo>
                <a:lnTo>
                  <a:pt x="589716" y="977355"/>
                </a:lnTo>
                <a:lnTo>
                  <a:pt x="680068" y="988042"/>
                </a:lnTo>
                <a:lnTo>
                  <a:pt x="752932" y="992899"/>
                </a:lnTo>
                <a:lnTo>
                  <a:pt x="858829" y="992899"/>
                </a:lnTo>
                <a:lnTo>
                  <a:pt x="938494" y="986099"/>
                </a:lnTo>
                <a:lnTo>
                  <a:pt x="978326" y="967640"/>
                </a:lnTo>
                <a:lnTo>
                  <a:pt x="1054105" y="896718"/>
                </a:lnTo>
                <a:lnTo>
                  <a:pt x="1086166" y="802480"/>
                </a:lnTo>
                <a:lnTo>
                  <a:pt x="1087137" y="785964"/>
                </a:lnTo>
                <a:lnTo>
                  <a:pt x="1030789" y="676182"/>
                </a:lnTo>
                <a:lnTo>
                  <a:pt x="908377" y="456617"/>
                </a:lnTo>
                <a:lnTo>
                  <a:pt x="866601" y="393468"/>
                </a:lnTo>
                <a:lnTo>
                  <a:pt x="810252" y="330319"/>
                </a:lnTo>
                <a:lnTo>
                  <a:pt x="742246" y="275913"/>
                </a:lnTo>
                <a:lnTo>
                  <a:pt x="622748" y="202077"/>
                </a:lnTo>
                <a:lnTo>
                  <a:pt x="418728" y="96181"/>
                </a:lnTo>
                <a:lnTo>
                  <a:pt x="252597" y="18459"/>
                </a:lnTo>
                <a:lnTo>
                  <a:pt x="216650" y="4858"/>
                </a:lnTo>
                <a:lnTo>
                  <a:pt x="164188" y="0"/>
                </a:lnTo>
                <a:close/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4170" y="1830405"/>
            <a:ext cx="427471" cy="408041"/>
          </a:xfrm>
          <a:custGeom>
            <a:avLst/>
            <a:gdLst/>
            <a:ahLst/>
            <a:cxnLst/>
            <a:rect l="l" t="t" r="r" b="b"/>
            <a:pathLst>
              <a:path w="427471" h="408041">
                <a:moveTo>
                  <a:pt x="38861" y="38861"/>
                </a:moveTo>
                <a:lnTo>
                  <a:pt x="233166" y="0"/>
                </a:lnTo>
                <a:lnTo>
                  <a:pt x="330319" y="116583"/>
                </a:lnTo>
                <a:lnTo>
                  <a:pt x="408041" y="252597"/>
                </a:lnTo>
                <a:lnTo>
                  <a:pt x="427471" y="349749"/>
                </a:lnTo>
                <a:lnTo>
                  <a:pt x="349749" y="388610"/>
                </a:lnTo>
                <a:lnTo>
                  <a:pt x="155444" y="408041"/>
                </a:lnTo>
                <a:lnTo>
                  <a:pt x="58292" y="330319"/>
                </a:lnTo>
                <a:lnTo>
                  <a:pt x="0" y="194305"/>
                </a:lnTo>
                <a:close/>
              </a:path>
            </a:pathLst>
          </a:custGeom>
          <a:ln w="12700">
            <a:solidFill>
              <a:srgbClr val="1B1B1B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1036229" y="1461225"/>
            <a:ext cx="353635" cy="893804"/>
          </a:xfrm>
          <a:custGeom>
            <a:avLst/>
            <a:gdLst/>
            <a:ahLst/>
            <a:cxnLst/>
            <a:rect l="l" t="t" r="r" b="b"/>
            <a:pathLst>
              <a:path w="353635" h="893804">
                <a:moveTo>
                  <a:pt x="3886" y="174875"/>
                </a:moveTo>
                <a:lnTo>
                  <a:pt x="169045" y="0"/>
                </a:lnTo>
                <a:lnTo>
                  <a:pt x="334205" y="58292"/>
                </a:lnTo>
                <a:lnTo>
                  <a:pt x="334205" y="388610"/>
                </a:lnTo>
                <a:lnTo>
                  <a:pt x="275913" y="660637"/>
                </a:lnTo>
                <a:lnTo>
                  <a:pt x="353635" y="893804"/>
                </a:lnTo>
                <a:lnTo>
                  <a:pt x="169045" y="757790"/>
                </a:lnTo>
                <a:lnTo>
                  <a:pt x="62178" y="544054"/>
                </a:lnTo>
                <a:lnTo>
                  <a:pt x="0" y="291458"/>
                </a:lnTo>
                <a:close/>
              </a:path>
            </a:pathLst>
          </a:custGeom>
          <a:solidFill>
            <a:srgbClr val="4F7A43">
              <a:alpha val="30000"/>
            </a:srgbClr>
          </a:solidFill>
          <a:ln w="12700">
            <a:solidFill>
              <a:srgbClr val="4F7A43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883074" y="1634503"/>
            <a:ext cx="119777" cy="119777"/>
          </a:xfrm>
          <a:prstGeom prst="ellipse">
            <a:avLst/>
          </a:prstGeom>
          <a:ln w="15875">
            <a:solidFill>
              <a:srgbClr val="1B1B1B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2165488" y="2411723"/>
            <a:ext cx="119777" cy="119777"/>
          </a:xfrm>
          <a:prstGeom prst="ellipse">
            <a:avLst/>
          </a:prstGeom>
          <a:ln w="15875">
            <a:solidFill>
              <a:srgbClr val="1B1B1B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2235092" y="2549334"/>
            <a:ext cx="136014" cy="283686"/>
          </a:xfrm>
          <a:custGeom>
            <a:avLst/>
            <a:gdLst/>
            <a:ahLst/>
            <a:cxnLst/>
            <a:rect l="l" t="t" r="r" b="b"/>
            <a:pathLst>
              <a:path w="136014" h="283686">
                <a:moveTo>
                  <a:pt x="0" y="0"/>
                </a:moveTo>
                <a:lnTo>
                  <a:pt x="136014" y="283686"/>
                </a:lnTo>
              </a:path>
            </a:pathLst>
          </a:custGeom>
          <a:ln w="50800">
            <a:solidFill>
              <a:srgbClr val="C426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56197" y="2044141"/>
            <a:ext cx="262312" cy="408041"/>
          </a:xfrm>
          <a:custGeom>
            <a:avLst/>
            <a:gdLst/>
            <a:ahLst/>
            <a:cxnLst/>
            <a:rect l="l" t="t" r="r" b="b"/>
            <a:pathLst>
              <a:path w="262312" h="408041">
                <a:moveTo>
                  <a:pt x="155444" y="0"/>
                </a:moveTo>
                <a:lnTo>
                  <a:pt x="213736" y="97153"/>
                </a:lnTo>
                <a:lnTo>
                  <a:pt x="262312" y="213736"/>
                </a:lnTo>
                <a:lnTo>
                  <a:pt x="252597" y="272027"/>
                </a:lnTo>
                <a:lnTo>
                  <a:pt x="194305" y="349749"/>
                </a:lnTo>
                <a:lnTo>
                  <a:pt x="116583" y="398326"/>
                </a:lnTo>
                <a:lnTo>
                  <a:pt x="0" y="408041"/>
                </a:lnTo>
              </a:path>
            </a:pathLst>
          </a:custGeom>
          <a:ln w="50800">
            <a:solidFill>
              <a:srgbClr val="C426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52928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PUBLIC / PRIVATE</a:t>
            </a:r>
            <a:endParaRPr lang="en-US" sz="700" dirty="0"/>
          </a:p>
        </p:txBody>
      </p:sp>
      <p:pic>
        <p:nvPicPr>
          <p:cNvPr id="17" name="Image 1" descr="Site plan from the project handout (base, unaltered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208629"/>
            <a:ext cx="2286000" cy="162439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852928" y="1208629"/>
            <a:ext cx="2286000" cy="162439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30014" y="1466083"/>
            <a:ext cx="1087137" cy="992899"/>
          </a:xfrm>
          <a:custGeom>
            <a:avLst/>
            <a:gdLst/>
            <a:ahLst/>
            <a:cxnLst/>
            <a:rect l="l" t="t" r="r" b="b"/>
            <a:pathLst>
              <a:path w="1087137" h="992899">
                <a:moveTo>
                  <a:pt x="111725" y="36918"/>
                </a:moveTo>
                <a:lnTo>
                  <a:pt x="87437" y="61206"/>
                </a:lnTo>
                <a:lnTo>
                  <a:pt x="56348" y="105896"/>
                </a:lnTo>
                <a:lnTo>
                  <a:pt x="36918" y="140871"/>
                </a:lnTo>
                <a:lnTo>
                  <a:pt x="15544" y="191391"/>
                </a:lnTo>
                <a:lnTo>
                  <a:pt x="972" y="261340"/>
                </a:lnTo>
                <a:lnTo>
                  <a:pt x="0" y="303116"/>
                </a:lnTo>
                <a:lnTo>
                  <a:pt x="5829" y="373066"/>
                </a:lnTo>
                <a:lnTo>
                  <a:pt x="21374" y="442044"/>
                </a:lnTo>
                <a:lnTo>
                  <a:pt x="37890" y="492564"/>
                </a:lnTo>
                <a:lnTo>
                  <a:pt x="71893" y="574172"/>
                </a:lnTo>
                <a:lnTo>
                  <a:pt x="103953" y="638292"/>
                </a:lnTo>
                <a:lnTo>
                  <a:pt x="178761" y="761676"/>
                </a:lnTo>
                <a:lnTo>
                  <a:pt x="209850" y="801509"/>
                </a:lnTo>
                <a:lnTo>
                  <a:pt x="249682" y="842313"/>
                </a:lnTo>
                <a:lnTo>
                  <a:pt x="317689" y="892832"/>
                </a:lnTo>
                <a:lnTo>
                  <a:pt x="399297" y="931693"/>
                </a:lnTo>
                <a:lnTo>
                  <a:pt x="513937" y="963754"/>
                </a:lnTo>
                <a:lnTo>
                  <a:pt x="589716" y="977355"/>
                </a:lnTo>
                <a:lnTo>
                  <a:pt x="680068" y="988042"/>
                </a:lnTo>
                <a:lnTo>
                  <a:pt x="752932" y="992899"/>
                </a:lnTo>
                <a:lnTo>
                  <a:pt x="858829" y="992899"/>
                </a:lnTo>
                <a:lnTo>
                  <a:pt x="938494" y="986099"/>
                </a:lnTo>
                <a:lnTo>
                  <a:pt x="978326" y="967640"/>
                </a:lnTo>
                <a:lnTo>
                  <a:pt x="1054105" y="896718"/>
                </a:lnTo>
                <a:lnTo>
                  <a:pt x="1086166" y="802480"/>
                </a:lnTo>
                <a:lnTo>
                  <a:pt x="1087137" y="785964"/>
                </a:lnTo>
                <a:lnTo>
                  <a:pt x="1030789" y="676182"/>
                </a:lnTo>
                <a:lnTo>
                  <a:pt x="908377" y="456617"/>
                </a:lnTo>
                <a:lnTo>
                  <a:pt x="866601" y="393468"/>
                </a:lnTo>
                <a:lnTo>
                  <a:pt x="810252" y="330319"/>
                </a:lnTo>
                <a:lnTo>
                  <a:pt x="742246" y="275913"/>
                </a:lnTo>
                <a:lnTo>
                  <a:pt x="622748" y="202077"/>
                </a:lnTo>
                <a:lnTo>
                  <a:pt x="418728" y="96181"/>
                </a:lnTo>
                <a:lnTo>
                  <a:pt x="252597" y="18459"/>
                </a:lnTo>
                <a:lnTo>
                  <a:pt x="216650" y="4858"/>
                </a:lnTo>
                <a:lnTo>
                  <a:pt x="164188" y="0"/>
                </a:lnTo>
                <a:close/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438758" y="1475118"/>
            <a:ext cx="569023" cy="751767"/>
          </a:xfrm>
          <a:custGeom>
            <a:avLst/>
            <a:gdLst/>
            <a:ahLst/>
            <a:cxnLst/>
            <a:rect l="l" t="t" r="r" b="b"/>
            <a:pathLst>
              <a:path w="569023" h="751767">
                <a:moveTo>
                  <a:pt x="85397" y="57806"/>
                </a:moveTo>
                <a:lnTo>
                  <a:pt x="54988" y="101524"/>
                </a:lnTo>
                <a:lnTo>
                  <a:pt x="36044" y="135722"/>
                </a:lnTo>
                <a:lnTo>
                  <a:pt x="15156" y="184978"/>
                </a:lnTo>
                <a:lnTo>
                  <a:pt x="972" y="253277"/>
                </a:lnTo>
                <a:lnTo>
                  <a:pt x="0" y="293789"/>
                </a:lnTo>
                <a:lnTo>
                  <a:pt x="5732" y="362671"/>
                </a:lnTo>
                <a:lnTo>
                  <a:pt x="21082" y="430677"/>
                </a:lnTo>
                <a:lnTo>
                  <a:pt x="37307" y="480517"/>
                </a:lnTo>
                <a:lnTo>
                  <a:pt x="71116" y="561542"/>
                </a:lnTo>
                <a:lnTo>
                  <a:pt x="102885" y="624982"/>
                </a:lnTo>
                <a:lnTo>
                  <a:pt x="177206" y="747686"/>
                </a:lnTo>
                <a:lnTo>
                  <a:pt x="180412" y="751767"/>
                </a:lnTo>
                <a:lnTo>
                  <a:pt x="569023" y="179538"/>
                </a:lnTo>
                <a:lnTo>
                  <a:pt x="406098" y="95015"/>
                </a:lnTo>
                <a:lnTo>
                  <a:pt x="240453" y="17487"/>
                </a:lnTo>
                <a:lnTo>
                  <a:pt x="205963" y="4372"/>
                </a:lnTo>
                <a:lnTo>
                  <a:pt x="157873" y="0"/>
                </a:lnTo>
                <a:lnTo>
                  <a:pt x="108617" y="34586"/>
                </a:lnTo>
                <a:close/>
              </a:path>
            </a:pathLst>
          </a:custGeom>
          <a:solidFill>
            <a:srgbClr val="4F7A43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03670" y="2027625"/>
            <a:ext cx="404640" cy="422614"/>
          </a:xfrm>
          <a:custGeom>
            <a:avLst/>
            <a:gdLst/>
            <a:ahLst/>
            <a:cxnLst/>
            <a:rect l="l" t="t" r="r" b="b"/>
            <a:pathLst>
              <a:path w="404640" h="422614">
                <a:moveTo>
                  <a:pt x="7189" y="417756"/>
                </a:moveTo>
                <a:lnTo>
                  <a:pt x="79568" y="422614"/>
                </a:lnTo>
                <a:lnTo>
                  <a:pt x="184784" y="422614"/>
                </a:lnTo>
                <a:lnTo>
                  <a:pt x="262603" y="416007"/>
                </a:lnTo>
                <a:lnTo>
                  <a:pt x="299716" y="398714"/>
                </a:lnTo>
                <a:lnTo>
                  <a:pt x="372872" y="330319"/>
                </a:lnTo>
                <a:lnTo>
                  <a:pt x="403863" y="239287"/>
                </a:lnTo>
                <a:lnTo>
                  <a:pt x="404640" y="226268"/>
                </a:lnTo>
                <a:lnTo>
                  <a:pt x="349458" y="118720"/>
                </a:lnTo>
                <a:lnTo>
                  <a:pt x="283200" y="0"/>
                </a:lnTo>
                <a:lnTo>
                  <a:pt x="0" y="416979"/>
                </a:lnTo>
                <a:close/>
              </a:path>
            </a:pathLst>
          </a:custGeom>
          <a:solidFill>
            <a:srgbClr val="C4262E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792588" y="1773765"/>
            <a:ext cx="594282" cy="670839"/>
          </a:xfrm>
          <a:custGeom>
            <a:avLst/>
            <a:gdLst/>
            <a:ahLst/>
            <a:cxnLst/>
            <a:rect l="l" t="t" r="r" b="b"/>
            <a:pathLst>
              <a:path w="594282" h="670839">
                <a:moveTo>
                  <a:pt x="39833" y="615753"/>
                </a:moveTo>
                <a:lnTo>
                  <a:pt x="153307" y="647522"/>
                </a:lnTo>
                <a:lnTo>
                  <a:pt x="228406" y="661026"/>
                </a:lnTo>
                <a:lnTo>
                  <a:pt x="311083" y="670839"/>
                </a:lnTo>
                <a:lnTo>
                  <a:pt x="594282" y="253860"/>
                </a:lnTo>
                <a:lnTo>
                  <a:pt x="538322" y="153501"/>
                </a:lnTo>
                <a:lnTo>
                  <a:pt x="497130" y="91129"/>
                </a:lnTo>
                <a:lnTo>
                  <a:pt x="441656" y="29049"/>
                </a:lnTo>
                <a:lnTo>
                  <a:pt x="405418" y="0"/>
                </a:lnTo>
                <a:lnTo>
                  <a:pt x="0" y="596808"/>
                </a:lnTo>
                <a:close/>
              </a:path>
            </a:pathLst>
          </a:custGeom>
          <a:solidFill>
            <a:srgbClr val="E8898F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19170" y="1847115"/>
            <a:ext cx="443404" cy="523458"/>
          </a:xfrm>
          <a:custGeom>
            <a:avLst/>
            <a:gdLst/>
            <a:ahLst/>
            <a:cxnLst/>
            <a:rect l="l" t="t" r="r" b="b"/>
            <a:pathLst>
              <a:path w="443404" h="523458">
                <a:moveTo>
                  <a:pt x="27300" y="414744"/>
                </a:moveTo>
                <a:lnTo>
                  <a:pt x="66258" y="454674"/>
                </a:lnTo>
                <a:lnTo>
                  <a:pt x="133099" y="504319"/>
                </a:lnTo>
                <a:lnTo>
                  <a:pt x="173417" y="523458"/>
                </a:lnTo>
                <a:lnTo>
                  <a:pt x="443404" y="125910"/>
                </a:lnTo>
                <a:lnTo>
                  <a:pt x="257940" y="0"/>
                </a:lnTo>
                <a:lnTo>
                  <a:pt x="0" y="379769"/>
                </a:lnTo>
                <a:close/>
              </a:path>
            </a:pathLst>
          </a:custGeom>
          <a:solidFill>
            <a:srgbClr val="B5B5B5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77110" y="1654656"/>
            <a:ext cx="320895" cy="318369"/>
          </a:xfrm>
          <a:custGeom>
            <a:avLst/>
            <a:gdLst/>
            <a:ahLst/>
            <a:cxnLst/>
            <a:rect l="l" t="t" r="r" b="b"/>
            <a:pathLst>
              <a:path w="320895" h="318369">
                <a:moveTo>
                  <a:pt x="290098" y="94529"/>
                </a:moveTo>
                <a:lnTo>
                  <a:pt x="171377" y="21082"/>
                </a:lnTo>
                <a:lnTo>
                  <a:pt x="130670" y="0"/>
                </a:lnTo>
                <a:lnTo>
                  <a:pt x="0" y="192459"/>
                </a:lnTo>
                <a:lnTo>
                  <a:pt x="185464" y="318369"/>
                </a:lnTo>
                <a:lnTo>
                  <a:pt x="320895" y="119109"/>
                </a:lnTo>
                <a:close/>
              </a:path>
            </a:pathLst>
          </a:custGeom>
          <a:solidFill>
            <a:srgbClr val="4A4A4A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48656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ACCESS + USERS</a:t>
            </a:r>
            <a:endParaRPr lang="en-US" sz="700" dirty="0"/>
          </a:p>
        </p:txBody>
      </p:sp>
      <p:pic>
        <p:nvPicPr>
          <p:cNvPr id="26" name="Image 2" descr="Site plan from the project handout (base, unaltered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1208629"/>
            <a:ext cx="2286000" cy="1624391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248656" y="1208629"/>
            <a:ext cx="2286000" cy="162439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825742" y="1466083"/>
            <a:ext cx="1087137" cy="992899"/>
          </a:xfrm>
          <a:custGeom>
            <a:avLst/>
            <a:gdLst/>
            <a:ahLst/>
            <a:cxnLst/>
            <a:rect l="l" t="t" r="r" b="b"/>
            <a:pathLst>
              <a:path w="1087137" h="992899">
                <a:moveTo>
                  <a:pt x="111725" y="36918"/>
                </a:moveTo>
                <a:lnTo>
                  <a:pt x="87437" y="61206"/>
                </a:lnTo>
                <a:lnTo>
                  <a:pt x="56348" y="105896"/>
                </a:lnTo>
                <a:lnTo>
                  <a:pt x="36918" y="140871"/>
                </a:lnTo>
                <a:lnTo>
                  <a:pt x="15544" y="191391"/>
                </a:lnTo>
                <a:lnTo>
                  <a:pt x="972" y="261340"/>
                </a:lnTo>
                <a:lnTo>
                  <a:pt x="0" y="303116"/>
                </a:lnTo>
                <a:lnTo>
                  <a:pt x="5829" y="373066"/>
                </a:lnTo>
                <a:lnTo>
                  <a:pt x="21374" y="442044"/>
                </a:lnTo>
                <a:lnTo>
                  <a:pt x="37890" y="492564"/>
                </a:lnTo>
                <a:lnTo>
                  <a:pt x="71893" y="574172"/>
                </a:lnTo>
                <a:lnTo>
                  <a:pt x="103953" y="638292"/>
                </a:lnTo>
                <a:lnTo>
                  <a:pt x="178761" y="761676"/>
                </a:lnTo>
                <a:lnTo>
                  <a:pt x="209850" y="801509"/>
                </a:lnTo>
                <a:lnTo>
                  <a:pt x="249682" y="842313"/>
                </a:lnTo>
                <a:lnTo>
                  <a:pt x="317689" y="892832"/>
                </a:lnTo>
                <a:lnTo>
                  <a:pt x="399297" y="931693"/>
                </a:lnTo>
                <a:lnTo>
                  <a:pt x="513937" y="963754"/>
                </a:lnTo>
                <a:lnTo>
                  <a:pt x="589716" y="977355"/>
                </a:lnTo>
                <a:lnTo>
                  <a:pt x="680068" y="988042"/>
                </a:lnTo>
                <a:lnTo>
                  <a:pt x="752932" y="992899"/>
                </a:lnTo>
                <a:lnTo>
                  <a:pt x="858829" y="992899"/>
                </a:lnTo>
                <a:lnTo>
                  <a:pt x="938494" y="986099"/>
                </a:lnTo>
                <a:lnTo>
                  <a:pt x="978326" y="967640"/>
                </a:lnTo>
                <a:lnTo>
                  <a:pt x="1054105" y="896718"/>
                </a:lnTo>
                <a:lnTo>
                  <a:pt x="1086166" y="802480"/>
                </a:lnTo>
                <a:lnTo>
                  <a:pt x="1087137" y="785964"/>
                </a:lnTo>
                <a:lnTo>
                  <a:pt x="1030789" y="676182"/>
                </a:lnTo>
                <a:lnTo>
                  <a:pt x="908377" y="456617"/>
                </a:lnTo>
                <a:lnTo>
                  <a:pt x="866601" y="393468"/>
                </a:lnTo>
                <a:lnTo>
                  <a:pt x="810252" y="330319"/>
                </a:lnTo>
                <a:lnTo>
                  <a:pt x="742246" y="275913"/>
                </a:lnTo>
                <a:lnTo>
                  <a:pt x="622748" y="202077"/>
                </a:lnTo>
                <a:lnTo>
                  <a:pt x="418728" y="96181"/>
                </a:lnTo>
                <a:lnTo>
                  <a:pt x="252597" y="18459"/>
                </a:lnTo>
                <a:lnTo>
                  <a:pt x="216650" y="4858"/>
                </a:lnTo>
                <a:lnTo>
                  <a:pt x="164188" y="0"/>
                </a:lnTo>
                <a:close/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834486" y="1475118"/>
            <a:ext cx="569023" cy="751767"/>
          </a:xfrm>
          <a:custGeom>
            <a:avLst/>
            <a:gdLst/>
            <a:ahLst/>
            <a:cxnLst/>
            <a:rect l="l" t="t" r="r" b="b"/>
            <a:pathLst>
              <a:path w="569023" h="751767">
                <a:moveTo>
                  <a:pt x="85397" y="57806"/>
                </a:moveTo>
                <a:lnTo>
                  <a:pt x="54988" y="101524"/>
                </a:lnTo>
                <a:lnTo>
                  <a:pt x="36044" y="135722"/>
                </a:lnTo>
                <a:lnTo>
                  <a:pt x="15156" y="184978"/>
                </a:lnTo>
                <a:lnTo>
                  <a:pt x="972" y="253277"/>
                </a:lnTo>
                <a:lnTo>
                  <a:pt x="0" y="293789"/>
                </a:lnTo>
                <a:lnTo>
                  <a:pt x="5732" y="362671"/>
                </a:lnTo>
                <a:lnTo>
                  <a:pt x="21082" y="430677"/>
                </a:lnTo>
                <a:lnTo>
                  <a:pt x="37307" y="480517"/>
                </a:lnTo>
                <a:lnTo>
                  <a:pt x="71116" y="561542"/>
                </a:lnTo>
                <a:lnTo>
                  <a:pt x="102885" y="624982"/>
                </a:lnTo>
                <a:lnTo>
                  <a:pt x="177206" y="747686"/>
                </a:lnTo>
                <a:lnTo>
                  <a:pt x="180412" y="751767"/>
                </a:lnTo>
                <a:lnTo>
                  <a:pt x="569023" y="179538"/>
                </a:lnTo>
                <a:lnTo>
                  <a:pt x="406098" y="95015"/>
                </a:lnTo>
                <a:lnTo>
                  <a:pt x="240453" y="17487"/>
                </a:lnTo>
                <a:lnTo>
                  <a:pt x="205963" y="4372"/>
                </a:lnTo>
                <a:lnTo>
                  <a:pt x="157873" y="0"/>
                </a:lnTo>
                <a:lnTo>
                  <a:pt x="108617" y="34586"/>
                </a:lnTo>
                <a:close/>
              </a:path>
            </a:pathLst>
          </a:custGeom>
          <a:solidFill>
            <a:srgbClr val="4F7A43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585864" y="2100683"/>
            <a:ext cx="318175" cy="349555"/>
          </a:xfrm>
          <a:custGeom>
            <a:avLst/>
            <a:gdLst/>
            <a:ahLst/>
            <a:cxnLst/>
            <a:rect l="l" t="t" r="r" b="b"/>
            <a:pathLst>
              <a:path w="318175" h="349555">
                <a:moveTo>
                  <a:pt x="98318" y="349555"/>
                </a:moveTo>
                <a:lnTo>
                  <a:pt x="176138" y="342949"/>
                </a:lnTo>
                <a:lnTo>
                  <a:pt x="213250" y="325655"/>
                </a:lnTo>
                <a:lnTo>
                  <a:pt x="286406" y="257260"/>
                </a:lnTo>
                <a:lnTo>
                  <a:pt x="317397" y="166228"/>
                </a:lnTo>
                <a:lnTo>
                  <a:pt x="318175" y="153210"/>
                </a:lnTo>
                <a:lnTo>
                  <a:pt x="262992" y="45662"/>
                </a:lnTo>
                <a:lnTo>
                  <a:pt x="237441" y="0"/>
                </a:lnTo>
                <a:lnTo>
                  <a:pt x="0" y="349555"/>
                </a:lnTo>
                <a:close/>
              </a:path>
            </a:pathLst>
          </a:custGeom>
          <a:solidFill>
            <a:srgbClr val="C4262E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62122" y="1907544"/>
            <a:ext cx="461183" cy="542694"/>
          </a:xfrm>
          <a:custGeom>
            <a:avLst/>
            <a:gdLst/>
            <a:ahLst/>
            <a:cxnLst/>
            <a:rect l="l" t="t" r="r" b="b"/>
            <a:pathLst>
              <a:path w="461183" h="542694">
                <a:moveTo>
                  <a:pt x="54600" y="527247"/>
                </a:moveTo>
                <a:lnTo>
                  <a:pt x="144466" y="537837"/>
                </a:lnTo>
                <a:lnTo>
                  <a:pt x="216845" y="542694"/>
                </a:lnTo>
                <a:lnTo>
                  <a:pt x="223742" y="542694"/>
                </a:lnTo>
                <a:lnTo>
                  <a:pt x="461183" y="193139"/>
                </a:lnTo>
                <a:lnTo>
                  <a:pt x="364516" y="19722"/>
                </a:lnTo>
                <a:lnTo>
                  <a:pt x="351498" y="0"/>
                </a:lnTo>
                <a:lnTo>
                  <a:pt x="0" y="517435"/>
                </a:lnTo>
                <a:close/>
              </a:path>
            </a:pathLst>
          </a:custGeom>
          <a:solidFill>
            <a:srgbClr val="C4262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06229" y="1743648"/>
            <a:ext cx="307391" cy="343434"/>
          </a:xfrm>
          <a:custGeom>
            <a:avLst/>
            <a:gdLst/>
            <a:ahLst/>
            <a:cxnLst/>
            <a:rect l="l" t="t" r="r" b="b"/>
            <a:pathLst>
              <a:path w="307391" h="343434">
                <a:moveTo>
                  <a:pt x="279216" y="121246"/>
                </a:moveTo>
                <a:lnTo>
                  <a:pt x="223742" y="59166"/>
                </a:lnTo>
                <a:lnTo>
                  <a:pt x="156707" y="5538"/>
                </a:lnTo>
                <a:lnTo>
                  <a:pt x="147769" y="0"/>
                </a:lnTo>
                <a:lnTo>
                  <a:pt x="0" y="217525"/>
                </a:lnTo>
                <a:lnTo>
                  <a:pt x="185367" y="343434"/>
                </a:lnTo>
                <a:lnTo>
                  <a:pt x="307391" y="163896"/>
                </a:lnTo>
                <a:close/>
              </a:path>
            </a:pathLst>
          </a:custGeom>
          <a:solidFill>
            <a:srgbClr val="3E5C7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014898" y="1847115"/>
            <a:ext cx="402212" cy="500919"/>
          </a:xfrm>
          <a:custGeom>
            <a:avLst/>
            <a:gdLst/>
            <a:ahLst/>
            <a:cxnLst/>
            <a:rect l="l" t="t" r="r" b="b"/>
            <a:pathLst>
              <a:path w="402212" h="500919">
                <a:moveTo>
                  <a:pt x="27300" y="414744"/>
                </a:moveTo>
                <a:lnTo>
                  <a:pt x="66258" y="454674"/>
                </a:lnTo>
                <a:lnTo>
                  <a:pt x="128533" y="500919"/>
                </a:lnTo>
                <a:lnTo>
                  <a:pt x="402212" y="97930"/>
                </a:lnTo>
                <a:lnTo>
                  <a:pt x="257940" y="0"/>
                </a:lnTo>
                <a:lnTo>
                  <a:pt x="0" y="379769"/>
                </a:lnTo>
                <a:close/>
              </a:path>
            </a:pathLst>
          </a:custGeom>
          <a:solidFill>
            <a:srgbClr val="3E5C76">
              <a:alpha val="9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143431" y="1961172"/>
            <a:ext cx="448165" cy="463806"/>
          </a:xfrm>
          <a:custGeom>
            <a:avLst/>
            <a:gdLst/>
            <a:ahLst/>
            <a:cxnLst/>
            <a:rect l="l" t="t" r="r" b="b"/>
            <a:pathLst>
              <a:path w="448165" h="463806">
                <a:moveTo>
                  <a:pt x="4566" y="390262"/>
                </a:moveTo>
                <a:lnTo>
                  <a:pt x="84717" y="428346"/>
                </a:lnTo>
                <a:lnTo>
                  <a:pt x="198191" y="460115"/>
                </a:lnTo>
                <a:lnTo>
                  <a:pt x="218690" y="463806"/>
                </a:lnTo>
                <a:lnTo>
                  <a:pt x="448165" y="125910"/>
                </a:lnTo>
                <a:lnTo>
                  <a:pt x="262798" y="0"/>
                </a:lnTo>
                <a:lnTo>
                  <a:pt x="0" y="386862"/>
                </a:lnTo>
                <a:close/>
              </a:path>
            </a:pathLst>
          </a:custGeom>
          <a:solidFill>
            <a:srgbClr val="D9A441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272838" y="1654656"/>
            <a:ext cx="281160" cy="290389"/>
          </a:xfrm>
          <a:custGeom>
            <a:avLst/>
            <a:gdLst/>
            <a:ahLst/>
            <a:cxnLst/>
            <a:rect l="l" t="t" r="r" b="b"/>
            <a:pathLst>
              <a:path w="281160" h="290389">
                <a:moveTo>
                  <a:pt x="171377" y="21082"/>
                </a:moveTo>
                <a:lnTo>
                  <a:pt x="130670" y="0"/>
                </a:lnTo>
                <a:lnTo>
                  <a:pt x="0" y="192459"/>
                </a:lnTo>
                <a:lnTo>
                  <a:pt x="144272" y="290389"/>
                </a:lnTo>
                <a:lnTo>
                  <a:pt x="281160" y="88992"/>
                </a:lnTo>
                <a:close/>
              </a:path>
            </a:pathLst>
          </a:custGeom>
          <a:solidFill>
            <a:srgbClr val="9C6B3C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410406" y="1742482"/>
            <a:ext cx="136014" cy="136014"/>
          </a:xfrm>
          <a:custGeom>
            <a:avLst/>
            <a:gdLst/>
            <a:ahLst/>
            <a:cxnLst/>
            <a:rect l="l" t="t" r="r" b="b"/>
            <a:pathLst>
              <a:path w="136014" h="136014">
                <a:moveTo>
                  <a:pt x="135819" y="63635"/>
                </a:moveTo>
                <a:lnTo>
                  <a:pt x="135431" y="59166"/>
                </a:lnTo>
                <a:lnTo>
                  <a:pt x="134653" y="54794"/>
                </a:lnTo>
                <a:lnTo>
                  <a:pt x="133682" y="50422"/>
                </a:lnTo>
                <a:lnTo>
                  <a:pt x="132419" y="46147"/>
                </a:lnTo>
                <a:lnTo>
                  <a:pt x="130767" y="42067"/>
                </a:lnTo>
                <a:lnTo>
                  <a:pt x="128921" y="37987"/>
                </a:lnTo>
                <a:lnTo>
                  <a:pt x="126881" y="34003"/>
                </a:lnTo>
                <a:lnTo>
                  <a:pt x="124550" y="30312"/>
                </a:lnTo>
                <a:lnTo>
                  <a:pt x="121926" y="26620"/>
                </a:lnTo>
                <a:lnTo>
                  <a:pt x="119109" y="23219"/>
                </a:lnTo>
                <a:lnTo>
                  <a:pt x="116097" y="19916"/>
                </a:lnTo>
                <a:lnTo>
                  <a:pt x="112794" y="16905"/>
                </a:lnTo>
                <a:lnTo>
                  <a:pt x="109394" y="14087"/>
                </a:lnTo>
                <a:lnTo>
                  <a:pt x="105799" y="11464"/>
                </a:lnTo>
                <a:lnTo>
                  <a:pt x="102010" y="9132"/>
                </a:lnTo>
                <a:lnTo>
                  <a:pt x="98027" y="7092"/>
                </a:lnTo>
                <a:lnTo>
                  <a:pt x="94044" y="5246"/>
                </a:lnTo>
                <a:lnTo>
                  <a:pt x="89866" y="3692"/>
                </a:lnTo>
                <a:lnTo>
                  <a:pt x="85591" y="2332"/>
                </a:lnTo>
                <a:lnTo>
                  <a:pt x="81220" y="1360"/>
                </a:lnTo>
                <a:lnTo>
                  <a:pt x="76848" y="583"/>
                </a:lnTo>
                <a:lnTo>
                  <a:pt x="72379" y="194"/>
                </a:lnTo>
                <a:lnTo>
                  <a:pt x="68007" y="0"/>
                </a:lnTo>
                <a:lnTo>
                  <a:pt x="63538" y="194"/>
                </a:lnTo>
                <a:lnTo>
                  <a:pt x="59069" y="583"/>
                </a:lnTo>
                <a:lnTo>
                  <a:pt x="54697" y="1360"/>
                </a:lnTo>
                <a:lnTo>
                  <a:pt x="50325" y="2332"/>
                </a:lnTo>
                <a:lnTo>
                  <a:pt x="46147" y="3692"/>
                </a:lnTo>
                <a:lnTo>
                  <a:pt x="41970" y="5246"/>
                </a:lnTo>
                <a:lnTo>
                  <a:pt x="37890" y="7092"/>
                </a:lnTo>
                <a:lnTo>
                  <a:pt x="34003" y="9132"/>
                </a:lnTo>
                <a:lnTo>
                  <a:pt x="30214" y="11464"/>
                </a:lnTo>
                <a:lnTo>
                  <a:pt x="26620" y="14087"/>
                </a:lnTo>
                <a:lnTo>
                  <a:pt x="23122" y="16905"/>
                </a:lnTo>
                <a:lnTo>
                  <a:pt x="19916" y="19916"/>
                </a:lnTo>
                <a:lnTo>
                  <a:pt x="16807" y="23219"/>
                </a:lnTo>
                <a:lnTo>
                  <a:pt x="13990" y="26620"/>
                </a:lnTo>
                <a:lnTo>
                  <a:pt x="11464" y="30312"/>
                </a:lnTo>
                <a:lnTo>
                  <a:pt x="9035" y="34003"/>
                </a:lnTo>
                <a:lnTo>
                  <a:pt x="6995" y="37987"/>
                </a:lnTo>
                <a:lnTo>
                  <a:pt x="5149" y="42067"/>
                </a:lnTo>
                <a:lnTo>
                  <a:pt x="3595" y="46147"/>
                </a:lnTo>
                <a:lnTo>
                  <a:pt x="2332" y="50422"/>
                </a:lnTo>
                <a:lnTo>
                  <a:pt x="1263" y="54794"/>
                </a:lnTo>
                <a:lnTo>
                  <a:pt x="583" y="59166"/>
                </a:lnTo>
                <a:lnTo>
                  <a:pt x="97" y="63635"/>
                </a:lnTo>
                <a:lnTo>
                  <a:pt x="0" y="68007"/>
                </a:lnTo>
                <a:lnTo>
                  <a:pt x="97" y="72476"/>
                </a:lnTo>
                <a:lnTo>
                  <a:pt x="583" y="76945"/>
                </a:lnTo>
                <a:lnTo>
                  <a:pt x="1263" y="81317"/>
                </a:lnTo>
                <a:lnTo>
                  <a:pt x="2332" y="85689"/>
                </a:lnTo>
                <a:lnTo>
                  <a:pt x="3595" y="89866"/>
                </a:lnTo>
                <a:lnTo>
                  <a:pt x="5149" y="94044"/>
                </a:lnTo>
                <a:lnTo>
                  <a:pt x="6995" y="98124"/>
                </a:lnTo>
                <a:lnTo>
                  <a:pt x="9035" y="102010"/>
                </a:lnTo>
                <a:lnTo>
                  <a:pt x="11464" y="105799"/>
                </a:lnTo>
                <a:lnTo>
                  <a:pt x="13990" y="109491"/>
                </a:lnTo>
                <a:lnTo>
                  <a:pt x="16807" y="112891"/>
                </a:lnTo>
                <a:lnTo>
                  <a:pt x="19916" y="116097"/>
                </a:lnTo>
                <a:lnTo>
                  <a:pt x="23122" y="119206"/>
                </a:lnTo>
                <a:lnTo>
                  <a:pt x="26620" y="122024"/>
                </a:lnTo>
                <a:lnTo>
                  <a:pt x="30214" y="124550"/>
                </a:lnTo>
                <a:lnTo>
                  <a:pt x="34003" y="126978"/>
                </a:lnTo>
                <a:lnTo>
                  <a:pt x="37890" y="129019"/>
                </a:lnTo>
                <a:lnTo>
                  <a:pt x="41970" y="130865"/>
                </a:lnTo>
                <a:lnTo>
                  <a:pt x="46147" y="132419"/>
                </a:lnTo>
                <a:lnTo>
                  <a:pt x="50325" y="133779"/>
                </a:lnTo>
                <a:lnTo>
                  <a:pt x="54697" y="134751"/>
                </a:lnTo>
                <a:lnTo>
                  <a:pt x="59069" y="135431"/>
                </a:lnTo>
                <a:lnTo>
                  <a:pt x="63538" y="135916"/>
                </a:lnTo>
                <a:lnTo>
                  <a:pt x="68007" y="136014"/>
                </a:lnTo>
                <a:lnTo>
                  <a:pt x="72379" y="135916"/>
                </a:lnTo>
                <a:lnTo>
                  <a:pt x="76848" y="135431"/>
                </a:lnTo>
                <a:lnTo>
                  <a:pt x="81220" y="134751"/>
                </a:lnTo>
                <a:lnTo>
                  <a:pt x="85591" y="133779"/>
                </a:lnTo>
                <a:lnTo>
                  <a:pt x="89866" y="132419"/>
                </a:lnTo>
                <a:lnTo>
                  <a:pt x="94044" y="130865"/>
                </a:lnTo>
                <a:lnTo>
                  <a:pt x="98027" y="129019"/>
                </a:lnTo>
                <a:lnTo>
                  <a:pt x="102010" y="126978"/>
                </a:lnTo>
                <a:lnTo>
                  <a:pt x="105799" y="124550"/>
                </a:lnTo>
                <a:lnTo>
                  <a:pt x="109394" y="122024"/>
                </a:lnTo>
                <a:lnTo>
                  <a:pt x="112794" y="119206"/>
                </a:lnTo>
                <a:lnTo>
                  <a:pt x="116097" y="116097"/>
                </a:lnTo>
                <a:lnTo>
                  <a:pt x="119109" y="112891"/>
                </a:lnTo>
                <a:lnTo>
                  <a:pt x="121926" y="109491"/>
                </a:lnTo>
                <a:lnTo>
                  <a:pt x="124550" y="105799"/>
                </a:lnTo>
                <a:lnTo>
                  <a:pt x="126881" y="102010"/>
                </a:lnTo>
                <a:lnTo>
                  <a:pt x="128921" y="98124"/>
                </a:lnTo>
                <a:lnTo>
                  <a:pt x="130767" y="94044"/>
                </a:lnTo>
                <a:lnTo>
                  <a:pt x="132419" y="89866"/>
                </a:lnTo>
                <a:lnTo>
                  <a:pt x="133682" y="85689"/>
                </a:lnTo>
                <a:lnTo>
                  <a:pt x="134653" y="81317"/>
                </a:lnTo>
                <a:lnTo>
                  <a:pt x="135431" y="76945"/>
                </a:lnTo>
                <a:lnTo>
                  <a:pt x="135819" y="72476"/>
                </a:lnTo>
                <a:lnTo>
                  <a:pt x="136014" y="68007"/>
                </a:lnTo>
                <a:close/>
              </a:path>
            </a:pathLst>
          </a:custGeom>
          <a:solidFill>
            <a:srgbClr val="7A7A7A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269147" y="1897829"/>
            <a:ext cx="106868" cy="106868"/>
          </a:xfrm>
          <a:custGeom>
            <a:avLst/>
            <a:gdLst/>
            <a:ahLst/>
            <a:cxnLst/>
            <a:rect l="l" t="t" r="r" b="b"/>
            <a:pathLst>
              <a:path w="106868" h="106868">
                <a:moveTo>
                  <a:pt x="106674" y="49936"/>
                </a:moveTo>
                <a:lnTo>
                  <a:pt x="106382" y="46536"/>
                </a:lnTo>
                <a:lnTo>
                  <a:pt x="105799" y="43039"/>
                </a:lnTo>
                <a:lnTo>
                  <a:pt x="105022" y="39638"/>
                </a:lnTo>
                <a:lnTo>
                  <a:pt x="103953" y="36335"/>
                </a:lnTo>
                <a:lnTo>
                  <a:pt x="102787" y="33032"/>
                </a:lnTo>
                <a:lnTo>
                  <a:pt x="101330" y="29826"/>
                </a:lnTo>
                <a:lnTo>
                  <a:pt x="99679" y="26717"/>
                </a:lnTo>
                <a:lnTo>
                  <a:pt x="97833" y="23802"/>
                </a:lnTo>
                <a:lnTo>
                  <a:pt x="95792" y="20985"/>
                </a:lnTo>
                <a:lnTo>
                  <a:pt x="93558" y="18265"/>
                </a:lnTo>
                <a:lnTo>
                  <a:pt x="91129" y="15739"/>
                </a:lnTo>
                <a:lnTo>
                  <a:pt x="88603" y="13310"/>
                </a:lnTo>
                <a:lnTo>
                  <a:pt x="85883" y="11075"/>
                </a:lnTo>
                <a:lnTo>
                  <a:pt x="83065" y="9035"/>
                </a:lnTo>
                <a:lnTo>
                  <a:pt x="80151" y="7189"/>
                </a:lnTo>
                <a:lnTo>
                  <a:pt x="77042" y="5538"/>
                </a:lnTo>
                <a:lnTo>
                  <a:pt x="73836" y="4080"/>
                </a:lnTo>
                <a:lnTo>
                  <a:pt x="70533" y="2915"/>
                </a:lnTo>
                <a:lnTo>
                  <a:pt x="67230" y="1846"/>
                </a:lnTo>
                <a:lnTo>
                  <a:pt x="63829" y="1069"/>
                </a:lnTo>
                <a:lnTo>
                  <a:pt x="60332" y="486"/>
                </a:lnTo>
                <a:lnTo>
                  <a:pt x="56834" y="194"/>
                </a:lnTo>
                <a:lnTo>
                  <a:pt x="53434" y="0"/>
                </a:lnTo>
                <a:lnTo>
                  <a:pt x="49936" y="194"/>
                </a:lnTo>
                <a:lnTo>
                  <a:pt x="46439" y="486"/>
                </a:lnTo>
                <a:lnTo>
                  <a:pt x="42941" y="1069"/>
                </a:lnTo>
                <a:lnTo>
                  <a:pt x="39541" y="1846"/>
                </a:lnTo>
                <a:lnTo>
                  <a:pt x="36238" y="2915"/>
                </a:lnTo>
                <a:lnTo>
                  <a:pt x="32935" y="4080"/>
                </a:lnTo>
                <a:lnTo>
                  <a:pt x="29729" y="5538"/>
                </a:lnTo>
                <a:lnTo>
                  <a:pt x="26717" y="7189"/>
                </a:lnTo>
                <a:lnTo>
                  <a:pt x="23705" y="9035"/>
                </a:lnTo>
                <a:lnTo>
                  <a:pt x="20888" y="11075"/>
                </a:lnTo>
                <a:lnTo>
                  <a:pt x="18168" y="13310"/>
                </a:lnTo>
                <a:lnTo>
                  <a:pt x="15642" y="15739"/>
                </a:lnTo>
                <a:lnTo>
                  <a:pt x="13213" y="18265"/>
                </a:lnTo>
                <a:lnTo>
                  <a:pt x="10978" y="20985"/>
                </a:lnTo>
                <a:lnTo>
                  <a:pt x="8938" y="23802"/>
                </a:lnTo>
                <a:lnTo>
                  <a:pt x="7092" y="26717"/>
                </a:lnTo>
                <a:lnTo>
                  <a:pt x="5441" y="29826"/>
                </a:lnTo>
                <a:lnTo>
                  <a:pt x="3983" y="33032"/>
                </a:lnTo>
                <a:lnTo>
                  <a:pt x="2817" y="36335"/>
                </a:lnTo>
                <a:lnTo>
                  <a:pt x="1749" y="39638"/>
                </a:lnTo>
                <a:lnTo>
                  <a:pt x="972" y="43039"/>
                </a:lnTo>
                <a:lnTo>
                  <a:pt x="389" y="46536"/>
                </a:lnTo>
                <a:lnTo>
                  <a:pt x="97" y="49936"/>
                </a:lnTo>
                <a:lnTo>
                  <a:pt x="0" y="53434"/>
                </a:lnTo>
                <a:lnTo>
                  <a:pt x="97" y="56931"/>
                </a:lnTo>
                <a:lnTo>
                  <a:pt x="389" y="60429"/>
                </a:lnTo>
                <a:lnTo>
                  <a:pt x="972" y="63926"/>
                </a:lnTo>
                <a:lnTo>
                  <a:pt x="1749" y="67327"/>
                </a:lnTo>
                <a:lnTo>
                  <a:pt x="2817" y="70630"/>
                </a:lnTo>
                <a:lnTo>
                  <a:pt x="3983" y="73933"/>
                </a:lnTo>
                <a:lnTo>
                  <a:pt x="5441" y="77139"/>
                </a:lnTo>
                <a:lnTo>
                  <a:pt x="7092" y="80151"/>
                </a:lnTo>
                <a:lnTo>
                  <a:pt x="8938" y="83163"/>
                </a:lnTo>
                <a:lnTo>
                  <a:pt x="10978" y="85980"/>
                </a:lnTo>
                <a:lnTo>
                  <a:pt x="13213" y="88700"/>
                </a:lnTo>
                <a:lnTo>
                  <a:pt x="15642" y="91226"/>
                </a:lnTo>
                <a:lnTo>
                  <a:pt x="18168" y="93655"/>
                </a:lnTo>
                <a:lnTo>
                  <a:pt x="20888" y="95890"/>
                </a:lnTo>
                <a:lnTo>
                  <a:pt x="23705" y="97930"/>
                </a:lnTo>
                <a:lnTo>
                  <a:pt x="26717" y="99776"/>
                </a:lnTo>
                <a:lnTo>
                  <a:pt x="29729" y="101427"/>
                </a:lnTo>
                <a:lnTo>
                  <a:pt x="32935" y="102885"/>
                </a:lnTo>
                <a:lnTo>
                  <a:pt x="36238" y="104050"/>
                </a:lnTo>
                <a:lnTo>
                  <a:pt x="39541" y="105119"/>
                </a:lnTo>
                <a:lnTo>
                  <a:pt x="42941" y="105896"/>
                </a:lnTo>
                <a:lnTo>
                  <a:pt x="46439" y="106479"/>
                </a:lnTo>
                <a:lnTo>
                  <a:pt x="49936" y="106771"/>
                </a:lnTo>
                <a:lnTo>
                  <a:pt x="53434" y="106868"/>
                </a:lnTo>
                <a:lnTo>
                  <a:pt x="56834" y="106771"/>
                </a:lnTo>
                <a:lnTo>
                  <a:pt x="60332" y="106479"/>
                </a:lnTo>
                <a:lnTo>
                  <a:pt x="63829" y="105896"/>
                </a:lnTo>
                <a:lnTo>
                  <a:pt x="67230" y="105119"/>
                </a:lnTo>
                <a:lnTo>
                  <a:pt x="70533" y="104050"/>
                </a:lnTo>
                <a:lnTo>
                  <a:pt x="73836" y="102885"/>
                </a:lnTo>
                <a:lnTo>
                  <a:pt x="77042" y="101427"/>
                </a:lnTo>
                <a:lnTo>
                  <a:pt x="80151" y="99776"/>
                </a:lnTo>
                <a:lnTo>
                  <a:pt x="83065" y="97930"/>
                </a:lnTo>
                <a:lnTo>
                  <a:pt x="85883" y="95890"/>
                </a:lnTo>
                <a:lnTo>
                  <a:pt x="88603" y="93655"/>
                </a:lnTo>
                <a:lnTo>
                  <a:pt x="91129" y="91226"/>
                </a:lnTo>
                <a:lnTo>
                  <a:pt x="93558" y="88700"/>
                </a:lnTo>
                <a:lnTo>
                  <a:pt x="95792" y="85980"/>
                </a:lnTo>
                <a:lnTo>
                  <a:pt x="97833" y="83163"/>
                </a:lnTo>
                <a:lnTo>
                  <a:pt x="99679" y="80151"/>
                </a:lnTo>
                <a:lnTo>
                  <a:pt x="101330" y="77139"/>
                </a:lnTo>
                <a:lnTo>
                  <a:pt x="102787" y="73933"/>
                </a:lnTo>
                <a:lnTo>
                  <a:pt x="103953" y="70630"/>
                </a:lnTo>
                <a:lnTo>
                  <a:pt x="105022" y="67327"/>
                </a:lnTo>
                <a:lnTo>
                  <a:pt x="105799" y="63926"/>
                </a:lnTo>
                <a:lnTo>
                  <a:pt x="106382" y="60429"/>
                </a:lnTo>
                <a:lnTo>
                  <a:pt x="106674" y="56931"/>
                </a:lnTo>
                <a:lnTo>
                  <a:pt x="106868" y="5343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322581" y="1951263"/>
            <a:ext cx="684537" cy="530064"/>
          </a:xfrm>
          <a:custGeom>
            <a:avLst/>
            <a:gdLst/>
            <a:ahLst/>
            <a:cxnLst/>
            <a:rect l="l" t="t" r="r" b="b"/>
            <a:pathLst>
              <a:path w="684537" h="530064">
                <a:moveTo>
                  <a:pt x="684537" y="530064"/>
                </a:moveTo>
                <a:lnTo>
                  <a:pt x="547260" y="324781"/>
                </a:lnTo>
                <a:lnTo>
                  <a:pt x="351498" y="191876"/>
                </a:lnTo>
                <a:lnTo>
                  <a:pt x="225491" y="583"/>
                </a:lnTo>
                <a:lnTo>
                  <a:pt x="0" y="0"/>
                </a:lnTo>
              </a:path>
            </a:pathLst>
          </a:custGeom>
          <a:ln w="15875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6322581" y="1951263"/>
            <a:ext cx="189059" cy="559210"/>
          </a:xfrm>
          <a:custGeom>
            <a:avLst/>
            <a:gdLst/>
            <a:ahLst/>
            <a:cxnLst/>
            <a:rect l="l" t="t" r="r" b="b"/>
            <a:pathLst>
              <a:path w="189059" h="559210">
                <a:moveTo>
                  <a:pt x="169628" y="559210"/>
                </a:moveTo>
                <a:lnTo>
                  <a:pt x="189059" y="442627"/>
                </a:lnTo>
                <a:lnTo>
                  <a:pt x="127173" y="145243"/>
                </a:lnTo>
                <a:lnTo>
                  <a:pt x="0" y="0"/>
                </a:lnTo>
              </a:path>
            </a:pathLst>
          </a:custGeom>
          <a:ln w="11113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40" name="Shape 35"/>
          <p:cNvSpPr/>
          <p:nvPr/>
        </p:nvSpPr>
        <p:spPr>
          <a:xfrm>
            <a:off x="5714988" y="1733252"/>
            <a:ext cx="607592" cy="218010"/>
          </a:xfrm>
          <a:custGeom>
            <a:avLst/>
            <a:gdLst/>
            <a:ahLst/>
            <a:cxnLst/>
            <a:rect l="l" t="t" r="r" b="b"/>
            <a:pathLst>
              <a:path w="607592" h="218010">
                <a:moveTo>
                  <a:pt x="0" y="0"/>
                </a:moveTo>
                <a:lnTo>
                  <a:pt x="174875" y="58292"/>
                </a:lnTo>
                <a:lnTo>
                  <a:pt x="361505" y="3983"/>
                </a:lnTo>
                <a:lnTo>
                  <a:pt x="607592" y="218010"/>
                </a:lnTo>
              </a:path>
            </a:pathLst>
          </a:custGeom>
          <a:ln w="11113">
            <a:solidFill>
              <a:srgbClr val="C4262E"/>
            </a:solidFill>
            <a:prstDash val="dash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6290423" y="1823799"/>
            <a:ext cx="765271" cy="570091"/>
          </a:xfrm>
          <a:custGeom>
            <a:avLst/>
            <a:gdLst/>
            <a:ahLst/>
            <a:cxnLst/>
            <a:rect l="l" t="t" r="r" b="b"/>
            <a:pathLst>
              <a:path w="765271" h="570091">
                <a:moveTo>
                  <a:pt x="765271" y="570091"/>
                </a:moveTo>
                <a:lnTo>
                  <a:pt x="551535" y="472939"/>
                </a:lnTo>
                <a:lnTo>
                  <a:pt x="383656" y="319341"/>
                </a:lnTo>
                <a:lnTo>
                  <a:pt x="103662" y="0"/>
                </a:lnTo>
                <a:lnTo>
                  <a:pt x="0" y="152627"/>
                </a:lnTo>
              </a:path>
            </a:pathLst>
          </a:custGeom>
          <a:ln w="11113">
            <a:solidFill>
              <a:srgbClr val="1B1B1B"/>
            </a:solidFill>
            <a:prstDash val="dash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6394085" y="1674961"/>
            <a:ext cx="272999" cy="148838"/>
          </a:xfrm>
          <a:custGeom>
            <a:avLst/>
            <a:gdLst/>
            <a:ahLst/>
            <a:cxnLst/>
            <a:rect l="l" t="t" r="r" b="b"/>
            <a:pathLst>
              <a:path w="272999" h="148838">
                <a:moveTo>
                  <a:pt x="272999" y="0"/>
                </a:moveTo>
                <a:lnTo>
                  <a:pt x="117069" y="87340"/>
                </a:lnTo>
                <a:lnTo>
                  <a:pt x="0" y="148838"/>
                </a:lnTo>
              </a:path>
            </a:pathLst>
          </a:custGeom>
          <a:ln w="11113">
            <a:solidFill>
              <a:srgbClr val="1B1B1B"/>
            </a:solidFill>
            <a:prstDash val="dash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6511154" y="1597239"/>
            <a:ext cx="272513" cy="165062"/>
          </a:xfrm>
          <a:custGeom>
            <a:avLst/>
            <a:gdLst/>
            <a:ahLst/>
            <a:cxnLst/>
            <a:rect l="l" t="t" r="r" b="b"/>
            <a:pathLst>
              <a:path w="272513" h="165062">
                <a:moveTo>
                  <a:pt x="272513" y="0"/>
                </a:moveTo>
                <a:lnTo>
                  <a:pt x="136499" y="68007"/>
                </a:lnTo>
                <a:lnTo>
                  <a:pt x="0" y="165062"/>
                </a:lnTo>
              </a:path>
            </a:pathLst>
          </a:custGeom>
          <a:ln w="15875">
            <a:solidFill>
              <a:srgbClr val="7A7A7A"/>
            </a:solidFill>
            <a:prstDash val="sysDot"/>
            <a:tailEnd type="triangle"/>
          </a:ln>
        </p:spPr>
      </p:sp>
      <p:sp>
        <p:nvSpPr>
          <p:cNvPr id="44" name="Text 39"/>
          <p:cNvSpPr txBox="1"/>
          <p:nvPr/>
        </p:nvSpPr>
        <p:spPr>
          <a:xfrm>
            <a:off x="457200" y="3017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OPTION A</a:t>
            </a:r>
            <a:endParaRPr lang="en-US" sz="700" dirty="0"/>
          </a:p>
        </p:txBody>
      </p:sp>
      <p:pic>
        <p:nvPicPr>
          <p:cNvPr id="45" name="Image 3" descr="Site plan from the project handout (base, unaltered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0309"/>
            <a:ext cx="2286000" cy="1624391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457200" y="3220309"/>
            <a:ext cx="2286000" cy="162439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034286" y="3477763"/>
            <a:ext cx="1087137" cy="992899"/>
          </a:xfrm>
          <a:custGeom>
            <a:avLst/>
            <a:gdLst/>
            <a:ahLst/>
            <a:cxnLst/>
            <a:rect l="l" t="t" r="r" b="b"/>
            <a:pathLst>
              <a:path w="1087137" h="992899">
                <a:moveTo>
                  <a:pt x="111725" y="36918"/>
                </a:moveTo>
                <a:lnTo>
                  <a:pt x="87437" y="61206"/>
                </a:lnTo>
                <a:lnTo>
                  <a:pt x="56348" y="105896"/>
                </a:lnTo>
                <a:lnTo>
                  <a:pt x="36918" y="140871"/>
                </a:lnTo>
                <a:lnTo>
                  <a:pt x="15544" y="191391"/>
                </a:lnTo>
                <a:lnTo>
                  <a:pt x="972" y="261340"/>
                </a:lnTo>
                <a:lnTo>
                  <a:pt x="0" y="303116"/>
                </a:lnTo>
                <a:lnTo>
                  <a:pt x="5829" y="373066"/>
                </a:lnTo>
                <a:lnTo>
                  <a:pt x="21374" y="442044"/>
                </a:lnTo>
                <a:lnTo>
                  <a:pt x="37890" y="492564"/>
                </a:lnTo>
                <a:lnTo>
                  <a:pt x="71893" y="574172"/>
                </a:lnTo>
                <a:lnTo>
                  <a:pt x="103953" y="638292"/>
                </a:lnTo>
                <a:lnTo>
                  <a:pt x="178761" y="761676"/>
                </a:lnTo>
                <a:lnTo>
                  <a:pt x="209850" y="801509"/>
                </a:lnTo>
                <a:lnTo>
                  <a:pt x="249682" y="842313"/>
                </a:lnTo>
                <a:lnTo>
                  <a:pt x="317689" y="892832"/>
                </a:lnTo>
                <a:lnTo>
                  <a:pt x="399297" y="931693"/>
                </a:lnTo>
                <a:lnTo>
                  <a:pt x="513937" y="963754"/>
                </a:lnTo>
                <a:lnTo>
                  <a:pt x="589716" y="977355"/>
                </a:lnTo>
                <a:lnTo>
                  <a:pt x="680068" y="988042"/>
                </a:lnTo>
                <a:lnTo>
                  <a:pt x="752932" y="992899"/>
                </a:lnTo>
                <a:lnTo>
                  <a:pt x="858829" y="992899"/>
                </a:lnTo>
                <a:lnTo>
                  <a:pt x="938494" y="986099"/>
                </a:lnTo>
                <a:lnTo>
                  <a:pt x="978326" y="967640"/>
                </a:lnTo>
                <a:lnTo>
                  <a:pt x="1054105" y="896718"/>
                </a:lnTo>
                <a:lnTo>
                  <a:pt x="1086166" y="802480"/>
                </a:lnTo>
                <a:lnTo>
                  <a:pt x="1087137" y="785964"/>
                </a:lnTo>
                <a:lnTo>
                  <a:pt x="1030789" y="676182"/>
                </a:lnTo>
                <a:lnTo>
                  <a:pt x="908377" y="456617"/>
                </a:lnTo>
                <a:lnTo>
                  <a:pt x="866601" y="393468"/>
                </a:lnTo>
                <a:lnTo>
                  <a:pt x="810252" y="330319"/>
                </a:lnTo>
                <a:lnTo>
                  <a:pt x="742246" y="275913"/>
                </a:lnTo>
                <a:lnTo>
                  <a:pt x="622748" y="202077"/>
                </a:lnTo>
                <a:lnTo>
                  <a:pt x="418728" y="96181"/>
                </a:lnTo>
                <a:lnTo>
                  <a:pt x="252597" y="18459"/>
                </a:lnTo>
                <a:lnTo>
                  <a:pt x="216650" y="4858"/>
                </a:lnTo>
                <a:lnTo>
                  <a:pt x="164188" y="0"/>
                </a:lnTo>
                <a:close/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464186" y="3649043"/>
            <a:ext cx="493049" cy="448553"/>
          </a:xfrm>
          <a:custGeom>
            <a:avLst/>
            <a:gdLst/>
            <a:ahLst/>
            <a:cxnLst/>
            <a:rect l="l" t="t" r="r" b="b"/>
            <a:pathLst>
              <a:path w="493049" h="448553">
                <a:moveTo>
                  <a:pt x="470996" y="289903"/>
                </a:moveTo>
                <a:lnTo>
                  <a:pt x="429803" y="227531"/>
                </a:lnTo>
                <a:lnTo>
                  <a:pt x="374329" y="165451"/>
                </a:lnTo>
                <a:lnTo>
                  <a:pt x="307294" y="111823"/>
                </a:lnTo>
                <a:lnTo>
                  <a:pt x="188573" y="38375"/>
                </a:lnTo>
                <a:lnTo>
                  <a:pt x="114543" y="0"/>
                </a:lnTo>
                <a:lnTo>
                  <a:pt x="0" y="168657"/>
                </a:lnTo>
                <a:lnTo>
                  <a:pt x="412121" y="448553"/>
                </a:lnTo>
                <a:lnTo>
                  <a:pt x="493049" y="329444"/>
                </a:lnTo>
                <a:close/>
              </a:path>
            </a:pathLst>
          </a:custGeom>
          <a:solidFill>
            <a:srgbClr val="3E5C76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201777" y="3889981"/>
            <a:ext cx="625371" cy="558044"/>
          </a:xfrm>
          <a:custGeom>
            <a:avLst/>
            <a:gdLst/>
            <a:ahLst/>
            <a:cxnLst/>
            <a:rect l="l" t="t" r="r" b="b"/>
            <a:pathLst>
              <a:path w="625371" h="558044">
                <a:moveTo>
                  <a:pt x="18459" y="344503"/>
                </a:moveTo>
                <a:lnTo>
                  <a:pt x="48965" y="383558"/>
                </a:lnTo>
                <a:lnTo>
                  <a:pt x="87923" y="423488"/>
                </a:lnTo>
                <a:lnTo>
                  <a:pt x="154764" y="473133"/>
                </a:lnTo>
                <a:lnTo>
                  <a:pt x="234915" y="511217"/>
                </a:lnTo>
                <a:lnTo>
                  <a:pt x="348389" y="542986"/>
                </a:lnTo>
                <a:lnTo>
                  <a:pt x="423488" y="556490"/>
                </a:lnTo>
                <a:lnTo>
                  <a:pt x="436507" y="558044"/>
                </a:lnTo>
                <a:lnTo>
                  <a:pt x="625371" y="279994"/>
                </a:lnTo>
                <a:lnTo>
                  <a:pt x="213250" y="0"/>
                </a:lnTo>
                <a:lnTo>
                  <a:pt x="0" y="313997"/>
                </a:lnTo>
                <a:close/>
              </a:path>
            </a:pathLst>
          </a:custGeom>
          <a:solidFill>
            <a:srgbClr val="9C6B3C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638284" y="3978487"/>
            <a:ext cx="474299" cy="483431"/>
          </a:xfrm>
          <a:custGeom>
            <a:avLst/>
            <a:gdLst/>
            <a:ahLst/>
            <a:cxnLst/>
            <a:rect l="l" t="t" r="r" b="b"/>
            <a:pathLst>
              <a:path w="474299" h="483431">
                <a:moveTo>
                  <a:pt x="76848" y="478574"/>
                </a:moveTo>
                <a:lnTo>
                  <a:pt x="149226" y="483431"/>
                </a:lnTo>
                <a:lnTo>
                  <a:pt x="254443" y="483431"/>
                </a:lnTo>
                <a:lnTo>
                  <a:pt x="332262" y="476825"/>
                </a:lnTo>
                <a:lnTo>
                  <a:pt x="369374" y="459532"/>
                </a:lnTo>
                <a:lnTo>
                  <a:pt x="442530" y="391136"/>
                </a:lnTo>
                <a:lnTo>
                  <a:pt x="473522" y="300104"/>
                </a:lnTo>
                <a:lnTo>
                  <a:pt x="474299" y="287086"/>
                </a:lnTo>
                <a:lnTo>
                  <a:pt x="419116" y="179538"/>
                </a:lnTo>
                <a:lnTo>
                  <a:pt x="318952" y="0"/>
                </a:lnTo>
                <a:lnTo>
                  <a:pt x="0" y="469538"/>
                </a:lnTo>
                <a:close/>
              </a:path>
            </a:pathLst>
          </a:custGeom>
          <a:solidFill>
            <a:srgbClr val="C4262E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066152" y="3575207"/>
            <a:ext cx="1046430" cy="772169"/>
          </a:xfrm>
          <a:custGeom>
            <a:avLst/>
            <a:gdLst/>
            <a:ahLst/>
            <a:cxnLst/>
            <a:rect l="l" t="t" r="r" b="b"/>
            <a:pathLst>
              <a:path w="1046430" h="772169">
                <a:moveTo>
                  <a:pt x="31866" y="13116"/>
                </a:moveTo>
                <a:lnTo>
                  <a:pt x="12921" y="47313"/>
                </a:lnTo>
                <a:lnTo>
                  <a:pt x="0" y="77819"/>
                </a:lnTo>
                <a:lnTo>
                  <a:pt x="1022239" y="772169"/>
                </a:lnTo>
                <a:lnTo>
                  <a:pt x="1045653" y="703385"/>
                </a:lnTo>
                <a:lnTo>
                  <a:pt x="1046430" y="690366"/>
                </a:lnTo>
                <a:lnTo>
                  <a:pt x="1040504" y="678902"/>
                </a:lnTo>
                <a:lnTo>
                  <a:pt x="40998" y="0"/>
                </a:lnTo>
                <a:close/>
              </a:path>
            </a:pathLst>
          </a:custGeom>
          <a:solidFill>
            <a:srgbClr val="C4262E">
              <a:alpha val="9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101807" y="3563840"/>
            <a:ext cx="476922" cy="640138"/>
          </a:xfrm>
          <a:custGeom>
            <a:avLst/>
            <a:gdLst/>
            <a:ahLst/>
            <a:cxnLst/>
            <a:rect l="l" t="t" r="r" b="b"/>
            <a:pathLst>
              <a:path w="476922" h="640138">
                <a:moveTo>
                  <a:pt x="12338" y="484500"/>
                </a:moveTo>
                <a:lnTo>
                  <a:pt x="44107" y="547941"/>
                </a:lnTo>
                <a:lnTo>
                  <a:pt x="99970" y="640138"/>
                </a:lnTo>
                <a:lnTo>
                  <a:pt x="476922" y="85203"/>
                </a:lnTo>
                <a:lnTo>
                  <a:pt x="347320" y="17973"/>
                </a:lnTo>
                <a:lnTo>
                  <a:pt x="308945" y="0"/>
                </a:lnTo>
                <a:lnTo>
                  <a:pt x="0" y="454868"/>
                </a:lnTo>
                <a:close/>
              </a:path>
            </a:pathLst>
          </a:custGeom>
          <a:solidFill>
            <a:srgbClr val="4F7A4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2852928" y="3017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OPTION B</a:t>
            </a:r>
            <a:endParaRPr lang="en-US" sz="700" dirty="0"/>
          </a:p>
        </p:txBody>
      </p:sp>
      <p:pic>
        <p:nvPicPr>
          <p:cNvPr id="54" name="Image 4" descr="Site plan from the project handout (base, unaltered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220309"/>
            <a:ext cx="2286000" cy="1624391"/>
          </a:xfrm>
          <a:prstGeom prst="rect">
            <a:avLst/>
          </a:prstGeom>
        </p:spPr>
      </p:pic>
      <p:sp>
        <p:nvSpPr>
          <p:cNvPr id="55" name="Shape 48"/>
          <p:cNvSpPr/>
          <p:nvPr/>
        </p:nvSpPr>
        <p:spPr>
          <a:xfrm>
            <a:off x="2852928" y="3220309"/>
            <a:ext cx="2286000" cy="162439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3430014" y="3477763"/>
            <a:ext cx="1087137" cy="992899"/>
          </a:xfrm>
          <a:custGeom>
            <a:avLst/>
            <a:gdLst/>
            <a:ahLst/>
            <a:cxnLst/>
            <a:rect l="l" t="t" r="r" b="b"/>
            <a:pathLst>
              <a:path w="1087137" h="992899">
                <a:moveTo>
                  <a:pt x="111725" y="36918"/>
                </a:moveTo>
                <a:lnTo>
                  <a:pt x="87437" y="61206"/>
                </a:lnTo>
                <a:lnTo>
                  <a:pt x="56348" y="105896"/>
                </a:lnTo>
                <a:lnTo>
                  <a:pt x="36918" y="140871"/>
                </a:lnTo>
                <a:lnTo>
                  <a:pt x="15544" y="191391"/>
                </a:lnTo>
                <a:lnTo>
                  <a:pt x="972" y="261340"/>
                </a:lnTo>
                <a:lnTo>
                  <a:pt x="0" y="303116"/>
                </a:lnTo>
                <a:lnTo>
                  <a:pt x="5829" y="373066"/>
                </a:lnTo>
                <a:lnTo>
                  <a:pt x="21374" y="442044"/>
                </a:lnTo>
                <a:lnTo>
                  <a:pt x="37890" y="492564"/>
                </a:lnTo>
                <a:lnTo>
                  <a:pt x="71893" y="574172"/>
                </a:lnTo>
                <a:lnTo>
                  <a:pt x="103953" y="638292"/>
                </a:lnTo>
                <a:lnTo>
                  <a:pt x="178761" y="761676"/>
                </a:lnTo>
                <a:lnTo>
                  <a:pt x="209850" y="801509"/>
                </a:lnTo>
                <a:lnTo>
                  <a:pt x="249682" y="842313"/>
                </a:lnTo>
                <a:lnTo>
                  <a:pt x="317689" y="892832"/>
                </a:lnTo>
                <a:lnTo>
                  <a:pt x="399297" y="931693"/>
                </a:lnTo>
                <a:lnTo>
                  <a:pt x="513937" y="963754"/>
                </a:lnTo>
                <a:lnTo>
                  <a:pt x="589716" y="977355"/>
                </a:lnTo>
                <a:lnTo>
                  <a:pt x="680068" y="988042"/>
                </a:lnTo>
                <a:lnTo>
                  <a:pt x="752932" y="992899"/>
                </a:lnTo>
                <a:lnTo>
                  <a:pt x="858829" y="992899"/>
                </a:lnTo>
                <a:lnTo>
                  <a:pt x="938494" y="986099"/>
                </a:lnTo>
                <a:lnTo>
                  <a:pt x="978326" y="967640"/>
                </a:lnTo>
                <a:lnTo>
                  <a:pt x="1054105" y="896718"/>
                </a:lnTo>
                <a:lnTo>
                  <a:pt x="1086166" y="802480"/>
                </a:lnTo>
                <a:lnTo>
                  <a:pt x="1087137" y="785964"/>
                </a:lnTo>
                <a:lnTo>
                  <a:pt x="1030789" y="676182"/>
                </a:lnTo>
                <a:lnTo>
                  <a:pt x="908377" y="456617"/>
                </a:lnTo>
                <a:lnTo>
                  <a:pt x="866601" y="393468"/>
                </a:lnTo>
                <a:lnTo>
                  <a:pt x="810252" y="330319"/>
                </a:lnTo>
                <a:lnTo>
                  <a:pt x="742246" y="275913"/>
                </a:lnTo>
                <a:lnTo>
                  <a:pt x="622748" y="202077"/>
                </a:lnTo>
                <a:lnTo>
                  <a:pt x="418728" y="96181"/>
                </a:lnTo>
                <a:lnTo>
                  <a:pt x="252597" y="18459"/>
                </a:lnTo>
                <a:lnTo>
                  <a:pt x="216650" y="4858"/>
                </a:lnTo>
                <a:lnTo>
                  <a:pt x="164188" y="0"/>
                </a:lnTo>
                <a:close/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3438758" y="3486798"/>
            <a:ext cx="749435" cy="890015"/>
          </a:xfrm>
          <a:custGeom>
            <a:avLst/>
            <a:gdLst/>
            <a:ahLst/>
            <a:cxnLst/>
            <a:rect l="l" t="t" r="r" b="b"/>
            <a:pathLst>
              <a:path w="749435" h="890015">
                <a:moveTo>
                  <a:pt x="85397" y="57806"/>
                </a:moveTo>
                <a:lnTo>
                  <a:pt x="54988" y="101524"/>
                </a:lnTo>
                <a:lnTo>
                  <a:pt x="36044" y="135722"/>
                </a:lnTo>
                <a:lnTo>
                  <a:pt x="15156" y="184978"/>
                </a:lnTo>
                <a:lnTo>
                  <a:pt x="972" y="253277"/>
                </a:lnTo>
                <a:lnTo>
                  <a:pt x="0" y="293789"/>
                </a:lnTo>
                <a:lnTo>
                  <a:pt x="5732" y="362671"/>
                </a:lnTo>
                <a:lnTo>
                  <a:pt x="21082" y="430677"/>
                </a:lnTo>
                <a:lnTo>
                  <a:pt x="37307" y="480517"/>
                </a:lnTo>
                <a:lnTo>
                  <a:pt x="71116" y="561542"/>
                </a:lnTo>
                <a:lnTo>
                  <a:pt x="102885" y="624982"/>
                </a:lnTo>
                <a:lnTo>
                  <a:pt x="177206" y="747686"/>
                </a:lnTo>
                <a:lnTo>
                  <a:pt x="207712" y="786742"/>
                </a:lnTo>
                <a:lnTo>
                  <a:pt x="246670" y="826671"/>
                </a:lnTo>
                <a:lnTo>
                  <a:pt x="313511" y="876316"/>
                </a:lnTo>
                <a:lnTo>
                  <a:pt x="342463" y="890015"/>
                </a:lnTo>
                <a:lnTo>
                  <a:pt x="749435" y="290875"/>
                </a:lnTo>
                <a:lnTo>
                  <a:pt x="728450" y="274067"/>
                </a:lnTo>
                <a:lnTo>
                  <a:pt x="609730" y="200620"/>
                </a:lnTo>
                <a:lnTo>
                  <a:pt x="406098" y="95015"/>
                </a:lnTo>
                <a:lnTo>
                  <a:pt x="240453" y="17487"/>
                </a:lnTo>
                <a:lnTo>
                  <a:pt x="205963" y="4372"/>
                </a:lnTo>
                <a:lnTo>
                  <a:pt x="157873" y="0"/>
                </a:lnTo>
                <a:lnTo>
                  <a:pt x="108617" y="34586"/>
                </a:lnTo>
                <a:close/>
              </a:path>
            </a:pathLst>
          </a:custGeom>
          <a:solidFill>
            <a:srgbClr val="4F7A4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4041395" y="3777673"/>
            <a:ext cx="399783" cy="447096"/>
          </a:xfrm>
          <a:custGeom>
            <a:avLst/>
            <a:gdLst/>
            <a:ahLst/>
            <a:cxnLst/>
            <a:rect l="l" t="t" r="r" b="b"/>
            <a:pathLst>
              <a:path w="399783" h="447096">
                <a:moveTo>
                  <a:pt x="289515" y="161273"/>
                </a:moveTo>
                <a:lnTo>
                  <a:pt x="248322" y="98901"/>
                </a:lnTo>
                <a:lnTo>
                  <a:pt x="192848" y="36821"/>
                </a:lnTo>
                <a:lnTo>
                  <a:pt x="146798" y="0"/>
                </a:lnTo>
                <a:lnTo>
                  <a:pt x="0" y="216164"/>
                </a:lnTo>
                <a:lnTo>
                  <a:pt x="339937" y="447096"/>
                </a:lnTo>
                <a:lnTo>
                  <a:pt x="399783" y="359076"/>
                </a:lnTo>
                <a:close/>
              </a:path>
            </a:pathLst>
          </a:custGeom>
          <a:solidFill>
            <a:srgbClr val="3E5C76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3781221" y="3993837"/>
            <a:ext cx="600111" cy="468081"/>
          </a:xfrm>
          <a:custGeom>
            <a:avLst/>
            <a:gdLst/>
            <a:ahLst/>
            <a:cxnLst/>
            <a:rect l="l" t="t" r="r" b="b"/>
            <a:pathLst>
              <a:path w="600111" h="468081">
                <a:moveTo>
                  <a:pt x="51199" y="407361"/>
                </a:moveTo>
                <a:lnTo>
                  <a:pt x="164674" y="439130"/>
                </a:lnTo>
                <a:lnTo>
                  <a:pt x="239773" y="452634"/>
                </a:lnTo>
                <a:lnTo>
                  <a:pt x="329639" y="463223"/>
                </a:lnTo>
                <a:lnTo>
                  <a:pt x="402017" y="468081"/>
                </a:lnTo>
                <a:lnTo>
                  <a:pt x="439032" y="468081"/>
                </a:lnTo>
                <a:lnTo>
                  <a:pt x="600111" y="230932"/>
                </a:lnTo>
                <a:lnTo>
                  <a:pt x="260175" y="0"/>
                </a:lnTo>
                <a:lnTo>
                  <a:pt x="0" y="382975"/>
                </a:lnTo>
                <a:close/>
              </a:path>
            </a:pathLst>
          </a:custGeom>
          <a:solidFill>
            <a:srgbClr val="9C6B3C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4220253" y="4136749"/>
            <a:ext cx="288057" cy="325170"/>
          </a:xfrm>
          <a:custGeom>
            <a:avLst/>
            <a:gdLst/>
            <a:ahLst/>
            <a:cxnLst/>
            <a:rect l="l" t="t" r="r" b="b"/>
            <a:pathLst>
              <a:path w="288057" h="325170">
                <a:moveTo>
                  <a:pt x="68201" y="325170"/>
                </a:moveTo>
                <a:lnTo>
                  <a:pt x="146020" y="318563"/>
                </a:lnTo>
                <a:lnTo>
                  <a:pt x="183133" y="301270"/>
                </a:lnTo>
                <a:lnTo>
                  <a:pt x="256288" y="232875"/>
                </a:lnTo>
                <a:lnTo>
                  <a:pt x="287280" y="141843"/>
                </a:lnTo>
                <a:lnTo>
                  <a:pt x="288057" y="128824"/>
                </a:lnTo>
                <a:lnTo>
                  <a:pt x="232875" y="21276"/>
                </a:lnTo>
                <a:lnTo>
                  <a:pt x="220925" y="0"/>
                </a:lnTo>
                <a:lnTo>
                  <a:pt x="0" y="325170"/>
                </a:lnTo>
                <a:close/>
              </a:path>
            </a:pathLst>
          </a:custGeom>
          <a:solidFill>
            <a:srgbClr val="C4262E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5248656" y="3017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OPTION C</a:t>
            </a:r>
            <a:endParaRPr lang="en-US" sz="700" dirty="0"/>
          </a:p>
        </p:txBody>
      </p:sp>
      <p:pic>
        <p:nvPicPr>
          <p:cNvPr id="62" name="Image 5" descr="Site plan from the project handout (base, unaltered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656" y="3220309"/>
            <a:ext cx="2286000" cy="1624391"/>
          </a:xfrm>
          <a:prstGeom prst="rect">
            <a:avLst/>
          </a:prstGeom>
        </p:spPr>
      </p:pic>
      <p:sp>
        <p:nvSpPr>
          <p:cNvPr id="63" name="Shape 55"/>
          <p:cNvSpPr/>
          <p:nvPr/>
        </p:nvSpPr>
        <p:spPr>
          <a:xfrm>
            <a:off x="5248656" y="3220309"/>
            <a:ext cx="2286000" cy="162439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5825742" y="3477763"/>
            <a:ext cx="1087137" cy="992899"/>
          </a:xfrm>
          <a:custGeom>
            <a:avLst/>
            <a:gdLst/>
            <a:ahLst/>
            <a:cxnLst/>
            <a:rect l="l" t="t" r="r" b="b"/>
            <a:pathLst>
              <a:path w="1087137" h="992899">
                <a:moveTo>
                  <a:pt x="111725" y="36918"/>
                </a:moveTo>
                <a:lnTo>
                  <a:pt x="87437" y="61206"/>
                </a:lnTo>
                <a:lnTo>
                  <a:pt x="56348" y="105896"/>
                </a:lnTo>
                <a:lnTo>
                  <a:pt x="36918" y="140871"/>
                </a:lnTo>
                <a:lnTo>
                  <a:pt x="15544" y="191391"/>
                </a:lnTo>
                <a:lnTo>
                  <a:pt x="972" y="261340"/>
                </a:lnTo>
                <a:lnTo>
                  <a:pt x="0" y="303116"/>
                </a:lnTo>
                <a:lnTo>
                  <a:pt x="5829" y="373066"/>
                </a:lnTo>
                <a:lnTo>
                  <a:pt x="21374" y="442044"/>
                </a:lnTo>
                <a:lnTo>
                  <a:pt x="37890" y="492564"/>
                </a:lnTo>
                <a:lnTo>
                  <a:pt x="71893" y="574172"/>
                </a:lnTo>
                <a:lnTo>
                  <a:pt x="103953" y="638292"/>
                </a:lnTo>
                <a:lnTo>
                  <a:pt x="178761" y="761676"/>
                </a:lnTo>
                <a:lnTo>
                  <a:pt x="209850" y="801509"/>
                </a:lnTo>
                <a:lnTo>
                  <a:pt x="249682" y="842313"/>
                </a:lnTo>
                <a:lnTo>
                  <a:pt x="317689" y="892832"/>
                </a:lnTo>
                <a:lnTo>
                  <a:pt x="399297" y="931693"/>
                </a:lnTo>
                <a:lnTo>
                  <a:pt x="513937" y="963754"/>
                </a:lnTo>
                <a:lnTo>
                  <a:pt x="589716" y="977355"/>
                </a:lnTo>
                <a:lnTo>
                  <a:pt x="680068" y="988042"/>
                </a:lnTo>
                <a:lnTo>
                  <a:pt x="752932" y="992899"/>
                </a:lnTo>
                <a:lnTo>
                  <a:pt x="858829" y="992899"/>
                </a:lnTo>
                <a:lnTo>
                  <a:pt x="938494" y="986099"/>
                </a:lnTo>
                <a:lnTo>
                  <a:pt x="978326" y="967640"/>
                </a:lnTo>
                <a:lnTo>
                  <a:pt x="1054105" y="896718"/>
                </a:lnTo>
                <a:lnTo>
                  <a:pt x="1086166" y="802480"/>
                </a:lnTo>
                <a:lnTo>
                  <a:pt x="1087137" y="785964"/>
                </a:lnTo>
                <a:lnTo>
                  <a:pt x="1030789" y="676182"/>
                </a:lnTo>
                <a:lnTo>
                  <a:pt x="908377" y="456617"/>
                </a:lnTo>
                <a:lnTo>
                  <a:pt x="866601" y="393468"/>
                </a:lnTo>
                <a:lnTo>
                  <a:pt x="810252" y="330319"/>
                </a:lnTo>
                <a:lnTo>
                  <a:pt x="742246" y="275913"/>
                </a:lnTo>
                <a:lnTo>
                  <a:pt x="622748" y="202077"/>
                </a:lnTo>
                <a:lnTo>
                  <a:pt x="418728" y="96181"/>
                </a:lnTo>
                <a:lnTo>
                  <a:pt x="252597" y="18459"/>
                </a:lnTo>
                <a:lnTo>
                  <a:pt x="216650" y="4858"/>
                </a:lnTo>
                <a:lnTo>
                  <a:pt x="164188" y="0"/>
                </a:lnTo>
                <a:close/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5834486" y="3486798"/>
            <a:ext cx="546775" cy="728839"/>
          </a:xfrm>
          <a:custGeom>
            <a:avLst/>
            <a:gdLst/>
            <a:ahLst/>
            <a:cxnLst/>
            <a:rect l="l" t="t" r="r" b="b"/>
            <a:pathLst>
              <a:path w="546775" h="728839">
                <a:moveTo>
                  <a:pt x="85397" y="57806"/>
                </a:moveTo>
                <a:lnTo>
                  <a:pt x="54988" y="101524"/>
                </a:lnTo>
                <a:lnTo>
                  <a:pt x="36044" y="135722"/>
                </a:lnTo>
                <a:lnTo>
                  <a:pt x="15156" y="184978"/>
                </a:lnTo>
                <a:lnTo>
                  <a:pt x="972" y="253277"/>
                </a:lnTo>
                <a:lnTo>
                  <a:pt x="0" y="293789"/>
                </a:lnTo>
                <a:lnTo>
                  <a:pt x="5732" y="362671"/>
                </a:lnTo>
                <a:lnTo>
                  <a:pt x="21082" y="430677"/>
                </a:lnTo>
                <a:lnTo>
                  <a:pt x="37307" y="480517"/>
                </a:lnTo>
                <a:lnTo>
                  <a:pt x="71116" y="561542"/>
                </a:lnTo>
                <a:lnTo>
                  <a:pt x="102885" y="624982"/>
                </a:lnTo>
                <a:lnTo>
                  <a:pt x="165839" y="728839"/>
                </a:lnTo>
                <a:lnTo>
                  <a:pt x="546775" y="167977"/>
                </a:lnTo>
                <a:lnTo>
                  <a:pt x="406098" y="95015"/>
                </a:lnTo>
                <a:lnTo>
                  <a:pt x="240453" y="17487"/>
                </a:lnTo>
                <a:lnTo>
                  <a:pt x="205963" y="4372"/>
                </a:lnTo>
                <a:lnTo>
                  <a:pt x="157873" y="0"/>
                </a:lnTo>
                <a:lnTo>
                  <a:pt x="108617" y="34586"/>
                </a:lnTo>
                <a:close/>
              </a:path>
            </a:pathLst>
          </a:custGeom>
          <a:solidFill>
            <a:srgbClr val="4F7A4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6000325" y="3654775"/>
            <a:ext cx="903713" cy="807144"/>
          </a:xfrm>
          <a:custGeom>
            <a:avLst/>
            <a:gdLst/>
            <a:ahLst/>
            <a:cxnLst/>
            <a:rect l="l" t="t" r="r" b="b"/>
            <a:pathLst>
              <a:path w="903713" h="807144">
                <a:moveTo>
                  <a:pt x="11367" y="579709"/>
                </a:moveTo>
                <a:lnTo>
                  <a:pt x="41873" y="618765"/>
                </a:lnTo>
                <a:lnTo>
                  <a:pt x="80831" y="658694"/>
                </a:lnTo>
                <a:lnTo>
                  <a:pt x="147672" y="708339"/>
                </a:lnTo>
                <a:lnTo>
                  <a:pt x="227823" y="746423"/>
                </a:lnTo>
                <a:lnTo>
                  <a:pt x="341297" y="778192"/>
                </a:lnTo>
                <a:lnTo>
                  <a:pt x="416396" y="791696"/>
                </a:lnTo>
                <a:lnTo>
                  <a:pt x="506262" y="802286"/>
                </a:lnTo>
                <a:lnTo>
                  <a:pt x="578641" y="807144"/>
                </a:lnTo>
                <a:lnTo>
                  <a:pt x="683857" y="807144"/>
                </a:lnTo>
                <a:lnTo>
                  <a:pt x="761676" y="800537"/>
                </a:lnTo>
                <a:lnTo>
                  <a:pt x="798788" y="783244"/>
                </a:lnTo>
                <a:lnTo>
                  <a:pt x="871944" y="714849"/>
                </a:lnTo>
                <a:lnTo>
                  <a:pt x="902936" y="623817"/>
                </a:lnTo>
                <a:lnTo>
                  <a:pt x="903713" y="610798"/>
                </a:lnTo>
                <a:lnTo>
                  <a:pt x="848531" y="503250"/>
                </a:lnTo>
                <a:lnTo>
                  <a:pt x="726313" y="284171"/>
                </a:lnTo>
                <a:lnTo>
                  <a:pt x="685120" y="221799"/>
                </a:lnTo>
                <a:lnTo>
                  <a:pt x="629646" y="159719"/>
                </a:lnTo>
                <a:lnTo>
                  <a:pt x="562611" y="106091"/>
                </a:lnTo>
                <a:lnTo>
                  <a:pt x="443890" y="32643"/>
                </a:lnTo>
                <a:lnTo>
                  <a:pt x="380935" y="0"/>
                </a:lnTo>
                <a:lnTo>
                  <a:pt x="341783" y="57709"/>
                </a:lnTo>
                <a:lnTo>
                  <a:pt x="421545" y="99193"/>
                </a:lnTo>
                <a:lnTo>
                  <a:pt x="516560" y="157873"/>
                </a:lnTo>
                <a:lnTo>
                  <a:pt x="570091" y="200717"/>
                </a:lnTo>
                <a:lnTo>
                  <a:pt x="614490" y="250459"/>
                </a:lnTo>
                <a:lnTo>
                  <a:pt x="647522" y="300299"/>
                </a:lnTo>
                <a:lnTo>
                  <a:pt x="745257" y="475659"/>
                </a:lnTo>
                <a:lnTo>
                  <a:pt x="789365" y="561639"/>
                </a:lnTo>
                <a:lnTo>
                  <a:pt x="788782" y="572034"/>
                </a:lnTo>
                <a:lnTo>
                  <a:pt x="764008" y="644899"/>
                </a:lnTo>
                <a:lnTo>
                  <a:pt x="705425" y="699596"/>
                </a:lnTo>
                <a:lnTo>
                  <a:pt x="675696" y="713391"/>
                </a:lnTo>
                <a:lnTo>
                  <a:pt x="613518" y="718735"/>
                </a:lnTo>
                <a:lnTo>
                  <a:pt x="529384" y="718735"/>
                </a:lnTo>
                <a:lnTo>
                  <a:pt x="471481" y="714849"/>
                </a:lnTo>
                <a:lnTo>
                  <a:pt x="399589" y="706396"/>
                </a:lnTo>
                <a:lnTo>
                  <a:pt x="339451" y="695612"/>
                </a:lnTo>
                <a:lnTo>
                  <a:pt x="248613" y="670158"/>
                </a:lnTo>
                <a:lnTo>
                  <a:pt x="184493" y="639653"/>
                </a:lnTo>
                <a:lnTo>
                  <a:pt x="131156" y="599917"/>
                </a:lnTo>
                <a:lnTo>
                  <a:pt x="99873" y="567954"/>
                </a:lnTo>
                <a:lnTo>
                  <a:pt x="75488" y="536768"/>
                </a:lnTo>
                <a:lnTo>
                  <a:pt x="47605" y="490718"/>
                </a:lnTo>
                <a:lnTo>
                  <a:pt x="0" y="560862"/>
                </a:lnTo>
                <a:close/>
              </a:path>
            </a:pathLst>
          </a:custGeom>
          <a:solidFill>
            <a:srgbClr val="C4262E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6047930" y="3712483"/>
            <a:ext cx="741760" cy="661026"/>
          </a:xfrm>
          <a:custGeom>
            <a:avLst/>
            <a:gdLst/>
            <a:ahLst/>
            <a:cxnLst/>
            <a:rect l="l" t="t" r="r" b="b"/>
            <a:pathLst>
              <a:path w="741760" h="661026">
                <a:moveTo>
                  <a:pt x="27883" y="479059"/>
                </a:moveTo>
                <a:lnTo>
                  <a:pt x="52268" y="510245"/>
                </a:lnTo>
                <a:lnTo>
                  <a:pt x="83551" y="542208"/>
                </a:lnTo>
                <a:lnTo>
                  <a:pt x="136888" y="581944"/>
                </a:lnTo>
                <a:lnTo>
                  <a:pt x="201009" y="612450"/>
                </a:lnTo>
                <a:lnTo>
                  <a:pt x="291846" y="637904"/>
                </a:lnTo>
                <a:lnTo>
                  <a:pt x="351984" y="648688"/>
                </a:lnTo>
                <a:lnTo>
                  <a:pt x="423877" y="657140"/>
                </a:lnTo>
                <a:lnTo>
                  <a:pt x="481780" y="661026"/>
                </a:lnTo>
                <a:lnTo>
                  <a:pt x="565914" y="661026"/>
                </a:lnTo>
                <a:lnTo>
                  <a:pt x="628091" y="655683"/>
                </a:lnTo>
                <a:lnTo>
                  <a:pt x="657820" y="641887"/>
                </a:lnTo>
                <a:lnTo>
                  <a:pt x="716403" y="587190"/>
                </a:lnTo>
                <a:lnTo>
                  <a:pt x="741177" y="514326"/>
                </a:lnTo>
                <a:lnTo>
                  <a:pt x="741760" y="503930"/>
                </a:lnTo>
                <a:lnTo>
                  <a:pt x="697653" y="417950"/>
                </a:lnTo>
                <a:lnTo>
                  <a:pt x="599917" y="242590"/>
                </a:lnTo>
                <a:lnTo>
                  <a:pt x="566885" y="192751"/>
                </a:lnTo>
                <a:lnTo>
                  <a:pt x="522487" y="143009"/>
                </a:lnTo>
                <a:lnTo>
                  <a:pt x="468955" y="100164"/>
                </a:lnTo>
                <a:lnTo>
                  <a:pt x="373940" y="41484"/>
                </a:lnTo>
                <a:lnTo>
                  <a:pt x="294178" y="0"/>
                </a:lnTo>
                <a:lnTo>
                  <a:pt x="235304" y="86757"/>
                </a:lnTo>
                <a:lnTo>
                  <a:pt x="238607" y="88312"/>
                </a:lnTo>
                <a:lnTo>
                  <a:pt x="340423" y="141163"/>
                </a:lnTo>
                <a:lnTo>
                  <a:pt x="399783" y="177789"/>
                </a:lnTo>
                <a:lnTo>
                  <a:pt x="433300" y="204603"/>
                </a:lnTo>
                <a:lnTo>
                  <a:pt x="460989" y="235692"/>
                </a:lnTo>
                <a:lnTo>
                  <a:pt x="481585" y="266878"/>
                </a:lnTo>
                <a:lnTo>
                  <a:pt x="542694" y="376466"/>
                </a:lnTo>
                <a:lnTo>
                  <a:pt x="570286" y="430192"/>
                </a:lnTo>
                <a:lnTo>
                  <a:pt x="569897" y="436701"/>
                </a:lnTo>
                <a:lnTo>
                  <a:pt x="554450" y="482168"/>
                </a:lnTo>
                <a:lnTo>
                  <a:pt x="517823" y="516463"/>
                </a:lnTo>
                <a:lnTo>
                  <a:pt x="499267" y="525012"/>
                </a:lnTo>
                <a:lnTo>
                  <a:pt x="460406" y="528413"/>
                </a:lnTo>
                <a:lnTo>
                  <a:pt x="407749" y="528413"/>
                </a:lnTo>
                <a:lnTo>
                  <a:pt x="371609" y="525984"/>
                </a:lnTo>
                <a:lnTo>
                  <a:pt x="326627" y="520641"/>
                </a:lnTo>
                <a:lnTo>
                  <a:pt x="289126" y="513937"/>
                </a:lnTo>
                <a:lnTo>
                  <a:pt x="232389" y="498004"/>
                </a:lnTo>
                <a:lnTo>
                  <a:pt x="192265" y="478962"/>
                </a:lnTo>
                <a:lnTo>
                  <a:pt x="158942" y="454188"/>
                </a:lnTo>
                <a:lnTo>
                  <a:pt x="139414" y="434175"/>
                </a:lnTo>
                <a:lnTo>
                  <a:pt x="124161" y="414647"/>
                </a:lnTo>
                <a:lnTo>
                  <a:pt x="86952" y="353344"/>
                </a:lnTo>
                <a:lnTo>
                  <a:pt x="73059" y="325558"/>
                </a:lnTo>
                <a:lnTo>
                  <a:pt x="0" y="433009"/>
                </a:lnTo>
                <a:close/>
              </a:path>
            </a:pathLst>
          </a:custGeom>
          <a:solidFill>
            <a:srgbClr val="3E5C76">
              <a:alpha val="6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7726680" y="10058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FINAL ZONING</a:t>
            </a:r>
            <a:endParaRPr lang="en-US" sz="800" dirty="0"/>
          </a:p>
        </p:txBody>
      </p:sp>
      <p:pic>
        <p:nvPicPr>
          <p:cNvPr id="69" name="Image 6" descr="Site plan from the project handout (base, unaltered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224340"/>
            <a:ext cx="4069080" cy="2891416"/>
          </a:xfrm>
          <a:prstGeom prst="rect">
            <a:avLst/>
          </a:prstGeom>
        </p:spPr>
      </p:pic>
      <p:sp>
        <p:nvSpPr>
          <p:cNvPr id="70" name="Shape 61"/>
          <p:cNvSpPr/>
          <p:nvPr/>
        </p:nvSpPr>
        <p:spPr>
          <a:xfrm>
            <a:off x="7726680" y="1224340"/>
            <a:ext cx="4069080" cy="2891416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8753894" y="1682609"/>
            <a:ext cx="1935104" cy="1767361"/>
          </a:xfrm>
          <a:custGeom>
            <a:avLst/>
            <a:gdLst/>
            <a:ahLst/>
            <a:cxnLst/>
            <a:rect l="l" t="t" r="r" b="b"/>
            <a:pathLst>
              <a:path w="1935104" h="1767361">
                <a:moveTo>
                  <a:pt x="198871" y="65714"/>
                </a:moveTo>
                <a:lnTo>
                  <a:pt x="155638" y="108947"/>
                </a:lnTo>
                <a:lnTo>
                  <a:pt x="100300" y="188495"/>
                </a:lnTo>
                <a:lnTo>
                  <a:pt x="65714" y="250751"/>
                </a:lnTo>
                <a:lnTo>
                  <a:pt x="27669" y="340675"/>
                </a:lnTo>
                <a:lnTo>
                  <a:pt x="1729" y="465186"/>
                </a:lnTo>
                <a:lnTo>
                  <a:pt x="0" y="539547"/>
                </a:lnTo>
                <a:lnTo>
                  <a:pt x="10376" y="664057"/>
                </a:lnTo>
                <a:lnTo>
                  <a:pt x="38045" y="786839"/>
                </a:lnTo>
                <a:lnTo>
                  <a:pt x="67443" y="876763"/>
                </a:lnTo>
                <a:lnTo>
                  <a:pt x="127969" y="1022026"/>
                </a:lnTo>
                <a:lnTo>
                  <a:pt x="185037" y="1136160"/>
                </a:lnTo>
                <a:lnTo>
                  <a:pt x="318194" y="1355784"/>
                </a:lnTo>
                <a:lnTo>
                  <a:pt x="373532" y="1426686"/>
                </a:lnTo>
                <a:lnTo>
                  <a:pt x="444434" y="1499317"/>
                </a:lnTo>
                <a:lnTo>
                  <a:pt x="565486" y="1589241"/>
                </a:lnTo>
                <a:lnTo>
                  <a:pt x="710749" y="1658414"/>
                </a:lnTo>
                <a:lnTo>
                  <a:pt x="914808" y="1715481"/>
                </a:lnTo>
                <a:lnTo>
                  <a:pt x="1049695" y="1739692"/>
                </a:lnTo>
                <a:lnTo>
                  <a:pt x="1210521" y="1758714"/>
                </a:lnTo>
                <a:lnTo>
                  <a:pt x="1340220" y="1767361"/>
                </a:lnTo>
                <a:lnTo>
                  <a:pt x="1528715" y="1767361"/>
                </a:lnTo>
                <a:lnTo>
                  <a:pt x="1670519" y="1755256"/>
                </a:lnTo>
                <a:lnTo>
                  <a:pt x="1741421" y="1722399"/>
                </a:lnTo>
                <a:lnTo>
                  <a:pt x="1876308" y="1596158"/>
                </a:lnTo>
                <a:lnTo>
                  <a:pt x="1933375" y="1428415"/>
                </a:lnTo>
                <a:lnTo>
                  <a:pt x="1935104" y="1399016"/>
                </a:lnTo>
                <a:lnTo>
                  <a:pt x="1834804" y="1203604"/>
                </a:lnTo>
                <a:lnTo>
                  <a:pt x="1616910" y="812778"/>
                </a:lnTo>
                <a:lnTo>
                  <a:pt x="1542550" y="700373"/>
                </a:lnTo>
                <a:lnTo>
                  <a:pt x="1442249" y="587967"/>
                </a:lnTo>
                <a:lnTo>
                  <a:pt x="1321197" y="491126"/>
                </a:lnTo>
                <a:lnTo>
                  <a:pt x="1108491" y="359698"/>
                </a:lnTo>
                <a:lnTo>
                  <a:pt x="745335" y="171202"/>
                </a:lnTo>
                <a:lnTo>
                  <a:pt x="449622" y="32857"/>
                </a:lnTo>
                <a:lnTo>
                  <a:pt x="385637" y="8647"/>
                </a:lnTo>
                <a:lnTo>
                  <a:pt x="292254" y="0"/>
                </a:lnTo>
                <a:close/>
              </a:path>
            </a:pathLst>
          </a:custGeom>
          <a:ln w="15875">
            <a:solidFill>
              <a:srgbClr val="1B1B1B"/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8769457" y="1698691"/>
            <a:ext cx="1012860" cy="1338145"/>
          </a:xfrm>
          <a:custGeom>
            <a:avLst/>
            <a:gdLst/>
            <a:ahLst/>
            <a:cxnLst/>
            <a:rect l="l" t="t" r="r" b="b"/>
            <a:pathLst>
              <a:path w="1012860" h="1338145">
                <a:moveTo>
                  <a:pt x="152007" y="102894"/>
                </a:moveTo>
                <a:lnTo>
                  <a:pt x="97879" y="180713"/>
                </a:lnTo>
                <a:lnTo>
                  <a:pt x="64158" y="241585"/>
                </a:lnTo>
                <a:lnTo>
                  <a:pt x="26977" y="329262"/>
                </a:lnTo>
                <a:lnTo>
                  <a:pt x="1729" y="450833"/>
                </a:lnTo>
                <a:lnTo>
                  <a:pt x="0" y="522945"/>
                </a:lnTo>
                <a:lnTo>
                  <a:pt x="10203" y="645554"/>
                </a:lnTo>
                <a:lnTo>
                  <a:pt x="37526" y="766606"/>
                </a:lnTo>
                <a:lnTo>
                  <a:pt x="66406" y="855320"/>
                </a:lnTo>
                <a:lnTo>
                  <a:pt x="126586" y="999545"/>
                </a:lnTo>
                <a:lnTo>
                  <a:pt x="183135" y="1112469"/>
                </a:lnTo>
                <a:lnTo>
                  <a:pt x="315427" y="1330881"/>
                </a:lnTo>
                <a:lnTo>
                  <a:pt x="321134" y="1338145"/>
                </a:lnTo>
                <a:lnTo>
                  <a:pt x="1012860" y="319578"/>
                </a:lnTo>
                <a:lnTo>
                  <a:pt x="722854" y="169127"/>
                </a:lnTo>
                <a:lnTo>
                  <a:pt x="428006" y="31128"/>
                </a:lnTo>
                <a:lnTo>
                  <a:pt x="366615" y="7782"/>
                </a:lnTo>
                <a:lnTo>
                  <a:pt x="281014" y="0"/>
                </a:lnTo>
                <a:lnTo>
                  <a:pt x="193338" y="61564"/>
                </a:lnTo>
                <a:close/>
              </a:path>
            </a:pathLst>
          </a:custGeom>
          <a:solidFill>
            <a:srgbClr val="4F7A43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10106910" y="2812198"/>
            <a:ext cx="566351" cy="622208"/>
          </a:xfrm>
          <a:custGeom>
            <a:avLst/>
            <a:gdLst/>
            <a:ahLst/>
            <a:cxnLst/>
            <a:rect l="l" t="t" r="r" b="b"/>
            <a:pathLst>
              <a:path w="566351" h="622208">
                <a:moveTo>
                  <a:pt x="175007" y="622208"/>
                </a:moveTo>
                <a:lnTo>
                  <a:pt x="313525" y="610448"/>
                </a:lnTo>
                <a:lnTo>
                  <a:pt x="379585" y="579667"/>
                </a:lnTo>
                <a:lnTo>
                  <a:pt x="509802" y="457923"/>
                </a:lnTo>
                <a:lnTo>
                  <a:pt x="564967" y="295886"/>
                </a:lnTo>
                <a:lnTo>
                  <a:pt x="566351" y="272713"/>
                </a:lnTo>
                <a:lnTo>
                  <a:pt x="468126" y="81278"/>
                </a:lnTo>
                <a:lnTo>
                  <a:pt x="422645" y="0"/>
                </a:lnTo>
                <a:lnTo>
                  <a:pt x="0" y="622208"/>
                </a:lnTo>
                <a:close/>
              </a:path>
            </a:pathLst>
          </a:custGeom>
          <a:solidFill>
            <a:srgbClr val="C4262E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9708649" y="2468410"/>
            <a:ext cx="820906" cy="965996"/>
          </a:xfrm>
          <a:custGeom>
            <a:avLst/>
            <a:gdLst/>
            <a:ahLst/>
            <a:cxnLst/>
            <a:rect l="l" t="t" r="r" b="b"/>
            <a:pathLst>
              <a:path w="820906" h="965996">
                <a:moveTo>
                  <a:pt x="97188" y="938500"/>
                </a:moveTo>
                <a:lnTo>
                  <a:pt x="257149" y="957349"/>
                </a:lnTo>
                <a:lnTo>
                  <a:pt x="385983" y="965996"/>
                </a:lnTo>
                <a:lnTo>
                  <a:pt x="398261" y="965996"/>
                </a:lnTo>
                <a:lnTo>
                  <a:pt x="820906" y="343788"/>
                </a:lnTo>
                <a:lnTo>
                  <a:pt x="648839" y="35105"/>
                </a:lnTo>
                <a:lnTo>
                  <a:pt x="625666" y="0"/>
                </a:lnTo>
                <a:lnTo>
                  <a:pt x="0" y="921034"/>
                </a:lnTo>
                <a:close/>
              </a:path>
            </a:pathLst>
          </a:custGeom>
          <a:solidFill>
            <a:srgbClr val="C4262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9787160" y="2176674"/>
            <a:ext cx="547156" cy="611313"/>
          </a:xfrm>
          <a:custGeom>
            <a:avLst/>
            <a:gdLst/>
            <a:ahLst/>
            <a:cxnLst/>
            <a:rect l="l" t="t" r="r" b="b"/>
            <a:pathLst>
              <a:path w="547156" h="611313">
                <a:moveTo>
                  <a:pt x="497005" y="215819"/>
                </a:moveTo>
                <a:lnTo>
                  <a:pt x="398261" y="105315"/>
                </a:lnTo>
                <a:lnTo>
                  <a:pt x="278939" y="9857"/>
                </a:lnTo>
                <a:lnTo>
                  <a:pt x="263029" y="0"/>
                </a:lnTo>
                <a:lnTo>
                  <a:pt x="0" y="387194"/>
                </a:lnTo>
                <a:lnTo>
                  <a:pt x="329953" y="611313"/>
                </a:lnTo>
                <a:lnTo>
                  <a:pt x="547156" y="291736"/>
                </a:lnTo>
                <a:close/>
              </a:path>
            </a:pathLst>
          </a:custGeom>
          <a:solidFill>
            <a:srgbClr val="3E5C7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9090591" y="2360846"/>
            <a:ext cx="715937" cy="891635"/>
          </a:xfrm>
          <a:custGeom>
            <a:avLst/>
            <a:gdLst/>
            <a:ahLst/>
            <a:cxnLst/>
            <a:rect l="l" t="t" r="r" b="b"/>
            <a:pathLst>
              <a:path w="715937" h="891635">
                <a:moveTo>
                  <a:pt x="48594" y="738245"/>
                </a:moveTo>
                <a:lnTo>
                  <a:pt x="117939" y="809320"/>
                </a:lnTo>
                <a:lnTo>
                  <a:pt x="228788" y="891635"/>
                </a:lnTo>
                <a:lnTo>
                  <a:pt x="715937" y="174315"/>
                </a:lnTo>
                <a:lnTo>
                  <a:pt x="459133" y="0"/>
                </a:lnTo>
                <a:lnTo>
                  <a:pt x="0" y="675990"/>
                </a:lnTo>
                <a:close/>
              </a:path>
            </a:pathLst>
          </a:custGeom>
          <a:solidFill>
            <a:srgbClr val="3E5C76">
              <a:alpha val="9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9319380" y="2563868"/>
            <a:ext cx="797733" cy="825575"/>
          </a:xfrm>
          <a:custGeom>
            <a:avLst/>
            <a:gdLst/>
            <a:ahLst/>
            <a:cxnLst/>
            <a:rect l="l" t="t" r="r" b="b"/>
            <a:pathLst>
              <a:path w="797733" h="825575">
                <a:moveTo>
                  <a:pt x="8128" y="694666"/>
                </a:moveTo>
                <a:lnTo>
                  <a:pt x="150796" y="762455"/>
                </a:lnTo>
                <a:lnTo>
                  <a:pt x="352780" y="819004"/>
                </a:lnTo>
                <a:lnTo>
                  <a:pt x="389269" y="825575"/>
                </a:lnTo>
                <a:lnTo>
                  <a:pt x="797733" y="224119"/>
                </a:lnTo>
                <a:lnTo>
                  <a:pt x="467780" y="0"/>
                </a:lnTo>
                <a:lnTo>
                  <a:pt x="0" y="688614"/>
                </a:lnTo>
                <a:close/>
              </a:path>
            </a:pathLst>
          </a:custGeom>
          <a:solidFill>
            <a:srgbClr val="D9A441">
              <a:alpha val="7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9549725" y="2018269"/>
            <a:ext cx="500464" cy="516892"/>
          </a:xfrm>
          <a:custGeom>
            <a:avLst/>
            <a:gdLst/>
            <a:ahLst/>
            <a:cxnLst/>
            <a:rect l="l" t="t" r="r" b="b"/>
            <a:pathLst>
              <a:path w="500464" h="516892">
                <a:moveTo>
                  <a:pt x="305051" y="37526"/>
                </a:moveTo>
                <a:lnTo>
                  <a:pt x="232593" y="0"/>
                </a:lnTo>
                <a:lnTo>
                  <a:pt x="0" y="342577"/>
                </a:lnTo>
                <a:lnTo>
                  <a:pt x="256803" y="516892"/>
                </a:lnTo>
                <a:lnTo>
                  <a:pt x="500464" y="158405"/>
                </a:lnTo>
                <a:close/>
              </a:path>
            </a:pathLst>
          </a:custGeom>
          <a:solidFill>
            <a:srgbClr val="9C6B3C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9794596" y="2174599"/>
            <a:ext cx="242104" cy="242104"/>
          </a:xfrm>
          <a:custGeom>
            <a:avLst/>
            <a:gdLst/>
            <a:ahLst/>
            <a:cxnLst/>
            <a:rect l="l" t="t" r="r" b="b"/>
            <a:pathLst>
              <a:path w="242104" h="242104">
                <a:moveTo>
                  <a:pt x="241758" y="113270"/>
                </a:moveTo>
                <a:lnTo>
                  <a:pt x="241067" y="105315"/>
                </a:lnTo>
                <a:lnTo>
                  <a:pt x="239683" y="97533"/>
                </a:lnTo>
                <a:lnTo>
                  <a:pt x="237954" y="89751"/>
                </a:lnTo>
                <a:lnTo>
                  <a:pt x="235706" y="82142"/>
                </a:lnTo>
                <a:lnTo>
                  <a:pt x="232766" y="74879"/>
                </a:lnTo>
                <a:lnTo>
                  <a:pt x="229480" y="67616"/>
                </a:lnTo>
                <a:lnTo>
                  <a:pt x="225849" y="60526"/>
                </a:lnTo>
                <a:lnTo>
                  <a:pt x="221698" y="53955"/>
                </a:lnTo>
                <a:lnTo>
                  <a:pt x="217029" y="47383"/>
                </a:lnTo>
                <a:lnTo>
                  <a:pt x="212014" y="41331"/>
                </a:lnTo>
                <a:lnTo>
                  <a:pt x="206653" y="35451"/>
                </a:lnTo>
                <a:lnTo>
                  <a:pt x="200774" y="30090"/>
                </a:lnTo>
                <a:lnTo>
                  <a:pt x="194721" y="25075"/>
                </a:lnTo>
                <a:lnTo>
                  <a:pt x="188322" y="20406"/>
                </a:lnTo>
                <a:lnTo>
                  <a:pt x="181578" y="16256"/>
                </a:lnTo>
                <a:lnTo>
                  <a:pt x="174488" y="12624"/>
                </a:lnTo>
                <a:lnTo>
                  <a:pt x="167398" y="9338"/>
                </a:lnTo>
                <a:lnTo>
                  <a:pt x="159962" y="6571"/>
                </a:lnTo>
                <a:lnTo>
                  <a:pt x="152353" y="4150"/>
                </a:lnTo>
                <a:lnTo>
                  <a:pt x="144571" y="2421"/>
                </a:lnTo>
                <a:lnTo>
                  <a:pt x="136789" y="1038"/>
                </a:lnTo>
                <a:lnTo>
                  <a:pt x="128834" y="346"/>
                </a:lnTo>
                <a:lnTo>
                  <a:pt x="121052" y="0"/>
                </a:lnTo>
                <a:lnTo>
                  <a:pt x="113097" y="346"/>
                </a:lnTo>
                <a:lnTo>
                  <a:pt x="105142" y="1038"/>
                </a:lnTo>
                <a:lnTo>
                  <a:pt x="97360" y="2421"/>
                </a:lnTo>
                <a:lnTo>
                  <a:pt x="89579" y="4150"/>
                </a:lnTo>
                <a:lnTo>
                  <a:pt x="82142" y="6571"/>
                </a:lnTo>
                <a:lnTo>
                  <a:pt x="74706" y="9338"/>
                </a:lnTo>
                <a:lnTo>
                  <a:pt x="67443" y="12624"/>
                </a:lnTo>
                <a:lnTo>
                  <a:pt x="60526" y="16256"/>
                </a:lnTo>
                <a:lnTo>
                  <a:pt x="53782" y="20406"/>
                </a:lnTo>
                <a:lnTo>
                  <a:pt x="47383" y="25075"/>
                </a:lnTo>
                <a:lnTo>
                  <a:pt x="41158" y="30090"/>
                </a:lnTo>
                <a:lnTo>
                  <a:pt x="35451" y="35451"/>
                </a:lnTo>
                <a:lnTo>
                  <a:pt x="29917" y="41331"/>
                </a:lnTo>
                <a:lnTo>
                  <a:pt x="24902" y="47383"/>
                </a:lnTo>
                <a:lnTo>
                  <a:pt x="20406" y="53955"/>
                </a:lnTo>
                <a:lnTo>
                  <a:pt x="16083" y="60526"/>
                </a:lnTo>
                <a:lnTo>
                  <a:pt x="12451" y="67616"/>
                </a:lnTo>
                <a:lnTo>
                  <a:pt x="9165" y="74879"/>
                </a:lnTo>
                <a:lnTo>
                  <a:pt x="6398" y="82142"/>
                </a:lnTo>
                <a:lnTo>
                  <a:pt x="4150" y="89751"/>
                </a:lnTo>
                <a:lnTo>
                  <a:pt x="2248" y="97533"/>
                </a:lnTo>
                <a:lnTo>
                  <a:pt x="1038" y="105315"/>
                </a:lnTo>
                <a:lnTo>
                  <a:pt x="173" y="113270"/>
                </a:lnTo>
                <a:lnTo>
                  <a:pt x="0" y="121052"/>
                </a:lnTo>
                <a:lnTo>
                  <a:pt x="173" y="129007"/>
                </a:lnTo>
                <a:lnTo>
                  <a:pt x="1038" y="136962"/>
                </a:lnTo>
                <a:lnTo>
                  <a:pt x="2248" y="144744"/>
                </a:lnTo>
                <a:lnTo>
                  <a:pt x="4150" y="152526"/>
                </a:lnTo>
                <a:lnTo>
                  <a:pt x="6398" y="159962"/>
                </a:lnTo>
                <a:lnTo>
                  <a:pt x="9165" y="167398"/>
                </a:lnTo>
                <a:lnTo>
                  <a:pt x="12451" y="174661"/>
                </a:lnTo>
                <a:lnTo>
                  <a:pt x="16083" y="181578"/>
                </a:lnTo>
                <a:lnTo>
                  <a:pt x="20406" y="188322"/>
                </a:lnTo>
                <a:lnTo>
                  <a:pt x="24902" y="194894"/>
                </a:lnTo>
                <a:lnTo>
                  <a:pt x="29917" y="200946"/>
                </a:lnTo>
                <a:lnTo>
                  <a:pt x="35451" y="206653"/>
                </a:lnTo>
                <a:lnTo>
                  <a:pt x="41158" y="212187"/>
                </a:lnTo>
                <a:lnTo>
                  <a:pt x="47383" y="217202"/>
                </a:lnTo>
                <a:lnTo>
                  <a:pt x="53782" y="221698"/>
                </a:lnTo>
                <a:lnTo>
                  <a:pt x="60526" y="226022"/>
                </a:lnTo>
                <a:lnTo>
                  <a:pt x="67443" y="229653"/>
                </a:lnTo>
                <a:lnTo>
                  <a:pt x="74706" y="232939"/>
                </a:lnTo>
                <a:lnTo>
                  <a:pt x="82142" y="235706"/>
                </a:lnTo>
                <a:lnTo>
                  <a:pt x="89579" y="238127"/>
                </a:lnTo>
                <a:lnTo>
                  <a:pt x="97360" y="239856"/>
                </a:lnTo>
                <a:lnTo>
                  <a:pt x="105142" y="241067"/>
                </a:lnTo>
                <a:lnTo>
                  <a:pt x="113097" y="241931"/>
                </a:lnTo>
                <a:lnTo>
                  <a:pt x="121052" y="242104"/>
                </a:lnTo>
                <a:lnTo>
                  <a:pt x="128834" y="241931"/>
                </a:lnTo>
                <a:lnTo>
                  <a:pt x="136789" y="241067"/>
                </a:lnTo>
                <a:lnTo>
                  <a:pt x="144571" y="239856"/>
                </a:lnTo>
                <a:lnTo>
                  <a:pt x="152353" y="238127"/>
                </a:lnTo>
                <a:lnTo>
                  <a:pt x="159962" y="235706"/>
                </a:lnTo>
                <a:lnTo>
                  <a:pt x="167398" y="232939"/>
                </a:lnTo>
                <a:lnTo>
                  <a:pt x="174488" y="229653"/>
                </a:lnTo>
                <a:lnTo>
                  <a:pt x="181578" y="226022"/>
                </a:lnTo>
                <a:lnTo>
                  <a:pt x="188322" y="221698"/>
                </a:lnTo>
                <a:lnTo>
                  <a:pt x="194721" y="217202"/>
                </a:lnTo>
                <a:lnTo>
                  <a:pt x="200774" y="212187"/>
                </a:lnTo>
                <a:lnTo>
                  <a:pt x="206653" y="206653"/>
                </a:lnTo>
                <a:lnTo>
                  <a:pt x="212014" y="200946"/>
                </a:lnTo>
                <a:lnTo>
                  <a:pt x="217029" y="194894"/>
                </a:lnTo>
                <a:lnTo>
                  <a:pt x="221698" y="188322"/>
                </a:lnTo>
                <a:lnTo>
                  <a:pt x="225849" y="181578"/>
                </a:lnTo>
                <a:lnTo>
                  <a:pt x="229480" y="174661"/>
                </a:lnTo>
                <a:lnTo>
                  <a:pt x="232766" y="167398"/>
                </a:lnTo>
                <a:lnTo>
                  <a:pt x="235706" y="159962"/>
                </a:lnTo>
                <a:lnTo>
                  <a:pt x="237954" y="152526"/>
                </a:lnTo>
                <a:lnTo>
                  <a:pt x="239683" y="144744"/>
                </a:lnTo>
                <a:lnTo>
                  <a:pt x="241067" y="136962"/>
                </a:lnTo>
                <a:lnTo>
                  <a:pt x="241758" y="129007"/>
                </a:lnTo>
                <a:lnTo>
                  <a:pt x="242104" y="121052"/>
                </a:lnTo>
                <a:close/>
              </a:path>
            </a:pathLst>
          </a:custGeom>
          <a:solidFill>
            <a:srgbClr val="7A7A7A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9543153" y="2451117"/>
            <a:ext cx="190225" cy="190225"/>
          </a:xfrm>
          <a:custGeom>
            <a:avLst/>
            <a:gdLst/>
            <a:ahLst/>
            <a:cxnLst/>
            <a:rect l="l" t="t" r="r" b="b"/>
            <a:pathLst>
              <a:path w="190225" h="190225">
                <a:moveTo>
                  <a:pt x="189879" y="88887"/>
                </a:moveTo>
                <a:lnTo>
                  <a:pt x="189360" y="82834"/>
                </a:lnTo>
                <a:lnTo>
                  <a:pt x="188322" y="76609"/>
                </a:lnTo>
                <a:lnTo>
                  <a:pt x="186939" y="70556"/>
                </a:lnTo>
                <a:lnTo>
                  <a:pt x="185037" y="64676"/>
                </a:lnTo>
                <a:lnTo>
                  <a:pt x="182962" y="58797"/>
                </a:lnTo>
                <a:lnTo>
                  <a:pt x="180368" y="53090"/>
                </a:lnTo>
                <a:lnTo>
                  <a:pt x="177428" y="47556"/>
                </a:lnTo>
                <a:lnTo>
                  <a:pt x="174142" y="42368"/>
                </a:lnTo>
                <a:lnTo>
                  <a:pt x="170511" y="37353"/>
                </a:lnTo>
                <a:lnTo>
                  <a:pt x="166533" y="32511"/>
                </a:lnTo>
                <a:lnTo>
                  <a:pt x="162210" y="28015"/>
                </a:lnTo>
                <a:lnTo>
                  <a:pt x="157714" y="23692"/>
                </a:lnTo>
                <a:lnTo>
                  <a:pt x="152872" y="19714"/>
                </a:lnTo>
                <a:lnTo>
                  <a:pt x="147856" y="16083"/>
                </a:lnTo>
                <a:lnTo>
                  <a:pt x="142669" y="12797"/>
                </a:lnTo>
                <a:lnTo>
                  <a:pt x="137135" y="9857"/>
                </a:lnTo>
                <a:lnTo>
                  <a:pt x="131428" y="7263"/>
                </a:lnTo>
                <a:lnTo>
                  <a:pt x="125548" y="5188"/>
                </a:lnTo>
                <a:lnTo>
                  <a:pt x="119669" y="3286"/>
                </a:lnTo>
                <a:lnTo>
                  <a:pt x="113616" y="1902"/>
                </a:lnTo>
                <a:lnTo>
                  <a:pt x="107391" y="865"/>
                </a:lnTo>
                <a:lnTo>
                  <a:pt x="101165" y="346"/>
                </a:lnTo>
                <a:lnTo>
                  <a:pt x="95112" y="0"/>
                </a:lnTo>
                <a:lnTo>
                  <a:pt x="88887" y="346"/>
                </a:lnTo>
                <a:lnTo>
                  <a:pt x="82661" y="865"/>
                </a:lnTo>
                <a:lnTo>
                  <a:pt x="76436" y="1902"/>
                </a:lnTo>
                <a:lnTo>
                  <a:pt x="70383" y="3286"/>
                </a:lnTo>
                <a:lnTo>
                  <a:pt x="64503" y="5188"/>
                </a:lnTo>
                <a:lnTo>
                  <a:pt x="58624" y="7263"/>
                </a:lnTo>
                <a:lnTo>
                  <a:pt x="52917" y="9857"/>
                </a:lnTo>
                <a:lnTo>
                  <a:pt x="47556" y="12797"/>
                </a:lnTo>
                <a:lnTo>
                  <a:pt x="42195" y="16083"/>
                </a:lnTo>
                <a:lnTo>
                  <a:pt x="37180" y="19714"/>
                </a:lnTo>
                <a:lnTo>
                  <a:pt x="32338" y="23692"/>
                </a:lnTo>
                <a:lnTo>
                  <a:pt x="27842" y="28015"/>
                </a:lnTo>
                <a:lnTo>
                  <a:pt x="23519" y="32511"/>
                </a:lnTo>
                <a:lnTo>
                  <a:pt x="19541" y="37353"/>
                </a:lnTo>
                <a:lnTo>
                  <a:pt x="15910" y="42368"/>
                </a:lnTo>
                <a:lnTo>
                  <a:pt x="12624" y="47556"/>
                </a:lnTo>
                <a:lnTo>
                  <a:pt x="9684" y="53090"/>
                </a:lnTo>
                <a:lnTo>
                  <a:pt x="7090" y="58797"/>
                </a:lnTo>
                <a:lnTo>
                  <a:pt x="5015" y="64676"/>
                </a:lnTo>
                <a:lnTo>
                  <a:pt x="3113" y="70556"/>
                </a:lnTo>
                <a:lnTo>
                  <a:pt x="1729" y="76609"/>
                </a:lnTo>
                <a:lnTo>
                  <a:pt x="692" y="82834"/>
                </a:lnTo>
                <a:lnTo>
                  <a:pt x="173" y="88887"/>
                </a:lnTo>
                <a:lnTo>
                  <a:pt x="0" y="95112"/>
                </a:lnTo>
                <a:lnTo>
                  <a:pt x="173" y="101338"/>
                </a:lnTo>
                <a:lnTo>
                  <a:pt x="692" y="107563"/>
                </a:lnTo>
                <a:lnTo>
                  <a:pt x="1729" y="113789"/>
                </a:lnTo>
                <a:lnTo>
                  <a:pt x="3113" y="119842"/>
                </a:lnTo>
                <a:lnTo>
                  <a:pt x="5015" y="125721"/>
                </a:lnTo>
                <a:lnTo>
                  <a:pt x="7090" y="131601"/>
                </a:lnTo>
                <a:lnTo>
                  <a:pt x="9684" y="137308"/>
                </a:lnTo>
                <a:lnTo>
                  <a:pt x="12624" y="142669"/>
                </a:lnTo>
                <a:lnTo>
                  <a:pt x="15910" y="148029"/>
                </a:lnTo>
                <a:lnTo>
                  <a:pt x="19541" y="153044"/>
                </a:lnTo>
                <a:lnTo>
                  <a:pt x="23519" y="157887"/>
                </a:lnTo>
                <a:lnTo>
                  <a:pt x="27842" y="162383"/>
                </a:lnTo>
                <a:lnTo>
                  <a:pt x="32338" y="166706"/>
                </a:lnTo>
                <a:lnTo>
                  <a:pt x="37180" y="170683"/>
                </a:lnTo>
                <a:lnTo>
                  <a:pt x="42195" y="174315"/>
                </a:lnTo>
                <a:lnTo>
                  <a:pt x="47556" y="177601"/>
                </a:lnTo>
                <a:lnTo>
                  <a:pt x="52917" y="180541"/>
                </a:lnTo>
                <a:lnTo>
                  <a:pt x="58624" y="183135"/>
                </a:lnTo>
                <a:lnTo>
                  <a:pt x="64503" y="185210"/>
                </a:lnTo>
                <a:lnTo>
                  <a:pt x="70383" y="187112"/>
                </a:lnTo>
                <a:lnTo>
                  <a:pt x="76436" y="188495"/>
                </a:lnTo>
                <a:lnTo>
                  <a:pt x="82661" y="189533"/>
                </a:lnTo>
                <a:lnTo>
                  <a:pt x="88887" y="190052"/>
                </a:lnTo>
                <a:lnTo>
                  <a:pt x="95112" y="190225"/>
                </a:lnTo>
                <a:lnTo>
                  <a:pt x="101165" y="190052"/>
                </a:lnTo>
                <a:lnTo>
                  <a:pt x="107391" y="189533"/>
                </a:lnTo>
                <a:lnTo>
                  <a:pt x="113616" y="188495"/>
                </a:lnTo>
                <a:lnTo>
                  <a:pt x="119669" y="187112"/>
                </a:lnTo>
                <a:lnTo>
                  <a:pt x="125548" y="185210"/>
                </a:lnTo>
                <a:lnTo>
                  <a:pt x="131428" y="183135"/>
                </a:lnTo>
                <a:lnTo>
                  <a:pt x="137135" y="180541"/>
                </a:lnTo>
                <a:lnTo>
                  <a:pt x="142669" y="177601"/>
                </a:lnTo>
                <a:lnTo>
                  <a:pt x="147856" y="174315"/>
                </a:lnTo>
                <a:lnTo>
                  <a:pt x="152872" y="170683"/>
                </a:lnTo>
                <a:lnTo>
                  <a:pt x="157714" y="166706"/>
                </a:lnTo>
                <a:lnTo>
                  <a:pt x="162210" y="162383"/>
                </a:lnTo>
                <a:lnTo>
                  <a:pt x="166533" y="157887"/>
                </a:lnTo>
                <a:lnTo>
                  <a:pt x="170511" y="153044"/>
                </a:lnTo>
                <a:lnTo>
                  <a:pt x="174142" y="148029"/>
                </a:lnTo>
                <a:lnTo>
                  <a:pt x="177428" y="142669"/>
                </a:lnTo>
                <a:lnTo>
                  <a:pt x="180368" y="137308"/>
                </a:lnTo>
                <a:lnTo>
                  <a:pt x="182962" y="131601"/>
                </a:lnTo>
                <a:lnTo>
                  <a:pt x="185037" y="125721"/>
                </a:lnTo>
                <a:lnTo>
                  <a:pt x="186939" y="119842"/>
                </a:lnTo>
                <a:lnTo>
                  <a:pt x="188322" y="113789"/>
                </a:lnTo>
                <a:lnTo>
                  <a:pt x="189360" y="107563"/>
                </a:lnTo>
                <a:lnTo>
                  <a:pt x="189879" y="101338"/>
                </a:lnTo>
                <a:lnTo>
                  <a:pt x="190225" y="9511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9050">
            <a:solidFill>
              <a:srgbClr val="C4262E"/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9638266" y="2546229"/>
            <a:ext cx="1218476" cy="943515"/>
          </a:xfrm>
          <a:custGeom>
            <a:avLst/>
            <a:gdLst/>
            <a:ahLst/>
            <a:cxnLst/>
            <a:rect l="l" t="t" r="r" b="b"/>
            <a:pathLst>
              <a:path w="1218476" h="943515">
                <a:moveTo>
                  <a:pt x="1218476" y="943515"/>
                </a:moveTo>
                <a:lnTo>
                  <a:pt x="974124" y="578110"/>
                </a:lnTo>
                <a:lnTo>
                  <a:pt x="625666" y="341540"/>
                </a:lnTo>
                <a:lnTo>
                  <a:pt x="401374" y="1038"/>
                </a:lnTo>
                <a:lnTo>
                  <a:pt x="0" y="0"/>
                </a:lnTo>
              </a:path>
            </a:pathLst>
          </a:custGeom>
          <a:ln w="1905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82" name="Shape 73"/>
          <p:cNvSpPr/>
          <p:nvPr/>
        </p:nvSpPr>
        <p:spPr>
          <a:xfrm>
            <a:off x="9638266" y="2546229"/>
            <a:ext cx="336525" cy="995394"/>
          </a:xfrm>
          <a:custGeom>
            <a:avLst/>
            <a:gdLst/>
            <a:ahLst/>
            <a:cxnLst/>
            <a:rect l="l" t="t" r="r" b="b"/>
            <a:pathLst>
              <a:path w="336525" h="995394">
                <a:moveTo>
                  <a:pt x="301939" y="995394"/>
                </a:moveTo>
                <a:lnTo>
                  <a:pt x="336525" y="787876"/>
                </a:lnTo>
                <a:lnTo>
                  <a:pt x="226367" y="258533"/>
                </a:lnTo>
                <a:lnTo>
                  <a:pt x="0" y="0"/>
                </a:lnTo>
              </a:path>
            </a:pathLst>
          </a:custGeom>
          <a:ln w="13335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83" name="Shape 74"/>
          <p:cNvSpPr/>
          <p:nvPr/>
        </p:nvSpPr>
        <p:spPr>
          <a:xfrm>
            <a:off x="8556752" y="2158171"/>
            <a:ext cx="1081514" cy="388058"/>
          </a:xfrm>
          <a:custGeom>
            <a:avLst/>
            <a:gdLst/>
            <a:ahLst/>
            <a:cxnLst/>
            <a:rect l="l" t="t" r="r" b="b"/>
            <a:pathLst>
              <a:path w="1081514" h="388058">
                <a:moveTo>
                  <a:pt x="0" y="0"/>
                </a:moveTo>
                <a:lnTo>
                  <a:pt x="311277" y="103759"/>
                </a:lnTo>
                <a:lnTo>
                  <a:pt x="643478" y="7090"/>
                </a:lnTo>
                <a:lnTo>
                  <a:pt x="1081514" y="388058"/>
                </a:lnTo>
              </a:path>
            </a:pathLst>
          </a:custGeom>
          <a:ln w="13335">
            <a:solidFill>
              <a:srgbClr val="C4262E"/>
            </a:solidFill>
            <a:prstDash val="dash"/>
            <a:tailEnd type="triangle"/>
          </a:ln>
        </p:spPr>
      </p:sp>
      <p:sp>
        <p:nvSpPr>
          <p:cNvPr id="84" name="Shape 75"/>
          <p:cNvSpPr/>
          <p:nvPr/>
        </p:nvSpPr>
        <p:spPr>
          <a:xfrm>
            <a:off x="9581025" y="2319343"/>
            <a:ext cx="1362182" cy="1014762"/>
          </a:xfrm>
          <a:custGeom>
            <a:avLst/>
            <a:gdLst/>
            <a:ahLst/>
            <a:cxnLst/>
            <a:rect l="l" t="t" r="r" b="b"/>
            <a:pathLst>
              <a:path w="1362182" h="1014762">
                <a:moveTo>
                  <a:pt x="1362182" y="1014762"/>
                </a:moveTo>
                <a:lnTo>
                  <a:pt x="981733" y="841831"/>
                </a:lnTo>
                <a:lnTo>
                  <a:pt x="682907" y="568426"/>
                </a:lnTo>
                <a:lnTo>
                  <a:pt x="184518" y="0"/>
                </a:lnTo>
                <a:lnTo>
                  <a:pt x="0" y="271676"/>
                </a:lnTo>
              </a:path>
            </a:pathLst>
          </a:custGeom>
          <a:ln w="13335">
            <a:solidFill>
              <a:srgbClr val="1B1B1B"/>
            </a:solidFill>
            <a:prstDash val="dash"/>
            <a:tailEnd type="triangle"/>
          </a:ln>
        </p:spPr>
      </p:sp>
      <p:sp>
        <p:nvSpPr>
          <p:cNvPr id="85" name="Shape 76"/>
          <p:cNvSpPr/>
          <p:nvPr/>
        </p:nvSpPr>
        <p:spPr>
          <a:xfrm>
            <a:off x="9765543" y="2054412"/>
            <a:ext cx="485938" cy="264931"/>
          </a:xfrm>
          <a:custGeom>
            <a:avLst/>
            <a:gdLst/>
            <a:ahLst/>
            <a:cxnLst/>
            <a:rect l="l" t="t" r="r" b="b"/>
            <a:pathLst>
              <a:path w="485938" h="264931">
                <a:moveTo>
                  <a:pt x="485938" y="0"/>
                </a:moveTo>
                <a:lnTo>
                  <a:pt x="208383" y="155465"/>
                </a:lnTo>
                <a:lnTo>
                  <a:pt x="0" y="264931"/>
                </a:lnTo>
              </a:path>
            </a:pathLst>
          </a:custGeom>
          <a:ln w="13335">
            <a:solidFill>
              <a:srgbClr val="1B1B1B"/>
            </a:solidFill>
            <a:prstDash val="dash"/>
            <a:tailEnd type="triangle"/>
          </a:ln>
        </p:spPr>
      </p:sp>
      <p:sp>
        <p:nvSpPr>
          <p:cNvPr id="86" name="Shape 77"/>
          <p:cNvSpPr/>
          <p:nvPr/>
        </p:nvSpPr>
        <p:spPr>
          <a:xfrm>
            <a:off x="9973926" y="1916066"/>
            <a:ext cx="485073" cy="293811"/>
          </a:xfrm>
          <a:custGeom>
            <a:avLst/>
            <a:gdLst/>
            <a:ahLst/>
            <a:cxnLst/>
            <a:rect l="l" t="t" r="r" b="b"/>
            <a:pathLst>
              <a:path w="485073" h="293811">
                <a:moveTo>
                  <a:pt x="485073" y="0"/>
                </a:moveTo>
                <a:lnTo>
                  <a:pt x="242969" y="121052"/>
                </a:lnTo>
                <a:lnTo>
                  <a:pt x="0" y="293811"/>
                </a:lnTo>
              </a:path>
            </a:pathLst>
          </a:custGeom>
          <a:ln w="19050">
            <a:solidFill>
              <a:srgbClr val="7A7A7A"/>
            </a:solidFill>
            <a:prstDash val="sysDot"/>
            <a:tailEnd type="triangle"/>
          </a:ln>
        </p:spPr>
      </p:sp>
      <p:sp>
        <p:nvSpPr>
          <p:cNvPr id="87" name="Shape 78"/>
          <p:cNvSpPr/>
          <p:nvPr/>
        </p:nvSpPr>
        <p:spPr>
          <a:xfrm>
            <a:off x="7726680" y="4251960"/>
            <a:ext cx="201168" cy="128016"/>
          </a:xfrm>
          <a:prstGeom prst="rect">
            <a:avLst/>
          </a:prstGeom>
          <a:solidFill>
            <a:srgbClr val="C4262E">
              <a:alpha val="75000"/>
            </a:srgbClr>
          </a:solidFill>
          <a:ln/>
        </p:spPr>
      </p:sp>
      <p:sp>
        <p:nvSpPr>
          <p:cNvPr id="88" name="Text 79"/>
          <p:cNvSpPr txBox="1"/>
          <p:nvPr/>
        </p:nvSpPr>
        <p:spPr>
          <a:xfrm>
            <a:off x="8019288" y="42428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civic</a:t>
            </a:r>
            <a:endParaRPr lang="en-US" sz="700" dirty="0"/>
          </a:p>
        </p:txBody>
      </p:sp>
      <p:sp>
        <p:nvSpPr>
          <p:cNvPr id="89" name="Shape 80"/>
          <p:cNvSpPr/>
          <p:nvPr/>
        </p:nvSpPr>
        <p:spPr>
          <a:xfrm>
            <a:off x="7726680" y="4453128"/>
            <a:ext cx="201168" cy="128016"/>
          </a:xfrm>
          <a:prstGeom prst="rect">
            <a:avLst/>
          </a:prstGeom>
          <a:solidFill>
            <a:srgbClr val="3E5C76">
              <a:alpha val="75000"/>
            </a:srgbClr>
          </a:solidFill>
          <a:ln/>
        </p:spPr>
      </p:sp>
      <p:sp>
        <p:nvSpPr>
          <p:cNvPr id="90" name="Text 81"/>
          <p:cNvSpPr txBox="1"/>
          <p:nvPr/>
        </p:nvSpPr>
        <p:spPr>
          <a:xfrm>
            <a:off x="8019288" y="4443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700" dirty="0"/>
          </a:p>
        </p:txBody>
      </p:sp>
      <p:sp>
        <p:nvSpPr>
          <p:cNvPr id="91" name="Shape 82"/>
          <p:cNvSpPr/>
          <p:nvPr/>
        </p:nvSpPr>
        <p:spPr>
          <a:xfrm>
            <a:off x="7726680" y="4654296"/>
            <a:ext cx="201168" cy="128016"/>
          </a:xfrm>
          <a:prstGeom prst="rect">
            <a:avLst/>
          </a:prstGeom>
          <a:solidFill>
            <a:srgbClr val="9C6B3C">
              <a:alpha val="75000"/>
            </a:srgbClr>
          </a:solidFill>
          <a:ln/>
        </p:spPr>
      </p:sp>
      <p:sp>
        <p:nvSpPr>
          <p:cNvPr id="92" name="Text 83"/>
          <p:cNvSpPr txBox="1"/>
          <p:nvPr/>
        </p:nvSpPr>
        <p:spPr>
          <a:xfrm>
            <a:off x="8019288" y="464515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700" dirty="0"/>
          </a:p>
        </p:txBody>
      </p:sp>
      <p:sp>
        <p:nvSpPr>
          <p:cNvPr id="93" name="Shape 84"/>
          <p:cNvSpPr/>
          <p:nvPr/>
        </p:nvSpPr>
        <p:spPr>
          <a:xfrm>
            <a:off x="7726680" y="4855464"/>
            <a:ext cx="201168" cy="128016"/>
          </a:xfrm>
          <a:prstGeom prst="rect">
            <a:avLst/>
          </a:prstGeom>
          <a:solidFill>
            <a:srgbClr val="D9A441">
              <a:alpha val="75000"/>
            </a:srgbClr>
          </a:solidFill>
          <a:ln/>
        </p:spPr>
      </p:sp>
      <p:sp>
        <p:nvSpPr>
          <p:cNvPr id="94" name="Text 85"/>
          <p:cNvSpPr txBox="1"/>
          <p:nvPr/>
        </p:nvSpPr>
        <p:spPr>
          <a:xfrm>
            <a:off x="8019288" y="48463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700" dirty="0"/>
          </a:p>
        </p:txBody>
      </p:sp>
      <p:sp>
        <p:nvSpPr>
          <p:cNvPr id="95" name="Shape 86"/>
          <p:cNvSpPr/>
          <p:nvPr/>
        </p:nvSpPr>
        <p:spPr>
          <a:xfrm>
            <a:off x="7726680" y="5056632"/>
            <a:ext cx="201168" cy="128016"/>
          </a:xfrm>
          <a:prstGeom prst="rect">
            <a:avLst/>
          </a:prstGeom>
          <a:solidFill>
            <a:srgbClr val="4F7A43">
              <a:alpha val="75000"/>
            </a:srgbClr>
          </a:solidFill>
          <a:ln/>
        </p:spPr>
      </p:sp>
      <p:sp>
        <p:nvSpPr>
          <p:cNvPr id="96" name="Text 87"/>
          <p:cNvSpPr txBox="1"/>
          <p:nvPr/>
        </p:nvSpPr>
        <p:spPr>
          <a:xfrm>
            <a:off x="8019288" y="504748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700" dirty="0"/>
          </a:p>
        </p:txBody>
      </p:sp>
      <p:sp>
        <p:nvSpPr>
          <p:cNvPr id="97" name="Shape 88"/>
          <p:cNvSpPr/>
          <p:nvPr/>
        </p:nvSpPr>
        <p:spPr>
          <a:xfrm>
            <a:off x="9784080" y="4311396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C4262E"/>
            </a:solidFill>
            <a:prstDash val="solid"/>
          </a:ln>
        </p:spPr>
      </p:sp>
      <p:sp>
        <p:nvSpPr>
          <p:cNvPr id="98" name="Text 89"/>
          <p:cNvSpPr txBox="1"/>
          <p:nvPr/>
        </p:nvSpPr>
        <p:spPr>
          <a:xfrm>
            <a:off x="10076688" y="42428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700" dirty="0"/>
          </a:p>
        </p:txBody>
      </p:sp>
      <p:sp>
        <p:nvSpPr>
          <p:cNvPr id="99" name="Shape 90"/>
          <p:cNvSpPr/>
          <p:nvPr/>
        </p:nvSpPr>
        <p:spPr>
          <a:xfrm>
            <a:off x="9784080" y="4512564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19050">
            <a:solidFill>
              <a:srgbClr val="1B1B1B"/>
            </a:solidFill>
            <a:prstDash val="dash"/>
          </a:ln>
        </p:spPr>
      </p:sp>
      <p:sp>
        <p:nvSpPr>
          <p:cNvPr id="100" name="Text 91"/>
          <p:cNvSpPr txBox="1"/>
          <p:nvPr/>
        </p:nvSpPr>
        <p:spPr>
          <a:xfrm>
            <a:off x="10076688" y="4443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700" dirty="0"/>
          </a:p>
        </p:txBody>
      </p:sp>
      <p:sp>
        <p:nvSpPr>
          <p:cNvPr id="101" name="Shape 92"/>
          <p:cNvSpPr/>
          <p:nvPr/>
        </p:nvSpPr>
        <p:spPr>
          <a:xfrm>
            <a:off x="9784080" y="4713732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7A7A7A"/>
            </a:solidFill>
            <a:prstDash val="sysDot"/>
          </a:ln>
        </p:spPr>
      </p:sp>
      <p:sp>
        <p:nvSpPr>
          <p:cNvPr id="102" name="Text 93"/>
          <p:cNvSpPr txBox="1"/>
          <p:nvPr/>
        </p:nvSpPr>
        <p:spPr>
          <a:xfrm>
            <a:off x="10076688" y="464515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00" dirty="0"/>
          </a:p>
        </p:txBody>
      </p:sp>
      <p:sp>
        <p:nvSpPr>
          <p:cNvPr id="103" name="Text 94"/>
          <p:cNvSpPr txBox="1"/>
          <p:nvPr/>
        </p:nvSpPr>
        <p:spPr>
          <a:xfrm>
            <a:off x="457200" y="5166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where the city arrives · knowledge in the middle · production on the service edge · woods and top stay open.</a:t>
            </a:r>
            <a:endParaRPr lang="en-US" sz="900" dirty="0"/>
          </a:p>
        </p:txBody>
      </p:sp>
      <p:sp>
        <p:nvSpPr>
          <p:cNvPr id="104" name="Text 95"/>
          <p:cNvSpPr txBox="1"/>
          <p:nvPr/>
        </p:nvSpPr>
        <p:spPr>
          <a:xfrm>
            <a:off x="457200" y="5577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handout site plan (p.4). Press Club footprint, levels and existing gates are not shown on it and must be added from a survey.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Zoning: The Contemporary Publishing House</dc:title>
  <dc:subject>PptxGenJS Presentation</dc:subject>
  <dc:creator>PptxGenJS</dc:creator>
  <cp:lastModifiedBy>PptxGenJS</cp:lastModifiedBy>
  <cp:revision>1</cp:revision>
  <dcterms:created xsi:type="dcterms:W3CDTF">2026-09-22T19:28:13Z</dcterms:created>
  <dcterms:modified xsi:type="dcterms:W3CDTF">2026-09-22T19:28:13Z</dcterms:modified>
</cp:coreProperties>
</file>