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PROGRAMS NOW CONNECT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772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12 separate boxes, each at its own angle, joined only by paths. After: ONE building that follows the hill.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63040" y="2286000"/>
            <a:ext cx="3291840" cy="3291840"/>
          </a:xfrm>
          <a:prstGeom prst="ellipse">
            <a:avLst/>
          </a:prstGeom>
          <a:solidFill>
            <a:srgbClr val="E8F1E0"/>
          </a:solidFill>
          <a:ln/>
        </p:spPr>
      </p:sp>
      <p:sp>
        <p:nvSpPr>
          <p:cNvPr id="5" name="Shape 3"/>
          <p:cNvSpPr/>
          <p:nvPr/>
        </p:nvSpPr>
        <p:spPr>
          <a:xfrm>
            <a:off x="2468880" y="3291840"/>
            <a:ext cx="1280160" cy="1280160"/>
          </a:xfrm>
          <a:prstGeom prst="ellipse">
            <a:avLst/>
          </a:prstGeom>
          <a:solidFill>
            <a:srgbClr val="F3EDE3"/>
          </a:solidFill>
          <a:ln w="9525">
            <a:solidFill>
              <a:srgbClr val="C4262E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46888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+28' summit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760220" y="2583180"/>
            <a:ext cx="2697480" cy="2697480"/>
          </a:xfrm>
          <a:prstGeom prst="ellipse">
            <a:avLst/>
          </a:prstGeom>
          <a:ln w="76200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0240" y="48920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GALLERY (continuous loop)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423076" y="3874478"/>
            <a:ext cx="331804" cy="674014"/>
          </a:xfrm>
          <a:custGeom>
            <a:avLst/>
            <a:gdLst/>
            <a:ahLst/>
            <a:cxnLst/>
            <a:rect l="l" t="t" r="r" b="b"/>
            <a:pathLst>
              <a:path w="331804" h="674014">
                <a:moveTo>
                  <a:pt x="330801" y="0"/>
                </a:moveTo>
                <a:lnTo>
                  <a:pt x="331804" y="57442"/>
                </a:lnTo>
                <a:lnTo>
                  <a:pt x="330801" y="114884"/>
                </a:lnTo>
                <a:lnTo>
                  <a:pt x="327794" y="172255"/>
                </a:lnTo>
                <a:lnTo>
                  <a:pt x="322787" y="229487"/>
                </a:lnTo>
                <a:lnTo>
                  <a:pt x="315786" y="286510"/>
                </a:lnTo>
                <a:lnTo>
                  <a:pt x="306799" y="343253"/>
                </a:lnTo>
                <a:lnTo>
                  <a:pt x="295836" y="399648"/>
                </a:lnTo>
                <a:lnTo>
                  <a:pt x="282913" y="455626"/>
                </a:lnTo>
                <a:lnTo>
                  <a:pt x="268044" y="511119"/>
                </a:lnTo>
                <a:lnTo>
                  <a:pt x="251247" y="566059"/>
                </a:lnTo>
                <a:lnTo>
                  <a:pt x="232543" y="620380"/>
                </a:lnTo>
                <a:lnTo>
                  <a:pt x="211954" y="674014"/>
                </a:lnTo>
                <a:lnTo>
                  <a:pt x="0" y="588379"/>
                </a:lnTo>
                <a:lnTo>
                  <a:pt x="17729" y="542194"/>
                </a:lnTo>
                <a:lnTo>
                  <a:pt x="33835" y="495418"/>
                </a:lnTo>
                <a:lnTo>
                  <a:pt x="48299" y="448108"/>
                </a:lnTo>
                <a:lnTo>
                  <a:pt x="61103" y="400323"/>
                </a:lnTo>
                <a:lnTo>
                  <a:pt x="72232" y="352119"/>
                </a:lnTo>
                <a:lnTo>
                  <a:pt x="81672" y="303557"/>
                </a:lnTo>
                <a:lnTo>
                  <a:pt x="89411" y="254695"/>
                </a:lnTo>
                <a:lnTo>
                  <a:pt x="95440" y="205592"/>
                </a:lnTo>
                <a:lnTo>
                  <a:pt x="99751" y="156309"/>
                </a:lnTo>
                <a:lnTo>
                  <a:pt x="102340" y="106906"/>
                </a:lnTo>
                <a:lnTo>
                  <a:pt x="103204" y="57442"/>
                </a:lnTo>
                <a:lnTo>
                  <a:pt x="102340" y="7978"/>
                </a:lnTo>
                <a:close/>
              </a:path>
            </a:pathLst>
          </a:custGeom>
          <a:solidFill>
            <a:srgbClr val="F4CFDC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7158" y="418980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128495" y="4462857"/>
            <a:ext cx="506536" cy="612415"/>
          </a:xfrm>
          <a:custGeom>
            <a:avLst/>
            <a:gdLst/>
            <a:ahLst/>
            <a:cxnLst/>
            <a:rect l="l" t="t" r="r" b="b"/>
            <a:pathLst>
              <a:path w="506536" h="612415">
                <a:moveTo>
                  <a:pt x="506536" y="85635"/>
                </a:moveTo>
                <a:lnTo>
                  <a:pt x="486029" y="134142"/>
                </a:lnTo>
                <a:lnTo>
                  <a:pt x="463981" y="181968"/>
                </a:lnTo>
                <a:lnTo>
                  <a:pt x="440414" y="229064"/>
                </a:lnTo>
                <a:lnTo>
                  <a:pt x="415353" y="275382"/>
                </a:lnTo>
                <a:lnTo>
                  <a:pt x="388822" y="320874"/>
                </a:lnTo>
                <a:lnTo>
                  <a:pt x="360850" y="365495"/>
                </a:lnTo>
                <a:lnTo>
                  <a:pt x="331465" y="409198"/>
                </a:lnTo>
                <a:lnTo>
                  <a:pt x="300696" y="451938"/>
                </a:lnTo>
                <a:lnTo>
                  <a:pt x="268576" y="493672"/>
                </a:lnTo>
                <a:lnTo>
                  <a:pt x="235137" y="534357"/>
                </a:lnTo>
                <a:lnTo>
                  <a:pt x="200413" y="573951"/>
                </a:lnTo>
                <a:lnTo>
                  <a:pt x="164441" y="612415"/>
                </a:lnTo>
                <a:lnTo>
                  <a:pt x="0" y="453616"/>
                </a:lnTo>
                <a:lnTo>
                  <a:pt x="30976" y="420495"/>
                </a:lnTo>
                <a:lnTo>
                  <a:pt x="60877" y="386399"/>
                </a:lnTo>
                <a:lnTo>
                  <a:pt x="89672" y="351365"/>
                </a:lnTo>
                <a:lnTo>
                  <a:pt x="117331" y="315427"/>
                </a:lnTo>
                <a:lnTo>
                  <a:pt x="143826" y="278623"/>
                </a:lnTo>
                <a:lnTo>
                  <a:pt x="169130" y="240990"/>
                </a:lnTo>
                <a:lnTo>
                  <a:pt x="193217" y="202567"/>
                </a:lnTo>
                <a:lnTo>
                  <a:pt x="216063" y="163393"/>
                </a:lnTo>
                <a:lnTo>
                  <a:pt x="237644" y="123508"/>
                </a:lnTo>
                <a:lnTo>
                  <a:pt x="257937" y="82953"/>
                </a:lnTo>
                <a:lnTo>
                  <a:pt x="276923" y="41770"/>
                </a:lnTo>
                <a:lnTo>
                  <a:pt x="294582" y="0"/>
                </a:lnTo>
                <a:close/>
              </a:path>
            </a:pathLst>
          </a:custGeom>
          <a:solidFill>
            <a:srgbClr val="E4D8F0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3177" y="4936119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62751" y="4916473"/>
            <a:ext cx="630185" cy="530524"/>
          </a:xfrm>
          <a:custGeom>
            <a:avLst/>
            <a:gdLst/>
            <a:ahLst/>
            <a:cxnLst/>
            <a:rect l="l" t="t" r="r" b="b"/>
            <a:pathLst>
              <a:path w="630185" h="530524">
                <a:moveTo>
                  <a:pt x="630185" y="158799"/>
                </a:moveTo>
                <a:lnTo>
                  <a:pt x="591282" y="197758"/>
                </a:lnTo>
                <a:lnTo>
                  <a:pt x="551098" y="235395"/>
                </a:lnTo>
                <a:lnTo>
                  <a:pt x="509677" y="271666"/>
                </a:lnTo>
                <a:lnTo>
                  <a:pt x="467067" y="306532"/>
                </a:lnTo>
                <a:lnTo>
                  <a:pt x="423314" y="339953"/>
                </a:lnTo>
                <a:lnTo>
                  <a:pt x="378468" y="371893"/>
                </a:lnTo>
                <a:lnTo>
                  <a:pt x="332579" y="402314"/>
                </a:lnTo>
                <a:lnTo>
                  <a:pt x="285698" y="431183"/>
                </a:lnTo>
                <a:lnTo>
                  <a:pt x="237878" y="458469"/>
                </a:lnTo>
                <a:lnTo>
                  <a:pt x="189172" y="484140"/>
                </a:lnTo>
                <a:lnTo>
                  <a:pt x="139634" y="508167"/>
                </a:lnTo>
                <a:lnTo>
                  <a:pt x="89321" y="530524"/>
                </a:lnTo>
                <a:lnTo>
                  <a:pt x="0" y="320097"/>
                </a:lnTo>
                <a:lnTo>
                  <a:pt x="43325" y="300845"/>
                </a:lnTo>
                <a:lnTo>
                  <a:pt x="85983" y="280155"/>
                </a:lnTo>
                <a:lnTo>
                  <a:pt x="127924" y="258049"/>
                </a:lnTo>
                <a:lnTo>
                  <a:pt x="169103" y="234553"/>
                </a:lnTo>
                <a:lnTo>
                  <a:pt x="209472" y="209694"/>
                </a:lnTo>
                <a:lnTo>
                  <a:pt x="248988" y="183497"/>
                </a:lnTo>
                <a:lnTo>
                  <a:pt x="287605" y="155994"/>
                </a:lnTo>
                <a:lnTo>
                  <a:pt x="325281" y="127215"/>
                </a:lnTo>
                <a:lnTo>
                  <a:pt x="361973" y="97191"/>
                </a:lnTo>
                <a:lnTo>
                  <a:pt x="397641" y="65958"/>
                </a:lnTo>
                <a:lnTo>
                  <a:pt x="432244" y="33548"/>
                </a:lnTo>
                <a:lnTo>
                  <a:pt x="465744" y="0"/>
                </a:lnTo>
                <a:close/>
              </a:path>
            </a:pathLst>
          </a:custGeom>
          <a:solidFill>
            <a:srgbClr val="FBE6CF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45468" y="549835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+ CAFE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823149" y="5236570"/>
            <a:ext cx="928923" cy="341019"/>
          </a:xfrm>
          <a:custGeom>
            <a:avLst/>
            <a:gdLst/>
            <a:ahLst/>
            <a:cxnLst/>
            <a:rect l="l" t="t" r="r" b="b"/>
            <a:pathLst>
              <a:path w="928923" h="341019">
                <a:moveTo>
                  <a:pt x="928923" y="210427"/>
                </a:moveTo>
                <a:lnTo>
                  <a:pt x="855492" y="239538"/>
                </a:lnTo>
                <a:lnTo>
                  <a:pt x="780749" y="265092"/>
                </a:lnTo>
                <a:lnTo>
                  <a:pt x="704865" y="287030"/>
                </a:lnTo>
                <a:lnTo>
                  <a:pt x="628017" y="305303"/>
                </a:lnTo>
                <a:lnTo>
                  <a:pt x="550380" y="319867"/>
                </a:lnTo>
                <a:lnTo>
                  <a:pt x="472134" y="330690"/>
                </a:lnTo>
                <a:lnTo>
                  <a:pt x="393459" y="337746"/>
                </a:lnTo>
                <a:lnTo>
                  <a:pt x="314536" y="341019"/>
                </a:lnTo>
                <a:lnTo>
                  <a:pt x="235547" y="340502"/>
                </a:lnTo>
                <a:lnTo>
                  <a:pt x="156674" y="336196"/>
                </a:lnTo>
                <a:lnTo>
                  <a:pt x="78098" y="328111"/>
                </a:lnTo>
                <a:lnTo>
                  <a:pt x="0" y="316265"/>
                </a:lnTo>
                <a:lnTo>
                  <a:pt x="39696" y="91138"/>
                </a:lnTo>
                <a:lnTo>
                  <a:pt x="106947" y="101339"/>
                </a:lnTo>
                <a:lnTo>
                  <a:pt x="174609" y="108301"/>
                </a:lnTo>
                <a:lnTo>
                  <a:pt x="242528" y="112009"/>
                </a:lnTo>
                <a:lnTo>
                  <a:pt x="310547" y="112454"/>
                </a:lnTo>
                <a:lnTo>
                  <a:pt x="378508" y="109635"/>
                </a:lnTo>
                <a:lnTo>
                  <a:pt x="446256" y="103559"/>
                </a:lnTo>
                <a:lnTo>
                  <a:pt x="513635" y="94240"/>
                </a:lnTo>
                <a:lnTo>
                  <a:pt x="580488" y="81698"/>
                </a:lnTo>
                <a:lnTo>
                  <a:pt x="646663" y="65964"/>
                </a:lnTo>
                <a:lnTo>
                  <a:pt x="712007" y="47072"/>
                </a:lnTo>
                <a:lnTo>
                  <a:pt x="776370" y="25067"/>
                </a:lnTo>
                <a:lnTo>
                  <a:pt x="839602" y="0"/>
                </a:lnTo>
                <a:close/>
              </a:path>
            </a:pathLst>
          </a:custGeom>
          <a:solidFill>
            <a:srgbClr val="F8DCC0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33769" y="5839229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EXHIBITION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744430" y="4724475"/>
            <a:ext cx="1118414" cy="828359"/>
          </a:xfrm>
          <a:custGeom>
            <a:avLst/>
            <a:gdLst/>
            <a:ahLst/>
            <a:cxnLst/>
            <a:rect l="l" t="t" r="r" b="b"/>
            <a:pathLst>
              <a:path w="1118414" h="828359">
                <a:moveTo>
                  <a:pt x="1078719" y="828359"/>
                </a:moveTo>
                <a:lnTo>
                  <a:pt x="970993" y="805625"/>
                </a:lnTo>
                <a:lnTo>
                  <a:pt x="865028" y="775740"/>
                </a:lnTo>
                <a:lnTo>
                  <a:pt x="761298" y="738838"/>
                </a:lnTo>
                <a:lnTo>
                  <a:pt x="660267" y="695083"/>
                </a:lnTo>
                <a:lnTo>
                  <a:pt x="562388" y="644672"/>
                </a:lnTo>
                <a:lnTo>
                  <a:pt x="468097" y="587829"/>
                </a:lnTo>
                <a:lnTo>
                  <a:pt x="377818" y="524811"/>
                </a:lnTo>
                <a:lnTo>
                  <a:pt x="291954" y="455897"/>
                </a:lnTo>
                <a:lnTo>
                  <a:pt x="210889" y="381398"/>
                </a:lnTo>
                <a:lnTo>
                  <a:pt x="134986" y="301646"/>
                </a:lnTo>
                <a:lnTo>
                  <a:pt x="64585" y="216997"/>
                </a:lnTo>
                <a:lnTo>
                  <a:pt x="0" y="127831"/>
                </a:lnTo>
                <a:lnTo>
                  <a:pt x="189518" y="0"/>
                </a:lnTo>
                <a:lnTo>
                  <a:pt x="245133" y="76782"/>
                </a:lnTo>
                <a:lnTo>
                  <a:pt x="305756" y="149673"/>
                </a:lnTo>
                <a:lnTo>
                  <a:pt x="371117" y="218349"/>
                </a:lnTo>
                <a:lnTo>
                  <a:pt x="440923" y="282501"/>
                </a:lnTo>
                <a:lnTo>
                  <a:pt x="514861" y="341843"/>
                </a:lnTo>
                <a:lnTo>
                  <a:pt x="592602" y="396109"/>
                </a:lnTo>
                <a:lnTo>
                  <a:pt x="673796" y="445057"/>
                </a:lnTo>
                <a:lnTo>
                  <a:pt x="758081" y="488466"/>
                </a:lnTo>
                <a:lnTo>
                  <a:pt x="845080" y="526144"/>
                </a:lnTo>
                <a:lnTo>
                  <a:pt x="934403" y="557921"/>
                </a:lnTo>
                <a:lnTo>
                  <a:pt x="1025651" y="583656"/>
                </a:lnTo>
                <a:lnTo>
                  <a:pt x="1118414" y="603232"/>
                </a:lnTo>
                <a:close/>
              </a:path>
            </a:pathLst>
          </a:custGeom>
          <a:solidFill>
            <a:srgbClr val="F8DCC0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10401" y="5527617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AUDITORIUM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511931" y="4274801"/>
            <a:ext cx="422018" cy="577506"/>
          </a:xfrm>
          <a:custGeom>
            <a:avLst/>
            <a:gdLst/>
            <a:ahLst/>
            <a:cxnLst/>
            <a:rect l="l" t="t" r="r" b="b"/>
            <a:pathLst>
              <a:path w="422018" h="577506">
                <a:moveTo>
                  <a:pt x="232500" y="577506"/>
                </a:moveTo>
                <a:lnTo>
                  <a:pt x="206308" y="537430"/>
                </a:lnTo>
                <a:lnTo>
                  <a:pt x="181292" y="496609"/>
                </a:lnTo>
                <a:lnTo>
                  <a:pt x="157475" y="455077"/>
                </a:lnTo>
                <a:lnTo>
                  <a:pt x="134876" y="412871"/>
                </a:lnTo>
                <a:lnTo>
                  <a:pt x="113513" y="370024"/>
                </a:lnTo>
                <a:lnTo>
                  <a:pt x="93406" y="326575"/>
                </a:lnTo>
                <a:lnTo>
                  <a:pt x="74572" y="282560"/>
                </a:lnTo>
                <a:lnTo>
                  <a:pt x="57025" y="238015"/>
                </a:lnTo>
                <a:lnTo>
                  <a:pt x="40781" y="192978"/>
                </a:lnTo>
                <a:lnTo>
                  <a:pt x="25854" y="147489"/>
                </a:lnTo>
                <a:lnTo>
                  <a:pt x="12257" y="101584"/>
                </a:lnTo>
                <a:lnTo>
                  <a:pt x="0" y="55303"/>
                </a:lnTo>
                <a:lnTo>
                  <a:pt x="221810" y="0"/>
                </a:lnTo>
                <a:lnTo>
                  <a:pt x="232364" y="39853"/>
                </a:lnTo>
                <a:lnTo>
                  <a:pt x="244073" y="79382"/>
                </a:lnTo>
                <a:lnTo>
                  <a:pt x="256927" y="118554"/>
                </a:lnTo>
                <a:lnTo>
                  <a:pt x="270914" y="157335"/>
                </a:lnTo>
                <a:lnTo>
                  <a:pt x="286024" y="195693"/>
                </a:lnTo>
                <a:lnTo>
                  <a:pt x="302243" y="233595"/>
                </a:lnTo>
                <a:lnTo>
                  <a:pt x="319557" y="271010"/>
                </a:lnTo>
                <a:lnTo>
                  <a:pt x="337953" y="307905"/>
                </a:lnTo>
                <a:lnTo>
                  <a:pt x="357413" y="344250"/>
                </a:lnTo>
                <a:lnTo>
                  <a:pt x="377923" y="380013"/>
                </a:lnTo>
                <a:lnTo>
                  <a:pt x="399463" y="415164"/>
                </a:lnTo>
                <a:lnTo>
                  <a:pt x="422018" y="449675"/>
                </a:lnTo>
                <a:close/>
              </a:path>
            </a:pathLst>
          </a:custGeom>
          <a:solidFill>
            <a:srgbClr val="FBE2C6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279" y="46587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526800" y="2465395"/>
            <a:ext cx="938710" cy="1075859"/>
          </a:xfrm>
          <a:custGeom>
            <a:avLst/>
            <a:gdLst/>
            <a:ahLst/>
            <a:cxnLst/>
            <a:rect l="l" t="t" r="r" b="b"/>
            <a:pathLst>
              <a:path w="938710" h="1075859">
                <a:moveTo>
                  <a:pt x="0" y="1012848"/>
                </a:moveTo>
                <a:lnTo>
                  <a:pt x="34684" y="905838"/>
                </a:lnTo>
                <a:lnTo>
                  <a:pt x="76596" y="801446"/>
                </a:lnTo>
                <a:lnTo>
                  <a:pt x="125541" y="700161"/>
                </a:lnTo>
                <a:lnTo>
                  <a:pt x="181290" y="602456"/>
                </a:lnTo>
                <a:lnTo>
                  <a:pt x="243582" y="508787"/>
                </a:lnTo>
                <a:lnTo>
                  <a:pt x="312128" y="419592"/>
                </a:lnTo>
                <a:lnTo>
                  <a:pt x="386605" y="335287"/>
                </a:lnTo>
                <a:lnTo>
                  <a:pt x="466667" y="256266"/>
                </a:lnTo>
                <a:lnTo>
                  <a:pt x="551940" y="182898"/>
                </a:lnTo>
                <a:lnTo>
                  <a:pt x="642025" y="115526"/>
                </a:lnTo>
                <a:lnTo>
                  <a:pt x="736501" y="54465"/>
                </a:lnTo>
                <a:lnTo>
                  <a:pt x="834928" y="0"/>
                </a:lnTo>
                <a:lnTo>
                  <a:pt x="938710" y="203684"/>
                </a:lnTo>
                <a:lnTo>
                  <a:pt x="853954" y="250585"/>
                </a:lnTo>
                <a:lnTo>
                  <a:pt x="772599" y="303165"/>
                </a:lnTo>
                <a:lnTo>
                  <a:pt x="695026" y="361180"/>
                </a:lnTo>
                <a:lnTo>
                  <a:pt x="621597" y="424357"/>
                </a:lnTo>
                <a:lnTo>
                  <a:pt x="552654" y="492403"/>
                </a:lnTo>
                <a:lnTo>
                  <a:pt x="488521" y="564999"/>
                </a:lnTo>
                <a:lnTo>
                  <a:pt x="429496" y="641806"/>
                </a:lnTo>
                <a:lnTo>
                  <a:pt x="375855" y="722466"/>
                </a:lnTo>
                <a:lnTo>
                  <a:pt x="327849" y="806601"/>
                </a:lnTo>
                <a:lnTo>
                  <a:pt x="285702" y="893818"/>
                </a:lnTo>
                <a:lnTo>
                  <a:pt x="249611" y="983711"/>
                </a:lnTo>
                <a:lnTo>
                  <a:pt x="219744" y="1075859"/>
                </a:lnTo>
                <a:close/>
              </a:path>
            </a:pathLst>
          </a:custGeom>
          <a:solidFill>
            <a:srgbClr val="F8EEB0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3778" y="256089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361728" y="2298268"/>
            <a:ext cx="574504" cy="370810"/>
          </a:xfrm>
          <a:custGeom>
            <a:avLst/>
            <a:gdLst/>
            <a:ahLst/>
            <a:cxnLst/>
            <a:rect l="l" t="t" r="r" b="b"/>
            <a:pathLst>
              <a:path w="574504" h="370810">
                <a:moveTo>
                  <a:pt x="0" y="167126"/>
                </a:moveTo>
                <a:lnTo>
                  <a:pt x="42970" y="146013"/>
                </a:lnTo>
                <a:lnTo>
                  <a:pt x="86535" y="126160"/>
                </a:lnTo>
                <a:lnTo>
                  <a:pt x="130660" y="107581"/>
                </a:lnTo>
                <a:lnTo>
                  <a:pt x="175306" y="90294"/>
                </a:lnTo>
                <a:lnTo>
                  <a:pt x="220436" y="74312"/>
                </a:lnTo>
                <a:lnTo>
                  <a:pt x="266012" y="59650"/>
                </a:lnTo>
                <a:lnTo>
                  <a:pt x="311995" y="46320"/>
                </a:lnTo>
                <a:lnTo>
                  <a:pt x="358346" y="34333"/>
                </a:lnTo>
                <a:lnTo>
                  <a:pt x="405026" y="23699"/>
                </a:lnTo>
                <a:lnTo>
                  <a:pt x="451996" y="14427"/>
                </a:lnTo>
                <a:lnTo>
                  <a:pt x="499215" y="6525"/>
                </a:lnTo>
                <a:lnTo>
                  <a:pt x="546645" y="0"/>
                </a:lnTo>
                <a:lnTo>
                  <a:pt x="574504" y="226896"/>
                </a:lnTo>
                <a:lnTo>
                  <a:pt x="533662" y="232515"/>
                </a:lnTo>
                <a:lnTo>
                  <a:pt x="493001" y="239319"/>
                </a:lnTo>
                <a:lnTo>
                  <a:pt x="452555" y="247303"/>
                </a:lnTo>
                <a:lnTo>
                  <a:pt x="412358" y="256461"/>
                </a:lnTo>
                <a:lnTo>
                  <a:pt x="372444" y="266783"/>
                </a:lnTo>
                <a:lnTo>
                  <a:pt x="332848" y="278262"/>
                </a:lnTo>
                <a:lnTo>
                  <a:pt x="293602" y="290887"/>
                </a:lnTo>
                <a:lnTo>
                  <a:pt x="254740" y="304649"/>
                </a:lnTo>
                <a:lnTo>
                  <a:pt x="216295" y="319535"/>
                </a:lnTo>
                <a:lnTo>
                  <a:pt x="178299" y="335533"/>
                </a:lnTo>
                <a:lnTo>
                  <a:pt x="140784" y="352630"/>
                </a:lnTo>
                <a:lnTo>
                  <a:pt x="103782" y="370810"/>
                </a:lnTo>
                <a:close/>
              </a:path>
            </a:pathLst>
          </a:custGeom>
          <a:solidFill>
            <a:srgbClr val="D8D8E0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17882" y="191670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908373" y="2286141"/>
            <a:ext cx="709204" cy="297828"/>
          </a:xfrm>
          <a:custGeom>
            <a:avLst/>
            <a:gdLst/>
            <a:ahLst/>
            <a:cxnLst/>
            <a:rect l="l" t="t" r="r" b="b"/>
            <a:pathLst>
              <a:path w="709204" h="297828">
                <a:moveTo>
                  <a:pt x="0" y="12127"/>
                </a:moveTo>
                <a:lnTo>
                  <a:pt x="59521" y="5915"/>
                </a:lnTo>
                <a:lnTo>
                  <a:pt x="119228" y="1871"/>
                </a:lnTo>
                <a:lnTo>
                  <a:pt x="179043" y="0"/>
                </a:lnTo>
                <a:lnTo>
                  <a:pt x="238886" y="305"/>
                </a:lnTo>
                <a:lnTo>
                  <a:pt x="298679" y="2785"/>
                </a:lnTo>
                <a:lnTo>
                  <a:pt x="358342" y="7436"/>
                </a:lnTo>
                <a:lnTo>
                  <a:pt x="417796" y="14254"/>
                </a:lnTo>
                <a:lnTo>
                  <a:pt x="476963" y="23229"/>
                </a:lnTo>
                <a:lnTo>
                  <a:pt x="535765" y="34348"/>
                </a:lnTo>
                <a:lnTo>
                  <a:pt x="594124" y="47598"/>
                </a:lnTo>
                <a:lnTo>
                  <a:pt x="651963" y="62961"/>
                </a:lnTo>
                <a:lnTo>
                  <a:pt x="709204" y="80416"/>
                </a:lnTo>
                <a:lnTo>
                  <a:pt x="638563" y="297828"/>
                </a:lnTo>
                <a:lnTo>
                  <a:pt x="589272" y="282797"/>
                </a:lnTo>
                <a:lnTo>
                  <a:pt x="539466" y="269568"/>
                </a:lnTo>
                <a:lnTo>
                  <a:pt x="489213" y="258158"/>
                </a:lnTo>
                <a:lnTo>
                  <a:pt x="438578" y="248583"/>
                </a:lnTo>
                <a:lnTo>
                  <a:pt x="387628" y="240855"/>
                </a:lnTo>
                <a:lnTo>
                  <a:pt x="336431" y="234984"/>
                </a:lnTo>
                <a:lnTo>
                  <a:pt x="285055" y="230978"/>
                </a:lnTo>
                <a:lnTo>
                  <a:pt x="233567" y="228843"/>
                </a:lnTo>
                <a:lnTo>
                  <a:pt x="182035" y="228580"/>
                </a:lnTo>
                <a:lnTo>
                  <a:pt x="130528" y="230192"/>
                </a:lnTo>
                <a:lnTo>
                  <a:pt x="79113" y="233674"/>
                </a:lnTo>
                <a:lnTo>
                  <a:pt x="27859" y="239023"/>
                </a:lnTo>
                <a:close/>
              </a:path>
            </a:pathLst>
          </a:custGeom>
          <a:solidFill>
            <a:srgbClr val="F8EEB0"/>
          </a:solidFill>
          <a:ln w="15875">
            <a:solidFill>
              <a:srgbClr val="1B1B1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98851" y="183806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724640" y="4245976"/>
            <a:ext cx="224400" cy="43619"/>
          </a:xfrm>
          <a:custGeom>
            <a:avLst/>
            <a:gdLst/>
            <a:ahLst/>
            <a:cxnLst/>
            <a:rect l="l" t="t" r="r" b="b"/>
            <a:pathLst>
              <a:path w="224400" h="43619">
                <a:moveTo>
                  <a:pt x="0" y="0"/>
                </a:moveTo>
                <a:lnTo>
                  <a:pt x="224400" y="43619"/>
                </a:lnTo>
              </a:path>
            </a:pathLst>
          </a:custGeom>
          <a:ln w="88900">
            <a:solidFill>
              <a:srgbClr val="1B1B1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40537" y="4899368"/>
            <a:ext cx="184941" cy="134368"/>
          </a:xfrm>
          <a:custGeom>
            <a:avLst/>
            <a:gdLst/>
            <a:ahLst/>
            <a:cxnLst/>
            <a:rect l="l" t="t" r="r" b="b"/>
            <a:pathLst>
              <a:path w="184941" h="134368">
                <a:moveTo>
                  <a:pt x="0" y="0"/>
                </a:moveTo>
                <a:lnTo>
                  <a:pt x="184941" y="134368"/>
                </a:lnTo>
              </a:path>
            </a:pathLst>
          </a:custGeom>
          <a:ln w="88900">
            <a:solidFill>
              <a:srgbClr val="1B1B1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07144" y="5528949"/>
            <a:ext cx="55303" cy="221810"/>
          </a:xfrm>
          <a:custGeom>
            <a:avLst/>
            <a:gdLst/>
            <a:ahLst/>
            <a:cxnLst/>
            <a:rect l="l" t="t" r="r" b="b"/>
            <a:pathLst>
              <a:path w="55303" h="221810">
                <a:moveTo>
                  <a:pt x="0" y="0"/>
                </a:moveTo>
                <a:lnTo>
                  <a:pt x="55303" y="221810"/>
                </a:lnTo>
              </a:path>
            </a:pathLst>
          </a:custGeom>
          <a:ln w="88900">
            <a:solidFill>
              <a:srgbClr val="1B1B1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31920" y="1874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bank: gallery as boardwalk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389120" y="5394960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60" h="822960">
                <a:moveTo>
                  <a:pt x="822960" y="822960"/>
                </a:moveTo>
                <a:lnTo>
                  <a:pt x="0" y="0"/>
                </a:lnTo>
              </a:path>
            </a:pathLst>
          </a:custGeom>
          <a:ln w="25400">
            <a:solidFill>
              <a:srgbClr val="C4262E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937760" y="62179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 · ENTRANCE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0" y="128016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BUILDING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program sits in a single ring at the foot of Shimla Pahari, following the surveyed +8' contour — so the form comes from the hill, not from boxes.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2304288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PUBLIC GALLERY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12 ft colonnaded gallery runs the full loop on the hill side. Every room opens onto it, so anyone can walk from the cafe to the library, archive, newsroom and back.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675120" y="3328416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CHAINS OF RELATED ROOMS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Knowledge: library → archive consultation → archive stores → research.  Production: research → (boardwalk) → newsroom → editorial → recording → editing → print.  Public: forum → entry hall + cafe → bookshop → exhibition → press conference → auditorium → workshops.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675120" y="4352544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HILL IS SHARED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stairs climb from the gallery to the open summit forum. The auditorium's seats rake up the existing slope (+8' → +16'), with the stage on the gallery line — no cutting.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675120" y="537667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ARMS REACH THE CITY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conference, games and print push out from the ring toward Davis Road and frame the entry forum, the protest edge.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OUND FLOOR PLAN — THE RING (whole sit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6647457" cy="6492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182880"/>
            <a:ext cx="6647457" cy="64922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098280" y="274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FLOOR PLAN — THE RING (whole site)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9098280" y="1554480"/>
            <a:ext cx="350784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449064" y="1554480"/>
            <a:ext cx="350784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799848" y="1554480"/>
            <a:ext cx="350784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50632" y="1554480"/>
            <a:ext cx="350784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9266184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9616968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9967752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10318536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650" dirty="0"/>
          </a:p>
        </p:txBody>
      </p:sp>
      <p:sp>
        <p:nvSpPr>
          <p:cNvPr id="14" name="Text 11"/>
          <p:cNvSpPr txBox="1"/>
          <p:nvPr/>
        </p:nvSpPr>
        <p:spPr>
          <a:xfrm>
            <a:off x="9098280" y="18470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 · north not shown on survey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21945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walls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one continuous building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columns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gallery colonnade (hill side)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doors; every room opens to the gallery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three climbs to the summit forum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FFL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floor level above entrance ±0'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9098280" y="5760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Shimla Pahari survey. Ring follows the surveyed +8' contour; no regrading. Old Press Club removed. Sizes, rooms, furniture and the service entry are design proposals.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LARGED — SOUTH: forum · entry hall · exhibition · press conference · auditoriu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8595360" cy="62387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182880"/>
            <a:ext cx="8595360" cy="6238799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098280" y="274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ENLARGED — SOUTH: forum · entry hall · exhibition · press conference · auditorium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9098280" y="1554480"/>
            <a:ext cx="371541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469821" y="1554480"/>
            <a:ext cx="371541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841363" y="1554480"/>
            <a:ext cx="371541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212904" y="1554480"/>
            <a:ext cx="371541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9286941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9658483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10030024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10401565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650" dirty="0"/>
          </a:p>
        </p:txBody>
      </p:sp>
      <p:sp>
        <p:nvSpPr>
          <p:cNvPr id="14" name="Text 11"/>
          <p:cNvSpPr txBox="1"/>
          <p:nvPr/>
        </p:nvSpPr>
        <p:spPr>
          <a:xfrm>
            <a:off x="9098280" y="18470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 · north not shown on survey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21945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walls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one continuous building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columns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gallery colonnade (hill side)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doors; every room opens to the gallery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three climbs to the summit forum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FFL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floor level above entrance ±0'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9098280" y="5760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Shimla Pahari survey. Ring follows the surveyed +8' contour; no regrading. Old Press Club removed. Sizes, rooms, furniture and the service entry are design proposals.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LARGED — SOUTH-EAST: press club · games · media + editorial · print + adm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6385810" cy="6492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182880"/>
            <a:ext cx="6385810" cy="6492240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098280" y="274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ENLARGED — SOUTH-EAST: press club · games · media + editorial · print + admin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9098280" y="1554480"/>
            <a:ext cx="285233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83513" y="1554480"/>
            <a:ext cx="285233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68746" y="1554480"/>
            <a:ext cx="285233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953979" y="1554480"/>
            <a:ext cx="285233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9200633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9485866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9771099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10056331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650" dirty="0"/>
          </a:p>
        </p:txBody>
      </p:sp>
      <p:sp>
        <p:nvSpPr>
          <p:cNvPr id="14" name="Text 11"/>
          <p:cNvSpPr txBox="1"/>
          <p:nvPr/>
        </p:nvSpPr>
        <p:spPr>
          <a:xfrm>
            <a:off x="9098280" y="18470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 · north not shown on survey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21945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walls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one continuous building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columns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gallery colonnade (hill side)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doors; every room opens to the gallery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three climbs to the summit forum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FFL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floor level above entrance ±0'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9098280" y="5760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Shimla Pahari survey. Ring follows the surveyed +8' contour; no regrading. Old Press Club removed. Sizes, rooms, furniture and the service entry are design proposals.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LARGED — NORTH: library · archive · re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8595360" cy="64489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182880"/>
            <a:ext cx="8595360" cy="6448908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098280" y="274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ENLARGED — NORTH: library · archive · research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9098280" y="1554480"/>
            <a:ext cx="338758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437038" y="1554480"/>
            <a:ext cx="33875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775797" y="1554480"/>
            <a:ext cx="338758" cy="64008"/>
          </a:xfrm>
          <a:prstGeom prst="rect">
            <a:avLst/>
          </a:prstGeom>
          <a:solidFill>
            <a:srgbClr val="1B1B1B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14555" y="1554480"/>
            <a:ext cx="33875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1B1B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9254158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9592917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9931675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10270433" y="16642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650" dirty="0"/>
          </a:p>
        </p:txBody>
      </p:sp>
      <p:sp>
        <p:nvSpPr>
          <p:cNvPr id="14" name="Text 11"/>
          <p:cNvSpPr txBox="1"/>
          <p:nvPr/>
        </p:nvSpPr>
        <p:spPr>
          <a:xfrm>
            <a:off x="9098280" y="18470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 · north not shown on survey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21945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walls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one continuous building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columns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gallery colonnade (hill side)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doors; every room opens to the gallery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three climbs to the summit forum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FFL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floor level above entrance ±0'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9098280" y="5760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Shimla Pahari survey. Ring follows the surveyed +8' contour; no regrading. Old Press Club removed. Sizes, rooms, furniture and the service entry are design proposals.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Ring: Ground Floor Plan</dc:title>
  <dc:subject>PptxGenJS Presentation</dc:subject>
  <dc:creator>PptxGenJS</dc:creator>
  <cp:lastModifiedBy>PptxGenJS</cp:lastModifiedBy>
  <cp:revision>1</cp:revision>
  <dcterms:created xsi:type="dcterms:W3CDTF">2026-09-22T21:36:27Z</dcterms:created>
  <dcterms:modified xsi:type="dcterms:W3CDTF">2026-09-22T21:36:27Z</dcterms:modified>
</cp:coreProperties>
</file>