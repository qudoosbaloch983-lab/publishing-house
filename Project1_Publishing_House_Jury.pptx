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contemporary publishing house on Shimla Pahari at the Lahore Press Club: an integrated complex where researchers, journalists, writers, academics, artists, intellectuals, civic organisations and the general public produce, communicate and negotiate public knowledge.
WHY: The handout starts from the question "who decides what is accepted as truth?" Control of information is tied to power (who produces it, who can reach it, whose version is given authority). Space is not neutral (Lefebvre): the arrangement of institutions and streets decides visibility, access and exclusion. In Pakistan, PTV once shaped national narratives; today media is fragmented.
CORE DIAGRAM: knowledge is produced, recorded, published (the handout: "to publish is to mediate"), questioned and negotiated; architecture frames the whole cycle. The institution sits between citizen and state; the handout asks me to define that relationship through a personal position.
DESIGN BRIEF (handout): must include research/studio areas, public library + reading room, archive, media + recording, publishing infrastructure; formal + informal environments for debate; may include exhibition, forums, auditoriums, workshops, education. Topography must not be altered.
VISION (my interpretation): a shared civic institution where citizens take part in producing and questioning knowledge alongside professionals.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SITE (all from the handout): Lahore Press Club on Shimla Pahari; approx. 136,530 sq ft / 3.134 acres; a contoured site whose topography must not be altered. The site deliberately includes the Press Club, Shimla Pahari and the immediate public/protest interface. Shimla Pahari was originally a large artificial mound associated with a brick kiln; the Press Club was later built on part of the hill. Davis Road has historically been associated with media activity; surrounding roads lead to the Punjab Assembly, Railway Station and Canal Bank. The handout's own diagram: hill = landmark, project = amplifier, road = audience, to publish is to mediate, city = distribution network.
USERS (named in the handout): researchers, academics, journalists, media practitioners, writers, artists, intellectuals, civic organisations, communities, public representatives, the general public. The state and public bodies "may" be engaged; that relationship is left to my position. The grouping into researches / produces / publishes / reads / discusses / participates is my interpretation.
PRECEDENTS (my selection): Oodi (ALA, 2018) for grading activities from busy to quiet and facing Parliament across a square; Sendai Mediatheque (Toyo Ito, 2001) for mixing library, media and gallery in one open system; Centre Pompidou (Piano + Rogers, 1977) for the public piazza as part of the institution, relevant to the protest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 (handout): the design must include research and studio areas, a public library and reading room, archive facilities, media and recording spaces, and publishing infrastructure (filled bubbles). To support debate it should integrate formal and informal environments, which may include exhibition spaces, public forums, auditoriums, workshops and educational spaces (outlined bubbles). The program is open-ended and can be expanded. No areas are given in the handout; areas will be set in design development.
RELATIONSHIPS (my reading): research-archive-library form a knowledge chain; media-publishing-workshops form a production chain; forum, exhibition, auditorium and media face the public/protest interface.
ACCESS (my interpretation, not stated in the handout): public, semi-public, working and protected levels, based on the handout's question of who has access and who is excluded.
PROCESS: issue &gt; brief &gt; vision &gt; users &gt; program &gt; spatial relationships &gt; design drivers &gt; concept (next stage).
DESIGN DRIVERS: unaltered topography (handout), the protest edge (handout site), visible/hidden (handout), degrees of access, protecting and sharing the archive, meeting across user groups, formal + informal debate (handout), links to the city and state (handout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9144000" cy="182880"/>
          </a:xfrm>
          <a:prstGeom prst="rect">
            <a:avLst/>
          </a:prstGeom>
          <a:noFill/>
          <a:ln/>
        </p:spPr>
        <p:txBody>
          <a:bodyPr wrap="square" lIns="0" tIns="0" rIns="0" bIns="0" rtlCol="0" anchor="t"/>
          <a:lstStyle/>
          <a:p>
            <a:pPr indent="0" marL="0">
              <a:buNone/>
            </a:pPr>
            <a:r>
              <a:rPr lang="en-US" sz="850" spc="100" kern="0" dirty="0">
                <a:solidFill>
                  <a:srgbClr val="6B6B6B"/>
                </a:solidFill>
                <a:latin typeface="Arial" pitchFamily="34" charset="0"/>
                <a:ea typeface="Arial" pitchFamily="34" charset="-122"/>
                <a:cs typeface="Arial" pitchFamily="34" charset="-120"/>
              </a:rPr>
              <a:t>SITES OF REPRESENTATION  ·  THE CONTEMPORARY PUBLISHING HOUSE  ·  ARCH 4201 · SEMESTER 8 · PROJECT 01</a:t>
            </a:r>
            <a:endParaRPr lang="en-US" sz="850" dirty="0"/>
          </a:p>
        </p:txBody>
      </p:sp>
      <p:sp>
        <p:nvSpPr>
          <p:cNvPr id="3" name="Text 1"/>
          <p:cNvSpPr txBox="1"/>
          <p:nvPr/>
        </p:nvSpPr>
        <p:spPr>
          <a:xfrm>
            <a:off x="457200" y="457200"/>
            <a:ext cx="9601200" cy="502920"/>
          </a:xfrm>
          <a:prstGeom prst="rect">
            <a:avLst/>
          </a:prstGeom>
          <a:noFill/>
          <a:ln/>
        </p:spPr>
        <p:txBody>
          <a:bodyPr wrap="square" lIns="0" tIns="0" rIns="0" bIns="0" rtlCol="0" anchor="t"/>
          <a:lstStyle/>
          <a:p>
            <a:pPr indent="0" marL="0">
              <a:buNone/>
            </a:pPr>
            <a:r>
              <a:rPr lang="en-US" sz="2600" b="1" dirty="0">
                <a:solidFill>
                  <a:srgbClr val="1B1B1B"/>
                </a:solidFill>
                <a:latin typeface="Arial" pitchFamily="34" charset="0"/>
                <a:ea typeface="Arial" pitchFamily="34" charset="-122"/>
                <a:cs typeface="Arial" pitchFamily="34" charset="-120"/>
              </a:rPr>
              <a:t>WHAT IS THE PROJECT?</a:t>
            </a:r>
            <a:endParaRPr lang="en-US" sz="2600" dirty="0"/>
          </a:p>
        </p:txBody>
      </p:sp>
      <p:sp>
        <p:nvSpPr>
          <p:cNvPr id="4" name="Text 2"/>
          <p:cNvSpPr txBox="1"/>
          <p:nvPr/>
        </p:nvSpPr>
        <p:spPr>
          <a:xfrm>
            <a:off x="457200" y="978408"/>
            <a:ext cx="9601200" cy="22860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What?  ·  Why?  ·  Vision   —   Lahore Press Club, Shimla Pahari</a:t>
            </a:r>
            <a:endParaRPr lang="en-US" sz="1050" dirty="0"/>
          </a:p>
        </p:txBody>
      </p:sp>
      <p:sp>
        <p:nvSpPr>
          <p:cNvPr id="5" name="Text 3"/>
          <p:cNvSpPr txBox="1"/>
          <p:nvPr/>
        </p:nvSpPr>
        <p:spPr>
          <a:xfrm>
            <a:off x="10360152" y="320040"/>
            <a:ext cx="1371600" cy="822960"/>
          </a:xfrm>
          <a:prstGeom prst="rect">
            <a:avLst/>
          </a:prstGeom>
          <a:noFill/>
          <a:ln/>
        </p:spPr>
        <p:txBody>
          <a:bodyPr wrap="square" lIns="0" tIns="0" rIns="0" bIns="0" rtlCol="0" anchor="t"/>
          <a:lstStyle/>
          <a:p>
            <a:pPr algn="r" indent="0" marL="0">
              <a:buNone/>
            </a:pPr>
            <a:r>
              <a:rPr lang="en-US" sz="4800" b="1" dirty="0">
                <a:solidFill>
                  <a:srgbClr val="C4262E"/>
                </a:solidFill>
                <a:latin typeface="Arial" pitchFamily="34" charset="0"/>
                <a:ea typeface="Arial" pitchFamily="34" charset="-122"/>
                <a:cs typeface="Arial" pitchFamily="34" charset="-120"/>
              </a:rPr>
              <a:t>01</a:t>
            </a:r>
            <a:endParaRPr lang="en-US" sz="4800" dirty="0"/>
          </a:p>
        </p:txBody>
      </p:sp>
      <p:sp>
        <p:nvSpPr>
          <p:cNvPr id="6" name="Shape 4"/>
          <p:cNvSpPr/>
          <p:nvPr/>
        </p:nvSpPr>
        <p:spPr>
          <a:xfrm>
            <a:off x="457200" y="1472184"/>
            <a:ext cx="219456" cy="219456"/>
          </a:xfrm>
          <a:prstGeom prst="ellipse">
            <a:avLst/>
          </a:prstGeom>
          <a:solidFill>
            <a:srgbClr val="C4262E"/>
          </a:solidFill>
          <a:ln w="12700">
            <a:solidFill>
              <a:srgbClr val="C4262E"/>
            </a:solidFill>
            <a:prstDash val="solid"/>
          </a:ln>
        </p:spPr>
      </p:sp>
      <p:sp>
        <p:nvSpPr>
          <p:cNvPr id="7" name="Text 5"/>
          <p:cNvSpPr txBox="1"/>
          <p:nvPr/>
        </p:nvSpPr>
        <p:spPr>
          <a:xfrm>
            <a:off x="457200" y="147218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a:t>
            </a:r>
            <a:endParaRPr lang="en-US" sz="900" dirty="0"/>
          </a:p>
        </p:txBody>
      </p:sp>
      <p:sp>
        <p:nvSpPr>
          <p:cNvPr id="8" name="Text 6"/>
          <p:cNvSpPr txBox="1"/>
          <p:nvPr/>
        </p:nvSpPr>
        <p:spPr>
          <a:xfrm>
            <a:off x="758952" y="1463040"/>
            <a:ext cx="3081528" cy="237744"/>
          </a:xfrm>
          <a:prstGeom prst="rect">
            <a:avLst/>
          </a:prstGeom>
          <a:noFill/>
          <a:ln/>
        </p:spPr>
        <p:txBody>
          <a:bodyPr wrap="square" lIns="0" tIns="0" rIns="0" bIns="0" rtlCol="0" anchor="ctr"/>
          <a:lstStyle/>
          <a:p>
            <a:pPr indent="0" marL="0">
              <a:buNone/>
            </a:pPr>
            <a:r>
              <a:rPr lang="en-US" sz="1100" b="1" spc="100" kern="0" dirty="0">
                <a:solidFill>
                  <a:srgbClr val="1B1B1B"/>
                </a:solidFill>
                <a:latin typeface="Arial" pitchFamily="34" charset="0"/>
                <a:ea typeface="Arial" pitchFamily="34" charset="-122"/>
                <a:cs typeface="Arial" pitchFamily="34" charset="-120"/>
              </a:rPr>
              <a:t>WHY?  THE ISSUE</a:t>
            </a:r>
            <a:endParaRPr lang="en-US" sz="1100" dirty="0"/>
          </a:p>
        </p:txBody>
      </p:sp>
      <p:sp>
        <p:nvSpPr>
          <p:cNvPr id="9" name="Text 7"/>
          <p:cNvSpPr txBox="1"/>
          <p:nvPr/>
        </p:nvSpPr>
        <p:spPr>
          <a:xfrm>
            <a:off x="457200" y="1828800"/>
            <a:ext cx="3291840" cy="868680"/>
          </a:xfrm>
          <a:prstGeom prst="rect">
            <a:avLst/>
          </a:prstGeom>
          <a:noFill/>
          <a:ln/>
        </p:spPr>
        <p:txBody>
          <a:bodyPr wrap="square" lIns="0" tIns="0" rIns="0" bIns="0" rtlCol="0" anchor="t"/>
          <a:lstStyle/>
          <a:p>
            <a:pPr indent="0" marL="0">
              <a:buNone/>
            </a:pPr>
            <a:r>
              <a:rPr lang="en-US" sz="2100" b="1" dirty="0">
                <a:solidFill>
                  <a:srgbClr val="C4262E"/>
                </a:solidFill>
                <a:latin typeface="Arial" pitchFamily="34" charset="0"/>
                <a:ea typeface="Arial" pitchFamily="34" charset="-122"/>
                <a:cs typeface="Arial" pitchFamily="34" charset="-120"/>
              </a:rPr>
              <a:t>Who decides what is accepted as truth?</a:t>
            </a:r>
            <a:endParaRPr lang="en-US" sz="2100" dirty="0"/>
          </a:p>
        </p:txBody>
      </p:sp>
      <p:sp>
        <p:nvSpPr>
          <p:cNvPr id="10" name="Text 8"/>
          <p:cNvSpPr txBox="1"/>
          <p:nvPr/>
        </p:nvSpPr>
        <p:spPr>
          <a:xfrm>
            <a:off x="457200" y="2834640"/>
            <a:ext cx="365760" cy="274320"/>
          </a:xfrm>
          <a:prstGeom prst="rect">
            <a:avLst/>
          </a:prstGeom>
          <a:noFill/>
          <a:ln/>
        </p:spPr>
        <p:txBody>
          <a:bodyPr wrap="square" lIns="0" tIns="0" rIns="0" bIns="0" rtlCol="0" anchor="t"/>
          <a:lstStyle/>
          <a:p>
            <a:pPr indent="0" marL="0">
              <a:buNone/>
            </a:pPr>
            <a:r>
              <a:rPr lang="en-US" sz="1400" b="1" dirty="0">
                <a:solidFill>
                  <a:srgbClr val="D9D9D9"/>
                </a:solidFill>
                <a:latin typeface="Arial" pitchFamily="34" charset="0"/>
                <a:ea typeface="Arial" pitchFamily="34" charset="-122"/>
                <a:cs typeface="Arial" pitchFamily="34" charset="-120"/>
              </a:rPr>
              <a:t>01</a:t>
            </a:r>
            <a:endParaRPr lang="en-US" sz="1400" dirty="0"/>
          </a:p>
        </p:txBody>
      </p:sp>
      <p:sp>
        <p:nvSpPr>
          <p:cNvPr id="11" name="Text 9"/>
          <p:cNvSpPr txBox="1"/>
          <p:nvPr/>
        </p:nvSpPr>
        <p:spPr>
          <a:xfrm>
            <a:off x="868680" y="2852928"/>
            <a:ext cx="2926080" cy="201168"/>
          </a:xfrm>
          <a:prstGeom prst="rect">
            <a:avLst/>
          </a:prstGeom>
          <a:noFill/>
          <a:ln/>
        </p:spPr>
        <p:txBody>
          <a:bodyPr wrap="square" lIns="0" tIns="0" rIns="0" bIns="0" rtlCol="0" anchor="t"/>
          <a:lstStyle/>
          <a:p>
            <a:pPr indent="0" marL="0">
              <a:buNone/>
            </a:pPr>
            <a:r>
              <a:rPr lang="en-US" sz="950" b="1" dirty="0">
                <a:solidFill>
                  <a:srgbClr val="1B1B1B"/>
                </a:solidFill>
                <a:latin typeface="Arial" pitchFamily="34" charset="0"/>
                <a:ea typeface="Arial" pitchFamily="34" charset="-122"/>
                <a:cs typeface="Arial" pitchFamily="34" charset="-120"/>
              </a:rPr>
              <a:t>INFORMATION = POWER</a:t>
            </a:r>
            <a:endParaRPr lang="en-US" sz="950" dirty="0"/>
          </a:p>
        </p:txBody>
      </p:sp>
      <p:sp>
        <p:nvSpPr>
          <p:cNvPr id="12" name="Text 10"/>
          <p:cNvSpPr txBox="1"/>
          <p:nvPr/>
        </p:nvSpPr>
        <p:spPr>
          <a:xfrm>
            <a:off x="868680" y="3063240"/>
            <a:ext cx="2926080" cy="50292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Whoever controls how information is produced, reached and circulated decides whose version counts.</a:t>
            </a:r>
            <a:endParaRPr lang="en-US" sz="900" dirty="0"/>
          </a:p>
        </p:txBody>
      </p:sp>
      <p:sp>
        <p:nvSpPr>
          <p:cNvPr id="13" name="Text 11"/>
          <p:cNvSpPr txBox="1"/>
          <p:nvPr/>
        </p:nvSpPr>
        <p:spPr>
          <a:xfrm>
            <a:off x="457200" y="3621024"/>
            <a:ext cx="365760" cy="274320"/>
          </a:xfrm>
          <a:prstGeom prst="rect">
            <a:avLst/>
          </a:prstGeom>
          <a:noFill/>
          <a:ln/>
        </p:spPr>
        <p:txBody>
          <a:bodyPr wrap="square" lIns="0" tIns="0" rIns="0" bIns="0" rtlCol="0" anchor="t"/>
          <a:lstStyle/>
          <a:p>
            <a:pPr indent="0" marL="0">
              <a:buNone/>
            </a:pPr>
            <a:r>
              <a:rPr lang="en-US" sz="1400" b="1" dirty="0">
                <a:solidFill>
                  <a:srgbClr val="D9D9D9"/>
                </a:solidFill>
                <a:latin typeface="Arial" pitchFamily="34" charset="0"/>
                <a:ea typeface="Arial" pitchFamily="34" charset="-122"/>
                <a:cs typeface="Arial" pitchFamily="34" charset="-120"/>
              </a:rPr>
              <a:t>02</a:t>
            </a:r>
            <a:endParaRPr lang="en-US" sz="1400" dirty="0"/>
          </a:p>
        </p:txBody>
      </p:sp>
      <p:sp>
        <p:nvSpPr>
          <p:cNvPr id="14" name="Text 12"/>
          <p:cNvSpPr txBox="1"/>
          <p:nvPr/>
        </p:nvSpPr>
        <p:spPr>
          <a:xfrm>
            <a:off x="868680" y="3639312"/>
            <a:ext cx="2926080" cy="201168"/>
          </a:xfrm>
          <a:prstGeom prst="rect">
            <a:avLst/>
          </a:prstGeom>
          <a:noFill/>
          <a:ln/>
        </p:spPr>
        <p:txBody>
          <a:bodyPr wrap="square" lIns="0" tIns="0" rIns="0" bIns="0" rtlCol="0" anchor="t"/>
          <a:lstStyle/>
          <a:p>
            <a:pPr indent="0" marL="0">
              <a:buNone/>
            </a:pPr>
            <a:r>
              <a:rPr lang="en-US" sz="950" b="1" dirty="0">
                <a:solidFill>
                  <a:srgbClr val="1B1B1B"/>
                </a:solidFill>
                <a:latin typeface="Arial" pitchFamily="34" charset="0"/>
                <a:ea typeface="Arial" pitchFamily="34" charset="-122"/>
                <a:cs typeface="Arial" pitchFamily="34" charset="-120"/>
              </a:rPr>
              <a:t>SPACE IS NOT NEUTRAL</a:t>
            </a:r>
            <a:endParaRPr lang="en-US" sz="950" dirty="0"/>
          </a:p>
        </p:txBody>
      </p:sp>
      <p:sp>
        <p:nvSpPr>
          <p:cNvPr id="15" name="Text 13"/>
          <p:cNvSpPr txBox="1"/>
          <p:nvPr/>
        </p:nvSpPr>
        <p:spPr>
          <a:xfrm>
            <a:off x="868680" y="3849624"/>
            <a:ext cx="2926080" cy="50292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How institutions, streets and public spaces are arranged decides what is seen, what is hidden and who is left out.</a:t>
            </a:r>
            <a:endParaRPr lang="en-US" sz="900" dirty="0"/>
          </a:p>
        </p:txBody>
      </p:sp>
      <p:sp>
        <p:nvSpPr>
          <p:cNvPr id="16" name="Text 14"/>
          <p:cNvSpPr txBox="1"/>
          <p:nvPr/>
        </p:nvSpPr>
        <p:spPr>
          <a:xfrm>
            <a:off x="457200" y="4407408"/>
            <a:ext cx="365760" cy="274320"/>
          </a:xfrm>
          <a:prstGeom prst="rect">
            <a:avLst/>
          </a:prstGeom>
          <a:noFill/>
          <a:ln/>
        </p:spPr>
        <p:txBody>
          <a:bodyPr wrap="square" lIns="0" tIns="0" rIns="0" bIns="0" rtlCol="0" anchor="t"/>
          <a:lstStyle/>
          <a:p>
            <a:pPr indent="0" marL="0">
              <a:buNone/>
            </a:pPr>
            <a:r>
              <a:rPr lang="en-US" sz="1400" b="1" dirty="0">
                <a:solidFill>
                  <a:srgbClr val="D9D9D9"/>
                </a:solidFill>
                <a:latin typeface="Arial" pitchFamily="34" charset="0"/>
                <a:ea typeface="Arial" pitchFamily="34" charset="-122"/>
                <a:cs typeface="Arial" pitchFamily="34" charset="-120"/>
              </a:rPr>
              <a:t>03</a:t>
            </a:r>
            <a:endParaRPr lang="en-US" sz="1400" dirty="0"/>
          </a:p>
        </p:txBody>
      </p:sp>
      <p:sp>
        <p:nvSpPr>
          <p:cNvPr id="17" name="Text 15"/>
          <p:cNvSpPr txBox="1"/>
          <p:nvPr/>
        </p:nvSpPr>
        <p:spPr>
          <a:xfrm>
            <a:off x="868680" y="4425696"/>
            <a:ext cx="2926080" cy="201168"/>
          </a:xfrm>
          <a:prstGeom prst="rect">
            <a:avLst/>
          </a:prstGeom>
          <a:noFill/>
          <a:ln/>
        </p:spPr>
        <p:txBody>
          <a:bodyPr wrap="square" lIns="0" tIns="0" rIns="0" bIns="0" rtlCol="0" anchor="t"/>
          <a:lstStyle/>
          <a:p>
            <a:pPr indent="0" marL="0">
              <a:buNone/>
            </a:pPr>
            <a:r>
              <a:rPr lang="en-US" sz="950" b="1" dirty="0">
                <a:solidFill>
                  <a:srgbClr val="1B1B1B"/>
                </a:solidFill>
                <a:latin typeface="Arial" pitchFamily="34" charset="0"/>
                <a:ea typeface="Arial" pitchFamily="34" charset="-122"/>
                <a:cs typeface="Arial" pitchFamily="34" charset="-120"/>
              </a:rPr>
              <a:t>A FRAGMENTED PRESENT</a:t>
            </a:r>
            <a:endParaRPr lang="en-US" sz="950" dirty="0"/>
          </a:p>
        </p:txBody>
      </p:sp>
      <p:sp>
        <p:nvSpPr>
          <p:cNvPr id="18" name="Text 16"/>
          <p:cNvSpPr txBox="1"/>
          <p:nvPr/>
        </p:nvSpPr>
        <p:spPr>
          <a:xfrm>
            <a:off x="868680" y="4636008"/>
            <a:ext cx="2926080" cy="502920"/>
          </a:xfrm>
          <a:prstGeom prst="rect">
            <a:avLst/>
          </a:prstGeom>
          <a:noFill/>
          <a:ln/>
        </p:spPr>
        <p:txBody>
          <a:bodyPr wrap="square" lIns="0" tIns="0" rIns="0" bIns="0" rtlCol="0" anchor="t"/>
          <a:lstStyle/>
          <a:p>
            <a:pPr indent="0" marL="0">
              <a:buNone/>
            </a:pPr>
            <a:r>
              <a:rPr lang="en-US" sz="900" dirty="0">
                <a:solidFill>
                  <a:srgbClr val="6B6B6B"/>
                </a:solidFill>
                <a:latin typeface="Arial" pitchFamily="34" charset="0"/>
                <a:ea typeface="Arial" pitchFamily="34" charset="-122"/>
                <a:cs typeface="Arial" pitchFamily="34" charset="-120"/>
              </a:rPr>
              <a:t>State TV, newspapers, digital and social media now carry competing accounts of Pakistan's past and present.</a:t>
            </a:r>
            <a:endParaRPr lang="en-US" sz="900" dirty="0"/>
          </a:p>
        </p:txBody>
      </p:sp>
      <p:sp>
        <p:nvSpPr>
          <p:cNvPr id="19" name="Shape 17"/>
          <p:cNvSpPr/>
          <p:nvPr/>
        </p:nvSpPr>
        <p:spPr>
          <a:xfrm>
            <a:off x="457200" y="5285232"/>
            <a:ext cx="3337560" cy="749808"/>
          </a:xfrm>
          <a:prstGeom prst="rect">
            <a:avLst/>
          </a:prstGeom>
          <a:solidFill>
            <a:srgbClr val="F2F2F2"/>
          </a:solidFill>
          <a:ln w="12700">
            <a:solidFill>
              <a:srgbClr val="F2F2F2"/>
            </a:solidFill>
            <a:prstDash val="solid"/>
          </a:ln>
        </p:spPr>
      </p:sp>
      <p:sp>
        <p:nvSpPr>
          <p:cNvPr id="20" name="Text 18"/>
          <p:cNvSpPr txBox="1"/>
          <p:nvPr/>
        </p:nvSpPr>
        <p:spPr>
          <a:xfrm>
            <a:off x="566928" y="5358384"/>
            <a:ext cx="3154680" cy="640080"/>
          </a:xfrm>
          <a:prstGeom prst="rect">
            <a:avLst/>
          </a:prstGeom>
          <a:noFill/>
          <a:ln/>
        </p:spPr>
        <p:txBody>
          <a:bodyPr wrap="square" lIns="0" tIns="0" rIns="0" bIns="0" rtlCol="0" anchor="t"/>
          <a:lstStyle/>
          <a:p>
            <a:pPr indent="0" marL="0">
              <a:buNone/>
            </a:pPr>
            <a:r>
              <a:rPr lang="en-US" sz="850" b="1" dirty="0">
                <a:solidFill>
                  <a:srgbClr val="C4262E"/>
                </a:solidFill>
                <a:latin typeface="Arial" pitchFamily="34" charset="0"/>
                <a:ea typeface="Arial" pitchFamily="34" charset="-122"/>
                <a:cs typeface="Arial" pitchFamily="34" charset="-120"/>
              </a:rPr>
              <a:t>CENTRAL QUESTION</a:t>
            </a:r>
            <a:endParaRPr lang="en-US" sz="1000" dirty="0"/>
          </a:p>
          <a:p>
            <a:pPr indent="0" marL="0">
              <a:buNone/>
            </a:pPr>
            <a:r>
              <a:rPr lang="en-US" sz="950" i="1" dirty="0">
                <a:solidFill>
                  <a:srgbClr val="1B1B1B"/>
                </a:solidFill>
                <a:latin typeface="Arial" pitchFamily="34" charset="0"/>
                <a:ea typeface="Arial" pitchFamily="34" charset="-122"/>
                <a:cs typeface="Arial" pitchFamily="34" charset="-120"/>
              </a:rPr>
              <a:t>How is truth produced in the contemporary city, and why does it matter between the citizen and the state?</a:t>
            </a:r>
            <a:endParaRPr lang="en-US" sz="1000" dirty="0"/>
          </a:p>
        </p:txBody>
      </p:sp>
      <p:sp>
        <p:nvSpPr>
          <p:cNvPr id="21" name="Shape 19"/>
          <p:cNvSpPr/>
          <p:nvPr/>
        </p:nvSpPr>
        <p:spPr>
          <a:xfrm>
            <a:off x="4160520" y="1472184"/>
            <a:ext cx="219456" cy="219456"/>
          </a:xfrm>
          <a:prstGeom prst="ellipse">
            <a:avLst/>
          </a:prstGeom>
          <a:solidFill>
            <a:srgbClr val="C4262E"/>
          </a:solidFill>
          <a:ln w="12700">
            <a:solidFill>
              <a:srgbClr val="C4262E"/>
            </a:solidFill>
            <a:prstDash val="solid"/>
          </a:ln>
        </p:spPr>
      </p:sp>
      <p:sp>
        <p:nvSpPr>
          <p:cNvPr id="22" name="Text 20"/>
          <p:cNvSpPr txBox="1"/>
          <p:nvPr/>
        </p:nvSpPr>
        <p:spPr>
          <a:xfrm>
            <a:off x="4160520" y="147218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a:t>
            </a:r>
            <a:endParaRPr lang="en-US" sz="900" dirty="0"/>
          </a:p>
        </p:txBody>
      </p:sp>
      <p:sp>
        <p:nvSpPr>
          <p:cNvPr id="23" name="Text 21"/>
          <p:cNvSpPr txBox="1"/>
          <p:nvPr/>
        </p:nvSpPr>
        <p:spPr>
          <a:xfrm>
            <a:off x="4462272" y="1463040"/>
            <a:ext cx="3630168" cy="237744"/>
          </a:xfrm>
          <a:prstGeom prst="rect">
            <a:avLst/>
          </a:prstGeom>
          <a:noFill/>
          <a:ln/>
        </p:spPr>
        <p:txBody>
          <a:bodyPr wrap="square" lIns="0" tIns="0" rIns="0" bIns="0" rtlCol="0" anchor="ctr"/>
          <a:lstStyle/>
          <a:p>
            <a:pPr indent="0" marL="0">
              <a:buNone/>
            </a:pPr>
            <a:r>
              <a:rPr lang="en-US" sz="1100" b="1" spc="100" kern="0" dirty="0">
                <a:solidFill>
                  <a:srgbClr val="1B1B1B"/>
                </a:solidFill>
                <a:latin typeface="Arial" pitchFamily="34" charset="0"/>
                <a:ea typeface="Arial" pitchFamily="34" charset="-122"/>
                <a:cs typeface="Arial" pitchFamily="34" charset="-120"/>
              </a:rPr>
              <a:t>THE CORE IDEA</a:t>
            </a:r>
            <a:endParaRPr lang="en-US" sz="1100" dirty="0"/>
          </a:p>
        </p:txBody>
      </p:sp>
      <p:sp>
        <p:nvSpPr>
          <p:cNvPr id="24" name="Shape 22"/>
          <p:cNvSpPr/>
          <p:nvPr/>
        </p:nvSpPr>
        <p:spPr>
          <a:xfrm>
            <a:off x="4206240" y="1828800"/>
            <a:ext cx="3886200" cy="3611880"/>
          </a:xfrm>
          <a:prstGeom prst="roundRect">
            <a:avLst>
              <a:gd name="adj" fmla="val 2532"/>
            </a:avLst>
          </a:prstGeom>
          <a:solidFill>
            <a:srgbClr val="FFFFFF"/>
          </a:solidFill>
          <a:ln w="12700">
            <a:solidFill>
              <a:srgbClr val="8C8C8C"/>
            </a:solidFill>
            <a:prstDash val="dash"/>
          </a:ln>
        </p:spPr>
      </p:sp>
      <p:sp>
        <p:nvSpPr>
          <p:cNvPr id="25" name="Text 23"/>
          <p:cNvSpPr txBox="1"/>
          <p:nvPr/>
        </p:nvSpPr>
        <p:spPr>
          <a:xfrm>
            <a:off x="4315968" y="1901952"/>
            <a:ext cx="1234440" cy="457200"/>
          </a:xfrm>
          <a:prstGeom prst="rect">
            <a:avLst/>
          </a:prstGeom>
          <a:noFill/>
          <a:ln/>
        </p:spPr>
        <p:txBody>
          <a:bodyPr wrap="square" lIns="0" tIns="0" rIns="0" bIns="0" rtlCol="0" anchor="t"/>
          <a:lstStyle/>
          <a:p>
            <a:pPr indent="0" marL="0">
              <a:buNone/>
            </a:pPr>
            <a:r>
              <a:rPr lang="en-US" sz="750" b="1" dirty="0">
                <a:solidFill>
                  <a:srgbClr val="6B6B6B"/>
                </a:solidFill>
                <a:latin typeface="Arial" pitchFamily="34" charset="0"/>
                <a:ea typeface="Arial" pitchFamily="34" charset="-122"/>
                <a:cs typeface="Arial" pitchFamily="34" charset="-120"/>
              </a:rPr>
              <a:t>ARCHITECTURE</a:t>
            </a:r>
            <a:endParaRPr lang="en-US" sz="750" dirty="0"/>
          </a:p>
          <a:p>
            <a:pPr indent="0" marL="0">
              <a:buNone/>
            </a:pPr>
            <a:r>
              <a:rPr lang="en-US" sz="750" dirty="0">
                <a:solidFill>
                  <a:srgbClr val="6B6B6B"/>
                </a:solidFill>
                <a:latin typeface="Arial" pitchFamily="34" charset="0"/>
                <a:ea typeface="Arial" pitchFamily="34" charset="-122"/>
                <a:cs typeface="Arial" pitchFamily="34" charset="-120"/>
              </a:rPr>
              <a:t>decides who enters, who is seen, who speaks</a:t>
            </a:r>
            <a:endParaRPr lang="en-US" sz="750" dirty="0"/>
          </a:p>
        </p:txBody>
      </p:sp>
      <p:sp>
        <p:nvSpPr>
          <p:cNvPr id="26" name="Shape 24"/>
          <p:cNvSpPr/>
          <p:nvPr/>
        </p:nvSpPr>
        <p:spPr>
          <a:xfrm>
            <a:off x="6581229" y="2667116"/>
            <a:ext cx="431546" cy="313537"/>
          </a:xfrm>
          <a:prstGeom prst="line">
            <a:avLst/>
          </a:prstGeom>
          <a:noFill/>
          <a:ln w="19050">
            <a:solidFill>
              <a:srgbClr val="C4262E"/>
            </a:solidFill>
            <a:prstDash val="solid"/>
            <a:tailEnd type="triangle"/>
          </a:ln>
        </p:spPr>
      </p:sp>
      <p:sp>
        <p:nvSpPr>
          <p:cNvPr id="27" name="Shape 25"/>
          <p:cNvSpPr/>
          <p:nvPr/>
        </p:nvSpPr>
        <p:spPr>
          <a:xfrm flipH="1">
            <a:off x="7117688" y="3810851"/>
            <a:ext cx="164836" cy="507313"/>
          </a:xfrm>
          <a:prstGeom prst="line">
            <a:avLst/>
          </a:prstGeom>
          <a:noFill/>
          <a:ln w="19050">
            <a:solidFill>
              <a:srgbClr val="C4262E"/>
            </a:solidFill>
            <a:prstDash val="solid"/>
            <a:tailEnd type="triangle"/>
          </a:ln>
        </p:spPr>
      </p:sp>
      <p:sp>
        <p:nvSpPr>
          <p:cNvPr id="28" name="Shape 26"/>
          <p:cNvSpPr/>
          <p:nvPr/>
        </p:nvSpPr>
        <p:spPr>
          <a:xfrm>
            <a:off x="5878058" y="4831256"/>
            <a:ext cx="533421" cy="914"/>
          </a:xfrm>
          <a:prstGeom prst="line">
            <a:avLst/>
          </a:prstGeom>
          <a:noFill/>
          <a:ln w="19050">
            <a:solidFill>
              <a:srgbClr val="C4262E"/>
            </a:solidFill>
            <a:prstDash val="solid"/>
            <a:headEnd type="triangle"/>
          </a:ln>
        </p:spPr>
      </p:sp>
      <p:sp>
        <p:nvSpPr>
          <p:cNvPr id="29" name="Shape 27"/>
          <p:cNvSpPr/>
          <p:nvPr/>
        </p:nvSpPr>
        <p:spPr>
          <a:xfrm>
            <a:off x="5007012" y="3810851"/>
            <a:ext cx="164836" cy="507313"/>
          </a:xfrm>
          <a:prstGeom prst="line">
            <a:avLst/>
          </a:prstGeom>
          <a:noFill/>
          <a:ln w="19050">
            <a:solidFill>
              <a:srgbClr val="C4262E"/>
            </a:solidFill>
            <a:prstDash val="solid"/>
            <a:headEnd type="triangle"/>
          </a:ln>
        </p:spPr>
      </p:sp>
      <p:sp>
        <p:nvSpPr>
          <p:cNvPr id="30" name="Shape 28"/>
          <p:cNvSpPr/>
          <p:nvPr/>
        </p:nvSpPr>
        <p:spPr>
          <a:xfrm flipH="1">
            <a:off x="5276760" y="2667116"/>
            <a:ext cx="431546" cy="313537"/>
          </a:xfrm>
          <a:prstGeom prst="line">
            <a:avLst/>
          </a:prstGeom>
          <a:noFill/>
          <a:ln w="19050">
            <a:solidFill>
              <a:srgbClr val="C4262E"/>
            </a:solidFill>
            <a:prstDash val="solid"/>
            <a:headEnd type="triangle"/>
          </a:ln>
        </p:spPr>
      </p:sp>
      <p:sp>
        <p:nvSpPr>
          <p:cNvPr id="31" name="Shape 29"/>
          <p:cNvSpPr/>
          <p:nvPr/>
        </p:nvSpPr>
        <p:spPr>
          <a:xfrm>
            <a:off x="5577840" y="3154680"/>
            <a:ext cx="1133856" cy="1133856"/>
          </a:xfrm>
          <a:prstGeom prst="ellipse">
            <a:avLst/>
          </a:prstGeom>
          <a:solidFill>
            <a:srgbClr val="C4262E"/>
          </a:solidFill>
          <a:ln w="12700">
            <a:solidFill>
              <a:srgbClr val="C4262E"/>
            </a:solidFill>
            <a:prstDash val="solid"/>
          </a:ln>
        </p:spPr>
      </p:sp>
      <p:sp>
        <p:nvSpPr>
          <p:cNvPr id="32" name="Text 30"/>
          <p:cNvSpPr txBox="1"/>
          <p:nvPr/>
        </p:nvSpPr>
        <p:spPr>
          <a:xfrm>
            <a:off x="5577840" y="3154680"/>
            <a:ext cx="1133856" cy="113385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PUBLIC</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KNOWLEDGE</a:t>
            </a:r>
            <a:endParaRPr lang="en-US" sz="1000" dirty="0"/>
          </a:p>
        </p:txBody>
      </p:sp>
      <p:sp>
        <p:nvSpPr>
          <p:cNvPr id="33" name="Shape 31"/>
          <p:cNvSpPr/>
          <p:nvPr/>
        </p:nvSpPr>
        <p:spPr>
          <a:xfrm>
            <a:off x="6144768" y="2350008"/>
            <a:ext cx="914" cy="1371600"/>
          </a:xfrm>
          <a:prstGeom prst="line">
            <a:avLst/>
          </a:prstGeom>
          <a:noFill/>
          <a:ln w="9525">
            <a:solidFill>
              <a:srgbClr val="D9D9D9"/>
            </a:solidFill>
            <a:prstDash val="solid"/>
          </a:ln>
        </p:spPr>
      </p:sp>
      <p:sp>
        <p:nvSpPr>
          <p:cNvPr id="34" name="Shape 32"/>
          <p:cNvSpPr/>
          <p:nvPr/>
        </p:nvSpPr>
        <p:spPr>
          <a:xfrm flipH="1">
            <a:off x="6144768" y="3297760"/>
            <a:ext cx="1304469" cy="423848"/>
          </a:xfrm>
          <a:prstGeom prst="line">
            <a:avLst/>
          </a:prstGeom>
          <a:noFill/>
          <a:ln w="9525">
            <a:solidFill>
              <a:srgbClr val="D9D9D9"/>
            </a:solidFill>
            <a:prstDash val="solid"/>
          </a:ln>
        </p:spPr>
      </p:sp>
      <p:sp>
        <p:nvSpPr>
          <p:cNvPr id="35" name="Shape 33"/>
          <p:cNvSpPr/>
          <p:nvPr/>
        </p:nvSpPr>
        <p:spPr>
          <a:xfrm>
            <a:off x="6144768" y="3721608"/>
            <a:ext cx="806206" cy="1109648"/>
          </a:xfrm>
          <a:prstGeom prst="line">
            <a:avLst/>
          </a:prstGeom>
          <a:noFill/>
          <a:ln w="9525">
            <a:solidFill>
              <a:srgbClr val="D9D9D9"/>
            </a:solidFill>
            <a:prstDash val="solid"/>
          </a:ln>
        </p:spPr>
      </p:sp>
      <p:sp>
        <p:nvSpPr>
          <p:cNvPr id="36" name="Shape 34"/>
          <p:cNvSpPr/>
          <p:nvPr/>
        </p:nvSpPr>
        <p:spPr>
          <a:xfrm flipH="1">
            <a:off x="5338562" y="3721608"/>
            <a:ext cx="806206" cy="1109648"/>
          </a:xfrm>
          <a:prstGeom prst="line">
            <a:avLst/>
          </a:prstGeom>
          <a:noFill/>
          <a:ln w="9525">
            <a:solidFill>
              <a:srgbClr val="D9D9D9"/>
            </a:solidFill>
            <a:prstDash val="solid"/>
          </a:ln>
        </p:spPr>
      </p:sp>
      <p:sp>
        <p:nvSpPr>
          <p:cNvPr id="37" name="Shape 35"/>
          <p:cNvSpPr/>
          <p:nvPr/>
        </p:nvSpPr>
        <p:spPr>
          <a:xfrm>
            <a:off x="4840299" y="3297760"/>
            <a:ext cx="1304469" cy="423848"/>
          </a:xfrm>
          <a:prstGeom prst="line">
            <a:avLst/>
          </a:prstGeom>
          <a:noFill/>
          <a:ln w="9525">
            <a:solidFill>
              <a:srgbClr val="D9D9D9"/>
            </a:solidFill>
            <a:prstDash val="solid"/>
          </a:ln>
        </p:spPr>
      </p:sp>
      <p:sp>
        <p:nvSpPr>
          <p:cNvPr id="38" name="Shape 36"/>
          <p:cNvSpPr/>
          <p:nvPr/>
        </p:nvSpPr>
        <p:spPr>
          <a:xfrm>
            <a:off x="5577840" y="3154680"/>
            <a:ext cx="1133856" cy="1133856"/>
          </a:xfrm>
          <a:prstGeom prst="ellipse">
            <a:avLst/>
          </a:prstGeom>
          <a:solidFill>
            <a:srgbClr val="C4262E"/>
          </a:solidFill>
          <a:ln w="12700">
            <a:solidFill>
              <a:srgbClr val="C4262E"/>
            </a:solidFill>
            <a:prstDash val="solid"/>
          </a:ln>
        </p:spPr>
      </p:sp>
      <p:sp>
        <p:nvSpPr>
          <p:cNvPr id="39" name="Text 37"/>
          <p:cNvSpPr txBox="1"/>
          <p:nvPr/>
        </p:nvSpPr>
        <p:spPr>
          <a:xfrm>
            <a:off x="5577840" y="3154680"/>
            <a:ext cx="1133856" cy="1133856"/>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PUBLIC</a:t>
            </a:r>
            <a:endParaRPr lang="en-US" sz="1000" dirty="0"/>
          </a:p>
          <a:p>
            <a:pPr algn="ctr" indent="0" marL="0">
              <a:buNone/>
            </a:pPr>
            <a:r>
              <a:rPr lang="en-US" sz="1000" b="1" dirty="0">
                <a:solidFill>
                  <a:srgbClr val="FFFFFF"/>
                </a:solidFill>
                <a:latin typeface="Arial" pitchFamily="34" charset="0"/>
                <a:ea typeface="Arial" pitchFamily="34" charset="-122"/>
                <a:cs typeface="Arial" pitchFamily="34" charset="-120"/>
              </a:rPr>
              <a:t>KNOWLEDGE</a:t>
            </a:r>
            <a:endParaRPr lang="en-US" sz="1000" dirty="0"/>
          </a:p>
        </p:txBody>
      </p:sp>
      <p:sp>
        <p:nvSpPr>
          <p:cNvPr id="40" name="Shape 38"/>
          <p:cNvSpPr/>
          <p:nvPr/>
        </p:nvSpPr>
        <p:spPr>
          <a:xfrm>
            <a:off x="5650992" y="1856232"/>
            <a:ext cx="987552" cy="987552"/>
          </a:xfrm>
          <a:prstGeom prst="ellipse">
            <a:avLst/>
          </a:prstGeom>
          <a:solidFill>
            <a:srgbClr val="FFFFFF"/>
          </a:solidFill>
          <a:ln w="19050">
            <a:solidFill>
              <a:srgbClr val="1B1B1B"/>
            </a:solidFill>
            <a:prstDash val="solid"/>
          </a:ln>
        </p:spPr>
      </p:sp>
      <p:sp>
        <p:nvSpPr>
          <p:cNvPr id="41" name="Text 39"/>
          <p:cNvSpPr txBox="1"/>
          <p:nvPr/>
        </p:nvSpPr>
        <p:spPr>
          <a:xfrm>
            <a:off x="5705856" y="1856232"/>
            <a:ext cx="877824" cy="987552"/>
          </a:xfrm>
          <a:prstGeom prst="rect">
            <a:avLst/>
          </a:prstGeom>
          <a:noFill/>
          <a:ln/>
        </p:spPr>
        <p:txBody>
          <a:bodyPr wrap="square" lIns="0" tIns="0" rIns="0" bIns="0" rtlCol="0" anchor="ctr"/>
          <a:lstStyle/>
          <a:p>
            <a:pPr algn="ctr" indent="0" marL="0">
              <a:buNone/>
            </a:pPr>
            <a:r>
              <a:rPr lang="en-US" sz="900" b="1" dirty="0">
                <a:solidFill>
                  <a:srgbClr val="1B1B1B"/>
                </a:solidFill>
                <a:latin typeface="Arial" pitchFamily="34" charset="0"/>
                <a:ea typeface="Arial" pitchFamily="34" charset="-122"/>
                <a:cs typeface="Arial" pitchFamily="34" charset="-120"/>
              </a:rPr>
              <a:t>PRODUCE</a:t>
            </a:r>
            <a:endParaRPr lang="en-US" sz="1000" dirty="0"/>
          </a:p>
          <a:p>
            <a:pPr algn="ctr" indent="0" marL="0">
              <a:buNone/>
            </a:pPr>
            <a:r>
              <a:rPr lang="en-US" sz="650" dirty="0">
                <a:solidFill>
                  <a:srgbClr val="6B6B6B"/>
                </a:solidFill>
                <a:latin typeface="Arial" pitchFamily="34" charset="0"/>
                <a:ea typeface="Arial" pitchFamily="34" charset="-122"/>
                <a:cs typeface="Arial" pitchFamily="34" charset="-120"/>
              </a:rPr>
              <a:t>research · studios</a:t>
            </a:r>
            <a:endParaRPr lang="en-US" sz="1000" dirty="0"/>
          </a:p>
        </p:txBody>
      </p:sp>
      <p:sp>
        <p:nvSpPr>
          <p:cNvPr id="42" name="Shape 40"/>
          <p:cNvSpPr/>
          <p:nvPr/>
        </p:nvSpPr>
        <p:spPr>
          <a:xfrm>
            <a:off x="6955461" y="2803984"/>
            <a:ext cx="987552" cy="987552"/>
          </a:xfrm>
          <a:prstGeom prst="ellipse">
            <a:avLst/>
          </a:prstGeom>
          <a:solidFill>
            <a:srgbClr val="FFFFFF"/>
          </a:solidFill>
          <a:ln w="19050">
            <a:solidFill>
              <a:srgbClr val="1B1B1B"/>
            </a:solidFill>
            <a:prstDash val="solid"/>
          </a:ln>
        </p:spPr>
      </p:sp>
      <p:sp>
        <p:nvSpPr>
          <p:cNvPr id="43" name="Text 41"/>
          <p:cNvSpPr txBox="1"/>
          <p:nvPr/>
        </p:nvSpPr>
        <p:spPr>
          <a:xfrm>
            <a:off x="7010325" y="2803984"/>
            <a:ext cx="877824" cy="987552"/>
          </a:xfrm>
          <a:prstGeom prst="rect">
            <a:avLst/>
          </a:prstGeom>
          <a:noFill/>
          <a:ln/>
        </p:spPr>
        <p:txBody>
          <a:bodyPr wrap="square" lIns="0" tIns="0" rIns="0" bIns="0" rtlCol="0" anchor="ctr"/>
          <a:lstStyle/>
          <a:p>
            <a:pPr algn="ctr" indent="0" marL="0">
              <a:buNone/>
            </a:pPr>
            <a:r>
              <a:rPr lang="en-US" sz="900" b="1" dirty="0">
                <a:solidFill>
                  <a:srgbClr val="1B1B1B"/>
                </a:solidFill>
                <a:latin typeface="Arial" pitchFamily="34" charset="0"/>
                <a:ea typeface="Arial" pitchFamily="34" charset="-122"/>
                <a:cs typeface="Arial" pitchFamily="34" charset="-120"/>
              </a:rPr>
              <a:t>RECORD</a:t>
            </a:r>
            <a:endParaRPr lang="en-US" sz="1000" dirty="0"/>
          </a:p>
          <a:p>
            <a:pPr algn="ctr" indent="0" marL="0">
              <a:buNone/>
            </a:pPr>
            <a:r>
              <a:rPr lang="en-US" sz="650" dirty="0">
                <a:solidFill>
                  <a:srgbClr val="6B6B6B"/>
                </a:solidFill>
                <a:latin typeface="Arial" pitchFamily="34" charset="0"/>
                <a:ea typeface="Arial" pitchFamily="34" charset="-122"/>
                <a:cs typeface="Arial" pitchFamily="34" charset="-120"/>
              </a:rPr>
              <a:t>archive · media</a:t>
            </a:r>
            <a:endParaRPr lang="en-US" sz="1000" dirty="0"/>
          </a:p>
        </p:txBody>
      </p:sp>
      <p:sp>
        <p:nvSpPr>
          <p:cNvPr id="44" name="Shape 42"/>
          <p:cNvSpPr/>
          <p:nvPr/>
        </p:nvSpPr>
        <p:spPr>
          <a:xfrm>
            <a:off x="6457198" y="4337480"/>
            <a:ext cx="987552" cy="987552"/>
          </a:xfrm>
          <a:prstGeom prst="ellipse">
            <a:avLst/>
          </a:prstGeom>
          <a:solidFill>
            <a:srgbClr val="FFFFFF"/>
          </a:solidFill>
          <a:ln w="19050">
            <a:solidFill>
              <a:srgbClr val="1B1B1B"/>
            </a:solidFill>
            <a:prstDash val="solid"/>
          </a:ln>
        </p:spPr>
      </p:sp>
      <p:sp>
        <p:nvSpPr>
          <p:cNvPr id="45" name="Text 43"/>
          <p:cNvSpPr txBox="1"/>
          <p:nvPr/>
        </p:nvSpPr>
        <p:spPr>
          <a:xfrm>
            <a:off x="6512062" y="4337480"/>
            <a:ext cx="877824" cy="987552"/>
          </a:xfrm>
          <a:prstGeom prst="rect">
            <a:avLst/>
          </a:prstGeom>
          <a:noFill/>
          <a:ln/>
        </p:spPr>
        <p:txBody>
          <a:bodyPr wrap="square" lIns="0" tIns="0" rIns="0" bIns="0" rtlCol="0" anchor="ctr"/>
          <a:lstStyle/>
          <a:p>
            <a:pPr algn="ctr" indent="0" marL="0">
              <a:buNone/>
            </a:pPr>
            <a:r>
              <a:rPr lang="en-US" sz="900" b="1" dirty="0">
                <a:solidFill>
                  <a:srgbClr val="1B1B1B"/>
                </a:solidFill>
                <a:latin typeface="Arial" pitchFamily="34" charset="0"/>
                <a:ea typeface="Arial" pitchFamily="34" charset="-122"/>
                <a:cs typeface="Arial" pitchFamily="34" charset="-120"/>
              </a:rPr>
              <a:t>PUBLISH</a:t>
            </a:r>
            <a:endParaRPr lang="en-US" sz="1000" dirty="0"/>
          </a:p>
          <a:p>
            <a:pPr algn="ctr" indent="0" marL="0">
              <a:buNone/>
            </a:pPr>
            <a:r>
              <a:rPr lang="en-US" sz="650" dirty="0">
                <a:solidFill>
                  <a:srgbClr val="6B6B6B"/>
                </a:solidFill>
                <a:latin typeface="Arial" pitchFamily="34" charset="0"/>
                <a:ea typeface="Arial" pitchFamily="34" charset="-122"/>
                <a:cs typeface="Arial" pitchFamily="34" charset="-120"/>
              </a:rPr>
              <a:t>to publish is to mediate</a:t>
            </a:r>
            <a:endParaRPr lang="en-US" sz="1000" dirty="0"/>
          </a:p>
        </p:txBody>
      </p:sp>
      <p:sp>
        <p:nvSpPr>
          <p:cNvPr id="46" name="Shape 44"/>
          <p:cNvSpPr/>
          <p:nvPr/>
        </p:nvSpPr>
        <p:spPr>
          <a:xfrm>
            <a:off x="4844786" y="4337480"/>
            <a:ext cx="987552" cy="987552"/>
          </a:xfrm>
          <a:prstGeom prst="ellipse">
            <a:avLst/>
          </a:prstGeom>
          <a:solidFill>
            <a:srgbClr val="FFFFFF"/>
          </a:solidFill>
          <a:ln w="19050">
            <a:solidFill>
              <a:srgbClr val="1B1B1B"/>
            </a:solidFill>
            <a:prstDash val="solid"/>
          </a:ln>
        </p:spPr>
      </p:sp>
      <p:sp>
        <p:nvSpPr>
          <p:cNvPr id="47" name="Text 45"/>
          <p:cNvSpPr txBox="1"/>
          <p:nvPr/>
        </p:nvSpPr>
        <p:spPr>
          <a:xfrm>
            <a:off x="4899650" y="4337480"/>
            <a:ext cx="877824" cy="987552"/>
          </a:xfrm>
          <a:prstGeom prst="rect">
            <a:avLst/>
          </a:prstGeom>
          <a:noFill/>
          <a:ln/>
        </p:spPr>
        <p:txBody>
          <a:bodyPr wrap="square" lIns="0" tIns="0" rIns="0" bIns="0" rtlCol="0" anchor="ctr"/>
          <a:lstStyle/>
          <a:p>
            <a:pPr algn="ctr" indent="0" marL="0">
              <a:buNone/>
            </a:pPr>
            <a:r>
              <a:rPr lang="en-US" sz="900" b="1" dirty="0">
                <a:solidFill>
                  <a:srgbClr val="1B1B1B"/>
                </a:solidFill>
                <a:latin typeface="Arial" pitchFamily="34" charset="0"/>
                <a:ea typeface="Arial" pitchFamily="34" charset="-122"/>
                <a:cs typeface="Arial" pitchFamily="34" charset="-120"/>
              </a:rPr>
              <a:t>QUESTION</a:t>
            </a:r>
            <a:endParaRPr lang="en-US" sz="1000" dirty="0"/>
          </a:p>
          <a:p>
            <a:pPr algn="ctr" indent="0" marL="0">
              <a:buNone/>
            </a:pPr>
            <a:r>
              <a:rPr lang="en-US" sz="650" dirty="0">
                <a:solidFill>
                  <a:srgbClr val="6B6B6B"/>
                </a:solidFill>
                <a:latin typeface="Arial" pitchFamily="34" charset="0"/>
                <a:ea typeface="Arial" pitchFamily="34" charset="-122"/>
                <a:cs typeface="Arial" pitchFamily="34" charset="-120"/>
              </a:rPr>
              <a:t>forum · debate</a:t>
            </a:r>
            <a:endParaRPr lang="en-US" sz="1000" dirty="0"/>
          </a:p>
        </p:txBody>
      </p:sp>
      <p:sp>
        <p:nvSpPr>
          <p:cNvPr id="48" name="Shape 46"/>
          <p:cNvSpPr/>
          <p:nvPr/>
        </p:nvSpPr>
        <p:spPr>
          <a:xfrm>
            <a:off x="4346523" y="2803984"/>
            <a:ext cx="987552" cy="987552"/>
          </a:xfrm>
          <a:prstGeom prst="ellipse">
            <a:avLst/>
          </a:prstGeom>
          <a:solidFill>
            <a:srgbClr val="FFFFFF"/>
          </a:solidFill>
          <a:ln w="19050">
            <a:solidFill>
              <a:srgbClr val="1B1B1B"/>
            </a:solidFill>
            <a:prstDash val="solid"/>
          </a:ln>
        </p:spPr>
      </p:sp>
      <p:sp>
        <p:nvSpPr>
          <p:cNvPr id="49" name="Text 47"/>
          <p:cNvSpPr txBox="1"/>
          <p:nvPr/>
        </p:nvSpPr>
        <p:spPr>
          <a:xfrm>
            <a:off x="4401387" y="2803984"/>
            <a:ext cx="877824" cy="987552"/>
          </a:xfrm>
          <a:prstGeom prst="rect">
            <a:avLst/>
          </a:prstGeom>
          <a:noFill/>
          <a:ln/>
        </p:spPr>
        <p:txBody>
          <a:bodyPr wrap="square" lIns="0" tIns="0" rIns="0" bIns="0" rtlCol="0" anchor="ctr"/>
          <a:lstStyle/>
          <a:p>
            <a:pPr algn="ctr" indent="0" marL="0">
              <a:buNone/>
            </a:pPr>
            <a:r>
              <a:rPr lang="en-US" sz="900" b="1" dirty="0">
                <a:solidFill>
                  <a:srgbClr val="1B1B1B"/>
                </a:solidFill>
                <a:latin typeface="Arial" pitchFamily="34" charset="0"/>
                <a:ea typeface="Arial" pitchFamily="34" charset="-122"/>
                <a:cs typeface="Arial" pitchFamily="34" charset="-120"/>
              </a:rPr>
              <a:t>NEGOTIATE</a:t>
            </a:r>
            <a:endParaRPr lang="en-US" sz="1000" dirty="0"/>
          </a:p>
          <a:p>
            <a:pPr algn="ctr" indent="0" marL="0">
              <a:buNone/>
            </a:pPr>
            <a:r>
              <a:rPr lang="en-US" sz="650" dirty="0">
                <a:solidFill>
                  <a:srgbClr val="6B6B6B"/>
                </a:solidFill>
                <a:latin typeface="Arial" pitchFamily="34" charset="0"/>
                <a:ea typeface="Arial" pitchFamily="34" charset="-122"/>
                <a:cs typeface="Arial" pitchFamily="34" charset="-120"/>
              </a:rPr>
              <a:t>citizen · institution · state</a:t>
            </a:r>
            <a:endParaRPr lang="en-US" sz="1000" dirty="0"/>
          </a:p>
        </p:txBody>
      </p:sp>
      <p:sp>
        <p:nvSpPr>
          <p:cNvPr id="50" name="Text 48"/>
          <p:cNvSpPr txBox="1"/>
          <p:nvPr/>
        </p:nvSpPr>
        <p:spPr>
          <a:xfrm>
            <a:off x="4206240" y="5596128"/>
            <a:ext cx="822960" cy="228600"/>
          </a:xfrm>
          <a:prstGeom prst="rect">
            <a:avLst/>
          </a:prstGeom>
          <a:noFill/>
          <a:ln/>
        </p:spPr>
        <p:txBody>
          <a:bodyPr wrap="square" lIns="0" tIns="0" rIns="0" bIns="0" rtlCol="0" anchor="t"/>
          <a:lstStyle/>
          <a:p>
            <a:pPr indent="0" marL="0">
              <a:buNone/>
            </a:pPr>
            <a:r>
              <a:rPr lang="en-US" sz="950" b="1" dirty="0">
                <a:solidFill>
                  <a:srgbClr val="1B1B1B"/>
                </a:solidFill>
                <a:latin typeface="Arial" pitchFamily="34" charset="0"/>
                <a:ea typeface="Arial" pitchFamily="34" charset="-122"/>
                <a:cs typeface="Arial" pitchFamily="34" charset="-120"/>
              </a:rPr>
              <a:t>CITIZEN</a:t>
            </a:r>
            <a:endParaRPr lang="en-US" sz="950" dirty="0"/>
          </a:p>
        </p:txBody>
      </p:sp>
      <p:sp>
        <p:nvSpPr>
          <p:cNvPr id="51" name="Text 49"/>
          <p:cNvSpPr txBox="1"/>
          <p:nvPr/>
        </p:nvSpPr>
        <p:spPr>
          <a:xfrm>
            <a:off x="7269480" y="5596128"/>
            <a:ext cx="822960" cy="228600"/>
          </a:xfrm>
          <a:prstGeom prst="rect">
            <a:avLst/>
          </a:prstGeom>
          <a:noFill/>
          <a:ln/>
        </p:spPr>
        <p:txBody>
          <a:bodyPr wrap="square" lIns="0" tIns="0" rIns="0" bIns="0" rtlCol="0" anchor="t"/>
          <a:lstStyle/>
          <a:p>
            <a:pPr algn="r" indent="0" marL="0">
              <a:buNone/>
            </a:pPr>
            <a:r>
              <a:rPr lang="en-US" sz="950" b="1" dirty="0">
                <a:solidFill>
                  <a:srgbClr val="1B1B1B"/>
                </a:solidFill>
                <a:latin typeface="Arial" pitchFamily="34" charset="0"/>
                <a:ea typeface="Arial" pitchFamily="34" charset="-122"/>
                <a:cs typeface="Arial" pitchFamily="34" charset="-120"/>
              </a:rPr>
              <a:t>STATE</a:t>
            </a:r>
            <a:endParaRPr lang="en-US" sz="950" dirty="0"/>
          </a:p>
        </p:txBody>
      </p:sp>
      <p:sp>
        <p:nvSpPr>
          <p:cNvPr id="52" name="Shape 50"/>
          <p:cNvSpPr/>
          <p:nvPr/>
        </p:nvSpPr>
        <p:spPr>
          <a:xfrm>
            <a:off x="4892040" y="5710428"/>
            <a:ext cx="2514600" cy="914"/>
          </a:xfrm>
          <a:prstGeom prst="line">
            <a:avLst/>
          </a:prstGeom>
          <a:noFill/>
          <a:ln w="12700">
            <a:solidFill>
              <a:srgbClr val="1B1B1B"/>
            </a:solidFill>
            <a:prstDash val="solid"/>
            <a:headEnd type="triangle"/>
            <a:tailEnd type="triangle"/>
          </a:ln>
        </p:spPr>
      </p:sp>
      <p:sp>
        <p:nvSpPr>
          <p:cNvPr id="53" name="Text 51"/>
          <p:cNvSpPr txBox="1"/>
          <p:nvPr/>
        </p:nvSpPr>
        <p:spPr>
          <a:xfrm>
            <a:off x="4572000" y="5779008"/>
            <a:ext cx="3154680" cy="274320"/>
          </a:xfrm>
          <a:prstGeom prst="rect">
            <a:avLst/>
          </a:prstGeom>
          <a:noFill/>
          <a:ln/>
        </p:spPr>
        <p:txBody>
          <a:bodyPr wrap="square" lIns="0" tIns="0" rIns="0" bIns="0" rtlCol="0" anchor="t"/>
          <a:lstStyle/>
          <a:p>
            <a:pPr algn="ctr" indent="0" marL="0">
              <a:buNone/>
            </a:pPr>
            <a:r>
              <a:rPr lang="en-US" sz="750" i="1" dirty="0">
                <a:solidFill>
                  <a:srgbClr val="6B6B6B"/>
                </a:solidFill>
                <a:latin typeface="Arial" pitchFamily="34" charset="0"/>
                <a:ea typeface="Arial" pitchFamily="34" charset="-122"/>
                <a:cs typeface="Arial" pitchFamily="34" charset="-120"/>
              </a:rPr>
              <a:t>the institution sits between — its stance is my personal position</a:t>
            </a:r>
            <a:endParaRPr lang="en-US" sz="750" dirty="0"/>
          </a:p>
        </p:txBody>
      </p:sp>
      <p:sp>
        <p:nvSpPr>
          <p:cNvPr id="54" name="Shape 52"/>
          <p:cNvSpPr/>
          <p:nvPr/>
        </p:nvSpPr>
        <p:spPr>
          <a:xfrm>
            <a:off x="8412480" y="1472184"/>
            <a:ext cx="219456" cy="219456"/>
          </a:xfrm>
          <a:prstGeom prst="ellipse">
            <a:avLst/>
          </a:prstGeom>
          <a:solidFill>
            <a:srgbClr val="C4262E"/>
          </a:solidFill>
          <a:ln w="12700">
            <a:solidFill>
              <a:srgbClr val="C4262E"/>
            </a:solidFill>
            <a:prstDash val="solid"/>
          </a:ln>
        </p:spPr>
      </p:sp>
      <p:sp>
        <p:nvSpPr>
          <p:cNvPr id="55" name="Text 53"/>
          <p:cNvSpPr txBox="1"/>
          <p:nvPr/>
        </p:nvSpPr>
        <p:spPr>
          <a:xfrm>
            <a:off x="8412480" y="147218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a:t>
            </a:r>
            <a:endParaRPr lang="en-US" sz="900" dirty="0"/>
          </a:p>
        </p:txBody>
      </p:sp>
      <p:sp>
        <p:nvSpPr>
          <p:cNvPr id="56" name="Text 54"/>
          <p:cNvSpPr txBox="1"/>
          <p:nvPr/>
        </p:nvSpPr>
        <p:spPr>
          <a:xfrm>
            <a:off x="8714232" y="1463040"/>
            <a:ext cx="3017520" cy="237744"/>
          </a:xfrm>
          <a:prstGeom prst="rect">
            <a:avLst/>
          </a:prstGeom>
          <a:noFill/>
          <a:ln/>
        </p:spPr>
        <p:txBody>
          <a:bodyPr wrap="square" lIns="0" tIns="0" rIns="0" bIns="0" rtlCol="0" anchor="ctr"/>
          <a:lstStyle/>
          <a:p>
            <a:pPr indent="0" marL="0">
              <a:buNone/>
            </a:pPr>
            <a:r>
              <a:rPr lang="en-US" sz="1100" b="1" spc="100" kern="0" dirty="0">
                <a:solidFill>
                  <a:srgbClr val="1B1B1B"/>
                </a:solidFill>
                <a:latin typeface="Arial" pitchFamily="34" charset="0"/>
                <a:ea typeface="Arial" pitchFamily="34" charset="-122"/>
                <a:cs typeface="Arial" pitchFamily="34" charset="-120"/>
              </a:rPr>
              <a:t>WHAT?  PROJECT BRIEF</a:t>
            </a:r>
            <a:endParaRPr lang="en-US" sz="1100" dirty="0"/>
          </a:p>
        </p:txBody>
      </p:sp>
      <p:sp>
        <p:nvSpPr>
          <p:cNvPr id="57" name="Text 55"/>
          <p:cNvSpPr txBox="1"/>
          <p:nvPr/>
        </p:nvSpPr>
        <p:spPr>
          <a:xfrm>
            <a:off x="8412480" y="1783080"/>
            <a:ext cx="3319272" cy="868680"/>
          </a:xfrm>
          <a:prstGeom prst="rect">
            <a:avLst/>
          </a:prstGeom>
          <a:noFill/>
          <a:ln/>
        </p:spPr>
        <p:txBody>
          <a:bodyPr wrap="square" lIns="0" tIns="0" rIns="0" bIns="0" rtlCol="0" anchor="t"/>
          <a:lstStyle/>
          <a:p>
            <a:pPr indent="0" marL="0">
              <a:buNone/>
            </a:pPr>
            <a:r>
              <a:rPr lang="en-US" sz="950" dirty="0">
                <a:solidFill>
                  <a:srgbClr val="1B1B1B"/>
                </a:solidFill>
                <a:latin typeface="Arial" pitchFamily="34" charset="0"/>
                <a:ea typeface="Arial" pitchFamily="34" charset="-122"/>
                <a:cs typeface="Arial" pitchFamily="34" charset="-120"/>
              </a:rPr>
              <a:t>An integrated complex at the Lahore Press Club where researchers, journalists, writers, academics, artists, intellectuals, civic organisations and the public meet to produce, communicate and negotiate public knowledge.</a:t>
            </a:r>
            <a:endParaRPr lang="en-US" sz="950" dirty="0"/>
          </a:p>
        </p:txBody>
      </p:sp>
      <p:sp>
        <p:nvSpPr>
          <p:cNvPr id="58" name="Text 56"/>
          <p:cNvSpPr txBox="1"/>
          <p:nvPr/>
        </p:nvSpPr>
        <p:spPr>
          <a:xfrm>
            <a:off x="8412480" y="2724912"/>
            <a:ext cx="3319272" cy="182880"/>
          </a:xfrm>
          <a:prstGeom prst="rect">
            <a:avLst/>
          </a:prstGeom>
          <a:noFill/>
          <a:ln/>
        </p:spPr>
        <p:txBody>
          <a:bodyPr wrap="square" lIns="0" tIns="0" rIns="0" bIns="0" rtlCol="0" anchor="t"/>
          <a:lstStyle/>
          <a:p>
            <a:pPr indent="0" marL="0">
              <a:buNone/>
            </a:pPr>
            <a:r>
              <a:rPr lang="en-US" sz="850" b="1" dirty="0">
                <a:solidFill>
                  <a:srgbClr val="C4262E"/>
                </a:solidFill>
                <a:latin typeface="Arial" pitchFamily="34" charset="0"/>
                <a:ea typeface="Arial" pitchFamily="34" charset="-122"/>
                <a:cs typeface="Arial" pitchFamily="34" charset="-120"/>
              </a:rPr>
              <a:t>DESIGN BRIEF  ·  MUST INCLUDE</a:t>
            </a:r>
            <a:endParaRPr lang="en-US" sz="850" dirty="0"/>
          </a:p>
        </p:txBody>
      </p:sp>
      <p:sp>
        <p:nvSpPr>
          <p:cNvPr id="59" name="Shape 57"/>
          <p:cNvSpPr/>
          <p:nvPr/>
        </p:nvSpPr>
        <p:spPr>
          <a:xfrm>
            <a:off x="8412480" y="2944368"/>
            <a:ext cx="1627632" cy="256032"/>
          </a:xfrm>
          <a:prstGeom prst="roundRect">
            <a:avLst>
              <a:gd name="adj" fmla="val 21429"/>
            </a:avLst>
          </a:prstGeom>
          <a:solidFill>
            <a:srgbClr val="1B1B1B"/>
          </a:solidFill>
          <a:ln w="12700">
            <a:solidFill>
              <a:srgbClr val="1B1B1B"/>
            </a:solidFill>
            <a:prstDash val="solid"/>
          </a:ln>
        </p:spPr>
      </p:sp>
      <p:sp>
        <p:nvSpPr>
          <p:cNvPr id="60" name="Text 58"/>
          <p:cNvSpPr txBox="1"/>
          <p:nvPr/>
        </p:nvSpPr>
        <p:spPr>
          <a:xfrm>
            <a:off x="8458200" y="2944368"/>
            <a:ext cx="153619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Research + studio areas</a:t>
            </a:r>
            <a:endParaRPr lang="en-US" sz="750" dirty="0"/>
          </a:p>
        </p:txBody>
      </p:sp>
      <p:sp>
        <p:nvSpPr>
          <p:cNvPr id="61" name="Shape 59"/>
          <p:cNvSpPr/>
          <p:nvPr/>
        </p:nvSpPr>
        <p:spPr>
          <a:xfrm>
            <a:off x="10104120" y="2944368"/>
            <a:ext cx="1627632" cy="256032"/>
          </a:xfrm>
          <a:prstGeom prst="roundRect">
            <a:avLst>
              <a:gd name="adj" fmla="val 21429"/>
            </a:avLst>
          </a:prstGeom>
          <a:solidFill>
            <a:srgbClr val="1B1B1B"/>
          </a:solidFill>
          <a:ln w="12700">
            <a:solidFill>
              <a:srgbClr val="1B1B1B"/>
            </a:solidFill>
            <a:prstDash val="solid"/>
          </a:ln>
        </p:spPr>
      </p:sp>
      <p:sp>
        <p:nvSpPr>
          <p:cNvPr id="62" name="Text 60"/>
          <p:cNvSpPr txBox="1"/>
          <p:nvPr/>
        </p:nvSpPr>
        <p:spPr>
          <a:xfrm>
            <a:off x="10149840" y="2944368"/>
            <a:ext cx="153619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Public library + reading room</a:t>
            </a:r>
            <a:endParaRPr lang="en-US" sz="750" dirty="0"/>
          </a:p>
        </p:txBody>
      </p:sp>
      <p:sp>
        <p:nvSpPr>
          <p:cNvPr id="63" name="Shape 61"/>
          <p:cNvSpPr/>
          <p:nvPr/>
        </p:nvSpPr>
        <p:spPr>
          <a:xfrm>
            <a:off x="8412480" y="3255264"/>
            <a:ext cx="1627632" cy="256032"/>
          </a:xfrm>
          <a:prstGeom prst="roundRect">
            <a:avLst>
              <a:gd name="adj" fmla="val 21429"/>
            </a:avLst>
          </a:prstGeom>
          <a:solidFill>
            <a:srgbClr val="1B1B1B"/>
          </a:solidFill>
          <a:ln w="12700">
            <a:solidFill>
              <a:srgbClr val="1B1B1B"/>
            </a:solidFill>
            <a:prstDash val="solid"/>
          </a:ln>
        </p:spPr>
      </p:sp>
      <p:sp>
        <p:nvSpPr>
          <p:cNvPr id="64" name="Text 62"/>
          <p:cNvSpPr txBox="1"/>
          <p:nvPr/>
        </p:nvSpPr>
        <p:spPr>
          <a:xfrm>
            <a:off x="8458200" y="3255264"/>
            <a:ext cx="153619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Archive facilities</a:t>
            </a:r>
            <a:endParaRPr lang="en-US" sz="750" dirty="0"/>
          </a:p>
        </p:txBody>
      </p:sp>
      <p:sp>
        <p:nvSpPr>
          <p:cNvPr id="65" name="Shape 63"/>
          <p:cNvSpPr/>
          <p:nvPr/>
        </p:nvSpPr>
        <p:spPr>
          <a:xfrm>
            <a:off x="10104120" y="3255264"/>
            <a:ext cx="1627632" cy="256032"/>
          </a:xfrm>
          <a:prstGeom prst="roundRect">
            <a:avLst>
              <a:gd name="adj" fmla="val 21429"/>
            </a:avLst>
          </a:prstGeom>
          <a:solidFill>
            <a:srgbClr val="1B1B1B"/>
          </a:solidFill>
          <a:ln w="12700">
            <a:solidFill>
              <a:srgbClr val="1B1B1B"/>
            </a:solidFill>
            <a:prstDash val="solid"/>
          </a:ln>
        </p:spPr>
      </p:sp>
      <p:sp>
        <p:nvSpPr>
          <p:cNvPr id="66" name="Text 64"/>
          <p:cNvSpPr txBox="1"/>
          <p:nvPr/>
        </p:nvSpPr>
        <p:spPr>
          <a:xfrm>
            <a:off x="10149840" y="3255264"/>
            <a:ext cx="153619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Media + recording</a:t>
            </a:r>
            <a:endParaRPr lang="en-US" sz="750" dirty="0"/>
          </a:p>
        </p:txBody>
      </p:sp>
      <p:sp>
        <p:nvSpPr>
          <p:cNvPr id="67" name="Shape 65"/>
          <p:cNvSpPr/>
          <p:nvPr/>
        </p:nvSpPr>
        <p:spPr>
          <a:xfrm>
            <a:off x="8412480" y="3566160"/>
            <a:ext cx="1627632" cy="256032"/>
          </a:xfrm>
          <a:prstGeom prst="roundRect">
            <a:avLst>
              <a:gd name="adj" fmla="val 21429"/>
            </a:avLst>
          </a:prstGeom>
          <a:solidFill>
            <a:srgbClr val="1B1B1B"/>
          </a:solidFill>
          <a:ln w="12700">
            <a:solidFill>
              <a:srgbClr val="1B1B1B"/>
            </a:solidFill>
            <a:prstDash val="solid"/>
          </a:ln>
        </p:spPr>
      </p:sp>
      <p:sp>
        <p:nvSpPr>
          <p:cNvPr id="68" name="Text 66"/>
          <p:cNvSpPr txBox="1"/>
          <p:nvPr/>
        </p:nvSpPr>
        <p:spPr>
          <a:xfrm>
            <a:off x="8458200" y="3566160"/>
            <a:ext cx="153619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Publishing infrastructure</a:t>
            </a:r>
            <a:endParaRPr lang="en-US" sz="750" dirty="0"/>
          </a:p>
        </p:txBody>
      </p:sp>
      <p:sp>
        <p:nvSpPr>
          <p:cNvPr id="69" name="Shape 67"/>
          <p:cNvSpPr/>
          <p:nvPr/>
        </p:nvSpPr>
        <p:spPr>
          <a:xfrm>
            <a:off x="10104120" y="3566160"/>
            <a:ext cx="1627632" cy="256032"/>
          </a:xfrm>
          <a:prstGeom prst="roundRect">
            <a:avLst>
              <a:gd name="adj" fmla="val 21429"/>
            </a:avLst>
          </a:prstGeom>
          <a:solidFill>
            <a:srgbClr val="1B1B1B"/>
          </a:solidFill>
          <a:ln w="12700">
            <a:solidFill>
              <a:srgbClr val="1B1B1B"/>
            </a:solidFill>
            <a:prstDash val="solid"/>
          </a:ln>
        </p:spPr>
      </p:sp>
      <p:sp>
        <p:nvSpPr>
          <p:cNvPr id="70" name="Text 68"/>
          <p:cNvSpPr txBox="1"/>
          <p:nvPr/>
        </p:nvSpPr>
        <p:spPr>
          <a:xfrm>
            <a:off x="10149840" y="3566160"/>
            <a:ext cx="1536192" cy="25603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Formal + informal debate</a:t>
            </a:r>
            <a:endParaRPr lang="en-US" sz="750" dirty="0"/>
          </a:p>
        </p:txBody>
      </p:sp>
      <p:sp>
        <p:nvSpPr>
          <p:cNvPr id="71" name="Text 69"/>
          <p:cNvSpPr txBox="1"/>
          <p:nvPr/>
        </p:nvSpPr>
        <p:spPr>
          <a:xfrm>
            <a:off x="8412480" y="3931920"/>
            <a:ext cx="3319272" cy="182880"/>
          </a:xfrm>
          <a:prstGeom prst="rect">
            <a:avLst/>
          </a:prstGeom>
          <a:noFill/>
          <a:ln/>
        </p:spPr>
        <p:txBody>
          <a:bodyPr wrap="square" lIns="0" tIns="0" rIns="0" bIns="0" rtlCol="0" anchor="t"/>
          <a:lstStyle/>
          <a:p>
            <a:pPr indent="0" marL="0">
              <a:buNone/>
            </a:pPr>
            <a:r>
              <a:rPr lang="en-US" sz="850" b="1" dirty="0">
                <a:solidFill>
                  <a:srgbClr val="6B6B6B"/>
                </a:solidFill>
                <a:latin typeface="Arial" pitchFamily="34" charset="0"/>
                <a:ea typeface="Arial" pitchFamily="34" charset="-122"/>
                <a:cs typeface="Arial" pitchFamily="34" charset="-120"/>
              </a:rPr>
              <a:t>MAY INCLUDE</a:t>
            </a:r>
            <a:endParaRPr lang="en-US" sz="850" dirty="0"/>
          </a:p>
        </p:txBody>
      </p:sp>
      <p:sp>
        <p:nvSpPr>
          <p:cNvPr id="72" name="Shape 70"/>
          <p:cNvSpPr/>
          <p:nvPr/>
        </p:nvSpPr>
        <p:spPr>
          <a:xfrm>
            <a:off x="8412480" y="4133088"/>
            <a:ext cx="1069848" cy="256032"/>
          </a:xfrm>
          <a:prstGeom prst="roundRect">
            <a:avLst>
              <a:gd name="adj" fmla="val 21429"/>
            </a:avLst>
          </a:prstGeom>
          <a:solidFill>
            <a:srgbClr val="FFFFFF"/>
          </a:solidFill>
          <a:ln w="12700">
            <a:solidFill>
              <a:srgbClr val="1B1B1B"/>
            </a:solidFill>
            <a:prstDash val="solid"/>
          </a:ln>
        </p:spPr>
      </p:sp>
      <p:sp>
        <p:nvSpPr>
          <p:cNvPr id="73" name="Text 71"/>
          <p:cNvSpPr txBox="1"/>
          <p:nvPr/>
        </p:nvSpPr>
        <p:spPr>
          <a:xfrm>
            <a:off x="8458200" y="4133088"/>
            <a:ext cx="978408" cy="256032"/>
          </a:xfrm>
          <a:prstGeom prst="rect">
            <a:avLst/>
          </a:prstGeom>
          <a:noFill/>
          <a:ln/>
        </p:spPr>
        <p:txBody>
          <a:bodyPr wrap="square" lIns="0" tIns="0" rIns="0" bIns="0" rtlCol="0" anchor="ctr"/>
          <a:lstStyle/>
          <a:p>
            <a:pPr algn="ctr" indent="0" marL="0">
              <a:buNone/>
            </a:pPr>
            <a:r>
              <a:rPr lang="en-US" sz="750" b="1" dirty="0">
                <a:solidFill>
                  <a:srgbClr val="1B1B1B"/>
                </a:solidFill>
                <a:latin typeface="Arial" pitchFamily="34" charset="0"/>
                <a:ea typeface="Arial" pitchFamily="34" charset="-122"/>
                <a:cs typeface="Arial" pitchFamily="34" charset="-120"/>
              </a:rPr>
              <a:t>Exhibition</a:t>
            </a:r>
            <a:endParaRPr lang="en-US" sz="750" dirty="0"/>
          </a:p>
        </p:txBody>
      </p:sp>
      <p:sp>
        <p:nvSpPr>
          <p:cNvPr id="74" name="Shape 72"/>
          <p:cNvSpPr/>
          <p:nvPr/>
        </p:nvSpPr>
        <p:spPr>
          <a:xfrm>
            <a:off x="9537192" y="4133088"/>
            <a:ext cx="1069848" cy="256032"/>
          </a:xfrm>
          <a:prstGeom prst="roundRect">
            <a:avLst>
              <a:gd name="adj" fmla="val 21429"/>
            </a:avLst>
          </a:prstGeom>
          <a:solidFill>
            <a:srgbClr val="FFFFFF"/>
          </a:solidFill>
          <a:ln w="12700">
            <a:solidFill>
              <a:srgbClr val="1B1B1B"/>
            </a:solidFill>
            <a:prstDash val="solid"/>
          </a:ln>
        </p:spPr>
      </p:sp>
      <p:sp>
        <p:nvSpPr>
          <p:cNvPr id="75" name="Text 73"/>
          <p:cNvSpPr txBox="1"/>
          <p:nvPr/>
        </p:nvSpPr>
        <p:spPr>
          <a:xfrm>
            <a:off x="9582912" y="4133088"/>
            <a:ext cx="978408" cy="256032"/>
          </a:xfrm>
          <a:prstGeom prst="rect">
            <a:avLst/>
          </a:prstGeom>
          <a:noFill/>
          <a:ln/>
        </p:spPr>
        <p:txBody>
          <a:bodyPr wrap="square" lIns="0" tIns="0" rIns="0" bIns="0" rtlCol="0" anchor="ctr"/>
          <a:lstStyle/>
          <a:p>
            <a:pPr algn="ctr" indent="0" marL="0">
              <a:buNone/>
            </a:pPr>
            <a:r>
              <a:rPr lang="en-US" sz="750" b="1" dirty="0">
                <a:solidFill>
                  <a:srgbClr val="1B1B1B"/>
                </a:solidFill>
                <a:latin typeface="Arial" pitchFamily="34" charset="0"/>
                <a:ea typeface="Arial" pitchFamily="34" charset="-122"/>
                <a:cs typeface="Arial" pitchFamily="34" charset="-120"/>
              </a:rPr>
              <a:t>Public forum</a:t>
            </a:r>
            <a:endParaRPr lang="en-US" sz="750" dirty="0"/>
          </a:p>
        </p:txBody>
      </p:sp>
      <p:sp>
        <p:nvSpPr>
          <p:cNvPr id="76" name="Shape 74"/>
          <p:cNvSpPr/>
          <p:nvPr/>
        </p:nvSpPr>
        <p:spPr>
          <a:xfrm>
            <a:off x="10661904" y="4133088"/>
            <a:ext cx="1069848" cy="256032"/>
          </a:xfrm>
          <a:prstGeom prst="roundRect">
            <a:avLst>
              <a:gd name="adj" fmla="val 21429"/>
            </a:avLst>
          </a:prstGeom>
          <a:solidFill>
            <a:srgbClr val="FFFFFF"/>
          </a:solidFill>
          <a:ln w="12700">
            <a:solidFill>
              <a:srgbClr val="1B1B1B"/>
            </a:solidFill>
            <a:prstDash val="solid"/>
          </a:ln>
        </p:spPr>
      </p:sp>
      <p:sp>
        <p:nvSpPr>
          <p:cNvPr id="77" name="Text 75"/>
          <p:cNvSpPr txBox="1"/>
          <p:nvPr/>
        </p:nvSpPr>
        <p:spPr>
          <a:xfrm>
            <a:off x="10707624" y="4133088"/>
            <a:ext cx="978408" cy="256032"/>
          </a:xfrm>
          <a:prstGeom prst="rect">
            <a:avLst/>
          </a:prstGeom>
          <a:noFill/>
          <a:ln/>
        </p:spPr>
        <p:txBody>
          <a:bodyPr wrap="square" lIns="0" tIns="0" rIns="0" bIns="0" rtlCol="0" anchor="ctr"/>
          <a:lstStyle/>
          <a:p>
            <a:pPr algn="ctr" indent="0" marL="0">
              <a:buNone/>
            </a:pPr>
            <a:r>
              <a:rPr lang="en-US" sz="750" b="1" dirty="0">
                <a:solidFill>
                  <a:srgbClr val="1B1B1B"/>
                </a:solidFill>
                <a:latin typeface="Arial" pitchFamily="34" charset="0"/>
                <a:ea typeface="Arial" pitchFamily="34" charset="-122"/>
                <a:cs typeface="Arial" pitchFamily="34" charset="-120"/>
              </a:rPr>
              <a:t>Auditorium</a:t>
            </a:r>
            <a:endParaRPr lang="en-US" sz="750" dirty="0"/>
          </a:p>
        </p:txBody>
      </p:sp>
      <p:sp>
        <p:nvSpPr>
          <p:cNvPr id="78" name="Shape 76"/>
          <p:cNvSpPr/>
          <p:nvPr/>
        </p:nvSpPr>
        <p:spPr>
          <a:xfrm>
            <a:off x="8412480" y="4443984"/>
            <a:ext cx="1069848" cy="256032"/>
          </a:xfrm>
          <a:prstGeom prst="roundRect">
            <a:avLst>
              <a:gd name="adj" fmla="val 21429"/>
            </a:avLst>
          </a:prstGeom>
          <a:solidFill>
            <a:srgbClr val="FFFFFF"/>
          </a:solidFill>
          <a:ln w="12700">
            <a:solidFill>
              <a:srgbClr val="1B1B1B"/>
            </a:solidFill>
            <a:prstDash val="solid"/>
          </a:ln>
        </p:spPr>
      </p:sp>
      <p:sp>
        <p:nvSpPr>
          <p:cNvPr id="79" name="Text 77"/>
          <p:cNvSpPr txBox="1"/>
          <p:nvPr/>
        </p:nvSpPr>
        <p:spPr>
          <a:xfrm>
            <a:off x="8458200" y="4443984"/>
            <a:ext cx="978408" cy="256032"/>
          </a:xfrm>
          <a:prstGeom prst="rect">
            <a:avLst/>
          </a:prstGeom>
          <a:noFill/>
          <a:ln/>
        </p:spPr>
        <p:txBody>
          <a:bodyPr wrap="square" lIns="0" tIns="0" rIns="0" bIns="0" rtlCol="0" anchor="ctr"/>
          <a:lstStyle/>
          <a:p>
            <a:pPr algn="ctr" indent="0" marL="0">
              <a:buNone/>
            </a:pPr>
            <a:r>
              <a:rPr lang="en-US" sz="750" b="1" dirty="0">
                <a:solidFill>
                  <a:srgbClr val="1B1B1B"/>
                </a:solidFill>
                <a:latin typeface="Arial" pitchFamily="34" charset="0"/>
                <a:ea typeface="Arial" pitchFamily="34" charset="-122"/>
                <a:cs typeface="Arial" pitchFamily="34" charset="-120"/>
              </a:rPr>
              <a:t>Workshops</a:t>
            </a:r>
            <a:endParaRPr lang="en-US" sz="750" dirty="0"/>
          </a:p>
        </p:txBody>
      </p:sp>
      <p:sp>
        <p:nvSpPr>
          <p:cNvPr id="80" name="Shape 78"/>
          <p:cNvSpPr/>
          <p:nvPr/>
        </p:nvSpPr>
        <p:spPr>
          <a:xfrm>
            <a:off x="9537192" y="4443984"/>
            <a:ext cx="1069848" cy="256032"/>
          </a:xfrm>
          <a:prstGeom prst="roundRect">
            <a:avLst>
              <a:gd name="adj" fmla="val 21429"/>
            </a:avLst>
          </a:prstGeom>
          <a:solidFill>
            <a:srgbClr val="FFFFFF"/>
          </a:solidFill>
          <a:ln w="12700">
            <a:solidFill>
              <a:srgbClr val="1B1B1B"/>
            </a:solidFill>
            <a:prstDash val="solid"/>
          </a:ln>
        </p:spPr>
      </p:sp>
      <p:sp>
        <p:nvSpPr>
          <p:cNvPr id="81" name="Text 79"/>
          <p:cNvSpPr txBox="1"/>
          <p:nvPr/>
        </p:nvSpPr>
        <p:spPr>
          <a:xfrm>
            <a:off x="9582912" y="4443984"/>
            <a:ext cx="978408" cy="256032"/>
          </a:xfrm>
          <a:prstGeom prst="rect">
            <a:avLst/>
          </a:prstGeom>
          <a:noFill/>
          <a:ln/>
        </p:spPr>
        <p:txBody>
          <a:bodyPr wrap="square" lIns="0" tIns="0" rIns="0" bIns="0" rtlCol="0" anchor="ctr"/>
          <a:lstStyle/>
          <a:p>
            <a:pPr algn="ctr" indent="0" marL="0">
              <a:buNone/>
            </a:pPr>
            <a:r>
              <a:rPr lang="en-US" sz="750" b="1" dirty="0">
                <a:solidFill>
                  <a:srgbClr val="1B1B1B"/>
                </a:solidFill>
                <a:latin typeface="Arial" pitchFamily="34" charset="0"/>
                <a:ea typeface="Arial" pitchFamily="34" charset="-122"/>
                <a:cs typeface="Arial" pitchFamily="34" charset="-120"/>
              </a:rPr>
              <a:t>Education</a:t>
            </a:r>
            <a:endParaRPr lang="en-US" sz="750" dirty="0"/>
          </a:p>
        </p:txBody>
      </p:sp>
      <p:sp>
        <p:nvSpPr>
          <p:cNvPr id="82" name="Text 80"/>
          <p:cNvSpPr txBox="1"/>
          <p:nvPr/>
        </p:nvSpPr>
        <p:spPr>
          <a:xfrm>
            <a:off x="8412480" y="4828032"/>
            <a:ext cx="3319272" cy="384048"/>
          </a:xfrm>
          <a:prstGeom prst="rect">
            <a:avLst/>
          </a:prstGeom>
          <a:noFill/>
          <a:ln/>
        </p:spPr>
        <p:txBody>
          <a:bodyPr wrap="square" lIns="0" tIns="0" rIns="0" bIns="0" rtlCol="0" anchor="t"/>
          <a:lstStyle/>
          <a:p>
            <a:pPr indent="0" marL="0">
              <a:buNone/>
            </a:pPr>
            <a:r>
              <a:rPr lang="en-US" sz="850" b="1" dirty="0">
                <a:solidFill>
                  <a:srgbClr val="C4262E"/>
                </a:solidFill>
                <a:latin typeface="Arial" pitchFamily="34" charset="0"/>
                <a:ea typeface="Arial" pitchFamily="34" charset="-122"/>
                <a:cs typeface="Arial" pitchFamily="34" charset="-120"/>
              </a:rPr>
              <a:t>SITE RULE  </a:t>
            </a:r>
            <a:pPr indent="0" marL="0">
              <a:buNone/>
            </a:pPr>
            <a:r>
              <a:rPr lang="en-US" sz="850" dirty="0">
                <a:solidFill>
                  <a:srgbClr val="1B1B1B"/>
                </a:solidFill>
                <a:latin typeface="Arial" pitchFamily="34" charset="0"/>
                <a:ea typeface="Arial" pitchFamily="34" charset="-122"/>
                <a:cs typeface="Arial" pitchFamily="34" charset="-120"/>
              </a:rPr>
              <a:t>existing topography must not be altered</a:t>
            </a:r>
            <a:endParaRPr lang="en-US" sz="850" dirty="0"/>
          </a:p>
          <a:p>
            <a:pPr indent="0" marL="0">
              <a:buNone/>
            </a:pPr>
            <a:r>
              <a:rPr lang="en-US" sz="850" b="1" dirty="0">
                <a:solidFill>
                  <a:srgbClr val="C4262E"/>
                </a:solidFill>
                <a:latin typeface="Arial" pitchFamily="34" charset="0"/>
                <a:ea typeface="Arial" pitchFamily="34" charset="-122"/>
                <a:cs typeface="Arial" pitchFamily="34" charset="-120"/>
              </a:rPr>
              <a:t>STANCE  </a:t>
            </a:r>
            <a:pPr indent="0" marL="0">
              <a:buNone/>
            </a:pPr>
            <a:r>
              <a:rPr lang="en-US" sz="850" dirty="0">
                <a:solidFill>
                  <a:srgbClr val="1B1B1B"/>
                </a:solidFill>
                <a:latin typeface="Arial" pitchFamily="34" charset="0"/>
                <a:ea typeface="Arial" pitchFamily="34" charset="-122"/>
                <a:cs typeface="Arial" pitchFamily="34" charset="-120"/>
              </a:rPr>
              <a:t>take a clear personal position</a:t>
            </a:r>
            <a:endParaRPr lang="en-US" sz="850" dirty="0"/>
          </a:p>
        </p:txBody>
      </p:sp>
      <p:sp>
        <p:nvSpPr>
          <p:cNvPr id="83" name="Shape 81"/>
          <p:cNvSpPr/>
          <p:nvPr/>
        </p:nvSpPr>
        <p:spPr>
          <a:xfrm>
            <a:off x="8412480" y="5285232"/>
            <a:ext cx="3319272" cy="749808"/>
          </a:xfrm>
          <a:prstGeom prst="rect">
            <a:avLst/>
          </a:prstGeom>
          <a:solidFill>
            <a:srgbClr val="1B1B1B"/>
          </a:solidFill>
          <a:ln w="12700">
            <a:solidFill>
              <a:srgbClr val="1B1B1B"/>
            </a:solidFill>
            <a:prstDash val="solid"/>
          </a:ln>
        </p:spPr>
      </p:sp>
      <p:sp>
        <p:nvSpPr>
          <p:cNvPr id="84" name="Text 82"/>
          <p:cNvSpPr txBox="1"/>
          <p:nvPr/>
        </p:nvSpPr>
        <p:spPr>
          <a:xfrm>
            <a:off x="8522208" y="5340096"/>
            <a:ext cx="3108960" cy="676656"/>
          </a:xfrm>
          <a:prstGeom prst="rect">
            <a:avLst/>
          </a:prstGeom>
          <a:noFill/>
          <a:ln/>
        </p:spPr>
        <p:txBody>
          <a:bodyPr wrap="square" lIns="0" tIns="0" rIns="0" bIns="0" rtlCol="0" anchor="t"/>
          <a:lstStyle/>
          <a:p>
            <a:pPr indent="0" marL="0">
              <a:buNone/>
            </a:pPr>
            <a:r>
              <a:rPr lang="en-US" sz="850" b="1" dirty="0">
                <a:solidFill>
                  <a:srgbClr val="C4262E"/>
                </a:solidFill>
                <a:latin typeface="Arial" pitchFamily="34" charset="0"/>
                <a:ea typeface="Arial" pitchFamily="34" charset="-122"/>
                <a:cs typeface="Arial" pitchFamily="34" charset="-120"/>
              </a:rPr>
              <a:t>VISION</a:t>
            </a:r>
            <a:endParaRPr lang="en-US" sz="1000" dirty="0"/>
          </a:p>
          <a:p>
            <a:pPr indent="0" marL="0">
              <a:buNone/>
            </a:pPr>
            <a:r>
              <a:rPr lang="en-US" sz="950" dirty="0">
                <a:solidFill>
                  <a:srgbClr val="FFFFFF"/>
                </a:solidFill>
                <a:latin typeface="Arial" pitchFamily="34" charset="0"/>
                <a:ea typeface="Arial" pitchFamily="34" charset="-122"/>
                <a:cs typeface="Arial" pitchFamily="34" charset="-120"/>
              </a:rPr>
              <a:t>A shared civic institution where the city's knowledge is produced, questioned and shared — and where citizens take part alongside professionals.</a:t>
            </a:r>
            <a:endParaRPr lang="en-US" sz="1000" dirty="0"/>
          </a:p>
        </p:txBody>
      </p:sp>
      <p:sp>
        <p:nvSpPr>
          <p:cNvPr id="85" name="Shape 83"/>
          <p:cNvSpPr/>
          <p:nvPr/>
        </p:nvSpPr>
        <p:spPr>
          <a:xfrm>
            <a:off x="457200" y="6336792"/>
            <a:ext cx="118872" cy="118872"/>
          </a:xfrm>
          <a:prstGeom prst="ellipse">
            <a:avLst/>
          </a:prstGeom>
          <a:solidFill>
            <a:srgbClr val="C4262E"/>
          </a:solidFill>
          <a:ln w="12700">
            <a:solidFill>
              <a:srgbClr val="C4262E"/>
            </a:solidFill>
            <a:prstDash val="solid"/>
          </a:ln>
        </p:spPr>
      </p:sp>
      <p:sp>
        <p:nvSpPr>
          <p:cNvPr id="86" name="Text 84"/>
          <p:cNvSpPr txBox="1"/>
          <p:nvPr/>
        </p:nvSpPr>
        <p:spPr>
          <a:xfrm>
            <a:off x="658368" y="6263640"/>
            <a:ext cx="2560320" cy="274320"/>
          </a:xfrm>
          <a:prstGeom prst="rect">
            <a:avLst/>
          </a:prstGeom>
          <a:noFill/>
          <a:ln/>
        </p:spPr>
        <p:txBody>
          <a:bodyPr wrap="square" lIns="0" tIns="0" rIns="0" bIns="0" rtlCol="0" anchor="ctr"/>
          <a:lstStyle/>
          <a:p>
            <a:pPr indent="0" marL="0">
              <a:buNone/>
            </a:pPr>
            <a:r>
              <a:rPr lang="en-US" sz="1400" b="1" spc="200" kern="0" dirty="0">
                <a:solidFill>
                  <a:srgbClr val="1B1B1B"/>
                </a:solidFill>
                <a:latin typeface="Arial" pitchFamily="34" charset="0"/>
                <a:ea typeface="Arial" pitchFamily="34" charset="-122"/>
                <a:cs typeface="Arial" pitchFamily="34" charset="-120"/>
              </a:rPr>
              <a:t>TRUTH</a:t>
            </a:r>
            <a:endParaRPr lang="en-US" sz="1400" dirty="0"/>
          </a:p>
        </p:txBody>
      </p:sp>
      <p:sp>
        <p:nvSpPr>
          <p:cNvPr id="87" name="Shape 85"/>
          <p:cNvSpPr/>
          <p:nvPr/>
        </p:nvSpPr>
        <p:spPr>
          <a:xfrm>
            <a:off x="3291840" y="6336792"/>
            <a:ext cx="118872" cy="118872"/>
          </a:xfrm>
          <a:prstGeom prst="ellipse">
            <a:avLst/>
          </a:prstGeom>
          <a:solidFill>
            <a:srgbClr val="C4262E"/>
          </a:solidFill>
          <a:ln w="12700">
            <a:solidFill>
              <a:srgbClr val="C4262E"/>
            </a:solidFill>
            <a:prstDash val="solid"/>
          </a:ln>
        </p:spPr>
      </p:sp>
      <p:sp>
        <p:nvSpPr>
          <p:cNvPr id="88" name="Text 86"/>
          <p:cNvSpPr txBox="1"/>
          <p:nvPr/>
        </p:nvSpPr>
        <p:spPr>
          <a:xfrm>
            <a:off x="3493008" y="6263640"/>
            <a:ext cx="2560320" cy="274320"/>
          </a:xfrm>
          <a:prstGeom prst="rect">
            <a:avLst/>
          </a:prstGeom>
          <a:noFill/>
          <a:ln/>
        </p:spPr>
        <p:txBody>
          <a:bodyPr wrap="square" lIns="0" tIns="0" rIns="0" bIns="0" rtlCol="0" anchor="ctr"/>
          <a:lstStyle/>
          <a:p>
            <a:pPr indent="0" marL="0">
              <a:buNone/>
            </a:pPr>
            <a:r>
              <a:rPr lang="en-US" sz="1400" b="1" spc="200" kern="0" dirty="0">
                <a:solidFill>
                  <a:srgbClr val="1B1B1B"/>
                </a:solidFill>
                <a:latin typeface="Arial" pitchFamily="34" charset="0"/>
                <a:ea typeface="Arial" pitchFamily="34" charset="-122"/>
                <a:cs typeface="Arial" pitchFamily="34" charset="-120"/>
              </a:rPr>
              <a:t>REPRESENTATION</a:t>
            </a:r>
            <a:endParaRPr lang="en-US" sz="1400" dirty="0"/>
          </a:p>
        </p:txBody>
      </p:sp>
      <p:sp>
        <p:nvSpPr>
          <p:cNvPr id="89" name="Shape 87"/>
          <p:cNvSpPr/>
          <p:nvPr/>
        </p:nvSpPr>
        <p:spPr>
          <a:xfrm>
            <a:off x="6126480" y="6336792"/>
            <a:ext cx="118872" cy="118872"/>
          </a:xfrm>
          <a:prstGeom prst="ellipse">
            <a:avLst/>
          </a:prstGeom>
          <a:solidFill>
            <a:srgbClr val="C4262E"/>
          </a:solidFill>
          <a:ln w="12700">
            <a:solidFill>
              <a:srgbClr val="C4262E"/>
            </a:solidFill>
            <a:prstDash val="solid"/>
          </a:ln>
        </p:spPr>
      </p:sp>
      <p:sp>
        <p:nvSpPr>
          <p:cNvPr id="90" name="Text 88"/>
          <p:cNvSpPr txBox="1"/>
          <p:nvPr/>
        </p:nvSpPr>
        <p:spPr>
          <a:xfrm>
            <a:off x="6327648" y="6263640"/>
            <a:ext cx="2560320" cy="274320"/>
          </a:xfrm>
          <a:prstGeom prst="rect">
            <a:avLst/>
          </a:prstGeom>
          <a:noFill/>
          <a:ln/>
        </p:spPr>
        <p:txBody>
          <a:bodyPr wrap="square" lIns="0" tIns="0" rIns="0" bIns="0" rtlCol="0" anchor="ctr"/>
          <a:lstStyle/>
          <a:p>
            <a:pPr indent="0" marL="0">
              <a:buNone/>
            </a:pPr>
            <a:r>
              <a:rPr lang="en-US" sz="1400" b="1" spc="200" kern="0" dirty="0">
                <a:solidFill>
                  <a:srgbClr val="1B1B1B"/>
                </a:solidFill>
                <a:latin typeface="Arial" pitchFamily="34" charset="0"/>
                <a:ea typeface="Arial" pitchFamily="34" charset="-122"/>
                <a:cs typeface="Arial" pitchFamily="34" charset="-120"/>
              </a:rPr>
              <a:t>PUBLIC KNOWLEDGE</a:t>
            </a:r>
            <a:endParaRPr lang="en-US" sz="1400" dirty="0"/>
          </a:p>
        </p:txBody>
      </p:sp>
      <p:sp>
        <p:nvSpPr>
          <p:cNvPr id="91" name="Shape 89"/>
          <p:cNvSpPr/>
          <p:nvPr/>
        </p:nvSpPr>
        <p:spPr>
          <a:xfrm>
            <a:off x="8961120" y="6336792"/>
            <a:ext cx="118872" cy="118872"/>
          </a:xfrm>
          <a:prstGeom prst="ellipse">
            <a:avLst/>
          </a:prstGeom>
          <a:solidFill>
            <a:srgbClr val="C4262E"/>
          </a:solidFill>
          <a:ln w="12700">
            <a:solidFill>
              <a:srgbClr val="C4262E"/>
            </a:solidFill>
            <a:prstDash val="solid"/>
          </a:ln>
        </p:spPr>
      </p:sp>
      <p:sp>
        <p:nvSpPr>
          <p:cNvPr id="92" name="Text 90"/>
          <p:cNvSpPr txBox="1"/>
          <p:nvPr/>
        </p:nvSpPr>
        <p:spPr>
          <a:xfrm>
            <a:off x="9162288" y="6263640"/>
            <a:ext cx="2560320" cy="274320"/>
          </a:xfrm>
          <a:prstGeom prst="rect">
            <a:avLst/>
          </a:prstGeom>
          <a:noFill/>
          <a:ln/>
        </p:spPr>
        <p:txBody>
          <a:bodyPr wrap="square" lIns="0" tIns="0" rIns="0" bIns="0" rtlCol="0" anchor="ctr"/>
          <a:lstStyle/>
          <a:p>
            <a:pPr indent="0" marL="0">
              <a:buNone/>
            </a:pPr>
            <a:r>
              <a:rPr lang="en-US" sz="1400" b="1" spc="200" kern="0" dirty="0">
                <a:solidFill>
                  <a:srgbClr val="1B1B1B"/>
                </a:solidFill>
                <a:latin typeface="Arial" pitchFamily="34" charset="0"/>
                <a:ea typeface="Arial" pitchFamily="34" charset="-122"/>
                <a:cs typeface="Arial" pitchFamily="34" charset="-120"/>
              </a:rPr>
              <a:t>NEGOTIATION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9144000" cy="182880"/>
          </a:xfrm>
          <a:prstGeom prst="rect">
            <a:avLst/>
          </a:prstGeom>
          <a:noFill/>
          <a:ln/>
        </p:spPr>
        <p:txBody>
          <a:bodyPr wrap="square" lIns="0" tIns="0" rIns="0" bIns="0" rtlCol="0" anchor="t"/>
          <a:lstStyle/>
          <a:p>
            <a:pPr indent="0" marL="0">
              <a:buNone/>
            </a:pPr>
            <a:r>
              <a:rPr lang="en-US" sz="850" spc="100" kern="0" dirty="0">
                <a:solidFill>
                  <a:srgbClr val="6B6B6B"/>
                </a:solidFill>
                <a:latin typeface="Arial" pitchFamily="34" charset="0"/>
                <a:ea typeface="Arial" pitchFamily="34" charset="-122"/>
                <a:cs typeface="Arial" pitchFamily="34" charset="-120"/>
              </a:rPr>
              <a:t>SITES OF REPRESENTATION  ·  THE CONTEMPORARY PUBLISHING HOUSE  ·  ARCH 4201 · SEMESTER 8 · PROJECT 01</a:t>
            </a:r>
            <a:endParaRPr lang="en-US" sz="850" dirty="0"/>
          </a:p>
        </p:txBody>
      </p:sp>
      <p:sp>
        <p:nvSpPr>
          <p:cNvPr id="3" name="Text 1"/>
          <p:cNvSpPr txBox="1"/>
          <p:nvPr/>
        </p:nvSpPr>
        <p:spPr>
          <a:xfrm>
            <a:off x="457200" y="457200"/>
            <a:ext cx="9601200" cy="502920"/>
          </a:xfrm>
          <a:prstGeom prst="rect">
            <a:avLst/>
          </a:prstGeom>
          <a:noFill/>
          <a:ln/>
        </p:spPr>
        <p:txBody>
          <a:bodyPr wrap="square" lIns="0" tIns="0" rIns="0" bIns="0" rtlCol="0" anchor="t"/>
          <a:lstStyle/>
          <a:p>
            <a:pPr indent="0" marL="0">
              <a:buNone/>
            </a:pPr>
            <a:r>
              <a:rPr lang="en-US" sz="2600" b="1" dirty="0">
                <a:solidFill>
                  <a:srgbClr val="1B1B1B"/>
                </a:solidFill>
                <a:latin typeface="Arial" pitchFamily="34" charset="0"/>
                <a:ea typeface="Arial" pitchFamily="34" charset="-122"/>
                <a:cs typeface="Arial" pitchFamily="34" charset="-120"/>
              </a:rPr>
              <a:t>WHERE?  FOR WHOM?  WHAT CAN WE LEARN?</a:t>
            </a:r>
            <a:endParaRPr lang="en-US" sz="2600" dirty="0"/>
          </a:p>
        </p:txBody>
      </p:sp>
      <p:sp>
        <p:nvSpPr>
          <p:cNvPr id="4" name="Text 2"/>
          <p:cNvSpPr txBox="1"/>
          <p:nvPr/>
        </p:nvSpPr>
        <p:spPr>
          <a:xfrm>
            <a:off x="457200" y="978408"/>
            <a:ext cx="9601200" cy="22860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Site  ·  Users  ·  Precedents</a:t>
            </a:r>
            <a:endParaRPr lang="en-US" sz="1050" dirty="0"/>
          </a:p>
        </p:txBody>
      </p:sp>
      <p:sp>
        <p:nvSpPr>
          <p:cNvPr id="5" name="Text 3"/>
          <p:cNvSpPr txBox="1"/>
          <p:nvPr/>
        </p:nvSpPr>
        <p:spPr>
          <a:xfrm>
            <a:off x="10360152" y="320040"/>
            <a:ext cx="1371600" cy="822960"/>
          </a:xfrm>
          <a:prstGeom prst="rect">
            <a:avLst/>
          </a:prstGeom>
          <a:noFill/>
          <a:ln/>
        </p:spPr>
        <p:txBody>
          <a:bodyPr wrap="square" lIns="0" tIns="0" rIns="0" bIns="0" rtlCol="0" anchor="t"/>
          <a:lstStyle/>
          <a:p>
            <a:pPr algn="r" indent="0" marL="0">
              <a:buNone/>
            </a:pPr>
            <a:r>
              <a:rPr lang="en-US" sz="4800" b="1" dirty="0">
                <a:solidFill>
                  <a:srgbClr val="C4262E"/>
                </a:solidFill>
                <a:latin typeface="Arial" pitchFamily="34" charset="0"/>
                <a:ea typeface="Arial" pitchFamily="34" charset="-122"/>
                <a:cs typeface="Arial" pitchFamily="34" charset="-120"/>
              </a:rPr>
              <a:t>02</a:t>
            </a:r>
            <a:endParaRPr lang="en-US" sz="4800" dirty="0"/>
          </a:p>
        </p:txBody>
      </p:sp>
      <p:sp>
        <p:nvSpPr>
          <p:cNvPr id="6" name="Shape 4"/>
          <p:cNvSpPr/>
          <p:nvPr/>
        </p:nvSpPr>
        <p:spPr>
          <a:xfrm>
            <a:off x="457200" y="1472184"/>
            <a:ext cx="219456" cy="219456"/>
          </a:xfrm>
          <a:prstGeom prst="ellipse">
            <a:avLst/>
          </a:prstGeom>
          <a:solidFill>
            <a:srgbClr val="C4262E"/>
          </a:solidFill>
          <a:ln w="12700">
            <a:solidFill>
              <a:srgbClr val="C4262E"/>
            </a:solidFill>
            <a:prstDash val="solid"/>
          </a:ln>
        </p:spPr>
      </p:sp>
      <p:sp>
        <p:nvSpPr>
          <p:cNvPr id="7" name="Text 5"/>
          <p:cNvSpPr txBox="1"/>
          <p:nvPr/>
        </p:nvSpPr>
        <p:spPr>
          <a:xfrm>
            <a:off x="457200" y="147218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a:t>
            </a:r>
            <a:endParaRPr lang="en-US" sz="900" dirty="0"/>
          </a:p>
        </p:txBody>
      </p:sp>
      <p:sp>
        <p:nvSpPr>
          <p:cNvPr id="8" name="Text 6"/>
          <p:cNvSpPr txBox="1"/>
          <p:nvPr/>
        </p:nvSpPr>
        <p:spPr>
          <a:xfrm>
            <a:off x="758952" y="1463040"/>
            <a:ext cx="3813048" cy="237744"/>
          </a:xfrm>
          <a:prstGeom prst="rect">
            <a:avLst/>
          </a:prstGeom>
          <a:noFill/>
          <a:ln/>
        </p:spPr>
        <p:txBody>
          <a:bodyPr wrap="square" lIns="0" tIns="0" rIns="0" bIns="0" rtlCol="0" anchor="ctr"/>
          <a:lstStyle/>
          <a:p>
            <a:pPr indent="0" marL="0">
              <a:buNone/>
            </a:pPr>
            <a:r>
              <a:rPr lang="en-US" sz="1100" b="1" spc="100" kern="0" dirty="0">
                <a:solidFill>
                  <a:srgbClr val="1B1B1B"/>
                </a:solidFill>
                <a:latin typeface="Arial" pitchFamily="34" charset="0"/>
                <a:ea typeface="Arial" pitchFamily="34" charset="-122"/>
                <a:cs typeface="Arial" pitchFamily="34" charset="-120"/>
              </a:rPr>
              <a:t>SITE  ·  LAHORE PRESS CLUB · SHIMLA PAHARI</a:t>
            </a:r>
            <a:endParaRPr lang="en-US" sz="1100" dirty="0"/>
          </a:p>
        </p:txBody>
      </p:sp>
      <p:pic>
        <p:nvPicPr>
          <p:cNvPr id="9" name="Image 0" descr="Site plan of Shimla Pahari / Lahore Press Club reproduced from the project handout">    </p:cNvPr>
          <p:cNvPicPr>
            <a:picLocks noChangeAspect="1"/>
          </p:cNvPicPr>
          <p:nvPr/>
        </p:nvPicPr>
        <p:blipFill>
          <a:blip r:embed="rId1"/>
          <a:stretch>
            <a:fillRect/>
          </a:stretch>
        </p:blipFill>
        <p:spPr>
          <a:xfrm>
            <a:off x="457200" y="1783080"/>
            <a:ext cx="4069080" cy="2891416"/>
          </a:xfrm>
          <a:prstGeom prst="rect">
            <a:avLst/>
          </a:prstGeom>
        </p:spPr>
      </p:pic>
      <p:sp>
        <p:nvSpPr>
          <p:cNvPr id="10" name="Shape 7"/>
          <p:cNvSpPr/>
          <p:nvPr/>
        </p:nvSpPr>
        <p:spPr>
          <a:xfrm>
            <a:off x="457200" y="1783080"/>
            <a:ext cx="4069080" cy="2891416"/>
          </a:xfrm>
          <a:prstGeom prst="rect">
            <a:avLst/>
          </a:prstGeom>
          <a:ln w="9525">
            <a:solidFill>
              <a:srgbClr val="D9D9D9"/>
            </a:solidFill>
            <a:prstDash val="solid"/>
          </a:ln>
        </p:spPr>
      </p:sp>
      <p:sp>
        <p:nvSpPr>
          <p:cNvPr id="11" name="Text 8"/>
          <p:cNvSpPr txBox="1"/>
          <p:nvPr/>
        </p:nvSpPr>
        <p:spPr>
          <a:xfrm>
            <a:off x="457200" y="4692784"/>
            <a:ext cx="4069080" cy="164592"/>
          </a:xfrm>
          <a:prstGeom prst="rect">
            <a:avLst/>
          </a:prstGeom>
          <a:noFill/>
          <a:ln/>
        </p:spPr>
        <p:txBody>
          <a:bodyPr wrap="square" lIns="0" tIns="0" rIns="0" bIns="0" rtlCol="0" anchor="t"/>
          <a:lstStyle/>
          <a:p>
            <a:pPr indent="0" marL="0">
              <a:buNone/>
            </a:pPr>
            <a:r>
              <a:rPr lang="en-US" sz="700" i="1" dirty="0">
                <a:solidFill>
                  <a:srgbClr val="6B6B6B"/>
                </a:solidFill>
                <a:latin typeface="Arial" pitchFamily="34" charset="0"/>
                <a:ea typeface="Arial" pitchFamily="34" charset="-122"/>
                <a:cs typeface="Arial" pitchFamily="34" charset="-120"/>
              </a:rPr>
              <a:t>Site plan reproduced from the project handout (not to scale)</a:t>
            </a:r>
            <a:endParaRPr lang="en-US" sz="700" dirty="0"/>
          </a:p>
        </p:txBody>
      </p:sp>
      <p:sp>
        <p:nvSpPr>
          <p:cNvPr id="12" name="Text 9"/>
          <p:cNvSpPr txBox="1"/>
          <p:nvPr/>
        </p:nvSpPr>
        <p:spPr>
          <a:xfrm>
            <a:off x="457200" y="4873752"/>
            <a:ext cx="1325880" cy="274320"/>
          </a:xfrm>
          <a:prstGeom prst="rect">
            <a:avLst/>
          </a:prstGeom>
          <a:noFill/>
          <a:ln/>
        </p:spPr>
        <p:txBody>
          <a:bodyPr wrap="square" lIns="0" tIns="0" rIns="0" bIns="0" rtlCol="0" anchor="t"/>
          <a:lstStyle/>
          <a:p>
            <a:pPr indent="0" marL="0">
              <a:buNone/>
            </a:pPr>
            <a:r>
              <a:rPr lang="en-US" sz="1400" b="1" dirty="0">
                <a:solidFill>
                  <a:srgbClr val="C4262E"/>
                </a:solidFill>
                <a:latin typeface="Arial" pitchFamily="34" charset="0"/>
                <a:ea typeface="Arial" pitchFamily="34" charset="-122"/>
                <a:cs typeface="Arial" pitchFamily="34" charset="-120"/>
              </a:rPr>
              <a:t>3.134 ac</a:t>
            </a:r>
            <a:endParaRPr lang="en-US" sz="1400" dirty="0"/>
          </a:p>
        </p:txBody>
      </p:sp>
      <p:sp>
        <p:nvSpPr>
          <p:cNvPr id="13" name="Text 10"/>
          <p:cNvSpPr txBox="1"/>
          <p:nvPr/>
        </p:nvSpPr>
        <p:spPr>
          <a:xfrm>
            <a:off x="457200" y="5148072"/>
            <a:ext cx="1298448" cy="32004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 136,530 sq ft (approx.)</a:t>
            </a:r>
            <a:endParaRPr lang="en-US" sz="750" dirty="0"/>
          </a:p>
        </p:txBody>
      </p:sp>
      <p:sp>
        <p:nvSpPr>
          <p:cNvPr id="14" name="Text 11"/>
          <p:cNvSpPr txBox="1"/>
          <p:nvPr/>
        </p:nvSpPr>
        <p:spPr>
          <a:xfrm>
            <a:off x="1828800" y="4873752"/>
            <a:ext cx="1325880" cy="274320"/>
          </a:xfrm>
          <a:prstGeom prst="rect">
            <a:avLst/>
          </a:prstGeom>
          <a:noFill/>
          <a:ln/>
        </p:spPr>
        <p:txBody>
          <a:bodyPr wrap="square" lIns="0" tIns="0" rIns="0" bIns="0" rtlCol="0" anchor="t"/>
          <a:lstStyle/>
          <a:p>
            <a:pPr indent="0" marL="0">
              <a:buNone/>
            </a:pPr>
            <a:r>
              <a:rPr lang="en-US" sz="1400" b="1" dirty="0">
                <a:solidFill>
                  <a:srgbClr val="1B1B1B"/>
                </a:solidFill>
                <a:latin typeface="Arial" pitchFamily="34" charset="0"/>
                <a:ea typeface="Arial" pitchFamily="34" charset="-122"/>
                <a:cs typeface="Arial" pitchFamily="34" charset="-120"/>
              </a:rPr>
              <a:t>CONTOURED</a:t>
            </a:r>
            <a:endParaRPr lang="en-US" sz="1400" dirty="0"/>
          </a:p>
        </p:txBody>
      </p:sp>
      <p:sp>
        <p:nvSpPr>
          <p:cNvPr id="15" name="Text 12"/>
          <p:cNvSpPr txBox="1"/>
          <p:nvPr/>
        </p:nvSpPr>
        <p:spPr>
          <a:xfrm>
            <a:off x="1828800" y="5148072"/>
            <a:ext cx="1298448" cy="32004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topography to stay unaltered</a:t>
            </a:r>
            <a:endParaRPr lang="en-US" sz="750" dirty="0"/>
          </a:p>
        </p:txBody>
      </p:sp>
      <p:sp>
        <p:nvSpPr>
          <p:cNvPr id="16" name="Text 13"/>
          <p:cNvSpPr txBox="1"/>
          <p:nvPr/>
        </p:nvSpPr>
        <p:spPr>
          <a:xfrm>
            <a:off x="3200400" y="4873752"/>
            <a:ext cx="1325880" cy="274320"/>
          </a:xfrm>
          <a:prstGeom prst="rect">
            <a:avLst/>
          </a:prstGeom>
          <a:noFill/>
          <a:ln/>
        </p:spPr>
        <p:txBody>
          <a:bodyPr wrap="square" lIns="0" tIns="0" rIns="0" bIns="0" rtlCol="0" anchor="t"/>
          <a:lstStyle/>
          <a:p>
            <a:pPr indent="0" marL="0">
              <a:buNone/>
            </a:pPr>
            <a:r>
              <a:rPr lang="en-US" sz="1400" b="1" dirty="0">
                <a:solidFill>
                  <a:srgbClr val="1B1B1B"/>
                </a:solidFill>
                <a:latin typeface="Arial" pitchFamily="34" charset="0"/>
                <a:ea typeface="Arial" pitchFamily="34" charset="-122"/>
                <a:cs typeface="Arial" pitchFamily="34" charset="-120"/>
              </a:rPr>
              <a:t>3 PARTS</a:t>
            </a:r>
            <a:endParaRPr lang="en-US" sz="1400" dirty="0"/>
          </a:p>
        </p:txBody>
      </p:sp>
      <p:sp>
        <p:nvSpPr>
          <p:cNvPr id="17" name="Text 14"/>
          <p:cNvSpPr txBox="1"/>
          <p:nvPr/>
        </p:nvSpPr>
        <p:spPr>
          <a:xfrm>
            <a:off x="3200400" y="5148072"/>
            <a:ext cx="1298448" cy="320040"/>
          </a:xfrm>
          <a:prstGeom prst="rect">
            <a:avLst/>
          </a:prstGeom>
          <a:noFill/>
          <a:ln/>
        </p:spPr>
        <p:txBody>
          <a:bodyPr wrap="square" lIns="0" tIns="0" rIns="0" bIns="0" rtlCol="0" anchor="t"/>
          <a:lstStyle/>
          <a:p>
            <a:pPr indent="0" marL="0">
              <a:buNone/>
            </a:pPr>
            <a:r>
              <a:rPr lang="en-US" sz="750" dirty="0">
                <a:solidFill>
                  <a:srgbClr val="6B6B6B"/>
                </a:solidFill>
                <a:latin typeface="Arial" pitchFamily="34" charset="0"/>
                <a:ea typeface="Arial" pitchFamily="34" charset="-122"/>
                <a:cs typeface="Arial" pitchFamily="34" charset="-120"/>
              </a:rPr>
              <a:t>Press Club + Shimla Pahari + protest interface</a:t>
            </a:r>
            <a:endParaRPr lang="en-US" sz="750" dirty="0"/>
          </a:p>
        </p:txBody>
      </p:sp>
      <p:sp>
        <p:nvSpPr>
          <p:cNvPr id="18" name="Text 15"/>
          <p:cNvSpPr txBox="1"/>
          <p:nvPr/>
        </p:nvSpPr>
        <p:spPr>
          <a:xfrm>
            <a:off x="457200" y="5440680"/>
            <a:ext cx="4114800" cy="502920"/>
          </a:xfrm>
          <a:prstGeom prst="rect">
            <a:avLst/>
          </a:prstGeom>
          <a:noFill/>
          <a:ln/>
        </p:spPr>
        <p:txBody>
          <a:bodyPr wrap="square" lIns="0" tIns="0" rIns="0" bIns="0" rtlCol="0" anchor="t"/>
          <a:lstStyle/>
          <a:p>
            <a:pPr indent="0" marL="0">
              <a:buNone/>
            </a:pPr>
            <a:r>
              <a:rPr lang="en-US" sz="750" b="1" dirty="0">
                <a:solidFill>
                  <a:srgbClr val="4F7A43"/>
                </a:solidFill>
                <a:latin typeface="Arial" pitchFamily="34" charset="0"/>
                <a:ea typeface="Arial" pitchFamily="34" charset="-122"/>
                <a:cs typeface="Arial" pitchFamily="34" charset="-120"/>
              </a:rPr>
              <a:t>HISTORY  </a:t>
            </a:r>
            <a:pPr indent="0" marL="0">
              <a:buNone/>
            </a:pPr>
            <a:r>
              <a:rPr lang="en-US" sz="750" dirty="0">
                <a:solidFill>
                  <a:srgbClr val="1B1B1B"/>
                </a:solidFill>
                <a:latin typeface="Arial" pitchFamily="34" charset="0"/>
                <a:ea typeface="Arial" pitchFamily="34" charset="-122"/>
                <a:cs typeface="Arial" pitchFamily="34" charset="-120"/>
              </a:rPr>
              <a:t>man-made mound linked to a brick kiln; slopes + greenery; Press Club later built on part of the hill</a:t>
            </a:r>
            <a:endParaRPr lang="en-US" sz="750" dirty="0"/>
          </a:p>
          <a:p>
            <a:pPr indent="0" marL="0">
              <a:buNone/>
            </a:pPr>
            <a:r>
              <a:rPr lang="en-US" sz="750" b="1" dirty="0">
                <a:solidFill>
                  <a:srgbClr val="C4262E"/>
                </a:solidFill>
                <a:latin typeface="Arial" pitchFamily="34" charset="0"/>
                <a:ea typeface="Arial" pitchFamily="34" charset="-122"/>
                <a:cs typeface="Arial" pitchFamily="34" charset="-120"/>
              </a:rPr>
              <a:t>CONTEXT  </a:t>
            </a:r>
            <a:pPr indent="0" marL="0">
              <a:buNone/>
            </a:pPr>
            <a:r>
              <a:rPr lang="en-US" sz="750" dirty="0">
                <a:solidFill>
                  <a:srgbClr val="1B1B1B"/>
                </a:solidFill>
                <a:latin typeface="Arial" pitchFamily="34" charset="0"/>
                <a:ea typeface="Arial" pitchFamily="34" charset="-122"/>
                <a:cs typeface="Arial" pitchFamily="34" charset="-120"/>
              </a:rPr>
              <a:t>Davis Road: historic media street; roads lead to Punjab Assembly · Railway Station · Canal Bank</a:t>
            </a:r>
            <a:endParaRPr lang="en-US" sz="750" dirty="0"/>
          </a:p>
        </p:txBody>
      </p:sp>
      <p:sp>
        <p:nvSpPr>
          <p:cNvPr id="19" name="Shape 16"/>
          <p:cNvSpPr/>
          <p:nvPr/>
        </p:nvSpPr>
        <p:spPr>
          <a:xfrm>
            <a:off x="457200" y="6035040"/>
            <a:ext cx="804672" cy="457200"/>
          </a:xfrm>
          <a:prstGeom prst="rect">
            <a:avLst/>
          </a:prstGeom>
          <a:solidFill>
            <a:srgbClr val="F2F2F2"/>
          </a:solidFill>
          <a:ln w="12700">
            <a:solidFill>
              <a:srgbClr val="D9D9D9"/>
            </a:solidFill>
            <a:prstDash val="solid"/>
          </a:ln>
        </p:spPr>
      </p:sp>
      <p:sp>
        <p:nvSpPr>
          <p:cNvPr id="20" name="Text 17"/>
          <p:cNvSpPr txBox="1"/>
          <p:nvPr/>
        </p:nvSpPr>
        <p:spPr>
          <a:xfrm>
            <a:off x="457200" y="6035040"/>
            <a:ext cx="804672" cy="457200"/>
          </a:xfrm>
          <a:prstGeom prst="rect">
            <a:avLst/>
          </a:prstGeom>
          <a:noFill/>
          <a:ln/>
        </p:spPr>
        <p:txBody>
          <a:bodyPr wrap="square" lIns="0" tIns="0" rIns="0" bIns="0" rtlCol="0" anchor="ctr"/>
          <a:lstStyle/>
          <a:p>
            <a:pPr algn="ctr" indent="0" marL="0">
              <a:buNone/>
            </a:pPr>
            <a:r>
              <a:rPr lang="en-US" sz="850" b="1" dirty="0">
                <a:solidFill>
                  <a:srgbClr val="1B1B1B"/>
                </a:solidFill>
                <a:latin typeface="Arial" pitchFamily="34" charset="0"/>
                <a:ea typeface="Arial" pitchFamily="34" charset="-122"/>
                <a:cs typeface="Arial" pitchFamily="34" charset="-120"/>
              </a:rPr>
              <a:t>HILL</a:t>
            </a:r>
            <a:endParaRPr lang="en-US" sz="1000" dirty="0"/>
          </a:p>
          <a:p>
            <a:pPr algn="ctr" indent="0" marL="0">
              <a:buNone/>
            </a:pPr>
            <a:r>
              <a:rPr lang="en-US" sz="700" dirty="0">
                <a:solidFill>
                  <a:srgbClr val="1B1B1B"/>
                </a:solidFill>
                <a:latin typeface="Arial" pitchFamily="34" charset="0"/>
                <a:ea typeface="Arial" pitchFamily="34" charset="-122"/>
                <a:cs typeface="Arial" pitchFamily="34" charset="-120"/>
              </a:rPr>
              <a:t>landmark</a:t>
            </a:r>
            <a:endParaRPr lang="en-US" sz="1000" dirty="0"/>
          </a:p>
        </p:txBody>
      </p:sp>
      <p:sp>
        <p:nvSpPr>
          <p:cNvPr id="21" name="Shape 18"/>
          <p:cNvSpPr/>
          <p:nvPr/>
        </p:nvSpPr>
        <p:spPr>
          <a:xfrm>
            <a:off x="1280160" y="6263640"/>
            <a:ext cx="210312" cy="914"/>
          </a:xfrm>
          <a:prstGeom prst="line">
            <a:avLst/>
          </a:prstGeom>
          <a:noFill/>
          <a:ln w="12700">
            <a:solidFill>
              <a:srgbClr val="1B1B1B"/>
            </a:solidFill>
            <a:prstDash val="solid"/>
            <a:tailEnd type="triangle"/>
          </a:ln>
        </p:spPr>
      </p:sp>
      <p:sp>
        <p:nvSpPr>
          <p:cNvPr id="22" name="Shape 19"/>
          <p:cNvSpPr/>
          <p:nvPr/>
        </p:nvSpPr>
        <p:spPr>
          <a:xfrm>
            <a:off x="1508760" y="6035040"/>
            <a:ext cx="804672" cy="457200"/>
          </a:xfrm>
          <a:prstGeom prst="rect">
            <a:avLst/>
          </a:prstGeom>
          <a:solidFill>
            <a:srgbClr val="C4262E"/>
          </a:solidFill>
          <a:ln w="12700">
            <a:solidFill>
              <a:srgbClr val="C4262E"/>
            </a:solidFill>
            <a:prstDash val="solid"/>
          </a:ln>
        </p:spPr>
      </p:sp>
      <p:sp>
        <p:nvSpPr>
          <p:cNvPr id="23" name="Text 20"/>
          <p:cNvSpPr txBox="1"/>
          <p:nvPr/>
        </p:nvSpPr>
        <p:spPr>
          <a:xfrm>
            <a:off x="1508760" y="6035040"/>
            <a:ext cx="804672" cy="45720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PROJECT</a:t>
            </a:r>
            <a:endParaRPr lang="en-US" sz="1000" dirty="0"/>
          </a:p>
          <a:p>
            <a:pPr algn="ctr" indent="0" marL="0">
              <a:buNone/>
            </a:pPr>
            <a:r>
              <a:rPr lang="en-US" sz="700" dirty="0">
                <a:solidFill>
                  <a:srgbClr val="FFFFFF"/>
                </a:solidFill>
                <a:latin typeface="Arial" pitchFamily="34" charset="0"/>
                <a:ea typeface="Arial" pitchFamily="34" charset="-122"/>
                <a:cs typeface="Arial" pitchFamily="34" charset="-120"/>
              </a:rPr>
              <a:t>amplifier</a:t>
            </a:r>
            <a:endParaRPr lang="en-US" sz="1000" dirty="0"/>
          </a:p>
        </p:txBody>
      </p:sp>
      <p:sp>
        <p:nvSpPr>
          <p:cNvPr id="24" name="Shape 21"/>
          <p:cNvSpPr/>
          <p:nvPr/>
        </p:nvSpPr>
        <p:spPr>
          <a:xfrm>
            <a:off x="2331720" y="6263640"/>
            <a:ext cx="210312" cy="914"/>
          </a:xfrm>
          <a:prstGeom prst="line">
            <a:avLst/>
          </a:prstGeom>
          <a:noFill/>
          <a:ln w="12700">
            <a:solidFill>
              <a:srgbClr val="1B1B1B"/>
            </a:solidFill>
            <a:prstDash val="solid"/>
            <a:tailEnd type="triangle"/>
          </a:ln>
        </p:spPr>
      </p:sp>
      <p:sp>
        <p:nvSpPr>
          <p:cNvPr id="25" name="Shape 22"/>
          <p:cNvSpPr/>
          <p:nvPr/>
        </p:nvSpPr>
        <p:spPr>
          <a:xfrm>
            <a:off x="2560320" y="6035040"/>
            <a:ext cx="804672" cy="457200"/>
          </a:xfrm>
          <a:prstGeom prst="rect">
            <a:avLst/>
          </a:prstGeom>
          <a:solidFill>
            <a:srgbClr val="F2F2F2"/>
          </a:solidFill>
          <a:ln w="12700">
            <a:solidFill>
              <a:srgbClr val="D9D9D9"/>
            </a:solidFill>
            <a:prstDash val="solid"/>
          </a:ln>
        </p:spPr>
      </p:sp>
      <p:sp>
        <p:nvSpPr>
          <p:cNvPr id="26" name="Text 23"/>
          <p:cNvSpPr txBox="1"/>
          <p:nvPr/>
        </p:nvSpPr>
        <p:spPr>
          <a:xfrm>
            <a:off x="2560320" y="6035040"/>
            <a:ext cx="804672" cy="457200"/>
          </a:xfrm>
          <a:prstGeom prst="rect">
            <a:avLst/>
          </a:prstGeom>
          <a:noFill/>
          <a:ln/>
        </p:spPr>
        <p:txBody>
          <a:bodyPr wrap="square" lIns="0" tIns="0" rIns="0" bIns="0" rtlCol="0" anchor="ctr"/>
          <a:lstStyle/>
          <a:p>
            <a:pPr algn="ctr" indent="0" marL="0">
              <a:buNone/>
            </a:pPr>
            <a:r>
              <a:rPr lang="en-US" sz="850" b="1" dirty="0">
                <a:solidFill>
                  <a:srgbClr val="1B1B1B"/>
                </a:solidFill>
                <a:latin typeface="Arial" pitchFamily="34" charset="0"/>
                <a:ea typeface="Arial" pitchFamily="34" charset="-122"/>
                <a:cs typeface="Arial" pitchFamily="34" charset="-120"/>
              </a:rPr>
              <a:t>ROAD</a:t>
            </a:r>
            <a:endParaRPr lang="en-US" sz="1000" dirty="0"/>
          </a:p>
          <a:p>
            <a:pPr algn="ctr" indent="0" marL="0">
              <a:buNone/>
            </a:pPr>
            <a:r>
              <a:rPr lang="en-US" sz="700" dirty="0">
                <a:solidFill>
                  <a:srgbClr val="1B1B1B"/>
                </a:solidFill>
                <a:latin typeface="Arial" pitchFamily="34" charset="0"/>
                <a:ea typeface="Arial" pitchFamily="34" charset="-122"/>
                <a:cs typeface="Arial" pitchFamily="34" charset="-120"/>
              </a:rPr>
              <a:t>audience</a:t>
            </a:r>
            <a:endParaRPr lang="en-US" sz="1000" dirty="0"/>
          </a:p>
        </p:txBody>
      </p:sp>
      <p:sp>
        <p:nvSpPr>
          <p:cNvPr id="27" name="Shape 24"/>
          <p:cNvSpPr/>
          <p:nvPr/>
        </p:nvSpPr>
        <p:spPr>
          <a:xfrm>
            <a:off x="3383280" y="6263640"/>
            <a:ext cx="210312" cy="914"/>
          </a:xfrm>
          <a:prstGeom prst="line">
            <a:avLst/>
          </a:prstGeom>
          <a:noFill/>
          <a:ln w="12700">
            <a:solidFill>
              <a:srgbClr val="1B1B1B"/>
            </a:solidFill>
            <a:prstDash val="solid"/>
            <a:tailEnd type="triangle"/>
          </a:ln>
        </p:spPr>
      </p:sp>
      <p:sp>
        <p:nvSpPr>
          <p:cNvPr id="28" name="Shape 25"/>
          <p:cNvSpPr/>
          <p:nvPr/>
        </p:nvSpPr>
        <p:spPr>
          <a:xfrm>
            <a:off x="3611880" y="6035040"/>
            <a:ext cx="804672" cy="457200"/>
          </a:xfrm>
          <a:prstGeom prst="rect">
            <a:avLst/>
          </a:prstGeom>
          <a:solidFill>
            <a:srgbClr val="F2F2F2"/>
          </a:solidFill>
          <a:ln w="12700">
            <a:solidFill>
              <a:srgbClr val="D9D9D9"/>
            </a:solidFill>
            <a:prstDash val="solid"/>
          </a:ln>
        </p:spPr>
      </p:sp>
      <p:sp>
        <p:nvSpPr>
          <p:cNvPr id="29" name="Text 26"/>
          <p:cNvSpPr txBox="1"/>
          <p:nvPr/>
        </p:nvSpPr>
        <p:spPr>
          <a:xfrm>
            <a:off x="3611880" y="6035040"/>
            <a:ext cx="804672" cy="457200"/>
          </a:xfrm>
          <a:prstGeom prst="rect">
            <a:avLst/>
          </a:prstGeom>
          <a:noFill/>
          <a:ln/>
        </p:spPr>
        <p:txBody>
          <a:bodyPr wrap="square" lIns="0" tIns="0" rIns="0" bIns="0" rtlCol="0" anchor="ctr"/>
          <a:lstStyle/>
          <a:p>
            <a:pPr algn="ctr" indent="0" marL="0">
              <a:buNone/>
            </a:pPr>
            <a:r>
              <a:rPr lang="en-US" sz="850" b="1" dirty="0">
                <a:solidFill>
                  <a:srgbClr val="1B1B1B"/>
                </a:solidFill>
                <a:latin typeface="Arial" pitchFamily="34" charset="0"/>
                <a:ea typeface="Arial" pitchFamily="34" charset="-122"/>
                <a:cs typeface="Arial" pitchFamily="34" charset="-120"/>
              </a:rPr>
              <a:t>CITY</a:t>
            </a:r>
            <a:endParaRPr lang="en-US" sz="1000" dirty="0"/>
          </a:p>
          <a:p>
            <a:pPr algn="ctr" indent="0" marL="0">
              <a:buNone/>
            </a:pPr>
            <a:r>
              <a:rPr lang="en-US" sz="700" dirty="0">
                <a:solidFill>
                  <a:srgbClr val="1B1B1B"/>
                </a:solidFill>
                <a:latin typeface="Arial" pitchFamily="34" charset="0"/>
                <a:ea typeface="Arial" pitchFamily="34" charset="-122"/>
                <a:cs typeface="Arial" pitchFamily="34" charset="-120"/>
              </a:rPr>
              <a:t>distribution</a:t>
            </a:r>
            <a:endParaRPr lang="en-US" sz="1000" dirty="0"/>
          </a:p>
        </p:txBody>
      </p:sp>
      <p:sp>
        <p:nvSpPr>
          <p:cNvPr id="30" name="Shape 27"/>
          <p:cNvSpPr/>
          <p:nvPr/>
        </p:nvSpPr>
        <p:spPr>
          <a:xfrm>
            <a:off x="4846320" y="1472184"/>
            <a:ext cx="219456" cy="219456"/>
          </a:xfrm>
          <a:prstGeom prst="ellipse">
            <a:avLst/>
          </a:prstGeom>
          <a:solidFill>
            <a:srgbClr val="C4262E"/>
          </a:solidFill>
          <a:ln w="12700">
            <a:solidFill>
              <a:srgbClr val="C4262E"/>
            </a:solidFill>
            <a:prstDash val="solid"/>
          </a:ln>
        </p:spPr>
      </p:sp>
      <p:sp>
        <p:nvSpPr>
          <p:cNvPr id="31" name="Text 28"/>
          <p:cNvSpPr txBox="1"/>
          <p:nvPr/>
        </p:nvSpPr>
        <p:spPr>
          <a:xfrm>
            <a:off x="4846320" y="147218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a:t>
            </a:r>
            <a:endParaRPr lang="en-US" sz="900" dirty="0"/>
          </a:p>
        </p:txBody>
      </p:sp>
      <p:sp>
        <p:nvSpPr>
          <p:cNvPr id="32" name="Text 29"/>
          <p:cNvSpPr txBox="1"/>
          <p:nvPr/>
        </p:nvSpPr>
        <p:spPr>
          <a:xfrm>
            <a:off x="5148072" y="1463040"/>
            <a:ext cx="3264408" cy="237744"/>
          </a:xfrm>
          <a:prstGeom prst="rect">
            <a:avLst/>
          </a:prstGeom>
          <a:noFill/>
          <a:ln/>
        </p:spPr>
        <p:txBody>
          <a:bodyPr wrap="square" lIns="0" tIns="0" rIns="0" bIns="0" rtlCol="0" anchor="ctr"/>
          <a:lstStyle/>
          <a:p>
            <a:pPr indent="0" marL="0">
              <a:buNone/>
            </a:pPr>
            <a:r>
              <a:rPr lang="en-US" sz="1100" b="1" spc="100" kern="0" dirty="0">
                <a:solidFill>
                  <a:srgbClr val="1B1B1B"/>
                </a:solidFill>
                <a:latin typeface="Arial" pitchFamily="34" charset="0"/>
                <a:ea typeface="Arial" pitchFamily="34" charset="-122"/>
                <a:cs typeface="Arial" pitchFamily="34" charset="-120"/>
              </a:rPr>
              <a:t>USERS  ·  WHO TAKES PART?</a:t>
            </a:r>
            <a:endParaRPr lang="en-US" sz="1100" dirty="0"/>
          </a:p>
        </p:txBody>
      </p:sp>
      <p:sp>
        <p:nvSpPr>
          <p:cNvPr id="33" name="Shape 30"/>
          <p:cNvSpPr/>
          <p:nvPr/>
        </p:nvSpPr>
        <p:spPr>
          <a:xfrm>
            <a:off x="6629400" y="2212848"/>
            <a:ext cx="1188720" cy="804672"/>
          </a:xfrm>
          <a:prstGeom prst="line">
            <a:avLst/>
          </a:prstGeom>
          <a:noFill/>
          <a:ln w="9525">
            <a:solidFill>
              <a:srgbClr val="8C8C8C"/>
            </a:solidFill>
            <a:prstDash val="dash"/>
          </a:ln>
        </p:spPr>
      </p:sp>
      <p:sp>
        <p:nvSpPr>
          <p:cNvPr id="34" name="Shape 31"/>
          <p:cNvSpPr/>
          <p:nvPr/>
        </p:nvSpPr>
        <p:spPr>
          <a:xfrm>
            <a:off x="6629400" y="2212848"/>
            <a:ext cx="914" cy="1536192"/>
          </a:xfrm>
          <a:prstGeom prst="line">
            <a:avLst/>
          </a:prstGeom>
          <a:noFill/>
          <a:ln w="15875">
            <a:solidFill>
              <a:srgbClr val="1B1B1B"/>
            </a:solidFill>
            <a:prstDash val="solid"/>
          </a:ln>
        </p:spPr>
      </p:sp>
      <p:sp>
        <p:nvSpPr>
          <p:cNvPr id="35" name="Shape 32"/>
          <p:cNvSpPr/>
          <p:nvPr/>
        </p:nvSpPr>
        <p:spPr>
          <a:xfrm>
            <a:off x="7818120" y="3017520"/>
            <a:ext cx="914" cy="1481328"/>
          </a:xfrm>
          <a:prstGeom prst="line">
            <a:avLst/>
          </a:prstGeom>
          <a:noFill/>
          <a:ln w="9525">
            <a:solidFill>
              <a:srgbClr val="8C8C8C"/>
            </a:solidFill>
            <a:prstDash val="dash"/>
          </a:ln>
        </p:spPr>
      </p:sp>
      <p:sp>
        <p:nvSpPr>
          <p:cNvPr id="36" name="Shape 33"/>
          <p:cNvSpPr/>
          <p:nvPr/>
        </p:nvSpPr>
        <p:spPr>
          <a:xfrm flipH="1">
            <a:off x="6629400" y="3017520"/>
            <a:ext cx="1188720" cy="731520"/>
          </a:xfrm>
          <a:prstGeom prst="line">
            <a:avLst/>
          </a:prstGeom>
          <a:noFill/>
          <a:ln w="15875">
            <a:solidFill>
              <a:srgbClr val="1B1B1B"/>
            </a:solidFill>
            <a:prstDash val="solid"/>
          </a:ln>
        </p:spPr>
      </p:sp>
      <p:sp>
        <p:nvSpPr>
          <p:cNvPr id="37" name="Shape 34"/>
          <p:cNvSpPr/>
          <p:nvPr/>
        </p:nvSpPr>
        <p:spPr>
          <a:xfrm flipH="1">
            <a:off x="6629400" y="4498848"/>
            <a:ext cx="1188720" cy="804672"/>
          </a:xfrm>
          <a:prstGeom prst="line">
            <a:avLst/>
          </a:prstGeom>
          <a:noFill/>
          <a:ln w="9525">
            <a:solidFill>
              <a:srgbClr val="8C8C8C"/>
            </a:solidFill>
            <a:prstDash val="dash"/>
          </a:ln>
        </p:spPr>
      </p:sp>
      <p:sp>
        <p:nvSpPr>
          <p:cNvPr id="38" name="Shape 35"/>
          <p:cNvSpPr/>
          <p:nvPr/>
        </p:nvSpPr>
        <p:spPr>
          <a:xfrm>
            <a:off x="6629400" y="3749040"/>
            <a:ext cx="1188720" cy="749808"/>
          </a:xfrm>
          <a:prstGeom prst="line">
            <a:avLst/>
          </a:prstGeom>
          <a:noFill/>
          <a:ln w="15875">
            <a:solidFill>
              <a:srgbClr val="1B1B1B"/>
            </a:solidFill>
            <a:prstDash val="solid"/>
          </a:ln>
        </p:spPr>
      </p:sp>
      <p:sp>
        <p:nvSpPr>
          <p:cNvPr id="39" name="Shape 36"/>
          <p:cNvSpPr/>
          <p:nvPr/>
        </p:nvSpPr>
        <p:spPr>
          <a:xfrm>
            <a:off x="5440680" y="4498848"/>
            <a:ext cx="1188720" cy="804672"/>
          </a:xfrm>
          <a:prstGeom prst="line">
            <a:avLst/>
          </a:prstGeom>
          <a:noFill/>
          <a:ln w="9525">
            <a:solidFill>
              <a:srgbClr val="8C8C8C"/>
            </a:solidFill>
            <a:prstDash val="dash"/>
          </a:ln>
        </p:spPr>
      </p:sp>
      <p:sp>
        <p:nvSpPr>
          <p:cNvPr id="40" name="Shape 37"/>
          <p:cNvSpPr/>
          <p:nvPr/>
        </p:nvSpPr>
        <p:spPr>
          <a:xfrm>
            <a:off x="6629400" y="3749040"/>
            <a:ext cx="914" cy="1554480"/>
          </a:xfrm>
          <a:prstGeom prst="line">
            <a:avLst/>
          </a:prstGeom>
          <a:noFill/>
          <a:ln w="15875">
            <a:solidFill>
              <a:srgbClr val="1B1B1B"/>
            </a:solidFill>
            <a:prstDash val="solid"/>
          </a:ln>
        </p:spPr>
      </p:sp>
      <p:sp>
        <p:nvSpPr>
          <p:cNvPr id="41" name="Shape 38"/>
          <p:cNvSpPr/>
          <p:nvPr/>
        </p:nvSpPr>
        <p:spPr>
          <a:xfrm>
            <a:off x="5440680" y="3017520"/>
            <a:ext cx="914" cy="1481328"/>
          </a:xfrm>
          <a:prstGeom prst="line">
            <a:avLst/>
          </a:prstGeom>
          <a:noFill/>
          <a:ln w="9525">
            <a:solidFill>
              <a:srgbClr val="8C8C8C"/>
            </a:solidFill>
            <a:prstDash val="dash"/>
          </a:ln>
        </p:spPr>
      </p:sp>
      <p:sp>
        <p:nvSpPr>
          <p:cNvPr id="42" name="Shape 39"/>
          <p:cNvSpPr/>
          <p:nvPr/>
        </p:nvSpPr>
        <p:spPr>
          <a:xfrm flipH="1">
            <a:off x="5440680" y="3749040"/>
            <a:ext cx="1188720" cy="749808"/>
          </a:xfrm>
          <a:prstGeom prst="line">
            <a:avLst/>
          </a:prstGeom>
          <a:noFill/>
          <a:ln w="15875">
            <a:solidFill>
              <a:srgbClr val="1B1B1B"/>
            </a:solidFill>
            <a:prstDash val="solid"/>
          </a:ln>
        </p:spPr>
      </p:sp>
      <p:sp>
        <p:nvSpPr>
          <p:cNvPr id="43" name="Shape 40"/>
          <p:cNvSpPr/>
          <p:nvPr/>
        </p:nvSpPr>
        <p:spPr>
          <a:xfrm flipH="1">
            <a:off x="5440680" y="2212848"/>
            <a:ext cx="1188720" cy="804672"/>
          </a:xfrm>
          <a:prstGeom prst="line">
            <a:avLst/>
          </a:prstGeom>
          <a:noFill/>
          <a:ln w="9525">
            <a:solidFill>
              <a:srgbClr val="8C8C8C"/>
            </a:solidFill>
            <a:prstDash val="dash"/>
          </a:ln>
        </p:spPr>
      </p:sp>
      <p:sp>
        <p:nvSpPr>
          <p:cNvPr id="44" name="Shape 41"/>
          <p:cNvSpPr/>
          <p:nvPr/>
        </p:nvSpPr>
        <p:spPr>
          <a:xfrm>
            <a:off x="5440680" y="3017520"/>
            <a:ext cx="1188720" cy="731520"/>
          </a:xfrm>
          <a:prstGeom prst="line">
            <a:avLst/>
          </a:prstGeom>
          <a:noFill/>
          <a:ln w="15875">
            <a:solidFill>
              <a:srgbClr val="1B1B1B"/>
            </a:solidFill>
            <a:prstDash val="solid"/>
          </a:ln>
        </p:spPr>
      </p:sp>
      <p:sp>
        <p:nvSpPr>
          <p:cNvPr id="45" name="Shape 42"/>
          <p:cNvSpPr/>
          <p:nvPr/>
        </p:nvSpPr>
        <p:spPr>
          <a:xfrm>
            <a:off x="6080760" y="3200400"/>
            <a:ext cx="1097280" cy="1097280"/>
          </a:xfrm>
          <a:prstGeom prst="ellipse">
            <a:avLst/>
          </a:prstGeom>
          <a:solidFill>
            <a:srgbClr val="C4262E"/>
          </a:solidFill>
          <a:ln w="12700">
            <a:solidFill>
              <a:srgbClr val="C4262E"/>
            </a:solidFill>
            <a:prstDash val="solid"/>
          </a:ln>
        </p:spPr>
      </p:sp>
      <p:sp>
        <p:nvSpPr>
          <p:cNvPr id="46" name="Text 43"/>
          <p:cNvSpPr txBox="1"/>
          <p:nvPr/>
        </p:nvSpPr>
        <p:spPr>
          <a:xfrm>
            <a:off x="6080760" y="3200400"/>
            <a:ext cx="1097280" cy="1097280"/>
          </a:xfrm>
          <a:prstGeom prst="rect">
            <a:avLst/>
          </a:prstGeom>
          <a:no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PUBLISHING</a:t>
            </a:r>
            <a:endParaRPr lang="en-US" sz="850" dirty="0"/>
          </a:p>
          <a:p>
            <a:pPr algn="ctr" indent="0" marL="0">
              <a:buNone/>
            </a:pPr>
            <a:r>
              <a:rPr lang="en-US" sz="850" b="1" dirty="0">
                <a:solidFill>
                  <a:srgbClr val="FFFFFF"/>
                </a:solidFill>
                <a:latin typeface="Arial" pitchFamily="34" charset="0"/>
                <a:ea typeface="Arial" pitchFamily="34" charset="-122"/>
                <a:cs typeface="Arial" pitchFamily="34" charset="-120"/>
              </a:rPr>
              <a:t>HOUSE</a:t>
            </a:r>
            <a:endParaRPr lang="en-US" sz="850" dirty="0"/>
          </a:p>
        </p:txBody>
      </p:sp>
      <p:sp>
        <p:nvSpPr>
          <p:cNvPr id="47" name="Shape 44"/>
          <p:cNvSpPr/>
          <p:nvPr/>
        </p:nvSpPr>
        <p:spPr>
          <a:xfrm>
            <a:off x="6035040" y="1883664"/>
            <a:ext cx="1188720" cy="658368"/>
          </a:xfrm>
          <a:prstGeom prst="roundRect">
            <a:avLst>
              <a:gd name="adj" fmla="val 11111"/>
            </a:avLst>
          </a:prstGeom>
          <a:solidFill>
            <a:srgbClr val="FFFFFF"/>
          </a:solidFill>
          <a:ln w="12700">
            <a:solidFill>
              <a:srgbClr val="1B1B1B"/>
            </a:solidFill>
            <a:prstDash val="solid"/>
          </a:ln>
        </p:spPr>
      </p:sp>
      <p:sp>
        <p:nvSpPr>
          <p:cNvPr id="48" name="Text 45"/>
          <p:cNvSpPr txBox="1"/>
          <p:nvPr/>
        </p:nvSpPr>
        <p:spPr>
          <a:xfrm>
            <a:off x="6089904" y="1883664"/>
            <a:ext cx="1078992" cy="658368"/>
          </a:xfrm>
          <a:prstGeom prst="rect">
            <a:avLst/>
          </a:prstGeom>
          <a:noFill/>
          <a:ln/>
        </p:spPr>
        <p:txBody>
          <a:bodyPr wrap="square" lIns="0" tIns="0" rIns="0" bIns="0" rtlCol="0" anchor="ctr"/>
          <a:lstStyle/>
          <a:p>
            <a:pPr algn="ctr" indent="0" marL="0">
              <a:buNone/>
            </a:pPr>
            <a:r>
              <a:rPr lang="en-US" sz="750" b="1" dirty="0">
                <a:solidFill>
                  <a:srgbClr val="C4262E"/>
                </a:solidFill>
                <a:latin typeface="Arial" pitchFamily="34" charset="0"/>
                <a:ea typeface="Arial" pitchFamily="34" charset="-122"/>
                <a:cs typeface="Arial" pitchFamily="34" charset="-120"/>
              </a:rPr>
              <a:t>WHO RESEARCHES?</a:t>
            </a:r>
            <a:endParaRPr lang="en-US" sz="1000" dirty="0"/>
          </a:p>
          <a:p>
            <a:pPr algn="ctr" indent="0" marL="0">
              <a:buNone/>
            </a:pPr>
            <a:r>
              <a:rPr lang="en-US" sz="800" dirty="0">
                <a:solidFill>
                  <a:srgbClr val="1B1B1B"/>
                </a:solidFill>
                <a:latin typeface="Arial" pitchFamily="34" charset="0"/>
                <a:ea typeface="Arial" pitchFamily="34" charset="-122"/>
                <a:cs typeface="Arial" pitchFamily="34" charset="-120"/>
              </a:rPr>
              <a:t>researchers · academics</a:t>
            </a:r>
            <a:endParaRPr lang="en-US" sz="1000" dirty="0"/>
          </a:p>
        </p:txBody>
      </p:sp>
      <p:sp>
        <p:nvSpPr>
          <p:cNvPr id="49" name="Shape 46"/>
          <p:cNvSpPr/>
          <p:nvPr/>
        </p:nvSpPr>
        <p:spPr>
          <a:xfrm>
            <a:off x="7223760" y="2688336"/>
            <a:ext cx="1188720" cy="658368"/>
          </a:xfrm>
          <a:prstGeom prst="roundRect">
            <a:avLst>
              <a:gd name="adj" fmla="val 11111"/>
            </a:avLst>
          </a:prstGeom>
          <a:solidFill>
            <a:srgbClr val="FFFFFF"/>
          </a:solidFill>
          <a:ln w="12700">
            <a:solidFill>
              <a:srgbClr val="1B1B1B"/>
            </a:solidFill>
            <a:prstDash val="solid"/>
          </a:ln>
        </p:spPr>
      </p:sp>
      <p:sp>
        <p:nvSpPr>
          <p:cNvPr id="50" name="Text 47"/>
          <p:cNvSpPr txBox="1"/>
          <p:nvPr/>
        </p:nvSpPr>
        <p:spPr>
          <a:xfrm>
            <a:off x="7278624" y="2688336"/>
            <a:ext cx="1078992" cy="658368"/>
          </a:xfrm>
          <a:prstGeom prst="rect">
            <a:avLst/>
          </a:prstGeom>
          <a:noFill/>
          <a:ln/>
        </p:spPr>
        <p:txBody>
          <a:bodyPr wrap="square" lIns="0" tIns="0" rIns="0" bIns="0" rtlCol="0" anchor="ctr"/>
          <a:lstStyle/>
          <a:p>
            <a:pPr algn="ctr" indent="0" marL="0">
              <a:buNone/>
            </a:pPr>
            <a:r>
              <a:rPr lang="en-US" sz="750" b="1" dirty="0">
                <a:solidFill>
                  <a:srgbClr val="C4262E"/>
                </a:solidFill>
                <a:latin typeface="Arial" pitchFamily="34" charset="0"/>
                <a:ea typeface="Arial" pitchFamily="34" charset="-122"/>
                <a:cs typeface="Arial" pitchFamily="34" charset="-120"/>
              </a:rPr>
              <a:t>WHO PUBLISHES?</a:t>
            </a:r>
            <a:endParaRPr lang="en-US" sz="1000" dirty="0"/>
          </a:p>
          <a:p>
            <a:pPr algn="ctr" indent="0" marL="0">
              <a:buNone/>
            </a:pPr>
            <a:r>
              <a:rPr lang="en-US" sz="800" dirty="0">
                <a:solidFill>
                  <a:srgbClr val="1B1B1B"/>
                </a:solidFill>
                <a:latin typeface="Arial" pitchFamily="34" charset="0"/>
                <a:ea typeface="Arial" pitchFamily="34" charset="-122"/>
                <a:cs typeface="Arial" pitchFamily="34" charset="-120"/>
              </a:rPr>
              <a:t>journalists · media practitioners</a:t>
            </a:r>
            <a:endParaRPr lang="en-US" sz="1000" dirty="0"/>
          </a:p>
        </p:txBody>
      </p:sp>
      <p:sp>
        <p:nvSpPr>
          <p:cNvPr id="51" name="Shape 48"/>
          <p:cNvSpPr/>
          <p:nvPr/>
        </p:nvSpPr>
        <p:spPr>
          <a:xfrm>
            <a:off x="7223760" y="4169664"/>
            <a:ext cx="1188720" cy="658368"/>
          </a:xfrm>
          <a:prstGeom prst="roundRect">
            <a:avLst>
              <a:gd name="adj" fmla="val 11111"/>
            </a:avLst>
          </a:prstGeom>
          <a:solidFill>
            <a:srgbClr val="FFFFFF"/>
          </a:solidFill>
          <a:ln w="12700">
            <a:solidFill>
              <a:srgbClr val="1B1B1B"/>
            </a:solidFill>
            <a:prstDash val="solid"/>
          </a:ln>
        </p:spPr>
      </p:sp>
      <p:sp>
        <p:nvSpPr>
          <p:cNvPr id="52" name="Text 49"/>
          <p:cNvSpPr txBox="1"/>
          <p:nvPr/>
        </p:nvSpPr>
        <p:spPr>
          <a:xfrm>
            <a:off x="7278624" y="4169664"/>
            <a:ext cx="1078992" cy="658368"/>
          </a:xfrm>
          <a:prstGeom prst="rect">
            <a:avLst/>
          </a:prstGeom>
          <a:noFill/>
          <a:ln/>
        </p:spPr>
        <p:txBody>
          <a:bodyPr wrap="square" lIns="0" tIns="0" rIns="0" bIns="0" rtlCol="0" anchor="ctr"/>
          <a:lstStyle/>
          <a:p>
            <a:pPr algn="ctr" indent="0" marL="0">
              <a:buNone/>
            </a:pPr>
            <a:r>
              <a:rPr lang="en-US" sz="750" b="1" dirty="0">
                <a:solidFill>
                  <a:srgbClr val="C4262E"/>
                </a:solidFill>
                <a:latin typeface="Arial" pitchFamily="34" charset="0"/>
                <a:ea typeface="Arial" pitchFamily="34" charset="-122"/>
                <a:cs typeface="Arial" pitchFamily="34" charset="-120"/>
              </a:rPr>
              <a:t>WHO READS?</a:t>
            </a:r>
            <a:endParaRPr lang="en-US" sz="1000" dirty="0"/>
          </a:p>
          <a:p>
            <a:pPr algn="ctr" indent="0" marL="0">
              <a:buNone/>
            </a:pPr>
            <a:r>
              <a:rPr lang="en-US" sz="800" dirty="0">
                <a:solidFill>
                  <a:srgbClr val="1B1B1B"/>
                </a:solidFill>
                <a:latin typeface="Arial" pitchFamily="34" charset="0"/>
                <a:ea typeface="Arial" pitchFamily="34" charset="-122"/>
                <a:cs typeface="Arial" pitchFamily="34" charset="-120"/>
              </a:rPr>
              <a:t>the general public</a:t>
            </a:r>
            <a:endParaRPr lang="en-US" sz="1000" dirty="0"/>
          </a:p>
        </p:txBody>
      </p:sp>
      <p:sp>
        <p:nvSpPr>
          <p:cNvPr id="53" name="Shape 50"/>
          <p:cNvSpPr/>
          <p:nvPr/>
        </p:nvSpPr>
        <p:spPr>
          <a:xfrm>
            <a:off x="6035040" y="4974336"/>
            <a:ext cx="1188720" cy="658368"/>
          </a:xfrm>
          <a:prstGeom prst="roundRect">
            <a:avLst>
              <a:gd name="adj" fmla="val 11111"/>
            </a:avLst>
          </a:prstGeom>
          <a:solidFill>
            <a:srgbClr val="FFFFFF"/>
          </a:solidFill>
          <a:ln w="12700">
            <a:solidFill>
              <a:srgbClr val="1B1B1B"/>
            </a:solidFill>
            <a:prstDash val="solid"/>
          </a:ln>
        </p:spPr>
      </p:sp>
      <p:sp>
        <p:nvSpPr>
          <p:cNvPr id="54" name="Text 51"/>
          <p:cNvSpPr txBox="1"/>
          <p:nvPr/>
        </p:nvSpPr>
        <p:spPr>
          <a:xfrm>
            <a:off x="6089904" y="4974336"/>
            <a:ext cx="1078992" cy="658368"/>
          </a:xfrm>
          <a:prstGeom prst="rect">
            <a:avLst/>
          </a:prstGeom>
          <a:noFill/>
          <a:ln/>
        </p:spPr>
        <p:txBody>
          <a:bodyPr wrap="square" lIns="0" tIns="0" rIns="0" bIns="0" rtlCol="0" anchor="ctr"/>
          <a:lstStyle/>
          <a:p>
            <a:pPr algn="ctr" indent="0" marL="0">
              <a:buNone/>
            </a:pPr>
            <a:r>
              <a:rPr lang="en-US" sz="750" b="1" dirty="0">
                <a:solidFill>
                  <a:srgbClr val="C4262E"/>
                </a:solidFill>
                <a:latin typeface="Arial" pitchFamily="34" charset="0"/>
                <a:ea typeface="Arial" pitchFamily="34" charset="-122"/>
                <a:cs typeface="Arial" pitchFamily="34" charset="-120"/>
              </a:rPr>
              <a:t>WHO DISCUSSES?</a:t>
            </a:r>
            <a:endParaRPr lang="en-US" sz="1000" dirty="0"/>
          </a:p>
          <a:p>
            <a:pPr algn="ctr" indent="0" marL="0">
              <a:buNone/>
            </a:pPr>
            <a:r>
              <a:rPr lang="en-US" sz="800" dirty="0">
                <a:solidFill>
                  <a:srgbClr val="1B1B1B"/>
                </a:solidFill>
                <a:latin typeface="Arial" pitchFamily="34" charset="0"/>
                <a:ea typeface="Arial" pitchFamily="34" charset="-122"/>
                <a:cs typeface="Arial" pitchFamily="34" charset="-120"/>
              </a:rPr>
              <a:t>public representatives · communities</a:t>
            </a:r>
            <a:endParaRPr lang="en-US" sz="1000" dirty="0"/>
          </a:p>
        </p:txBody>
      </p:sp>
      <p:sp>
        <p:nvSpPr>
          <p:cNvPr id="55" name="Shape 52"/>
          <p:cNvSpPr/>
          <p:nvPr/>
        </p:nvSpPr>
        <p:spPr>
          <a:xfrm>
            <a:off x="4846320" y="4169664"/>
            <a:ext cx="1188720" cy="658368"/>
          </a:xfrm>
          <a:prstGeom prst="roundRect">
            <a:avLst>
              <a:gd name="adj" fmla="val 11111"/>
            </a:avLst>
          </a:prstGeom>
          <a:solidFill>
            <a:srgbClr val="FFFFFF"/>
          </a:solidFill>
          <a:ln w="12700">
            <a:solidFill>
              <a:srgbClr val="1B1B1B"/>
            </a:solidFill>
            <a:prstDash val="solid"/>
          </a:ln>
        </p:spPr>
      </p:sp>
      <p:sp>
        <p:nvSpPr>
          <p:cNvPr id="56" name="Text 53"/>
          <p:cNvSpPr txBox="1"/>
          <p:nvPr/>
        </p:nvSpPr>
        <p:spPr>
          <a:xfrm>
            <a:off x="4901184" y="4169664"/>
            <a:ext cx="1078992" cy="658368"/>
          </a:xfrm>
          <a:prstGeom prst="rect">
            <a:avLst/>
          </a:prstGeom>
          <a:noFill/>
          <a:ln/>
        </p:spPr>
        <p:txBody>
          <a:bodyPr wrap="square" lIns="0" tIns="0" rIns="0" bIns="0" rtlCol="0" anchor="ctr"/>
          <a:lstStyle/>
          <a:p>
            <a:pPr algn="ctr" indent="0" marL="0">
              <a:buNone/>
            </a:pPr>
            <a:r>
              <a:rPr lang="en-US" sz="750" b="1" dirty="0">
                <a:solidFill>
                  <a:srgbClr val="C4262E"/>
                </a:solidFill>
                <a:latin typeface="Arial" pitchFamily="34" charset="0"/>
                <a:ea typeface="Arial" pitchFamily="34" charset="-122"/>
                <a:cs typeface="Arial" pitchFamily="34" charset="-120"/>
              </a:rPr>
              <a:t>WHO PARTICIPATES?</a:t>
            </a:r>
            <a:endParaRPr lang="en-US" sz="1000" dirty="0"/>
          </a:p>
          <a:p>
            <a:pPr algn="ctr" indent="0" marL="0">
              <a:buNone/>
            </a:pPr>
            <a:r>
              <a:rPr lang="en-US" sz="800" dirty="0">
                <a:solidFill>
                  <a:srgbClr val="1B1B1B"/>
                </a:solidFill>
                <a:latin typeface="Arial" pitchFamily="34" charset="0"/>
                <a:ea typeface="Arial" pitchFamily="34" charset="-122"/>
                <a:cs typeface="Arial" pitchFamily="34" charset="-120"/>
              </a:rPr>
              <a:t>civic organisations · the public</a:t>
            </a:r>
            <a:endParaRPr lang="en-US" sz="1000" dirty="0"/>
          </a:p>
        </p:txBody>
      </p:sp>
      <p:sp>
        <p:nvSpPr>
          <p:cNvPr id="57" name="Shape 54"/>
          <p:cNvSpPr/>
          <p:nvPr/>
        </p:nvSpPr>
        <p:spPr>
          <a:xfrm>
            <a:off x="4846320" y="2688336"/>
            <a:ext cx="1188720" cy="658368"/>
          </a:xfrm>
          <a:prstGeom prst="roundRect">
            <a:avLst>
              <a:gd name="adj" fmla="val 11111"/>
            </a:avLst>
          </a:prstGeom>
          <a:solidFill>
            <a:srgbClr val="FFFFFF"/>
          </a:solidFill>
          <a:ln w="12700">
            <a:solidFill>
              <a:srgbClr val="1B1B1B"/>
            </a:solidFill>
            <a:prstDash val="solid"/>
          </a:ln>
        </p:spPr>
      </p:sp>
      <p:sp>
        <p:nvSpPr>
          <p:cNvPr id="58" name="Text 55"/>
          <p:cNvSpPr txBox="1"/>
          <p:nvPr/>
        </p:nvSpPr>
        <p:spPr>
          <a:xfrm>
            <a:off x="4901184" y="2688336"/>
            <a:ext cx="1078992" cy="658368"/>
          </a:xfrm>
          <a:prstGeom prst="rect">
            <a:avLst/>
          </a:prstGeom>
          <a:noFill/>
          <a:ln/>
        </p:spPr>
        <p:txBody>
          <a:bodyPr wrap="square" lIns="0" tIns="0" rIns="0" bIns="0" rtlCol="0" anchor="ctr"/>
          <a:lstStyle/>
          <a:p>
            <a:pPr algn="ctr" indent="0" marL="0">
              <a:buNone/>
            </a:pPr>
            <a:r>
              <a:rPr lang="en-US" sz="750" b="1" dirty="0">
                <a:solidFill>
                  <a:srgbClr val="C4262E"/>
                </a:solidFill>
                <a:latin typeface="Arial" pitchFamily="34" charset="0"/>
                <a:ea typeface="Arial" pitchFamily="34" charset="-122"/>
                <a:cs typeface="Arial" pitchFamily="34" charset="-120"/>
              </a:rPr>
              <a:t>WHO PRODUCES?</a:t>
            </a:r>
            <a:endParaRPr lang="en-US" sz="1000" dirty="0"/>
          </a:p>
          <a:p>
            <a:pPr algn="ctr" indent="0" marL="0">
              <a:buNone/>
            </a:pPr>
            <a:r>
              <a:rPr lang="en-US" sz="800" dirty="0">
                <a:solidFill>
                  <a:srgbClr val="1B1B1B"/>
                </a:solidFill>
                <a:latin typeface="Arial" pitchFamily="34" charset="0"/>
                <a:ea typeface="Arial" pitchFamily="34" charset="-122"/>
                <a:cs typeface="Arial" pitchFamily="34" charset="-120"/>
              </a:rPr>
              <a:t>writers · artists · intellectuals</a:t>
            </a:r>
            <a:endParaRPr lang="en-US" sz="1000" dirty="0"/>
          </a:p>
        </p:txBody>
      </p:sp>
      <p:sp>
        <p:nvSpPr>
          <p:cNvPr id="59" name="Text 56"/>
          <p:cNvSpPr txBox="1"/>
          <p:nvPr/>
        </p:nvSpPr>
        <p:spPr>
          <a:xfrm>
            <a:off x="4846320" y="5806440"/>
            <a:ext cx="3611880" cy="411480"/>
          </a:xfrm>
          <a:prstGeom prst="rect">
            <a:avLst/>
          </a:prstGeom>
          <a:noFill/>
          <a:ln/>
        </p:spPr>
        <p:txBody>
          <a:bodyPr wrap="square" lIns="0" tIns="0" rIns="0" bIns="0" rtlCol="0" anchor="t"/>
          <a:lstStyle/>
          <a:p>
            <a:pPr indent="0" marL="0">
              <a:buNone/>
            </a:pPr>
            <a:r>
              <a:rPr lang="en-US" sz="750" b="1" dirty="0">
                <a:solidFill>
                  <a:srgbClr val="6B6B6B"/>
                </a:solidFill>
                <a:latin typeface="Arial" pitchFamily="34" charset="0"/>
                <a:ea typeface="Arial" pitchFamily="34" charset="-122"/>
                <a:cs typeface="Arial" pitchFamily="34" charset="-120"/>
              </a:rPr>
              <a:t>━ </a:t>
            </a:r>
            <a:pPr indent="0" marL="0">
              <a:buNone/>
            </a:pPr>
            <a:r>
              <a:rPr lang="en-US" sz="750" dirty="0">
                <a:solidFill>
                  <a:srgbClr val="6B6B6B"/>
                </a:solidFill>
                <a:latin typeface="Arial" pitchFamily="34" charset="0"/>
                <a:ea typeface="Arial" pitchFamily="34" charset="-122"/>
                <a:cs typeface="Arial" pitchFamily="34" charset="-120"/>
              </a:rPr>
              <a:t>direct relation to the institution    </a:t>
            </a:r>
            <a:pPr indent="0" marL="0">
              <a:buNone/>
            </a:pPr>
            <a:r>
              <a:rPr lang="en-US" sz="750" dirty="0">
                <a:solidFill>
                  <a:srgbClr val="8C8C8C"/>
                </a:solidFill>
                <a:latin typeface="Arial" pitchFamily="34" charset="0"/>
                <a:ea typeface="Arial" pitchFamily="34" charset="-122"/>
                <a:cs typeface="Arial" pitchFamily="34" charset="-120"/>
              </a:rPr>
              <a:t>┅ </a:t>
            </a:r>
            <a:pPr indent="0" marL="0">
              <a:buNone/>
            </a:pPr>
            <a:r>
              <a:rPr lang="en-US" sz="750" dirty="0">
                <a:solidFill>
                  <a:srgbClr val="6B6B6B"/>
                </a:solidFill>
                <a:latin typeface="Arial" pitchFamily="34" charset="0"/>
                <a:ea typeface="Arial" pitchFamily="34" charset="-122"/>
                <a:cs typeface="Arial" pitchFamily="34" charset="-120"/>
              </a:rPr>
              <a:t>exchange between groups</a:t>
            </a:r>
            <a:endParaRPr lang="en-US" sz="750" dirty="0"/>
          </a:p>
          <a:p>
            <a:pPr indent="0" marL="0">
              <a:buNone/>
            </a:pPr>
            <a:r>
              <a:rPr lang="en-US" sz="750" b="1" dirty="0">
                <a:solidFill>
                  <a:srgbClr val="6B6B6B"/>
                </a:solidFill>
                <a:latin typeface="Arial" pitchFamily="34" charset="0"/>
                <a:ea typeface="Arial" pitchFamily="34" charset="-122"/>
                <a:cs typeface="Arial" pitchFamily="34" charset="-120"/>
              </a:rPr>
              <a:t>STATE + PUBLIC BODIES  </a:t>
            </a:r>
            <a:pPr indent="0" marL="0">
              <a:buNone/>
            </a:pPr>
            <a:r>
              <a:rPr lang="en-US" sz="750" dirty="0">
                <a:solidFill>
                  <a:srgbClr val="6B6B6B"/>
                </a:solidFill>
                <a:latin typeface="Arial" pitchFamily="34" charset="0"/>
                <a:ea typeface="Arial" pitchFamily="34" charset="-122"/>
                <a:cs typeface="Arial" pitchFamily="34" charset="-120"/>
              </a:rPr>
              <a:t>“may engage” — the relationship comes from my own position</a:t>
            </a:r>
            <a:endParaRPr lang="en-US" sz="750" dirty="0"/>
          </a:p>
        </p:txBody>
      </p:sp>
      <p:sp>
        <p:nvSpPr>
          <p:cNvPr id="60" name="Shape 57"/>
          <p:cNvSpPr/>
          <p:nvPr/>
        </p:nvSpPr>
        <p:spPr>
          <a:xfrm>
            <a:off x="8686800" y="1472184"/>
            <a:ext cx="219456" cy="219456"/>
          </a:xfrm>
          <a:prstGeom prst="ellipse">
            <a:avLst/>
          </a:prstGeom>
          <a:solidFill>
            <a:srgbClr val="C4262E"/>
          </a:solidFill>
          <a:ln w="12700">
            <a:solidFill>
              <a:srgbClr val="C4262E"/>
            </a:solidFill>
            <a:prstDash val="solid"/>
          </a:ln>
        </p:spPr>
      </p:sp>
      <p:sp>
        <p:nvSpPr>
          <p:cNvPr id="61" name="Text 58"/>
          <p:cNvSpPr txBox="1"/>
          <p:nvPr/>
        </p:nvSpPr>
        <p:spPr>
          <a:xfrm>
            <a:off x="8686800" y="147218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a:t>
            </a:r>
            <a:endParaRPr lang="en-US" sz="900" dirty="0"/>
          </a:p>
        </p:txBody>
      </p:sp>
      <p:sp>
        <p:nvSpPr>
          <p:cNvPr id="62" name="Text 59"/>
          <p:cNvSpPr txBox="1"/>
          <p:nvPr/>
        </p:nvSpPr>
        <p:spPr>
          <a:xfrm>
            <a:off x="8988552" y="1463040"/>
            <a:ext cx="2743200" cy="237744"/>
          </a:xfrm>
          <a:prstGeom prst="rect">
            <a:avLst/>
          </a:prstGeom>
          <a:noFill/>
          <a:ln/>
        </p:spPr>
        <p:txBody>
          <a:bodyPr wrap="square" lIns="0" tIns="0" rIns="0" bIns="0" rtlCol="0" anchor="ctr"/>
          <a:lstStyle/>
          <a:p>
            <a:pPr indent="0" marL="0">
              <a:buNone/>
            </a:pPr>
            <a:r>
              <a:rPr lang="en-US" sz="1100" b="1" spc="100" kern="0" dirty="0">
                <a:solidFill>
                  <a:srgbClr val="1B1B1B"/>
                </a:solidFill>
                <a:latin typeface="Arial" pitchFamily="34" charset="0"/>
                <a:ea typeface="Arial" pitchFamily="34" charset="-122"/>
                <a:cs typeface="Arial" pitchFamily="34" charset="-120"/>
              </a:rPr>
              <a:t>PRECEDENTS  ·  LESSONS</a:t>
            </a:r>
            <a:endParaRPr lang="en-US" sz="1100" dirty="0"/>
          </a:p>
        </p:txBody>
      </p:sp>
      <p:sp>
        <p:nvSpPr>
          <p:cNvPr id="63" name="Shape 60"/>
          <p:cNvSpPr/>
          <p:nvPr/>
        </p:nvSpPr>
        <p:spPr>
          <a:xfrm>
            <a:off x="8686800" y="1810512"/>
            <a:ext cx="1143000" cy="1280160"/>
          </a:xfrm>
          <a:prstGeom prst="rect">
            <a:avLst/>
          </a:prstGeom>
          <a:solidFill>
            <a:srgbClr val="F2F2F2"/>
          </a:solidFill>
          <a:ln w="12700">
            <a:solidFill>
              <a:srgbClr val="F2F2F2"/>
            </a:solidFill>
            <a:prstDash val="solid"/>
          </a:ln>
        </p:spPr>
      </p:sp>
      <p:sp>
        <p:nvSpPr>
          <p:cNvPr id="64" name="Shape 61"/>
          <p:cNvSpPr/>
          <p:nvPr/>
        </p:nvSpPr>
        <p:spPr>
          <a:xfrm>
            <a:off x="8732520" y="2862072"/>
            <a:ext cx="1051560" cy="914"/>
          </a:xfrm>
          <a:prstGeom prst="line">
            <a:avLst/>
          </a:prstGeom>
          <a:noFill/>
          <a:ln w="12700">
            <a:solidFill>
              <a:srgbClr val="1B1B1B"/>
            </a:solidFill>
            <a:prstDash val="solid"/>
          </a:ln>
        </p:spPr>
      </p:sp>
      <p:sp>
        <p:nvSpPr>
          <p:cNvPr id="65" name="Shape 62"/>
          <p:cNvSpPr/>
          <p:nvPr/>
        </p:nvSpPr>
        <p:spPr>
          <a:xfrm>
            <a:off x="8778240" y="2478024"/>
            <a:ext cx="201168" cy="384048"/>
          </a:xfrm>
          <a:prstGeom prst="rect">
            <a:avLst/>
          </a:prstGeom>
          <a:solidFill>
            <a:srgbClr val="8C8C8C"/>
          </a:solidFill>
          <a:ln w="12700">
            <a:solidFill>
              <a:srgbClr val="8C8C8C"/>
            </a:solidFill>
            <a:prstDash val="solid"/>
          </a:ln>
        </p:spPr>
      </p:sp>
      <p:sp>
        <p:nvSpPr>
          <p:cNvPr id="66" name="Text 63"/>
          <p:cNvSpPr txBox="1"/>
          <p:nvPr/>
        </p:nvSpPr>
        <p:spPr>
          <a:xfrm>
            <a:off x="8732520" y="2313432"/>
            <a:ext cx="320040" cy="137160"/>
          </a:xfrm>
          <a:prstGeom prst="rect">
            <a:avLst/>
          </a:prstGeom>
          <a:noFill/>
          <a:ln/>
        </p:spPr>
        <p:txBody>
          <a:bodyPr wrap="square" lIns="0" tIns="0" rIns="0" bIns="0" rtlCol="0" anchor="t"/>
          <a:lstStyle/>
          <a:p>
            <a:pPr algn="ctr" indent="0" marL="0">
              <a:buNone/>
            </a:pPr>
            <a:r>
              <a:rPr lang="en-US" sz="550" dirty="0">
                <a:solidFill>
                  <a:srgbClr val="6B6B6B"/>
                </a:solidFill>
                <a:latin typeface="Arial" pitchFamily="34" charset="0"/>
                <a:ea typeface="Arial" pitchFamily="34" charset="-122"/>
                <a:cs typeface="Arial" pitchFamily="34" charset="-120"/>
              </a:rPr>
              <a:t>PARL.</a:t>
            </a:r>
            <a:endParaRPr lang="en-US" sz="550" dirty="0"/>
          </a:p>
        </p:txBody>
      </p:sp>
      <p:sp>
        <p:nvSpPr>
          <p:cNvPr id="67" name="Text 64"/>
          <p:cNvSpPr txBox="1"/>
          <p:nvPr/>
        </p:nvSpPr>
        <p:spPr>
          <a:xfrm>
            <a:off x="8979408" y="2889504"/>
            <a:ext cx="365760" cy="137160"/>
          </a:xfrm>
          <a:prstGeom prst="rect">
            <a:avLst/>
          </a:prstGeom>
          <a:noFill/>
          <a:ln/>
        </p:spPr>
        <p:txBody>
          <a:bodyPr wrap="square" lIns="0" tIns="0" rIns="0" bIns="0" rtlCol="0" anchor="t"/>
          <a:lstStyle/>
          <a:p>
            <a:pPr algn="ctr" indent="0" marL="0">
              <a:buNone/>
            </a:pPr>
            <a:r>
              <a:rPr lang="en-US" sz="550" dirty="0">
                <a:solidFill>
                  <a:srgbClr val="6B6B6B"/>
                </a:solidFill>
                <a:latin typeface="Arial" pitchFamily="34" charset="0"/>
                <a:ea typeface="Arial" pitchFamily="34" charset="-122"/>
                <a:cs typeface="Arial" pitchFamily="34" charset="-120"/>
              </a:rPr>
              <a:t>square</a:t>
            </a:r>
            <a:endParaRPr lang="en-US" sz="550" dirty="0"/>
          </a:p>
        </p:txBody>
      </p:sp>
      <p:sp>
        <p:nvSpPr>
          <p:cNvPr id="68" name="Shape 65"/>
          <p:cNvSpPr/>
          <p:nvPr/>
        </p:nvSpPr>
        <p:spPr>
          <a:xfrm>
            <a:off x="9253728" y="2039112"/>
            <a:ext cx="502920" cy="237744"/>
          </a:xfrm>
          <a:prstGeom prst="rect">
            <a:avLst/>
          </a:prstGeom>
          <a:solidFill>
            <a:srgbClr val="C4262E"/>
          </a:solidFill>
          <a:ln w="12700">
            <a:solidFill>
              <a:srgbClr val="C4262E"/>
            </a:solidFill>
            <a:prstDash val="solid"/>
          </a:ln>
        </p:spPr>
      </p:sp>
      <p:sp>
        <p:nvSpPr>
          <p:cNvPr id="69" name="Text 66"/>
          <p:cNvSpPr txBox="1"/>
          <p:nvPr/>
        </p:nvSpPr>
        <p:spPr>
          <a:xfrm>
            <a:off x="9253728" y="2039112"/>
            <a:ext cx="502920" cy="237744"/>
          </a:xfrm>
          <a:prstGeom prst="rect">
            <a:avLst/>
          </a:prstGeom>
          <a:noFill/>
          <a:ln/>
        </p:spPr>
        <p:txBody>
          <a:bodyPr wrap="square" lIns="0" tIns="0" rIns="0" bIns="0" rtlCol="0" anchor="ctr"/>
          <a:lstStyle/>
          <a:p>
            <a:pPr algn="ctr" indent="0" marL="0">
              <a:buNone/>
            </a:pPr>
            <a:r>
              <a:rPr lang="en-US" sz="600" b="1" dirty="0">
                <a:solidFill>
                  <a:srgbClr val="FFFFFF"/>
                </a:solidFill>
                <a:latin typeface="Arial" pitchFamily="34" charset="0"/>
                <a:ea typeface="Arial" pitchFamily="34" charset="-122"/>
                <a:cs typeface="Arial" pitchFamily="34" charset="-120"/>
              </a:rPr>
              <a:t>READ</a:t>
            </a:r>
            <a:endParaRPr lang="en-US" sz="600" dirty="0"/>
          </a:p>
        </p:txBody>
      </p:sp>
      <p:sp>
        <p:nvSpPr>
          <p:cNvPr id="70" name="Shape 67"/>
          <p:cNvSpPr/>
          <p:nvPr/>
        </p:nvSpPr>
        <p:spPr>
          <a:xfrm>
            <a:off x="9253728" y="2313432"/>
            <a:ext cx="502920" cy="237744"/>
          </a:xfrm>
          <a:prstGeom prst="rect">
            <a:avLst/>
          </a:prstGeom>
          <a:solidFill>
            <a:srgbClr val="FFFFFF"/>
          </a:solidFill>
          <a:ln w="12700">
            <a:solidFill>
              <a:srgbClr val="1B1B1B"/>
            </a:solidFill>
            <a:prstDash val="solid"/>
          </a:ln>
        </p:spPr>
      </p:sp>
      <p:sp>
        <p:nvSpPr>
          <p:cNvPr id="71" name="Text 68"/>
          <p:cNvSpPr txBox="1"/>
          <p:nvPr/>
        </p:nvSpPr>
        <p:spPr>
          <a:xfrm>
            <a:off x="9253728" y="2313432"/>
            <a:ext cx="502920" cy="237744"/>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MAKE</a:t>
            </a:r>
            <a:endParaRPr lang="en-US" sz="600" dirty="0"/>
          </a:p>
        </p:txBody>
      </p:sp>
      <p:sp>
        <p:nvSpPr>
          <p:cNvPr id="72" name="Shape 69"/>
          <p:cNvSpPr/>
          <p:nvPr/>
        </p:nvSpPr>
        <p:spPr>
          <a:xfrm>
            <a:off x="9253728" y="2587752"/>
            <a:ext cx="502920" cy="237744"/>
          </a:xfrm>
          <a:prstGeom prst="rect">
            <a:avLst/>
          </a:prstGeom>
          <a:solidFill>
            <a:srgbClr val="FFFFFF"/>
          </a:solidFill>
          <a:ln w="12700">
            <a:solidFill>
              <a:srgbClr val="1B1B1B"/>
            </a:solidFill>
            <a:prstDash val="solid"/>
          </a:ln>
        </p:spPr>
      </p:sp>
      <p:sp>
        <p:nvSpPr>
          <p:cNvPr id="73" name="Text 70"/>
          <p:cNvSpPr txBox="1"/>
          <p:nvPr/>
        </p:nvSpPr>
        <p:spPr>
          <a:xfrm>
            <a:off x="9253728" y="2587752"/>
            <a:ext cx="502920" cy="237744"/>
          </a:xfrm>
          <a:prstGeom prst="rect">
            <a:avLst/>
          </a:prstGeom>
          <a:noFill/>
          <a:ln/>
        </p:spPr>
        <p:txBody>
          <a:bodyPr wrap="square" lIns="0" tIns="0" rIns="0" bIns="0" rtlCol="0" anchor="ctr"/>
          <a:lstStyle/>
          <a:p>
            <a:pPr algn="ctr" indent="0" marL="0">
              <a:buNone/>
            </a:pPr>
            <a:r>
              <a:rPr lang="en-US" sz="600" b="1" dirty="0">
                <a:solidFill>
                  <a:srgbClr val="1B1B1B"/>
                </a:solidFill>
                <a:latin typeface="Arial" pitchFamily="34" charset="0"/>
                <a:ea typeface="Arial" pitchFamily="34" charset="-122"/>
                <a:cs typeface="Arial" pitchFamily="34" charset="-120"/>
              </a:rPr>
              <a:t>MEET</a:t>
            </a:r>
            <a:endParaRPr lang="en-US" sz="600" dirty="0"/>
          </a:p>
        </p:txBody>
      </p:sp>
      <p:sp>
        <p:nvSpPr>
          <p:cNvPr id="74" name="Text 71"/>
          <p:cNvSpPr txBox="1"/>
          <p:nvPr/>
        </p:nvSpPr>
        <p:spPr>
          <a:xfrm>
            <a:off x="8979408" y="2075688"/>
            <a:ext cx="256032" cy="128016"/>
          </a:xfrm>
          <a:prstGeom prst="rect">
            <a:avLst/>
          </a:prstGeom>
          <a:noFill/>
          <a:ln/>
        </p:spPr>
        <p:txBody>
          <a:bodyPr wrap="square" lIns="0" tIns="0" rIns="0" bIns="0" rtlCol="0" anchor="t"/>
          <a:lstStyle/>
          <a:p>
            <a:pPr algn="r" indent="0" marL="0">
              <a:buNone/>
            </a:pPr>
            <a:r>
              <a:rPr lang="en-US" sz="500" dirty="0">
                <a:solidFill>
                  <a:srgbClr val="6B6B6B"/>
                </a:solidFill>
                <a:latin typeface="Arial" pitchFamily="34" charset="0"/>
                <a:ea typeface="Arial" pitchFamily="34" charset="-122"/>
                <a:cs typeface="Arial" pitchFamily="34" charset="-120"/>
              </a:rPr>
              <a:t>quiet</a:t>
            </a:r>
            <a:endParaRPr lang="en-US" sz="500" dirty="0"/>
          </a:p>
        </p:txBody>
      </p:sp>
      <p:sp>
        <p:nvSpPr>
          <p:cNvPr id="75" name="Text 72"/>
          <p:cNvSpPr txBox="1"/>
          <p:nvPr/>
        </p:nvSpPr>
        <p:spPr>
          <a:xfrm>
            <a:off x="8979408" y="2624328"/>
            <a:ext cx="256032" cy="128016"/>
          </a:xfrm>
          <a:prstGeom prst="rect">
            <a:avLst/>
          </a:prstGeom>
          <a:noFill/>
          <a:ln/>
        </p:spPr>
        <p:txBody>
          <a:bodyPr wrap="square" lIns="0" tIns="0" rIns="0" bIns="0" rtlCol="0" anchor="t"/>
          <a:lstStyle/>
          <a:p>
            <a:pPr algn="r" indent="0" marL="0">
              <a:buNone/>
            </a:pPr>
            <a:r>
              <a:rPr lang="en-US" sz="500" dirty="0">
                <a:solidFill>
                  <a:srgbClr val="6B6B6B"/>
                </a:solidFill>
                <a:latin typeface="Arial" pitchFamily="34" charset="0"/>
                <a:ea typeface="Arial" pitchFamily="34" charset="-122"/>
                <a:cs typeface="Arial" pitchFamily="34" charset="-120"/>
              </a:rPr>
              <a:t>busy</a:t>
            </a:r>
            <a:endParaRPr lang="en-US" sz="500" dirty="0"/>
          </a:p>
        </p:txBody>
      </p:sp>
      <p:sp>
        <p:nvSpPr>
          <p:cNvPr id="76" name="Text 73"/>
          <p:cNvSpPr txBox="1"/>
          <p:nvPr/>
        </p:nvSpPr>
        <p:spPr>
          <a:xfrm>
            <a:off x="9939528" y="1810512"/>
            <a:ext cx="1792224" cy="1280160"/>
          </a:xfrm>
          <a:prstGeom prst="rect">
            <a:avLst/>
          </a:prstGeom>
          <a:noFill/>
          <a:ln/>
        </p:spPr>
        <p:txBody>
          <a:bodyPr wrap="square" lIns="0" tIns="0" rIns="0" bIns="0" rtlCol="0" anchor="t"/>
          <a:lstStyle/>
          <a:p>
            <a:pPr indent="0" marL="0">
              <a:spcAft>
                <a:spcPts val="200"/>
              </a:spcAft>
              <a:buNone/>
            </a:pPr>
            <a:r>
              <a:rPr lang="en-US" sz="900" b="1" dirty="0">
                <a:solidFill>
                  <a:srgbClr val="1B1B1B"/>
                </a:solidFill>
                <a:latin typeface="Arial" pitchFamily="34" charset="0"/>
                <a:ea typeface="Arial" pitchFamily="34" charset="-122"/>
                <a:cs typeface="Arial" pitchFamily="34" charset="-120"/>
              </a:rPr>
              <a:t>Oodi Helsinki Central Library</a:t>
            </a:r>
            <a:endParaRPr lang="en-US" sz="1000" dirty="0"/>
          </a:p>
          <a:p>
            <a:pPr indent="0" marL="0">
              <a:spcAft>
                <a:spcPts val="200"/>
              </a:spcAft>
              <a:buNone/>
            </a:pPr>
            <a:r>
              <a:rPr lang="en-US" sz="700" dirty="0">
                <a:solidFill>
                  <a:srgbClr val="6B6B6B"/>
                </a:solidFill>
                <a:latin typeface="Arial" pitchFamily="34" charset="0"/>
                <a:ea typeface="Arial" pitchFamily="34" charset="-122"/>
                <a:cs typeface="Arial" pitchFamily="34" charset="-120"/>
              </a:rPr>
              <a:t>ALA Architects · Helsinki · 2018</a:t>
            </a:r>
            <a:endParaRPr lang="en-US" sz="1000" dirty="0"/>
          </a:p>
          <a:p>
            <a:pPr indent="0" marL="0">
              <a:spcAft>
                <a:spcPts val="200"/>
              </a:spcAft>
              <a:buNone/>
            </a:pPr>
            <a:r>
              <a:rPr lang="en-US" sz="750" dirty="0">
                <a:solidFill>
                  <a:srgbClr val="1B1B1B"/>
                </a:solidFill>
                <a:latin typeface="Arial" pitchFamily="34" charset="0"/>
                <a:ea typeface="Arial" pitchFamily="34" charset="-122"/>
                <a:cs typeface="Arial" pitchFamily="34" charset="-120"/>
              </a:rPr>
              <a:t>Faces Parliament across a public square. Floors move from busy (events) to working (studios, makers) to quiet (reading).</a:t>
            </a:r>
            <a:endParaRPr lang="en-US" sz="1000" dirty="0"/>
          </a:p>
          <a:p>
            <a:pPr indent="0" marL="0">
              <a:spcAft>
                <a:spcPts val="200"/>
              </a:spcAft>
              <a:buNone/>
            </a:pPr>
            <a:r>
              <a:rPr lang="en-US" sz="750" b="1" dirty="0">
                <a:solidFill>
                  <a:srgbClr val="C4262E"/>
                </a:solidFill>
                <a:latin typeface="Arial" pitchFamily="34" charset="0"/>
                <a:ea typeface="Arial" pitchFamily="34" charset="-122"/>
                <a:cs typeface="Arial" pitchFamily="34" charset="-120"/>
              </a:rPr>
              <a:t>LESSON  </a:t>
            </a:r>
            <a:pPr indent="0" marL="0">
              <a:spcAft>
                <a:spcPts val="200"/>
              </a:spcAft>
              <a:buNone/>
            </a:pPr>
            <a:r>
              <a:rPr lang="en-US" sz="750" b="1" dirty="0">
                <a:solidFill>
                  <a:srgbClr val="1B1B1B"/>
                </a:solidFill>
                <a:latin typeface="Arial" pitchFamily="34" charset="0"/>
                <a:ea typeface="Arial" pitchFamily="34" charset="-122"/>
                <a:cs typeface="Arial" pitchFamily="34" charset="-120"/>
              </a:rPr>
              <a:t>Sort activities by noise + publicness; let the citizens' institution face the state.</a:t>
            </a:r>
            <a:endParaRPr lang="en-US" sz="1000" dirty="0"/>
          </a:p>
        </p:txBody>
      </p:sp>
      <p:sp>
        <p:nvSpPr>
          <p:cNvPr id="77" name="Shape 74"/>
          <p:cNvSpPr/>
          <p:nvPr/>
        </p:nvSpPr>
        <p:spPr>
          <a:xfrm>
            <a:off x="8686800" y="3291840"/>
            <a:ext cx="1143000" cy="1280160"/>
          </a:xfrm>
          <a:prstGeom prst="rect">
            <a:avLst/>
          </a:prstGeom>
          <a:solidFill>
            <a:srgbClr val="F2F2F2"/>
          </a:solidFill>
          <a:ln w="12700">
            <a:solidFill>
              <a:srgbClr val="F2F2F2"/>
            </a:solidFill>
            <a:prstDash val="solid"/>
          </a:ln>
        </p:spPr>
      </p:sp>
      <p:sp>
        <p:nvSpPr>
          <p:cNvPr id="78" name="Shape 75"/>
          <p:cNvSpPr/>
          <p:nvPr/>
        </p:nvSpPr>
        <p:spPr>
          <a:xfrm>
            <a:off x="8796528" y="3474720"/>
            <a:ext cx="923544" cy="914"/>
          </a:xfrm>
          <a:prstGeom prst="line">
            <a:avLst/>
          </a:prstGeom>
          <a:noFill/>
          <a:ln w="19050">
            <a:solidFill>
              <a:srgbClr val="1B1B1B"/>
            </a:solidFill>
            <a:prstDash val="solid"/>
          </a:ln>
        </p:spPr>
      </p:sp>
      <p:sp>
        <p:nvSpPr>
          <p:cNvPr id="79" name="Shape 76"/>
          <p:cNvSpPr/>
          <p:nvPr/>
        </p:nvSpPr>
        <p:spPr>
          <a:xfrm>
            <a:off x="8796528" y="3694176"/>
            <a:ext cx="923544" cy="914"/>
          </a:xfrm>
          <a:prstGeom prst="line">
            <a:avLst/>
          </a:prstGeom>
          <a:noFill/>
          <a:ln w="19050">
            <a:solidFill>
              <a:srgbClr val="1B1B1B"/>
            </a:solidFill>
            <a:prstDash val="solid"/>
          </a:ln>
        </p:spPr>
      </p:sp>
      <p:sp>
        <p:nvSpPr>
          <p:cNvPr id="80" name="Shape 77"/>
          <p:cNvSpPr/>
          <p:nvPr/>
        </p:nvSpPr>
        <p:spPr>
          <a:xfrm>
            <a:off x="8796528" y="3913632"/>
            <a:ext cx="923544" cy="914"/>
          </a:xfrm>
          <a:prstGeom prst="line">
            <a:avLst/>
          </a:prstGeom>
          <a:noFill/>
          <a:ln w="19050">
            <a:solidFill>
              <a:srgbClr val="1B1B1B"/>
            </a:solidFill>
            <a:prstDash val="solid"/>
          </a:ln>
        </p:spPr>
      </p:sp>
      <p:sp>
        <p:nvSpPr>
          <p:cNvPr id="81" name="Shape 78"/>
          <p:cNvSpPr/>
          <p:nvPr/>
        </p:nvSpPr>
        <p:spPr>
          <a:xfrm>
            <a:off x="8796528" y="4133088"/>
            <a:ext cx="923544" cy="914"/>
          </a:xfrm>
          <a:prstGeom prst="line">
            <a:avLst/>
          </a:prstGeom>
          <a:noFill/>
          <a:ln w="19050">
            <a:solidFill>
              <a:srgbClr val="1B1B1B"/>
            </a:solidFill>
            <a:prstDash val="solid"/>
          </a:ln>
        </p:spPr>
      </p:sp>
      <p:sp>
        <p:nvSpPr>
          <p:cNvPr id="82" name="Shape 79"/>
          <p:cNvSpPr/>
          <p:nvPr/>
        </p:nvSpPr>
        <p:spPr>
          <a:xfrm>
            <a:off x="8796528" y="4352544"/>
            <a:ext cx="923544" cy="914"/>
          </a:xfrm>
          <a:prstGeom prst="line">
            <a:avLst/>
          </a:prstGeom>
          <a:noFill/>
          <a:ln w="19050">
            <a:solidFill>
              <a:srgbClr val="1B1B1B"/>
            </a:solidFill>
            <a:prstDash val="solid"/>
          </a:ln>
        </p:spPr>
      </p:sp>
      <p:sp>
        <p:nvSpPr>
          <p:cNvPr id="83" name="Shape 80"/>
          <p:cNvSpPr/>
          <p:nvPr/>
        </p:nvSpPr>
        <p:spPr>
          <a:xfrm>
            <a:off x="8961120" y="3383280"/>
            <a:ext cx="128016" cy="960120"/>
          </a:xfrm>
          <a:prstGeom prst="rect">
            <a:avLst/>
          </a:prstGeom>
          <a:ln w="12700">
            <a:solidFill>
              <a:srgbClr val="C4262E"/>
            </a:solidFill>
            <a:prstDash val="sysDot"/>
          </a:ln>
        </p:spPr>
      </p:sp>
      <p:sp>
        <p:nvSpPr>
          <p:cNvPr id="84" name="Shape 81"/>
          <p:cNvSpPr/>
          <p:nvPr/>
        </p:nvSpPr>
        <p:spPr>
          <a:xfrm>
            <a:off x="9253728" y="3383280"/>
            <a:ext cx="173736" cy="960120"/>
          </a:xfrm>
          <a:prstGeom prst="rect">
            <a:avLst/>
          </a:prstGeom>
          <a:ln w="12700">
            <a:solidFill>
              <a:srgbClr val="C4262E"/>
            </a:solidFill>
            <a:prstDash val="sysDot"/>
          </a:ln>
        </p:spPr>
      </p:sp>
      <p:sp>
        <p:nvSpPr>
          <p:cNvPr id="85" name="Shape 82"/>
          <p:cNvSpPr/>
          <p:nvPr/>
        </p:nvSpPr>
        <p:spPr>
          <a:xfrm>
            <a:off x="9555480" y="3383280"/>
            <a:ext cx="128016" cy="960120"/>
          </a:xfrm>
          <a:prstGeom prst="rect">
            <a:avLst/>
          </a:prstGeom>
          <a:ln w="12700">
            <a:solidFill>
              <a:srgbClr val="C4262E"/>
            </a:solidFill>
            <a:prstDash val="sysDot"/>
          </a:ln>
        </p:spPr>
      </p:sp>
      <p:sp>
        <p:nvSpPr>
          <p:cNvPr id="86" name="Text 83"/>
          <p:cNvSpPr txBox="1"/>
          <p:nvPr/>
        </p:nvSpPr>
        <p:spPr>
          <a:xfrm>
            <a:off x="8686800" y="4389120"/>
            <a:ext cx="1143000" cy="128016"/>
          </a:xfrm>
          <a:prstGeom prst="rect">
            <a:avLst/>
          </a:prstGeom>
          <a:noFill/>
          <a:ln/>
        </p:spPr>
        <p:txBody>
          <a:bodyPr wrap="square" lIns="0" tIns="0" rIns="0" bIns="0" rtlCol="0" anchor="t"/>
          <a:lstStyle/>
          <a:p>
            <a:pPr algn="ctr" indent="0" marL="0">
              <a:buNone/>
            </a:pPr>
            <a:r>
              <a:rPr lang="en-US" sz="550" dirty="0">
                <a:solidFill>
                  <a:srgbClr val="6B6B6B"/>
                </a:solidFill>
                <a:latin typeface="Arial" pitchFamily="34" charset="0"/>
                <a:ea typeface="Arial" pitchFamily="34" charset="-122"/>
                <a:cs typeface="Arial" pitchFamily="34" charset="-120"/>
              </a:rPr>
              <a:t>open floors + tubes</a:t>
            </a:r>
            <a:endParaRPr lang="en-US" sz="550" dirty="0"/>
          </a:p>
        </p:txBody>
      </p:sp>
      <p:sp>
        <p:nvSpPr>
          <p:cNvPr id="87" name="Text 84"/>
          <p:cNvSpPr txBox="1"/>
          <p:nvPr/>
        </p:nvSpPr>
        <p:spPr>
          <a:xfrm>
            <a:off x="9939528" y="3291840"/>
            <a:ext cx="1792224" cy="1280160"/>
          </a:xfrm>
          <a:prstGeom prst="rect">
            <a:avLst/>
          </a:prstGeom>
          <a:noFill/>
          <a:ln/>
        </p:spPr>
        <p:txBody>
          <a:bodyPr wrap="square" lIns="0" tIns="0" rIns="0" bIns="0" rtlCol="0" anchor="t"/>
          <a:lstStyle/>
          <a:p>
            <a:pPr indent="0" marL="0">
              <a:spcAft>
                <a:spcPts val="200"/>
              </a:spcAft>
              <a:buNone/>
            </a:pPr>
            <a:r>
              <a:rPr lang="en-US" sz="900" b="1" dirty="0">
                <a:solidFill>
                  <a:srgbClr val="1B1B1B"/>
                </a:solidFill>
                <a:latin typeface="Arial" pitchFamily="34" charset="0"/>
                <a:ea typeface="Arial" pitchFamily="34" charset="-122"/>
                <a:cs typeface="Arial" pitchFamily="34" charset="-120"/>
              </a:rPr>
              <a:t>Sendai Mediatheque</a:t>
            </a:r>
            <a:endParaRPr lang="en-US" sz="1000" dirty="0"/>
          </a:p>
          <a:p>
            <a:pPr indent="0" marL="0">
              <a:spcAft>
                <a:spcPts val="200"/>
              </a:spcAft>
              <a:buNone/>
            </a:pPr>
            <a:r>
              <a:rPr lang="en-US" sz="700" dirty="0">
                <a:solidFill>
                  <a:srgbClr val="6B6B6B"/>
                </a:solidFill>
                <a:latin typeface="Arial" pitchFamily="34" charset="0"/>
                <a:ea typeface="Arial" pitchFamily="34" charset="-122"/>
                <a:cs typeface="Arial" pitchFamily="34" charset="-120"/>
              </a:rPr>
              <a:t>Toyo Ito · Sendai · 2001</a:t>
            </a:r>
            <a:endParaRPr lang="en-US" sz="1000" dirty="0"/>
          </a:p>
          <a:p>
            <a:pPr indent="0" marL="0">
              <a:spcAft>
                <a:spcPts val="200"/>
              </a:spcAft>
              <a:buNone/>
            </a:pPr>
            <a:r>
              <a:rPr lang="en-US" sz="750" dirty="0">
                <a:solidFill>
                  <a:srgbClr val="1B1B1B"/>
                </a:solidFill>
                <a:latin typeface="Arial" pitchFamily="34" charset="0"/>
                <a:ea typeface="Arial" pitchFamily="34" charset="-122"/>
                <a:cs typeface="Arial" pitchFamily="34" charset="-120"/>
              </a:rPr>
              <a:t>Library, gallery and media centre stacked on open floor plates held by tube structures.</a:t>
            </a:r>
            <a:endParaRPr lang="en-US" sz="1000" dirty="0"/>
          </a:p>
          <a:p>
            <a:pPr indent="0" marL="0">
              <a:spcAft>
                <a:spcPts val="200"/>
              </a:spcAft>
              <a:buNone/>
            </a:pPr>
            <a:r>
              <a:rPr lang="en-US" sz="750" b="1" dirty="0">
                <a:solidFill>
                  <a:srgbClr val="C4262E"/>
                </a:solidFill>
                <a:latin typeface="Arial" pitchFamily="34" charset="0"/>
                <a:ea typeface="Arial" pitchFamily="34" charset="-122"/>
                <a:cs typeface="Arial" pitchFamily="34" charset="-120"/>
              </a:rPr>
              <a:t>LESSON  </a:t>
            </a:r>
            <a:pPr indent="0" marL="0">
              <a:spcAft>
                <a:spcPts val="200"/>
              </a:spcAft>
              <a:buNone/>
            </a:pPr>
            <a:r>
              <a:rPr lang="en-US" sz="750" b="1" dirty="0">
                <a:solidFill>
                  <a:srgbClr val="1B1B1B"/>
                </a:solidFill>
                <a:latin typeface="Arial" pitchFamily="34" charset="0"/>
                <a:ea typeface="Arial" pitchFamily="34" charset="-122"/>
                <a:cs typeface="Arial" pitchFamily="34" charset="-120"/>
              </a:rPr>
              <a:t>Mix reading, media and exhibition so different users see and meet each other.</a:t>
            </a:r>
            <a:endParaRPr lang="en-US" sz="1000" dirty="0"/>
          </a:p>
        </p:txBody>
      </p:sp>
      <p:sp>
        <p:nvSpPr>
          <p:cNvPr id="88" name="Shape 85"/>
          <p:cNvSpPr/>
          <p:nvPr/>
        </p:nvSpPr>
        <p:spPr>
          <a:xfrm>
            <a:off x="8686800" y="4773168"/>
            <a:ext cx="1143000" cy="1280160"/>
          </a:xfrm>
          <a:prstGeom prst="rect">
            <a:avLst/>
          </a:prstGeom>
          <a:solidFill>
            <a:srgbClr val="F2F2F2"/>
          </a:solidFill>
          <a:ln w="12700">
            <a:solidFill>
              <a:srgbClr val="F2F2F2"/>
            </a:solidFill>
            <a:prstDash val="solid"/>
          </a:ln>
        </p:spPr>
      </p:sp>
      <p:sp>
        <p:nvSpPr>
          <p:cNvPr id="89" name="Shape 86"/>
          <p:cNvSpPr/>
          <p:nvPr/>
        </p:nvSpPr>
        <p:spPr>
          <a:xfrm>
            <a:off x="8759952" y="5660136"/>
            <a:ext cx="493776" cy="164592"/>
          </a:xfrm>
          <a:prstGeom prst="line">
            <a:avLst/>
          </a:prstGeom>
          <a:noFill/>
          <a:ln w="15875">
            <a:solidFill>
              <a:srgbClr val="1B1B1B"/>
            </a:solidFill>
            <a:prstDash val="solid"/>
          </a:ln>
        </p:spPr>
      </p:sp>
      <p:sp>
        <p:nvSpPr>
          <p:cNvPr id="90" name="Shape 87"/>
          <p:cNvSpPr/>
          <p:nvPr/>
        </p:nvSpPr>
        <p:spPr>
          <a:xfrm>
            <a:off x="9253728" y="5824728"/>
            <a:ext cx="530352" cy="914"/>
          </a:xfrm>
          <a:prstGeom prst="line">
            <a:avLst/>
          </a:prstGeom>
          <a:noFill/>
          <a:ln w="12700">
            <a:solidFill>
              <a:srgbClr val="1B1B1B"/>
            </a:solidFill>
            <a:prstDash val="solid"/>
          </a:ln>
        </p:spPr>
      </p:sp>
      <p:sp>
        <p:nvSpPr>
          <p:cNvPr id="91" name="Shape 88"/>
          <p:cNvSpPr/>
          <p:nvPr/>
        </p:nvSpPr>
        <p:spPr>
          <a:xfrm>
            <a:off x="8851392" y="5632155"/>
            <a:ext cx="45720" cy="45720"/>
          </a:xfrm>
          <a:prstGeom prst="ellipse">
            <a:avLst/>
          </a:prstGeom>
          <a:solidFill>
            <a:srgbClr val="C4262E"/>
          </a:solidFill>
          <a:ln w="12700">
            <a:solidFill>
              <a:srgbClr val="C4262E"/>
            </a:solidFill>
            <a:prstDash val="solid"/>
          </a:ln>
        </p:spPr>
      </p:sp>
      <p:sp>
        <p:nvSpPr>
          <p:cNvPr id="92" name="Shape 89"/>
          <p:cNvSpPr/>
          <p:nvPr/>
        </p:nvSpPr>
        <p:spPr>
          <a:xfrm>
            <a:off x="8961120" y="5668366"/>
            <a:ext cx="45720" cy="45720"/>
          </a:xfrm>
          <a:prstGeom prst="ellipse">
            <a:avLst/>
          </a:prstGeom>
          <a:solidFill>
            <a:srgbClr val="C4262E"/>
          </a:solidFill>
          <a:ln w="12700">
            <a:solidFill>
              <a:srgbClr val="C4262E"/>
            </a:solidFill>
            <a:prstDash val="solid"/>
          </a:ln>
        </p:spPr>
      </p:sp>
      <p:sp>
        <p:nvSpPr>
          <p:cNvPr id="93" name="Shape 90"/>
          <p:cNvSpPr/>
          <p:nvPr/>
        </p:nvSpPr>
        <p:spPr>
          <a:xfrm>
            <a:off x="9070848" y="5704576"/>
            <a:ext cx="45720" cy="45720"/>
          </a:xfrm>
          <a:prstGeom prst="ellipse">
            <a:avLst/>
          </a:prstGeom>
          <a:solidFill>
            <a:srgbClr val="C4262E"/>
          </a:solidFill>
          <a:ln w="12700">
            <a:solidFill>
              <a:srgbClr val="C4262E"/>
            </a:solidFill>
            <a:prstDash val="solid"/>
          </a:ln>
        </p:spPr>
      </p:sp>
      <p:sp>
        <p:nvSpPr>
          <p:cNvPr id="94" name="Shape 91"/>
          <p:cNvSpPr/>
          <p:nvPr/>
        </p:nvSpPr>
        <p:spPr>
          <a:xfrm>
            <a:off x="9144000" y="5728716"/>
            <a:ext cx="45720" cy="45720"/>
          </a:xfrm>
          <a:prstGeom prst="ellipse">
            <a:avLst/>
          </a:prstGeom>
          <a:solidFill>
            <a:srgbClr val="C4262E"/>
          </a:solidFill>
          <a:ln w="12700">
            <a:solidFill>
              <a:srgbClr val="C4262E"/>
            </a:solidFill>
            <a:prstDash val="solid"/>
          </a:ln>
        </p:spPr>
      </p:sp>
      <p:sp>
        <p:nvSpPr>
          <p:cNvPr id="95" name="Shape 92"/>
          <p:cNvSpPr/>
          <p:nvPr/>
        </p:nvSpPr>
        <p:spPr>
          <a:xfrm>
            <a:off x="9272016" y="5001768"/>
            <a:ext cx="502920" cy="822960"/>
          </a:xfrm>
          <a:prstGeom prst="rect">
            <a:avLst/>
          </a:prstGeom>
          <a:solidFill>
            <a:srgbClr val="FFFFFF"/>
          </a:solidFill>
          <a:ln w="12700">
            <a:solidFill>
              <a:srgbClr val="1B1B1B"/>
            </a:solidFill>
            <a:prstDash val="solid"/>
          </a:ln>
        </p:spPr>
      </p:sp>
      <p:sp>
        <p:nvSpPr>
          <p:cNvPr id="96" name="Shape 93"/>
          <p:cNvSpPr/>
          <p:nvPr/>
        </p:nvSpPr>
        <p:spPr>
          <a:xfrm>
            <a:off x="9272016" y="5166360"/>
            <a:ext cx="502920" cy="914"/>
          </a:xfrm>
          <a:prstGeom prst="line">
            <a:avLst/>
          </a:prstGeom>
          <a:noFill/>
          <a:ln w="6350">
            <a:solidFill>
              <a:srgbClr val="D9D9D9"/>
            </a:solidFill>
            <a:prstDash val="solid"/>
          </a:ln>
        </p:spPr>
      </p:sp>
      <p:sp>
        <p:nvSpPr>
          <p:cNvPr id="97" name="Shape 94"/>
          <p:cNvSpPr/>
          <p:nvPr/>
        </p:nvSpPr>
        <p:spPr>
          <a:xfrm>
            <a:off x="9272016" y="5330952"/>
            <a:ext cx="502920" cy="914"/>
          </a:xfrm>
          <a:prstGeom prst="line">
            <a:avLst/>
          </a:prstGeom>
          <a:noFill/>
          <a:ln w="6350">
            <a:solidFill>
              <a:srgbClr val="D9D9D9"/>
            </a:solidFill>
            <a:prstDash val="solid"/>
          </a:ln>
        </p:spPr>
      </p:sp>
      <p:sp>
        <p:nvSpPr>
          <p:cNvPr id="98" name="Shape 95"/>
          <p:cNvSpPr/>
          <p:nvPr/>
        </p:nvSpPr>
        <p:spPr>
          <a:xfrm>
            <a:off x="9272016" y="5495544"/>
            <a:ext cx="502920" cy="914"/>
          </a:xfrm>
          <a:prstGeom prst="line">
            <a:avLst/>
          </a:prstGeom>
          <a:noFill/>
          <a:ln w="6350">
            <a:solidFill>
              <a:srgbClr val="D9D9D9"/>
            </a:solidFill>
            <a:prstDash val="solid"/>
          </a:ln>
        </p:spPr>
      </p:sp>
      <p:sp>
        <p:nvSpPr>
          <p:cNvPr id="99" name="Shape 96"/>
          <p:cNvSpPr/>
          <p:nvPr/>
        </p:nvSpPr>
        <p:spPr>
          <a:xfrm>
            <a:off x="9272016" y="5660136"/>
            <a:ext cx="502920" cy="914"/>
          </a:xfrm>
          <a:prstGeom prst="line">
            <a:avLst/>
          </a:prstGeom>
          <a:noFill/>
          <a:ln w="6350">
            <a:solidFill>
              <a:srgbClr val="D9D9D9"/>
            </a:solidFill>
            <a:prstDash val="solid"/>
          </a:ln>
        </p:spPr>
      </p:sp>
      <p:sp>
        <p:nvSpPr>
          <p:cNvPr id="100" name="Shape 97"/>
          <p:cNvSpPr/>
          <p:nvPr/>
        </p:nvSpPr>
        <p:spPr>
          <a:xfrm flipH="1">
            <a:off x="9290304" y="5047488"/>
            <a:ext cx="448056" cy="758952"/>
          </a:xfrm>
          <a:prstGeom prst="line">
            <a:avLst/>
          </a:prstGeom>
          <a:noFill/>
          <a:ln w="15875">
            <a:solidFill>
              <a:srgbClr val="C4262E"/>
            </a:solidFill>
            <a:prstDash val="solid"/>
          </a:ln>
        </p:spPr>
      </p:sp>
      <p:sp>
        <p:nvSpPr>
          <p:cNvPr id="101" name="Text 98"/>
          <p:cNvSpPr txBox="1"/>
          <p:nvPr/>
        </p:nvSpPr>
        <p:spPr>
          <a:xfrm>
            <a:off x="8732520" y="5852160"/>
            <a:ext cx="502920" cy="137160"/>
          </a:xfrm>
          <a:prstGeom prst="rect">
            <a:avLst/>
          </a:prstGeom>
          <a:noFill/>
          <a:ln/>
        </p:spPr>
        <p:txBody>
          <a:bodyPr wrap="square" lIns="0" tIns="0" rIns="0" bIns="0" rtlCol="0" anchor="t"/>
          <a:lstStyle/>
          <a:p>
            <a:pPr algn="ctr" indent="0" marL="0">
              <a:buNone/>
            </a:pPr>
            <a:r>
              <a:rPr lang="en-US" sz="550" dirty="0">
                <a:solidFill>
                  <a:srgbClr val="6B6B6B"/>
                </a:solidFill>
                <a:latin typeface="Arial" pitchFamily="34" charset="0"/>
                <a:ea typeface="Arial" pitchFamily="34" charset="-122"/>
                <a:cs typeface="Arial" pitchFamily="34" charset="-120"/>
              </a:rPr>
              <a:t>piazza</a:t>
            </a:r>
            <a:endParaRPr lang="en-US" sz="550" dirty="0"/>
          </a:p>
        </p:txBody>
      </p:sp>
      <p:sp>
        <p:nvSpPr>
          <p:cNvPr id="102" name="Text 99"/>
          <p:cNvSpPr txBox="1"/>
          <p:nvPr/>
        </p:nvSpPr>
        <p:spPr>
          <a:xfrm>
            <a:off x="9939528" y="4773168"/>
            <a:ext cx="1792224" cy="1280160"/>
          </a:xfrm>
          <a:prstGeom prst="rect">
            <a:avLst/>
          </a:prstGeom>
          <a:noFill/>
          <a:ln/>
        </p:spPr>
        <p:txBody>
          <a:bodyPr wrap="square" lIns="0" tIns="0" rIns="0" bIns="0" rtlCol="0" anchor="t"/>
          <a:lstStyle/>
          <a:p>
            <a:pPr indent="0" marL="0">
              <a:spcAft>
                <a:spcPts val="200"/>
              </a:spcAft>
              <a:buNone/>
            </a:pPr>
            <a:r>
              <a:rPr lang="en-US" sz="900" b="1" dirty="0">
                <a:solidFill>
                  <a:srgbClr val="1B1B1B"/>
                </a:solidFill>
                <a:latin typeface="Arial" pitchFamily="34" charset="0"/>
                <a:ea typeface="Arial" pitchFamily="34" charset="-122"/>
                <a:cs typeface="Arial" pitchFamily="34" charset="-120"/>
              </a:rPr>
              <a:t>Centre Pompidou</a:t>
            </a:r>
            <a:endParaRPr lang="en-US" sz="1000" dirty="0"/>
          </a:p>
          <a:p>
            <a:pPr indent="0" marL="0">
              <a:spcAft>
                <a:spcPts val="200"/>
              </a:spcAft>
              <a:buNone/>
            </a:pPr>
            <a:r>
              <a:rPr lang="en-US" sz="700" dirty="0">
                <a:solidFill>
                  <a:srgbClr val="6B6B6B"/>
                </a:solidFill>
                <a:latin typeface="Arial" pitchFamily="34" charset="0"/>
                <a:ea typeface="Arial" pitchFamily="34" charset="-122"/>
                <a:cs typeface="Arial" pitchFamily="34" charset="-120"/>
              </a:rPr>
              <a:t>Piano + Rogers · Paris · 1977</a:t>
            </a:r>
            <a:endParaRPr lang="en-US" sz="1000" dirty="0"/>
          </a:p>
          <a:p>
            <a:pPr indent="0" marL="0">
              <a:spcAft>
                <a:spcPts val="200"/>
              </a:spcAft>
              <a:buNone/>
            </a:pPr>
            <a:r>
              <a:rPr lang="en-US" sz="750" dirty="0">
                <a:solidFill>
                  <a:srgbClr val="1B1B1B"/>
                </a:solidFill>
                <a:latin typeface="Arial" pitchFamily="34" charset="0"/>
                <a:ea typeface="Arial" pitchFamily="34" charset="-122"/>
                <a:cs typeface="Arial" pitchFamily="34" charset="-120"/>
              </a:rPr>
              <a:t>A sloping public piazza in front of an open cultural institution with a free public library.</a:t>
            </a:r>
            <a:endParaRPr lang="en-US" sz="1000" dirty="0"/>
          </a:p>
          <a:p>
            <a:pPr indent="0" marL="0">
              <a:spcAft>
                <a:spcPts val="200"/>
              </a:spcAft>
              <a:buNone/>
            </a:pPr>
            <a:r>
              <a:rPr lang="en-US" sz="750" b="1" dirty="0">
                <a:solidFill>
                  <a:srgbClr val="C4262E"/>
                </a:solidFill>
                <a:latin typeface="Arial" pitchFamily="34" charset="0"/>
                <a:ea typeface="Arial" pitchFamily="34" charset="-122"/>
                <a:cs typeface="Arial" pitchFamily="34" charset="-120"/>
              </a:rPr>
              <a:t>LESSON  </a:t>
            </a:r>
            <a:pPr indent="0" marL="0">
              <a:spcAft>
                <a:spcPts val="200"/>
              </a:spcAft>
              <a:buNone/>
            </a:pPr>
            <a:r>
              <a:rPr lang="en-US" sz="750" b="1" dirty="0">
                <a:solidFill>
                  <a:srgbClr val="1B1B1B"/>
                </a:solidFill>
                <a:latin typeface="Arial" pitchFamily="34" charset="0"/>
                <a:ea typeface="Arial" pitchFamily="34" charset="-122"/>
                <a:cs typeface="Arial" pitchFamily="34" charset="-120"/>
              </a:rPr>
              <a:t>Treat the public forecourt as program: where the city gathers before it enters.</a:t>
            </a:r>
            <a:endParaRPr lang="en-US" sz="1000" dirty="0"/>
          </a:p>
        </p:txBody>
      </p:sp>
      <p:sp>
        <p:nvSpPr>
          <p:cNvPr id="103" name="Text 100"/>
          <p:cNvSpPr txBox="1"/>
          <p:nvPr/>
        </p:nvSpPr>
        <p:spPr>
          <a:xfrm>
            <a:off x="8686800" y="6263640"/>
            <a:ext cx="3017520" cy="164592"/>
          </a:xfrm>
          <a:prstGeom prst="rect">
            <a:avLst/>
          </a:prstGeom>
          <a:noFill/>
          <a:ln/>
        </p:spPr>
        <p:txBody>
          <a:bodyPr wrap="square" lIns="0" tIns="0" rIns="0" bIns="0" rtlCol="0" anchor="t"/>
          <a:lstStyle/>
          <a:p>
            <a:pPr indent="0" marL="0">
              <a:buNone/>
            </a:pPr>
            <a:r>
              <a:rPr lang="en-US" sz="700" i="1" dirty="0">
                <a:solidFill>
                  <a:srgbClr val="6B6B6B"/>
                </a:solidFill>
                <a:latin typeface="Arial" pitchFamily="34" charset="0"/>
                <a:ea typeface="Arial" pitchFamily="34" charset="-122"/>
                <a:cs typeface="Arial" pitchFamily="34" charset="-120"/>
              </a:rPr>
              <a:t>Diagrams redrawn by author</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9144000" cy="182880"/>
          </a:xfrm>
          <a:prstGeom prst="rect">
            <a:avLst/>
          </a:prstGeom>
          <a:noFill/>
          <a:ln/>
        </p:spPr>
        <p:txBody>
          <a:bodyPr wrap="square" lIns="0" tIns="0" rIns="0" bIns="0" rtlCol="0" anchor="t"/>
          <a:lstStyle/>
          <a:p>
            <a:pPr indent="0" marL="0">
              <a:buNone/>
            </a:pPr>
            <a:r>
              <a:rPr lang="en-US" sz="850" spc="100" kern="0" dirty="0">
                <a:solidFill>
                  <a:srgbClr val="6B6B6B"/>
                </a:solidFill>
                <a:latin typeface="Arial" pitchFamily="34" charset="0"/>
                <a:ea typeface="Arial" pitchFamily="34" charset="-122"/>
                <a:cs typeface="Arial" pitchFamily="34" charset="-120"/>
              </a:rPr>
              <a:t>SITES OF REPRESENTATION  ·  THE CONTEMPORARY PUBLISHING HOUSE  ·  ARCH 4201 · SEMESTER 8 · PROJECT 01</a:t>
            </a:r>
            <a:endParaRPr lang="en-US" sz="850" dirty="0"/>
          </a:p>
        </p:txBody>
      </p:sp>
      <p:sp>
        <p:nvSpPr>
          <p:cNvPr id="3" name="Text 1"/>
          <p:cNvSpPr txBox="1"/>
          <p:nvPr/>
        </p:nvSpPr>
        <p:spPr>
          <a:xfrm>
            <a:off x="457200" y="457200"/>
            <a:ext cx="9601200" cy="502920"/>
          </a:xfrm>
          <a:prstGeom prst="rect">
            <a:avLst/>
          </a:prstGeom>
          <a:noFill/>
          <a:ln/>
        </p:spPr>
        <p:txBody>
          <a:bodyPr wrap="square" lIns="0" tIns="0" rIns="0" bIns="0" rtlCol="0" anchor="t"/>
          <a:lstStyle/>
          <a:p>
            <a:pPr indent="0" marL="0">
              <a:buNone/>
            </a:pPr>
            <a:r>
              <a:rPr lang="en-US" sz="2600" b="1" dirty="0">
                <a:solidFill>
                  <a:srgbClr val="1B1B1B"/>
                </a:solidFill>
                <a:latin typeface="Arial" pitchFamily="34" charset="0"/>
                <a:ea typeface="Arial" pitchFamily="34" charset="-122"/>
                <a:cs typeface="Arial" pitchFamily="34" charset="-120"/>
              </a:rPr>
              <a:t>HOW DOES THE PROJECT WORK?</a:t>
            </a:r>
            <a:endParaRPr lang="en-US" sz="2600" dirty="0"/>
          </a:p>
        </p:txBody>
      </p:sp>
      <p:sp>
        <p:nvSpPr>
          <p:cNvPr id="4" name="Text 2"/>
          <p:cNvSpPr txBox="1"/>
          <p:nvPr/>
        </p:nvSpPr>
        <p:spPr>
          <a:xfrm>
            <a:off x="457200" y="978408"/>
            <a:ext cx="9601200" cy="228600"/>
          </a:xfrm>
          <a:prstGeom prst="rect">
            <a:avLst/>
          </a:prstGeom>
          <a:noFill/>
          <a:ln/>
        </p:spPr>
        <p:txBody>
          <a:bodyPr wrap="square" lIns="0" tIns="0" rIns="0" bIns="0" rtlCol="0" anchor="t"/>
          <a:lstStyle/>
          <a:p>
            <a:pPr indent="0" marL="0">
              <a:buNone/>
            </a:pPr>
            <a:r>
              <a:rPr lang="en-US" sz="1050" dirty="0">
                <a:solidFill>
                  <a:srgbClr val="6B6B6B"/>
                </a:solidFill>
                <a:latin typeface="Arial" pitchFamily="34" charset="0"/>
                <a:ea typeface="Arial" pitchFamily="34" charset="-122"/>
                <a:cs typeface="Arial" pitchFamily="34" charset="-120"/>
              </a:rPr>
              <a:t>Program  ·  Access  ·  Process  ·  Design drivers</a:t>
            </a:r>
            <a:endParaRPr lang="en-US" sz="1050" dirty="0"/>
          </a:p>
        </p:txBody>
      </p:sp>
      <p:sp>
        <p:nvSpPr>
          <p:cNvPr id="5" name="Text 3"/>
          <p:cNvSpPr txBox="1"/>
          <p:nvPr/>
        </p:nvSpPr>
        <p:spPr>
          <a:xfrm>
            <a:off x="10360152" y="320040"/>
            <a:ext cx="1371600" cy="822960"/>
          </a:xfrm>
          <a:prstGeom prst="rect">
            <a:avLst/>
          </a:prstGeom>
          <a:noFill/>
          <a:ln/>
        </p:spPr>
        <p:txBody>
          <a:bodyPr wrap="square" lIns="0" tIns="0" rIns="0" bIns="0" rtlCol="0" anchor="t"/>
          <a:lstStyle/>
          <a:p>
            <a:pPr algn="r" indent="0" marL="0">
              <a:buNone/>
            </a:pPr>
            <a:r>
              <a:rPr lang="en-US" sz="4800" b="1" dirty="0">
                <a:solidFill>
                  <a:srgbClr val="C4262E"/>
                </a:solidFill>
                <a:latin typeface="Arial" pitchFamily="34" charset="0"/>
                <a:ea typeface="Arial" pitchFamily="34" charset="-122"/>
                <a:cs typeface="Arial" pitchFamily="34" charset="-120"/>
              </a:rPr>
              <a:t>03</a:t>
            </a:r>
            <a:endParaRPr lang="en-US" sz="4800" dirty="0"/>
          </a:p>
        </p:txBody>
      </p:sp>
      <p:sp>
        <p:nvSpPr>
          <p:cNvPr id="6" name="Shape 4"/>
          <p:cNvSpPr/>
          <p:nvPr/>
        </p:nvSpPr>
        <p:spPr>
          <a:xfrm>
            <a:off x="457200" y="1472184"/>
            <a:ext cx="219456" cy="219456"/>
          </a:xfrm>
          <a:prstGeom prst="ellipse">
            <a:avLst/>
          </a:prstGeom>
          <a:solidFill>
            <a:srgbClr val="C4262E"/>
          </a:solidFill>
          <a:ln w="12700">
            <a:solidFill>
              <a:srgbClr val="C4262E"/>
            </a:solidFill>
            <a:prstDash val="solid"/>
          </a:ln>
        </p:spPr>
      </p:sp>
      <p:sp>
        <p:nvSpPr>
          <p:cNvPr id="7" name="Text 5"/>
          <p:cNvSpPr txBox="1"/>
          <p:nvPr/>
        </p:nvSpPr>
        <p:spPr>
          <a:xfrm>
            <a:off x="457200" y="147218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A</a:t>
            </a:r>
            <a:endParaRPr lang="en-US" sz="900" dirty="0"/>
          </a:p>
        </p:txBody>
      </p:sp>
      <p:sp>
        <p:nvSpPr>
          <p:cNvPr id="8" name="Text 6"/>
          <p:cNvSpPr txBox="1"/>
          <p:nvPr/>
        </p:nvSpPr>
        <p:spPr>
          <a:xfrm>
            <a:off x="758952" y="1463040"/>
            <a:ext cx="4453128" cy="237744"/>
          </a:xfrm>
          <a:prstGeom prst="rect">
            <a:avLst/>
          </a:prstGeom>
          <a:noFill/>
          <a:ln/>
        </p:spPr>
        <p:txBody>
          <a:bodyPr wrap="square" lIns="0" tIns="0" rIns="0" bIns="0" rtlCol="0" anchor="ctr"/>
          <a:lstStyle/>
          <a:p>
            <a:pPr indent="0" marL="0">
              <a:buNone/>
            </a:pPr>
            <a:r>
              <a:rPr lang="en-US" sz="1100" b="1" spc="100" kern="0" dirty="0">
                <a:solidFill>
                  <a:srgbClr val="1B1B1B"/>
                </a:solidFill>
                <a:latin typeface="Arial" pitchFamily="34" charset="0"/>
                <a:ea typeface="Arial" pitchFamily="34" charset="-122"/>
                <a:cs typeface="Arial" pitchFamily="34" charset="-120"/>
              </a:rPr>
              <a:t>PROGRAM  ·  RELATIONSHIPS</a:t>
            </a:r>
            <a:endParaRPr lang="en-US" sz="1100" dirty="0"/>
          </a:p>
        </p:txBody>
      </p:sp>
      <p:sp>
        <p:nvSpPr>
          <p:cNvPr id="9" name="Shape 7"/>
          <p:cNvSpPr/>
          <p:nvPr/>
        </p:nvSpPr>
        <p:spPr>
          <a:xfrm>
            <a:off x="960120" y="3657600"/>
            <a:ext cx="914" cy="1847088"/>
          </a:xfrm>
          <a:prstGeom prst="line">
            <a:avLst/>
          </a:prstGeom>
          <a:noFill/>
          <a:ln w="12700">
            <a:solidFill>
              <a:srgbClr val="4F7A43"/>
            </a:solidFill>
            <a:prstDash val="dash"/>
          </a:ln>
        </p:spPr>
      </p:sp>
      <p:sp>
        <p:nvSpPr>
          <p:cNvPr id="10" name="Shape 8"/>
          <p:cNvSpPr/>
          <p:nvPr/>
        </p:nvSpPr>
        <p:spPr>
          <a:xfrm>
            <a:off x="1463040" y="4663440"/>
            <a:ext cx="914" cy="841248"/>
          </a:xfrm>
          <a:prstGeom prst="line">
            <a:avLst/>
          </a:prstGeom>
          <a:noFill/>
          <a:ln w="12700">
            <a:solidFill>
              <a:srgbClr val="4F7A43"/>
            </a:solidFill>
            <a:prstDash val="dash"/>
          </a:ln>
        </p:spPr>
      </p:sp>
      <p:sp>
        <p:nvSpPr>
          <p:cNvPr id="11" name="Shape 9"/>
          <p:cNvSpPr/>
          <p:nvPr/>
        </p:nvSpPr>
        <p:spPr>
          <a:xfrm>
            <a:off x="2606040" y="4983480"/>
            <a:ext cx="914" cy="521208"/>
          </a:xfrm>
          <a:prstGeom prst="line">
            <a:avLst/>
          </a:prstGeom>
          <a:noFill/>
          <a:ln w="12700">
            <a:solidFill>
              <a:srgbClr val="4F7A43"/>
            </a:solidFill>
            <a:prstDash val="dash"/>
          </a:ln>
        </p:spPr>
      </p:sp>
      <p:sp>
        <p:nvSpPr>
          <p:cNvPr id="12" name="Shape 10"/>
          <p:cNvSpPr/>
          <p:nvPr/>
        </p:nvSpPr>
        <p:spPr>
          <a:xfrm>
            <a:off x="4069080" y="3794760"/>
            <a:ext cx="914" cy="1709928"/>
          </a:xfrm>
          <a:prstGeom prst="line">
            <a:avLst/>
          </a:prstGeom>
          <a:noFill/>
          <a:ln w="12700">
            <a:solidFill>
              <a:srgbClr val="4F7A43"/>
            </a:solidFill>
            <a:prstDash val="dash"/>
          </a:ln>
        </p:spPr>
      </p:sp>
      <p:sp>
        <p:nvSpPr>
          <p:cNvPr id="13" name="Shape 11"/>
          <p:cNvSpPr/>
          <p:nvPr/>
        </p:nvSpPr>
        <p:spPr>
          <a:xfrm>
            <a:off x="1691640" y="2377440"/>
            <a:ext cx="640080" cy="1097280"/>
          </a:xfrm>
          <a:prstGeom prst="line">
            <a:avLst/>
          </a:prstGeom>
          <a:noFill/>
          <a:ln w="12700">
            <a:solidFill>
              <a:srgbClr val="8C8C8C"/>
            </a:solidFill>
            <a:prstDash val="solid"/>
          </a:ln>
        </p:spPr>
      </p:sp>
      <p:sp>
        <p:nvSpPr>
          <p:cNvPr id="14" name="Shape 12"/>
          <p:cNvSpPr/>
          <p:nvPr/>
        </p:nvSpPr>
        <p:spPr>
          <a:xfrm>
            <a:off x="1691640" y="2377440"/>
            <a:ext cx="2743200" cy="228600"/>
          </a:xfrm>
          <a:prstGeom prst="line">
            <a:avLst/>
          </a:prstGeom>
          <a:noFill/>
          <a:ln w="12700">
            <a:solidFill>
              <a:srgbClr val="8C8C8C"/>
            </a:solidFill>
            <a:prstDash val="solid"/>
          </a:ln>
        </p:spPr>
      </p:sp>
      <p:sp>
        <p:nvSpPr>
          <p:cNvPr id="15" name="Shape 13"/>
          <p:cNvSpPr/>
          <p:nvPr/>
        </p:nvSpPr>
        <p:spPr>
          <a:xfrm flipH="1">
            <a:off x="960120" y="3474720"/>
            <a:ext cx="1371600" cy="182880"/>
          </a:xfrm>
          <a:prstGeom prst="line">
            <a:avLst/>
          </a:prstGeom>
          <a:noFill/>
          <a:ln w="12700">
            <a:solidFill>
              <a:srgbClr val="8C8C8C"/>
            </a:solidFill>
            <a:prstDash val="solid"/>
          </a:ln>
        </p:spPr>
      </p:sp>
      <p:sp>
        <p:nvSpPr>
          <p:cNvPr id="16" name="Shape 14"/>
          <p:cNvSpPr/>
          <p:nvPr/>
        </p:nvSpPr>
        <p:spPr>
          <a:xfrm flipH="1">
            <a:off x="1463040" y="3474720"/>
            <a:ext cx="868680" cy="1188720"/>
          </a:xfrm>
          <a:prstGeom prst="line">
            <a:avLst/>
          </a:prstGeom>
          <a:noFill/>
          <a:ln w="12700">
            <a:solidFill>
              <a:srgbClr val="8C8C8C"/>
            </a:solidFill>
            <a:prstDash val="solid"/>
          </a:ln>
        </p:spPr>
      </p:sp>
      <p:sp>
        <p:nvSpPr>
          <p:cNvPr id="17" name="Shape 15"/>
          <p:cNvSpPr/>
          <p:nvPr/>
        </p:nvSpPr>
        <p:spPr>
          <a:xfrm>
            <a:off x="1463040" y="4663440"/>
            <a:ext cx="1143000" cy="320040"/>
          </a:xfrm>
          <a:prstGeom prst="line">
            <a:avLst/>
          </a:prstGeom>
          <a:noFill/>
          <a:ln w="12700">
            <a:solidFill>
              <a:srgbClr val="8C8C8C"/>
            </a:solidFill>
            <a:prstDash val="solid"/>
          </a:ln>
        </p:spPr>
      </p:sp>
      <p:sp>
        <p:nvSpPr>
          <p:cNvPr id="18" name="Shape 16"/>
          <p:cNvSpPr/>
          <p:nvPr/>
        </p:nvSpPr>
        <p:spPr>
          <a:xfrm flipH="1">
            <a:off x="2606040" y="4937760"/>
            <a:ext cx="1005840" cy="45720"/>
          </a:xfrm>
          <a:prstGeom prst="line">
            <a:avLst/>
          </a:prstGeom>
          <a:noFill/>
          <a:ln w="12700">
            <a:solidFill>
              <a:srgbClr val="8C8C8C"/>
            </a:solidFill>
            <a:prstDash val="solid"/>
          </a:ln>
        </p:spPr>
      </p:sp>
      <p:sp>
        <p:nvSpPr>
          <p:cNvPr id="19" name="Shape 17"/>
          <p:cNvSpPr/>
          <p:nvPr/>
        </p:nvSpPr>
        <p:spPr>
          <a:xfrm flipH="1">
            <a:off x="3611880" y="4800600"/>
            <a:ext cx="1051560" cy="137160"/>
          </a:xfrm>
          <a:prstGeom prst="line">
            <a:avLst/>
          </a:prstGeom>
          <a:noFill/>
          <a:ln w="12700">
            <a:solidFill>
              <a:srgbClr val="8C8C8C"/>
            </a:solidFill>
            <a:prstDash val="solid"/>
          </a:ln>
        </p:spPr>
      </p:sp>
      <p:sp>
        <p:nvSpPr>
          <p:cNvPr id="20" name="Shape 18"/>
          <p:cNvSpPr/>
          <p:nvPr/>
        </p:nvSpPr>
        <p:spPr>
          <a:xfrm>
            <a:off x="2331720" y="3474720"/>
            <a:ext cx="1737360" cy="320040"/>
          </a:xfrm>
          <a:prstGeom prst="line">
            <a:avLst/>
          </a:prstGeom>
          <a:noFill/>
          <a:ln w="12700">
            <a:solidFill>
              <a:srgbClr val="8C8C8C"/>
            </a:solidFill>
            <a:prstDash val="solid"/>
          </a:ln>
        </p:spPr>
      </p:sp>
      <p:sp>
        <p:nvSpPr>
          <p:cNvPr id="21" name="Shape 19"/>
          <p:cNvSpPr/>
          <p:nvPr/>
        </p:nvSpPr>
        <p:spPr>
          <a:xfrm>
            <a:off x="3063240" y="2240280"/>
            <a:ext cx="1371600" cy="365760"/>
          </a:xfrm>
          <a:prstGeom prst="line">
            <a:avLst/>
          </a:prstGeom>
          <a:noFill/>
          <a:ln w="12700">
            <a:solidFill>
              <a:srgbClr val="8C8C8C"/>
            </a:solidFill>
            <a:prstDash val="solid"/>
          </a:ln>
        </p:spPr>
      </p:sp>
      <p:sp>
        <p:nvSpPr>
          <p:cNvPr id="22" name="Shape 20"/>
          <p:cNvSpPr/>
          <p:nvPr/>
        </p:nvSpPr>
        <p:spPr>
          <a:xfrm flipH="1">
            <a:off x="1691640" y="2240280"/>
            <a:ext cx="1371600" cy="137160"/>
          </a:xfrm>
          <a:prstGeom prst="line">
            <a:avLst/>
          </a:prstGeom>
          <a:noFill/>
          <a:ln w="31750">
            <a:solidFill>
              <a:srgbClr val="C4262E"/>
            </a:solidFill>
            <a:prstDash val="solid"/>
          </a:ln>
        </p:spPr>
      </p:sp>
      <p:sp>
        <p:nvSpPr>
          <p:cNvPr id="23" name="Shape 21"/>
          <p:cNvSpPr/>
          <p:nvPr/>
        </p:nvSpPr>
        <p:spPr>
          <a:xfrm flipH="1">
            <a:off x="2331720" y="2240280"/>
            <a:ext cx="731520" cy="1234440"/>
          </a:xfrm>
          <a:prstGeom prst="line">
            <a:avLst/>
          </a:prstGeom>
          <a:noFill/>
          <a:ln w="31750">
            <a:solidFill>
              <a:srgbClr val="C4262E"/>
            </a:solidFill>
            <a:prstDash val="solid"/>
          </a:ln>
        </p:spPr>
      </p:sp>
      <p:sp>
        <p:nvSpPr>
          <p:cNvPr id="24" name="Shape 22"/>
          <p:cNvSpPr/>
          <p:nvPr/>
        </p:nvSpPr>
        <p:spPr>
          <a:xfrm flipH="1">
            <a:off x="4069080" y="2606040"/>
            <a:ext cx="365760" cy="1188720"/>
          </a:xfrm>
          <a:prstGeom prst="line">
            <a:avLst/>
          </a:prstGeom>
          <a:noFill/>
          <a:ln w="31750">
            <a:solidFill>
              <a:srgbClr val="C4262E"/>
            </a:solidFill>
            <a:prstDash val="solid"/>
          </a:ln>
        </p:spPr>
      </p:sp>
      <p:sp>
        <p:nvSpPr>
          <p:cNvPr id="25" name="Shape 23"/>
          <p:cNvSpPr/>
          <p:nvPr/>
        </p:nvSpPr>
        <p:spPr>
          <a:xfrm>
            <a:off x="4069080" y="3794760"/>
            <a:ext cx="594360" cy="1005840"/>
          </a:xfrm>
          <a:prstGeom prst="line">
            <a:avLst/>
          </a:prstGeom>
          <a:noFill/>
          <a:ln w="31750">
            <a:solidFill>
              <a:srgbClr val="C4262E"/>
            </a:solidFill>
            <a:prstDash val="solid"/>
          </a:ln>
        </p:spPr>
      </p:sp>
      <p:sp>
        <p:nvSpPr>
          <p:cNvPr id="26" name="Shape 24"/>
          <p:cNvSpPr/>
          <p:nvPr/>
        </p:nvSpPr>
        <p:spPr>
          <a:xfrm>
            <a:off x="960120" y="3657600"/>
            <a:ext cx="502920" cy="1005840"/>
          </a:xfrm>
          <a:prstGeom prst="line">
            <a:avLst/>
          </a:prstGeom>
          <a:noFill/>
          <a:ln w="31750">
            <a:solidFill>
              <a:srgbClr val="C4262E"/>
            </a:solidFill>
            <a:prstDash val="solid"/>
          </a:ln>
        </p:spPr>
      </p:sp>
      <p:sp>
        <p:nvSpPr>
          <p:cNvPr id="27" name="Shape 25"/>
          <p:cNvSpPr/>
          <p:nvPr/>
        </p:nvSpPr>
        <p:spPr>
          <a:xfrm>
            <a:off x="1165860" y="1851660"/>
            <a:ext cx="1051560" cy="1051560"/>
          </a:xfrm>
          <a:prstGeom prst="ellipse">
            <a:avLst/>
          </a:prstGeom>
          <a:solidFill>
            <a:srgbClr val="1B1B1B"/>
          </a:solidFill>
          <a:ln w="15875">
            <a:solidFill>
              <a:srgbClr val="1B1B1B"/>
            </a:solidFill>
            <a:prstDash val="solid"/>
          </a:ln>
        </p:spPr>
      </p:sp>
      <p:sp>
        <p:nvSpPr>
          <p:cNvPr id="28" name="Text 26"/>
          <p:cNvSpPr txBox="1"/>
          <p:nvPr/>
        </p:nvSpPr>
        <p:spPr>
          <a:xfrm>
            <a:off x="1193292" y="1851660"/>
            <a:ext cx="996696" cy="105156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RESEARCH + STUDIOS</a:t>
            </a:r>
            <a:endParaRPr lang="en-US" sz="700" dirty="0"/>
          </a:p>
        </p:txBody>
      </p:sp>
      <p:sp>
        <p:nvSpPr>
          <p:cNvPr id="29" name="Shape 27"/>
          <p:cNvSpPr/>
          <p:nvPr/>
        </p:nvSpPr>
        <p:spPr>
          <a:xfrm>
            <a:off x="2606040" y="1783080"/>
            <a:ext cx="914400" cy="914400"/>
          </a:xfrm>
          <a:prstGeom prst="ellipse">
            <a:avLst/>
          </a:prstGeom>
          <a:solidFill>
            <a:srgbClr val="1B1B1B"/>
          </a:solidFill>
          <a:ln w="15875">
            <a:solidFill>
              <a:srgbClr val="1B1B1B"/>
            </a:solidFill>
            <a:prstDash val="solid"/>
          </a:ln>
        </p:spPr>
      </p:sp>
      <p:sp>
        <p:nvSpPr>
          <p:cNvPr id="30" name="Text 28"/>
          <p:cNvSpPr txBox="1"/>
          <p:nvPr/>
        </p:nvSpPr>
        <p:spPr>
          <a:xfrm>
            <a:off x="2633472" y="1783080"/>
            <a:ext cx="859536" cy="91440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ARCHIVE</a:t>
            </a:r>
            <a:endParaRPr lang="en-US" sz="700" dirty="0"/>
          </a:p>
        </p:txBody>
      </p:sp>
      <p:sp>
        <p:nvSpPr>
          <p:cNvPr id="31" name="Shape 29"/>
          <p:cNvSpPr/>
          <p:nvPr/>
        </p:nvSpPr>
        <p:spPr>
          <a:xfrm>
            <a:off x="1737360" y="2880360"/>
            <a:ext cx="1188720" cy="1188720"/>
          </a:xfrm>
          <a:prstGeom prst="ellipse">
            <a:avLst/>
          </a:prstGeom>
          <a:solidFill>
            <a:srgbClr val="1B1B1B"/>
          </a:solidFill>
          <a:ln w="15875">
            <a:solidFill>
              <a:srgbClr val="1B1B1B"/>
            </a:solidFill>
            <a:prstDash val="solid"/>
          </a:ln>
        </p:spPr>
      </p:sp>
      <p:sp>
        <p:nvSpPr>
          <p:cNvPr id="32" name="Text 30"/>
          <p:cNvSpPr txBox="1"/>
          <p:nvPr/>
        </p:nvSpPr>
        <p:spPr>
          <a:xfrm>
            <a:off x="1764792" y="2880360"/>
            <a:ext cx="1133856" cy="118872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LIBRARY + READING ROOM</a:t>
            </a:r>
            <a:endParaRPr lang="en-US" sz="700" dirty="0"/>
          </a:p>
        </p:txBody>
      </p:sp>
      <p:sp>
        <p:nvSpPr>
          <p:cNvPr id="33" name="Shape 31"/>
          <p:cNvSpPr/>
          <p:nvPr/>
        </p:nvSpPr>
        <p:spPr>
          <a:xfrm>
            <a:off x="3931920" y="2103120"/>
            <a:ext cx="1005840" cy="1005840"/>
          </a:xfrm>
          <a:prstGeom prst="ellipse">
            <a:avLst/>
          </a:prstGeom>
          <a:solidFill>
            <a:srgbClr val="1B1B1B"/>
          </a:solidFill>
          <a:ln w="15875">
            <a:solidFill>
              <a:srgbClr val="1B1B1B"/>
            </a:solidFill>
            <a:prstDash val="solid"/>
          </a:ln>
        </p:spPr>
      </p:sp>
      <p:sp>
        <p:nvSpPr>
          <p:cNvPr id="34" name="Text 32"/>
          <p:cNvSpPr txBox="1"/>
          <p:nvPr/>
        </p:nvSpPr>
        <p:spPr>
          <a:xfrm>
            <a:off x="3959352" y="2103120"/>
            <a:ext cx="950976" cy="100584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PUBLISHING</a:t>
            </a:r>
            <a:endParaRPr lang="en-US" sz="700" dirty="0"/>
          </a:p>
        </p:txBody>
      </p:sp>
      <p:sp>
        <p:nvSpPr>
          <p:cNvPr id="35" name="Shape 33"/>
          <p:cNvSpPr/>
          <p:nvPr/>
        </p:nvSpPr>
        <p:spPr>
          <a:xfrm>
            <a:off x="3543300" y="3268980"/>
            <a:ext cx="1051560" cy="1051560"/>
          </a:xfrm>
          <a:prstGeom prst="ellipse">
            <a:avLst/>
          </a:prstGeom>
          <a:solidFill>
            <a:srgbClr val="1B1B1B"/>
          </a:solidFill>
          <a:ln w="15875">
            <a:solidFill>
              <a:srgbClr val="1B1B1B"/>
            </a:solidFill>
            <a:prstDash val="solid"/>
          </a:ln>
        </p:spPr>
      </p:sp>
      <p:sp>
        <p:nvSpPr>
          <p:cNvPr id="36" name="Text 34"/>
          <p:cNvSpPr txBox="1"/>
          <p:nvPr/>
        </p:nvSpPr>
        <p:spPr>
          <a:xfrm>
            <a:off x="3570732" y="3268980"/>
            <a:ext cx="996696" cy="105156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MEDIA + RECORDING</a:t>
            </a:r>
            <a:endParaRPr lang="en-US" sz="700" dirty="0"/>
          </a:p>
        </p:txBody>
      </p:sp>
      <p:sp>
        <p:nvSpPr>
          <p:cNvPr id="37" name="Shape 35"/>
          <p:cNvSpPr/>
          <p:nvPr/>
        </p:nvSpPr>
        <p:spPr>
          <a:xfrm>
            <a:off x="548640" y="3246120"/>
            <a:ext cx="822960" cy="822960"/>
          </a:xfrm>
          <a:prstGeom prst="ellipse">
            <a:avLst/>
          </a:prstGeom>
          <a:solidFill>
            <a:srgbClr val="FFFFFF"/>
          </a:solidFill>
          <a:ln w="15875">
            <a:solidFill>
              <a:srgbClr val="1B1B1B"/>
            </a:solidFill>
            <a:prstDash val="solid"/>
          </a:ln>
        </p:spPr>
      </p:sp>
      <p:sp>
        <p:nvSpPr>
          <p:cNvPr id="38" name="Text 36"/>
          <p:cNvSpPr txBox="1"/>
          <p:nvPr/>
        </p:nvSpPr>
        <p:spPr>
          <a:xfrm>
            <a:off x="576072" y="3246120"/>
            <a:ext cx="768096" cy="822960"/>
          </a:xfrm>
          <a:prstGeom prst="rect">
            <a:avLst/>
          </a:prstGeom>
          <a:noFill/>
          <a:ln/>
        </p:spPr>
        <p:txBody>
          <a:bodyPr wrap="square" lIns="0" tIns="0" rIns="0" bIns="0" rtlCol="0" anchor="ctr"/>
          <a:lstStyle/>
          <a:p>
            <a:pPr algn="ctr" indent="0" marL="0">
              <a:buNone/>
            </a:pPr>
            <a:r>
              <a:rPr lang="en-US" sz="700" b="1" dirty="0">
                <a:solidFill>
                  <a:srgbClr val="1B1B1B"/>
                </a:solidFill>
                <a:latin typeface="Arial" pitchFamily="34" charset="0"/>
                <a:ea typeface="Arial" pitchFamily="34" charset="-122"/>
                <a:cs typeface="Arial" pitchFamily="34" charset="-120"/>
              </a:rPr>
              <a:t>EXHIBITION</a:t>
            </a:r>
            <a:endParaRPr lang="en-US" sz="700" dirty="0"/>
          </a:p>
        </p:txBody>
      </p:sp>
      <p:sp>
        <p:nvSpPr>
          <p:cNvPr id="39" name="Shape 37"/>
          <p:cNvSpPr/>
          <p:nvPr/>
        </p:nvSpPr>
        <p:spPr>
          <a:xfrm>
            <a:off x="1051560" y="4251960"/>
            <a:ext cx="822960" cy="822960"/>
          </a:xfrm>
          <a:prstGeom prst="ellipse">
            <a:avLst/>
          </a:prstGeom>
          <a:solidFill>
            <a:srgbClr val="FFFFFF"/>
          </a:solidFill>
          <a:ln w="15875">
            <a:solidFill>
              <a:srgbClr val="1B1B1B"/>
            </a:solidFill>
            <a:prstDash val="solid"/>
          </a:ln>
        </p:spPr>
      </p:sp>
      <p:sp>
        <p:nvSpPr>
          <p:cNvPr id="40" name="Text 38"/>
          <p:cNvSpPr txBox="1"/>
          <p:nvPr/>
        </p:nvSpPr>
        <p:spPr>
          <a:xfrm>
            <a:off x="1078992" y="4251960"/>
            <a:ext cx="768096" cy="822960"/>
          </a:xfrm>
          <a:prstGeom prst="rect">
            <a:avLst/>
          </a:prstGeom>
          <a:noFill/>
          <a:ln/>
        </p:spPr>
        <p:txBody>
          <a:bodyPr wrap="square" lIns="0" tIns="0" rIns="0" bIns="0" rtlCol="0" anchor="ctr"/>
          <a:lstStyle/>
          <a:p>
            <a:pPr algn="ctr" indent="0" marL="0">
              <a:buNone/>
            </a:pPr>
            <a:r>
              <a:rPr lang="en-US" sz="700" b="1" dirty="0">
                <a:solidFill>
                  <a:srgbClr val="1B1B1B"/>
                </a:solidFill>
                <a:latin typeface="Arial" pitchFamily="34" charset="0"/>
                <a:ea typeface="Arial" pitchFamily="34" charset="-122"/>
                <a:cs typeface="Arial" pitchFamily="34" charset="-120"/>
              </a:rPr>
              <a:t>PUBLIC FORUM</a:t>
            </a:r>
            <a:endParaRPr lang="en-US" sz="700" dirty="0"/>
          </a:p>
        </p:txBody>
      </p:sp>
      <p:sp>
        <p:nvSpPr>
          <p:cNvPr id="41" name="Shape 39"/>
          <p:cNvSpPr/>
          <p:nvPr/>
        </p:nvSpPr>
        <p:spPr>
          <a:xfrm>
            <a:off x="2194560" y="4572000"/>
            <a:ext cx="822960" cy="822960"/>
          </a:xfrm>
          <a:prstGeom prst="ellipse">
            <a:avLst/>
          </a:prstGeom>
          <a:solidFill>
            <a:srgbClr val="FFFFFF"/>
          </a:solidFill>
          <a:ln w="15875">
            <a:solidFill>
              <a:srgbClr val="1B1B1B"/>
            </a:solidFill>
            <a:prstDash val="solid"/>
          </a:ln>
        </p:spPr>
      </p:sp>
      <p:sp>
        <p:nvSpPr>
          <p:cNvPr id="42" name="Text 40"/>
          <p:cNvSpPr txBox="1"/>
          <p:nvPr/>
        </p:nvSpPr>
        <p:spPr>
          <a:xfrm>
            <a:off x="2221992" y="4572000"/>
            <a:ext cx="768096" cy="822960"/>
          </a:xfrm>
          <a:prstGeom prst="rect">
            <a:avLst/>
          </a:prstGeom>
          <a:noFill/>
          <a:ln/>
        </p:spPr>
        <p:txBody>
          <a:bodyPr wrap="square" lIns="0" tIns="0" rIns="0" bIns="0" rtlCol="0" anchor="ctr"/>
          <a:lstStyle/>
          <a:p>
            <a:pPr algn="ctr" indent="0" marL="0">
              <a:buNone/>
            </a:pPr>
            <a:r>
              <a:rPr lang="en-US" sz="700" b="1" dirty="0">
                <a:solidFill>
                  <a:srgbClr val="1B1B1B"/>
                </a:solidFill>
                <a:latin typeface="Arial" pitchFamily="34" charset="0"/>
                <a:ea typeface="Arial" pitchFamily="34" charset="-122"/>
                <a:cs typeface="Arial" pitchFamily="34" charset="-120"/>
              </a:rPr>
              <a:t>AUDITORIUM</a:t>
            </a:r>
            <a:endParaRPr lang="en-US" sz="700" dirty="0"/>
          </a:p>
        </p:txBody>
      </p:sp>
      <p:sp>
        <p:nvSpPr>
          <p:cNvPr id="43" name="Shape 41"/>
          <p:cNvSpPr/>
          <p:nvPr/>
        </p:nvSpPr>
        <p:spPr>
          <a:xfrm>
            <a:off x="3200400" y="4526280"/>
            <a:ext cx="822960" cy="822960"/>
          </a:xfrm>
          <a:prstGeom prst="ellipse">
            <a:avLst/>
          </a:prstGeom>
          <a:solidFill>
            <a:srgbClr val="FFFFFF"/>
          </a:solidFill>
          <a:ln w="15875">
            <a:solidFill>
              <a:srgbClr val="1B1B1B"/>
            </a:solidFill>
            <a:prstDash val="solid"/>
          </a:ln>
        </p:spPr>
      </p:sp>
      <p:sp>
        <p:nvSpPr>
          <p:cNvPr id="44" name="Text 42"/>
          <p:cNvSpPr txBox="1"/>
          <p:nvPr/>
        </p:nvSpPr>
        <p:spPr>
          <a:xfrm>
            <a:off x="3227832" y="4526280"/>
            <a:ext cx="768096" cy="822960"/>
          </a:xfrm>
          <a:prstGeom prst="rect">
            <a:avLst/>
          </a:prstGeom>
          <a:noFill/>
          <a:ln/>
        </p:spPr>
        <p:txBody>
          <a:bodyPr wrap="square" lIns="0" tIns="0" rIns="0" bIns="0" rtlCol="0" anchor="ctr"/>
          <a:lstStyle/>
          <a:p>
            <a:pPr algn="ctr" indent="0" marL="0">
              <a:buNone/>
            </a:pPr>
            <a:r>
              <a:rPr lang="en-US" sz="700" b="1" dirty="0">
                <a:solidFill>
                  <a:srgbClr val="1B1B1B"/>
                </a:solidFill>
                <a:latin typeface="Arial" pitchFamily="34" charset="0"/>
                <a:ea typeface="Arial" pitchFamily="34" charset="-122"/>
                <a:cs typeface="Arial" pitchFamily="34" charset="-120"/>
              </a:rPr>
              <a:t>EDUCATION</a:t>
            </a:r>
            <a:endParaRPr lang="en-US" sz="700" dirty="0"/>
          </a:p>
        </p:txBody>
      </p:sp>
      <p:sp>
        <p:nvSpPr>
          <p:cNvPr id="45" name="Shape 43"/>
          <p:cNvSpPr/>
          <p:nvPr/>
        </p:nvSpPr>
        <p:spPr>
          <a:xfrm>
            <a:off x="4251960" y="4389120"/>
            <a:ext cx="822960" cy="822960"/>
          </a:xfrm>
          <a:prstGeom prst="ellipse">
            <a:avLst/>
          </a:prstGeom>
          <a:solidFill>
            <a:srgbClr val="FFFFFF"/>
          </a:solidFill>
          <a:ln w="15875">
            <a:solidFill>
              <a:srgbClr val="1B1B1B"/>
            </a:solidFill>
            <a:prstDash val="solid"/>
          </a:ln>
        </p:spPr>
      </p:sp>
      <p:sp>
        <p:nvSpPr>
          <p:cNvPr id="46" name="Text 44"/>
          <p:cNvSpPr txBox="1"/>
          <p:nvPr/>
        </p:nvSpPr>
        <p:spPr>
          <a:xfrm>
            <a:off x="4279392" y="4389120"/>
            <a:ext cx="768096" cy="822960"/>
          </a:xfrm>
          <a:prstGeom prst="rect">
            <a:avLst/>
          </a:prstGeom>
          <a:noFill/>
          <a:ln/>
        </p:spPr>
        <p:txBody>
          <a:bodyPr wrap="square" lIns="0" tIns="0" rIns="0" bIns="0" rtlCol="0" anchor="ctr"/>
          <a:lstStyle/>
          <a:p>
            <a:pPr algn="ctr" indent="0" marL="0">
              <a:buNone/>
            </a:pPr>
            <a:r>
              <a:rPr lang="en-US" sz="700" b="1" dirty="0">
                <a:solidFill>
                  <a:srgbClr val="1B1B1B"/>
                </a:solidFill>
                <a:latin typeface="Arial" pitchFamily="34" charset="0"/>
                <a:ea typeface="Arial" pitchFamily="34" charset="-122"/>
                <a:cs typeface="Arial" pitchFamily="34" charset="-120"/>
              </a:rPr>
              <a:t>WORKSHOPS</a:t>
            </a:r>
            <a:endParaRPr lang="en-US" sz="700" dirty="0"/>
          </a:p>
        </p:txBody>
      </p:sp>
      <p:sp>
        <p:nvSpPr>
          <p:cNvPr id="47" name="Shape 45"/>
          <p:cNvSpPr/>
          <p:nvPr/>
        </p:nvSpPr>
        <p:spPr>
          <a:xfrm>
            <a:off x="457200" y="5504688"/>
            <a:ext cx="4754880" cy="274320"/>
          </a:xfrm>
          <a:prstGeom prst="roundRect">
            <a:avLst>
              <a:gd name="adj" fmla="val 50000"/>
            </a:avLst>
          </a:prstGeom>
          <a:solidFill>
            <a:srgbClr val="4F7A43"/>
          </a:solidFill>
          <a:ln w="12700">
            <a:solidFill>
              <a:srgbClr val="4F7A43"/>
            </a:solidFill>
            <a:prstDash val="solid"/>
          </a:ln>
        </p:spPr>
      </p:sp>
      <p:sp>
        <p:nvSpPr>
          <p:cNvPr id="48" name="Text 46"/>
          <p:cNvSpPr txBox="1"/>
          <p:nvPr/>
        </p:nvSpPr>
        <p:spPr>
          <a:xfrm>
            <a:off x="457200" y="5504688"/>
            <a:ext cx="475488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PUBLIC / PROTEST INTERFACE  +  SHIMLA PAHARI LANDSCAPE  (site)</a:t>
            </a:r>
            <a:endParaRPr lang="en-US" sz="800" dirty="0"/>
          </a:p>
        </p:txBody>
      </p:sp>
      <p:sp>
        <p:nvSpPr>
          <p:cNvPr id="49" name="Text 47"/>
          <p:cNvSpPr txBox="1"/>
          <p:nvPr/>
        </p:nvSpPr>
        <p:spPr>
          <a:xfrm>
            <a:off x="457200" y="5824728"/>
            <a:ext cx="4846320" cy="164592"/>
          </a:xfrm>
          <a:prstGeom prst="rect">
            <a:avLst/>
          </a:prstGeom>
          <a:noFill/>
          <a:ln/>
        </p:spPr>
        <p:txBody>
          <a:bodyPr wrap="square" lIns="0" tIns="0" rIns="0" bIns="0" rtlCol="0" anchor="t"/>
          <a:lstStyle/>
          <a:p>
            <a:pPr indent="0" marL="0">
              <a:buNone/>
            </a:pPr>
            <a:r>
              <a:rPr lang="en-US" sz="700" dirty="0">
                <a:solidFill>
                  <a:srgbClr val="1B1B1B"/>
                </a:solidFill>
                <a:latin typeface="Arial" pitchFamily="34" charset="0"/>
                <a:ea typeface="Arial" pitchFamily="34" charset="-122"/>
                <a:cs typeface="Arial" pitchFamily="34" charset="-120"/>
              </a:rPr>
              <a:t>●</a:t>
            </a:r>
            <a:pPr indent="0" marL="0">
              <a:buNone/>
            </a:pPr>
            <a:r>
              <a:rPr lang="en-US" sz="700" dirty="0">
                <a:solidFill>
                  <a:srgbClr val="6B6B6B"/>
                </a:solidFill>
                <a:latin typeface="Arial" pitchFamily="34" charset="0"/>
                <a:ea typeface="Arial" pitchFamily="34" charset="-122"/>
                <a:cs typeface="Arial" pitchFamily="34" charset="-120"/>
              </a:rPr>
              <a:t> required   </a:t>
            </a:r>
            <a:pPr indent="0" marL="0">
              <a:buNone/>
            </a:pPr>
            <a:r>
              <a:rPr lang="en-US" sz="700" dirty="0">
                <a:solidFill>
                  <a:srgbClr val="1B1B1B"/>
                </a:solidFill>
                <a:latin typeface="Arial" pitchFamily="34" charset="0"/>
                <a:ea typeface="Arial" pitchFamily="34" charset="-122"/>
                <a:cs typeface="Arial" pitchFamily="34" charset="-120"/>
              </a:rPr>
              <a:t>○</a:t>
            </a:r>
            <a:pPr indent="0" marL="0">
              <a:buNone/>
            </a:pPr>
            <a:r>
              <a:rPr lang="en-US" sz="700" dirty="0">
                <a:solidFill>
                  <a:srgbClr val="6B6B6B"/>
                </a:solidFill>
                <a:latin typeface="Arial" pitchFamily="34" charset="0"/>
                <a:ea typeface="Arial" pitchFamily="34" charset="-122"/>
                <a:cs typeface="Arial" pitchFamily="34" charset="-120"/>
              </a:rPr>
              <a:t> “may include”   </a:t>
            </a:r>
            <a:pPr indent="0" marL="0">
              <a:buNone/>
            </a:pPr>
            <a:r>
              <a:rPr lang="en-US" sz="700" b="1" dirty="0">
                <a:solidFill>
                  <a:srgbClr val="C4262E"/>
                </a:solidFill>
                <a:latin typeface="Arial" pitchFamily="34" charset="0"/>
                <a:ea typeface="Arial" pitchFamily="34" charset="-122"/>
                <a:cs typeface="Arial" pitchFamily="34" charset="-120"/>
              </a:rPr>
              <a:t>━</a:t>
            </a:r>
            <a:pPr indent="0" marL="0">
              <a:buNone/>
            </a:pPr>
            <a:r>
              <a:rPr lang="en-US" sz="700" dirty="0">
                <a:solidFill>
                  <a:srgbClr val="6B6B6B"/>
                </a:solidFill>
                <a:latin typeface="Arial" pitchFamily="34" charset="0"/>
                <a:ea typeface="Arial" pitchFamily="34" charset="-122"/>
                <a:cs typeface="Arial" pitchFamily="34" charset="-120"/>
              </a:rPr>
              <a:t> strong link   </a:t>
            </a:r>
            <a:pPr indent="0" marL="0">
              <a:buNone/>
            </a:pPr>
            <a:r>
              <a:rPr lang="en-US" sz="700" dirty="0">
                <a:solidFill>
                  <a:srgbClr val="8C8C8C"/>
                </a:solidFill>
                <a:latin typeface="Arial" pitchFamily="34" charset="0"/>
                <a:ea typeface="Arial" pitchFamily="34" charset="-122"/>
                <a:cs typeface="Arial" pitchFamily="34" charset="-120"/>
              </a:rPr>
              <a:t>━</a:t>
            </a:r>
            <a:pPr indent="0" marL="0">
              <a:buNone/>
            </a:pPr>
            <a:r>
              <a:rPr lang="en-US" sz="700" dirty="0">
                <a:solidFill>
                  <a:srgbClr val="6B6B6B"/>
                </a:solidFill>
                <a:latin typeface="Arial" pitchFamily="34" charset="0"/>
                <a:ea typeface="Arial" pitchFamily="34" charset="-122"/>
                <a:cs typeface="Arial" pitchFamily="34" charset="-120"/>
              </a:rPr>
              <a:t> link (my reading)   ·   Areas: to be determined in design development</a:t>
            </a:r>
            <a:endParaRPr lang="en-US" sz="700" dirty="0"/>
          </a:p>
        </p:txBody>
      </p:sp>
      <p:sp>
        <p:nvSpPr>
          <p:cNvPr id="50" name="Shape 48"/>
          <p:cNvSpPr/>
          <p:nvPr/>
        </p:nvSpPr>
        <p:spPr>
          <a:xfrm>
            <a:off x="5486400" y="1472184"/>
            <a:ext cx="219456" cy="219456"/>
          </a:xfrm>
          <a:prstGeom prst="ellipse">
            <a:avLst/>
          </a:prstGeom>
          <a:solidFill>
            <a:srgbClr val="C4262E"/>
          </a:solidFill>
          <a:ln w="12700">
            <a:solidFill>
              <a:srgbClr val="C4262E"/>
            </a:solidFill>
            <a:prstDash val="solid"/>
          </a:ln>
        </p:spPr>
      </p:sp>
      <p:sp>
        <p:nvSpPr>
          <p:cNvPr id="51" name="Text 49"/>
          <p:cNvSpPr txBox="1"/>
          <p:nvPr/>
        </p:nvSpPr>
        <p:spPr>
          <a:xfrm>
            <a:off x="5486400" y="147218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B</a:t>
            </a:r>
            <a:endParaRPr lang="en-US" sz="900" dirty="0"/>
          </a:p>
        </p:txBody>
      </p:sp>
      <p:sp>
        <p:nvSpPr>
          <p:cNvPr id="52" name="Text 50"/>
          <p:cNvSpPr txBox="1"/>
          <p:nvPr/>
        </p:nvSpPr>
        <p:spPr>
          <a:xfrm>
            <a:off x="5788152" y="1463040"/>
            <a:ext cx="2761488" cy="237744"/>
          </a:xfrm>
          <a:prstGeom prst="rect">
            <a:avLst/>
          </a:prstGeom>
          <a:noFill/>
          <a:ln/>
        </p:spPr>
        <p:txBody>
          <a:bodyPr wrap="square" lIns="0" tIns="0" rIns="0" bIns="0" rtlCol="0" anchor="ctr"/>
          <a:lstStyle/>
          <a:p>
            <a:pPr indent="0" marL="0">
              <a:buNone/>
            </a:pPr>
            <a:r>
              <a:rPr lang="en-US" sz="1100" b="1" spc="100" kern="0" dirty="0">
                <a:solidFill>
                  <a:srgbClr val="1B1B1B"/>
                </a:solidFill>
                <a:latin typeface="Arial" pitchFamily="34" charset="0"/>
                <a:ea typeface="Arial" pitchFamily="34" charset="-122"/>
                <a:cs typeface="Arial" pitchFamily="34" charset="-120"/>
              </a:rPr>
              <a:t>ACCESS  ·  PUBLIC → PRIVATE</a:t>
            </a:r>
            <a:endParaRPr lang="en-US" sz="1100" dirty="0"/>
          </a:p>
        </p:txBody>
      </p:sp>
      <p:sp>
        <p:nvSpPr>
          <p:cNvPr id="53" name="Shape 51"/>
          <p:cNvSpPr/>
          <p:nvPr/>
        </p:nvSpPr>
        <p:spPr>
          <a:xfrm>
            <a:off x="5486400" y="1810512"/>
            <a:ext cx="2697480" cy="822960"/>
          </a:xfrm>
          <a:prstGeom prst="rect">
            <a:avLst/>
          </a:prstGeom>
          <a:solidFill>
            <a:srgbClr val="F2F2F2"/>
          </a:solidFill>
          <a:ln w="12700">
            <a:solidFill>
              <a:srgbClr val="F2F2F2"/>
            </a:solidFill>
            <a:prstDash val="solid"/>
          </a:ln>
        </p:spPr>
      </p:sp>
      <p:sp>
        <p:nvSpPr>
          <p:cNvPr id="54" name="Text 52"/>
          <p:cNvSpPr txBox="1"/>
          <p:nvPr/>
        </p:nvSpPr>
        <p:spPr>
          <a:xfrm>
            <a:off x="5596128" y="1883664"/>
            <a:ext cx="2487168" cy="713232"/>
          </a:xfrm>
          <a:prstGeom prst="rect">
            <a:avLst/>
          </a:prstGeom>
          <a:noFill/>
          <a:ln/>
        </p:spPr>
        <p:txBody>
          <a:bodyPr wrap="square" lIns="0" tIns="0" rIns="0" bIns="0" rtlCol="0" anchor="t"/>
          <a:lstStyle/>
          <a:p>
            <a:pPr indent="0" marL="0">
              <a:buNone/>
            </a:pPr>
            <a:r>
              <a:rPr lang="en-US" sz="1000" b="1" dirty="0">
                <a:solidFill>
                  <a:srgbClr val="1B1B1B"/>
                </a:solidFill>
                <a:latin typeface="Arial" pitchFamily="34" charset="0"/>
                <a:ea typeface="Arial" pitchFamily="34" charset="-122"/>
                <a:cs typeface="Arial" pitchFamily="34" charset="-120"/>
              </a:rPr>
              <a:t>PUBLIC</a:t>
            </a:r>
            <a:endParaRPr lang="en-US" sz="1000" dirty="0"/>
          </a:p>
          <a:p>
            <a:pPr indent="0" marL="0">
              <a:buNone/>
            </a:pPr>
            <a:r>
              <a:rPr lang="en-US" sz="800" dirty="0">
                <a:solidFill>
                  <a:srgbClr val="1B1B1B"/>
                </a:solidFill>
                <a:latin typeface="Arial" pitchFamily="34" charset="0"/>
                <a:ea typeface="Arial" pitchFamily="34" charset="-122"/>
                <a:cs typeface="Arial" pitchFamily="34" charset="-120"/>
              </a:rPr>
              <a:t>protest interface · landscape · exhibition · public forum · library</a:t>
            </a:r>
            <a:endParaRPr lang="en-US" sz="1000" dirty="0"/>
          </a:p>
        </p:txBody>
      </p:sp>
      <p:sp>
        <p:nvSpPr>
          <p:cNvPr id="55" name="Shape 53"/>
          <p:cNvSpPr/>
          <p:nvPr/>
        </p:nvSpPr>
        <p:spPr>
          <a:xfrm>
            <a:off x="5486400" y="2724912"/>
            <a:ext cx="2697480" cy="822960"/>
          </a:xfrm>
          <a:prstGeom prst="rect">
            <a:avLst/>
          </a:prstGeom>
          <a:solidFill>
            <a:srgbClr val="D9D9D9"/>
          </a:solidFill>
          <a:ln w="12700">
            <a:solidFill>
              <a:srgbClr val="D9D9D9"/>
            </a:solidFill>
            <a:prstDash val="solid"/>
          </a:ln>
        </p:spPr>
      </p:sp>
      <p:sp>
        <p:nvSpPr>
          <p:cNvPr id="56" name="Text 54"/>
          <p:cNvSpPr txBox="1"/>
          <p:nvPr/>
        </p:nvSpPr>
        <p:spPr>
          <a:xfrm>
            <a:off x="5596128" y="2798064"/>
            <a:ext cx="2487168" cy="713232"/>
          </a:xfrm>
          <a:prstGeom prst="rect">
            <a:avLst/>
          </a:prstGeom>
          <a:noFill/>
          <a:ln/>
        </p:spPr>
        <p:txBody>
          <a:bodyPr wrap="square" lIns="0" tIns="0" rIns="0" bIns="0" rtlCol="0" anchor="t"/>
          <a:lstStyle/>
          <a:p>
            <a:pPr indent="0" marL="0">
              <a:buNone/>
            </a:pPr>
            <a:r>
              <a:rPr lang="en-US" sz="1000" b="1" dirty="0">
                <a:solidFill>
                  <a:srgbClr val="1B1B1B"/>
                </a:solidFill>
                <a:latin typeface="Arial" pitchFamily="34" charset="0"/>
                <a:ea typeface="Arial" pitchFamily="34" charset="-122"/>
                <a:cs typeface="Arial" pitchFamily="34" charset="-120"/>
              </a:rPr>
              <a:t>SEMI-PUBLIC</a:t>
            </a:r>
            <a:endParaRPr lang="en-US" sz="1000" dirty="0"/>
          </a:p>
          <a:p>
            <a:pPr indent="0" marL="0">
              <a:buNone/>
            </a:pPr>
            <a:r>
              <a:rPr lang="en-US" sz="800" dirty="0">
                <a:solidFill>
                  <a:srgbClr val="1B1B1B"/>
                </a:solidFill>
                <a:latin typeface="Arial" pitchFamily="34" charset="0"/>
                <a:ea typeface="Arial" pitchFamily="34" charset="-122"/>
                <a:cs typeface="Arial" pitchFamily="34" charset="-120"/>
              </a:rPr>
              <a:t>reading room · auditorium · workshops · education · archive consultation</a:t>
            </a:r>
            <a:endParaRPr lang="en-US" sz="1000" dirty="0"/>
          </a:p>
        </p:txBody>
      </p:sp>
      <p:sp>
        <p:nvSpPr>
          <p:cNvPr id="57" name="Shape 55"/>
          <p:cNvSpPr/>
          <p:nvPr/>
        </p:nvSpPr>
        <p:spPr>
          <a:xfrm>
            <a:off x="5486400" y="3639312"/>
            <a:ext cx="2697480" cy="822960"/>
          </a:xfrm>
          <a:prstGeom prst="rect">
            <a:avLst/>
          </a:prstGeom>
          <a:solidFill>
            <a:srgbClr val="8C8C8C"/>
          </a:solidFill>
          <a:ln w="12700">
            <a:solidFill>
              <a:srgbClr val="8C8C8C"/>
            </a:solidFill>
            <a:prstDash val="solid"/>
          </a:ln>
        </p:spPr>
      </p:sp>
      <p:sp>
        <p:nvSpPr>
          <p:cNvPr id="58" name="Text 56"/>
          <p:cNvSpPr txBox="1"/>
          <p:nvPr/>
        </p:nvSpPr>
        <p:spPr>
          <a:xfrm>
            <a:off x="5596128" y="3712464"/>
            <a:ext cx="2487168" cy="713232"/>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WORKING</a:t>
            </a:r>
            <a:endParaRPr lang="en-US" sz="1000" dirty="0"/>
          </a:p>
          <a:p>
            <a:pPr indent="0" marL="0">
              <a:buNone/>
            </a:pPr>
            <a:r>
              <a:rPr lang="en-US" sz="800" dirty="0">
                <a:solidFill>
                  <a:srgbClr val="FFFFFF"/>
                </a:solidFill>
                <a:latin typeface="Arial" pitchFamily="34" charset="0"/>
                <a:ea typeface="Arial" pitchFamily="34" charset="-122"/>
                <a:cs typeface="Arial" pitchFamily="34" charset="-120"/>
              </a:rPr>
              <a:t>research studios · media + recording · publishing</a:t>
            </a:r>
            <a:endParaRPr lang="en-US" sz="1000" dirty="0"/>
          </a:p>
        </p:txBody>
      </p:sp>
      <p:sp>
        <p:nvSpPr>
          <p:cNvPr id="59" name="Shape 57"/>
          <p:cNvSpPr/>
          <p:nvPr/>
        </p:nvSpPr>
        <p:spPr>
          <a:xfrm>
            <a:off x="5486400" y="4553712"/>
            <a:ext cx="2697480" cy="822960"/>
          </a:xfrm>
          <a:prstGeom prst="rect">
            <a:avLst/>
          </a:prstGeom>
          <a:solidFill>
            <a:srgbClr val="1B1B1B"/>
          </a:solidFill>
          <a:ln w="12700">
            <a:solidFill>
              <a:srgbClr val="1B1B1B"/>
            </a:solidFill>
            <a:prstDash val="solid"/>
          </a:ln>
        </p:spPr>
      </p:sp>
      <p:sp>
        <p:nvSpPr>
          <p:cNvPr id="60" name="Text 58"/>
          <p:cNvSpPr txBox="1"/>
          <p:nvPr/>
        </p:nvSpPr>
        <p:spPr>
          <a:xfrm>
            <a:off x="5596128" y="4626864"/>
            <a:ext cx="2487168" cy="713232"/>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PROTECTED</a:t>
            </a:r>
            <a:endParaRPr lang="en-US" sz="1000" dirty="0"/>
          </a:p>
          <a:p>
            <a:pPr indent="0" marL="0">
              <a:buNone/>
            </a:pPr>
            <a:r>
              <a:rPr lang="en-US" sz="800" dirty="0">
                <a:solidFill>
                  <a:srgbClr val="FFFFFF"/>
                </a:solidFill>
                <a:latin typeface="Arial" pitchFamily="34" charset="0"/>
                <a:ea typeface="Arial" pitchFamily="34" charset="-122"/>
                <a:cs typeface="Arial" pitchFamily="34" charset="-120"/>
              </a:rPr>
              <a:t>archive stores · production back-of-house</a:t>
            </a:r>
            <a:endParaRPr lang="en-US" sz="1000" dirty="0"/>
          </a:p>
        </p:txBody>
      </p:sp>
      <p:sp>
        <p:nvSpPr>
          <p:cNvPr id="61" name="Shape 59"/>
          <p:cNvSpPr/>
          <p:nvPr/>
        </p:nvSpPr>
        <p:spPr>
          <a:xfrm>
            <a:off x="8348472" y="2011680"/>
            <a:ext cx="914" cy="3346704"/>
          </a:xfrm>
          <a:prstGeom prst="line">
            <a:avLst/>
          </a:prstGeom>
          <a:noFill/>
          <a:ln w="25400">
            <a:solidFill>
              <a:srgbClr val="C4262E"/>
            </a:solidFill>
            <a:prstDash val="solid"/>
            <a:tailEnd type="triangle"/>
          </a:ln>
        </p:spPr>
      </p:sp>
      <p:sp>
        <p:nvSpPr>
          <p:cNvPr id="62" name="Text 60"/>
          <p:cNvSpPr txBox="1"/>
          <p:nvPr/>
        </p:nvSpPr>
        <p:spPr>
          <a:xfrm>
            <a:off x="8202168" y="1819656"/>
            <a:ext cx="320040" cy="146304"/>
          </a:xfrm>
          <a:prstGeom prst="rect">
            <a:avLst/>
          </a:prstGeom>
          <a:noFill/>
          <a:ln/>
        </p:spPr>
        <p:txBody>
          <a:bodyPr wrap="square" lIns="0" tIns="0" rIns="0" bIns="0" rtlCol="0" anchor="t"/>
          <a:lstStyle/>
          <a:p>
            <a:pPr algn="ctr" indent="0" marL="0">
              <a:buNone/>
            </a:pPr>
            <a:r>
              <a:rPr lang="en-US" sz="650" b="1" dirty="0">
                <a:solidFill>
                  <a:srgbClr val="C4262E"/>
                </a:solidFill>
                <a:latin typeface="Arial" pitchFamily="34" charset="0"/>
                <a:ea typeface="Arial" pitchFamily="34" charset="-122"/>
                <a:cs typeface="Arial" pitchFamily="34" charset="-120"/>
              </a:rPr>
              <a:t>OPEN</a:t>
            </a:r>
            <a:endParaRPr lang="en-US" sz="650" dirty="0"/>
          </a:p>
        </p:txBody>
      </p:sp>
      <p:sp>
        <p:nvSpPr>
          <p:cNvPr id="63" name="Text 61"/>
          <p:cNvSpPr txBox="1"/>
          <p:nvPr/>
        </p:nvSpPr>
        <p:spPr>
          <a:xfrm>
            <a:off x="8046720" y="5394960"/>
            <a:ext cx="640080" cy="146304"/>
          </a:xfrm>
          <a:prstGeom prst="rect">
            <a:avLst/>
          </a:prstGeom>
          <a:noFill/>
          <a:ln/>
        </p:spPr>
        <p:txBody>
          <a:bodyPr wrap="square" lIns="0" tIns="0" rIns="0" bIns="0" rtlCol="0" anchor="t"/>
          <a:lstStyle/>
          <a:p>
            <a:pPr algn="ctr" indent="0" marL="0">
              <a:buNone/>
            </a:pPr>
            <a:r>
              <a:rPr lang="en-US" sz="650" b="1" dirty="0">
                <a:solidFill>
                  <a:srgbClr val="C4262E"/>
                </a:solidFill>
                <a:latin typeface="Arial" pitchFamily="34" charset="0"/>
                <a:ea typeface="Arial" pitchFamily="34" charset="-122"/>
                <a:cs typeface="Arial" pitchFamily="34" charset="-120"/>
              </a:rPr>
              <a:t>CONTROLLED</a:t>
            </a:r>
            <a:endParaRPr lang="en-US" sz="650" dirty="0"/>
          </a:p>
        </p:txBody>
      </p:sp>
      <p:sp>
        <p:nvSpPr>
          <p:cNvPr id="64" name="Text 62"/>
          <p:cNvSpPr txBox="1"/>
          <p:nvPr/>
        </p:nvSpPr>
        <p:spPr>
          <a:xfrm>
            <a:off x="5486400" y="5596128"/>
            <a:ext cx="2926080" cy="365760"/>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My interpretation — the handout asks </a:t>
            </a:r>
            <a:pPr indent="0" marL="0">
              <a:buNone/>
            </a:pPr>
            <a:r>
              <a:rPr lang="en-US" sz="750" b="1" i="1" dirty="0">
                <a:solidFill>
                  <a:srgbClr val="6B6B6B"/>
                </a:solidFill>
                <a:latin typeface="Arial" pitchFamily="34" charset="0"/>
                <a:ea typeface="Arial" pitchFamily="34" charset="-122"/>
                <a:cs typeface="Arial" pitchFamily="34" charset="-120"/>
              </a:rPr>
              <a:t>who has access and who is excluded</a:t>
            </a:r>
            <a:endParaRPr lang="en-US" sz="750" dirty="0"/>
          </a:p>
        </p:txBody>
      </p:sp>
      <p:sp>
        <p:nvSpPr>
          <p:cNvPr id="65" name="Shape 63"/>
          <p:cNvSpPr/>
          <p:nvPr/>
        </p:nvSpPr>
        <p:spPr>
          <a:xfrm>
            <a:off x="8823960" y="1472184"/>
            <a:ext cx="219456" cy="219456"/>
          </a:xfrm>
          <a:prstGeom prst="ellipse">
            <a:avLst/>
          </a:prstGeom>
          <a:solidFill>
            <a:srgbClr val="C4262E"/>
          </a:solidFill>
          <a:ln w="12700">
            <a:solidFill>
              <a:srgbClr val="C4262E"/>
            </a:solidFill>
            <a:prstDash val="solid"/>
          </a:ln>
        </p:spPr>
      </p:sp>
      <p:sp>
        <p:nvSpPr>
          <p:cNvPr id="66" name="Text 64"/>
          <p:cNvSpPr txBox="1"/>
          <p:nvPr/>
        </p:nvSpPr>
        <p:spPr>
          <a:xfrm>
            <a:off x="8823960" y="1472184"/>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C</a:t>
            </a:r>
            <a:endParaRPr lang="en-US" sz="900" dirty="0"/>
          </a:p>
        </p:txBody>
      </p:sp>
      <p:sp>
        <p:nvSpPr>
          <p:cNvPr id="67" name="Text 65"/>
          <p:cNvSpPr txBox="1"/>
          <p:nvPr/>
        </p:nvSpPr>
        <p:spPr>
          <a:xfrm>
            <a:off x="9125712" y="1463040"/>
            <a:ext cx="2606040" cy="237744"/>
          </a:xfrm>
          <a:prstGeom prst="rect">
            <a:avLst/>
          </a:prstGeom>
          <a:noFill/>
          <a:ln/>
        </p:spPr>
        <p:txBody>
          <a:bodyPr wrap="square" lIns="0" tIns="0" rIns="0" bIns="0" rtlCol="0" anchor="ctr"/>
          <a:lstStyle/>
          <a:p>
            <a:pPr indent="0" marL="0">
              <a:buNone/>
            </a:pPr>
            <a:r>
              <a:rPr lang="en-US" sz="1100" b="1" spc="100" kern="0" dirty="0">
                <a:solidFill>
                  <a:srgbClr val="1B1B1B"/>
                </a:solidFill>
                <a:latin typeface="Arial" pitchFamily="34" charset="0"/>
                <a:ea typeface="Arial" pitchFamily="34" charset="-122"/>
                <a:cs typeface="Arial" pitchFamily="34" charset="-120"/>
              </a:rPr>
              <a:t>PROCESS</a:t>
            </a:r>
            <a:endParaRPr lang="en-US" sz="1100" dirty="0"/>
          </a:p>
        </p:txBody>
      </p:sp>
      <p:sp>
        <p:nvSpPr>
          <p:cNvPr id="68" name="Shape 66"/>
          <p:cNvSpPr/>
          <p:nvPr/>
        </p:nvSpPr>
        <p:spPr>
          <a:xfrm>
            <a:off x="8988552" y="2011680"/>
            <a:ext cx="914" cy="3246120"/>
          </a:xfrm>
          <a:prstGeom prst="line">
            <a:avLst/>
          </a:prstGeom>
          <a:noFill/>
          <a:ln w="19050">
            <a:solidFill>
              <a:srgbClr val="D9D9D9"/>
            </a:solidFill>
            <a:prstDash val="solid"/>
          </a:ln>
        </p:spPr>
      </p:sp>
      <p:sp>
        <p:nvSpPr>
          <p:cNvPr id="69" name="Shape 67"/>
          <p:cNvSpPr/>
          <p:nvPr/>
        </p:nvSpPr>
        <p:spPr>
          <a:xfrm>
            <a:off x="8833104" y="1847088"/>
            <a:ext cx="310896" cy="310896"/>
          </a:xfrm>
          <a:prstGeom prst="ellipse">
            <a:avLst/>
          </a:prstGeom>
          <a:solidFill>
            <a:srgbClr val="1B1B1B"/>
          </a:solidFill>
          <a:ln w="12700">
            <a:solidFill>
              <a:srgbClr val="1B1B1B"/>
            </a:solidFill>
            <a:prstDash val="solid"/>
          </a:ln>
        </p:spPr>
      </p:sp>
      <p:sp>
        <p:nvSpPr>
          <p:cNvPr id="70" name="Text 68"/>
          <p:cNvSpPr txBox="1"/>
          <p:nvPr/>
        </p:nvSpPr>
        <p:spPr>
          <a:xfrm>
            <a:off x="8833104" y="1847088"/>
            <a:ext cx="310896"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01</a:t>
            </a:r>
            <a:endParaRPr lang="en-US" sz="750" dirty="0"/>
          </a:p>
        </p:txBody>
      </p:sp>
      <p:sp>
        <p:nvSpPr>
          <p:cNvPr id="71" name="Text 69"/>
          <p:cNvSpPr txBox="1"/>
          <p:nvPr/>
        </p:nvSpPr>
        <p:spPr>
          <a:xfrm>
            <a:off x="9253728" y="1810512"/>
            <a:ext cx="2468880" cy="402336"/>
          </a:xfrm>
          <a:prstGeom prst="rect">
            <a:avLst/>
          </a:prstGeom>
          <a:noFill/>
          <a:ln/>
        </p:spPr>
        <p:txBody>
          <a:bodyPr wrap="square" lIns="0" tIns="0" rIns="0" bIns="0" rtlCol="0" anchor="ctr"/>
          <a:lstStyle/>
          <a:p>
            <a:pPr indent="0" marL="0">
              <a:buNone/>
            </a:pPr>
            <a:r>
              <a:rPr lang="en-US" sz="900" b="1" dirty="0">
                <a:solidFill>
                  <a:srgbClr val="1B1B1B"/>
                </a:solidFill>
                <a:latin typeface="Arial" pitchFamily="34" charset="0"/>
                <a:ea typeface="Arial" pitchFamily="34" charset="-122"/>
                <a:cs typeface="Arial" pitchFamily="34" charset="-120"/>
              </a:rPr>
              <a:t>ISSUE</a:t>
            </a:r>
            <a:endParaRPr lang="en-US" sz="1000" dirty="0"/>
          </a:p>
          <a:p>
            <a:pPr indent="0" marL="0">
              <a:buNone/>
            </a:pPr>
            <a:r>
              <a:rPr lang="en-US" sz="750" dirty="0">
                <a:solidFill>
                  <a:srgbClr val="6B6B6B"/>
                </a:solidFill>
                <a:latin typeface="Arial" pitchFamily="34" charset="0"/>
                <a:ea typeface="Arial" pitchFamily="34" charset="-122"/>
                <a:cs typeface="Arial" pitchFamily="34" charset="-120"/>
              </a:rPr>
              <a:t>who decides what is true?</a:t>
            </a:r>
            <a:endParaRPr lang="en-US" sz="1000" dirty="0"/>
          </a:p>
        </p:txBody>
      </p:sp>
      <p:sp>
        <p:nvSpPr>
          <p:cNvPr id="72" name="Shape 70"/>
          <p:cNvSpPr/>
          <p:nvPr/>
        </p:nvSpPr>
        <p:spPr>
          <a:xfrm>
            <a:off x="8833104" y="2304288"/>
            <a:ext cx="310896" cy="310896"/>
          </a:xfrm>
          <a:prstGeom prst="ellipse">
            <a:avLst/>
          </a:prstGeom>
          <a:solidFill>
            <a:srgbClr val="1B1B1B"/>
          </a:solidFill>
          <a:ln w="12700">
            <a:solidFill>
              <a:srgbClr val="1B1B1B"/>
            </a:solidFill>
            <a:prstDash val="solid"/>
          </a:ln>
        </p:spPr>
      </p:sp>
      <p:sp>
        <p:nvSpPr>
          <p:cNvPr id="73" name="Text 71"/>
          <p:cNvSpPr txBox="1"/>
          <p:nvPr/>
        </p:nvSpPr>
        <p:spPr>
          <a:xfrm>
            <a:off x="8833104" y="2304288"/>
            <a:ext cx="310896"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02</a:t>
            </a:r>
            <a:endParaRPr lang="en-US" sz="750" dirty="0"/>
          </a:p>
        </p:txBody>
      </p:sp>
      <p:sp>
        <p:nvSpPr>
          <p:cNvPr id="74" name="Text 72"/>
          <p:cNvSpPr txBox="1"/>
          <p:nvPr/>
        </p:nvSpPr>
        <p:spPr>
          <a:xfrm>
            <a:off x="9253728" y="2267712"/>
            <a:ext cx="2468880" cy="402336"/>
          </a:xfrm>
          <a:prstGeom prst="rect">
            <a:avLst/>
          </a:prstGeom>
          <a:noFill/>
          <a:ln/>
        </p:spPr>
        <p:txBody>
          <a:bodyPr wrap="square" lIns="0" tIns="0" rIns="0" bIns="0" rtlCol="0" anchor="ctr"/>
          <a:lstStyle/>
          <a:p>
            <a:pPr indent="0" marL="0">
              <a:buNone/>
            </a:pPr>
            <a:r>
              <a:rPr lang="en-US" sz="900" b="1" dirty="0">
                <a:solidFill>
                  <a:srgbClr val="1B1B1B"/>
                </a:solidFill>
                <a:latin typeface="Arial" pitchFamily="34" charset="0"/>
                <a:ea typeface="Arial" pitchFamily="34" charset="-122"/>
                <a:cs typeface="Arial" pitchFamily="34" charset="-120"/>
              </a:rPr>
              <a:t>BRIEF</a:t>
            </a:r>
            <a:endParaRPr lang="en-US" sz="1000" dirty="0"/>
          </a:p>
          <a:p>
            <a:pPr indent="0" marL="0">
              <a:buNone/>
            </a:pPr>
            <a:r>
              <a:rPr lang="en-US" sz="750" dirty="0">
                <a:solidFill>
                  <a:srgbClr val="6B6B6B"/>
                </a:solidFill>
                <a:latin typeface="Arial" pitchFamily="34" charset="0"/>
                <a:ea typeface="Arial" pitchFamily="34" charset="-122"/>
                <a:cs typeface="Arial" pitchFamily="34" charset="-120"/>
              </a:rPr>
              <a:t>a publishing house at the Press Club</a:t>
            </a:r>
            <a:endParaRPr lang="en-US" sz="1000" dirty="0"/>
          </a:p>
        </p:txBody>
      </p:sp>
      <p:sp>
        <p:nvSpPr>
          <p:cNvPr id="75" name="Shape 73"/>
          <p:cNvSpPr/>
          <p:nvPr/>
        </p:nvSpPr>
        <p:spPr>
          <a:xfrm>
            <a:off x="8833104" y="2761488"/>
            <a:ext cx="310896" cy="310896"/>
          </a:xfrm>
          <a:prstGeom prst="ellipse">
            <a:avLst/>
          </a:prstGeom>
          <a:solidFill>
            <a:srgbClr val="1B1B1B"/>
          </a:solidFill>
          <a:ln w="12700">
            <a:solidFill>
              <a:srgbClr val="1B1B1B"/>
            </a:solidFill>
            <a:prstDash val="solid"/>
          </a:ln>
        </p:spPr>
      </p:sp>
      <p:sp>
        <p:nvSpPr>
          <p:cNvPr id="76" name="Text 74"/>
          <p:cNvSpPr txBox="1"/>
          <p:nvPr/>
        </p:nvSpPr>
        <p:spPr>
          <a:xfrm>
            <a:off x="8833104" y="2761488"/>
            <a:ext cx="310896"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03</a:t>
            </a:r>
            <a:endParaRPr lang="en-US" sz="750" dirty="0"/>
          </a:p>
        </p:txBody>
      </p:sp>
      <p:sp>
        <p:nvSpPr>
          <p:cNvPr id="77" name="Text 75"/>
          <p:cNvSpPr txBox="1"/>
          <p:nvPr/>
        </p:nvSpPr>
        <p:spPr>
          <a:xfrm>
            <a:off x="9253728" y="2724912"/>
            <a:ext cx="2468880" cy="402336"/>
          </a:xfrm>
          <a:prstGeom prst="rect">
            <a:avLst/>
          </a:prstGeom>
          <a:noFill/>
          <a:ln/>
        </p:spPr>
        <p:txBody>
          <a:bodyPr wrap="square" lIns="0" tIns="0" rIns="0" bIns="0" rtlCol="0" anchor="ctr"/>
          <a:lstStyle/>
          <a:p>
            <a:pPr indent="0" marL="0">
              <a:buNone/>
            </a:pPr>
            <a:r>
              <a:rPr lang="en-US" sz="900" b="1" dirty="0">
                <a:solidFill>
                  <a:srgbClr val="1B1B1B"/>
                </a:solidFill>
                <a:latin typeface="Arial" pitchFamily="34" charset="0"/>
                <a:ea typeface="Arial" pitchFamily="34" charset="-122"/>
                <a:cs typeface="Arial" pitchFamily="34" charset="-120"/>
              </a:rPr>
              <a:t>VISION</a:t>
            </a:r>
            <a:endParaRPr lang="en-US" sz="1000" dirty="0"/>
          </a:p>
          <a:p>
            <a:pPr indent="0" marL="0">
              <a:buNone/>
            </a:pPr>
            <a:r>
              <a:rPr lang="en-US" sz="750" dirty="0">
                <a:solidFill>
                  <a:srgbClr val="6B6B6B"/>
                </a:solidFill>
                <a:latin typeface="Arial" pitchFamily="34" charset="0"/>
                <a:ea typeface="Arial" pitchFamily="34" charset="-122"/>
                <a:cs typeface="Arial" pitchFamily="34" charset="-120"/>
              </a:rPr>
              <a:t>citizens take part in public knowledge</a:t>
            </a:r>
            <a:endParaRPr lang="en-US" sz="1000" dirty="0"/>
          </a:p>
        </p:txBody>
      </p:sp>
      <p:sp>
        <p:nvSpPr>
          <p:cNvPr id="78" name="Shape 76"/>
          <p:cNvSpPr/>
          <p:nvPr/>
        </p:nvSpPr>
        <p:spPr>
          <a:xfrm>
            <a:off x="8833104" y="3218688"/>
            <a:ext cx="310896" cy="310896"/>
          </a:xfrm>
          <a:prstGeom prst="ellipse">
            <a:avLst/>
          </a:prstGeom>
          <a:solidFill>
            <a:srgbClr val="1B1B1B"/>
          </a:solidFill>
          <a:ln w="12700">
            <a:solidFill>
              <a:srgbClr val="1B1B1B"/>
            </a:solidFill>
            <a:prstDash val="solid"/>
          </a:ln>
        </p:spPr>
      </p:sp>
      <p:sp>
        <p:nvSpPr>
          <p:cNvPr id="79" name="Text 77"/>
          <p:cNvSpPr txBox="1"/>
          <p:nvPr/>
        </p:nvSpPr>
        <p:spPr>
          <a:xfrm>
            <a:off x="8833104" y="3218688"/>
            <a:ext cx="310896"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04</a:t>
            </a:r>
            <a:endParaRPr lang="en-US" sz="750" dirty="0"/>
          </a:p>
        </p:txBody>
      </p:sp>
      <p:sp>
        <p:nvSpPr>
          <p:cNvPr id="80" name="Text 78"/>
          <p:cNvSpPr txBox="1"/>
          <p:nvPr/>
        </p:nvSpPr>
        <p:spPr>
          <a:xfrm>
            <a:off x="9253728" y="3182112"/>
            <a:ext cx="2468880" cy="402336"/>
          </a:xfrm>
          <a:prstGeom prst="rect">
            <a:avLst/>
          </a:prstGeom>
          <a:noFill/>
          <a:ln/>
        </p:spPr>
        <p:txBody>
          <a:bodyPr wrap="square" lIns="0" tIns="0" rIns="0" bIns="0" rtlCol="0" anchor="ctr"/>
          <a:lstStyle/>
          <a:p>
            <a:pPr indent="0" marL="0">
              <a:buNone/>
            </a:pPr>
            <a:r>
              <a:rPr lang="en-US" sz="900" b="1" dirty="0">
                <a:solidFill>
                  <a:srgbClr val="1B1B1B"/>
                </a:solidFill>
                <a:latin typeface="Arial" pitchFamily="34" charset="0"/>
                <a:ea typeface="Arial" pitchFamily="34" charset="-122"/>
                <a:cs typeface="Arial" pitchFamily="34" charset="-120"/>
              </a:rPr>
              <a:t>USERS</a:t>
            </a:r>
            <a:endParaRPr lang="en-US" sz="1000" dirty="0"/>
          </a:p>
          <a:p>
            <a:pPr indent="0" marL="0">
              <a:buNone/>
            </a:pPr>
            <a:r>
              <a:rPr lang="en-US" sz="750" dirty="0">
                <a:solidFill>
                  <a:srgbClr val="6B6B6B"/>
                </a:solidFill>
                <a:latin typeface="Arial" pitchFamily="34" charset="0"/>
                <a:ea typeface="Arial" pitchFamily="34" charset="-122"/>
                <a:cs typeface="Arial" pitchFamily="34" charset="-120"/>
              </a:rPr>
              <a:t>producers ↔ public ↔ state</a:t>
            </a:r>
            <a:endParaRPr lang="en-US" sz="1000" dirty="0"/>
          </a:p>
        </p:txBody>
      </p:sp>
      <p:sp>
        <p:nvSpPr>
          <p:cNvPr id="81" name="Shape 79"/>
          <p:cNvSpPr/>
          <p:nvPr/>
        </p:nvSpPr>
        <p:spPr>
          <a:xfrm>
            <a:off x="8833104" y="3675888"/>
            <a:ext cx="310896" cy="310896"/>
          </a:xfrm>
          <a:prstGeom prst="ellipse">
            <a:avLst/>
          </a:prstGeom>
          <a:solidFill>
            <a:srgbClr val="1B1B1B"/>
          </a:solidFill>
          <a:ln w="12700">
            <a:solidFill>
              <a:srgbClr val="1B1B1B"/>
            </a:solidFill>
            <a:prstDash val="solid"/>
          </a:ln>
        </p:spPr>
      </p:sp>
      <p:sp>
        <p:nvSpPr>
          <p:cNvPr id="82" name="Text 80"/>
          <p:cNvSpPr txBox="1"/>
          <p:nvPr/>
        </p:nvSpPr>
        <p:spPr>
          <a:xfrm>
            <a:off x="8833104" y="3675888"/>
            <a:ext cx="310896"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05</a:t>
            </a:r>
            <a:endParaRPr lang="en-US" sz="750" dirty="0"/>
          </a:p>
        </p:txBody>
      </p:sp>
      <p:sp>
        <p:nvSpPr>
          <p:cNvPr id="83" name="Text 81"/>
          <p:cNvSpPr txBox="1"/>
          <p:nvPr/>
        </p:nvSpPr>
        <p:spPr>
          <a:xfrm>
            <a:off x="9253728" y="3639312"/>
            <a:ext cx="2468880" cy="402336"/>
          </a:xfrm>
          <a:prstGeom prst="rect">
            <a:avLst/>
          </a:prstGeom>
          <a:noFill/>
          <a:ln/>
        </p:spPr>
        <p:txBody>
          <a:bodyPr wrap="square" lIns="0" tIns="0" rIns="0" bIns="0" rtlCol="0" anchor="ctr"/>
          <a:lstStyle/>
          <a:p>
            <a:pPr indent="0" marL="0">
              <a:buNone/>
            </a:pPr>
            <a:r>
              <a:rPr lang="en-US" sz="900" b="1" dirty="0">
                <a:solidFill>
                  <a:srgbClr val="1B1B1B"/>
                </a:solidFill>
                <a:latin typeface="Arial" pitchFamily="34" charset="0"/>
                <a:ea typeface="Arial" pitchFamily="34" charset="-122"/>
                <a:cs typeface="Arial" pitchFamily="34" charset="-120"/>
              </a:rPr>
              <a:t>PROGRAM</a:t>
            </a:r>
            <a:endParaRPr lang="en-US" sz="1000" dirty="0"/>
          </a:p>
          <a:p>
            <a:pPr indent="0" marL="0">
              <a:buNone/>
            </a:pPr>
            <a:r>
              <a:rPr lang="en-US" sz="750" dirty="0">
                <a:solidFill>
                  <a:srgbClr val="6B6B6B"/>
                </a:solidFill>
                <a:latin typeface="Arial" pitchFamily="34" charset="0"/>
                <a:ea typeface="Arial" pitchFamily="34" charset="-122"/>
                <a:cs typeface="Arial" pitchFamily="34" charset="-120"/>
              </a:rPr>
              <a:t>5 core spaces + debate</a:t>
            </a:r>
            <a:endParaRPr lang="en-US" sz="1000" dirty="0"/>
          </a:p>
        </p:txBody>
      </p:sp>
      <p:sp>
        <p:nvSpPr>
          <p:cNvPr id="84" name="Shape 82"/>
          <p:cNvSpPr/>
          <p:nvPr/>
        </p:nvSpPr>
        <p:spPr>
          <a:xfrm>
            <a:off x="8833104" y="4133088"/>
            <a:ext cx="310896" cy="310896"/>
          </a:xfrm>
          <a:prstGeom prst="ellipse">
            <a:avLst/>
          </a:prstGeom>
          <a:solidFill>
            <a:srgbClr val="1B1B1B"/>
          </a:solidFill>
          <a:ln w="12700">
            <a:solidFill>
              <a:srgbClr val="1B1B1B"/>
            </a:solidFill>
            <a:prstDash val="solid"/>
          </a:ln>
        </p:spPr>
      </p:sp>
      <p:sp>
        <p:nvSpPr>
          <p:cNvPr id="85" name="Text 83"/>
          <p:cNvSpPr txBox="1"/>
          <p:nvPr/>
        </p:nvSpPr>
        <p:spPr>
          <a:xfrm>
            <a:off x="8833104" y="4133088"/>
            <a:ext cx="310896"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06</a:t>
            </a:r>
            <a:endParaRPr lang="en-US" sz="750" dirty="0"/>
          </a:p>
        </p:txBody>
      </p:sp>
      <p:sp>
        <p:nvSpPr>
          <p:cNvPr id="86" name="Text 84"/>
          <p:cNvSpPr txBox="1"/>
          <p:nvPr/>
        </p:nvSpPr>
        <p:spPr>
          <a:xfrm>
            <a:off x="9253728" y="4096512"/>
            <a:ext cx="2468880" cy="402336"/>
          </a:xfrm>
          <a:prstGeom prst="rect">
            <a:avLst/>
          </a:prstGeom>
          <a:noFill/>
          <a:ln/>
        </p:spPr>
        <p:txBody>
          <a:bodyPr wrap="square" lIns="0" tIns="0" rIns="0" bIns="0" rtlCol="0" anchor="ctr"/>
          <a:lstStyle/>
          <a:p>
            <a:pPr indent="0" marL="0">
              <a:buNone/>
            </a:pPr>
            <a:r>
              <a:rPr lang="en-US" sz="900" b="1" dirty="0">
                <a:solidFill>
                  <a:srgbClr val="1B1B1B"/>
                </a:solidFill>
                <a:latin typeface="Arial" pitchFamily="34" charset="0"/>
                <a:ea typeface="Arial" pitchFamily="34" charset="-122"/>
                <a:cs typeface="Arial" pitchFamily="34" charset="-120"/>
              </a:rPr>
              <a:t>SPATIAL RELATIONS</a:t>
            </a:r>
            <a:endParaRPr lang="en-US" sz="1000" dirty="0"/>
          </a:p>
          <a:p>
            <a:pPr indent="0" marL="0">
              <a:buNone/>
            </a:pPr>
            <a:r>
              <a:rPr lang="en-US" sz="750" dirty="0">
                <a:solidFill>
                  <a:srgbClr val="6B6B6B"/>
                </a:solidFill>
                <a:latin typeface="Arial" pitchFamily="34" charset="0"/>
                <a:ea typeface="Arial" pitchFamily="34" charset="-122"/>
                <a:cs typeface="Arial" pitchFamily="34" charset="-120"/>
              </a:rPr>
              <a:t>public → controlled</a:t>
            </a:r>
            <a:endParaRPr lang="en-US" sz="1000" dirty="0"/>
          </a:p>
        </p:txBody>
      </p:sp>
      <p:sp>
        <p:nvSpPr>
          <p:cNvPr id="87" name="Shape 85"/>
          <p:cNvSpPr/>
          <p:nvPr/>
        </p:nvSpPr>
        <p:spPr>
          <a:xfrm>
            <a:off x="8833104" y="4590288"/>
            <a:ext cx="310896" cy="310896"/>
          </a:xfrm>
          <a:prstGeom prst="ellipse">
            <a:avLst/>
          </a:prstGeom>
          <a:solidFill>
            <a:srgbClr val="C4262E"/>
          </a:solidFill>
          <a:ln w="12700">
            <a:solidFill>
              <a:srgbClr val="C4262E"/>
            </a:solidFill>
            <a:prstDash val="solid"/>
          </a:ln>
        </p:spPr>
      </p:sp>
      <p:sp>
        <p:nvSpPr>
          <p:cNvPr id="88" name="Text 86"/>
          <p:cNvSpPr txBox="1"/>
          <p:nvPr/>
        </p:nvSpPr>
        <p:spPr>
          <a:xfrm>
            <a:off x="8833104" y="4590288"/>
            <a:ext cx="310896"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07</a:t>
            </a:r>
            <a:endParaRPr lang="en-US" sz="750" dirty="0"/>
          </a:p>
        </p:txBody>
      </p:sp>
      <p:sp>
        <p:nvSpPr>
          <p:cNvPr id="89" name="Text 87"/>
          <p:cNvSpPr txBox="1"/>
          <p:nvPr/>
        </p:nvSpPr>
        <p:spPr>
          <a:xfrm>
            <a:off x="9253728" y="4553712"/>
            <a:ext cx="2468880" cy="402336"/>
          </a:xfrm>
          <a:prstGeom prst="rect">
            <a:avLst/>
          </a:prstGeom>
          <a:noFill/>
          <a:ln/>
        </p:spPr>
        <p:txBody>
          <a:bodyPr wrap="square" lIns="0" tIns="0" rIns="0" bIns="0" rtlCol="0" anchor="ctr"/>
          <a:lstStyle/>
          <a:p>
            <a:pPr indent="0" marL="0">
              <a:buNone/>
            </a:pPr>
            <a:r>
              <a:rPr lang="en-US" sz="900" b="1" dirty="0">
                <a:solidFill>
                  <a:srgbClr val="1B1B1B"/>
                </a:solidFill>
                <a:latin typeface="Arial" pitchFamily="34" charset="0"/>
                <a:ea typeface="Arial" pitchFamily="34" charset="-122"/>
                <a:cs typeface="Arial" pitchFamily="34" charset="-120"/>
              </a:rPr>
              <a:t>DESIGN DRIVERS</a:t>
            </a:r>
            <a:endParaRPr lang="en-US" sz="1000" dirty="0"/>
          </a:p>
          <a:p>
            <a:pPr indent="0" marL="0">
              <a:buNone/>
            </a:pPr>
            <a:r>
              <a:rPr lang="en-US" sz="750" dirty="0">
                <a:solidFill>
                  <a:srgbClr val="6B6B6B"/>
                </a:solidFill>
                <a:latin typeface="Arial" pitchFamily="34" charset="0"/>
                <a:ea typeface="Arial" pitchFamily="34" charset="-122"/>
                <a:cs typeface="Arial" pitchFamily="34" charset="-120"/>
              </a:rPr>
              <a:t>see below</a:t>
            </a:r>
            <a:endParaRPr lang="en-US" sz="1000" dirty="0"/>
          </a:p>
        </p:txBody>
      </p:sp>
      <p:sp>
        <p:nvSpPr>
          <p:cNvPr id="90" name="Shape 88"/>
          <p:cNvSpPr/>
          <p:nvPr/>
        </p:nvSpPr>
        <p:spPr>
          <a:xfrm>
            <a:off x="8833104" y="5047488"/>
            <a:ext cx="310896" cy="310896"/>
          </a:xfrm>
          <a:prstGeom prst="ellipse">
            <a:avLst/>
          </a:prstGeom>
          <a:solidFill>
            <a:srgbClr val="FFFFFF"/>
          </a:solidFill>
          <a:ln w="12700">
            <a:solidFill>
              <a:srgbClr val="8C8C8C"/>
            </a:solidFill>
            <a:prstDash val="dash"/>
          </a:ln>
        </p:spPr>
      </p:sp>
      <p:sp>
        <p:nvSpPr>
          <p:cNvPr id="91" name="Text 89"/>
          <p:cNvSpPr txBox="1"/>
          <p:nvPr/>
        </p:nvSpPr>
        <p:spPr>
          <a:xfrm>
            <a:off x="8833104" y="5047488"/>
            <a:ext cx="310896" cy="310896"/>
          </a:xfrm>
          <a:prstGeom prst="rect">
            <a:avLst/>
          </a:prstGeom>
          <a:noFill/>
          <a:ln/>
        </p:spPr>
        <p:txBody>
          <a:bodyPr wrap="square" lIns="0" tIns="0" rIns="0" bIns="0" rtlCol="0" anchor="ctr"/>
          <a:lstStyle/>
          <a:p>
            <a:pPr algn="ctr" indent="0" marL="0">
              <a:buNone/>
            </a:pPr>
            <a:r>
              <a:rPr lang="en-US" sz="750" b="1" dirty="0">
                <a:solidFill>
                  <a:srgbClr val="8C8C8C"/>
                </a:solidFill>
                <a:latin typeface="Arial" pitchFamily="34" charset="0"/>
                <a:ea typeface="Arial" pitchFamily="34" charset="-122"/>
                <a:cs typeface="Arial" pitchFamily="34" charset="-120"/>
              </a:rPr>
              <a:t>08</a:t>
            </a:r>
            <a:endParaRPr lang="en-US" sz="750" dirty="0"/>
          </a:p>
        </p:txBody>
      </p:sp>
      <p:sp>
        <p:nvSpPr>
          <p:cNvPr id="92" name="Text 90"/>
          <p:cNvSpPr txBox="1"/>
          <p:nvPr/>
        </p:nvSpPr>
        <p:spPr>
          <a:xfrm>
            <a:off x="9253728" y="5010912"/>
            <a:ext cx="2468880" cy="402336"/>
          </a:xfrm>
          <a:prstGeom prst="rect">
            <a:avLst/>
          </a:prstGeom>
          <a:noFill/>
          <a:ln/>
        </p:spPr>
        <p:txBody>
          <a:bodyPr wrap="square" lIns="0" tIns="0" rIns="0" bIns="0" rtlCol="0" anchor="ctr"/>
          <a:lstStyle/>
          <a:p>
            <a:pPr indent="0" marL="0">
              <a:buNone/>
            </a:pPr>
            <a:r>
              <a:rPr lang="en-US" sz="900" b="1" dirty="0">
                <a:solidFill>
                  <a:srgbClr val="8C8C8C"/>
                </a:solidFill>
                <a:latin typeface="Arial" pitchFamily="34" charset="0"/>
                <a:ea typeface="Arial" pitchFamily="34" charset="-122"/>
                <a:cs typeface="Arial" pitchFamily="34" charset="-120"/>
              </a:rPr>
              <a:t>CONCEPT</a:t>
            </a:r>
            <a:endParaRPr lang="en-US" sz="1000" dirty="0"/>
          </a:p>
          <a:p>
            <a:pPr indent="0" marL="0">
              <a:buNone/>
            </a:pPr>
            <a:r>
              <a:rPr lang="en-US" sz="750" dirty="0">
                <a:solidFill>
                  <a:srgbClr val="6B6B6B"/>
                </a:solidFill>
                <a:latin typeface="Arial" pitchFamily="34" charset="0"/>
                <a:ea typeface="Arial" pitchFamily="34" charset="-122"/>
                <a:cs typeface="Arial" pitchFamily="34" charset="-120"/>
              </a:rPr>
              <a:t>next stage</a:t>
            </a:r>
            <a:endParaRPr lang="en-US" sz="1000" dirty="0"/>
          </a:p>
        </p:txBody>
      </p:sp>
      <p:sp>
        <p:nvSpPr>
          <p:cNvPr id="93" name="Text 91"/>
          <p:cNvSpPr txBox="1"/>
          <p:nvPr/>
        </p:nvSpPr>
        <p:spPr>
          <a:xfrm>
            <a:off x="457200" y="6108192"/>
            <a:ext cx="914400" cy="457200"/>
          </a:xfrm>
          <a:prstGeom prst="rect">
            <a:avLst/>
          </a:prstGeom>
          <a:noFill/>
          <a:ln/>
        </p:spPr>
        <p:txBody>
          <a:bodyPr wrap="square" lIns="0" tIns="0" rIns="0" bIns="0" rtlCol="0" anchor="ctr"/>
          <a:lstStyle/>
          <a:p>
            <a:pPr indent="0" marL="0">
              <a:buNone/>
            </a:pPr>
            <a:r>
              <a:rPr lang="en-US" sz="1000" b="1" dirty="0">
                <a:solidFill>
                  <a:srgbClr val="C4262E"/>
                </a:solidFill>
                <a:latin typeface="Arial" pitchFamily="34" charset="0"/>
                <a:ea typeface="Arial" pitchFamily="34" charset="-122"/>
                <a:cs typeface="Arial" pitchFamily="34" charset="-120"/>
              </a:rPr>
              <a:t>DESIGN</a:t>
            </a:r>
            <a:endParaRPr lang="en-US" sz="1000" dirty="0"/>
          </a:p>
          <a:p>
            <a:pPr indent="0" marL="0">
              <a:buNone/>
            </a:pPr>
            <a:r>
              <a:rPr lang="en-US" sz="1000" b="1" dirty="0">
                <a:solidFill>
                  <a:srgbClr val="C4262E"/>
                </a:solidFill>
                <a:latin typeface="Arial" pitchFamily="34" charset="0"/>
                <a:ea typeface="Arial" pitchFamily="34" charset="-122"/>
                <a:cs typeface="Arial" pitchFamily="34" charset="-120"/>
              </a:rPr>
              <a:t>DRIVERS</a:t>
            </a:r>
            <a:endParaRPr lang="en-US" sz="1000" dirty="0"/>
          </a:p>
        </p:txBody>
      </p:sp>
      <p:sp>
        <p:nvSpPr>
          <p:cNvPr id="94" name="Shape 92"/>
          <p:cNvSpPr/>
          <p:nvPr/>
        </p:nvSpPr>
        <p:spPr>
          <a:xfrm>
            <a:off x="1371600" y="6108192"/>
            <a:ext cx="1215009" cy="457200"/>
          </a:xfrm>
          <a:prstGeom prst="roundRect">
            <a:avLst>
              <a:gd name="adj" fmla="val 12000"/>
            </a:avLst>
          </a:prstGeom>
          <a:solidFill>
            <a:srgbClr val="F2F2F2"/>
          </a:solidFill>
          <a:ln w="12700">
            <a:solidFill>
              <a:srgbClr val="F2F2F2"/>
            </a:solidFill>
            <a:prstDash val="solid"/>
          </a:ln>
        </p:spPr>
      </p:sp>
      <p:sp>
        <p:nvSpPr>
          <p:cNvPr id="95" name="Text 93"/>
          <p:cNvSpPr txBox="1"/>
          <p:nvPr/>
        </p:nvSpPr>
        <p:spPr>
          <a:xfrm>
            <a:off x="1444752" y="6108192"/>
            <a:ext cx="1086993" cy="457200"/>
          </a:xfrm>
          <a:prstGeom prst="rect">
            <a:avLst/>
          </a:prstGeom>
          <a:noFill/>
          <a:ln/>
        </p:spPr>
        <p:txBody>
          <a:bodyPr wrap="square" lIns="0" tIns="0" rIns="0" bIns="0" rtlCol="0" anchor="ctr"/>
          <a:lstStyle/>
          <a:p>
            <a:pPr indent="0" marL="0">
              <a:buNone/>
            </a:pPr>
            <a:r>
              <a:rPr lang="en-US" sz="800" b="1" dirty="0">
                <a:solidFill>
                  <a:srgbClr val="C4262E"/>
                </a:solidFill>
                <a:latin typeface="Arial" pitchFamily="34" charset="0"/>
                <a:ea typeface="Arial" pitchFamily="34" charset="-122"/>
                <a:cs typeface="Arial" pitchFamily="34" charset="-120"/>
              </a:rPr>
              <a:t>01  </a:t>
            </a:r>
            <a:pPr indent="0" marL="0">
              <a:buNone/>
            </a:pPr>
            <a:r>
              <a:rPr lang="en-US" sz="800" b="1" dirty="0">
                <a:solidFill>
                  <a:srgbClr val="1B1B1B"/>
                </a:solidFill>
                <a:latin typeface="Arial" pitchFamily="34" charset="0"/>
                <a:ea typeface="Arial" pitchFamily="34" charset="-122"/>
                <a:cs typeface="Arial" pitchFamily="34" charset="-120"/>
              </a:rPr>
              <a:t>Unaltered topography</a:t>
            </a:r>
            <a:endParaRPr lang="en-US" sz="800" dirty="0"/>
          </a:p>
        </p:txBody>
      </p:sp>
      <p:sp>
        <p:nvSpPr>
          <p:cNvPr id="96" name="Shape 94"/>
          <p:cNvSpPr/>
          <p:nvPr/>
        </p:nvSpPr>
        <p:spPr>
          <a:xfrm>
            <a:off x="2678049" y="6108192"/>
            <a:ext cx="1215009" cy="457200"/>
          </a:xfrm>
          <a:prstGeom prst="roundRect">
            <a:avLst>
              <a:gd name="adj" fmla="val 12000"/>
            </a:avLst>
          </a:prstGeom>
          <a:solidFill>
            <a:srgbClr val="F2F2F2"/>
          </a:solidFill>
          <a:ln w="12700">
            <a:solidFill>
              <a:srgbClr val="F2F2F2"/>
            </a:solidFill>
            <a:prstDash val="solid"/>
          </a:ln>
        </p:spPr>
      </p:sp>
      <p:sp>
        <p:nvSpPr>
          <p:cNvPr id="97" name="Text 95"/>
          <p:cNvSpPr txBox="1"/>
          <p:nvPr/>
        </p:nvSpPr>
        <p:spPr>
          <a:xfrm>
            <a:off x="2751201" y="6108192"/>
            <a:ext cx="1086993" cy="457200"/>
          </a:xfrm>
          <a:prstGeom prst="rect">
            <a:avLst/>
          </a:prstGeom>
          <a:noFill/>
          <a:ln/>
        </p:spPr>
        <p:txBody>
          <a:bodyPr wrap="square" lIns="0" tIns="0" rIns="0" bIns="0" rtlCol="0" anchor="ctr"/>
          <a:lstStyle/>
          <a:p>
            <a:pPr indent="0" marL="0">
              <a:buNone/>
            </a:pPr>
            <a:r>
              <a:rPr lang="en-US" sz="800" b="1" dirty="0">
                <a:solidFill>
                  <a:srgbClr val="C4262E"/>
                </a:solidFill>
                <a:latin typeface="Arial" pitchFamily="34" charset="0"/>
                <a:ea typeface="Arial" pitchFamily="34" charset="-122"/>
                <a:cs typeface="Arial" pitchFamily="34" charset="-120"/>
              </a:rPr>
              <a:t>02  </a:t>
            </a:r>
            <a:pPr indent="0" marL="0">
              <a:buNone/>
            </a:pPr>
            <a:r>
              <a:rPr lang="en-US" sz="800" b="1" dirty="0">
                <a:solidFill>
                  <a:srgbClr val="1B1B1B"/>
                </a:solidFill>
                <a:latin typeface="Arial" pitchFamily="34" charset="0"/>
                <a:ea typeface="Arial" pitchFamily="34" charset="-122"/>
                <a:cs typeface="Arial" pitchFamily="34" charset="-120"/>
              </a:rPr>
              <a:t>The protest edge</a:t>
            </a:r>
            <a:endParaRPr lang="en-US" sz="800" dirty="0"/>
          </a:p>
        </p:txBody>
      </p:sp>
      <p:sp>
        <p:nvSpPr>
          <p:cNvPr id="98" name="Shape 96"/>
          <p:cNvSpPr/>
          <p:nvPr/>
        </p:nvSpPr>
        <p:spPr>
          <a:xfrm>
            <a:off x="3984498" y="6108192"/>
            <a:ext cx="1215009" cy="457200"/>
          </a:xfrm>
          <a:prstGeom prst="roundRect">
            <a:avLst>
              <a:gd name="adj" fmla="val 12000"/>
            </a:avLst>
          </a:prstGeom>
          <a:solidFill>
            <a:srgbClr val="F2F2F2"/>
          </a:solidFill>
          <a:ln w="12700">
            <a:solidFill>
              <a:srgbClr val="F2F2F2"/>
            </a:solidFill>
            <a:prstDash val="solid"/>
          </a:ln>
        </p:spPr>
      </p:sp>
      <p:sp>
        <p:nvSpPr>
          <p:cNvPr id="99" name="Text 97"/>
          <p:cNvSpPr txBox="1"/>
          <p:nvPr/>
        </p:nvSpPr>
        <p:spPr>
          <a:xfrm>
            <a:off x="4057650" y="6108192"/>
            <a:ext cx="1086993" cy="457200"/>
          </a:xfrm>
          <a:prstGeom prst="rect">
            <a:avLst/>
          </a:prstGeom>
          <a:noFill/>
          <a:ln/>
        </p:spPr>
        <p:txBody>
          <a:bodyPr wrap="square" lIns="0" tIns="0" rIns="0" bIns="0" rtlCol="0" anchor="ctr"/>
          <a:lstStyle/>
          <a:p>
            <a:pPr indent="0" marL="0">
              <a:buNone/>
            </a:pPr>
            <a:r>
              <a:rPr lang="en-US" sz="800" b="1" dirty="0">
                <a:solidFill>
                  <a:srgbClr val="C4262E"/>
                </a:solidFill>
                <a:latin typeface="Arial" pitchFamily="34" charset="0"/>
                <a:ea typeface="Arial" pitchFamily="34" charset="-122"/>
                <a:cs typeface="Arial" pitchFamily="34" charset="-120"/>
              </a:rPr>
              <a:t>03  </a:t>
            </a:r>
            <a:pPr indent="0" marL="0">
              <a:buNone/>
            </a:pPr>
            <a:r>
              <a:rPr lang="en-US" sz="800" b="1" dirty="0">
                <a:solidFill>
                  <a:srgbClr val="1B1B1B"/>
                </a:solidFill>
                <a:latin typeface="Arial" pitchFamily="34" charset="0"/>
                <a:ea typeface="Arial" pitchFamily="34" charset="-122"/>
                <a:cs typeface="Arial" pitchFamily="34" charset="-120"/>
              </a:rPr>
              <a:t>Visible / hidden</a:t>
            </a:r>
            <a:endParaRPr lang="en-US" sz="800" dirty="0"/>
          </a:p>
        </p:txBody>
      </p:sp>
      <p:sp>
        <p:nvSpPr>
          <p:cNvPr id="100" name="Shape 98"/>
          <p:cNvSpPr/>
          <p:nvPr/>
        </p:nvSpPr>
        <p:spPr>
          <a:xfrm>
            <a:off x="5290947" y="6108192"/>
            <a:ext cx="1215009" cy="457200"/>
          </a:xfrm>
          <a:prstGeom prst="roundRect">
            <a:avLst>
              <a:gd name="adj" fmla="val 12000"/>
            </a:avLst>
          </a:prstGeom>
          <a:solidFill>
            <a:srgbClr val="F2F2F2"/>
          </a:solidFill>
          <a:ln w="12700">
            <a:solidFill>
              <a:srgbClr val="F2F2F2"/>
            </a:solidFill>
            <a:prstDash val="solid"/>
          </a:ln>
        </p:spPr>
      </p:sp>
      <p:sp>
        <p:nvSpPr>
          <p:cNvPr id="101" name="Text 99"/>
          <p:cNvSpPr txBox="1"/>
          <p:nvPr/>
        </p:nvSpPr>
        <p:spPr>
          <a:xfrm>
            <a:off x="5364099" y="6108192"/>
            <a:ext cx="1086993" cy="457200"/>
          </a:xfrm>
          <a:prstGeom prst="rect">
            <a:avLst/>
          </a:prstGeom>
          <a:noFill/>
          <a:ln/>
        </p:spPr>
        <p:txBody>
          <a:bodyPr wrap="square" lIns="0" tIns="0" rIns="0" bIns="0" rtlCol="0" anchor="ctr"/>
          <a:lstStyle/>
          <a:p>
            <a:pPr indent="0" marL="0">
              <a:buNone/>
            </a:pPr>
            <a:r>
              <a:rPr lang="en-US" sz="800" b="1" dirty="0">
                <a:solidFill>
                  <a:srgbClr val="C4262E"/>
                </a:solidFill>
                <a:latin typeface="Arial" pitchFamily="34" charset="0"/>
                <a:ea typeface="Arial" pitchFamily="34" charset="-122"/>
                <a:cs typeface="Arial" pitchFamily="34" charset="-120"/>
              </a:rPr>
              <a:t>04  </a:t>
            </a:r>
            <a:pPr indent="0" marL="0">
              <a:buNone/>
            </a:pPr>
            <a:r>
              <a:rPr lang="en-US" sz="800" b="1" dirty="0">
                <a:solidFill>
                  <a:srgbClr val="1B1B1B"/>
                </a:solidFill>
                <a:latin typeface="Arial" pitchFamily="34" charset="0"/>
                <a:ea typeface="Arial" pitchFamily="34" charset="-122"/>
                <a:cs typeface="Arial" pitchFamily="34" charset="-120"/>
              </a:rPr>
              <a:t>Degrees of access</a:t>
            </a:r>
            <a:endParaRPr lang="en-US" sz="800" dirty="0"/>
          </a:p>
        </p:txBody>
      </p:sp>
      <p:sp>
        <p:nvSpPr>
          <p:cNvPr id="102" name="Shape 100"/>
          <p:cNvSpPr/>
          <p:nvPr/>
        </p:nvSpPr>
        <p:spPr>
          <a:xfrm>
            <a:off x="6597396" y="6108192"/>
            <a:ext cx="1215009" cy="457200"/>
          </a:xfrm>
          <a:prstGeom prst="roundRect">
            <a:avLst>
              <a:gd name="adj" fmla="val 12000"/>
            </a:avLst>
          </a:prstGeom>
          <a:solidFill>
            <a:srgbClr val="F2F2F2"/>
          </a:solidFill>
          <a:ln w="12700">
            <a:solidFill>
              <a:srgbClr val="F2F2F2"/>
            </a:solidFill>
            <a:prstDash val="solid"/>
          </a:ln>
        </p:spPr>
      </p:sp>
      <p:sp>
        <p:nvSpPr>
          <p:cNvPr id="103" name="Text 101"/>
          <p:cNvSpPr txBox="1"/>
          <p:nvPr/>
        </p:nvSpPr>
        <p:spPr>
          <a:xfrm>
            <a:off x="6670548" y="6108192"/>
            <a:ext cx="1086993" cy="457200"/>
          </a:xfrm>
          <a:prstGeom prst="rect">
            <a:avLst/>
          </a:prstGeom>
          <a:noFill/>
          <a:ln/>
        </p:spPr>
        <p:txBody>
          <a:bodyPr wrap="square" lIns="0" tIns="0" rIns="0" bIns="0" rtlCol="0" anchor="ctr"/>
          <a:lstStyle/>
          <a:p>
            <a:pPr indent="0" marL="0">
              <a:buNone/>
            </a:pPr>
            <a:r>
              <a:rPr lang="en-US" sz="800" b="1" dirty="0">
                <a:solidFill>
                  <a:srgbClr val="C4262E"/>
                </a:solidFill>
                <a:latin typeface="Arial" pitchFamily="34" charset="0"/>
                <a:ea typeface="Arial" pitchFamily="34" charset="-122"/>
                <a:cs typeface="Arial" pitchFamily="34" charset="-120"/>
              </a:rPr>
              <a:t>05  </a:t>
            </a:r>
            <a:pPr indent="0" marL="0">
              <a:buNone/>
            </a:pPr>
            <a:r>
              <a:rPr lang="en-US" sz="800" b="1" dirty="0">
                <a:solidFill>
                  <a:srgbClr val="1B1B1B"/>
                </a:solidFill>
                <a:latin typeface="Arial" pitchFamily="34" charset="0"/>
                <a:ea typeface="Arial" pitchFamily="34" charset="-122"/>
                <a:cs typeface="Arial" pitchFamily="34" charset="-120"/>
              </a:rPr>
              <a:t>Protect + share the archive</a:t>
            </a:r>
            <a:endParaRPr lang="en-US" sz="800" dirty="0"/>
          </a:p>
        </p:txBody>
      </p:sp>
      <p:sp>
        <p:nvSpPr>
          <p:cNvPr id="104" name="Shape 102"/>
          <p:cNvSpPr/>
          <p:nvPr/>
        </p:nvSpPr>
        <p:spPr>
          <a:xfrm>
            <a:off x="7903845" y="6108192"/>
            <a:ext cx="1215009" cy="457200"/>
          </a:xfrm>
          <a:prstGeom prst="roundRect">
            <a:avLst>
              <a:gd name="adj" fmla="val 12000"/>
            </a:avLst>
          </a:prstGeom>
          <a:solidFill>
            <a:srgbClr val="F2F2F2"/>
          </a:solidFill>
          <a:ln w="12700">
            <a:solidFill>
              <a:srgbClr val="F2F2F2"/>
            </a:solidFill>
            <a:prstDash val="solid"/>
          </a:ln>
        </p:spPr>
      </p:sp>
      <p:sp>
        <p:nvSpPr>
          <p:cNvPr id="105" name="Text 103"/>
          <p:cNvSpPr txBox="1"/>
          <p:nvPr/>
        </p:nvSpPr>
        <p:spPr>
          <a:xfrm>
            <a:off x="7976997" y="6108192"/>
            <a:ext cx="1086993" cy="457200"/>
          </a:xfrm>
          <a:prstGeom prst="rect">
            <a:avLst/>
          </a:prstGeom>
          <a:noFill/>
          <a:ln/>
        </p:spPr>
        <p:txBody>
          <a:bodyPr wrap="square" lIns="0" tIns="0" rIns="0" bIns="0" rtlCol="0" anchor="ctr"/>
          <a:lstStyle/>
          <a:p>
            <a:pPr indent="0" marL="0">
              <a:buNone/>
            </a:pPr>
            <a:r>
              <a:rPr lang="en-US" sz="800" b="1" dirty="0">
                <a:solidFill>
                  <a:srgbClr val="C4262E"/>
                </a:solidFill>
                <a:latin typeface="Arial" pitchFamily="34" charset="0"/>
                <a:ea typeface="Arial" pitchFamily="34" charset="-122"/>
                <a:cs typeface="Arial" pitchFamily="34" charset="-120"/>
              </a:rPr>
              <a:t>06  </a:t>
            </a:r>
            <a:pPr indent="0" marL="0">
              <a:buNone/>
            </a:pPr>
            <a:r>
              <a:rPr lang="en-US" sz="800" b="1" dirty="0">
                <a:solidFill>
                  <a:srgbClr val="1B1B1B"/>
                </a:solidFill>
                <a:latin typeface="Arial" pitchFamily="34" charset="0"/>
                <a:ea typeface="Arial" pitchFamily="34" charset="-122"/>
                <a:cs typeface="Arial" pitchFamily="34" charset="-120"/>
              </a:rPr>
              <a:t>Meeting across users</a:t>
            </a:r>
            <a:endParaRPr lang="en-US" sz="800" dirty="0"/>
          </a:p>
        </p:txBody>
      </p:sp>
      <p:sp>
        <p:nvSpPr>
          <p:cNvPr id="106" name="Shape 104"/>
          <p:cNvSpPr/>
          <p:nvPr/>
        </p:nvSpPr>
        <p:spPr>
          <a:xfrm>
            <a:off x="9210294" y="6108192"/>
            <a:ext cx="1215009" cy="457200"/>
          </a:xfrm>
          <a:prstGeom prst="roundRect">
            <a:avLst>
              <a:gd name="adj" fmla="val 12000"/>
            </a:avLst>
          </a:prstGeom>
          <a:solidFill>
            <a:srgbClr val="F2F2F2"/>
          </a:solidFill>
          <a:ln w="12700">
            <a:solidFill>
              <a:srgbClr val="F2F2F2"/>
            </a:solidFill>
            <a:prstDash val="solid"/>
          </a:ln>
        </p:spPr>
      </p:sp>
      <p:sp>
        <p:nvSpPr>
          <p:cNvPr id="107" name="Text 105"/>
          <p:cNvSpPr txBox="1"/>
          <p:nvPr/>
        </p:nvSpPr>
        <p:spPr>
          <a:xfrm>
            <a:off x="9283446" y="6108192"/>
            <a:ext cx="1086993" cy="457200"/>
          </a:xfrm>
          <a:prstGeom prst="rect">
            <a:avLst/>
          </a:prstGeom>
          <a:noFill/>
          <a:ln/>
        </p:spPr>
        <p:txBody>
          <a:bodyPr wrap="square" lIns="0" tIns="0" rIns="0" bIns="0" rtlCol="0" anchor="ctr"/>
          <a:lstStyle/>
          <a:p>
            <a:pPr indent="0" marL="0">
              <a:buNone/>
            </a:pPr>
            <a:r>
              <a:rPr lang="en-US" sz="800" b="1" dirty="0">
                <a:solidFill>
                  <a:srgbClr val="C4262E"/>
                </a:solidFill>
                <a:latin typeface="Arial" pitchFamily="34" charset="0"/>
                <a:ea typeface="Arial" pitchFamily="34" charset="-122"/>
                <a:cs typeface="Arial" pitchFamily="34" charset="-120"/>
              </a:rPr>
              <a:t>07  </a:t>
            </a:r>
            <a:pPr indent="0" marL="0">
              <a:buNone/>
            </a:pPr>
            <a:r>
              <a:rPr lang="en-US" sz="800" b="1" dirty="0">
                <a:solidFill>
                  <a:srgbClr val="1B1B1B"/>
                </a:solidFill>
                <a:latin typeface="Arial" pitchFamily="34" charset="0"/>
                <a:ea typeface="Arial" pitchFamily="34" charset="-122"/>
                <a:cs typeface="Arial" pitchFamily="34" charset="-120"/>
              </a:rPr>
              <a:t>Formal + informal debate</a:t>
            </a:r>
            <a:endParaRPr lang="en-US" sz="800" dirty="0"/>
          </a:p>
        </p:txBody>
      </p:sp>
      <p:sp>
        <p:nvSpPr>
          <p:cNvPr id="108" name="Shape 106"/>
          <p:cNvSpPr/>
          <p:nvPr/>
        </p:nvSpPr>
        <p:spPr>
          <a:xfrm>
            <a:off x="10516743" y="6108192"/>
            <a:ext cx="1215009" cy="457200"/>
          </a:xfrm>
          <a:prstGeom prst="roundRect">
            <a:avLst>
              <a:gd name="adj" fmla="val 12000"/>
            </a:avLst>
          </a:prstGeom>
          <a:solidFill>
            <a:srgbClr val="F2F2F2"/>
          </a:solidFill>
          <a:ln w="12700">
            <a:solidFill>
              <a:srgbClr val="F2F2F2"/>
            </a:solidFill>
            <a:prstDash val="solid"/>
          </a:ln>
        </p:spPr>
      </p:sp>
      <p:sp>
        <p:nvSpPr>
          <p:cNvPr id="109" name="Text 107"/>
          <p:cNvSpPr txBox="1"/>
          <p:nvPr/>
        </p:nvSpPr>
        <p:spPr>
          <a:xfrm>
            <a:off x="10589895" y="6108192"/>
            <a:ext cx="1086993" cy="457200"/>
          </a:xfrm>
          <a:prstGeom prst="rect">
            <a:avLst/>
          </a:prstGeom>
          <a:noFill/>
          <a:ln/>
        </p:spPr>
        <p:txBody>
          <a:bodyPr wrap="square" lIns="0" tIns="0" rIns="0" bIns="0" rtlCol="0" anchor="ctr"/>
          <a:lstStyle/>
          <a:p>
            <a:pPr indent="0" marL="0">
              <a:buNone/>
            </a:pPr>
            <a:r>
              <a:rPr lang="en-US" sz="800" b="1" dirty="0">
                <a:solidFill>
                  <a:srgbClr val="C4262E"/>
                </a:solidFill>
                <a:latin typeface="Arial" pitchFamily="34" charset="0"/>
                <a:ea typeface="Arial" pitchFamily="34" charset="-122"/>
                <a:cs typeface="Arial" pitchFamily="34" charset="-120"/>
              </a:rPr>
              <a:t>08  </a:t>
            </a:r>
            <a:pPr indent="0" marL="0">
              <a:buNone/>
            </a:pPr>
            <a:r>
              <a:rPr lang="en-US" sz="800" b="1" dirty="0">
                <a:solidFill>
                  <a:srgbClr val="1B1B1B"/>
                </a:solidFill>
                <a:latin typeface="Arial" pitchFamily="34" charset="0"/>
                <a:ea typeface="Arial" pitchFamily="34" charset="-122"/>
                <a:cs typeface="Arial" pitchFamily="34" charset="-120"/>
              </a:rPr>
              <a:t>Links to city + state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Sites of Representation: The Contemporary Publishing House</dc:title>
  <dc:subject>PptxGenJS Presentation</dc:subject>
  <dc:creator>PptxGenJS</dc:creator>
  <cp:lastModifiedBy>PptxGenJS</cp:lastModifiedBy>
  <cp:revision>1</cp:revision>
  <dcterms:created xsi:type="dcterms:W3CDTF">2026-09-22T17:39:17Z</dcterms:created>
  <dcterms:modified xsi:type="dcterms:W3CDTF">2026-09-22T17:39:17Z</dcterms:modified>
</cp:coreProperties>
</file>