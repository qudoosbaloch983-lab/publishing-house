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chain: handout issue and site constraints (H) → my reading of vision, spatial relations and drivers (I) → five concept directions and one developed direction (C). Diagram caveat: contours, summit, protest-edge position and existing footprint are indicative; the handout gives none of these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THE HILL: Keep the whole mound as open public ground and build a low ring around its base, so the institution becomes the threshold between the road and the hill.
issue: Who owns the landmark? Instead of an image-building on top, the institution stays low and the hill stays public.
vision: Public knowledge sits at the city's edge; the hill above stays open to everyone.
site: Uses the flatter margin between road and the toe of the mound; mound and trees untouched.
users: Public meets the ring from the road; professionals work in the inner half facing the hill.
program: Segments: forum + press at the protest edge, library, archive, research, media, publishing around the loop.
spatial: One continuous low building wrapping the hill, broken by gates at the junctions.
circ: Public loop on the road side; working corridor on the hill side; gates cross from road to hill.
pp: Outer face public → inner face working; archive in the thickest segment.
mass: Long low ring, 1–2 floors; roof slopes up to meet the hill.
sect: Road → arcade → rooms → working corridor → roof continuing onto the slope.
moves: ① offset a band inside the boundary  ② break it at the junctions  ③ slope the roof up to the hill
topo: Builds only on the toe; the mound's profile is extended, never cut.
exp: A sheltered walk along the edge; through a gate, the green hill opens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THICK EDGE: Build the protest edge itself: one thick building along the street whose ground floor is a covered public room for speech, press and gathering, with work stacked behind and above.
issue: Public speech and media already meet at the public/protest interface; the brief asks how architecture relates citizen, media and state.
vision: Public voice gets a proper civic room at the city's edge, wired directly to the press.
site: Concentrates building on the street edge; the rest of Shimla Pahari stays an open hill park.
users: Protesters, public and journalists meet under the arcade; researchers and staff work above.
program: Ground: forum, press room, exhibition, auditorium. Above: library, research, media, publishing. Rear: archive.
spatial: A deep linear bar with a double-height public arcade facing the road.
circ: Linear public spine at ground; cores up to working floors; passages through to the hill.
pp: Layered back from the street: arcade → public hall → working floors → archive at the rear.
mass: 3–4 storey bar on the edge; lifted ground floor; one or two cuts through to the hill.
sect: Road | arcade void | public hall | stacked work floors | archive | hill.
moves: ① extrude a bar on the edge  ② lift it into an arcade  ③ cut passages to the hill
topo: Sits on the flat road edge; the hill is untouched and becomes the backdrop.
exp: Standing in a large covered room open to the street, with press and studios looking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 ASCENT: A public route climbs Shimla Pahari from the protest edge to the summit. The institution's rooms sit along it on the contours, so anyone walking up passes the making of knowledge, and the top of the landmark belongs to the public.
issue: Who can reach, see and question knowledge? The route makes access and visibility physical.
vision: Citizens take part alongside professionals; the public, not the institution, owns the top of the landmark.
site: Follows the contours: no regrading; buildings sit lightly between the trees.
users: Public climbs the route; journalists and researchers use a direct working spine; both meet in shared rooms.
program: Ordered by height: edge = forum, press, exhibition, auditorium; lower = library, workshops; middle = archive, research; upper = media, publishing; summit = open forum.
spatial: Low bars stepping up the hill, strung on one public path.
circ: Slow public switchback route + straight working spine + service loop at the base.
pp: Route public; each bar open on the route side, working on the hill side; archive stores protected.
mass: 3–4 low bars (1–2 floors) parallel to the contours, stepping up on piers.
sect: Stepped section; ground continuous under and between bars; roofs become landings.
moves: ① draw a path edge → summit  ② lay bars on the contours  ③ open each bar to the path
topo: Buildings follow existing levels; ground and trees kept.
exp: Climbing, looking into rooms at work, arriving at the top with the city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PRESS: Gather all production around one public room: a compact building on ground that is already built on, with a central void that shows research, recording, publishing and the archive at work.
issue: What is visible and what is hidden? Here the making of information is put on view.
vision: An institution open about how its knowledge is made.
site: Builds on the existing Press Club footprint (verify), leaving the rest of the hill as park.
users: Public in the hall; professionals on the galleries around it; eye contact across the void.
program: Hall = forum + exhibition; galleries: newsroom, recording, publishing, library, research; archive protected on top.
spatial: One compact block around a full-height public void.
circ: Public at hall level and on a ramp round the void; working cores in the corners.
pp: Vertical: public hall → semi-public galleries → working floors → protected archive.
mass: Compact block, 4–5 floors, carved centre.
sect: Full-height void; glazed working floors stacked around it.
moves: ① place block on the existing footprint  ② carve a central void  ③ glaze the work towards it
topo: Smallest disturbance: reuses already-built ground.
exp: Entering a tall room where all the institution's work is visible above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CROSSING PATHS: Separate the public route from the working route, then make them cross: every crossing becomes a shared room where citizens and professionals meet.
issue: The brief asks for negotiation between groups that normally do not meet.
vision: Meeting is designed, not left to chance.
site: Public line runs between the two junctions; working line crosses it from the service side.
users: Public on one line, professionals on the other; crossings = forum, reading room, press room.
program: Public line: exhibition, library, auditorium. Working line: studios, media, publishing, archive. Crossings: shared rooms.
spatial: Two interlocking linear systems with meeting nodes.
circ: Two clear circulation systems; nodes double-height.
pp: Public line vs working line; nodes are shared semi-public ground.
mass: Two sets of bars at an angle; taller volumes at the crossings.
sect: Bars bridge the slope on piers; nodes rise as double-height rooms.
moves: ① draw the public line  ② draw the working line  ③ inflate the crossings into rooms
topo: Bars span across the slope on piers: ground kept, more structure needed.
exp: Moving along your own route you arrive in a room where the other route also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FROM ISSUE TO CONCEPT</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The concept has to come out of the brief, not be put on top of it. Every step below is carried into the diagrams that follow.</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01</a:t>
            </a:r>
            <a:endParaRPr lang="en-US" sz="3400" dirty="0"/>
          </a:p>
        </p:txBody>
      </p:sp>
      <p:sp>
        <p:nvSpPr>
          <p:cNvPr id="6" name="Shape 4"/>
          <p:cNvSpPr/>
          <p:nvPr/>
        </p:nvSpPr>
        <p:spPr>
          <a:xfrm>
            <a:off x="365760" y="1417320"/>
            <a:ext cx="1325880" cy="1920240"/>
          </a:xfrm>
          <a:prstGeom prst="rect">
            <a:avLst/>
          </a:prstGeom>
          <a:solidFill>
            <a:srgbClr val="FFFFFF"/>
          </a:solidFill>
          <a:ln w="9525">
            <a:solidFill>
              <a:srgbClr val="D9D9D9"/>
            </a:solidFill>
            <a:prstDash val="solid"/>
          </a:ln>
        </p:spPr>
      </p:sp>
      <p:sp>
        <p:nvSpPr>
          <p:cNvPr id="7" name="Text 5"/>
          <p:cNvSpPr txBox="1"/>
          <p:nvPr/>
        </p:nvSpPr>
        <p:spPr>
          <a:xfrm>
            <a:off x="457200" y="1508760"/>
            <a:ext cx="457200" cy="274320"/>
          </a:xfrm>
          <a:prstGeom prst="rect">
            <a:avLst/>
          </a:prstGeom>
          <a:noFill/>
          <a:ln/>
        </p:spPr>
        <p:txBody>
          <a:bodyPr wrap="square" lIns="0" tIns="0" rIns="0" bIns="0" rtlCol="0" anchor="t"/>
          <a:lstStyle/>
          <a:p>
            <a:pPr indent="0" marL="0">
              <a:buNone/>
            </a:pPr>
            <a:r>
              <a:rPr lang="en-US" sz="1600" b="1" dirty="0">
                <a:solidFill>
                  <a:srgbClr val="D9D9D9"/>
                </a:solidFill>
                <a:latin typeface="Arial" pitchFamily="34" charset="0"/>
                <a:ea typeface="Arial" pitchFamily="34" charset="-122"/>
                <a:cs typeface="Arial" pitchFamily="34" charset="-120"/>
              </a:rPr>
              <a:t>01</a:t>
            </a:r>
            <a:endParaRPr lang="en-US" sz="1600" dirty="0"/>
          </a:p>
        </p:txBody>
      </p:sp>
      <p:sp>
        <p:nvSpPr>
          <p:cNvPr id="8" name="Text 6"/>
          <p:cNvSpPr txBox="1"/>
          <p:nvPr/>
        </p:nvSpPr>
        <p:spPr>
          <a:xfrm>
            <a:off x="457200" y="1828800"/>
            <a:ext cx="1143000" cy="320040"/>
          </a:xfrm>
          <a:prstGeom prst="rect">
            <a:avLst/>
          </a:prstGeom>
          <a:noFill/>
          <a:ln/>
        </p:spPr>
        <p:txBody>
          <a:bodyPr wrap="square" lIns="0" tIns="0" rIns="0" bIns="0" rtlCol="0" anchor="t"/>
          <a:lstStyle/>
          <a:p>
            <a:pPr indent="0" marL="0">
              <a:buNone/>
            </a:pPr>
            <a:r>
              <a:rPr lang="en-US" sz="950" b="1" dirty="0">
                <a:solidFill>
                  <a:srgbClr val="1B1B1B"/>
                </a:solidFill>
                <a:latin typeface="Arial" pitchFamily="34" charset="0"/>
                <a:ea typeface="Arial" pitchFamily="34" charset="-122"/>
                <a:cs typeface="Arial" pitchFamily="34" charset="-120"/>
              </a:rPr>
              <a:t>ISSUE</a:t>
            </a:r>
            <a:endParaRPr lang="en-US" sz="950" dirty="0"/>
          </a:p>
        </p:txBody>
      </p:sp>
      <p:sp>
        <p:nvSpPr>
          <p:cNvPr id="9" name="Text 7"/>
          <p:cNvSpPr txBox="1"/>
          <p:nvPr/>
        </p:nvSpPr>
        <p:spPr>
          <a:xfrm>
            <a:off x="457200" y="2194560"/>
            <a:ext cx="1143000" cy="91440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Who decides what is accepted as truth? Space decides who is seen, who has access, who is excluded.</a:t>
            </a:r>
            <a:endParaRPr lang="en-US" sz="750" dirty="0"/>
          </a:p>
        </p:txBody>
      </p:sp>
      <p:sp>
        <p:nvSpPr>
          <p:cNvPr id="10" name="Text 8"/>
          <p:cNvSpPr txBox="1"/>
          <p:nvPr/>
        </p:nvSpPr>
        <p:spPr>
          <a:xfrm>
            <a:off x="457200" y="3108960"/>
            <a:ext cx="1143000" cy="164592"/>
          </a:xfrm>
          <a:prstGeom prst="rect">
            <a:avLst/>
          </a:prstGeom>
          <a:noFill/>
          <a:ln/>
        </p:spPr>
        <p:txBody>
          <a:bodyPr wrap="square" lIns="0" tIns="0" rIns="0" bIns="0" rtlCol="0" anchor="t"/>
          <a:lstStyle/>
          <a:p>
            <a:pPr indent="0" marL="0">
              <a:buNone/>
            </a:pPr>
            <a:r>
              <a:rPr lang="en-US" sz="600" b="1" spc="100" kern="0" dirty="0">
                <a:solidFill>
                  <a:srgbClr val="1B1B1B"/>
                </a:solidFill>
                <a:latin typeface="Arial" pitchFamily="34" charset="0"/>
                <a:ea typeface="Arial" pitchFamily="34" charset="-122"/>
                <a:cs typeface="Arial" pitchFamily="34" charset="-120"/>
              </a:rPr>
              <a:t>HANDOUT</a:t>
            </a:r>
            <a:endParaRPr lang="en-US" sz="600" dirty="0"/>
          </a:p>
        </p:txBody>
      </p:sp>
      <p:sp>
        <p:nvSpPr>
          <p:cNvPr id="11" name="Shape 9"/>
          <p:cNvSpPr/>
          <p:nvPr/>
        </p:nvSpPr>
        <p:spPr>
          <a:xfrm>
            <a:off x="1673352" y="2372868"/>
            <a:ext cx="118872" cy="9144"/>
          </a:xfrm>
          <a:custGeom>
            <a:avLst/>
            <a:gdLst/>
            <a:ahLst/>
            <a:cxnLst/>
            <a:rect l="l" t="t" r="r" b="b"/>
            <a:pathLst>
              <a:path w="118872" h="9144">
                <a:moveTo>
                  <a:pt x="0" y="4572"/>
                </a:moveTo>
                <a:lnTo>
                  <a:pt x="118872" y="4572"/>
                </a:lnTo>
              </a:path>
            </a:pathLst>
          </a:custGeom>
          <a:ln w="12700">
            <a:solidFill>
              <a:srgbClr val="1B1B1B"/>
            </a:solidFill>
            <a:prstDash val="solid"/>
            <a:tailEnd type="triangle"/>
          </a:ln>
        </p:spPr>
      </p:sp>
      <p:sp>
        <p:nvSpPr>
          <p:cNvPr id="12" name="Shape 10"/>
          <p:cNvSpPr/>
          <p:nvPr/>
        </p:nvSpPr>
        <p:spPr>
          <a:xfrm>
            <a:off x="1773936" y="1417320"/>
            <a:ext cx="1325880" cy="1920240"/>
          </a:xfrm>
          <a:prstGeom prst="rect">
            <a:avLst/>
          </a:prstGeom>
          <a:solidFill>
            <a:srgbClr val="F2F2F2"/>
          </a:solidFill>
          <a:ln w="9525">
            <a:solidFill>
              <a:srgbClr val="D9D9D9"/>
            </a:solidFill>
            <a:prstDash val="solid"/>
          </a:ln>
        </p:spPr>
      </p:sp>
      <p:sp>
        <p:nvSpPr>
          <p:cNvPr id="13" name="Text 11"/>
          <p:cNvSpPr txBox="1"/>
          <p:nvPr/>
        </p:nvSpPr>
        <p:spPr>
          <a:xfrm>
            <a:off x="1865376" y="1508760"/>
            <a:ext cx="457200" cy="274320"/>
          </a:xfrm>
          <a:prstGeom prst="rect">
            <a:avLst/>
          </a:prstGeom>
          <a:noFill/>
          <a:ln/>
        </p:spPr>
        <p:txBody>
          <a:bodyPr wrap="square" lIns="0" tIns="0" rIns="0" bIns="0" rtlCol="0" anchor="t"/>
          <a:lstStyle/>
          <a:p>
            <a:pPr indent="0" marL="0">
              <a:buNone/>
            </a:pPr>
            <a:r>
              <a:rPr lang="en-US" sz="1600" b="1" dirty="0">
                <a:solidFill>
                  <a:srgbClr val="D9D9D9"/>
                </a:solidFill>
                <a:latin typeface="Arial" pitchFamily="34" charset="0"/>
                <a:ea typeface="Arial" pitchFamily="34" charset="-122"/>
                <a:cs typeface="Arial" pitchFamily="34" charset="-120"/>
              </a:rPr>
              <a:t>02</a:t>
            </a:r>
            <a:endParaRPr lang="en-US" sz="1600" dirty="0"/>
          </a:p>
        </p:txBody>
      </p:sp>
      <p:sp>
        <p:nvSpPr>
          <p:cNvPr id="14" name="Text 12"/>
          <p:cNvSpPr txBox="1"/>
          <p:nvPr/>
        </p:nvSpPr>
        <p:spPr>
          <a:xfrm>
            <a:off x="1865376" y="1828800"/>
            <a:ext cx="1143000" cy="320040"/>
          </a:xfrm>
          <a:prstGeom prst="rect">
            <a:avLst/>
          </a:prstGeom>
          <a:noFill/>
          <a:ln/>
        </p:spPr>
        <p:txBody>
          <a:bodyPr wrap="square" lIns="0" tIns="0" rIns="0" bIns="0" rtlCol="0" anchor="t"/>
          <a:lstStyle/>
          <a:p>
            <a:pPr indent="0" marL="0">
              <a:buNone/>
            </a:pPr>
            <a:r>
              <a:rPr lang="en-US" sz="950" b="1" dirty="0">
                <a:solidFill>
                  <a:srgbClr val="1B1B1B"/>
                </a:solidFill>
                <a:latin typeface="Arial" pitchFamily="34" charset="0"/>
                <a:ea typeface="Arial" pitchFamily="34" charset="-122"/>
                <a:cs typeface="Arial" pitchFamily="34" charset="-120"/>
              </a:rPr>
              <a:t>VISION</a:t>
            </a:r>
            <a:endParaRPr lang="en-US" sz="950" dirty="0"/>
          </a:p>
        </p:txBody>
      </p:sp>
      <p:sp>
        <p:nvSpPr>
          <p:cNvPr id="15" name="Text 13"/>
          <p:cNvSpPr txBox="1"/>
          <p:nvPr/>
        </p:nvSpPr>
        <p:spPr>
          <a:xfrm>
            <a:off x="1865376" y="2194560"/>
            <a:ext cx="1143000" cy="91440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Citizens take part in producing and questioning knowledge, alongside professionals.</a:t>
            </a:r>
            <a:endParaRPr lang="en-US" sz="750" dirty="0"/>
          </a:p>
        </p:txBody>
      </p:sp>
      <p:sp>
        <p:nvSpPr>
          <p:cNvPr id="16" name="Text 14"/>
          <p:cNvSpPr txBox="1"/>
          <p:nvPr/>
        </p:nvSpPr>
        <p:spPr>
          <a:xfrm>
            <a:off x="1865376" y="3108960"/>
            <a:ext cx="1143000" cy="164592"/>
          </a:xfrm>
          <a:prstGeom prst="rect">
            <a:avLst/>
          </a:prstGeom>
          <a:noFill/>
          <a:ln/>
        </p:spPr>
        <p:txBody>
          <a:bodyPr wrap="square" lIns="0" tIns="0" rIns="0" bIns="0" rtlCol="0" anchor="t"/>
          <a:lstStyle/>
          <a:p>
            <a:pPr indent="0" marL="0">
              <a:buNone/>
            </a:pPr>
            <a:r>
              <a:rPr lang="en-US" sz="600" b="1" spc="100" kern="0" dirty="0">
                <a:solidFill>
                  <a:srgbClr val="6B6B6B"/>
                </a:solidFill>
                <a:latin typeface="Arial" pitchFamily="34" charset="0"/>
                <a:ea typeface="Arial" pitchFamily="34" charset="-122"/>
                <a:cs typeface="Arial" pitchFamily="34" charset="-120"/>
              </a:rPr>
              <a:t>INTERPRETATION</a:t>
            </a:r>
            <a:endParaRPr lang="en-US" sz="600" dirty="0"/>
          </a:p>
        </p:txBody>
      </p:sp>
      <p:sp>
        <p:nvSpPr>
          <p:cNvPr id="17" name="Shape 15"/>
          <p:cNvSpPr/>
          <p:nvPr/>
        </p:nvSpPr>
        <p:spPr>
          <a:xfrm>
            <a:off x="3081528" y="2372868"/>
            <a:ext cx="118872" cy="9144"/>
          </a:xfrm>
          <a:custGeom>
            <a:avLst/>
            <a:gdLst/>
            <a:ahLst/>
            <a:cxnLst/>
            <a:rect l="l" t="t" r="r" b="b"/>
            <a:pathLst>
              <a:path w="118872" h="9144">
                <a:moveTo>
                  <a:pt x="0" y="4572"/>
                </a:moveTo>
                <a:lnTo>
                  <a:pt x="118872" y="4572"/>
                </a:lnTo>
              </a:path>
            </a:pathLst>
          </a:custGeom>
          <a:ln w="12700">
            <a:solidFill>
              <a:srgbClr val="1B1B1B"/>
            </a:solidFill>
            <a:prstDash val="solid"/>
            <a:tailEnd type="triangle"/>
          </a:ln>
        </p:spPr>
      </p:sp>
      <p:sp>
        <p:nvSpPr>
          <p:cNvPr id="18" name="Shape 16"/>
          <p:cNvSpPr/>
          <p:nvPr/>
        </p:nvSpPr>
        <p:spPr>
          <a:xfrm>
            <a:off x="3182112" y="1417320"/>
            <a:ext cx="1325880" cy="1920240"/>
          </a:xfrm>
          <a:prstGeom prst="rect">
            <a:avLst/>
          </a:prstGeom>
          <a:solidFill>
            <a:srgbClr val="FFFFFF"/>
          </a:solidFill>
          <a:ln w="9525">
            <a:solidFill>
              <a:srgbClr val="D9D9D9"/>
            </a:solidFill>
            <a:prstDash val="solid"/>
          </a:ln>
        </p:spPr>
      </p:sp>
      <p:sp>
        <p:nvSpPr>
          <p:cNvPr id="19" name="Text 17"/>
          <p:cNvSpPr txBox="1"/>
          <p:nvPr/>
        </p:nvSpPr>
        <p:spPr>
          <a:xfrm>
            <a:off x="3273552" y="1508760"/>
            <a:ext cx="457200" cy="274320"/>
          </a:xfrm>
          <a:prstGeom prst="rect">
            <a:avLst/>
          </a:prstGeom>
          <a:noFill/>
          <a:ln/>
        </p:spPr>
        <p:txBody>
          <a:bodyPr wrap="square" lIns="0" tIns="0" rIns="0" bIns="0" rtlCol="0" anchor="t"/>
          <a:lstStyle/>
          <a:p>
            <a:pPr indent="0" marL="0">
              <a:buNone/>
            </a:pPr>
            <a:r>
              <a:rPr lang="en-US" sz="1600" b="1" dirty="0">
                <a:solidFill>
                  <a:srgbClr val="D9D9D9"/>
                </a:solidFill>
                <a:latin typeface="Arial" pitchFamily="34" charset="0"/>
                <a:ea typeface="Arial" pitchFamily="34" charset="-122"/>
                <a:cs typeface="Arial" pitchFamily="34" charset="-120"/>
              </a:rPr>
              <a:t>03</a:t>
            </a:r>
            <a:endParaRPr lang="en-US" sz="1600" dirty="0"/>
          </a:p>
        </p:txBody>
      </p:sp>
      <p:sp>
        <p:nvSpPr>
          <p:cNvPr id="20" name="Text 18"/>
          <p:cNvSpPr txBox="1"/>
          <p:nvPr/>
        </p:nvSpPr>
        <p:spPr>
          <a:xfrm>
            <a:off x="3273552" y="1828800"/>
            <a:ext cx="1143000" cy="320040"/>
          </a:xfrm>
          <a:prstGeom prst="rect">
            <a:avLst/>
          </a:prstGeom>
          <a:noFill/>
          <a:ln/>
        </p:spPr>
        <p:txBody>
          <a:bodyPr wrap="square" lIns="0" tIns="0" rIns="0" bIns="0" rtlCol="0" anchor="t"/>
          <a:lstStyle/>
          <a:p>
            <a:pPr indent="0" marL="0">
              <a:buNone/>
            </a:pPr>
            <a:r>
              <a:rPr lang="en-US" sz="950" b="1" dirty="0">
                <a:solidFill>
                  <a:srgbClr val="1B1B1B"/>
                </a:solidFill>
                <a:latin typeface="Arial" pitchFamily="34" charset="0"/>
                <a:ea typeface="Arial" pitchFamily="34" charset="-122"/>
                <a:cs typeface="Arial" pitchFamily="34" charset="-120"/>
              </a:rPr>
              <a:t>SITE</a:t>
            </a:r>
            <a:endParaRPr lang="en-US" sz="950" dirty="0"/>
          </a:p>
        </p:txBody>
      </p:sp>
      <p:sp>
        <p:nvSpPr>
          <p:cNvPr id="21" name="Text 19"/>
          <p:cNvSpPr txBox="1"/>
          <p:nvPr/>
        </p:nvSpPr>
        <p:spPr>
          <a:xfrm>
            <a:off x="3273552" y="2194560"/>
            <a:ext cx="1143000" cy="91440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Contoured man-made hill · topography not to be altered · Press Club + Shimla Pahari + protest interface.</a:t>
            </a:r>
            <a:endParaRPr lang="en-US" sz="750" dirty="0"/>
          </a:p>
        </p:txBody>
      </p:sp>
      <p:sp>
        <p:nvSpPr>
          <p:cNvPr id="22" name="Text 20"/>
          <p:cNvSpPr txBox="1"/>
          <p:nvPr/>
        </p:nvSpPr>
        <p:spPr>
          <a:xfrm>
            <a:off x="3273552" y="3108960"/>
            <a:ext cx="1143000" cy="164592"/>
          </a:xfrm>
          <a:prstGeom prst="rect">
            <a:avLst/>
          </a:prstGeom>
          <a:noFill/>
          <a:ln/>
        </p:spPr>
        <p:txBody>
          <a:bodyPr wrap="square" lIns="0" tIns="0" rIns="0" bIns="0" rtlCol="0" anchor="t"/>
          <a:lstStyle/>
          <a:p>
            <a:pPr indent="0" marL="0">
              <a:buNone/>
            </a:pPr>
            <a:r>
              <a:rPr lang="en-US" sz="600" b="1" spc="100" kern="0" dirty="0">
                <a:solidFill>
                  <a:srgbClr val="1B1B1B"/>
                </a:solidFill>
                <a:latin typeface="Arial" pitchFamily="34" charset="0"/>
                <a:ea typeface="Arial" pitchFamily="34" charset="-122"/>
                <a:cs typeface="Arial" pitchFamily="34" charset="-120"/>
              </a:rPr>
              <a:t>HANDOUT</a:t>
            </a:r>
            <a:endParaRPr lang="en-US" sz="600" dirty="0"/>
          </a:p>
        </p:txBody>
      </p:sp>
      <p:sp>
        <p:nvSpPr>
          <p:cNvPr id="23" name="Shape 21"/>
          <p:cNvSpPr/>
          <p:nvPr/>
        </p:nvSpPr>
        <p:spPr>
          <a:xfrm>
            <a:off x="4489704" y="2372868"/>
            <a:ext cx="118872" cy="9144"/>
          </a:xfrm>
          <a:custGeom>
            <a:avLst/>
            <a:gdLst/>
            <a:ahLst/>
            <a:cxnLst/>
            <a:rect l="l" t="t" r="r" b="b"/>
            <a:pathLst>
              <a:path w="118872" h="9144">
                <a:moveTo>
                  <a:pt x="0" y="4572"/>
                </a:moveTo>
                <a:lnTo>
                  <a:pt x="118872" y="4572"/>
                </a:lnTo>
              </a:path>
            </a:pathLst>
          </a:custGeom>
          <a:ln w="12700">
            <a:solidFill>
              <a:srgbClr val="1B1B1B"/>
            </a:solidFill>
            <a:prstDash val="solid"/>
            <a:tailEnd type="triangle"/>
          </a:ln>
        </p:spPr>
      </p:sp>
      <p:sp>
        <p:nvSpPr>
          <p:cNvPr id="24" name="Shape 22"/>
          <p:cNvSpPr/>
          <p:nvPr/>
        </p:nvSpPr>
        <p:spPr>
          <a:xfrm>
            <a:off x="4590288" y="1417320"/>
            <a:ext cx="1325880" cy="1920240"/>
          </a:xfrm>
          <a:prstGeom prst="rect">
            <a:avLst/>
          </a:prstGeom>
          <a:solidFill>
            <a:srgbClr val="F2F2F2"/>
          </a:solidFill>
          <a:ln w="9525">
            <a:solidFill>
              <a:srgbClr val="D9D9D9"/>
            </a:solidFill>
            <a:prstDash val="solid"/>
          </a:ln>
        </p:spPr>
      </p:sp>
      <p:sp>
        <p:nvSpPr>
          <p:cNvPr id="25" name="Text 23"/>
          <p:cNvSpPr txBox="1"/>
          <p:nvPr/>
        </p:nvSpPr>
        <p:spPr>
          <a:xfrm>
            <a:off x="4681728" y="1508760"/>
            <a:ext cx="457200" cy="274320"/>
          </a:xfrm>
          <a:prstGeom prst="rect">
            <a:avLst/>
          </a:prstGeom>
          <a:noFill/>
          <a:ln/>
        </p:spPr>
        <p:txBody>
          <a:bodyPr wrap="square" lIns="0" tIns="0" rIns="0" bIns="0" rtlCol="0" anchor="t"/>
          <a:lstStyle/>
          <a:p>
            <a:pPr indent="0" marL="0">
              <a:buNone/>
            </a:pPr>
            <a:r>
              <a:rPr lang="en-US" sz="1600" b="1" dirty="0">
                <a:solidFill>
                  <a:srgbClr val="D9D9D9"/>
                </a:solidFill>
                <a:latin typeface="Arial" pitchFamily="34" charset="0"/>
                <a:ea typeface="Arial" pitchFamily="34" charset="-122"/>
                <a:cs typeface="Arial" pitchFamily="34" charset="-120"/>
              </a:rPr>
              <a:t>04</a:t>
            </a:r>
            <a:endParaRPr lang="en-US" sz="1600" dirty="0"/>
          </a:p>
        </p:txBody>
      </p:sp>
      <p:sp>
        <p:nvSpPr>
          <p:cNvPr id="26" name="Text 24"/>
          <p:cNvSpPr txBox="1"/>
          <p:nvPr/>
        </p:nvSpPr>
        <p:spPr>
          <a:xfrm>
            <a:off x="4681728" y="1828800"/>
            <a:ext cx="1143000" cy="320040"/>
          </a:xfrm>
          <a:prstGeom prst="rect">
            <a:avLst/>
          </a:prstGeom>
          <a:noFill/>
          <a:ln/>
        </p:spPr>
        <p:txBody>
          <a:bodyPr wrap="square" lIns="0" tIns="0" rIns="0" bIns="0" rtlCol="0" anchor="t"/>
          <a:lstStyle/>
          <a:p>
            <a:pPr indent="0" marL="0">
              <a:buNone/>
            </a:pPr>
            <a:r>
              <a:rPr lang="en-US" sz="950" b="1" dirty="0">
                <a:solidFill>
                  <a:srgbClr val="1B1B1B"/>
                </a:solidFill>
                <a:latin typeface="Arial" pitchFamily="34" charset="0"/>
                <a:ea typeface="Arial" pitchFamily="34" charset="-122"/>
                <a:cs typeface="Arial" pitchFamily="34" charset="-120"/>
              </a:rPr>
              <a:t>USERS</a:t>
            </a:r>
            <a:endParaRPr lang="en-US" sz="950" dirty="0"/>
          </a:p>
        </p:txBody>
      </p:sp>
      <p:sp>
        <p:nvSpPr>
          <p:cNvPr id="27" name="Text 25"/>
          <p:cNvSpPr txBox="1"/>
          <p:nvPr/>
        </p:nvSpPr>
        <p:spPr>
          <a:xfrm>
            <a:off x="4681728" y="2194560"/>
            <a:ext cx="1143000" cy="91440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Researchers, journalists, writers, academics, artists, civic organisations, the public.</a:t>
            </a:r>
            <a:endParaRPr lang="en-US" sz="750" dirty="0"/>
          </a:p>
        </p:txBody>
      </p:sp>
      <p:sp>
        <p:nvSpPr>
          <p:cNvPr id="28" name="Text 26"/>
          <p:cNvSpPr txBox="1"/>
          <p:nvPr/>
        </p:nvSpPr>
        <p:spPr>
          <a:xfrm>
            <a:off x="4681728" y="3108960"/>
            <a:ext cx="1143000" cy="164592"/>
          </a:xfrm>
          <a:prstGeom prst="rect">
            <a:avLst/>
          </a:prstGeom>
          <a:noFill/>
          <a:ln/>
        </p:spPr>
        <p:txBody>
          <a:bodyPr wrap="square" lIns="0" tIns="0" rIns="0" bIns="0" rtlCol="0" anchor="t"/>
          <a:lstStyle/>
          <a:p>
            <a:pPr indent="0" marL="0">
              <a:buNone/>
            </a:pPr>
            <a:r>
              <a:rPr lang="en-US" sz="600" b="1" spc="100" kern="0" dirty="0">
                <a:solidFill>
                  <a:srgbClr val="1B1B1B"/>
                </a:solidFill>
                <a:latin typeface="Arial" pitchFamily="34" charset="0"/>
                <a:ea typeface="Arial" pitchFamily="34" charset="-122"/>
                <a:cs typeface="Arial" pitchFamily="34" charset="-120"/>
              </a:rPr>
              <a:t>HANDOUT</a:t>
            </a:r>
            <a:endParaRPr lang="en-US" sz="600" dirty="0"/>
          </a:p>
        </p:txBody>
      </p:sp>
      <p:sp>
        <p:nvSpPr>
          <p:cNvPr id="29" name="Shape 27"/>
          <p:cNvSpPr/>
          <p:nvPr/>
        </p:nvSpPr>
        <p:spPr>
          <a:xfrm>
            <a:off x="5897880" y="2372868"/>
            <a:ext cx="118872" cy="9144"/>
          </a:xfrm>
          <a:custGeom>
            <a:avLst/>
            <a:gdLst/>
            <a:ahLst/>
            <a:cxnLst/>
            <a:rect l="l" t="t" r="r" b="b"/>
            <a:pathLst>
              <a:path w="118872" h="9144">
                <a:moveTo>
                  <a:pt x="0" y="4572"/>
                </a:moveTo>
                <a:lnTo>
                  <a:pt x="118872" y="4572"/>
                </a:lnTo>
              </a:path>
            </a:pathLst>
          </a:custGeom>
          <a:ln w="12700">
            <a:solidFill>
              <a:srgbClr val="1B1B1B"/>
            </a:solidFill>
            <a:prstDash val="solid"/>
            <a:tailEnd type="triangle"/>
          </a:ln>
        </p:spPr>
      </p:sp>
      <p:sp>
        <p:nvSpPr>
          <p:cNvPr id="30" name="Shape 28"/>
          <p:cNvSpPr/>
          <p:nvPr/>
        </p:nvSpPr>
        <p:spPr>
          <a:xfrm>
            <a:off x="5998464" y="1417320"/>
            <a:ext cx="1325880" cy="1920240"/>
          </a:xfrm>
          <a:prstGeom prst="rect">
            <a:avLst/>
          </a:prstGeom>
          <a:solidFill>
            <a:srgbClr val="FFFFFF"/>
          </a:solidFill>
          <a:ln w="9525">
            <a:solidFill>
              <a:srgbClr val="D9D9D9"/>
            </a:solidFill>
            <a:prstDash val="solid"/>
          </a:ln>
        </p:spPr>
      </p:sp>
      <p:sp>
        <p:nvSpPr>
          <p:cNvPr id="31" name="Text 29"/>
          <p:cNvSpPr txBox="1"/>
          <p:nvPr/>
        </p:nvSpPr>
        <p:spPr>
          <a:xfrm>
            <a:off x="6089904" y="1508760"/>
            <a:ext cx="457200" cy="274320"/>
          </a:xfrm>
          <a:prstGeom prst="rect">
            <a:avLst/>
          </a:prstGeom>
          <a:noFill/>
          <a:ln/>
        </p:spPr>
        <p:txBody>
          <a:bodyPr wrap="square" lIns="0" tIns="0" rIns="0" bIns="0" rtlCol="0" anchor="t"/>
          <a:lstStyle/>
          <a:p>
            <a:pPr indent="0" marL="0">
              <a:buNone/>
            </a:pPr>
            <a:r>
              <a:rPr lang="en-US" sz="1600" b="1" dirty="0">
                <a:solidFill>
                  <a:srgbClr val="D9D9D9"/>
                </a:solidFill>
                <a:latin typeface="Arial" pitchFamily="34" charset="0"/>
                <a:ea typeface="Arial" pitchFamily="34" charset="-122"/>
                <a:cs typeface="Arial" pitchFamily="34" charset="-120"/>
              </a:rPr>
              <a:t>05</a:t>
            </a:r>
            <a:endParaRPr lang="en-US" sz="1600" dirty="0"/>
          </a:p>
        </p:txBody>
      </p:sp>
      <p:sp>
        <p:nvSpPr>
          <p:cNvPr id="32" name="Text 30"/>
          <p:cNvSpPr txBox="1"/>
          <p:nvPr/>
        </p:nvSpPr>
        <p:spPr>
          <a:xfrm>
            <a:off x="6089904" y="1828800"/>
            <a:ext cx="1143000" cy="320040"/>
          </a:xfrm>
          <a:prstGeom prst="rect">
            <a:avLst/>
          </a:prstGeom>
          <a:noFill/>
          <a:ln/>
        </p:spPr>
        <p:txBody>
          <a:bodyPr wrap="square" lIns="0" tIns="0" rIns="0" bIns="0" rtlCol="0" anchor="t"/>
          <a:lstStyle/>
          <a:p>
            <a:pPr indent="0" marL="0">
              <a:buNone/>
            </a:pPr>
            <a:r>
              <a:rPr lang="en-US" sz="950" b="1" dirty="0">
                <a:solidFill>
                  <a:srgbClr val="1B1B1B"/>
                </a:solidFill>
                <a:latin typeface="Arial" pitchFamily="34" charset="0"/>
                <a:ea typeface="Arial" pitchFamily="34" charset="-122"/>
                <a:cs typeface="Arial" pitchFamily="34" charset="-120"/>
              </a:rPr>
              <a:t>PROGRAM</a:t>
            </a:r>
            <a:endParaRPr lang="en-US" sz="950" dirty="0"/>
          </a:p>
        </p:txBody>
      </p:sp>
      <p:sp>
        <p:nvSpPr>
          <p:cNvPr id="33" name="Text 31"/>
          <p:cNvSpPr txBox="1"/>
          <p:nvPr/>
        </p:nvSpPr>
        <p:spPr>
          <a:xfrm>
            <a:off x="6089904" y="2194560"/>
            <a:ext cx="1143000" cy="91440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Research + studios · library + reading room · archive · media + recording · publishing · formal + informal debate.</a:t>
            </a:r>
            <a:endParaRPr lang="en-US" sz="750" dirty="0"/>
          </a:p>
        </p:txBody>
      </p:sp>
      <p:sp>
        <p:nvSpPr>
          <p:cNvPr id="34" name="Text 32"/>
          <p:cNvSpPr txBox="1"/>
          <p:nvPr/>
        </p:nvSpPr>
        <p:spPr>
          <a:xfrm>
            <a:off x="6089904" y="3108960"/>
            <a:ext cx="1143000" cy="164592"/>
          </a:xfrm>
          <a:prstGeom prst="rect">
            <a:avLst/>
          </a:prstGeom>
          <a:noFill/>
          <a:ln/>
        </p:spPr>
        <p:txBody>
          <a:bodyPr wrap="square" lIns="0" tIns="0" rIns="0" bIns="0" rtlCol="0" anchor="t"/>
          <a:lstStyle/>
          <a:p>
            <a:pPr indent="0" marL="0">
              <a:buNone/>
            </a:pPr>
            <a:r>
              <a:rPr lang="en-US" sz="600" b="1" spc="100" kern="0" dirty="0">
                <a:solidFill>
                  <a:srgbClr val="1B1B1B"/>
                </a:solidFill>
                <a:latin typeface="Arial" pitchFamily="34" charset="0"/>
                <a:ea typeface="Arial" pitchFamily="34" charset="-122"/>
                <a:cs typeface="Arial" pitchFamily="34" charset="-120"/>
              </a:rPr>
              <a:t>HANDOUT</a:t>
            </a:r>
            <a:endParaRPr lang="en-US" sz="600" dirty="0"/>
          </a:p>
        </p:txBody>
      </p:sp>
      <p:sp>
        <p:nvSpPr>
          <p:cNvPr id="35" name="Shape 33"/>
          <p:cNvSpPr/>
          <p:nvPr/>
        </p:nvSpPr>
        <p:spPr>
          <a:xfrm>
            <a:off x="7306056" y="2372868"/>
            <a:ext cx="118872" cy="9144"/>
          </a:xfrm>
          <a:custGeom>
            <a:avLst/>
            <a:gdLst/>
            <a:ahLst/>
            <a:cxnLst/>
            <a:rect l="l" t="t" r="r" b="b"/>
            <a:pathLst>
              <a:path w="118872" h="9144">
                <a:moveTo>
                  <a:pt x="0" y="4572"/>
                </a:moveTo>
                <a:lnTo>
                  <a:pt x="118872" y="4572"/>
                </a:lnTo>
              </a:path>
            </a:pathLst>
          </a:custGeom>
          <a:ln w="12700">
            <a:solidFill>
              <a:srgbClr val="1B1B1B"/>
            </a:solidFill>
            <a:prstDash val="solid"/>
            <a:tailEnd type="triangle"/>
          </a:ln>
        </p:spPr>
      </p:sp>
      <p:sp>
        <p:nvSpPr>
          <p:cNvPr id="36" name="Shape 34"/>
          <p:cNvSpPr/>
          <p:nvPr/>
        </p:nvSpPr>
        <p:spPr>
          <a:xfrm>
            <a:off x="7406640" y="1417320"/>
            <a:ext cx="1325880" cy="1920240"/>
          </a:xfrm>
          <a:prstGeom prst="rect">
            <a:avLst/>
          </a:prstGeom>
          <a:solidFill>
            <a:srgbClr val="F2F2F2"/>
          </a:solidFill>
          <a:ln w="9525">
            <a:solidFill>
              <a:srgbClr val="D9D9D9"/>
            </a:solidFill>
            <a:prstDash val="solid"/>
          </a:ln>
        </p:spPr>
      </p:sp>
      <p:sp>
        <p:nvSpPr>
          <p:cNvPr id="37" name="Text 35"/>
          <p:cNvSpPr txBox="1"/>
          <p:nvPr/>
        </p:nvSpPr>
        <p:spPr>
          <a:xfrm>
            <a:off x="7498080" y="1508760"/>
            <a:ext cx="457200" cy="274320"/>
          </a:xfrm>
          <a:prstGeom prst="rect">
            <a:avLst/>
          </a:prstGeom>
          <a:noFill/>
          <a:ln/>
        </p:spPr>
        <p:txBody>
          <a:bodyPr wrap="square" lIns="0" tIns="0" rIns="0" bIns="0" rtlCol="0" anchor="t"/>
          <a:lstStyle/>
          <a:p>
            <a:pPr indent="0" marL="0">
              <a:buNone/>
            </a:pPr>
            <a:r>
              <a:rPr lang="en-US" sz="1600" b="1" dirty="0">
                <a:solidFill>
                  <a:srgbClr val="D9D9D9"/>
                </a:solidFill>
                <a:latin typeface="Arial" pitchFamily="34" charset="0"/>
                <a:ea typeface="Arial" pitchFamily="34" charset="-122"/>
                <a:cs typeface="Arial" pitchFamily="34" charset="-120"/>
              </a:rPr>
              <a:t>06</a:t>
            </a:r>
            <a:endParaRPr lang="en-US" sz="1600" dirty="0"/>
          </a:p>
        </p:txBody>
      </p:sp>
      <p:sp>
        <p:nvSpPr>
          <p:cNvPr id="38" name="Text 36"/>
          <p:cNvSpPr txBox="1"/>
          <p:nvPr/>
        </p:nvSpPr>
        <p:spPr>
          <a:xfrm>
            <a:off x="7498080" y="1828800"/>
            <a:ext cx="1143000" cy="320040"/>
          </a:xfrm>
          <a:prstGeom prst="rect">
            <a:avLst/>
          </a:prstGeom>
          <a:noFill/>
          <a:ln/>
        </p:spPr>
        <p:txBody>
          <a:bodyPr wrap="square" lIns="0" tIns="0" rIns="0" bIns="0" rtlCol="0" anchor="t"/>
          <a:lstStyle/>
          <a:p>
            <a:pPr indent="0" marL="0">
              <a:buNone/>
            </a:pPr>
            <a:r>
              <a:rPr lang="en-US" sz="950" b="1" dirty="0">
                <a:solidFill>
                  <a:srgbClr val="1B1B1B"/>
                </a:solidFill>
                <a:latin typeface="Arial" pitchFamily="34" charset="0"/>
                <a:ea typeface="Arial" pitchFamily="34" charset="-122"/>
                <a:cs typeface="Arial" pitchFamily="34" charset="-120"/>
              </a:rPr>
              <a:t>SPATIAL RELATIONS</a:t>
            </a:r>
            <a:endParaRPr lang="en-US" sz="950" dirty="0"/>
          </a:p>
        </p:txBody>
      </p:sp>
      <p:sp>
        <p:nvSpPr>
          <p:cNvPr id="39" name="Text 37"/>
          <p:cNvSpPr txBox="1"/>
          <p:nvPr/>
        </p:nvSpPr>
        <p:spPr>
          <a:xfrm>
            <a:off x="7498080" y="2194560"/>
            <a:ext cx="1143000" cy="91440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Graded access from public to protected; deliberate meeting points between groups.</a:t>
            </a:r>
            <a:endParaRPr lang="en-US" sz="750" dirty="0"/>
          </a:p>
        </p:txBody>
      </p:sp>
      <p:sp>
        <p:nvSpPr>
          <p:cNvPr id="40" name="Text 38"/>
          <p:cNvSpPr txBox="1"/>
          <p:nvPr/>
        </p:nvSpPr>
        <p:spPr>
          <a:xfrm>
            <a:off x="7498080" y="3108960"/>
            <a:ext cx="1143000" cy="164592"/>
          </a:xfrm>
          <a:prstGeom prst="rect">
            <a:avLst/>
          </a:prstGeom>
          <a:noFill/>
          <a:ln/>
        </p:spPr>
        <p:txBody>
          <a:bodyPr wrap="square" lIns="0" tIns="0" rIns="0" bIns="0" rtlCol="0" anchor="t"/>
          <a:lstStyle/>
          <a:p>
            <a:pPr indent="0" marL="0">
              <a:buNone/>
            </a:pPr>
            <a:r>
              <a:rPr lang="en-US" sz="600" b="1" spc="100" kern="0" dirty="0">
                <a:solidFill>
                  <a:srgbClr val="6B6B6B"/>
                </a:solidFill>
                <a:latin typeface="Arial" pitchFamily="34" charset="0"/>
                <a:ea typeface="Arial" pitchFamily="34" charset="-122"/>
                <a:cs typeface="Arial" pitchFamily="34" charset="-120"/>
              </a:rPr>
              <a:t>INTERPRETATION</a:t>
            </a:r>
            <a:endParaRPr lang="en-US" sz="600" dirty="0"/>
          </a:p>
        </p:txBody>
      </p:sp>
      <p:sp>
        <p:nvSpPr>
          <p:cNvPr id="41" name="Shape 39"/>
          <p:cNvSpPr/>
          <p:nvPr/>
        </p:nvSpPr>
        <p:spPr>
          <a:xfrm>
            <a:off x="8714232" y="2372868"/>
            <a:ext cx="118872" cy="9144"/>
          </a:xfrm>
          <a:custGeom>
            <a:avLst/>
            <a:gdLst/>
            <a:ahLst/>
            <a:cxnLst/>
            <a:rect l="l" t="t" r="r" b="b"/>
            <a:pathLst>
              <a:path w="118872" h="9144">
                <a:moveTo>
                  <a:pt x="0" y="4572"/>
                </a:moveTo>
                <a:lnTo>
                  <a:pt x="118872" y="4572"/>
                </a:lnTo>
              </a:path>
            </a:pathLst>
          </a:custGeom>
          <a:ln w="12700">
            <a:solidFill>
              <a:srgbClr val="1B1B1B"/>
            </a:solidFill>
            <a:prstDash val="solid"/>
            <a:tailEnd type="triangle"/>
          </a:ln>
        </p:spPr>
      </p:sp>
      <p:sp>
        <p:nvSpPr>
          <p:cNvPr id="42" name="Shape 40"/>
          <p:cNvSpPr/>
          <p:nvPr/>
        </p:nvSpPr>
        <p:spPr>
          <a:xfrm>
            <a:off x="8814816" y="1417320"/>
            <a:ext cx="1325880" cy="1920240"/>
          </a:xfrm>
          <a:prstGeom prst="rect">
            <a:avLst/>
          </a:prstGeom>
          <a:solidFill>
            <a:srgbClr val="FFFFFF"/>
          </a:solidFill>
          <a:ln w="9525">
            <a:solidFill>
              <a:srgbClr val="D9D9D9"/>
            </a:solidFill>
            <a:prstDash val="solid"/>
          </a:ln>
        </p:spPr>
      </p:sp>
      <p:sp>
        <p:nvSpPr>
          <p:cNvPr id="43" name="Text 41"/>
          <p:cNvSpPr txBox="1"/>
          <p:nvPr/>
        </p:nvSpPr>
        <p:spPr>
          <a:xfrm>
            <a:off x="8906256" y="1508760"/>
            <a:ext cx="457200" cy="274320"/>
          </a:xfrm>
          <a:prstGeom prst="rect">
            <a:avLst/>
          </a:prstGeom>
          <a:noFill/>
          <a:ln/>
        </p:spPr>
        <p:txBody>
          <a:bodyPr wrap="square" lIns="0" tIns="0" rIns="0" bIns="0" rtlCol="0" anchor="t"/>
          <a:lstStyle/>
          <a:p>
            <a:pPr indent="0" marL="0">
              <a:buNone/>
            </a:pPr>
            <a:r>
              <a:rPr lang="en-US" sz="1600" b="1" dirty="0">
                <a:solidFill>
                  <a:srgbClr val="D9D9D9"/>
                </a:solidFill>
                <a:latin typeface="Arial" pitchFamily="34" charset="0"/>
                <a:ea typeface="Arial" pitchFamily="34" charset="-122"/>
                <a:cs typeface="Arial" pitchFamily="34" charset="-120"/>
              </a:rPr>
              <a:t>07</a:t>
            </a:r>
            <a:endParaRPr lang="en-US" sz="1600" dirty="0"/>
          </a:p>
        </p:txBody>
      </p:sp>
      <p:sp>
        <p:nvSpPr>
          <p:cNvPr id="44" name="Text 42"/>
          <p:cNvSpPr txBox="1"/>
          <p:nvPr/>
        </p:nvSpPr>
        <p:spPr>
          <a:xfrm>
            <a:off x="8906256" y="1828800"/>
            <a:ext cx="1143000" cy="320040"/>
          </a:xfrm>
          <a:prstGeom prst="rect">
            <a:avLst/>
          </a:prstGeom>
          <a:noFill/>
          <a:ln/>
        </p:spPr>
        <p:txBody>
          <a:bodyPr wrap="square" lIns="0" tIns="0" rIns="0" bIns="0" rtlCol="0" anchor="t"/>
          <a:lstStyle/>
          <a:p>
            <a:pPr indent="0" marL="0">
              <a:buNone/>
            </a:pPr>
            <a:r>
              <a:rPr lang="en-US" sz="950" b="1" dirty="0">
                <a:solidFill>
                  <a:srgbClr val="1B1B1B"/>
                </a:solidFill>
                <a:latin typeface="Arial" pitchFamily="34" charset="0"/>
                <a:ea typeface="Arial" pitchFamily="34" charset="-122"/>
                <a:cs typeface="Arial" pitchFamily="34" charset="-120"/>
              </a:rPr>
              <a:t>DESIGN DRIVERS</a:t>
            </a:r>
            <a:endParaRPr lang="en-US" sz="950" dirty="0"/>
          </a:p>
        </p:txBody>
      </p:sp>
      <p:sp>
        <p:nvSpPr>
          <p:cNvPr id="45" name="Text 43"/>
          <p:cNvSpPr txBox="1"/>
          <p:nvPr/>
        </p:nvSpPr>
        <p:spPr>
          <a:xfrm>
            <a:off x="8906256" y="2194560"/>
            <a:ext cx="1143000" cy="91440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Unaltered ground · protest edge · visible/hidden · access · archive · meeting · debate · city + state.</a:t>
            </a:r>
            <a:endParaRPr lang="en-US" sz="750" dirty="0"/>
          </a:p>
        </p:txBody>
      </p:sp>
      <p:sp>
        <p:nvSpPr>
          <p:cNvPr id="46" name="Text 44"/>
          <p:cNvSpPr txBox="1"/>
          <p:nvPr/>
        </p:nvSpPr>
        <p:spPr>
          <a:xfrm>
            <a:off x="8906256" y="3108960"/>
            <a:ext cx="1143000" cy="164592"/>
          </a:xfrm>
          <a:prstGeom prst="rect">
            <a:avLst/>
          </a:prstGeom>
          <a:noFill/>
          <a:ln/>
        </p:spPr>
        <p:txBody>
          <a:bodyPr wrap="square" lIns="0" tIns="0" rIns="0" bIns="0" rtlCol="0" anchor="t"/>
          <a:lstStyle/>
          <a:p>
            <a:pPr indent="0" marL="0">
              <a:buNone/>
            </a:pPr>
            <a:r>
              <a:rPr lang="en-US" sz="600" b="1" spc="100" kern="0" dirty="0">
                <a:solidFill>
                  <a:srgbClr val="6B6B6B"/>
                </a:solidFill>
                <a:latin typeface="Arial" pitchFamily="34" charset="0"/>
                <a:ea typeface="Arial" pitchFamily="34" charset="-122"/>
                <a:cs typeface="Arial" pitchFamily="34" charset="-120"/>
              </a:rPr>
              <a:t>INTERPRETATION</a:t>
            </a:r>
            <a:endParaRPr lang="en-US" sz="600" dirty="0"/>
          </a:p>
        </p:txBody>
      </p:sp>
      <p:sp>
        <p:nvSpPr>
          <p:cNvPr id="47" name="Shape 45"/>
          <p:cNvSpPr/>
          <p:nvPr/>
        </p:nvSpPr>
        <p:spPr>
          <a:xfrm>
            <a:off x="10122408" y="2372868"/>
            <a:ext cx="118872" cy="9144"/>
          </a:xfrm>
          <a:custGeom>
            <a:avLst/>
            <a:gdLst/>
            <a:ahLst/>
            <a:cxnLst/>
            <a:rect l="l" t="t" r="r" b="b"/>
            <a:pathLst>
              <a:path w="118872" h="9144">
                <a:moveTo>
                  <a:pt x="0" y="4572"/>
                </a:moveTo>
                <a:lnTo>
                  <a:pt x="118872" y="4572"/>
                </a:lnTo>
              </a:path>
            </a:pathLst>
          </a:custGeom>
          <a:ln w="12700">
            <a:solidFill>
              <a:srgbClr val="1B1B1B"/>
            </a:solidFill>
            <a:prstDash val="solid"/>
            <a:tailEnd type="triangle"/>
          </a:ln>
        </p:spPr>
      </p:sp>
      <p:sp>
        <p:nvSpPr>
          <p:cNvPr id="48" name="Shape 46"/>
          <p:cNvSpPr/>
          <p:nvPr/>
        </p:nvSpPr>
        <p:spPr>
          <a:xfrm>
            <a:off x="10222992" y="1417320"/>
            <a:ext cx="1325880" cy="1920240"/>
          </a:xfrm>
          <a:prstGeom prst="rect">
            <a:avLst/>
          </a:prstGeom>
          <a:solidFill>
            <a:srgbClr val="C4262E"/>
          </a:solidFill>
          <a:ln w="9525">
            <a:solidFill>
              <a:srgbClr val="C4262E"/>
            </a:solidFill>
            <a:prstDash val="solid"/>
          </a:ln>
        </p:spPr>
      </p:sp>
      <p:sp>
        <p:nvSpPr>
          <p:cNvPr id="49" name="Text 47"/>
          <p:cNvSpPr txBox="1"/>
          <p:nvPr/>
        </p:nvSpPr>
        <p:spPr>
          <a:xfrm>
            <a:off x="10314432" y="1508760"/>
            <a:ext cx="457200" cy="2743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08</a:t>
            </a:r>
            <a:endParaRPr lang="en-US" sz="1600" dirty="0"/>
          </a:p>
        </p:txBody>
      </p:sp>
      <p:sp>
        <p:nvSpPr>
          <p:cNvPr id="50" name="Text 48"/>
          <p:cNvSpPr txBox="1"/>
          <p:nvPr/>
        </p:nvSpPr>
        <p:spPr>
          <a:xfrm>
            <a:off x="10314432" y="1828800"/>
            <a:ext cx="1143000" cy="32004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CONCEPT</a:t>
            </a:r>
            <a:endParaRPr lang="en-US" sz="950" dirty="0"/>
          </a:p>
        </p:txBody>
      </p:sp>
      <p:sp>
        <p:nvSpPr>
          <p:cNvPr id="51" name="Text 49"/>
          <p:cNvSpPr txBox="1"/>
          <p:nvPr/>
        </p:nvSpPr>
        <p:spPr>
          <a:xfrm>
            <a:off x="10314432" y="2194560"/>
            <a:ext cx="1143000" cy="914400"/>
          </a:xfrm>
          <a:prstGeom prst="rect">
            <a:avLst/>
          </a:prstGeom>
          <a:noFill/>
          <a:ln/>
        </p:spPr>
        <p:txBody>
          <a:bodyPr wrap="square" lIns="0" tIns="0" rIns="0" bIns="0" rtlCol="0" anchor="t"/>
          <a:lstStyle/>
          <a:p>
            <a:pPr indent="0" marL="0">
              <a:buNone/>
            </a:pPr>
            <a:r>
              <a:rPr lang="en-US" sz="750" dirty="0">
                <a:solidFill>
                  <a:srgbClr val="FFFFFF"/>
                </a:solidFill>
                <a:latin typeface="Arial" pitchFamily="34" charset="0"/>
                <a:ea typeface="Arial" pitchFamily="34" charset="-122"/>
                <a:cs typeface="Arial" pitchFamily="34" charset="-120"/>
              </a:rPr>
              <a:t>Five directions tested; one developed — the choice stays mine.</a:t>
            </a:r>
            <a:endParaRPr lang="en-US" sz="750" dirty="0"/>
          </a:p>
        </p:txBody>
      </p:sp>
      <p:sp>
        <p:nvSpPr>
          <p:cNvPr id="52" name="Text 50"/>
          <p:cNvSpPr txBox="1"/>
          <p:nvPr/>
        </p:nvSpPr>
        <p:spPr>
          <a:xfrm>
            <a:off x="10314432" y="3108960"/>
            <a:ext cx="1143000" cy="164592"/>
          </a:xfrm>
          <a:prstGeom prst="rect">
            <a:avLst/>
          </a:prstGeom>
          <a:noFill/>
          <a:ln/>
        </p:spPr>
        <p:txBody>
          <a:bodyPr wrap="square" lIns="0" tIns="0" rIns="0" bIns="0" rtlCol="0" anchor="t"/>
          <a:lstStyle/>
          <a:p>
            <a:pPr indent="0" marL="0">
              <a:buNone/>
            </a:pPr>
            <a:r>
              <a:rPr lang="en-US" sz="600" b="1" spc="100" kern="0" dirty="0">
                <a:solidFill>
                  <a:srgbClr val="FFFFFF"/>
                </a:solidFill>
                <a:latin typeface="Arial" pitchFamily="34" charset="0"/>
                <a:ea typeface="Arial" pitchFamily="34" charset="-122"/>
                <a:cs typeface="Arial" pitchFamily="34" charset="-120"/>
              </a:rPr>
              <a:t>MY CONCEPT</a:t>
            </a:r>
            <a:endParaRPr lang="en-US" sz="600" dirty="0"/>
          </a:p>
        </p:txBody>
      </p:sp>
      <p:sp>
        <p:nvSpPr>
          <p:cNvPr id="53" name="Text 51"/>
          <p:cNvSpPr txBox="1"/>
          <p:nvPr/>
        </p:nvSpPr>
        <p:spPr>
          <a:xfrm>
            <a:off x="365760" y="3611880"/>
            <a:ext cx="5486400" cy="228600"/>
          </a:xfrm>
          <a:prstGeom prst="rect">
            <a:avLst/>
          </a:prstGeom>
          <a:noFill/>
          <a:ln/>
        </p:spPr>
        <p:txBody>
          <a:bodyPr wrap="square" lIns="0" tIns="0" rIns="0" bIns="0" rtlCol="0" anchor="t"/>
          <a:lstStyle/>
          <a:p>
            <a:pPr indent="0" marL="0">
              <a:buNone/>
            </a:pPr>
            <a:r>
              <a:rPr lang="en-US" sz="1100" b="1" spc="100" kern="0" dirty="0">
                <a:solidFill>
                  <a:srgbClr val="1B1B1B"/>
                </a:solidFill>
                <a:latin typeface="Arial" pitchFamily="34" charset="0"/>
                <a:ea typeface="Arial" pitchFamily="34" charset="-122"/>
                <a:cs typeface="Arial" pitchFamily="34" charset="-120"/>
              </a:rPr>
              <a:t>HOW I WILL DEFEND ANY CONCEPT</a:t>
            </a:r>
            <a:endParaRPr lang="en-US" sz="1100" dirty="0"/>
          </a:p>
        </p:txBody>
      </p:sp>
      <p:sp>
        <p:nvSpPr>
          <p:cNvPr id="54" name="Shape 52"/>
          <p:cNvSpPr/>
          <p:nvPr/>
        </p:nvSpPr>
        <p:spPr>
          <a:xfrm>
            <a:off x="365760" y="3931920"/>
            <a:ext cx="2148840" cy="731520"/>
          </a:xfrm>
          <a:prstGeom prst="rect">
            <a:avLst/>
          </a:prstGeom>
          <a:solidFill>
            <a:srgbClr val="FFFFFF"/>
          </a:solidFill>
          <a:ln w="9525">
            <a:solidFill>
              <a:srgbClr val="1B1B1B"/>
            </a:solidFill>
            <a:prstDash val="solid"/>
          </a:ln>
        </p:spPr>
      </p:sp>
      <p:sp>
        <p:nvSpPr>
          <p:cNvPr id="55" name="Text 53"/>
          <p:cNvSpPr txBox="1"/>
          <p:nvPr/>
        </p:nvSpPr>
        <p:spPr>
          <a:xfrm>
            <a:off x="457200" y="3986784"/>
            <a:ext cx="1965960" cy="640080"/>
          </a:xfrm>
          <a:prstGeom prst="rect">
            <a:avLst/>
          </a:prstGeom>
          <a:noFill/>
          <a:ln/>
        </p:spPr>
        <p:txBody>
          <a:bodyPr wrap="square" lIns="0" tIns="0" rIns="0" bIns="0" rtlCol="0" anchor="t"/>
          <a:lstStyle/>
          <a:p>
            <a:pPr indent="0" marL="0">
              <a:buNone/>
            </a:pPr>
            <a:r>
              <a:rPr lang="en-US" sz="800" b="1" dirty="0">
                <a:solidFill>
                  <a:srgbClr val="1B1B1B"/>
                </a:solidFill>
                <a:latin typeface="Arial" pitchFamily="34" charset="0"/>
                <a:ea typeface="Arial" pitchFamily="34" charset="-122"/>
                <a:cs typeface="Arial" pitchFamily="34" charset="-120"/>
              </a:rPr>
              <a:t>Because of this issue …</a:t>
            </a:r>
            <a:endParaRPr lang="en-US" sz="800" dirty="0"/>
          </a:p>
          <a:p>
            <a:pPr indent="0" marL="0">
              <a:buNone/>
            </a:pPr>
            <a:r>
              <a:rPr lang="en-US" sz="800" dirty="0">
                <a:solidFill>
                  <a:srgbClr val="6B6B6B"/>
                </a:solidFill>
                <a:latin typeface="Arial" pitchFamily="34" charset="0"/>
                <a:ea typeface="Arial" pitchFamily="34" charset="-122"/>
                <a:cs typeface="Arial" pitchFamily="34" charset="-120"/>
              </a:rPr>
              <a:t>who can reach, see and question knowledge</a:t>
            </a:r>
            <a:endParaRPr lang="en-US" sz="800" dirty="0"/>
          </a:p>
        </p:txBody>
      </p:sp>
      <p:sp>
        <p:nvSpPr>
          <p:cNvPr id="56" name="Shape 54"/>
          <p:cNvSpPr/>
          <p:nvPr/>
        </p:nvSpPr>
        <p:spPr>
          <a:xfrm>
            <a:off x="2514600" y="4293108"/>
            <a:ext cx="137160" cy="9144"/>
          </a:xfrm>
          <a:custGeom>
            <a:avLst/>
            <a:gdLst/>
            <a:ahLst/>
            <a:cxnLst/>
            <a:rect l="l" t="t" r="r" b="b"/>
            <a:pathLst>
              <a:path w="137160" h="9144">
                <a:moveTo>
                  <a:pt x="0" y="4572"/>
                </a:moveTo>
                <a:lnTo>
                  <a:pt x="137160" y="4572"/>
                </a:lnTo>
              </a:path>
            </a:pathLst>
          </a:custGeom>
          <a:ln w="12700">
            <a:solidFill>
              <a:srgbClr val="C4262E"/>
            </a:solidFill>
            <a:prstDash val="solid"/>
            <a:tailEnd type="triangle"/>
          </a:ln>
        </p:spPr>
      </p:sp>
      <p:sp>
        <p:nvSpPr>
          <p:cNvPr id="57" name="Shape 55"/>
          <p:cNvSpPr/>
          <p:nvPr/>
        </p:nvSpPr>
        <p:spPr>
          <a:xfrm>
            <a:off x="2651760" y="3931920"/>
            <a:ext cx="2148840" cy="731520"/>
          </a:xfrm>
          <a:prstGeom prst="rect">
            <a:avLst/>
          </a:prstGeom>
          <a:solidFill>
            <a:srgbClr val="FFFFFF"/>
          </a:solidFill>
          <a:ln w="9525">
            <a:solidFill>
              <a:srgbClr val="1B1B1B"/>
            </a:solidFill>
            <a:prstDash val="solid"/>
          </a:ln>
        </p:spPr>
      </p:sp>
      <p:sp>
        <p:nvSpPr>
          <p:cNvPr id="58" name="Text 56"/>
          <p:cNvSpPr txBox="1"/>
          <p:nvPr/>
        </p:nvSpPr>
        <p:spPr>
          <a:xfrm>
            <a:off x="2743200" y="3986784"/>
            <a:ext cx="1965960" cy="640080"/>
          </a:xfrm>
          <a:prstGeom prst="rect">
            <a:avLst/>
          </a:prstGeom>
          <a:noFill/>
          <a:ln/>
        </p:spPr>
        <p:txBody>
          <a:bodyPr wrap="square" lIns="0" tIns="0" rIns="0" bIns="0" rtlCol="0" anchor="t"/>
          <a:lstStyle/>
          <a:p>
            <a:pPr indent="0" marL="0">
              <a:buNone/>
            </a:pPr>
            <a:r>
              <a:rPr lang="en-US" sz="800" b="1" dirty="0">
                <a:solidFill>
                  <a:srgbClr val="1B1B1B"/>
                </a:solidFill>
                <a:latin typeface="Arial" pitchFamily="34" charset="0"/>
                <a:ea typeface="Arial" pitchFamily="34" charset="-122"/>
                <a:cs typeface="Arial" pitchFamily="34" charset="-120"/>
              </a:rPr>
              <a:t>I identified this condition …</a:t>
            </a:r>
            <a:endParaRPr lang="en-US" sz="800" dirty="0"/>
          </a:p>
          <a:p>
            <a:pPr indent="0" marL="0">
              <a:buNone/>
            </a:pPr>
            <a:r>
              <a:rPr lang="en-US" sz="800" dirty="0">
                <a:solidFill>
                  <a:srgbClr val="6B6B6B"/>
                </a:solidFill>
                <a:latin typeface="Arial" pitchFamily="34" charset="0"/>
                <a:ea typeface="Arial" pitchFamily="34" charset="-122"/>
                <a:cs typeface="Arial" pitchFamily="34" charset="-120"/>
              </a:rPr>
              <a:t>a contoured public landmark with a protest edge</a:t>
            </a:r>
            <a:endParaRPr lang="en-US" sz="800" dirty="0"/>
          </a:p>
        </p:txBody>
      </p:sp>
      <p:sp>
        <p:nvSpPr>
          <p:cNvPr id="59" name="Shape 57"/>
          <p:cNvSpPr/>
          <p:nvPr/>
        </p:nvSpPr>
        <p:spPr>
          <a:xfrm>
            <a:off x="4800600" y="4293108"/>
            <a:ext cx="137160" cy="9144"/>
          </a:xfrm>
          <a:custGeom>
            <a:avLst/>
            <a:gdLst/>
            <a:ahLst/>
            <a:cxnLst/>
            <a:rect l="l" t="t" r="r" b="b"/>
            <a:pathLst>
              <a:path w="137160" h="9144">
                <a:moveTo>
                  <a:pt x="0" y="4572"/>
                </a:moveTo>
                <a:lnTo>
                  <a:pt x="137160" y="4572"/>
                </a:lnTo>
              </a:path>
            </a:pathLst>
          </a:custGeom>
          <a:ln w="12700">
            <a:solidFill>
              <a:srgbClr val="C4262E"/>
            </a:solidFill>
            <a:prstDash val="solid"/>
            <a:tailEnd type="triangle"/>
          </a:ln>
        </p:spPr>
      </p:sp>
      <p:sp>
        <p:nvSpPr>
          <p:cNvPr id="60" name="Shape 58"/>
          <p:cNvSpPr/>
          <p:nvPr/>
        </p:nvSpPr>
        <p:spPr>
          <a:xfrm>
            <a:off x="4937760" y="3931920"/>
            <a:ext cx="2148840" cy="731520"/>
          </a:xfrm>
          <a:prstGeom prst="rect">
            <a:avLst/>
          </a:prstGeom>
          <a:solidFill>
            <a:srgbClr val="FFFFFF"/>
          </a:solidFill>
          <a:ln w="9525">
            <a:solidFill>
              <a:srgbClr val="1B1B1B"/>
            </a:solidFill>
            <a:prstDash val="solid"/>
          </a:ln>
        </p:spPr>
      </p:sp>
      <p:sp>
        <p:nvSpPr>
          <p:cNvPr id="61" name="Text 59"/>
          <p:cNvSpPr txBox="1"/>
          <p:nvPr/>
        </p:nvSpPr>
        <p:spPr>
          <a:xfrm>
            <a:off x="5029200" y="3986784"/>
            <a:ext cx="1965960" cy="640080"/>
          </a:xfrm>
          <a:prstGeom prst="rect">
            <a:avLst/>
          </a:prstGeom>
          <a:noFill/>
          <a:ln/>
        </p:spPr>
        <p:txBody>
          <a:bodyPr wrap="square" lIns="0" tIns="0" rIns="0" bIns="0" rtlCol="0" anchor="t"/>
          <a:lstStyle/>
          <a:p>
            <a:pPr indent="0" marL="0">
              <a:buNone/>
            </a:pPr>
            <a:r>
              <a:rPr lang="en-US" sz="800" b="1" dirty="0">
                <a:solidFill>
                  <a:srgbClr val="1B1B1B"/>
                </a:solidFill>
                <a:latin typeface="Arial" pitchFamily="34" charset="0"/>
                <a:ea typeface="Arial" pitchFamily="34" charset="-122"/>
                <a:cs typeface="Arial" pitchFamily="34" charset="-120"/>
              </a:rPr>
              <a:t>which led to this spatial strategy …</a:t>
            </a:r>
            <a:endParaRPr lang="en-US" sz="800" dirty="0"/>
          </a:p>
          <a:p>
            <a:pPr indent="0" marL="0">
              <a:buNone/>
            </a:pPr>
            <a:r>
              <a:rPr lang="en-US" sz="800" dirty="0">
                <a:solidFill>
                  <a:srgbClr val="6B6B6B"/>
                </a:solidFill>
                <a:latin typeface="Arial" pitchFamily="34" charset="0"/>
                <a:ea typeface="Arial" pitchFamily="34" charset="-122"/>
                <a:cs typeface="Arial" pitchFamily="34" charset="-120"/>
              </a:rPr>
              <a:t>how public and working space meet</a:t>
            </a:r>
            <a:endParaRPr lang="en-US" sz="800" dirty="0"/>
          </a:p>
        </p:txBody>
      </p:sp>
      <p:sp>
        <p:nvSpPr>
          <p:cNvPr id="62" name="Shape 60"/>
          <p:cNvSpPr/>
          <p:nvPr/>
        </p:nvSpPr>
        <p:spPr>
          <a:xfrm>
            <a:off x="7086600" y="4293108"/>
            <a:ext cx="137160" cy="9144"/>
          </a:xfrm>
          <a:custGeom>
            <a:avLst/>
            <a:gdLst/>
            <a:ahLst/>
            <a:cxnLst/>
            <a:rect l="l" t="t" r="r" b="b"/>
            <a:pathLst>
              <a:path w="137160" h="9144">
                <a:moveTo>
                  <a:pt x="0" y="4572"/>
                </a:moveTo>
                <a:lnTo>
                  <a:pt x="137160" y="4572"/>
                </a:lnTo>
              </a:path>
            </a:pathLst>
          </a:custGeom>
          <a:ln w="12700">
            <a:solidFill>
              <a:srgbClr val="C4262E"/>
            </a:solidFill>
            <a:prstDash val="solid"/>
            <a:tailEnd type="triangle"/>
          </a:ln>
        </p:spPr>
      </p:sp>
      <p:sp>
        <p:nvSpPr>
          <p:cNvPr id="63" name="Shape 61"/>
          <p:cNvSpPr/>
          <p:nvPr/>
        </p:nvSpPr>
        <p:spPr>
          <a:xfrm>
            <a:off x="7223760" y="3931920"/>
            <a:ext cx="2148840" cy="731520"/>
          </a:xfrm>
          <a:prstGeom prst="rect">
            <a:avLst/>
          </a:prstGeom>
          <a:solidFill>
            <a:srgbClr val="FFFFFF"/>
          </a:solidFill>
          <a:ln w="9525">
            <a:solidFill>
              <a:srgbClr val="1B1B1B"/>
            </a:solidFill>
            <a:prstDash val="solid"/>
          </a:ln>
        </p:spPr>
      </p:sp>
      <p:sp>
        <p:nvSpPr>
          <p:cNvPr id="64" name="Text 62"/>
          <p:cNvSpPr txBox="1"/>
          <p:nvPr/>
        </p:nvSpPr>
        <p:spPr>
          <a:xfrm>
            <a:off x="7315200" y="3986784"/>
            <a:ext cx="1965960" cy="640080"/>
          </a:xfrm>
          <a:prstGeom prst="rect">
            <a:avLst/>
          </a:prstGeom>
          <a:noFill/>
          <a:ln/>
        </p:spPr>
        <p:txBody>
          <a:bodyPr wrap="square" lIns="0" tIns="0" rIns="0" bIns="0" rtlCol="0" anchor="t"/>
          <a:lstStyle/>
          <a:p>
            <a:pPr indent="0" marL="0">
              <a:buNone/>
            </a:pPr>
            <a:r>
              <a:rPr lang="en-US" sz="800" b="1" dirty="0">
                <a:solidFill>
                  <a:srgbClr val="1B1B1B"/>
                </a:solidFill>
                <a:latin typeface="Arial" pitchFamily="34" charset="0"/>
                <a:ea typeface="Arial" pitchFamily="34" charset="-122"/>
                <a:cs typeface="Arial" pitchFamily="34" charset="-120"/>
              </a:rPr>
              <a:t>which led to this program relationship …</a:t>
            </a:r>
            <a:endParaRPr lang="en-US" sz="800" dirty="0"/>
          </a:p>
          <a:p>
            <a:pPr indent="0" marL="0">
              <a:buNone/>
            </a:pPr>
            <a:r>
              <a:rPr lang="en-US" sz="800" dirty="0">
                <a:solidFill>
                  <a:srgbClr val="6B6B6B"/>
                </a:solidFill>
                <a:latin typeface="Arial" pitchFamily="34" charset="0"/>
                <a:ea typeface="Arial" pitchFamily="34" charset="-122"/>
                <a:cs typeface="Arial" pitchFamily="34" charset="-120"/>
              </a:rPr>
              <a:t>what sits next to what, and who passes whom</a:t>
            </a:r>
            <a:endParaRPr lang="en-US" sz="800" dirty="0"/>
          </a:p>
        </p:txBody>
      </p:sp>
      <p:sp>
        <p:nvSpPr>
          <p:cNvPr id="65" name="Shape 63"/>
          <p:cNvSpPr/>
          <p:nvPr/>
        </p:nvSpPr>
        <p:spPr>
          <a:xfrm>
            <a:off x="9372600" y="4293108"/>
            <a:ext cx="137160" cy="9144"/>
          </a:xfrm>
          <a:custGeom>
            <a:avLst/>
            <a:gdLst/>
            <a:ahLst/>
            <a:cxnLst/>
            <a:rect l="l" t="t" r="r" b="b"/>
            <a:pathLst>
              <a:path w="137160" h="9144">
                <a:moveTo>
                  <a:pt x="0" y="4572"/>
                </a:moveTo>
                <a:lnTo>
                  <a:pt x="137160" y="4572"/>
                </a:lnTo>
              </a:path>
            </a:pathLst>
          </a:custGeom>
          <a:ln w="12700">
            <a:solidFill>
              <a:srgbClr val="C4262E"/>
            </a:solidFill>
            <a:prstDash val="solid"/>
            <a:tailEnd type="triangle"/>
          </a:ln>
        </p:spPr>
      </p:sp>
      <p:sp>
        <p:nvSpPr>
          <p:cNvPr id="66" name="Shape 64"/>
          <p:cNvSpPr/>
          <p:nvPr/>
        </p:nvSpPr>
        <p:spPr>
          <a:xfrm>
            <a:off x="9509760" y="3931920"/>
            <a:ext cx="2148840" cy="731520"/>
          </a:xfrm>
          <a:prstGeom prst="rect">
            <a:avLst/>
          </a:prstGeom>
          <a:solidFill>
            <a:srgbClr val="FFFFFF"/>
          </a:solidFill>
          <a:ln w="9525">
            <a:solidFill>
              <a:srgbClr val="1B1B1B"/>
            </a:solidFill>
            <a:prstDash val="solid"/>
          </a:ln>
        </p:spPr>
      </p:sp>
      <p:sp>
        <p:nvSpPr>
          <p:cNvPr id="67" name="Text 65"/>
          <p:cNvSpPr txBox="1"/>
          <p:nvPr/>
        </p:nvSpPr>
        <p:spPr>
          <a:xfrm>
            <a:off x="9601200" y="3986784"/>
            <a:ext cx="1965960" cy="640080"/>
          </a:xfrm>
          <a:prstGeom prst="rect">
            <a:avLst/>
          </a:prstGeom>
          <a:noFill/>
          <a:ln/>
        </p:spPr>
        <p:txBody>
          <a:bodyPr wrap="square" lIns="0" tIns="0" rIns="0" bIns="0" rtlCol="0" anchor="t"/>
          <a:lstStyle/>
          <a:p>
            <a:pPr indent="0" marL="0">
              <a:buNone/>
            </a:pPr>
            <a:r>
              <a:rPr lang="en-US" sz="800" b="1" dirty="0">
                <a:solidFill>
                  <a:srgbClr val="1B1B1B"/>
                </a:solidFill>
                <a:latin typeface="Arial" pitchFamily="34" charset="0"/>
                <a:ea typeface="Arial" pitchFamily="34" charset="-122"/>
                <a:cs typeface="Arial" pitchFamily="34" charset="-120"/>
              </a:rPr>
              <a:t>which generated this form.</a:t>
            </a:r>
            <a:endParaRPr lang="en-US" sz="800" dirty="0"/>
          </a:p>
          <a:p>
            <a:pPr indent="0" marL="0">
              <a:buNone/>
            </a:pPr>
            <a:r>
              <a:rPr lang="en-US" sz="800" dirty="0">
                <a:solidFill>
                  <a:srgbClr val="6B6B6B"/>
                </a:solidFill>
                <a:latin typeface="Arial" pitchFamily="34" charset="0"/>
                <a:ea typeface="Arial" pitchFamily="34" charset="-122"/>
                <a:cs typeface="Arial" pitchFamily="34" charset="-120"/>
              </a:rPr>
              <a:t>massing, section, route, thresholds</a:t>
            </a:r>
            <a:endParaRPr lang="en-US" sz="800" dirty="0"/>
          </a:p>
        </p:txBody>
      </p:sp>
      <p:sp>
        <p:nvSpPr>
          <p:cNvPr id="68" name="Text 66"/>
          <p:cNvSpPr txBox="1"/>
          <p:nvPr/>
        </p:nvSpPr>
        <p:spPr>
          <a:xfrm>
            <a:off x="365760" y="4983480"/>
            <a:ext cx="4572000" cy="201168"/>
          </a:xfrm>
          <a:prstGeom prst="rect">
            <a:avLst/>
          </a:prstGeom>
          <a:noFill/>
          <a:ln/>
        </p:spPr>
        <p:txBody>
          <a:bodyPr wrap="square" lIns="0" tIns="0" rIns="0" bIns="0" rtlCol="0" anchor="t"/>
          <a:lstStyle/>
          <a:p>
            <a:pPr indent="0" marL="0">
              <a:buNone/>
            </a:pPr>
            <a:r>
              <a:rPr lang="en-US" sz="900" b="1" spc="100" kern="0" dirty="0">
                <a:solidFill>
                  <a:srgbClr val="1B1B1B"/>
                </a:solidFill>
                <a:latin typeface="Arial" pitchFamily="34" charset="0"/>
                <a:ea typeface="Arial" pitchFamily="34" charset="-122"/>
                <a:cs typeface="Arial" pitchFamily="34" charset="-120"/>
              </a:rPr>
              <a:t>SOURCE TAGS USED ON EVERY SLIDE</a:t>
            </a:r>
            <a:endParaRPr lang="en-US" sz="900" dirty="0"/>
          </a:p>
        </p:txBody>
      </p:sp>
      <p:sp>
        <p:nvSpPr>
          <p:cNvPr id="69" name="Shape 67"/>
          <p:cNvSpPr/>
          <p:nvPr/>
        </p:nvSpPr>
        <p:spPr>
          <a:xfrm>
            <a:off x="365760" y="5257800"/>
            <a:ext cx="1554480" cy="182880"/>
          </a:xfrm>
          <a:prstGeom prst="roundRect">
            <a:avLst>
              <a:gd name="adj" fmla="val 20000"/>
            </a:avLst>
          </a:prstGeom>
          <a:solidFill>
            <a:srgbClr val="1B1B1B"/>
          </a:solidFill>
          <a:ln w="9525">
            <a:solidFill>
              <a:srgbClr val="1B1B1B"/>
            </a:solidFill>
            <a:prstDash val="solid"/>
          </a:ln>
        </p:spPr>
      </p:sp>
      <p:sp>
        <p:nvSpPr>
          <p:cNvPr id="70" name="Text 68"/>
          <p:cNvSpPr txBox="1"/>
          <p:nvPr/>
        </p:nvSpPr>
        <p:spPr>
          <a:xfrm>
            <a:off x="365760" y="5257800"/>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HANDOUT</a:t>
            </a:r>
            <a:endParaRPr lang="en-US" sz="650" dirty="0"/>
          </a:p>
        </p:txBody>
      </p:sp>
      <p:sp>
        <p:nvSpPr>
          <p:cNvPr id="71" name="Text 69"/>
          <p:cNvSpPr txBox="1"/>
          <p:nvPr/>
        </p:nvSpPr>
        <p:spPr>
          <a:xfrm>
            <a:off x="2011680" y="5257800"/>
            <a:ext cx="2011680" cy="182880"/>
          </a:xfrm>
          <a:prstGeom prst="rect">
            <a:avLst/>
          </a:prstGeom>
          <a:noFill/>
          <a:ln/>
        </p:spPr>
        <p:txBody>
          <a:bodyPr wrap="square" lIns="0" tIns="0" rIns="0" bIns="0" rtlCol="0" anchor="ctr"/>
          <a:lstStyle/>
          <a:p>
            <a:pPr indent="0" marL="0">
              <a:buNone/>
            </a:pPr>
            <a:r>
              <a:rPr lang="en-US" sz="750" dirty="0">
                <a:solidFill>
                  <a:srgbClr val="6B6B6B"/>
                </a:solidFill>
                <a:latin typeface="Arial" pitchFamily="34" charset="0"/>
                <a:ea typeface="Arial" pitchFamily="34" charset="-122"/>
                <a:cs typeface="Arial" pitchFamily="34" charset="-120"/>
              </a:rPr>
              <a:t>stated in the handout</a:t>
            </a:r>
            <a:endParaRPr lang="en-US" sz="750" dirty="0"/>
          </a:p>
        </p:txBody>
      </p:sp>
      <p:sp>
        <p:nvSpPr>
          <p:cNvPr id="72" name="Shape 70"/>
          <p:cNvSpPr/>
          <p:nvPr/>
        </p:nvSpPr>
        <p:spPr>
          <a:xfrm>
            <a:off x="365760" y="5532120"/>
            <a:ext cx="1554480" cy="182880"/>
          </a:xfrm>
          <a:prstGeom prst="roundRect">
            <a:avLst>
              <a:gd name="adj" fmla="val 20000"/>
            </a:avLst>
          </a:prstGeom>
          <a:solidFill>
            <a:srgbClr val="FFFFFF"/>
          </a:solidFill>
          <a:ln w="9525">
            <a:solidFill>
              <a:srgbClr val="1B1B1B"/>
            </a:solidFill>
            <a:prstDash val="solid"/>
          </a:ln>
        </p:spPr>
      </p:sp>
      <p:sp>
        <p:nvSpPr>
          <p:cNvPr id="73" name="Text 71"/>
          <p:cNvSpPr txBox="1"/>
          <p:nvPr/>
        </p:nvSpPr>
        <p:spPr>
          <a:xfrm>
            <a:off x="365760" y="5532120"/>
            <a:ext cx="1554480" cy="182880"/>
          </a:xfrm>
          <a:prstGeom prst="rect">
            <a:avLst/>
          </a:prstGeom>
          <a:noFill/>
          <a:ln/>
        </p:spPr>
        <p:txBody>
          <a:bodyPr wrap="square" lIns="0" tIns="0" rIns="0" bIns="0" rtlCol="0" anchor="ctr"/>
          <a:lstStyle/>
          <a:p>
            <a:pPr algn="ctr" indent="0" marL="0">
              <a:buNone/>
            </a:pPr>
            <a:r>
              <a:rPr lang="en-US" sz="650" b="1" spc="100" kern="0" dirty="0">
                <a:solidFill>
                  <a:srgbClr val="1B1B1B"/>
                </a:solidFill>
                <a:latin typeface="Arial" pitchFamily="34" charset="0"/>
                <a:ea typeface="Arial" pitchFamily="34" charset="-122"/>
                <a:cs typeface="Arial" pitchFamily="34" charset="-120"/>
              </a:rPr>
              <a:t>INTERPRETATION</a:t>
            </a:r>
            <a:endParaRPr lang="en-US" sz="650" dirty="0"/>
          </a:p>
        </p:txBody>
      </p:sp>
      <p:sp>
        <p:nvSpPr>
          <p:cNvPr id="74" name="Text 72"/>
          <p:cNvSpPr txBox="1"/>
          <p:nvPr/>
        </p:nvSpPr>
        <p:spPr>
          <a:xfrm>
            <a:off x="2011680" y="5532120"/>
            <a:ext cx="2011680" cy="182880"/>
          </a:xfrm>
          <a:prstGeom prst="rect">
            <a:avLst/>
          </a:prstGeom>
          <a:noFill/>
          <a:ln/>
        </p:spPr>
        <p:txBody>
          <a:bodyPr wrap="square" lIns="0" tIns="0" rIns="0" bIns="0" rtlCol="0" anchor="ctr"/>
          <a:lstStyle/>
          <a:p>
            <a:pPr indent="0" marL="0">
              <a:buNone/>
            </a:pPr>
            <a:r>
              <a:rPr lang="en-US" sz="750" dirty="0">
                <a:solidFill>
                  <a:srgbClr val="6B6B6B"/>
                </a:solidFill>
                <a:latin typeface="Arial" pitchFamily="34" charset="0"/>
                <a:ea typeface="Arial" pitchFamily="34" charset="-122"/>
                <a:cs typeface="Arial" pitchFamily="34" charset="-120"/>
              </a:rPr>
              <a:t>my reading of the handout</a:t>
            </a:r>
            <a:endParaRPr lang="en-US" sz="750" dirty="0"/>
          </a:p>
        </p:txBody>
      </p:sp>
      <p:sp>
        <p:nvSpPr>
          <p:cNvPr id="75" name="Shape 73"/>
          <p:cNvSpPr/>
          <p:nvPr/>
        </p:nvSpPr>
        <p:spPr>
          <a:xfrm>
            <a:off x="365760" y="5806440"/>
            <a:ext cx="1554480" cy="182880"/>
          </a:xfrm>
          <a:prstGeom prst="roundRect">
            <a:avLst>
              <a:gd name="adj" fmla="val 20000"/>
            </a:avLst>
          </a:prstGeom>
          <a:solidFill>
            <a:srgbClr val="C4262E"/>
          </a:solidFill>
          <a:ln w="9525">
            <a:solidFill>
              <a:srgbClr val="C4262E"/>
            </a:solidFill>
            <a:prstDash val="solid"/>
          </a:ln>
        </p:spPr>
      </p:sp>
      <p:sp>
        <p:nvSpPr>
          <p:cNvPr id="76" name="Text 74"/>
          <p:cNvSpPr txBox="1"/>
          <p:nvPr/>
        </p:nvSpPr>
        <p:spPr>
          <a:xfrm>
            <a:off x="365760" y="5806440"/>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sp>
        <p:nvSpPr>
          <p:cNvPr id="77" name="Text 75"/>
          <p:cNvSpPr txBox="1"/>
          <p:nvPr/>
        </p:nvSpPr>
        <p:spPr>
          <a:xfrm>
            <a:off x="2011680" y="5806440"/>
            <a:ext cx="2011680" cy="182880"/>
          </a:xfrm>
          <a:prstGeom prst="rect">
            <a:avLst/>
          </a:prstGeom>
          <a:noFill/>
          <a:ln/>
        </p:spPr>
        <p:txBody>
          <a:bodyPr wrap="square" lIns="0" tIns="0" rIns="0" bIns="0" rtlCol="0" anchor="ctr"/>
          <a:lstStyle/>
          <a:p>
            <a:pPr indent="0" marL="0">
              <a:buNone/>
            </a:pPr>
            <a:r>
              <a:rPr lang="en-US" sz="750" dirty="0">
                <a:solidFill>
                  <a:srgbClr val="6B6B6B"/>
                </a:solidFill>
                <a:latin typeface="Arial" pitchFamily="34" charset="0"/>
                <a:ea typeface="Arial" pitchFamily="34" charset="-122"/>
                <a:cs typeface="Arial" pitchFamily="34" charset="-120"/>
              </a:rPr>
              <a:t>my proposed design move</a:t>
            </a:r>
            <a:endParaRPr lang="en-US" sz="750" dirty="0"/>
          </a:p>
        </p:txBody>
      </p:sp>
      <p:sp>
        <p:nvSpPr>
          <p:cNvPr id="78" name="Text 76"/>
          <p:cNvSpPr txBox="1"/>
          <p:nvPr/>
        </p:nvSpPr>
        <p:spPr>
          <a:xfrm>
            <a:off x="4572000" y="4983480"/>
            <a:ext cx="4572000" cy="201168"/>
          </a:xfrm>
          <a:prstGeom prst="rect">
            <a:avLst/>
          </a:prstGeom>
          <a:noFill/>
          <a:ln/>
        </p:spPr>
        <p:txBody>
          <a:bodyPr wrap="square" lIns="0" tIns="0" rIns="0" bIns="0" rtlCol="0" anchor="t"/>
          <a:lstStyle/>
          <a:p>
            <a:pPr indent="0" marL="0">
              <a:buNone/>
            </a:pPr>
            <a:r>
              <a:rPr lang="en-US" sz="900" b="1" spc="100" kern="0" dirty="0">
                <a:solidFill>
                  <a:srgbClr val="1B1B1B"/>
                </a:solidFill>
                <a:latin typeface="Arial" pitchFamily="34" charset="0"/>
                <a:ea typeface="Arial" pitchFamily="34" charset="-122"/>
                <a:cs typeface="Arial" pitchFamily="34" charset="-120"/>
              </a:rPr>
              <a:t>DIAGRAM LANGUAGE</a:t>
            </a:r>
            <a:endParaRPr lang="en-US" sz="900" dirty="0"/>
          </a:p>
        </p:txBody>
      </p:sp>
      <p:sp>
        <p:nvSpPr>
          <p:cNvPr id="79" name="Shape 77"/>
          <p:cNvSpPr/>
          <p:nvPr/>
        </p:nvSpPr>
        <p:spPr>
          <a:xfrm>
            <a:off x="4572000" y="5303520"/>
            <a:ext cx="146304" cy="109728"/>
          </a:xfrm>
          <a:prstGeom prst="rect">
            <a:avLst/>
          </a:prstGeom>
          <a:solidFill>
            <a:srgbClr val="C4262E"/>
          </a:solidFill>
          <a:ln/>
        </p:spPr>
      </p:sp>
      <p:sp>
        <p:nvSpPr>
          <p:cNvPr id="80" name="Text 78"/>
          <p:cNvSpPr txBox="1"/>
          <p:nvPr/>
        </p:nvSpPr>
        <p:spPr>
          <a:xfrm>
            <a:off x="4818888" y="5285232"/>
            <a:ext cx="33832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a:t>
            </a:r>
            <a:endParaRPr lang="en-US" sz="650" dirty="0"/>
          </a:p>
        </p:txBody>
      </p:sp>
      <p:sp>
        <p:nvSpPr>
          <p:cNvPr id="81" name="Shape 79"/>
          <p:cNvSpPr/>
          <p:nvPr/>
        </p:nvSpPr>
        <p:spPr>
          <a:xfrm>
            <a:off x="5230368" y="5303520"/>
            <a:ext cx="146304" cy="109728"/>
          </a:xfrm>
          <a:prstGeom prst="rect">
            <a:avLst/>
          </a:prstGeom>
          <a:solidFill>
            <a:srgbClr val="F0B9BC"/>
          </a:solidFill>
          <a:ln/>
        </p:spPr>
      </p:sp>
      <p:sp>
        <p:nvSpPr>
          <p:cNvPr id="82" name="Text 80"/>
          <p:cNvSpPr txBox="1"/>
          <p:nvPr/>
        </p:nvSpPr>
        <p:spPr>
          <a:xfrm>
            <a:off x="5477256" y="5285232"/>
            <a:ext cx="54406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semi-public</a:t>
            </a:r>
            <a:endParaRPr lang="en-US" sz="650" dirty="0"/>
          </a:p>
        </p:txBody>
      </p:sp>
      <p:sp>
        <p:nvSpPr>
          <p:cNvPr id="83" name="Shape 81"/>
          <p:cNvSpPr/>
          <p:nvPr/>
        </p:nvSpPr>
        <p:spPr>
          <a:xfrm>
            <a:off x="6094476" y="5303520"/>
            <a:ext cx="146304" cy="109728"/>
          </a:xfrm>
          <a:prstGeom prst="rect">
            <a:avLst/>
          </a:prstGeom>
          <a:solidFill>
            <a:srgbClr val="9A9A9A"/>
          </a:solidFill>
          <a:ln/>
        </p:spPr>
      </p:sp>
      <p:sp>
        <p:nvSpPr>
          <p:cNvPr id="84" name="Text 82"/>
          <p:cNvSpPr txBox="1"/>
          <p:nvPr/>
        </p:nvSpPr>
        <p:spPr>
          <a:xfrm>
            <a:off x="6341364" y="5285232"/>
            <a:ext cx="379476"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a:t>
            </a:r>
            <a:endParaRPr lang="en-US" sz="650" dirty="0"/>
          </a:p>
        </p:txBody>
      </p:sp>
      <p:sp>
        <p:nvSpPr>
          <p:cNvPr id="85" name="Shape 83"/>
          <p:cNvSpPr/>
          <p:nvPr/>
        </p:nvSpPr>
        <p:spPr>
          <a:xfrm>
            <a:off x="6793992" y="5303520"/>
            <a:ext cx="146304" cy="109728"/>
          </a:xfrm>
          <a:prstGeom prst="rect">
            <a:avLst/>
          </a:prstGeom>
          <a:solidFill>
            <a:srgbClr val="1B1B1B"/>
          </a:solidFill>
          <a:ln/>
        </p:spPr>
      </p:sp>
      <p:sp>
        <p:nvSpPr>
          <p:cNvPr id="86" name="Text 84"/>
          <p:cNvSpPr txBox="1"/>
          <p:nvPr/>
        </p:nvSpPr>
        <p:spPr>
          <a:xfrm>
            <a:off x="7040880" y="5285232"/>
            <a:ext cx="46177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protected</a:t>
            </a:r>
            <a:endParaRPr lang="en-US" sz="650" dirty="0"/>
          </a:p>
        </p:txBody>
      </p:sp>
      <p:sp>
        <p:nvSpPr>
          <p:cNvPr id="87" name="Shape 85"/>
          <p:cNvSpPr/>
          <p:nvPr/>
        </p:nvSpPr>
        <p:spPr>
          <a:xfrm>
            <a:off x="7575804" y="5353812"/>
            <a:ext cx="201168" cy="9144"/>
          </a:xfrm>
          <a:custGeom>
            <a:avLst/>
            <a:gdLst/>
            <a:ahLst/>
            <a:cxnLst/>
            <a:rect l="l" t="t" r="r" b="b"/>
            <a:pathLst>
              <a:path w="201168" h="9144">
                <a:moveTo>
                  <a:pt x="0" y="4572"/>
                </a:moveTo>
                <a:lnTo>
                  <a:pt x="201168" y="4572"/>
                </a:lnTo>
              </a:path>
            </a:pathLst>
          </a:custGeom>
          <a:ln w="25400">
            <a:solidFill>
              <a:srgbClr val="C4262E"/>
            </a:solidFill>
            <a:prstDash val="solid"/>
          </a:ln>
        </p:spPr>
      </p:sp>
      <p:sp>
        <p:nvSpPr>
          <p:cNvPr id="88" name="Text 86"/>
          <p:cNvSpPr txBox="1"/>
          <p:nvPr/>
        </p:nvSpPr>
        <p:spPr>
          <a:xfrm>
            <a:off x="7822692" y="5285232"/>
            <a:ext cx="708660"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 movement</a:t>
            </a:r>
            <a:endParaRPr lang="en-US" sz="650" dirty="0"/>
          </a:p>
        </p:txBody>
      </p:sp>
      <p:sp>
        <p:nvSpPr>
          <p:cNvPr id="89" name="Shape 87"/>
          <p:cNvSpPr/>
          <p:nvPr/>
        </p:nvSpPr>
        <p:spPr>
          <a:xfrm>
            <a:off x="8604504" y="5353812"/>
            <a:ext cx="201168" cy="9144"/>
          </a:xfrm>
          <a:custGeom>
            <a:avLst/>
            <a:gdLst/>
            <a:ahLst/>
            <a:cxnLst/>
            <a:rect l="l" t="t" r="r" b="b"/>
            <a:pathLst>
              <a:path w="201168" h="9144">
                <a:moveTo>
                  <a:pt x="0" y="4572"/>
                </a:moveTo>
                <a:lnTo>
                  <a:pt x="201168" y="4572"/>
                </a:lnTo>
              </a:path>
            </a:pathLst>
          </a:custGeom>
          <a:ln w="25400">
            <a:solidFill>
              <a:srgbClr val="1B1B1B"/>
            </a:solidFill>
            <a:prstDash val="solid"/>
          </a:ln>
        </p:spPr>
      </p:sp>
      <p:sp>
        <p:nvSpPr>
          <p:cNvPr id="90" name="Text 88"/>
          <p:cNvSpPr txBox="1"/>
          <p:nvPr/>
        </p:nvSpPr>
        <p:spPr>
          <a:xfrm>
            <a:off x="8851392" y="5285232"/>
            <a:ext cx="74980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 movement</a:t>
            </a:r>
            <a:endParaRPr lang="en-US" sz="650" dirty="0"/>
          </a:p>
        </p:txBody>
      </p:sp>
      <p:sp>
        <p:nvSpPr>
          <p:cNvPr id="91" name="Shape 89"/>
          <p:cNvSpPr/>
          <p:nvPr/>
        </p:nvSpPr>
        <p:spPr>
          <a:xfrm>
            <a:off x="9674352" y="5353812"/>
            <a:ext cx="201168" cy="9144"/>
          </a:xfrm>
          <a:custGeom>
            <a:avLst/>
            <a:gdLst/>
            <a:ahLst/>
            <a:cxnLst/>
            <a:rect l="l" t="t" r="r" b="b"/>
            <a:pathLst>
              <a:path w="201168" h="9144">
                <a:moveTo>
                  <a:pt x="0" y="4572"/>
                </a:moveTo>
                <a:lnTo>
                  <a:pt x="201168" y="4572"/>
                </a:lnTo>
              </a:path>
            </a:pathLst>
          </a:custGeom>
          <a:ln w="15875">
            <a:solidFill>
              <a:srgbClr val="4F7A43"/>
            </a:solidFill>
            <a:prstDash val="dash"/>
          </a:ln>
        </p:spPr>
      </p:sp>
      <p:sp>
        <p:nvSpPr>
          <p:cNvPr id="92" name="Text 90"/>
          <p:cNvSpPr txBox="1"/>
          <p:nvPr/>
        </p:nvSpPr>
        <p:spPr>
          <a:xfrm>
            <a:off x="9921240" y="5285232"/>
            <a:ext cx="832104"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indicative contour</a:t>
            </a:r>
            <a:endParaRPr lang="en-US" sz="650" dirty="0"/>
          </a:p>
        </p:txBody>
      </p:sp>
      <p:sp>
        <p:nvSpPr>
          <p:cNvPr id="93" name="Shape 91"/>
          <p:cNvSpPr/>
          <p:nvPr/>
        </p:nvSpPr>
        <p:spPr>
          <a:xfrm>
            <a:off x="10844784" y="5312664"/>
            <a:ext cx="91440" cy="91440"/>
          </a:xfrm>
          <a:prstGeom prst="ellipse">
            <a:avLst/>
          </a:prstGeom>
          <a:ln w="9525">
            <a:solidFill>
              <a:srgbClr val="4F7A43"/>
            </a:solidFill>
            <a:prstDash val="solid"/>
          </a:ln>
        </p:spPr>
      </p:sp>
      <p:sp>
        <p:nvSpPr>
          <p:cNvPr id="94" name="Text 92"/>
          <p:cNvSpPr txBox="1"/>
          <p:nvPr/>
        </p:nvSpPr>
        <p:spPr>
          <a:xfrm>
            <a:off x="11073384" y="5285232"/>
            <a:ext cx="66751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existing trees</a:t>
            </a:r>
            <a:endParaRPr lang="en-US" sz="650" dirty="0"/>
          </a:p>
        </p:txBody>
      </p:sp>
      <p:sp>
        <p:nvSpPr>
          <p:cNvPr id="95" name="Text 93"/>
          <p:cNvSpPr txBox="1"/>
          <p:nvPr/>
        </p:nvSpPr>
        <p:spPr>
          <a:xfrm>
            <a:off x="4572000" y="5577840"/>
            <a:ext cx="7223760" cy="457200"/>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Site outline, roads and tree ring simplified from the handout site plan. Contours are INDICATIVE only (the handout states the site is contoured but gives no levels). Protest-edge position, summit and existing Press Club footprint are ASSUMED — confirm by site survey.</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FIVE CONCEPT DIRECTIONS</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Same brief, same site, same drivers — five different answers to “what do I actually do with the building?”</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02</a:t>
            </a:r>
            <a:endParaRPr lang="en-US" sz="3400" dirty="0"/>
          </a:p>
        </p:txBody>
      </p:sp>
      <p:sp>
        <p:nvSpPr>
          <p:cNvPr id="6" name="Shape 4"/>
          <p:cNvSpPr/>
          <p:nvPr/>
        </p:nvSpPr>
        <p:spPr>
          <a:xfrm>
            <a:off x="10241280" y="896112"/>
            <a:ext cx="1554480" cy="182880"/>
          </a:xfrm>
          <a:prstGeom prst="roundRect">
            <a:avLst>
              <a:gd name="adj" fmla="val 20000"/>
            </a:avLst>
          </a:prstGeom>
          <a:solidFill>
            <a:srgbClr val="C4262E"/>
          </a:solidFill>
          <a:ln w="9525">
            <a:solidFill>
              <a:srgbClr val="C4262E"/>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sp>
        <p:nvSpPr>
          <p:cNvPr id="8" name="Shape 6"/>
          <p:cNvSpPr/>
          <p:nvPr/>
        </p:nvSpPr>
        <p:spPr>
          <a:xfrm>
            <a:off x="365760" y="1280160"/>
            <a:ext cx="2212848" cy="2331720"/>
          </a:xfrm>
          <a:prstGeom prst="rect">
            <a:avLst/>
          </a:prstGeom>
          <a:solidFill>
            <a:srgbClr val="FFFFFF"/>
          </a:solidFill>
          <a:ln w="6350">
            <a:solidFill>
              <a:srgbClr val="D9D9D9"/>
            </a:solidFill>
            <a:prstDash val="solid"/>
          </a:ln>
        </p:spPr>
      </p:sp>
      <p:sp>
        <p:nvSpPr>
          <p:cNvPr id="9" name="Text 7"/>
          <p:cNvSpPr txBox="1"/>
          <p:nvPr/>
        </p:nvSpPr>
        <p:spPr>
          <a:xfrm>
            <a:off x="438912" y="133502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A  </a:t>
            </a:r>
            <a:pPr indent="0" marL="0">
              <a:buNone/>
            </a:pPr>
            <a:r>
              <a:rPr lang="en-US" sz="750" b="1" spc="50" kern="0" dirty="0">
                <a:solidFill>
                  <a:srgbClr val="1B1B1B"/>
                </a:solidFill>
                <a:latin typeface="Arial" pitchFamily="34" charset="0"/>
                <a:ea typeface="Arial" pitchFamily="34" charset="-122"/>
                <a:cs typeface="Arial" pitchFamily="34" charset="-120"/>
              </a:rPr>
              <a:t>WRAP THE HILL</a:t>
            </a:r>
            <a:endParaRPr lang="en-US" sz="750" dirty="0"/>
          </a:p>
        </p:txBody>
      </p:sp>
      <p:sp>
        <p:nvSpPr>
          <p:cNvPr id="10" name="Shape 8"/>
          <p:cNvSpPr/>
          <p:nvPr/>
        </p:nvSpPr>
        <p:spPr>
          <a:xfrm>
            <a:off x="585954" y="1995713"/>
            <a:ext cx="1772461" cy="1110926"/>
          </a:xfrm>
          <a:custGeom>
            <a:avLst/>
            <a:gdLst/>
            <a:ahLst/>
            <a:cxnLst/>
            <a:rect l="l" t="t" r="r" b="b"/>
            <a:pathLst>
              <a:path w="1772461" h="1110926">
                <a:moveTo>
                  <a:pt x="1754463" y="942025"/>
                </a:moveTo>
                <a:lnTo>
                  <a:pt x="1731120" y="981655"/>
                </a:lnTo>
                <a:lnTo>
                  <a:pt x="1698520" y="1016615"/>
                </a:lnTo>
                <a:lnTo>
                  <a:pt x="1657020" y="1046523"/>
                </a:lnTo>
                <a:lnTo>
                  <a:pt x="1607075" y="1071050"/>
                </a:lnTo>
                <a:lnTo>
                  <a:pt x="1549233" y="1089929"/>
                </a:lnTo>
                <a:lnTo>
                  <a:pt x="1484126" y="1102952"/>
                </a:lnTo>
                <a:lnTo>
                  <a:pt x="1412469" y="1109977"/>
                </a:lnTo>
                <a:lnTo>
                  <a:pt x="1335046" y="1110926"/>
                </a:lnTo>
                <a:lnTo>
                  <a:pt x="1252706" y="1105789"/>
                </a:lnTo>
                <a:lnTo>
                  <a:pt x="1166351" y="1094623"/>
                </a:lnTo>
                <a:lnTo>
                  <a:pt x="1076927" y="1077550"/>
                </a:lnTo>
                <a:lnTo>
                  <a:pt x="985413" y="1054757"/>
                </a:lnTo>
                <a:lnTo>
                  <a:pt x="892813" y="1026493"/>
                </a:lnTo>
                <a:lnTo>
                  <a:pt x="800141" y="993069"/>
                </a:lnTo>
                <a:lnTo>
                  <a:pt x="708412" y="954850"/>
                </a:lnTo>
                <a:lnTo>
                  <a:pt x="618631" y="912255"/>
                </a:lnTo>
                <a:lnTo>
                  <a:pt x="531782" y="865752"/>
                </a:lnTo>
                <a:lnTo>
                  <a:pt x="448816" y="815848"/>
                </a:lnTo>
                <a:lnTo>
                  <a:pt x="370643" y="763092"/>
                </a:lnTo>
                <a:lnTo>
                  <a:pt x="298119" y="708061"/>
                </a:lnTo>
                <a:lnTo>
                  <a:pt x="232038" y="651358"/>
                </a:lnTo>
                <a:lnTo>
                  <a:pt x="173124" y="593605"/>
                </a:lnTo>
                <a:lnTo>
                  <a:pt x="122024" y="535433"/>
                </a:lnTo>
                <a:lnTo>
                  <a:pt x="79296" y="477481"/>
                </a:lnTo>
                <a:lnTo>
                  <a:pt x="45409" y="420384"/>
                </a:lnTo>
                <a:lnTo>
                  <a:pt x="20735" y="364766"/>
                </a:lnTo>
                <a:lnTo>
                  <a:pt x="5543" y="311238"/>
                </a:lnTo>
                <a:lnTo>
                  <a:pt x="0" y="260385"/>
                </a:lnTo>
                <a:lnTo>
                  <a:pt x="4167" y="212766"/>
                </a:lnTo>
                <a:lnTo>
                  <a:pt x="17998" y="168901"/>
                </a:lnTo>
                <a:lnTo>
                  <a:pt x="41341" y="129271"/>
                </a:lnTo>
                <a:lnTo>
                  <a:pt x="73941" y="94311"/>
                </a:lnTo>
                <a:lnTo>
                  <a:pt x="115441" y="64403"/>
                </a:lnTo>
                <a:lnTo>
                  <a:pt x="165386" y="39876"/>
                </a:lnTo>
                <a:lnTo>
                  <a:pt x="223228" y="20997"/>
                </a:lnTo>
                <a:lnTo>
                  <a:pt x="288334" y="7974"/>
                </a:lnTo>
                <a:lnTo>
                  <a:pt x="359992" y="949"/>
                </a:lnTo>
                <a:lnTo>
                  <a:pt x="437414" y="0"/>
                </a:lnTo>
                <a:lnTo>
                  <a:pt x="519754" y="5137"/>
                </a:lnTo>
                <a:lnTo>
                  <a:pt x="606109" y="16303"/>
                </a:lnTo>
                <a:lnTo>
                  <a:pt x="695534" y="33376"/>
                </a:lnTo>
                <a:lnTo>
                  <a:pt x="787047" y="56169"/>
                </a:lnTo>
                <a:lnTo>
                  <a:pt x="879647" y="84433"/>
                </a:lnTo>
                <a:lnTo>
                  <a:pt x="972320" y="117857"/>
                </a:lnTo>
                <a:lnTo>
                  <a:pt x="1064049" y="156076"/>
                </a:lnTo>
                <a:lnTo>
                  <a:pt x="1153830" y="198671"/>
                </a:lnTo>
                <a:lnTo>
                  <a:pt x="1240679" y="245174"/>
                </a:lnTo>
                <a:lnTo>
                  <a:pt x="1323644" y="295078"/>
                </a:lnTo>
                <a:lnTo>
                  <a:pt x="1401818" y="347834"/>
                </a:lnTo>
                <a:lnTo>
                  <a:pt x="1474342" y="402865"/>
                </a:lnTo>
                <a:lnTo>
                  <a:pt x="1540423" y="459568"/>
                </a:lnTo>
                <a:lnTo>
                  <a:pt x="1599336" y="517321"/>
                </a:lnTo>
                <a:lnTo>
                  <a:pt x="1650437" y="575492"/>
                </a:lnTo>
                <a:lnTo>
                  <a:pt x="1693164" y="633444"/>
                </a:lnTo>
                <a:lnTo>
                  <a:pt x="1727051" y="690542"/>
                </a:lnTo>
                <a:lnTo>
                  <a:pt x="1751726" y="746160"/>
                </a:lnTo>
                <a:lnTo>
                  <a:pt x="1766918" y="799688"/>
                </a:lnTo>
                <a:lnTo>
                  <a:pt x="1772461" y="850541"/>
                </a:lnTo>
                <a:lnTo>
                  <a:pt x="1768294" y="898160"/>
                </a:lnTo>
                <a:close/>
              </a:path>
            </a:pathLst>
          </a:custGeom>
          <a:solidFill>
            <a:srgbClr val="E4E4E4"/>
          </a:solidFill>
          <a:ln w="12700"/>
        </p:spPr>
      </p:sp>
      <p:sp>
        <p:nvSpPr>
          <p:cNvPr id="11" name="Shape 9"/>
          <p:cNvSpPr/>
          <p:nvPr/>
        </p:nvSpPr>
        <p:spPr>
          <a:xfrm>
            <a:off x="420624" y="2118894"/>
            <a:ext cx="183327" cy="45720"/>
          </a:xfrm>
          <a:custGeom>
            <a:avLst/>
            <a:gdLst/>
            <a:ahLst/>
            <a:cxnLst/>
            <a:rect l="l" t="t" r="r" b="b"/>
            <a:pathLst>
              <a:path w="183327" h="45720">
                <a:moveTo>
                  <a:pt x="183327" y="45720"/>
                </a:moveTo>
                <a:lnTo>
                  <a:pt x="0" y="0"/>
                </a:lnTo>
              </a:path>
            </a:pathLst>
          </a:custGeom>
          <a:ln w="76200">
            <a:solidFill>
              <a:srgbClr val="E4E4E4"/>
            </a:solidFill>
            <a:prstDash val="solid"/>
          </a:ln>
        </p:spPr>
      </p:sp>
      <p:sp>
        <p:nvSpPr>
          <p:cNvPr id="12" name="Shape 10"/>
          <p:cNvSpPr/>
          <p:nvPr/>
        </p:nvSpPr>
        <p:spPr>
          <a:xfrm>
            <a:off x="2340417" y="2937738"/>
            <a:ext cx="183327" cy="45720"/>
          </a:xfrm>
          <a:custGeom>
            <a:avLst/>
            <a:gdLst/>
            <a:ahLst/>
            <a:cxnLst/>
            <a:rect l="l" t="t" r="r" b="b"/>
            <a:pathLst>
              <a:path w="183327" h="45720">
                <a:moveTo>
                  <a:pt x="0" y="0"/>
                </a:moveTo>
                <a:lnTo>
                  <a:pt x="183327" y="45720"/>
                </a:lnTo>
              </a:path>
            </a:pathLst>
          </a:custGeom>
          <a:ln w="76200">
            <a:solidFill>
              <a:srgbClr val="E4E4E4"/>
            </a:solidFill>
            <a:prstDash val="solid"/>
          </a:ln>
        </p:spPr>
      </p:sp>
      <p:sp>
        <p:nvSpPr>
          <p:cNvPr id="13" name="Shape 11"/>
          <p:cNvSpPr/>
          <p:nvPr/>
        </p:nvSpPr>
        <p:spPr>
          <a:xfrm>
            <a:off x="733659" y="2088290"/>
            <a:ext cx="1477051" cy="925772"/>
          </a:xfrm>
          <a:custGeom>
            <a:avLst/>
            <a:gdLst/>
            <a:ahLst/>
            <a:cxnLst/>
            <a:rect l="l" t="t" r="r" b="b"/>
            <a:pathLst>
              <a:path w="1477051" h="925772">
                <a:moveTo>
                  <a:pt x="1462053" y="785021"/>
                </a:moveTo>
                <a:lnTo>
                  <a:pt x="1442600" y="818046"/>
                </a:lnTo>
                <a:lnTo>
                  <a:pt x="1415433" y="847179"/>
                </a:lnTo>
                <a:lnTo>
                  <a:pt x="1380850" y="872102"/>
                </a:lnTo>
                <a:lnTo>
                  <a:pt x="1339229" y="892542"/>
                </a:lnTo>
                <a:lnTo>
                  <a:pt x="1291027" y="908274"/>
                </a:lnTo>
                <a:lnTo>
                  <a:pt x="1236772" y="919127"/>
                </a:lnTo>
                <a:lnTo>
                  <a:pt x="1177058" y="924981"/>
                </a:lnTo>
                <a:lnTo>
                  <a:pt x="1112539" y="925772"/>
                </a:lnTo>
                <a:lnTo>
                  <a:pt x="1043922" y="921491"/>
                </a:lnTo>
                <a:lnTo>
                  <a:pt x="971959" y="912186"/>
                </a:lnTo>
                <a:lnTo>
                  <a:pt x="897439" y="897958"/>
                </a:lnTo>
                <a:lnTo>
                  <a:pt x="821178" y="878964"/>
                </a:lnTo>
                <a:lnTo>
                  <a:pt x="744011" y="855411"/>
                </a:lnTo>
                <a:lnTo>
                  <a:pt x="666784" y="827557"/>
                </a:lnTo>
                <a:lnTo>
                  <a:pt x="590343" y="795708"/>
                </a:lnTo>
                <a:lnTo>
                  <a:pt x="515526" y="760213"/>
                </a:lnTo>
                <a:lnTo>
                  <a:pt x="443151" y="721460"/>
                </a:lnTo>
                <a:lnTo>
                  <a:pt x="374013" y="679874"/>
                </a:lnTo>
                <a:lnTo>
                  <a:pt x="308869" y="635910"/>
                </a:lnTo>
                <a:lnTo>
                  <a:pt x="248432" y="590051"/>
                </a:lnTo>
                <a:lnTo>
                  <a:pt x="193365" y="542799"/>
                </a:lnTo>
                <a:lnTo>
                  <a:pt x="144270" y="494671"/>
                </a:lnTo>
                <a:lnTo>
                  <a:pt x="101687" y="446195"/>
                </a:lnTo>
                <a:lnTo>
                  <a:pt x="66080" y="397901"/>
                </a:lnTo>
                <a:lnTo>
                  <a:pt x="37841" y="350320"/>
                </a:lnTo>
                <a:lnTo>
                  <a:pt x="17279" y="303972"/>
                </a:lnTo>
                <a:lnTo>
                  <a:pt x="4619" y="259365"/>
                </a:lnTo>
                <a:lnTo>
                  <a:pt x="0" y="216988"/>
                </a:lnTo>
                <a:lnTo>
                  <a:pt x="3472" y="177305"/>
                </a:lnTo>
                <a:lnTo>
                  <a:pt x="14998" y="140751"/>
                </a:lnTo>
                <a:lnTo>
                  <a:pt x="34451" y="107726"/>
                </a:lnTo>
                <a:lnTo>
                  <a:pt x="61618" y="78592"/>
                </a:lnTo>
                <a:lnTo>
                  <a:pt x="96201" y="53669"/>
                </a:lnTo>
                <a:lnTo>
                  <a:pt x="137821" y="33230"/>
                </a:lnTo>
                <a:lnTo>
                  <a:pt x="186023" y="17497"/>
                </a:lnTo>
                <a:lnTo>
                  <a:pt x="240279" y="6645"/>
                </a:lnTo>
                <a:lnTo>
                  <a:pt x="299993" y="791"/>
                </a:lnTo>
                <a:lnTo>
                  <a:pt x="364512" y="0"/>
                </a:lnTo>
                <a:lnTo>
                  <a:pt x="433128" y="4280"/>
                </a:lnTo>
                <a:lnTo>
                  <a:pt x="505091" y="13585"/>
                </a:lnTo>
                <a:lnTo>
                  <a:pt x="579611" y="27813"/>
                </a:lnTo>
                <a:lnTo>
                  <a:pt x="655873" y="46808"/>
                </a:lnTo>
                <a:lnTo>
                  <a:pt x="733039" y="70361"/>
                </a:lnTo>
                <a:lnTo>
                  <a:pt x="810266" y="98214"/>
                </a:lnTo>
                <a:lnTo>
                  <a:pt x="886707" y="130063"/>
                </a:lnTo>
                <a:lnTo>
                  <a:pt x="961525" y="165559"/>
                </a:lnTo>
                <a:lnTo>
                  <a:pt x="1033899" y="204312"/>
                </a:lnTo>
                <a:lnTo>
                  <a:pt x="1103037" y="245898"/>
                </a:lnTo>
                <a:lnTo>
                  <a:pt x="1168181" y="289861"/>
                </a:lnTo>
                <a:lnTo>
                  <a:pt x="1228618" y="335721"/>
                </a:lnTo>
                <a:lnTo>
                  <a:pt x="1283686" y="382973"/>
                </a:lnTo>
                <a:lnTo>
                  <a:pt x="1332780" y="431101"/>
                </a:lnTo>
                <a:lnTo>
                  <a:pt x="1375364" y="479577"/>
                </a:lnTo>
                <a:lnTo>
                  <a:pt x="1410970" y="527870"/>
                </a:lnTo>
                <a:lnTo>
                  <a:pt x="1439209" y="575452"/>
                </a:lnTo>
                <a:lnTo>
                  <a:pt x="1459771" y="621800"/>
                </a:lnTo>
                <a:lnTo>
                  <a:pt x="1472431" y="666407"/>
                </a:lnTo>
                <a:lnTo>
                  <a:pt x="1477051" y="708784"/>
                </a:lnTo>
                <a:lnTo>
                  <a:pt x="1473578" y="748467"/>
                </a:lnTo>
                <a:close/>
              </a:path>
            </a:pathLst>
          </a:custGeom>
          <a:solidFill>
            <a:srgbClr val="FFFFFF"/>
          </a:solidFill>
          <a:ln w="19050">
            <a:solidFill>
              <a:srgbClr val="1B1B1B"/>
            </a:solidFill>
            <a:prstDash val="solid"/>
          </a:ln>
        </p:spPr>
      </p:sp>
      <p:sp>
        <p:nvSpPr>
          <p:cNvPr id="14" name="Shape 12"/>
          <p:cNvSpPr/>
          <p:nvPr/>
        </p:nvSpPr>
        <p:spPr>
          <a:xfrm>
            <a:off x="1020208" y="2233471"/>
            <a:ext cx="1063476" cy="666556"/>
          </a:xfrm>
          <a:custGeom>
            <a:avLst/>
            <a:gdLst/>
            <a:ahLst/>
            <a:cxnLst/>
            <a:rect l="l" t="t" r="r" b="b"/>
            <a:pathLst>
              <a:path w="1063476" h="666556">
                <a:moveTo>
                  <a:pt x="1052678" y="565215"/>
                </a:moveTo>
                <a:lnTo>
                  <a:pt x="1038672" y="588993"/>
                </a:lnTo>
                <a:lnTo>
                  <a:pt x="1019112" y="609969"/>
                </a:lnTo>
                <a:lnTo>
                  <a:pt x="994212" y="627914"/>
                </a:lnTo>
                <a:lnTo>
                  <a:pt x="964245" y="642630"/>
                </a:lnTo>
                <a:lnTo>
                  <a:pt x="929540" y="653957"/>
                </a:lnTo>
                <a:lnTo>
                  <a:pt x="890476" y="661771"/>
                </a:lnTo>
                <a:lnTo>
                  <a:pt x="847481" y="665986"/>
                </a:lnTo>
                <a:lnTo>
                  <a:pt x="801028" y="666556"/>
                </a:lnTo>
                <a:lnTo>
                  <a:pt x="751624" y="663474"/>
                </a:lnTo>
                <a:lnTo>
                  <a:pt x="699811" y="656774"/>
                </a:lnTo>
                <a:lnTo>
                  <a:pt x="646156" y="646530"/>
                </a:lnTo>
                <a:lnTo>
                  <a:pt x="591248" y="632854"/>
                </a:lnTo>
                <a:lnTo>
                  <a:pt x="535688" y="615896"/>
                </a:lnTo>
                <a:lnTo>
                  <a:pt x="480085" y="595841"/>
                </a:lnTo>
                <a:lnTo>
                  <a:pt x="425047" y="572910"/>
                </a:lnTo>
                <a:lnTo>
                  <a:pt x="371178" y="547353"/>
                </a:lnTo>
                <a:lnTo>
                  <a:pt x="319069" y="519451"/>
                </a:lnTo>
                <a:lnTo>
                  <a:pt x="269290" y="489509"/>
                </a:lnTo>
                <a:lnTo>
                  <a:pt x="222386" y="457855"/>
                </a:lnTo>
                <a:lnTo>
                  <a:pt x="178871" y="424837"/>
                </a:lnTo>
                <a:lnTo>
                  <a:pt x="139223" y="390815"/>
                </a:lnTo>
                <a:lnTo>
                  <a:pt x="103875" y="356163"/>
                </a:lnTo>
                <a:lnTo>
                  <a:pt x="73214" y="321260"/>
                </a:lnTo>
                <a:lnTo>
                  <a:pt x="47578" y="286489"/>
                </a:lnTo>
                <a:lnTo>
                  <a:pt x="27246" y="252230"/>
                </a:lnTo>
                <a:lnTo>
                  <a:pt x="12441" y="218860"/>
                </a:lnTo>
                <a:lnTo>
                  <a:pt x="3326" y="186743"/>
                </a:lnTo>
                <a:lnTo>
                  <a:pt x="0" y="156231"/>
                </a:lnTo>
                <a:lnTo>
                  <a:pt x="2500" y="127659"/>
                </a:lnTo>
                <a:lnTo>
                  <a:pt x="10799" y="101341"/>
                </a:lnTo>
                <a:lnTo>
                  <a:pt x="24805" y="77563"/>
                </a:lnTo>
                <a:lnTo>
                  <a:pt x="44365" y="56587"/>
                </a:lnTo>
                <a:lnTo>
                  <a:pt x="69265" y="38642"/>
                </a:lnTo>
                <a:lnTo>
                  <a:pt x="99231" y="23925"/>
                </a:lnTo>
                <a:lnTo>
                  <a:pt x="133937" y="12598"/>
                </a:lnTo>
                <a:lnTo>
                  <a:pt x="173001" y="4784"/>
                </a:lnTo>
                <a:lnTo>
                  <a:pt x="215995" y="570"/>
                </a:lnTo>
                <a:lnTo>
                  <a:pt x="262449" y="0"/>
                </a:lnTo>
                <a:lnTo>
                  <a:pt x="311853" y="3082"/>
                </a:lnTo>
                <a:lnTo>
                  <a:pt x="363666" y="9782"/>
                </a:lnTo>
                <a:lnTo>
                  <a:pt x="417320" y="20025"/>
                </a:lnTo>
                <a:lnTo>
                  <a:pt x="472228" y="33701"/>
                </a:lnTo>
                <a:lnTo>
                  <a:pt x="527788" y="50660"/>
                </a:lnTo>
                <a:lnTo>
                  <a:pt x="583392" y="70714"/>
                </a:lnTo>
                <a:lnTo>
                  <a:pt x="638429" y="93646"/>
                </a:lnTo>
                <a:lnTo>
                  <a:pt x="692298" y="119202"/>
                </a:lnTo>
                <a:lnTo>
                  <a:pt x="744407" y="147105"/>
                </a:lnTo>
                <a:lnTo>
                  <a:pt x="794187" y="177047"/>
                </a:lnTo>
                <a:lnTo>
                  <a:pt x="841091" y="208700"/>
                </a:lnTo>
                <a:lnTo>
                  <a:pt x="884605" y="241719"/>
                </a:lnTo>
                <a:lnTo>
                  <a:pt x="924254" y="275741"/>
                </a:lnTo>
                <a:lnTo>
                  <a:pt x="959602" y="310393"/>
                </a:lnTo>
                <a:lnTo>
                  <a:pt x="990262" y="345295"/>
                </a:lnTo>
                <a:lnTo>
                  <a:pt x="1015899" y="380067"/>
                </a:lnTo>
                <a:lnTo>
                  <a:pt x="1036231" y="414325"/>
                </a:lnTo>
                <a:lnTo>
                  <a:pt x="1051035" y="447696"/>
                </a:lnTo>
                <a:lnTo>
                  <a:pt x="1060151" y="479813"/>
                </a:lnTo>
                <a:lnTo>
                  <a:pt x="1063476" y="510324"/>
                </a:lnTo>
                <a:lnTo>
                  <a:pt x="1060976" y="538896"/>
                </a:lnTo>
                <a:close/>
              </a:path>
            </a:pathLst>
          </a:custGeom>
          <a:ln w="6350">
            <a:solidFill>
              <a:srgbClr val="4F7A43"/>
            </a:solidFill>
            <a:prstDash val="dash"/>
          </a:ln>
        </p:spPr>
      </p:sp>
      <p:sp>
        <p:nvSpPr>
          <p:cNvPr id="15" name="Shape 13"/>
          <p:cNvSpPr/>
          <p:nvPr/>
        </p:nvSpPr>
        <p:spPr>
          <a:xfrm>
            <a:off x="1212224" y="2353821"/>
            <a:ext cx="679443" cy="425855"/>
          </a:xfrm>
          <a:custGeom>
            <a:avLst/>
            <a:gdLst/>
            <a:ahLst/>
            <a:cxnLst/>
            <a:rect l="l" t="t" r="r" b="b"/>
            <a:pathLst>
              <a:path w="679443" h="425855">
                <a:moveTo>
                  <a:pt x="672544" y="361110"/>
                </a:moveTo>
                <a:lnTo>
                  <a:pt x="663596" y="376301"/>
                </a:lnTo>
                <a:lnTo>
                  <a:pt x="651099" y="389702"/>
                </a:lnTo>
                <a:lnTo>
                  <a:pt x="635191" y="401167"/>
                </a:lnTo>
                <a:lnTo>
                  <a:pt x="616045" y="410569"/>
                </a:lnTo>
                <a:lnTo>
                  <a:pt x="593873" y="417806"/>
                </a:lnTo>
                <a:lnTo>
                  <a:pt x="568915" y="422798"/>
                </a:lnTo>
                <a:lnTo>
                  <a:pt x="541446" y="425491"/>
                </a:lnTo>
                <a:lnTo>
                  <a:pt x="511768" y="425855"/>
                </a:lnTo>
                <a:lnTo>
                  <a:pt x="480204" y="423886"/>
                </a:lnTo>
                <a:lnTo>
                  <a:pt x="447101" y="419606"/>
                </a:lnTo>
                <a:lnTo>
                  <a:pt x="412822" y="413061"/>
                </a:lnTo>
                <a:lnTo>
                  <a:pt x="377742" y="404323"/>
                </a:lnTo>
                <a:lnTo>
                  <a:pt x="342245" y="393489"/>
                </a:lnTo>
                <a:lnTo>
                  <a:pt x="306721" y="380676"/>
                </a:lnTo>
                <a:lnTo>
                  <a:pt x="271558" y="366026"/>
                </a:lnTo>
                <a:lnTo>
                  <a:pt x="237142" y="349698"/>
                </a:lnTo>
                <a:lnTo>
                  <a:pt x="203850" y="331871"/>
                </a:lnTo>
                <a:lnTo>
                  <a:pt x="172046" y="312742"/>
                </a:lnTo>
                <a:lnTo>
                  <a:pt x="142080" y="292519"/>
                </a:lnTo>
                <a:lnTo>
                  <a:pt x="114279" y="271423"/>
                </a:lnTo>
                <a:lnTo>
                  <a:pt x="88948" y="249687"/>
                </a:lnTo>
                <a:lnTo>
                  <a:pt x="66364" y="227549"/>
                </a:lnTo>
                <a:lnTo>
                  <a:pt x="46776" y="205249"/>
                </a:lnTo>
                <a:lnTo>
                  <a:pt x="30397" y="183035"/>
                </a:lnTo>
                <a:lnTo>
                  <a:pt x="17407" y="161147"/>
                </a:lnTo>
                <a:lnTo>
                  <a:pt x="7948" y="139827"/>
                </a:lnTo>
                <a:lnTo>
                  <a:pt x="2125" y="119308"/>
                </a:lnTo>
                <a:lnTo>
                  <a:pt x="0" y="99814"/>
                </a:lnTo>
                <a:lnTo>
                  <a:pt x="1597" y="81560"/>
                </a:lnTo>
                <a:lnTo>
                  <a:pt x="6899" y="64745"/>
                </a:lnTo>
                <a:lnTo>
                  <a:pt x="15847" y="49554"/>
                </a:lnTo>
                <a:lnTo>
                  <a:pt x="28344" y="36153"/>
                </a:lnTo>
                <a:lnTo>
                  <a:pt x="44252" y="24688"/>
                </a:lnTo>
                <a:lnTo>
                  <a:pt x="63398" y="15286"/>
                </a:lnTo>
                <a:lnTo>
                  <a:pt x="85571" y="8049"/>
                </a:lnTo>
                <a:lnTo>
                  <a:pt x="110528" y="3057"/>
                </a:lnTo>
                <a:lnTo>
                  <a:pt x="137997" y="364"/>
                </a:lnTo>
                <a:lnTo>
                  <a:pt x="167675" y="0"/>
                </a:lnTo>
                <a:lnTo>
                  <a:pt x="199239" y="1969"/>
                </a:lnTo>
                <a:lnTo>
                  <a:pt x="232342" y="6249"/>
                </a:lnTo>
                <a:lnTo>
                  <a:pt x="266621" y="12794"/>
                </a:lnTo>
                <a:lnTo>
                  <a:pt x="301701" y="21531"/>
                </a:lnTo>
                <a:lnTo>
                  <a:pt x="337198" y="32366"/>
                </a:lnTo>
                <a:lnTo>
                  <a:pt x="372723" y="45179"/>
                </a:lnTo>
                <a:lnTo>
                  <a:pt x="407885" y="59829"/>
                </a:lnTo>
                <a:lnTo>
                  <a:pt x="442301" y="76157"/>
                </a:lnTo>
                <a:lnTo>
                  <a:pt x="475594" y="93983"/>
                </a:lnTo>
                <a:lnTo>
                  <a:pt x="507397" y="113113"/>
                </a:lnTo>
                <a:lnTo>
                  <a:pt x="537363" y="133336"/>
                </a:lnTo>
                <a:lnTo>
                  <a:pt x="565164" y="154431"/>
                </a:lnTo>
                <a:lnTo>
                  <a:pt x="590495" y="176168"/>
                </a:lnTo>
                <a:lnTo>
                  <a:pt x="613079" y="198306"/>
                </a:lnTo>
                <a:lnTo>
                  <a:pt x="632667" y="220605"/>
                </a:lnTo>
                <a:lnTo>
                  <a:pt x="649046" y="242820"/>
                </a:lnTo>
                <a:lnTo>
                  <a:pt x="662036" y="264708"/>
                </a:lnTo>
                <a:lnTo>
                  <a:pt x="671495" y="286028"/>
                </a:lnTo>
                <a:lnTo>
                  <a:pt x="677318" y="306547"/>
                </a:lnTo>
                <a:lnTo>
                  <a:pt x="679443" y="326041"/>
                </a:lnTo>
                <a:lnTo>
                  <a:pt x="677846" y="344295"/>
                </a:lnTo>
                <a:close/>
              </a:path>
            </a:pathLst>
          </a:custGeom>
          <a:ln w="6350">
            <a:solidFill>
              <a:srgbClr val="4F7A43"/>
            </a:solidFill>
            <a:prstDash val="dash"/>
          </a:ln>
        </p:spPr>
      </p:sp>
      <p:sp>
        <p:nvSpPr>
          <p:cNvPr id="16" name="Shape 14"/>
          <p:cNvSpPr/>
          <p:nvPr/>
        </p:nvSpPr>
        <p:spPr>
          <a:xfrm>
            <a:off x="1389470" y="2464914"/>
            <a:ext cx="324951" cy="203670"/>
          </a:xfrm>
          <a:custGeom>
            <a:avLst/>
            <a:gdLst/>
            <a:ahLst/>
            <a:cxnLst/>
            <a:rect l="l" t="t" r="r" b="b"/>
            <a:pathLst>
              <a:path w="324951" h="203670">
                <a:moveTo>
                  <a:pt x="321652" y="172705"/>
                </a:moveTo>
                <a:lnTo>
                  <a:pt x="317372" y="179970"/>
                </a:lnTo>
                <a:lnTo>
                  <a:pt x="311395" y="186379"/>
                </a:lnTo>
                <a:lnTo>
                  <a:pt x="303787" y="191863"/>
                </a:lnTo>
                <a:lnTo>
                  <a:pt x="294630" y="196359"/>
                </a:lnTo>
                <a:lnTo>
                  <a:pt x="284026" y="199820"/>
                </a:lnTo>
                <a:lnTo>
                  <a:pt x="272090" y="202208"/>
                </a:lnTo>
                <a:lnTo>
                  <a:pt x="258953" y="203496"/>
                </a:lnTo>
                <a:lnTo>
                  <a:pt x="244759" y="203670"/>
                </a:lnTo>
                <a:lnTo>
                  <a:pt x="229663" y="202728"/>
                </a:lnTo>
                <a:lnTo>
                  <a:pt x="213831" y="200681"/>
                </a:lnTo>
                <a:lnTo>
                  <a:pt x="197437" y="197551"/>
                </a:lnTo>
                <a:lnTo>
                  <a:pt x="180659" y="193372"/>
                </a:lnTo>
                <a:lnTo>
                  <a:pt x="163682" y="188190"/>
                </a:lnTo>
                <a:lnTo>
                  <a:pt x="146692" y="182063"/>
                </a:lnTo>
                <a:lnTo>
                  <a:pt x="129875" y="175056"/>
                </a:lnTo>
                <a:lnTo>
                  <a:pt x="113416" y="167247"/>
                </a:lnTo>
                <a:lnTo>
                  <a:pt x="97493" y="158721"/>
                </a:lnTo>
                <a:lnTo>
                  <a:pt x="82283" y="149572"/>
                </a:lnTo>
                <a:lnTo>
                  <a:pt x="67951" y="139900"/>
                </a:lnTo>
                <a:lnTo>
                  <a:pt x="54655" y="129811"/>
                </a:lnTo>
                <a:lnTo>
                  <a:pt x="42540" y="119416"/>
                </a:lnTo>
                <a:lnTo>
                  <a:pt x="31739" y="108828"/>
                </a:lnTo>
                <a:lnTo>
                  <a:pt x="22371" y="98163"/>
                </a:lnTo>
                <a:lnTo>
                  <a:pt x="14538" y="87538"/>
                </a:lnTo>
                <a:lnTo>
                  <a:pt x="8325" y="77070"/>
                </a:lnTo>
                <a:lnTo>
                  <a:pt x="3801" y="66874"/>
                </a:lnTo>
                <a:lnTo>
                  <a:pt x="1016" y="57060"/>
                </a:lnTo>
                <a:lnTo>
                  <a:pt x="0" y="47737"/>
                </a:lnTo>
                <a:lnTo>
                  <a:pt x="764" y="39007"/>
                </a:lnTo>
                <a:lnTo>
                  <a:pt x="3300" y="30965"/>
                </a:lnTo>
                <a:lnTo>
                  <a:pt x="7579" y="23700"/>
                </a:lnTo>
                <a:lnTo>
                  <a:pt x="13556" y="17290"/>
                </a:lnTo>
                <a:lnTo>
                  <a:pt x="21164" y="11807"/>
                </a:lnTo>
                <a:lnTo>
                  <a:pt x="30321" y="7311"/>
                </a:lnTo>
                <a:lnTo>
                  <a:pt x="40925" y="3849"/>
                </a:lnTo>
                <a:lnTo>
                  <a:pt x="52861" y="1462"/>
                </a:lnTo>
                <a:lnTo>
                  <a:pt x="65998" y="174"/>
                </a:lnTo>
                <a:lnTo>
                  <a:pt x="80193" y="0"/>
                </a:lnTo>
                <a:lnTo>
                  <a:pt x="95288" y="942"/>
                </a:lnTo>
                <a:lnTo>
                  <a:pt x="111120" y="2989"/>
                </a:lnTo>
                <a:lnTo>
                  <a:pt x="127514" y="6119"/>
                </a:lnTo>
                <a:lnTo>
                  <a:pt x="144292" y="10298"/>
                </a:lnTo>
                <a:lnTo>
                  <a:pt x="161269" y="15479"/>
                </a:lnTo>
                <a:lnTo>
                  <a:pt x="178259" y="21607"/>
                </a:lnTo>
                <a:lnTo>
                  <a:pt x="195076" y="28614"/>
                </a:lnTo>
                <a:lnTo>
                  <a:pt x="211535" y="36423"/>
                </a:lnTo>
                <a:lnTo>
                  <a:pt x="227458" y="44949"/>
                </a:lnTo>
                <a:lnTo>
                  <a:pt x="242668" y="54098"/>
                </a:lnTo>
                <a:lnTo>
                  <a:pt x="257000" y="63770"/>
                </a:lnTo>
                <a:lnTo>
                  <a:pt x="270296" y="73859"/>
                </a:lnTo>
                <a:lnTo>
                  <a:pt x="282411" y="84254"/>
                </a:lnTo>
                <a:lnTo>
                  <a:pt x="293212" y="94842"/>
                </a:lnTo>
                <a:lnTo>
                  <a:pt x="302580" y="105507"/>
                </a:lnTo>
                <a:lnTo>
                  <a:pt x="310413" y="116131"/>
                </a:lnTo>
                <a:lnTo>
                  <a:pt x="316626" y="126599"/>
                </a:lnTo>
                <a:lnTo>
                  <a:pt x="321150" y="136796"/>
                </a:lnTo>
                <a:lnTo>
                  <a:pt x="323935" y="146609"/>
                </a:lnTo>
                <a:lnTo>
                  <a:pt x="324951" y="155932"/>
                </a:lnTo>
                <a:lnTo>
                  <a:pt x="324187" y="164663"/>
                </a:lnTo>
                <a:close/>
              </a:path>
            </a:pathLst>
          </a:custGeom>
          <a:ln w="6350">
            <a:solidFill>
              <a:srgbClr val="4F7A43"/>
            </a:solidFill>
            <a:prstDash val="dash"/>
          </a:ln>
        </p:spPr>
      </p:sp>
      <p:sp>
        <p:nvSpPr>
          <p:cNvPr id="17" name="Shape 15"/>
          <p:cNvSpPr/>
          <p:nvPr/>
        </p:nvSpPr>
        <p:spPr>
          <a:xfrm>
            <a:off x="792750" y="2375521"/>
            <a:ext cx="1264601" cy="606138"/>
          </a:xfrm>
          <a:custGeom>
            <a:avLst/>
            <a:gdLst/>
            <a:ahLst/>
            <a:cxnLst/>
            <a:rect l="l" t="t" r="r" b="b"/>
            <a:pathLst>
              <a:path w="1264601" h="606138">
                <a:moveTo>
                  <a:pt x="1264601" y="563037"/>
                </a:moveTo>
                <a:lnTo>
                  <a:pt x="1216411" y="583109"/>
                </a:lnTo>
                <a:lnTo>
                  <a:pt x="1160215" y="597107"/>
                </a:lnTo>
                <a:lnTo>
                  <a:pt x="1096852" y="604821"/>
                </a:lnTo>
                <a:lnTo>
                  <a:pt x="1027267" y="606138"/>
                </a:lnTo>
                <a:lnTo>
                  <a:pt x="952496" y="601038"/>
                </a:lnTo>
                <a:lnTo>
                  <a:pt x="873654" y="589596"/>
                </a:lnTo>
                <a:lnTo>
                  <a:pt x="791917" y="571983"/>
                </a:lnTo>
                <a:lnTo>
                  <a:pt x="708503" y="548462"/>
                </a:lnTo>
                <a:lnTo>
                  <a:pt x="624656" y="519383"/>
                </a:lnTo>
                <a:lnTo>
                  <a:pt x="541625" y="485180"/>
                </a:lnTo>
                <a:lnTo>
                  <a:pt x="460649" y="446362"/>
                </a:lnTo>
                <a:lnTo>
                  <a:pt x="382934" y="403509"/>
                </a:lnTo>
                <a:lnTo>
                  <a:pt x="309639" y="357259"/>
                </a:lnTo>
                <a:lnTo>
                  <a:pt x="241858" y="308302"/>
                </a:lnTo>
                <a:lnTo>
                  <a:pt x="180599" y="257367"/>
                </a:lnTo>
                <a:lnTo>
                  <a:pt x="126777" y="205215"/>
                </a:lnTo>
                <a:lnTo>
                  <a:pt x="81194" y="152621"/>
                </a:lnTo>
                <a:lnTo>
                  <a:pt x="44529" y="100371"/>
                </a:lnTo>
                <a:lnTo>
                  <a:pt x="17329" y="49243"/>
                </a:lnTo>
                <a:lnTo>
                  <a:pt x="0" y="0"/>
                </a:lnTo>
              </a:path>
            </a:pathLst>
          </a:custGeom>
          <a:ln w="88900">
            <a:solidFill>
              <a:srgbClr val="1B1B1B"/>
            </a:solidFill>
            <a:prstDash val="solid"/>
          </a:ln>
        </p:spPr>
      </p:sp>
      <p:sp>
        <p:nvSpPr>
          <p:cNvPr id="18" name="Shape 16"/>
          <p:cNvSpPr/>
          <p:nvPr/>
        </p:nvSpPr>
        <p:spPr>
          <a:xfrm>
            <a:off x="887017" y="2120692"/>
            <a:ext cx="1264601" cy="606138"/>
          </a:xfrm>
          <a:custGeom>
            <a:avLst/>
            <a:gdLst/>
            <a:ahLst/>
            <a:cxnLst/>
            <a:rect l="l" t="t" r="r" b="b"/>
            <a:pathLst>
              <a:path w="1264601" h="606138">
                <a:moveTo>
                  <a:pt x="0" y="43102"/>
                </a:moveTo>
                <a:lnTo>
                  <a:pt x="48190" y="23030"/>
                </a:lnTo>
                <a:lnTo>
                  <a:pt x="104386" y="9032"/>
                </a:lnTo>
                <a:lnTo>
                  <a:pt x="167749" y="1317"/>
                </a:lnTo>
                <a:lnTo>
                  <a:pt x="237335" y="0"/>
                </a:lnTo>
                <a:lnTo>
                  <a:pt x="312106" y="5101"/>
                </a:lnTo>
                <a:lnTo>
                  <a:pt x="390947" y="16543"/>
                </a:lnTo>
                <a:lnTo>
                  <a:pt x="472685" y="34155"/>
                </a:lnTo>
                <a:lnTo>
                  <a:pt x="556098" y="57677"/>
                </a:lnTo>
                <a:lnTo>
                  <a:pt x="639946" y="86756"/>
                </a:lnTo>
                <a:lnTo>
                  <a:pt x="722977" y="120959"/>
                </a:lnTo>
                <a:lnTo>
                  <a:pt x="803953" y="159776"/>
                </a:lnTo>
                <a:lnTo>
                  <a:pt x="881667" y="202629"/>
                </a:lnTo>
                <a:lnTo>
                  <a:pt x="954962" y="248879"/>
                </a:lnTo>
                <a:lnTo>
                  <a:pt x="1022744" y="297836"/>
                </a:lnTo>
                <a:lnTo>
                  <a:pt x="1084002" y="348771"/>
                </a:lnTo>
                <a:lnTo>
                  <a:pt x="1137824" y="400924"/>
                </a:lnTo>
                <a:lnTo>
                  <a:pt x="1183407" y="453517"/>
                </a:lnTo>
                <a:lnTo>
                  <a:pt x="1220072" y="505767"/>
                </a:lnTo>
                <a:lnTo>
                  <a:pt x="1247272" y="556895"/>
                </a:lnTo>
                <a:lnTo>
                  <a:pt x="1264601" y="606138"/>
                </a:lnTo>
              </a:path>
            </a:pathLst>
          </a:custGeom>
          <a:ln w="88900">
            <a:solidFill>
              <a:srgbClr val="1B1B1B"/>
            </a:solidFill>
            <a:prstDash val="solid"/>
          </a:ln>
        </p:spPr>
      </p:sp>
      <p:sp>
        <p:nvSpPr>
          <p:cNvPr id="19" name="Shape 17"/>
          <p:cNvSpPr/>
          <p:nvPr/>
        </p:nvSpPr>
        <p:spPr>
          <a:xfrm>
            <a:off x="531599" y="2132400"/>
            <a:ext cx="614998" cy="273815"/>
          </a:xfrm>
          <a:custGeom>
            <a:avLst/>
            <a:gdLst/>
            <a:ahLst/>
            <a:cxnLst/>
            <a:rect l="l" t="t" r="r" b="b"/>
            <a:pathLst>
              <a:path w="614998" h="273815">
                <a:moveTo>
                  <a:pt x="0" y="0"/>
                </a:moveTo>
                <a:lnTo>
                  <a:pt x="614998" y="273815"/>
                </a:lnTo>
              </a:path>
            </a:pathLst>
          </a:custGeom>
          <a:ln w="19050">
            <a:solidFill>
              <a:srgbClr val="C4262E"/>
            </a:solidFill>
            <a:prstDash val="solid"/>
            <a:tailEnd type="triangle"/>
          </a:ln>
        </p:spPr>
      </p:sp>
      <p:sp>
        <p:nvSpPr>
          <p:cNvPr id="20" name="Shape 18"/>
          <p:cNvSpPr/>
          <p:nvPr/>
        </p:nvSpPr>
        <p:spPr>
          <a:xfrm>
            <a:off x="1870124" y="2728350"/>
            <a:ext cx="542645" cy="241601"/>
          </a:xfrm>
          <a:custGeom>
            <a:avLst/>
            <a:gdLst/>
            <a:ahLst/>
            <a:cxnLst/>
            <a:rect l="l" t="t" r="r" b="b"/>
            <a:pathLst>
              <a:path w="542645" h="241601">
                <a:moveTo>
                  <a:pt x="542645" y="241601"/>
                </a:moveTo>
                <a:lnTo>
                  <a:pt x="0" y="0"/>
                </a:lnTo>
              </a:path>
            </a:pathLst>
          </a:custGeom>
          <a:ln w="19050">
            <a:solidFill>
              <a:srgbClr val="C4262E"/>
            </a:solidFill>
            <a:prstDash val="solid"/>
            <a:tailEnd type="triangle"/>
          </a:ln>
        </p:spPr>
      </p:sp>
      <p:sp>
        <p:nvSpPr>
          <p:cNvPr id="21" name="Shape 19"/>
          <p:cNvSpPr/>
          <p:nvPr/>
        </p:nvSpPr>
        <p:spPr>
          <a:xfrm>
            <a:off x="1234040" y="2494131"/>
            <a:ext cx="548640" cy="146304"/>
          </a:xfrm>
          <a:prstGeom prst="rect">
            <a:avLst/>
          </a:prstGeom>
          <a:solidFill>
            <a:srgbClr val="FFFFFF"/>
          </a:solidFill>
          <a:ln/>
        </p:spPr>
      </p:sp>
      <p:sp>
        <p:nvSpPr>
          <p:cNvPr id="22" name="Text 20"/>
          <p:cNvSpPr txBox="1"/>
          <p:nvPr/>
        </p:nvSpPr>
        <p:spPr>
          <a:xfrm>
            <a:off x="1234040" y="2494131"/>
            <a:ext cx="548640" cy="146304"/>
          </a:xfrm>
          <a:prstGeom prst="rect">
            <a:avLst/>
          </a:prstGeom>
          <a:noFill/>
          <a:ln/>
        </p:spPr>
        <p:txBody>
          <a:bodyPr wrap="square" lIns="0" tIns="0" rIns="0" bIns="0" rtlCol="0" anchor="ctr"/>
          <a:lstStyle/>
          <a:p>
            <a:pPr algn="ctr" indent="0" marL="0">
              <a:buNone/>
            </a:pPr>
            <a:r>
              <a:rPr lang="en-US" sz="550" b="1" dirty="0">
                <a:solidFill>
                  <a:srgbClr val="4F7A43"/>
                </a:solidFill>
                <a:latin typeface="Arial" pitchFamily="34" charset="0"/>
                <a:ea typeface="Arial" pitchFamily="34" charset="-122"/>
                <a:cs typeface="Arial" pitchFamily="34" charset="-120"/>
              </a:rPr>
              <a:t>OPEN HILL</a:t>
            </a:r>
            <a:endParaRPr lang="en-US" sz="550" dirty="0"/>
          </a:p>
        </p:txBody>
      </p:sp>
      <p:sp>
        <p:nvSpPr>
          <p:cNvPr id="23" name="Text 21"/>
          <p:cNvSpPr txBox="1"/>
          <p:nvPr/>
        </p:nvSpPr>
        <p:spPr>
          <a:xfrm>
            <a:off x="365760" y="3675888"/>
            <a:ext cx="2212848" cy="182880"/>
          </a:xfrm>
          <a:prstGeom prst="rect">
            <a:avLst/>
          </a:prstGeom>
          <a:noFill/>
          <a:ln/>
        </p:spPr>
        <p:txBody>
          <a:bodyPr wrap="square" lIns="0" tIns="0" rIns="0" bIns="0" rtlCol="0" anchor="t"/>
          <a:lstStyle/>
          <a:p>
            <a:pPr indent="0" marL="0">
              <a:buNone/>
            </a:pPr>
            <a:r>
              <a:rPr lang="en-US" sz="800" i="1" dirty="0">
                <a:solidFill>
                  <a:srgbClr val="C4262E"/>
                </a:solidFill>
                <a:latin typeface="Arial" pitchFamily="34" charset="0"/>
                <a:ea typeface="Arial" pitchFamily="34" charset="-122"/>
                <a:cs typeface="Arial" pitchFamily="34" charset="-120"/>
              </a:rPr>
              <a:t>a low ring at the foot of the mound</a:t>
            </a:r>
            <a:endParaRPr lang="en-US" sz="800" dirty="0"/>
          </a:p>
        </p:txBody>
      </p:sp>
      <p:sp>
        <p:nvSpPr>
          <p:cNvPr id="24" name="Text 22"/>
          <p:cNvSpPr txBox="1"/>
          <p:nvPr/>
        </p:nvSpPr>
        <p:spPr>
          <a:xfrm>
            <a:off x="365760" y="3886200"/>
            <a:ext cx="2212848" cy="1143000"/>
          </a:xfrm>
          <a:prstGeom prst="rect">
            <a:avLst/>
          </a:prstGeom>
          <a:noFill/>
          <a:ln/>
        </p:spPr>
        <p:txBody>
          <a:bodyPr wrap="square" lIns="0" tIns="0" rIns="0" bIns="0" rtlCol="0" anchor="t"/>
          <a:lstStyle/>
          <a:p>
            <a:pPr indent="0" marL="0">
              <a:buNone/>
            </a:pPr>
            <a:r>
              <a:rPr lang="en-US" sz="750" dirty="0">
                <a:solidFill>
                  <a:srgbClr val="1B1B1B"/>
                </a:solidFill>
                <a:latin typeface="Arial" pitchFamily="34" charset="0"/>
                <a:ea typeface="Arial" pitchFamily="34" charset="-122"/>
                <a:cs typeface="Arial" pitchFamily="34" charset="-120"/>
              </a:rPr>
              <a:t>Keep the whole mound as open public ground and build a low ring around its base, so the institution becomes the threshold between the road and the hill.</a:t>
            </a:r>
            <a:endParaRPr lang="en-US" sz="750" dirty="0"/>
          </a:p>
        </p:txBody>
      </p:sp>
      <p:sp>
        <p:nvSpPr>
          <p:cNvPr id="25" name="Text 23"/>
          <p:cNvSpPr txBox="1"/>
          <p:nvPr/>
        </p:nvSpPr>
        <p:spPr>
          <a:xfrm>
            <a:off x="365760" y="5120640"/>
            <a:ext cx="2212848" cy="566928"/>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WHAT I DO  </a:t>
            </a:r>
            <a:endParaRPr lang="en-US" sz="750" dirty="0"/>
          </a:p>
          <a:p>
            <a:pPr indent="0" marL="0">
              <a:buNone/>
            </a:pPr>
            <a:r>
              <a:rPr lang="en-US" sz="750" dirty="0">
                <a:solidFill>
                  <a:srgbClr val="1B1B1B"/>
                </a:solidFill>
                <a:latin typeface="Arial" pitchFamily="34" charset="0"/>
                <a:ea typeface="Arial" pitchFamily="34" charset="-122"/>
                <a:cs typeface="Arial" pitchFamily="34" charset="-120"/>
              </a:rPr>
              <a:t>① offset a band inside the boundary  ② break it at the junctions  ③ slope the roof up to the hill</a:t>
            </a:r>
            <a:endParaRPr lang="en-US" sz="750" dirty="0"/>
          </a:p>
        </p:txBody>
      </p:sp>
      <p:sp>
        <p:nvSpPr>
          <p:cNvPr id="26" name="Text 24"/>
          <p:cNvSpPr txBox="1"/>
          <p:nvPr/>
        </p:nvSpPr>
        <p:spPr>
          <a:xfrm>
            <a:off x="365760" y="5760720"/>
            <a:ext cx="2212848" cy="457200"/>
          </a:xfrm>
          <a:prstGeom prst="rect">
            <a:avLst/>
          </a:prstGeom>
          <a:noFill/>
          <a:ln/>
        </p:spPr>
        <p:txBody>
          <a:bodyPr wrap="square" lIns="0" tIns="0" rIns="0" bIns="0" rtlCol="0" anchor="t"/>
          <a:lstStyle/>
          <a:p>
            <a:pPr indent="0" marL="0">
              <a:buNone/>
            </a:pPr>
            <a:r>
              <a:rPr lang="en-US" sz="700" b="1" dirty="0">
                <a:solidFill>
                  <a:srgbClr val="4F7A43"/>
                </a:solidFill>
                <a:latin typeface="Arial" pitchFamily="34" charset="0"/>
                <a:ea typeface="Arial" pitchFamily="34" charset="-122"/>
                <a:cs typeface="Arial" pitchFamily="34" charset="-120"/>
              </a:rPr>
              <a:t>TOPOGRAPHY  </a:t>
            </a:r>
            <a:pPr indent="0" marL="0">
              <a:buNone/>
            </a:pPr>
            <a:r>
              <a:rPr lang="en-US" sz="700" dirty="0">
                <a:solidFill>
                  <a:srgbClr val="1B1B1B"/>
                </a:solidFill>
                <a:latin typeface="Arial" pitchFamily="34" charset="0"/>
                <a:ea typeface="Arial" pitchFamily="34" charset="-122"/>
                <a:cs typeface="Arial" pitchFamily="34" charset="-120"/>
              </a:rPr>
              <a:t>Builds only on the toe; the mound's profile is extended, never cut.</a:t>
            </a:r>
            <a:endParaRPr lang="en-US" sz="700" dirty="0"/>
          </a:p>
        </p:txBody>
      </p:sp>
      <p:sp>
        <p:nvSpPr>
          <p:cNvPr id="27" name="Shape 25"/>
          <p:cNvSpPr/>
          <p:nvPr/>
        </p:nvSpPr>
        <p:spPr>
          <a:xfrm>
            <a:off x="2670048" y="1280160"/>
            <a:ext cx="2212848" cy="2331720"/>
          </a:xfrm>
          <a:prstGeom prst="rect">
            <a:avLst/>
          </a:prstGeom>
          <a:solidFill>
            <a:srgbClr val="FFFFFF"/>
          </a:solidFill>
          <a:ln w="6350">
            <a:solidFill>
              <a:srgbClr val="D9D9D9"/>
            </a:solidFill>
            <a:prstDash val="solid"/>
          </a:ln>
        </p:spPr>
      </p:sp>
      <p:sp>
        <p:nvSpPr>
          <p:cNvPr id="28" name="Text 26"/>
          <p:cNvSpPr txBox="1"/>
          <p:nvPr/>
        </p:nvSpPr>
        <p:spPr>
          <a:xfrm>
            <a:off x="2743200" y="133502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B  </a:t>
            </a:r>
            <a:pPr indent="0" marL="0">
              <a:buNone/>
            </a:pPr>
            <a:r>
              <a:rPr lang="en-US" sz="750" b="1" spc="50" kern="0" dirty="0">
                <a:solidFill>
                  <a:srgbClr val="1B1B1B"/>
                </a:solidFill>
                <a:latin typeface="Arial" pitchFamily="34" charset="0"/>
                <a:ea typeface="Arial" pitchFamily="34" charset="-122"/>
                <a:cs typeface="Arial" pitchFamily="34" charset="-120"/>
              </a:rPr>
              <a:t>THE THICK EDGE</a:t>
            </a:r>
            <a:endParaRPr lang="en-US" sz="750" dirty="0"/>
          </a:p>
        </p:txBody>
      </p:sp>
      <p:sp>
        <p:nvSpPr>
          <p:cNvPr id="29" name="Shape 27"/>
          <p:cNvSpPr/>
          <p:nvPr/>
        </p:nvSpPr>
        <p:spPr>
          <a:xfrm>
            <a:off x="2890242" y="1995713"/>
            <a:ext cx="1772461" cy="1110926"/>
          </a:xfrm>
          <a:custGeom>
            <a:avLst/>
            <a:gdLst/>
            <a:ahLst/>
            <a:cxnLst/>
            <a:rect l="l" t="t" r="r" b="b"/>
            <a:pathLst>
              <a:path w="1772461" h="1110926">
                <a:moveTo>
                  <a:pt x="1754463" y="942025"/>
                </a:moveTo>
                <a:lnTo>
                  <a:pt x="1731120" y="981655"/>
                </a:lnTo>
                <a:lnTo>
                  <a:pt x="1698520" y="1016615"/>
                </a:lnTo>
                <a:lnTo>
                  <a:pt x="1657020" y="1046523"/>
                </a:lnTo>
                <a:lnTo>
                  <a:pt x="1607075" y="1071050"/>
                </a:lnTo>
                <a:lnTo>
                  <a:pt x="1549233" y="1089929"/>
                </a:lnTo>
                <a:lnTo>
                  <a:pt x="1484126" y="1102952"/>
                </a:lnTo>
                <a:lnTo>
                  <a:pt x="1412469" y="1109977"/>
                </a:lnTo>
                <a:lnTo>
                  <a:pt x="1335046" y="1110926"/>
                </a:lnTo>
                <a:lnTo>
                  <a:pt x="1252706" y="1105789"/>
                </a:lnTo>
                <a:lnTo>
                  <a:pt x="1166351" y="1094623"/>
                </a:lnTo>
                <a:lnTo>
                  <a:pt x="1076927" y="1077550"/>
                </a:lnTo>
                <a:lnTo>
                  <a:pt x="985413" y="1054757"/>
                </a:lnTo>
                <a:lnTo>
                  <a:pt x="892813" y="1026493"/>
                </a:lnTo>
                <a:lnTo>
                  <a:pt x="800141" y="993069"/>
                </a:lnTo>
                <a:lnTo>
                  <a:pt x="708412" y="954850"/>
                </a:lnTo>
                <a:lnTo>
                  <a:pt x="618631" y="912255"/>
                </a:lnTo>
                <a:lnTo>
                  <a:pt x="531782" y="865752"/>
                </a:lnTo>
                <a:lnTo>
                  <a:pt x="448816" y="815848"/>
                </a:lnTo>
                <a:lnTo>
                  <a:pt x="370643" y="763092"/>
                </a:lnTo>
                <a:lnTo>
                  <a:pt x="298119" y="708061"/>
                </a:lnTo>
                <a:lnTo>
                  <a:pt x="232038" y="651358"/>
                </a:lnTo>
                <a:lnTo>
                  <a:pt x="173124" y="593605"/>
                </a:lnTo>
                <a:lnTo>
                  <a:pt x="122024" y="535433"/>
                </a:lnTo>
                <a:lnTo>
                  <a:pt x="79296" y="477481"/>
                </a:lnTo>
                <a:lnTo>
                  <a:pt x="45409" y="420384"/>
                </a:lnTo>
                <a:lnTo>
                  <a:pt x="20735" y="364766"/>
                </a:lnTo>
                <a:lnTo>
                  <a:pt x="5543" y="311238"/>
                </a:lnTo>
                <a:lnTo>
                  <a:pt x="0" y="260385"/>
                </a:lnTo>
                <a:lnTo>
                  <a:pt x="4167" y="212766"/>
                </a:lnTo>
                <a:lnTo>
                  <a:pt x="17998" y="168901"/>
                </a:lnTo>
                <a:lnTo>
                  <a:pt x="41341" y="129271"/>
                </a:lnTo>
                <a:lnTo>
                  <a:pt x="73941" y="94311"/>
                </a:lnTo>
                <a:lnTo>
                  <a:pt x="115441" y="64403"/>
                </a:lnTo>
                <a:lnTo>
                  <a:pt x="165386" y="39876"/>
                </a:lnTo>
                <a:lnTo>
                  <a:pt x="223228" y="20997"/>
                </a:lnTo>
                <a:lnTo>
                  <a:pt x="288334" y="7974"/>
                </a:lnTo>
                <a:lnTo>
                  <a:pt x="359992" y="949"/>
                </a:lnTo>
                <a:lnTo>
                  <a:pt x="437414" y="0"/>
                </a:lnTo>
                <a:lnTo>
                  <a:pt x="519754" y="5137"/>
                </a:lnTo>
                <a:lnTo>
                  <a:pt x="606109" y="16303"/>
                </a:lnTo>
                <a:lnTo>
                  <a:pt x="695534" y="33376"/>
                </a:lnTo>
                <a:lnTo>
                  <a:pt x="787047" y="56169"/>
                </a:lnTo>
                <a:lnTo>
                  <a:pt x="879647" y="84433"/>
                </a:lnTo>
                <a:lnTo>
                  <a:pt x="972320" y="117857"/>
                </a:lnTo>
                <a:lnTo>
                  <a:pt x="1064049" y="156076"/>
                </a:lnTo>
                <a:lnTo>
                  <a:pt x="1153830" y="198671"/>
                </a:lnTo>
                <a:lnTo>
                  <a:pt x="1240679" y="245174"/>
                </a:lnTo>
                <a:lnTo>
                  <a:pt x="1323644" y="295078"/>
                </a:lnTo>
                <a:lnTo>
                  <a:pt x="1401818" y="347834"/>
                </a:lnTo>
                <a:lnTo>
                  <a:pt x="1474342" y="402865"/>
                </a:lnTo>
                <a:lnTo>
                  <a:pt x="1540423" y="459568"/>
                </a:lnTo>
                <a:lnTo>
                  <a:pt x="1599336" y="517321"/>
                </a:lnTo>
                <a:lnTo>
                  <a:pt x="1650437" y="575492"/>
                </a:lnTo>
                <a:lnTo>
                  <a:pt x="1693164" y="633444"/>
                </a:lnTo>
                <a:lnTo>
                  <a:pt x="1727051" y="690542"/>
                </a:lnTo>
                <a:lnTo>
                  <a:pt x="1751726" y="746160"/>
                </a:lnTo>
                <a:lnTo>
                  <a:pt x="1766918" y="799688"/>
                </a:lnTo>
                <a:lnTo>
                  <a:pt x="1772461" y="850541"/>
                </a:lnTo>
                <a:lnTo>
                  <a:pt x="1768294" y="898160"/>
                </a:lnTo>
                <a:close/>
              </a:path>
            </a:pathLst>
          </a:custGeom>
          <a:solidFill>
            <a:srgbClr val="E4E4E4"/>
          </a:solidFill>
          <a:ln w="12700"/>
        </p:spPr>
      </p:sp>
      <p:sp>
        <p:nvSpPr>
          <p:cNvPr id="30" name="Shape 28"/>
          <p:cNvSpPr/>
          <p:nvPr/>
        </p:nvSpPr>
        <p:spPr>
          <a:xfrm>
            <a:off x="2724912" y="2118894"/>
            <a:ext cx="183327" cy="45720"/>
          </a:xfrm>
          <a:custGeom>
            <a:avLst/>
            <a:gdLst/>
            <a:ahLst/>
            <a:cxnLst/>
            <a:rect l="l" t="t" r="r" b="b"/>
            <a:pathLst>
              <a:path w="183327" h="45720">
                <a:moveTo>
                  <a:pt x="183327" y="45720"/>
                </a:moveTo>
                <a:lnTo>
                  <a:pt x="0" y="0"/>
                </a:lnTo>
              </a:path>
            </a:pathLst>
          </a:custGeom>
          <a:ln w="76200">
            <a:solidFill>
              <a:srgbClr val="E4E4E4"/>
            </a:solidFill>
            <a:prstDash val="solid"/>
          </a:ln>
        </p:spPr>
      </p:sp>
      <p:sp>
        <p:nvSpPr>
          <p:cNvPr id="31" name="Shape 29"/>
          <p:cNvSpPr/>
          <p:nvPr/>
        </p:nvSpPr>
        <p:spPr>
          <a:xfrm>
            <a:off x="4644705" y="2937738"/>
            <a:ext cx="183327" cy="45720"/>
          </a:xfrm>
          <a:custGeom>
            <a:avLst/>
            <a:gdLst/>
            <a:ahLst/>
            <a:cxnLst/>
            <a:rect l="l" t="t" r="r" b="b"/>
            <a:pathLst>
              <a:path w="183327" h="45720">
                <a:moveTo>
                  <a:pt x="0" y="0"/>
                </a:moveTo>
                <a:lnTo>
                  <a:pt x="183327" y="45720"/>
                </a:lnTo>
              </a:path>
            </a:pathLst>
          </a:custGeom>
          <a:ln w="76200">
            <a:solidFill>
              <a:srgbClr val="E4E4E4"/>
            </a:solidFill>
            <a:prstDash val="solid"/>
          </a:ln>
        </p:spPr>
      </p:sp>
      <p:sp>
        <p:nvSpPr>
          <p:cNvPr id="32" name="Shape 30"/>
          <p:cNvSpPr/>
          <p:nvPr/>
        </p:nvSpPr>
        <p:spPr>
          <a:xfrm>
            <a:off x="3037947" y="2088290"/>
            <a:ext cx="1477051" cy="925772"/>
          </a:xfrm>
          <a:custGeom>
            <a:avLst/>
            <a:gdLst/>
            <a:ahLst/>
            <a:cxnLst/>
            <a:rect l="l" t="t" r="r" b="b"/>
            <a:pathLst>
              <a:path w="1477051" h="925772">
                <a:moveTo>
                  <a:pt x="1462053" y="785021"/>
                </a:moveTo>
                <a:lnTo>
                  <a:pt x="1442600" y="818046"/>
                </a:lnTo>
                <a:lnTo>
                  <a:pt x="1415433" y="847179"/>
                </a:lnTo>
                <a:lnTo>
                  <a:pt x="1380850" y="872102"/>
                </a:lnTo>
                <a:lnTo>
                  <a:pt x="1339229" y="892542"/>
                </a:lnTo>
                <a:lnTo>
                  <a:pt x="1291027" y="908274"/>
                </a:lnTo>
                <a:lnTo>
                  <a:pt x="1236772" y="919127"/>
                </a:lnTo>
                <a:lnTo>
                  <a:pt x="1177058" y="924981"/>
                </a:lnTo>
                <a:lnTo>
                  <a:pt x="1112539" y="925772"/>
                </a:lnTo>
                <a:lnTo>
                  <a:pt x="1043922" y="921491"/>
                </a:lnTo>
                <a:lnTo>
                  <a:pt x="971959" y="912186"/>
                </a:lnTo>
                <a:lnTo>
                  <a:pt x="897439" y="897958"/>
                </a:lnTo>
                <a:lnTo>
                  <a:pt x="821178" y="878964"/>
                </a:lnTo>
                <a:lnTo>
                  <a:pt x="744011" y="855411"/>
                </a:lnTo>
                <a:lnTo>
                  <a:pt x="666784" y="827557"/>
                </a:lnTo>
                <a:lnTo>
                  <a:pt x="590343" y="795708"/>
                </a:lnTo>
                <a:lnTo>
                  <a:pt x="515526" y="760213"/>
                </a:lnTo>
                <a:lnTo>
                  <a:pt x="443151" y="721460"/>
                </a:lnTo>
                <a:lnTo>
                  <a:pt x="374013" y="679874"/>
                </a:lnTo>
                <a:lnTo>
                  <a:pt x="308869" y="635910"/>
                </a:lnTo>
                <a:lnTo>
                  <a:pt x="248432" y="590051"/>
                </a:lnTo>
                <a:lnTo>
                  <a:pt x="193365" y="542799"/>
                </a:lnTo>
                <a:lnTo>
                  <a:pt x="144270" y="494671"/>
                </a:lnTo>
                <a:lnTo>
                  <a:pt x="101687" y="446195"/>
                </a:lnTo>
                <a:lnTo>
                  <a:pt x="66080" y="397901"/>
                </a:lnTo>
                <a:lnTo>
                  <a:pt x="37841" y="350320"/>
                </a:lnTo>
                <a:lnTo>
                  <a:pt x="17279" y="303972"/>
                </a:lnTo>
                <a:lnTo>
                  <a:pt x="4619" y="259365"/>
                </a:lnTo>
                <a:lnTo>
                  <a:pt x="0" y="216988"/>
                </a:lnTo>
                <a:lnTo>
                  <a:pt x="3472" y="177305"/>
                </a:lnTo>
                <a:lnTo>
                  <a:pt x="14998" y="140751"/>
                </a:lnTo>
                <a:lnTo>
                  <a:pt x="34451" y="107726"/>
                </a:lnTo>
                <a:lnTo>
                  <a:pt x="61618" y="78592"/>
                </a:lnTo>
                <a:lnTo>
                  <a:pt x="96201" y="53669"/>
                </a:lnTo>
                <a:lnTo>
                  <a:pt x="137821" y="33230"/>
                </a:lnTo>
                <a:lnTo>
                  <a:pt x="186023" y="17497"/>
                </a:lnTo>
                <a:lnTo>
                  <a:pt x="240279" y="6645"/>
                </a:lnTo>
                <a:lnTo>
                  <a:pt x="299993" y="791"/>
                </a:lnTo>
                <a:lnTo>
                  <a:pt x="364512" y="0"/>
                </a:lnTo>
                <a:lnTo>
                  <a:pt x="433128" y="4280"/>
                </a:lnTo>
                <a:lnTo>
                  <a:pt x="505091" y="13585"/>
                </a:lnTo>
                <a:lnTo>
                  <a:pt x="579611" y="27813"/>
                </a:lnTo>
                <a:lnTo>
                  <a:pt x="655873" y="46808"/>
                </a:lnTo>
                <a:lnTo>
                  <a:pt x="733039" y="70361"/>
                </a:lnTo>
                <a:lnTo>
                  <a:pt x="810266" y="98214"/>
                </a:lnTo>
                <a:lnTo>
                  <a:pt x="886707" y="130063"/>
                </a:lnTo>
                <a:lnTo>
                  <a:pt x="961525" y="165559"/>
                </a:lnTo>
                <a:lnTo>
                  <a:pt x="1033899" y="204312"/>
                </a:lnTo>
                <a:lnTo>
                  <a:pt x="1103037" y="245898"/>
                </a:lnTo>
                <a:lnTo>
                  <a:pt x="1168181" y="289861"/>
                </a:lnTo>
                <a:lnTo>
                  <a:pt x="1228618" y="335721"/>
                </a:lnTo>
                <a:lnTo>
                  <a:pt x="1283686" y="382973"/>
                </a:lnTo>
                <a:lnTo>
                  <a:pt x="1332780" y="431101"/>
                </a:lnTo>
                <a:lnTo>
                  <a:pt x="1375364" y="479577"/>
                </a:lnTo>
                <a:lnTo>
                  <a:pt x="1410970" y="527870"/>
                </a:lnTo>
                <a:lnTo>
                  <a:pt x="1439209" y="575452"/>
                </a:lnTo>
                <a:lnTo>
                  <a:pt x="1459771" y="621800"/>
                </a:lnTo>
                <a:lnTo>
                  <a:pt x="1472431" y="666407"/>
                </a:lnTo>
                <a:lnTo>
                  <a:pt x="1477051" y="708784"/>
                </a:lnTo>
                <a:lnTo>
                  <a:pt x="1473578" y="748467"/>
                </a:lnTo>
                <a:close/>
              </a:path>
            </a:pathLst>
          </a:custGeom>
          <a:solidFill>
            <a:srgbClr val="FFFFFF"/>
          </a:solidFill>
          <a:ln w="19050">
            <a:solidFill>
              <a:srgbClr val="1B1B1B"/>
            </a:solidFill>
            <a:prstDash val="solid"/>
          </a:ln>
        </p:spPr>
      </p:sp>
      <p:sp>
        <p:nvSpPr>
          <p:cNvPr id="33" name="Shape 31"/>
          <p:cNvSpPr/>
          <p:nvPr/>
        </p:nvSpPr>
        <p:spPr>
          <a:xfrm>
            <a:off x="3324496" y="2233471"/>
            <a:ext cx="1063476" cy="666556"/>
          </a:xfrm>
          <a:custGeom>
            <a:avLst/>
            <a:gdLst/>
            <a:ahLst/>
            <a:cxnLst/>
            <a:rect l="l" t="t" r="r" b="b"/>
            <a:pathLst>
              <a:path w="1063476" h="666556">
                <a:moveTo>
                  <a:pt x="1052678" y="565215"/>
                </a:moveTo>
                <a:lnTo>
                  <a:pt x="1038672" y="588993"/>
                </a:lnTo>
                <a:lnTo>
                  <a:pt x="1019112" y="609969"/>
                </a:lnTo>
                <a:lnTo>
                  <a:pt x="994212" y="627914"/>
                </a:lnTo>
                <a:lnTo>
                  <a:pt x="964245" y="642630"/>
                </a:lnTo>
                <a:lnTo>
                  <a:pt x="929540" y="653957"/>
                </a:lnTo>
                <a:lnTo>
                  <a:pt x="890476" y="661771"/>
                </a:lnTo>
                <a:lnTo>
                  <a:pt x="847481" y="665986"/>
                </a:lnTo>
                <a:lnTo>
                  <a:pt x="801028" y="666556"/>
                </a:lnTo>
                <a:lnTo>
                  <a:pt x="751624" y="663474"/>
                </a:lnTo>
                <a:lnTo>
                  <a:pt x="699811" y="656774"/>
                </a:lnTo>
                <a:lnTo>
                  <a:pt x="646156" y="646530"/>
                </a:lnTo>
                <a:lnTo>
                  <a:pt x="591248" y="632854"/>
                </a:lnTo>
                <a:lnTo>
                  <a:pt x="535688" y="615896"/>
                </a:lnTo>
                <a:lnTo>
                  <a:pt x="480085" y="595841"/>
                </a:lnTo>
                <a:lnTo>
                  <a:pt x="425047" y="572910"/>
                </a:lnTo>
                <a:lnTo>
                  <a:pt x="371178" y="547353"/>
                </a:lnTo>
                <a:lnTo>
                  <a:pt x="319069" y="519451"/>
                </a:lnTo>
                <a:lnTo>
                  <a:pt x="269290" y="489509"/>
                </a:lnTo>
                <a:lnTo>
                  <a:pt x="222386" y="457855"/>
                </a:lnTo>
                <a:lnTo>
                  <a:pt x="178871" y="424837"/>
                </a:lnTo>
                <a:lnTo>
                  <a:pt x="139223" y="390815"/>
                </a:lnTo>
                <a:lnTo>
                  <a:pt x="103875" y="356163"/>
                </a:lnTo>
                <a:lnTo>
                  <a:pt x="73214" y="321260"/>
                </a:lnTo>
                <a:lnTo>
                  <a:pt x="47578" y="286489"/>
                </a:lnTo>
                <a:lnTo>
                  <a:pt x="27246" y="252230"/>
                </a:lnTo>
                <a:lnTo>
                  <a:pt x="12441" y="218860"/>
                </a:lnTo>
                <a:lnTo>
                  <a:pt x="3326" y="186743"/>
                </a:lnTo>
                <a:lnTo>
                  <a:pt x="0" y="156231"/>
                </a:lnTo>
                <a:lnTo>
                  <a:pt x="2500" y="127659"/>
                </a:lnTo>
                <a:lnTo>
                  <a:pt x="10799" y="101341"/>
                </a:lnTo>
                <a:lnTo>
                  <a:pt x="24805" y="77563"/>
                </a:lnTo>
                <a:lnTo>
                  <a:pt x="44365" y="56587"/>
                </a:lnTo>
                <a:lnTo>
                  <a:pt x="69265" y="38642"/>
                </a:lnTo>
                <a:lnTo>
                  <a:pt x="99231" y="23925"/>
                </a:lnTo>
                <a:lnTo>
                  <a:pt x="133937" y="12598"/>
                </a:lnTo>
                <a:lnTo>
                  <a:pt x="173001" y="4784"/>
                </a:lnTo>
                <a:lnTo>
                  <a:pt x="215995" y="570"/>
                </a:lnTo>
                <a:lnTo>
                  <a:pt x="262449" y="0"/>
                </a:lnTo>
                <a:lnTo>
                  <a:pt x="311853" y="3082"/>
                </a:lnTo>
                <a:lnTo>
                  <a:pt x="363666" y="9782"/>
                </a:lnTo>
                <a:lnTo>
                  <a:pt x="417320" y="20025"/>
                </a:lnTo>
                <a:lnTo>
                  <a:pt x="472228" y="33701"/>
                </a:lnTo>
                <a:lnTo>
                  <a:pt x="527788" y="50660"/>
                </a:lnTo>
                <a:lnTo>
                  <a:pt x="583392" y="70714"/>
                </a:lnTo>
                <a:lnTo>
                  <a:pt x="638429" y="93646"/>
                </a:lnTo>
                <a:lnTo>
                  <a:pt x="692298" y="119202"/>
                </a:lnTo>
                <a:lnTo>
                  <a:pt x="744407" y="147105"/>
                </a:lnTo>
                <a:lnTo>
                  <a:pt x="794187" y="177047"/>
                </a:lnTo>
                <a:lnTo>
                  <a:pt x="841091" y="208700"/>
                </a:lnTo>
                <a:lnTo>
                  <a:pt x="884605" y="241719"/>
                </a:lnTo>
                <a:lnTo>
                  <a:pt x="924254" y="275741"/>
                </a:lnTo>
                <a:lnTo>
                  <a:pt x="959602" y="310393"/>
                </a:lnTo>
                <a:lnTo>
                  <a:pt x="990262" y="345295"/>
                </a:lnTo>
                <a:lnTo>
                  <a:pt x="1015899" y="380067"/>
                </a:lnTo>
                <a:lnTo>
                  <a:pt x="1036231" y="414325"/>
                </a:lnTo>
                <a:lnTo>
                  <a:pt x="1051035" y="447696"/>
                </a:lnTo>
                <a:lnTo>
                  <a:pt x="1060151" y="479813"/>
                </a:lnTo>
                <a:lnTo>
                  <a:pt x="1063476" y="510324"/>
                </a:lnTo>
                <a:lnTo>
                  <a:pt x="1060976" y="538896"/>
                </a:lnTo>
                <a:close/>
              </a:path>
            </a:pathLst>
          </a:custGeom>
          <a:ln w="6350">
            <a:solidFill>
              <a:srgbClr val="4F7A43"/>
            </a:solidFill>
            <a:prstDash val="dash"/>
          </a:ln>
        </p:spPr>
      </p:sp>
      <p:sp>
        <p:nvSpPr>
          <p:cNvPr id="34" name="Shape 32"/>
          <p:cNvSpPr/>
          <p:nvPr/>
        </p:nvSpPr>
        <p:spPr>
          <a:xfrm>
            <a:off x="3516512" y="2353821"/>
            <a:ext cx="679443" cy="425855"/>
          </a:xfrm>
          <a:custGeom>
            <a:avLst/>
            <a:gdLst/>
            <a:ahLst/>
            <a:cxnLst/>
            <a:rect l="l" t="t" r="r" b="b"/>
            <a:pathLst>
              <a:path w="679443" h="425855">
                <a:moveTo>
                  <a:pt x="672544" y="361110"/>
                </a:moveTo>
                <a:lnTo>
                  <a:pt x="663596" y="376301"/>
                </a:lnTo>
                <a:lnTo>
                  <a:pt x="651099" y="389702"/>
                </a:lnTo>
                <a:lnTo>
                  <a:pt x="635191" y="401167"/>
                </a:lnTo>
                <a:lnTo>
                  <a:pt x="616045" y="410569"/>
                </a:lnTo>
                <a:lnTo>
                  <a:pt x="593873" y="417806"/>
                </a:lnTo>
                <a:lnTo>
                  <a:pt x="568915" y="422798"/>
                </a:lnTo>
                <a:lnTo>
                  <a:pt x="541446" y="425491"/>
                </a:lnTo>
                <a:lnTo>
                  <a:pt x="511768" y="425855"/>
                </a:lnTo>
                <a:lnTo>
                  <a:pt x="480204" y="423886"/>
                </a:lnTo>
                <a:lnTo>
                  <a:pt x="447101" y="419606"/>
                </a:lnTo>
                <a:lnTo>
                  <a:pt x="412822" y="413061"/>
                </a:lnTo>
                <a:lnTo>
                  <a:pt x="377742" y="404323"/>
                </a:lnTo>
                <a:lnTo>
                  <a:pt x="342245" y="393489"/>
                </a:lnTo>
                <a:lnTo>
                  <a:pt x="306721" y="380676"/>
                </a:lnTo>
                <a:lnTo>
                  <a:pt x="271558" y="366026"/>
                </a:lnTo>
                <a:lnTo>
                  <a:pt x="237142" y="349698"/>
                </a:lnTo>
                <a:lnTo>
                  <a:pt x="203850" y="331871"/>
                </a:lnTo>
                <a:lnTo>
                  <a:pt x="172046" y="312742"/>
                </a:lnTo>
                <a:lnTo>
                  <a:pt x="142080" y="292519"/>
                </a:lnTo>
                <a:lnTo>
                  <a:pt x="114279" y="271423"/>
                </a:lnTo>
                <a:lnTo>
                  <a:pt x="88948" y="249687"/>
                </a:lnTo>
                <a:lnTo>
                  <a:pt x="66364" y="227549"/>
                </a:lnTo>
                <a:lnTo>
                  <a:pt x="46776" y="205249"/>
                </a:lnTo>
                <a:lnTo>
                  <a:pt x="30397" y="183035"/>
                </a:lnTo>
                <a:lnTo>
                  <a:pt x="17407" y="161147"/>
                </a:lnTo>
                <a:lnTo>
                  <a:pt x="7948" y="139827"/>
                </a:lnTo>
                <a:lnTo>
                  <a:pt x="2125" y="119308"/>
                </a:lnTo>
                <a:lnTo>
                  <a:pt x="0" y="99814"/>
                </a:lnTo>
                <a:lnTo>
                  <a:pt x="1597" y="81560"/>
                </a:lnTo>
                <a:lnTo>
                  <a:pt x="6899" y="64745"/>
                </a:lnTo>
                <a:lnTo>
                  <a:pt x="15847" y="49554"/>
                </a:lnTo>
                <a:lnTo>
                  <a:pt x="28344" y="36153"/>
                </a:lnTo>
                <a:lnTo>
                  <a:pt x="44252" y="24688"/>
                </a:lnTo>
                <a:lnTo>
                  <a:pt x="63398" y="15286"/>
                </a:lnTo>
                <a:lnTo>
                  <a:pt x="85571" y="8049"/>
                </a:lnTo>
                <a:lnTo>
                  <a:pt x="110528" y="3057"/>
                </a:lnTo>
                <a:lnTo>
                  <a:pt x="137997" y="364"/>
                </a:lnTo>
                <a:lnTo>
                  <a:pt x="167675" y="0"/>
                </a:lnTo>
                <a:lnTo>
                  <a:pt x="199239" y="1969"/>
                </a:lnTo>
                <a:lnTo>
                  <a:pt x="232342" y="6249"/>
                </a:lnTo>
                <a:lnTo>
                  <a:pt x="266621" y="12794"/>
                </a:lnTo>
                <a:lnTo>
                  <a:pt x="301701" y="21531"/>
                </a:lnTo>
                <a:lnTo>
                  <a:pt x="337198" y="32366"/>
                </a:lnTo>
                <a:lnTo>
                  <a:pt x="372723" y="45179"/>
                </a:lnTo>
                <a:lnTo>
                  <a:pt x="407885" y="59829"/>
                </a:lnTo>
                <a:lnTo>
                  <a:pt x="442301" y="76157"/>
                </a:lnTo>
                <a:lnTo>
                  <a:pt x="475594" y="93983"/>
                </a:lnTo>
                <a:lnTo>
                  <a:pt x="507397" y="113113"/>
                </a:lnTo>
                <a:lnTo>
                  <a:pt x="537363" y="133336"/>
                </a:lnTo>
                <a:lnTo>
                  <a:pt x="565164" y="154431"/>
                </a:lnTo>
                <a:lnTo>
                  <a:pt x="590495" y="176168"/>
                </a:lnTo>
                <a:lnTo>
                  <a:pt x="613079" y="198306"/>
                </a:lnTo>
                <a:lnTo>
                  <a:pt x="632667" y="220605"/>
                </a:lnTo>
                <a:lnTo>
                  <a:pt x="649046" y="242820"/>
                </a:lnTo>
                <a:lnTo>
                  <a:pt x="662036" y="264708"/>
                </a:lnTo>
                <a:lnTo>
                  <a:pt x="671495" y="286028"/>
                </a:lnTo>
                <a:lnTo>
                  <a:pt x="677318" y="306547"/>
                </a:lnTo>
                <a:lnTo>
                  <a:pt x="679443" y="326041"/>
                </a:lnTo>
                <a:lnTo>
                  <a:pt x="677846" y="344295"/>
                </a:lnTo>
                <a:close/>
              </a:path>
            </a:pathLst>
          </a:custGeom>
          <a:ln w="6350">
            <a:solidFill>
              <a:srgbClr val="4F7A43"/>
            </a:solidFill>
            <a:prstDash val="dash"/>
          </a:ln>
        </p:spPr>
      </p:sp>
      <p:sp>
        <p:nvSpPr>
          <p:cNvPr id="35" name="Shape 33"/>
          <p:cNvSpPr/>
          <p:nvPr/>
        </p:nvSpPr>
        <p:spPr>
          <a:xfrm>
            <a:off x="3693758" y="2464914"/>
            <a:ext cx="324951" cy="203670"/>
          </a:xfrm>
          <a:custGeom>
            <a:avLst/>
            <a:gdLst/>
            <a:ahLst/>
            <a:cxnLst/>
            <a:rect l="l" t="t" r="r" b="b"/>
            <a:pathLst>
              <a:path w="324951" h="203670">
                <a:moveTo>
                  <a:pt x="321652" y="172705"/>
                </a:moveTo>
                <a:lnTo>
                  <a:pt x="317372" y="179970"/>
                </a:lnTo>
                <a:lnTo>
                  <a:pt x="311395" y="186379"/>
                </a:lnTo>
                <a:lnTo>
                  <a:pt x="303787" y="191863"/>
                </a:lnTo>
                <a:lnTo>
                  <a:pt x="294630" y="196359"/>
                </a:lnTo>
                <a:lnTo>
                  <a:pt x="284026" y="199820"/>
                </a:lnTo>
                <a:lnTo>
                  <a:pt x="272090" y="202208"/>
                </a:lnTo>
                <a:lnTo>
                  <a:pt x="258953" y="203496"/>
                </a:lnTo>
                <a:lnTo>
                  <a:pt x="244759" y="203670"/>
                </a:lnTo>
                <a:lnTo>
                  <a:pt x="229663" y="202728"/>
                </a:lnTo>
                <a:lnTo>
                  <a:pt x="213831" y="200681"/>
                </a:lnTo>
                <a:lnTo>
                  <a:pt x="197437" y="197551"/>
                </a:lnTo>
                <a:lnTo>
                  <a:pt x="180659" y="193372"/>
                </a:lnTo>
                <a:lnTo>
                  <a:pt x="163682" y="188190"/>
                </a:lnTo>
                <a:lnTo>
                  <a:pt x="146692" y="182063"/>
                </a:lnTo>
                <a:lnTo>
                  <a:pt x="129875" y="175056"/>
                </a:lnTo>
                <a:lnTo>
                  <a:pt x="113416" y="167247"/>
                </a:lnTo>
                <a:lnTo>
                  <a:pt x="97493" y="158721"/>
                </a:lnTo>
                <a:lnTo>
                  <a:pt x="82283" y="149572"/>
                </a:lnTo>
                <a:lnTo>
                  <a:pt x="67951" y="139900"/>
                </a:lnTo>
                <a:lnTo>
                  <a:pt x="54655" y="129811"/>
                </a:lnTo>
                <a:lnTo>
                  <a:pt x="42540" y="119416"/>
                </a:lnTo>
                <a:lnTo>
                  <a:pt x="31739" y="108828"/>
                </a:lnTo>
                <a:lnTo>
                  <a:pt x="22371" y="98163"/>
                </a:lnTo>
                <a:lnTo>
                  <a:pt x="14538" y="87538"/>
                </a:lnTo>
                <a:lnTo>
                  <a:pt x="8325" y="77070"/>
                </a:lnTo>
                <a:lnTo>
                  <a:pt x="3801" y="66874"/>
                </a:lnTo>
                <a:lnTo>
                  <a:pt x="1016" y="57060"/>
                </a:lnTo>
                <a:lnTo>
                  <a:pt x="0" y="47737"/>
                </a:lnTo>
                <a:lnTo>
                  <a:pt x="764" y="39007"/>
                </a:lnTo>
                <a:lnTo>
                  <a:pt x="3300" y="30965"/>
                </a:lnTo>
                <a:lnTo>
                  <a:pt x="7579" y="23700"/>
                </a:lnTo>
                <a:lnTo>
                  <a:pt x="13556" y="17290"/>
                </a:lnTo>
                <a:lnTo>
                  <a:pt x="21164" y="11807"/>
                </a:lnTo>
                <a:lnTo>
                  <a:pt x="30321" y="7311"/>
                </a:lnTo>
                <a:lnTo>
                  <a:pt x="40925" y="3849"/>
                </a:lnTo>
                <a:lnTo>
                  <a:pt x="52861" y="1462"/>
                </a:lnTo>
                <a:lnTo>
                  <a:pt x="65998" y="174"/>
                </a:lnTo>
                <a:lnTo>
                  <a:pt x="80193" y="0"/>
                </a:lnTo>
                <a:lnTo>
                  <a:pt x="95288" y="942"/>
                </a:lnTo>
                <a:lnTo>
                  <a:pt x="111120" y="2989"/>
                </a:lnTo>
                <a:lnTo>
                  <a:pt x="127514" y="6119"/>
                </a:lnTo>
                <a:lnTo>
                  <a:pt x="144292" y="10298"/>
                </a:lnTo>
                <a:lnTo>
                  <a:pt x="161269" y="15479"/>
                </a:lnTo>
                <a:lnTo>
                  <a:pt x="178259" y="21607"/>
                </a:lnTo>
                <a:lnTo>
                  <a:pt x="195076" y="28614"/>
                </a:lnTo>
                <a:lnTo>
                  <a:pt x="211535" y="36423"/>
                </a:lnTo>
                <a:lnTo>
                  <a:pt x="227458" y="44949"/>
                </a:lnTo>
                <a:lnTo>
                  <a:pt x="242668" y="54098"/>
                </a:lnTo>
                <a:lnTo>
                  <a:pt x="257000" y="63770"/>
                </a:lnTo>
                <a:lnTo>
                  <a:pt x="270296" y="73859"/>
                </a:lnTo>
                <a:lnTo>
                  <a:pt x="282411" y="84254"/>
                </a:lnTo>
                <a:lnTo>
                  <a:pt x="293212" y="94842"/>
                </a:lnTo>
                <a:lnTo>
                  <a:pt x="302580" y="105507"/>
                </a:lnTo>
                <a:lnTo>
                  <a:pt x="310413" y="116131"/>
                </a:lnTo>
                <a:lnTo>
                  <a:pt x="316626" y="126599"/>
                </a:lnTo>
                <a:lnTo>
                  <a:pt x="321150" y="136796"/>
                </a:lnTo>
                <a:lnTo>
                  <a:pt x="323935" y="146609"/>
                </a:lnTo>
                <a:lnTo>
                  <a:pt x="324951" y="155932"/>
                </a:lnTo>
                <a:lnTo>
                  <a:pt x="324187" y="164663"/>
                </a:lnTo>
                <a:close/>
              </a:path>
            </a:pathLst>
          </a:custGeom>
          <a:ln w="6350">
            <a:solidFill>
              <a:srgbClr val="4F7A43"/>
            </a:solidFill>
            <a:prstDash val="dash"/>
          </a:ln>
        </p:spPr>
      </p:sp>
      <p:sp>
        <p:nvSpPr>
          <p:cNvPr id="36" name="Shape 34"/>
          <p:cNvSpPr/>
          <p:nvPr/>
        </p:nvSpPr>
        <p:spPr>
          <a:xfrm>
            <a:off x="4389495" y="2810974"/>
            <a:ext cx="47362" cy="47362"/>
          </a:xfrm>
          <a:prstGeom prst="ellipse">
            <a:avLst/>
          </a:prstGeom>
          <a:solidFill>
            <a:srgbClr val="FFFFFF"/>
          </a:solidFill>
          <a:ln w="7620">
            <a:solidFill>
              <a:srgbClr val="4F7A43"/>
            </a:solidFill>
            <a:prstDash val="solid"/>
          </a:ln>
        </p:spPr>
      </p:sp>
      <p:sp>
        <p:nvSpPr>
          <p:cNvPr id="37" name="Shape 35"/>
          <p:cNvSpPr/>
          <p:nvPr/>
        </p:nvSpPr>
        <p:spPr>
          <a:xfrm>
            <a:off x="4323549" y="2884218"/>
            <a:ext cx="47362" cy="47362"/>
          </a:xfrm>
          <a:prstGeom prst="ellipse">
            <a:avLst/>
          </a:prstGeom>
          <a:solidFill>
            <a:srgbClr val="FFFFFF"/>
          </a:solidFill>
          <a:ln w="7620">
            <a:solidFill>
              <a:srgbClr val="4F7A43"/>
            </a:solidFill>
            <a:prstDash val="solid"/>
          </a:ln>
        </p:spPr>
      </p:sp>
      <p:sp>
        <p:nvSpPr>
          <p:cNvPr id="38" name="Shape 36"/>
          <p:cNvSpPr/>
          <p:nvPr/>
        </p:nvSpPr>
        <p:spPr>
          <a:xfrm>
            <a:off x="4207724" y="2926288"/>
            <a:ext cx="47362" cy="47362"/>
          </a:xfrm>
          <a:prstGeom prst="ellipse">
            <a:avLst/>
          </a:prstGeom>
          <a:solidFill>
            <a:srgbClr val="FFFFFF"/>
          </a:solidFill>
          <a:ln w="7620">
            <a:solidFill>
              <a:srgbClr val="4F7A43"/>
            </a:solidFill>
            <a:prstDash val="solid"/>
          </a:ln>
        </p:spPr>
      </p:sp>
      <p:sp>
        <p:nvSpPr>
          <p:cNvPr id="39" name="Shape 37"/>
          <p:cNvSpPr/>
          <p:nvPr/>
        </p:nvSpPr>
        <p:spPr>
          <a:xfrm>
            <a:off x="4052142" y="2933508"/>
            <a:ext cx="47362" cy="47362"/>
          </a:xfrm>
          <a:prstGeom prst="ellipse">
            <a:avLst/>
          </a:prstGeom>
          <a:solidFill>
            <a:srgbClr val="FFFFFF"/>
          </a:solidFill>
          <a:ln w="7620">
            <a:solidFill>
              <a:srgbClr val="4F7A43"/>
            </a:solidFill>
            <a:prstDash val="solid"/>
          </a:ln>
        </p:spPr>
      </p:sp>
      <p:sp>
        <p:nvSpPr>
          <p:cNvPr id="40" name="Shape 38"/>
          <p:cNvSpPr/>
          <p:nvPr/>
        </p:nvSpPr>
        <p:spPr>
          <a:xfrm>
            <a:off x="3870400" y="2905245"/>
            <a:ext cx="47362" cy="47362"/>
          </a:xfrm>
          <a:prstGeom prst="ellipse">
            <a:avLst/>
          </a:prstGeom>
          <a:solidFill>
            <a:srgbClr val="FFFFFF"/>
          </a:solidFill>
          <a:ln w="7620">
            <a:solidFill>
              <a:srgbClr val="4F7A43"/>
            </a:solidFill>
            <a:prstDash val="solid"/>
          </a:ln>
        </p:spPr>
      </p:sp>
      <p:sp>
        <p:nvSpPr>
          <p:cNvPr id="41" name="Shape 39"/>
          <p:cNvSpPr/>
          <p:nvPr/>
        </p:nvSpPr>
        <p:spPr>
          <a:xfrm>
            <a:off x="3678380" y="2843971"/>
            <a:ext cx="47362" cy="47362"/>
          </a:xfrm>
          <a:prstGeom prst="ellipse">
            <a:avLst/>
          </a:prstGeom>
          <a:solidFill>
            <a:srgbClr val="FFFFFF"/>
          </a:solidFill>
          <a:ln w="7620">
            <a:solidFill>
              <a:srgbClr val="4F7A43"/>
            </a:solidFill>
            <a:prstDash val="solid"/>
          </a:ln>
        </p:spPr>
      </p:sp>
      <p:sp>
        <p:nvSpPr>
          <p:cNvPr id="42" name="Shape 40"/>
          <p:cNvSpPr/>
          <p:nvPr/>
        </p:nvSpPr>
        <p:spPr>
          <a:xfrm>
            <a:off x="3492862" y="2755040"/>
            <a:ext cx="47362" cy="47362"/>
          </a:xfrm>
          <a:prstGeom prst="ellipse">
            <a:avLst/>
          </a:prstGeom>
          <a:solidFill>
            <a:srgbClr val="FFFFFF"/>
          </a:solidFill>
          <a:ln w="7620">
            <a:solidFill>
              <a:srgbClr val="4F7A43"/>
            </a:solidFill>
            <a:prstDash val="solid"/>
          </a:ln>
        </p:spPr>
      </p:sp>
      <p:sp>
        <p:nvSpPr>
          <p:cNvPr id="43" name="Shape 41"/>
          <p:cNvSpPr/>
          <p:nvPr/>
        </p:nvSpPr>
        <p:spPr>
          <a:xfrm>
            <a:off x="3330060" y="2646224"/>
            <a:ext cx="47362" cy="47362"/>
          </a:xfrm>
          <a:prstGeom prst="ellipse">
            <a:avLst/>
          </a:prstGeom>
          <a:solidFill>
            <a:srgbClr val="FFFFFF"/>
          </a:solidFill>
          <a:ln w="7620">
            <a:solidFill>
              <a:srgbClr val="4F7A43"/>
            </a:solidFill>
            <a:prstDash val="solid"/>
          </a:ln>
        </p:spPr>
      </p:sp>
      <p:sp>
        <p:nvSpPr>
          <p:cNvPr id="44" name="Shape 42"/>
          <p:cNvSpPr/>
          <p:nvPr/>
        </p:nvSpPr>
        <p:spPr>
          <a:xfrm>
            <a:off x="3204201" y="2527032"/>
            <a:ext cx="47362" cy="47362"/>
          </a:xfrm>
          <a:prstGeom prst="ellipse">
            <a:avLst/>
          </a:prstGeom>
          <a:solidFill>
            <a:srgbClr val="FFFFFF"/>
          </a:solidFill>
          <a:ln w="7620">
            <a:solidFill>
              <a:srgbClr val="4F7A43"/>
            </a:solidFill>
            <a:prstDash val="solid"/>
          </a:ln>
        </p:spPr>
      </p:sp>
      <p:sp>
        <p:nvSpPr>
          <p:cNvPr id="45" name="Shape 43"/>
          <p:cNvSpPr/>
          <p:nvPr/>
        </p:nvSpPr>
        <p:spPr>
          <a:xfrm>
            <a:off x="3126283" y="2407880"/>
            <a:ext cx="47362" cy="47362"/>
          </a:xfrm>
          <a:prstGeom prst="ellipse">
            <a:avLst/>
          </a:prstGeom>
          <a:solidFill>
            <a:srgbClr val="FFFFFF"/>
          </a:solidFill>
          <a:ln w="7620">
            <a:solidFill>
              <a:srgbClr val="4F7A43"/>
            </a:solidFill>
            <a:prstDash val="solid"/>
          </a:ln>
        </p:spPr>
      </p:sp>
      <p:sp>
        <p:nvSpPr>
          <p:cNvPr id="46" name="Shape 44"/>
          <p:cNvSpPr/>
          <p:nvPr/>
        </p:nvSpPr>
        <p:spPr>
          <a:xfrm>
            <a:off x="3103116" y="2299182"/>
            <a:ext cx="47362" cy="47362"/>
          </a:xfrm>
          <a:prstGeom prst="ellipse">
            <a:avLst/>
          </a:prstGeom>
          <a:solidFill>
            <a:srgbClr val="FFFFFF"/>
          </a:solidFill>
          <a:ln w="7620">
            <a:solidFill>
              <a:srgbClr val="4F7A43"/>
            </a:solidFill>
            <a:prstDash val="solid"/>
          </a:ln>
        </p:spPr>
      </p:sp>
      <p:sp>
        <p:nvSpPr>
          <p:cNvPr id="47" name="Shape 45"/>
          <p:cNvSpPr/>
          <p:nvPr/>
        </p:nvSpPr>
        <p:spPr>
          <a:xfrm>
            <a:off x="3136725" y="2210436"/>
            <a:ext cx="47362" cy="47362"/>
          </a:xfrm>
          <a:prstGeom prst="ellipse">
            <a:avLst/>
          </a:prstGeom>
          <a:solidFill>
            <a:srgbClr val="FFFFFF"/>
          </a:solidFill>
          <a:ln w="7620">
            <a:solidFill>
              <a:srgbClr val="4F7A43"/>
            </a:solidFill>
            <a:prstDash val="solid"/>
          </a:ln>
        </p:spPr>
      </p:sp>
      <p:sp>
        <p:nvSpPr>
          <p:cNvPr id="48" name="Shape 46"/>
          <p:cNvSpPr/>
          <p:nvPr/>
        </p:nvSpPr>
        <p:spPr>
          <a:xfrm>
            <a:off x="3224172" y="2149398"/>
            <a:ext cx="47362" cy="47362"/>
          </a:xfrm>
          <a:prstGeom prst="ellipse">
            <a:avLst/>
          </a:prstGeom>
          <a:solidFill>
            <a:srgbClr val="FFFFFF"/>
          </a:solidFill>
          <a:ln w="7620">
            <a:solidFill>
              <a:srgbClr val="4F7A43"/>
            </a:solidFill>
            <a:prstDash val="solid"/>
          </a:ln>
        </p:spPr>
      </p:sp>
      <p:sp>
        <p:nvSpPr>
          <p:cNvPr id="49" name="Shape 47"/>
          <p:cNvSpPr/>
          <p:nvPr/>
        </p:nvSpPr>
        <p:spPr>
          <a:xfrm>
            <a:off x="3357815" y="2121402"/>
            <a:ext cx="47362" cy="47362"/>
          </a:xfrm>
          <a:prstGeom prst="ellipse">
            <a:avLst/>
          </a:prstGeom>
          <a:solidFill>
            <a:srgbClr val="FFFFFF"/>
          </a:solidFill>
          <a:ln w="7620">
            <a:solidFill>
              <a:srgbClr val="4F7A43"/>
            </a:solidFill>
            <a:prstDash val="solid"/>
          </a:ln>
        </p:spPr>
      </p:sp>
      <p:sp>
        <p:nvSpPr>
          <p:cNvPr id="50" name="Shape 48"/>
          <p:cNvSpPr/>
          <p:nvPr/>
        </p:nvSpPr>
        <p:spPr>
          <a:xfrm>
            <a:off x="3525975" y="2128895"/>
            <a:ext cx="47362" cy="47362"/>
          </a:xfrm>
          <a:prstGeom prst="ellipse">
            <a:avLst/>
          </a:prstGeom>
          <a:solidFill>
            <a:srgbClr val="FFFFFF"/>
          </a:solidFill>
          <a:ln w="7620">
            <a:solidFill>
              <a:srgbClr val="4F7A43"/>
            </a:solidFill>
            <a:prstDash val="solid"/>
          </a:ln>
        </p:spPr>
      </p:sp>
      <p:sp>
        <p:nvSpPr>
          <p:cNvPr id="51" name="Shape 49"/>
          <p:cNvSpPr/>
          <p:nvPr/>
        </p:nvSpPr>
        <p:spPr>
          <a:xfrm>
            <a:off x="3713957" y="2171221"/>
            <a:ext cx="47362" cy="47362"/>
          </a:xfrm>
          <a:prstGeom prst="ellipse">
            <a:avLst/>
          </a:prstGeom>
          <a:solidFill>
            <a:srgbClr val="FFFFFF"/>
          </a:solidFill>
          <a:ln w="7620">
            <a:solidFill>
              <a:srgbClr val="4F7A43"/>
            </a:solidFill>
            <a:prstDash val="solid"/>
          </a:ln>
        </p:spPr>
      </p:sp>
      <p:sp>
        <p:nvSpPr>
          <p:cNvPr id="52" name="Shape 50"/>
          <p:cNvSpPr/>
          <p:nvPr/>
        </p:nvSpPr>
        <p:spPr>
          <a:xfrm>
            <a:off x="3905333" y="2244683"/>
            <a:ext cx="47362" cy="47362"/>
          </a:xfrm>
          <a:prstGeom prst="ellipse">
            <a:avLst/>
          </a:prstGeom>
          <a:solidFill>
            <a:srgbClr val="FFFFFF"/>
          </a:solidFill>
          <a:ln w="7620">
            <a:solidFill>
              <a:srgbClr val="4F7A43"/>
            </a:solidFill>
            <a:prstDash val="solid"/>
          </a:ln>
        </p:spPr>
      </p:sp>
      <p:sp>
        <p:nvSpPr>
          <p:cNvPr id="53" name="Shape 51"/>
          <p:cNvSpPr/>
          <p:nvPr/>
        </p:nvSpPr>
        <p:spPr>
          <a:xfrm>
            <a:off x="4083378" y="2342860"/>
            <a:ext cx="47362" cy="47362"/>
          </a:xfrm>
          <a:prstGeom prst="ellipse">
            <a:avLst/>
          </a:prstGeom>
          <a:solidFill>
            <a:srgbClr val="FFFFFF"/>
          </a:solidFill>
          <a:ln w="7620">
            <a:solidFill>
              <a:srgbClr val="4F7A43"/>
            </a:solidFill>
            <a:prstDash val="solid"/>
          </a:ln>
        </p:spPr>
      </p:sp>
      <p:sp>
        <p:nvSpPr>
          <p:cNvPr id="54" name="Shape 52"/>
          <p:cNvSpPr/>
          <p:nvPr/>
        </p:nvSpPr>
        <p:spPr>
          <a:xfrm>
            <a:off x="4232532" y="2457172"/>
            <a:ext cx="47362" cy="47362"/>
          </a:xfrm>
          <a:prstGeom prst="ellipse">
            <a:avLst/>
          </a:prstGeom>
          <a:solidFill>
            <a:srgbClr val="FFFFFF"/>
          </a:solidFill>
          <a:ln w="7620">
            <a:solidFill>
              <a:srgbClr val="4F7A43"/>
            </a:solidFill>
            <a:prstDash val="solid"/>
          </a:ln>
        </p:spPr>
      </p:sp>
      <p:sp>
        <p:nvSpPr>
          <p:cNvPr id="55" name="Shape 53"/>
          <p:cNvSpPr/>
          <p:nvPr/>
        </p:nvSpPr>
        <p:spPr>
          <a:xfrm>
            <a:off x="4339762" y="2577630"/>
            <a:ext cx="47362" cy="47362"/>
          </a:xfrm>
          <a:prstGeom prst="ellipse">
            <a:avLst/>
          </a:prstGeom>
          <a:solidFill>
            <a:srgbClr val="FFFFFF"/>
          </a:solidFill>
          <a:ln w="7620">
            <a:solidFill>
              <a:srgbClr val="4F7A43"/>
            </a:solidFill>
            <a:prstDash val="solid"/>
          </a:ln>
        </p:spPr>
      </p:sp>
      <p:sp>
        <p:nvSpPr>
          <p:cNvPr id="56" name="Shape 54"/>
          <p:cNvSpPr/>
          <p:nvPr/>
        </p:nvSpPr>
        <p:spPr>
          <a:xfrm>
            <a:off x="4395697" y="2693706"/>
            <a:ext cx="47362" cy="47362"/>
          </a:xfrm>
          <a:prstGeom prst="ellipse">
            <a:avLst/>
          </a:prstGeom>
          <a:solidFill>
            <a:srgbClr val="FFFFFF"/>
          </a:solidFill>
          <a:ln w="7620">
            <a:solidFill>
              <a:srgbClr val="4F7A43"/>
            </a:solidFill>
            <a:prstDash val="solid"/>
          </a:ln>
        </p:spPr>
      </p:sp>
      <p:sp>
        <p:nvSpPr>
          <p:cNvPr id="57" name="Shape 55"/>
          <p:cNvSpPr/>
          <p:nvPr/>
        </p:nvSpPr>
        <p:spPr>
          <a:xfrm>
            <a:off x="4395447" y="2795257"/>
            <a:ext cx="47362" cy="47362"/>
          </a:xfrm>
          <a:prstGeom prst="ellipse">
            <a:avLst/>
          </a:prstGeom>
          <a:solidFill>
            <a:srgbClr val="FFFFFF"/>
          </a:solidFill>
          <a:ln w="7620">
            <a:solidFill>
              <a:srgbClr val="4F7A43"/>
            </a:solidFill>
            <a:prstDash val="solid"/>
          </a:ln>
        </p:spPr>
      </p:sp>
      <p:sp>
        <p:nvSpPr>
          <p:cNvPr id="58" name="Shape 56"/>
          <p:cNvSpPr/>
          <p:nvPr/>
        </p:nvSpPr>
        <p:spPr>
          <a:xfrm>
            <a:off x="3823249" y="2826190"/>
            <a:ext cx="735785" cy="215929"/>
          </a:xfrm>
          <a:custGeom>
            <a:avLst/>
            <a:gdLst/>
            <a:ahLst/>
            <a:cxnLst/>
            <a:rect l="l" t="t" r="r" b="b"/>
            <a:pathLst>
              <a:path w="735785" h="215929">
                <a:moveTo>
                  <a:pt x="735785" y="0"/>
                </a:moveTo>
                <a:lnTo>
                  <a:pt x="732039" y="29386"/>
                </a:lnTo>
                <a:lnTo>
                  <a:pt x="724010" y="57097"/>
                </a:lnTo>
                <a:lnTo>
                  <a:pt x="711742" y="82982"/>
                </a:lnTo>
                <a:lnTo>
                  <a:pt x="695302" y="106899"/>
                </a:lnTo>
                <a:lnTo>
                  <a:pt x="674781" y="128714"/>
                </a:lnTo>
                <a:lnTo>
                  <a:pt x="650292" y="148310"/>
                </a:lnTo>
                <a:lnTo>
                  <a:pt x="621969" y="165577"/>
                </a:lnTo>
                <a:lnTo>
                  <a:pt x="589969" y="180422"/>
                </a:lnTo>
                <a:lnTo>
                  <a:pt x="554466" y="192761"/>
                </a:lnTo>
                <a:lnTo>
                  <a:pt x="515657" y="202528"/>
                </a:lnTo>
                <a:lnTo>
                  <a:pt x="473755" y="209669"/>
                </a:lnTo>
                <a:lnTo>
                  <a:pt x="428989" y="214144"/>
                </a:lnTo>
                <a:lnTo>
                  <a:pt x="381608" y="215929"/>
                </a:lnTo>
                <a:lnTo>
                  <a:pt x="331870" y="215014"/>
                </a:lnTo>
                <a:lnTo>
                  <a:pt x="280050" y="211404"/>
                </a:lnTo>
                <a:lnTo>
                  <a:pt x="226433" y="205118"/>
                </a:lnTo>
                <a:lnTo>
                  <a:pt x="171313" y="196193"/>
                </a:lnTo>
                <a:lnTo>
                  <a:pt x="114993" y="184676"/>
                </a:lnTo>
                <a:lnTo>
                  <a:pt x="57784" y="170630"/>
                </a:lnTo>
                <a:lnTo>
                  <a:pt x="0" y="154134"/>
                </a:lnTo>
              </a:path>
            </a:pathLst>
          </a:custGeom>
          <a:ln w="44450">
            <a:solidFill>
              <a:srgbClr val="C4262E"/>
            </a:solidFill>
            <a:prstDash val="solid"/>
          </a:ln>
        </p:spPr>
      </p:sp>
      <p:sp>
        <p:nvSpPr>
          <p:cNvPr id="59" name="Shape 57"/>
          <p:cNvSpPr/>
          <p:nvPr/>
        </p:nvSpPr>
        <p:spPr>
          <a:xfrm rot="-741527">
            <a:off x="3848121" y="2856172"/>
            <a:ext cx="712799" cy="109296"/>
          </a:xfrm>
          <a:prstGeom prst="rect">
            <a:avLst/>
          </a:prstGeom>
          <a:solidFill>
            <a:srgbClr val="1B1B1B"/>
          </a:solidFill>
          <a:ln/>
        </p:spPr>
      </p:sp>
      <p:sp>
        <p:nvSpPr>
          <p:cNvPr id="60" name="Shape 58"/>
          <p:cNvSpPr/>
          <p:nvPr/>
        </p:nvSpPr>
        <p:spPr>
          <a:xfrm>
            <a:off x="4301349" y="2974295"/>
            <a:ext cx="324559" cy="139210"/>
          </a:xfrm>
          <a:custGeom>
            <a:avLst/>
            <a:gdLst/>
            <a:ahLst/>
            <a:cxnLst/>
            <a:rect l="l" t="t" r="r" b="b"/>
            <a:pathLst>
              <a:path w="324559" h="139210">
                <a:moveTo>
                  <a:pt x="324559" y="139210"/>
                </a:moveTo>
                <a:lnTo>
                  <a:pt x="0" y="0"/>
                </a:lnTo>
              </a:path>
            </a:pathLst>
          </a:custGeom>
          <a:ln w="19050">
            <a:solidFill>
              <a:srgbClr val="C4262E"/>
            </a:solidFill>
            <a:prstDash val="solid"/>
            <a:tailEnd type="triangle"/>
          </a:ln>
        </p:spPr>
      </p:sp>
      <p:sp>
        <p:nvSpPr>
          <p:cNvPr id="61" name="Shape 59"/>
          <p:cNvSpPr/>
          <p:nvPr/>
        </p:nvSpPr>
        <p:spPr>
          <a:xfrm>
            <a:off x="4162961" y="2991145"/>
            <a:ext cx="88117" cy="183760"/>
          </a:xfrm>
          <a:custGeom>
            <a:avLst/>
            <a:gdLst/>
            <a:ahLst/>
            <a:cxnLst/>
            <a:rect l="l" t="t" r="r" b="b"/>
            <a:pathLst>
              <a:path w="88117" h="183760">
                <a:moveTo>
                  <a:pt x="88117" y="183760"/>
                </a:moveTo>
                <a:lnTo>
                  <a:pt x="0" y="0"/>
                </a:lnTo>
              </a:path>
            </a:pathLst>
          </a:custGeom>
          <a:ln w="19050">
            <a:solidFill>
              <a:srgbClr val="C4262E"/>
            </a:solidFill>
            <a:prstDash val="solid"/>
            <a:tailEnd type="triangle"/>
          </a:ln>
        </p:spPr>
      </p:sp>
      <p:sp>
        <p:nvSpPr>
          <p:cNvPr id="62" name="Shape 60"/>
          <p:cNvSpPr/>
          <p:nvPr/>
        </p:nvSpPr>
        <p:spPr>
          <a:xfrm>
            <a:off x="3863643" y="2550107"/>
            <a:ext cx="217440" cy="273935"/>
          </a:xfrm>
          <a:custGeom>
            <a:avLst/>
            <a:gdLst/>
            <a:ahLst/>
            <a:cxnLst/>
            <a:rect l="l" t="t" r="r" b="b"/>
            <a:pathLst>
              <a:path w="217440" h="273935">
                <a:moveTo>
                  <a:pt x="217440" y="273935"/>
                </a:moveTo>
                <a:lnTo>
                  <a:pt x="0" y="0"/>
                </a:lnTo>
              </a:path>
            </a:pathLst>
          </a:custGeom>
          <a:ln w="12700">
            <a:solidFill>
              <a:srgbClr val="4F7A43"/>
            </a:solidFill>
            <a:prstDash val="dash"/>
            <a:tailEnd type="triangle"/>
          </a:ln>
        </p:spPr>
      </p:sp>
      <p:sp>
        <p:nvSpPr>
          <p:cNvPr id="63" name="Shape 61"/>
          <p:cNvSpPr/>
          <p:nvPr/>
        </p:nvSpPr>
        <p:spPr>
          <a:xfrm>
            <a:off x="3230699" y="2298178"/>
            <a:ext cx="731520" cy="146304"/>
          </a:xfrm>
          <a:prstGeom prst="rect">
            <a:avLst/>
          </a:prstGeom>
          <a:solidFill>
            <a:srgbClr val="FFFFFF"/>
          </a:solidFill>
          <a:ln/>
        </p:spPr>
      </p:sp>
      <p:sp>
        <p:nvSpPr>
          <p:cNvPr id="64" name="Text 62"/>
          <p:cNvSpPr txBox="1"/>
          <p:nvPr/>
        </p:nvSpPr>
        <p:spPr>
          <a:xfrm>
            <a:off x="3230699" y="2298178"/>
            <a:ext cx="731520" cy="146304"/>
          </a:xfrm>
          <a:prstGeom prst="rect">
            <a:avLst/>
          </a:prstGeom>
          <a:noFill/>
          <a:ln/>
        </p:spPr>
        <p:txBody>
          <a:bodyPr wrap="square" lIns="0" tIns="0" rIns="0" bIns="0" rtlCol="0" anchor="ctr"/>
          <a:lstStyle/>
          <a:p>
            <a:pPr algn="ctr" indent="0" marL="0">
              <a:buNone/>
            </a:pPr>
            <a:r>
              <a:rPr lang="en-US" sz="550" b="1" dirty="0">
                <a:solidFill>
                  <a:srgbClr val="4F7A43"/>
                </a:solidFill>
                <a:latin typeface="Arial" pitchFamily="34" charset="0"/>
                <a:ea typeface="Arial" pitchFamily="34" charset="-122"/>
                <a:cs typeface="Arial" pitchFamily="34" charset="-120"/>
              </a:rPr>
              <a:t>OPEN HILL PARK</a:t>
            </a:r>
            <a:endParaRPr lang="en-US" sz="550" dirty="0"/>
          </a:p>
        </p:txBody>
      </p:sp>
      <p:sp>
        <p:nvSpPr>
          <p:cNvPr id="65" name="Text 63"/>
          <p:cNvSpPr txBox="1"/>
          <p:nvPr/>
        </p:nvSpPr>
        <p:spPr>
          <a:xfrm>
            <a:off x="2670048" y="3675888"/>
            <a:ext cx="2212848" cy="182880"/>
          </a:xfrm>
          <a:prstGeom prst="rect">
            <a:avLst/>
          </a:prstGeom>
          <a:noFill/>
          <a:ln/>
        </p:spPr>
        <p:txBody>
          <a:bodyPr wrap="square" lIns="0" tIns="0" rIns="0" bIns="0" rtlCol="0" anchor="t"/>
          <a:lstStyle/>
          <a:p>
            <a:pPr indent="0" marL="0">
              <a:buNone/>
            </a:pPr>
            <a:r>
              <a:rPr lang="en-US" sz="800" i="1" dirty="0">
                <a:solidFill>
                  <a:srgbClr val="C4262E"/>
                </a:solidFill>
                <a:latin typeface="Arial" pitchFamily="34" charset="0"/>
                <a:ea typeface="Arial" pitchFamily="34" charset="-122"/>
                <a:cs typeface="Arial" pitchFamily="34" charset="-120"/>
              </a:rPr>
              <a:t>building the protest interface</a:t>
            </a:r>
            <a:endParaRPr lang="en-US" sz="800" dirty="0"/>
          </a:p>
        </p:txBody>
      </p:sp>
      <p:sp>
        <p:nvSpPr>
          <p:cNvPr id="66" name="Text 64"/>
          <p:cNvSpPr txBox="1"/>
          <p:nvPr/>
        </p:nvSpPr>
        <p:spPr>
          <a:xfrm>
            <a:off x="2670048" y="3886200"/>
            <a:ext cx="2212848" cy="1143000"/>
          </a:xfrm>
          <a:prstGeom prst="rect">
            <a:avLst/>
          </a:prstGeom>
          <a:noFill/>
          <a:ln/>
        </p:spPr>
        <p:txBody>
          <a:bodyPr wrap="square" lIns="0" tIns="0" rIns="0" bIns="0" rtlCol="0" anchor="t"/>
          <a:lstStyle/>
          <a:p>
            <a:pPr indent="0" marL="0">
              <a:buNone/>
            </a:pPr>
            <a:r>
              <a:rPr lang="en-US" sz="750" dirty="0">
                <a:solidFill>
                  <a:srgbClr val="1B1B1B"/>
                </a:solidFill>
                <a:latin typeface="Arial" pitchFamily="34" charset="0"/>
                <a:ea typeface="Arial" pitchFamily="34" charset="-122"/>
                <a:cs typeface="Arial" pitchFamily="34" charset="-120"/>
              </a:rPr>
              <a:t>Build the protest edge itself: one thick building along the street whose ground floor is a covered public room for speech, press and gathering, with work stacked behind and above.</a:t>
            </a:r>
            <a:endParaRPr lang="en-US" sz="750" dirty="0"/>
          </a:p>
        </p:txBody>
      </p:sp>
      <p:sp>
        <p:nvSpPr>
          <p:cNvPr id="67" name="Text 65"/>
          <p:cNvSpPr txBox="1"/>
          <p:nvPr/>
        </p:nvSpPr>
        <p:spPr>
          <a:xfrm>
            <a:off x="2670048" y="5120640"/>
            <a:ext cx="2212848" cy="566928"/>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WHAT I DO  </a:t>
            </a:r>
            <a:endParaRPr lang="en-US" sz="750" dirty="0"/>
          </a:p>
          <a:p>
            <a:pPr indent="0" marL="0">
              <a:buNone/>
            </a:pPr>
            <a:r>
              <a:rPr lang="en-US" sz="750" dirty="0">
                <a:solidFill>
                  <a:srgbClr val="1B1B1B"/>
                </a:solidFill>
                <a:latin typeface="Arial" pitchFamily="34" charset="0"/>
                <a:ea typeface="Arial" pitchFamily="34" charset="-122"/>
                <a:cs typeface="Arial" pitchFamily="34" charset="-120"/>
              </a:rPr>
              <a:t>① extrude a bar on the edge  ② lift it into an arcade  ③ cut passages to the hill</a:t>
            </a:r>
            <a:endParaRPr lang="en-US" sz="750" dirty="0"/>
          </a:p>
        </p:txBody>
      </p:sp>
      <p:sp>
        <p:nvSpPr>
          <p:cNvPr id="68" name="Text 66"/>
          <p:cNvSpPr txBox="1"/>
          <p:nvPr/>
        </p:nvSpPr>
        <p:spPr>
          <a:xfrm>
            <a:off x="2670048" y="5760720"/>
            <a:ext cx="2212848" cy="457200"/>
          </a:xfrm>
          <a:prstGeom prst="rect">
            <a:avLst/>
          </a:prstGeom>
          <a:noFill/>
          <a:ln/>
        </p:spPr>
        <p:txBody>
          <a:bodyPr wrap="square" lIns="0" tIns="0" rIns="0" bIns="0" rtlCol="0" anchor="t"/>
          <a:lstStyle/>
          <a:p>
            <a:pPr indent="0" marL="0">
              <a:buNone/>
            </a:pPr>
            <a:r>
              <a:rPr lang="en-US" sz="700" b="1" dirty="0">
                <a:solidFill>
                  <a:srgbClr val="4F7A43"/>
                </a:solidFill>
                <a:latin typeface="Arial" pitchFamily="34" charset="0"/>
                <a:ea typeface="Arial" pitchFamily="34" charset="-122"/>
                <a:cs typeface="Arial" pitchFamily="34" charset="-120"/>
              </a:rPr>
              <a:t>TOPOGRAPHY  </a:t>
            </a:r>
            <a:pPr indent="0" marL="0">
              <a:buNone/>
            </a:pPr>
            <a:r>
              <a:rPr lang="en-US" sz="700" dirty="0">
                <a:solidFill>
                  <a:srgbClr val="1B1B1B"/>
                </a:solidFill>
                <a:latin typeface="Arial" pitchFamily="34" charset="0"/>
                <a:ea typeface="Arial" pitchFamily="34" charset="-122"/>
                <a:cs typeface="Arial" pitchFamily="34" charset="-120"/>
              </a:rPr>
              <a:t>Sits on the flat road edge; the hill is untouched and becomes the backdrop.</a:t>
            </a:r>
            <a:endParaRPr lang="en-US" sz="700" dirty="0"/>
          </a:p>
        </p:txBody>
      </p:sp>
      <p:sp>
        <p:nvSpPr>
          <p:cNvPr id="69" name="Shape 67"/>
          <p:cNvSpPr/>
          <p:nvPr/>
        </p:nvSpPr>
        <p:spPr>
          <a:xfrm>
            <a:off x="4974336" y="1280160"/>
            <a:ext cx="2212848" cy="2331720"/>
          </a:xfrm>
          <a:prstGeom prst="rect">
            <a:avLst/>
          </a:prstGeom>
          <a:solidFill>
            <a:srgbClr val="FFFFFF"/>
          </a:solidFill>
          <a:ln w="6350">
            <a:solidFill>
              <a:srgbClr val="D9D9D9"/>
            </a:solidFill>
            <a:prstDash val="solid"/>
          </a:ln>
        </p:spPr>
      </p:sp>
      <p:sp>
        <p:nvSpPr>
          <p:cNvPr id="70" name="Text 68"/>
          <p:cNvSpPr txBox="1"/>
          <p:nvPr/>
        </p:nvSpPr>
        <p:spPr>
          <a:xfrm>
            <a:off x="5047488" y="133502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C  </a:t>
            </a:r>
            <a:pPr indent="0" marL="0">
              <a:buNone/>
            </a:pPr>
            <a:r>
              <a:rPr lang="en-US" sz="750" b="1" spc="50" kern="0" dirty="0">
                <a:solidFill>
                  <a:srgbClr val="1B1B1B"/>
                </a:solidFill>
                <a:latin typeface="Arial" pitchFamily="34" charset="0"/>
                <a:ea typeface="Arial" pitchFamily="34" charset="-122"/>
                <a:cs typeface="Arial" pitchFamily="34" charset="-120"/>
              </a:rPr>
              <a:t>THE PUBLIC ASCENT</a:t>
            </a:r>
            <a:endParaRPr lang="en-US" sz="750" dirty="0"/>
          </a:p>
        </p:txBody>
      </p:sp>
      <p:sp>
        <p:nvSpPr>
          <p:cNvPr id="71" name="Shape 69"/>
          <p:cNvSpPr/>
          <p:nvPr/>
        </p:nvSpPr>
        <p:spPr>
          <a:xfrm>
            <a:off x="5194530" y="1995713"/>
            <a:ext cx="1772461" cy="1110926"/>
          </a:xfrm>
          <a:custGeom>
            <a:avLst/>
            <a:gdLst/>
            <a:ahLst/>
            <a:cxnLst/>
            <a:rect l="l" t="t" r="r" b="b"/>
            <a:pathLst>
              <a:path w="1772461" h="1110926">
                <a:moveTo>
                  <a:pt x="1754463" y="942025"/>
                </a:moveTo>
                <a:lnTo>
                  <a:pt x="1731120" y="981655"/>
                </a:lnTo>
                <a:lnTo>
                  <a:pt x="1698520" y="1016615"/>
                </a:lnTo>
                <a:lnTo>
                  <a:pt x="1657020" y="1046523"/>
                </a:lnTo>
                <a:lnTo>
                  <a:pt x="1607075" y="1071050"/>
                </a:lnTo>
                <a:lnTo>
                  <a:pt x="1549233" y="1089929"/>
                </a:lnTo>
                <a:lnTo>
                  <a:pt x="1484126" y="1102952"/>
                </a:lnTo>
                <a:lnTo>
                  <a:pt x="1412469" y="1109977"/>
                </a:lnTo>
                <a:lnTo>
                  <a:pt x="1335046" y="1110926"/>
                </a:lnTo>
                <a:lnTo>
                  <a:pt x="1252706" y="1105789"/>
                </a:lnTo>
                <a:lnTo>
                  <a:pt x="1166351" y="1094623"/>
                </a:lnTo>
                <a:lnTo>
                  <a:pt x="1076927" y="1077550"/>
                </a:lnTo>
                <a:lnTo>
                  <a:pt x="985413" y="1054757"/>
                </a:lnTo>
                <a:lnTo>
                  <a:pt x="892813" y="1026493"/>
                </a:lnTo>
                <a:lnTo>
                  <a:pt x="800141" y="993069"/>
                </a:lnTo>
                <a:lnTo>
                  <a:pt x="708412" y="954850"/>
                </a:lnTo>
                <a:lnTo>
                  <a:pt x="618631" y="912255"/>
                </a:lnTo>
                <a:lnTo>
                  <a:pt x="531782" y="865752"/>
                </a:lnTo>
                <a:lnTo>
                  <a:pt x="448816" y="815848"/>
                </a:lnTo>
                <a:lnTo>
                  <a:pt x="370643" y="763092"/>
                </a:lnTo>
                <a:lnTo>
                  <a:pt x="298119" y="708061"/>
                </a:lnTo>
                <a:lnTo>
                  <a:pt x="232038" y="651358"/>
                </a:lnTo>
                <a:lnTo>
                  <a:pt x="173124" y="593605"/>
                </a:lnTo>
                <a:lnTo>
                  <a:pt x="122024" y="535433"/>
                </a:lnTo>
                <a:lnTo>
                  <a:pt x="79296" y="477481"/>
                </a:lnTo>
                <a:lnTo>
                  <a:pt x="45409" y="420384"/>
                </a:lnTo>
                <a:lnTo>
                  <a:pt x="20735" y="364766"/>
                </a:lnTo>
                <a:lnTo>
                  <a:pt x="5543" y="311238"/>
                </a:lnTo>
                <a:lnTo>
                  <a:pt x="0" y="260385"/>
                </a:lnTo>
                <a:lnTo>
                  <a:pt x="4167" y="212766"/>
                </a:lnTo>
                <a:lnTo>
                  <a:pt x="17998" y="168901"/>
                </a:lnTo>
                <a:lnTo>
                  <a:pt x="41341" y="129271"/>
                </a:lnTo>
                <a:lnTo>
                  <a:pt x="73941" y="94311"/>
                </a:lnTo>
                <a:lnTo>
                  <a:pt x="115441" y="64403"/>
                </a:lnTo>
                <a:lnTo>
                  <a:pt x="165386" y="39876"/>
                </a:lnTo>
                <a:lnTo>
                  <a:pt x="223228" y="20997"/>
                </a:lnTo>
                <a:lnTo>
                  <a:pt x="288334" y="7974"/>
                </a:lnTo>
                <a:lnTo>
                  <a:pt x="359992" y="949"/>
                </a:lnTo>
                <a:lnTo>
                  <a:pt x="437414" y="0"/>
                </a:lnTo>
                <a:lnTo>
                  <a:pt x="519754" y="5137"/>
                </a:lnTo>
                <a:lnTo>
                  <a:pt x="606109" y="16303"/>
                </a:lnTo>
                <a:lnTo>
                  <a:pt x="695534" y="33376"/>
                </a:lnTo>
                <a:lnTo>
                  <a:pt x="787047" y="56169"/>
                </a:lnTo>
                <a:lnTo>
                  <a:pt x="879647" y="84433"/>
                </a:lnTo>
                <a:lnTo>
                  <a:pt x="972320" y="117857"/>
                </a:lnTo>
                <a:lnTo>
                  <a:pt x="1064049" y="156076"/>
                </a:lnTo>
                <a:lnTo>
                  <a:pt x="1153830" y="198671"/>
                </a:lnTo>
                <a:lnTo>
                  <a:pt x="1240679" y="245174"/>
                </a:lnTo>
                <a:lnTo>
                  <a:pt x="1323644" y="295078"/>
                </a:lnTo>
                <a:lnTo>
                  <a:pt x="1401818" y="347834"/>
                </a:lnTo>
                <a:lnTo>
                  <a:pt x="1474342" y="402865"/>
                </a:lnTo>
                <a:lnTo>
                  <a:pt x="1540423" y="459568"/>
                </a:lnTo>
                <a:lnTo>
                  <a:pt x="1599336" y="517321"/>
                </a:lnTo>
                <a:lnTo>
                  <a:pt x="1650437" y="575492"/>
                </a:lnTo>
                <a:lnTo>
                  <a:pt x="1693164" y="633444"/>
                </a:lnTo>
                <a:lnTo>
                  <a:pt x="1727051" y="690542"/>
                </a:lnTo>
                <a:lnTo>
                  <a:pt x="1751726" y="746160"/>
                </a:lnTo>
                <a:lnTo>
                  <a:pt x="1766918" y="799688"/>
                </a:lnTo>
                <a:lnTo>
                  <a:pt x="1772461" y="850541"/>
                </a:lnTo>
                <a:lnTo>
                  <a:pt x="1768294" y="898160"/>
                </a:lnTo>
                <a:close/>
              </a:path>
            </a:pathLst>
          </a:custGeom>
          <a:solidFill>
            <a:srgbClr val="E4E4E4"/>
          </a:solidFill>
          <a:ln w="12700"/>
        </p:spPr>
      </p:sp>
      <p:sp>
        <p:nvSpPr>
          <p:cNvPr id="72" name="Shape 70"/>
          <p:cNvSpPr/>
          <p:nvPr/>
        </p:nvSpPr>
        <p:spPr>
          <a:xfrm>
            <a:off x="5029200" y="2118894"/>
            <a:ext cx="183327" cy="45720"/>
          </a:xfrm>
          <a:custGeom>
            <a:avLst/>
            <a:gdLst/>
            <a:ahLst/>
            <a:cxnLst/>
            <a:rect l="l" t="t" r="r" b="b"/>
            <a:pathLst>
              <a:path w="183327" h="45720">
                <a:moveTo>
                  <a:pt x="183327" y="45720"/>
                </a:moveTo>
                <a:lnTo>
                  <a:pt x="0" y="0"/>
                </a:lnTo>
              </a:path>
            </a:pathLst>
          </a:custGeom>
          <a:ln w="76200">
            <a:solidFill>
              <a:srgbClr val="E4E4E4"/>
            </a:solidFill>
            <a:prstDash val="solid"/>
          </a:ln>
        </p:spPr>
      </p:sp>
      <p:sp>
        <p:nvSpPr>
          <p:cNvPr id="73" name="Shape 71"/>
          <p:cNvSpPr/>
          <p:nvPr/>
        </p:nvSpPr>
        <p:spPr>
          <a:xfrm>
            <a:off x="6948993" y="2937738"/>
            <a:ext cx="183327" cy="45720"/>
          </a:xfrm>
          <a:custGeom>
            <a:avLst/>
            <a:gdLst/>
            <a:ahLst/>
            <a:cxnLst/>
            <a:rect l="l" t="t" r="r" b="b"/>
            <a:pathLst>
              <a:path w="183327" h="45720">
                <a:moveTo>
                  <a:pt x="0" y="0"/>
                </a:moveTo>
                <a:lnTo>
                  <a:pt x="183327" y="45720"/>
                </a:lnTo>
              </a:path>
            </a:pathLst>
          </a:custGeom>
          <a:ln w="76200">
            <a:solidFill>
              <a:srgbClr val="E4E4E4"/>
            </a:solidFill>
            <a:prstDash val="solid"/>
          </a:ln>
        </p:spPr>
      </p:sp>
      <p:sp>
        <p:nvSpPr>
          <p:cNvPr id="74" name="Shape 72"/>
          <p:cNvSpPr/>
          <p:nvPr/>
        </p:nvSpPr>
        <p:spPr>
          <a:xfrm>
            <a:off x="5342235" y="2088290"/>
            <a:ext cx="1477051" cy="925772"/>
          </a:xfrm>
          <a:custGeom>
            <a:avLst/>
            <a:gdLst/>
            <a:ahLst/>
            <a:cxnLst/>
            <a:rect l="l" t="t" r="r" b="b"/>
            <a:pathLst>
              <a:path w="1477051" h="925772">
                <a:moveTo>
                  <a:pt x="1462053" y="785021"/>
                </a:moveTo>
                <a:lnTo>
                  <a:pt x="1442600" y="818046"/>
                </a:lnTo>
                <a:lnTo>
                  <a:pt x="1415433" y="847179"/>
                </a:lnTo>
                <a:lnTo>
                  <a:pt x="1380850" y="872102"/>
                </a:lnTo>
                <a:lnTo>
                  <a:pt x="1339229" y="892542"/>
                </a:lnTo>
                <a:lnTo>
                  <a:pt x="1291027" y="908274"/>
                </a:lnTo>
                <a:lnTo>
                  <a:pt x="1236772" y="919127"/>
                </a:lnTo>
                <a:lnTo>
                  <a:pt x="1177058" y="924981"/>
                </a:lnTo>
                <a:lnTo>
                  <a:pt x="1112539" y="925772"/>
                </a:lnTo>
                <a:lnTo>
                  <a:pt x="1043922" y="921491"/>
                </a:lnTo>
                <a:lnTo>
                  <a:pt x="971959" y="912186"/>
                </a:lnTo>
                <a:lnTo>
                  <a:pt x="897439" y="897958"/>
                </a:lnTo>
                <a:lnTo>
                  <a:pt x="821178" y="878964"/>
                </a:lnTo>
                <a:lnTo>
                  <a:pt x="744011" y="855411"/>
                </a:lnTo>
                <a:lnTo>
                  <a:pt x="666784" y="827557"/>
                </a:lnTo>
                <a:lnTo>
                  <a:pt x="590343" y="795708"/>
                </a:lnTo>
                <a:lnTo>
                  <a:pt x="515526" y="760213"/>
                </a:lnTo>
                <a:lnTo>
                  <a:pt x="443151" y="721460"/>
                </a:lnTo>
                <a:lnTo>
                  <a:pt x="374013" y="679874"/>
                </a:lnTo>
                <a:lnTo>
                  <a:pt x="308869" y="635910"/>
                </a:lnTo>
                <a:lnTo>
                  <a:pt x="248432" y="590051"/>
                </a:lnTo>
                <a:lnTo>
                  <a:pt x="193365" y="542799"/>
                </a:lnTo>
                <a:lnTo>
                  <a:pt x="144270" y="494671"/>
                </a:lnTo>
                <a:lnTo>
                  <a:pt x="101687" y="446195"/>
                </a:lnTo>
                <a:lnTo>
                  <a:pt x="66080" y="397901"/>
                </a:lnTo>
                <a:lnTo>
                  <a:pt x="37841" y="350320"/>
                </a:lnTo>
                <a:lnTo>
                  <a:pt x="17279" y="303972"/>
                </a:lnTo>
                <a:lnTo>
                  <a:pt x="4619" y="259365"/>
                </a:lnTo>
                <a:lnTo>
                  <a:pt x="0" y="216988"/>
                </a:lnTo>
                <a:lnTo>
                  <a:pt x="3472" y="177305"/>
                </a:lnTo>
                <a:lnTo>
                  <a:pt x="14998" y="140751"/>
                </a:lnTo>
                <a:lnTo>
                  <a:pt x="34451" y="107726"/>
                </a:lnTo>
                <a:lnTo>
                  <a:pt x="61618" y="78592"/>
                </a:lnTo>
                <a:lnTo>
                  <a:pt x="96201" y="53669"/>
                </a:lnTo>
                <a:lnTo>
                  <a:pt x="137821" y="33230"/>
                </a:lnTo>
                <a:lnTo>
                  <a:pt x="186023" y="17497"/>
                </a:lnTo>
                <a:lnTo>
                  <a:pt x="240279" y="6645"/>
                </a:lnTo>
                <a:lnTo>
                  <a:pt x="299993" y="791"/>
                </a:lnTo>
                <a:lnTo>
                  <a:pt x="364512" y="0"/>
                </a:lnTo>
                <a:lnTo>
                  <a:pt x="433128" y="4280"/>
                </a:lnTo>
                <a:lnTo>
                  <a:pt x="505091" y="13585"/>
                </a:lnTo>
                <a:lnTo>
                  <a:pt x="579611" y="27813"/>
                </a:lnTo>
                <a:lnTo>
                  <a:pt x="655873" y="46808"/>
                </a:lnTo>
                <a:lnTo>
                  <a:pt x="733039" y="70361"/>
                </a:lnTo>
                <a:lnTo>
                  <a:pt x="810266" y="98214"/>
                </a:lnTo>
                <a:lnTo>
                  <a:pt x="886707" y="130063"/>
                </a:lnTo>
                <a:lnTo>
                  <a:pt x="961525" y="165559"/>
                </a:lnTo>
                <a:lnTo>
                  <a:pt x="1033899" y="204312"/>
                </a:lnTo>
                <a:lnTo>
                  <a:pt x="1103037" y="245898"/>
                </a:lnTo>
                <a:lnTo>
                  <a:pt x="1168181" y="289861"/>
                </a:lnTo>
                <a:lnTo>
                  <a:pt x="1228618" y="335721"/>
                </a:lnTo>
                <a:lnTo>
                  <a:pt x="1283686" y="382973"/>
                </a:lnTo>
                <a:lnTo>
                  <a:pt x="1332780" y="431101"/>
                </a:lnTo>
                <a:lnTo>
                  <a:pt x="1375364" y="479577"/>
                </a:lnTo>
                <a:lnTo>
                  <a:pt x="1410970" y="527870"/>
                </a:lnTo>
                <a:lnTo>
                  <a:pt x="1439209" y="575452"/>
                </a:lnTo>
                <a:lnTo>
                  <a:pt x="1459771" y="621800"/>
                </a:lnTo>
                <a:lnTo>
                  <a:pt x="1472431" y="666407"/>
                </a:lnTo>
                <a:lnTo>
                  <a:pt x="1477051" y="708784"/>
                </a:lnTo>
                <a:lnTo>
                  <a:pt x="1473578" y="748467"/>
                </a:lnTo>
                <a:close/>
              </a:path>
            </a:pathLst>
          </a:custGeom>
          <a:solidFill>
            <a:srgbClr val="FFFFFF"/>
          </a:solidFill>
          <a:ln w="19050">
            <a:solidFill>
              <a:srgbClr val="1B1B1B"/>
            </a:solidFill>
            <a:prstDash val="solid"/>
          </a:ln>
        </p:spPr>
      </p:sp>
      <p:sp>
        <p:nvSpPr>
          <p:cNvPr id="75" name="Shape 73"/>
          <p:cNvSpPr/>
          <p:nvPr/>
        </p:nvSpPr>
        <p:spPr>
          <a:xfrm>
            <a:off x="5628784" y="2233471"/>
            <a:ext cx="1063476" cy="666556"/>
          </a:xfrm>
          <a:custGeom>
            <a:avLst/>
            <a:gdLst/>
            <a:ahLst/>
            <a:cxnLst/>
            <a:rect l="l" t="t" r="r" b="b"/>
            <a:pathLst>
              <a:path w="1063476" h="666556">
                <a:moveTo>
                  <a:pt x="1052678" y="565215"/>
                </a:moveTo>
                <a:lnTo>
                  <a:pt x="1038672" y="588993"/>
                </a:lnTo>
                <a:lnTo>
                  <a:pt x="1019112" y="609969"/>
                </a:lnTo>
                <a:lnTo>
                  <a:pt x="994212" y="627914"/>
                </a:lnTo>
                <a:lnTo>
                  <a:pt x="964245" y="642630"/>
                </a:lnTo>
                <a:lnTo>
                  <a:pt x="929540" y="653957"/>
                </a:lnTo>
                <a:lnTo>
                  <a:pt x="890476" y="661771"/>
                </a:lnTo>
                <a:lnTo>
                  <a:pt x="847481" y="665986"/>
                </a:lnTo>
                <a:lnTo>
                  <a:pt x="801028" y="666556"/>
                </a:lnTo>
                <a:lnTo>
                  <a:pt x="751624" y="663474"/>
                </a:lnTo>
                <a:lnTo>
                  <a:pt x="699811" y="656774"/>
                </a:lnTo>
                <a:lnTo>
                  <a:pt x="646156" y="646530"/>
                </a:lnTo>
                <a:lnTo>
                  <a:pt x="591248" y="632854"/>
                </a:lnTo>
                <a:lnTo>
                  <a:pt x="535688" y="615896"/>
                </a:lnTo>
                <a:lnTo>
                  <a:pt x="480085" y="595841"/>
                </a:lnTo>
                <a:lnTo>
                  <a:pt x="425047" y="572910"/>
                </a:lnTo>
                <a:lnTo>
                  <a:pt x="371178" y="547353"/>
                </a:lnTo>
                <a:lnTo>
                  <a:pt x="319069" y="519451"/>
                </a:lnTo>
                <a:lnTo>
                  <a:pt x="269290" y="489509"/>
                </a:lnTo>
                <a:lnTo>
                  <a:pt x="222386" y="457855"/>
                </a:lnTo>
                <a:lnTo>
                  <a:pt x="178871" y="424837"/>
                </a:lnTo>
                <a:lnTo>
                  <a:pt x="139223" y="390815"/>
                </a:lnTo>
                <a:lnTo>
                  <a:pt x="103875" y="356163"/>
                </a:lnTo>
                <a:lnTo>
                  <a:pt x="73214" y="321260"/>
                </a:lnTo>
                <a:lnTo>
                  <a:pt x="47578" y="286489"/>
                </a:lnTo>
                <a:lnTo>
                  <a:pt x="27246" y="252230"/>
                </a:lnTo>
                <a:lnTo>
                  <a:pt x="12441" y="218860"/>
                </a:lnTo>
                <a:lnTo>
                  <a:pt x="3326" y="186743"/>
                </a:lnTo>
                <a:lnTo>
                  <a:pt x="0" y="156231"/>
                </a:lnTo>
                <a:lnTo>
                  <a:pt x="2500" y="127659"/>
                </a:lnTo>
                <a:lnTo>
                  <a:pt x="10799" y="101341"/>
                </a:lnTo>
                <a:lnTo>
                  <a:pt x="24805" y="77563"/>
                </a:lnTo>
                <a:lnTo>
                  <a:pt x="44365" y="56587"/>
                </a:lnTo>
                <a:lnTo>
                  <a:pt x="69265" y="38642"/>
                </a:lnTo>
                <a:lnTo>
                  <a:pt x="99231" y="23925"/>
                </a:lnTo>
                <a:lnTo>
                  <a:pt x="133937" y="12598"/>
                </a:lnTo>
                <a:lnTo>
                  <a:pt x="173001" y="4784"/>
                </a:lnTo>
                <a:lnTo>
                  <a:pt x="215995" y="570"/>
                </a:lnTo>
                <a:lnTo>
                  <a:pt x="262449" y="0"/>
                </a:lnTo>
                <a:lnTo>
                  <a:pt x="311853" y="3082"/>
                </a:lnTo>
                <a:lnTo>
                  <a:pt x="363666" y="9782"/>
                </a:lnTo>
                <a:lnTo>
                  <a:pt x="417320" y="20025"/>
                </a:lnTo>
                <a:lnTo>
                  <a:pt x="472228" y="33701"/>
                </a:lnTo>
                <a:lnTo>
                  <a:pt x="527788" y="50660"/>
                </a:lnTo>
                <a:lnTo>
                  <a:pt x="583392" y="70714"/>
                </a:lnTo>
                <a:lnTo>
                  <a:pt x="638429" y="93646"/>
                </a:lnTo>
                <a:lnTo>
                  <a:pt x="692298" y="119202"/>
                </a:lnTo>
                <a:lnTo>
                  <a:pt x="744407" y="147105"/>
                </a:lnTo>
                <a:lnTo>
                  <a:pt x="794187" y="177047"/>
                </a:lnTo>
                <a:lnTo>
                  <a:pt x="841091" y="208700"/>
                </a:lnTo>
                <a:lnTo>
                  <a:pt x="884605" y="241719"/>
                </a:lnTo>
                <a:lnTo>
                  <a:pt x="924254" y="275741"/>
                </a:lnTo>
                <a:lnTo>
                  <a:pt x="959602" y="310393"/>
                </a:lnTo>
                <a:lnTo>
                  <a:pt x="990262" y="345295"/>
                </a:lnTo>
                <a:lnTo>
                  <a:pt x="1015899" y="380067"/>
                </a:lnTo>
                <a:lnTo>
                  <a:pt x="1036231" y="414325"/>
                </a:lnTo>
                <a:lnTo>
                  <a:pt x="1051035" y="447696"/>
                </a:lnTo>
                <a:lnTo>
                  <a:pt x="1060151" y="479813"/>
                </a:lnTo>
                <a:lnTo>
                  <a:pt x="1063476" y="510324"/>
                </a:lnTo>
                <a:lnTo>
                  <a:pt x="1060976" y="538896"/>
                </a:lnTo>
                <a:close/>
              </a:path>
            </a:pathLst>
          </a:custGeom>
          <a:ln w="6350">
            <a:solidFill>
              <a:srgbClr val="4F7A43"/>
            </a:solidFill>
            <a:prstDash val="dash"/>
          </a:ln>
        </p:spPr>
      </p:sp>
      <p:sp>
        <p:nvSpPr>
          <p:cNvPr id="76" name="Shape 74"/>
          <p:cNvSpPr/>
          <p:nvPr/>
        </p:nvSpPr>
        <p:spPr>
          <a:xfrm>
            <a:off x="5820800" y="2353821"/>
            <a:ext cx="679443" cy="425855"/>
          </a:xfrm>
          <a:custGeom>
            <a:avLst/>
            <a:gdLst/>
            <a:ahLst/>
            <a:cxnLst/>
            <a:rect l="l" t="t" r="r" b="b"/>
            <a:pathLst>
              <a:path w="679443" h="425855">
                <a:moveTo>
                  <a:pt x="672544" y="361110"/>
                </a:moveTo>
                <a:lnTo>
                  <a:pt x="663596" y="376301"/>
                </a:lnTo>
                <a:lnTo>
                  <a:pt x="651099" y="389702"/>
                </a:lnTo>
                <a:lnTo>
                  <a:pt x="635191" y="401167"/>
                </a:lnTo>
                <a:lnTo>
                  <a:pt x="616045" y="410569"/>
                </a:lnTo>
                <a:lnTo>
                  <a:pt x="593873" y="417806"/>
                </a:lnTo>
                <a:lnTo>
                  <a:pt x="568915" y="422798"/>
                </a:lnTo>
                <a:lnTo>
                  <a:pt x="541446" y="425491"/>
                </a:lnTo>
                <a:lnTo>
                  <a:pt x="511768" y="425855"/>
                </a:lnTo>
                <a:lnTo>
                  <a:pt x="480204" y="423886"/>
                </a:lnTo>
                <a:lnTo>
                  <a:pt x="447101" y="419606"/>
                </a:lnTo>
                <a:lnTo>
                  <a:pt x="412822" y="413061"/>
                </a:lnTo>
                <a:lnTo>
                  <a:pt x="377742" y="404323"/>
                </a:lnTo>
                <a:lnTo>
                  <a:pt x="342245" y="393489"/>
                </a:lnTo>
                <a:lnTo>
                  <a:pt x="306721" y="380676"/>
                </a:lnTo>
                <a:lnTo>
                  <a:pt x="271558" y="366026"/>
                </a:lnTo>
                <a:lnTo>
                  <a:pt x="237142" y="349698"/>
                </a:lnTo>
                <a:lnTo>
                  <a:pt x="203850" y="331871"/>
                </a:lnTo>
                <a:lnTo>
                  <a:pt x="172046" y="312742"/>
                </a:lnTo>
                <a:lnTo>
                  <a:pt x="142080" y="292519"/>
                </a:lnTo>
                <a:lnTo>
                  <a:pt x="114279" y="271423"/>
                </a:lnTo>
                <a:lnTo>
                  <a:pt x="88948" y="249687"/>
                </a:lnTo>
                <a:lnTo>
                  <a:pt x="66364" y="227549"/>
                </a:lnTo>
                <a:lnTo>
                  <a:pt x="46776" y="205249"/>
                </a:lnTo>
                <a:lnTo>
                  <a:pt x="30397" y="183035"/>
                </a:lnTo>
                <a:lnTo>
                  <a:pt x="17407" y="161147"/>
                </a:lnTo>
                <a:lnTo>
                  <a:pt x="7948" y="139827"/>
                </a:lnTo>
                <a:lnTo>
                  <a:pt x="2125" y="119308"/>
                </a:lnTo>
                <a:lnTo>
                  <a:pt x="0" y="99814"/>
                </a:lnTo>
                <a:lnTo>
                  <a:pt x="1597" y="81560"/>
                </a:lnTo>
                <a:lnTo>
                  <a:pt x="6899" y="64745"/>
                </a:lnTo>
                <a:lnTo>
                  <a:pt x="15847" y="49554"/>
                </a:lnTo>
                <a:lnTo>
                  <a:pt x="28344" y="36153"/>
                </a:lnTo>
                <a:lnTo>
                  <a:pt x="44252" y="24688"/>
                </a:lnTo>
                <a:lnTo>
                  <a:pt x="63398" y="15286"/>
                </a:lnTo>
                <a:lnTo>
                  <a:pt x="85571" y="8049"/>
                </a:lnTo>
                <a:lnTo>
                  <a:pt x="110528" y="3057"/>
                </a:lnTo>
                <a:lnTo>
                  <a:pt x="137997" y="364"/>
                </a:lnTo>
                <a:lnTo>
                  <a:pt x="167675" y="0"/>
                </a:lnTo>
                <a:lnTo>
                  <a:pt x="199239" y="1969"/>
                </a:lnTo>
                <a:lnTo>
                  <a:pt x="232342" y="6249"/>
                </a:lnTo>
                <a:lnTo>
                  <a:pt x="266621" y="12794"/>
                </a:lnTo>
                <a:lnTo>
                  <a:pt x="301701" y="21531"/>
                </a:lnTo>
                <a:lnTo>
                  <a:pt x="337198" y="32366"/>
                </a:lnTo>
                <a:lnTo>
                  <a:pt x="372723" y="45179"/>
                </a:lnTo>
                <a:lnTo>
                  <a:pt x="407885" y="59829"/>
                </a:lnTo>
                <a:lnTo>
                  <a:pt x="442301" y="76157"/>
                </a:lnTo>
                <a:lnTo>
                  <a:pt x="475594" y="93983"/>
                </a:lnTo>
                <a:lnTo>
                  <a:pt x="507397" y="113113"/>
                </a:lnTo>
                <a:lnTo>
                  <a:pt x="537363" y="133336"/>
                </a:lnTo>
                <a:lnTo>
                  <a:pt x="565164" y="154431"/>
                </a:lnTo>
                <a:lnTo>
                  <a:pt x="590495" y="176168"/>
                </a:lnTo>
                <a:lnTo>
                  <a:pt x="613079" y="198306"/>
                </a:lnTo>
                <a:lnTo>
                  <a:pt x="632667" y="220605"/>
                </a:lnTo>
                <a:lnTo>
                  <a:pt x="649046" y="242820"/>
                </a:lnTo>
                <a:lnTo>
                  <a:pt x="662036" y="264708"/>
                </a:lnTo>
                <a:lnTo>
                  <a:pt x="671495" y="286028"/>
                </a:lnTo>
                <a:lnTo>
                  <a:pt x="677318" y="306547"/>
                </a:lnTo>
                <a:lnTo>
                  <a:pt x="679443" y="326041"/>
                </a:lnTo>
                <a:lnTo>
                  <a:pt x="677846" y="344295"/>
                </a:lnTo>
                <a:close/>
              </a:path>
            </a:pathLst>
          </a:custGeom>
          <a:ln w="6350">
            <a:solidFill>
              <a:srgbClr val="4F7A43"/>
            </a:solidFill>
            <a:prstDash val="dash"/>
          </a:ln>
        </p:spPr>
      </p:sp>
      <p:sp>
        <p:nvSpPr>
          <p:cNvPr id="77" name="Shape 75"/>
          <p:cNvSpPr/>
          <p:nvPr/>
        </p:nvSpPr>
        <p:spPr>
          <a:xfrm>
            <a:off x="5998046" y="2464914"/>
            <a:ext cx="324951" cy="203670"/>
          </a:xfrm>
          <a:custGeom>
            <a:avLst/>
            <a:gdLst/>
            <a:ahLst/>
            <a:cxnLst/>
            <a:rect l="l" t="t" r="r" b="b"/>
            <a:pathLst>
              <a:path w="324951" h="203670">
                <a:moveTo>
                  <a:pt x="321652" y="172705"/>
                </a:moveTo>
                <a:lnTo>
                  <a:pt x="317372" y="179970"/>
                </a:lnTo>
                <a:lnTo>
                  <a:pt x="311395" y="186379"/>
                </a:lnTo>
                <a:lnTo>
                  <a:pt x="303787" y="191863"/>
                </a:lnTo>
                <a:lnTo>
                  <a:pt x="294630" y="196359"/>
                </a:lnTo>
                <a:lnTo>
                  <a:pt x="284026" y="199820"/>
                </a:lnTo>
                <a:lnTo>
                  <a:pt x="272090" y="202208"/>
                </a:lnTo>
                <a:lnTo>
                  <a:pt x="258953" y="203496"/>
                </a:lnTo>
                <a:lnTo>
                  <a:pt x="244759" y="203670"/>
                </a:lnTo>
                <a:lnTo>
                  <a:pt x="229663" y="202728"/>
                </a:lnTo>
                <a:lnTo>
                  <a:pt x="213831" y="200681"/>
                </a:lnTo>
                <a:lnTo>
                  <a:pt x="197437" y="197551"/>
                </a:lnTo>
                <a:lnTo>
                  <a:pt x="180659" y="193372"/>
                </a:lnTo>
                <a:lnTo>
                  <a:pt x="163682" y="188190"/>
                </a:lnTo>
                <a:lnTo>
                  <a:pt x="146692" y="182063"/>
                </a:lnTo>
                <a:lnTo>
                  <a:pt x="129875" y="175056"/>
                </a:lnTo>
                <a:lnTo>
                  <a:pt x="113416" y="167247"/>
                </a:lnTo>
                <a:lnTo>
                  <a:pt x="97493" y="158721"/>
                </a:lnTo>
                <a:lnTo>
                  <a:pt x="82283" y="149572"/>
                </a:lnTo>
                <a:lnTo>
                  <a:pt x="67951" y="139900"/>
                </a:lnTo>
                <a:lnTo>
                  <a:pt x="54655" y="129811"/>
                </a:lnTo>
                <a:lnTo>
                  <a:pt x="42540" y="119416"/>
                </a:lnTo>
                <a:lnTo>
                  <a:pt x="31739" y="108828"/>
                </a:lnTo>
                <a:lnTo>
                  <a:pt x="22371" y="98163"/>
                </a:lnTo>
                <a:lnTo>
                  <a:pt x="14538" y="87538"/>
                </a:lnTo>
                <a:lnTo>
                  <a:pt x="8325" y="77070"/>
                </a:lnTo>
                <a:lnTo>
                  <a:pt x="3801" y="66874"/>
                </a:lnTo>
                <a:lnTo>
                  <a:pt x="1016" y="57060"/>
                </a:lnTo>
                <a:lnTo>
                  <a:pt x="0" y="47737"/>
                </a:lnTo>
                <a:lnTo>
                  <a:pt x="764" y="39007"/>
                </a:lnTo>
                <a:lnTo>
                  <a:pt x="3300" y="30965"/>
                </a:lnTo>
                <a:lnTo>
                  <a:pt x="7579" y="23700"/>
                </a:lnTo>
                <a:lnTo>
                  <a:pt x="13556" y="17290"/>
                </a:lnTo>
                <a:lnTo>
                  <a:pt x="21164" y="11807"/>
                </a:lnTo>
                <a:lnTo>
                  <a:pt x="30321" y="7311"/>
                </a:lnTo>
                <a:lnTo>
                  <a:pt x="40925" y="3849"/>
                </a:lnTo>
                <a:lnTo>
                  <a:pt x="52861" y="1462"/>
                </a:lnTo>
                <a:lnTo>
                  <a:pt x="65998" y="174"/>
                </a:lnTo>
                <a:lnTo>
                  <a:pt x="80193" y="0"/>
                </a:lnTo>
                <a:lnTo>
                  <a:pt x="95288" y="942"/>
                </a:lnTo>
                <a:lnTo>
                  <a:pt x="111120" y="2989"/>
                </a:lnTo>
                <a:lnTo>
                  <a:pt x="127514" y="6119"/>
                </a:lnTo>
                <a:lnTo>
                  <a:pt x="144292" y="10298"/>
                </a:lnTo>
                <a:lnTo>
                  <a:pt x="161269" y="15479"/>
                </a:lnTo>
                <a:lnTo>
                  <a:pt x="178259" y="21607"/>
                </a:lnTo>
                <a:lnTo>
                  <a:pt x="195076" y="28614"/>
                </a:lnTo>
                <a:lnTo>
                  <a:pt x="211535" y="36423"/>
                </a:lnTo>
                <a:lnTo>
                  <a:pt x="227458" y="44949"/>
                </a:lnTo>
                <a:lnTo>
                  <a:pt x="242668" y="54098"/>
                </a:lnTo>
                <a:lnTo>
                  <a:pt x="257000" y="63770"/>
                </a:lnTo>
                <a:lnTo>
                  <a:pt x="270296" y="73859"/>
                </a:lnTo>
                <a:lnTo>
                  <a:pt x="282411" y="84254"/>
                </a:lnTo>
                <a:lnTo>
                  <a:pt x="293212" y="94842"/>
                </a:lnTo>
                <a:lnTo>
                  <a:pt x="302580" y="105507"/>
                </a:lnTo>
                <a:lnTo>
                  <a:pt x="310413" y="116131"/>
                </a:lnTo>
                <a:lnTo>
                  <a:pt x="316626" y="126599"/>
                </a:lnTo>
                <a:lnTo>
                  <a:pt x="321150" y="136796"/>
                </a:lnTo>
                <a:lnTo>
                  <a:pt x="323935" y="146609"/>
                </a:lnTo>
                <a:lnTo>
                  <a:pt x="324951" y="155932"/>
                </a:lnTo>
                <a:lnTo>
                  <a:pt x="324187" y="164663"/>
                </a:lnTo>
                <a:close/>
              </a:path>
            </a:pathLst>
          </a:custGeom>
          <a:ln w="6350">
            <a:solidFill>
              <a:srgbClr val="4F7A43"/>
            </a:solidFill>
            <a:prstDash val="dash"/>
          </a:ln>
        </p:spPr>
      </p:sp>
      <p:sp>
        <p:nvSpPr>
          <p:cNvPr id="78" name="Shape 76"/>
          <p:cNvSpPr/>
          <p:nvPr/>
        </p:nvSpPr>
        <p:spPr>
          <a:xfrm>
            <a:off x="6693783" y="2810974"/>
            <a:ext cx="47362" cy="47362"/>
          </a:xfrm>
          <a:prstGeom prst="ellipse">
            <a:avLst/>
          </a:prstGeom>
          <a:solidFill>
            <a:srgbClr val="FFFFFF"/>
          </a:solidFill>
          <a:ln w="7620">
            <a:solidFill>
              <a:srgbClr val="4F7A43"/>
            </a:solidFill>
            <a:prstDash val="solid"/>
          </a:ln>
        </p:spPr>
      </p:sp>
      <p:sp>
        <p:nvSpPr>
          <p:cNvPr id="79" name="Shape 77"/>
          <p:cNvSpPr/>
          <p:nvPr/>
        </p:nvSpPr>
        <p:spPr>
          <a:xfrm>
            <a:off x="6627837" y="2884218"/>
            <a:ext cx="47362" cy="47362"/>
          </a:xfrm>
          <a:prstGeom prst="ellipse">
            <a:avLst/>
          </a:prstGeom>
          <a:solidFill>
            <a:srgbClr val="FFFFFF"/>
          </a:solidFill>
          <a:ln w="7620">
            <a:solidFill>
              <a:srgbClr val="4F7A43"/>
            </a:solidFill>
            <a:prstDash val="solid"/>
          </a:ln>
        </p:spPr>
      </p:sp>
      <p:sp>
        <p:nvSpPr>
          <p:cNvPr id="80" name="Shape 78"/>
          <p:cNvSpPr/>
          <p:nvPr/>
        </p:nvSpPr>
        <p:spPr>
          <a:xfrm>
            <a:off x="6512012" y="2926288"/>
            <a:ext cx="47362" cy="47362"/>
          </a:xfrm>
          <a:prstGeom prst="ellipse">
            <a:avLst/>
          </a:prstGeom>
          <a:solidFill>
            <a:srgbClr val="FFFFFF"/>
          </a:solidFill>
          <a:ln w="7620">
            <a:solidFill>
              <a:srgbClr val="4F7A43"/>
            </a:solidFill>
            <a:prstDash val="solid"/>
          </a:ln>
        </p:spPr>
      </p:sp>
      <p:sp>
        <p:nvSpPr>
          <p:cNvPr id="81" name="Shape 79"/>
          <p:cNvSpPr/>
          <p:nvPr/>
        </p:nvSpPr>
        <p:spPr>
          <a:xfrm>
            <a:off x="6356430" y="2933508"/>
            <a:ext cx="47362" cy="47362"/>
          </a:xfrm>
          <a:prstGeom prst="ellipse">
            <a:avLst/>
          </a:prstGeom>
          <a:solidFill>
            <a:srgbClr val="FFFFFF"/>
          </a:solidFill>
          <a:ln w="7620">
            <a:solidFill>
              <a:srgbClr val="4F7A43"/>
            </a:solidFill>
            <a:prstDash val="solid"/>
          </a:ln>
        </p:spPr>
      </p:sp>
      <p:sp>
        <p:nvSpPr>
          <p:cNvPr id="82" name="Shape 80"/>
          <p:cNvSpPr/>
          <p:nvPr/>
        </p:nvSpPr>
        <p:spPr>
          <a:xfrm>
            <a:off x="6174688" y="2905245"/>
            <a:ext cx="47362" cy="47362"/>
          </a:xfrm>
          <a:prstGeom prst="ellipse">
            <a:avLst/>
          </a:prstGeom>
          <a:solidFill>
            <a:srgbClr val="FFFFFF"/>
          </a:solidFill>
          <a:ln w="7620">
            <a:solidFill>
              <a:srgbClr val="4F7A43"/>
            </a:solidFill>
            <a:prstDash val="solid"/>
          </a:ln>
        </p:spPr>
      </p:sp>
      <p:sp>
        <p:nvSpPr>
          <p:cNvPr id="83" name="Shape 81"/>
          <p:cNvSpPr/>
          <p:nvPr/>
        </p:nvSpPr>
        <p:spPr>
          <a:xfrm>
            <a:off x="5982668" y="2843971"/>
            <a:ext cx="47362" cy="47362"/>
          </a:xfrm>
          <a:prstGeom prst="ellipse">
            <a:avLst/>
          </a:prstGeom>
          <a:solidFill>
            <a:srgbClr val="FFFFFF"/>
          </a:solidFill>
          <a:ln w="7620">
            <a:solidFill>
              <a:srgbClr val="4F7A43"/>
            </a:solidFill>
            <a:prstDash val="solid"/>
          </a:ln>
        </p:spPr>
      </p:sp>
      <p:sp>
        <p:nvSpPr>
          <p:cNvPr id="84" name="Shape 82"/>
          <p:cNvSpPr/>
          <p:nvPr/>
        </p:nvSpPr>
        <p:spPr>
          <a:xfrm>
            <a:off x="5797150" y="2755040"/>
            <a:ext cx="47362" cy="47362"/>
          </a:xfrm>
          <a:prstGeom prst="ellipse">
            <a:avLst/>
          </a:prstGeom>
          <a:solidFill>
            <a:srgbClr val="FFFFFF"/>
          </a:solidFill>
          <a:ln w="7620">
            <a:solidFill>
              <a:srgbClr val="4F7A43"/>
            </a:solidFill>
            <a:prstDash val="solid"/>
          </a:ln>
        </p:spPr>
      </p:sp>
      <p:sp>
        <p:nvSpPr>
          <p:cNvPr id="85" name="Shape 83"/>
          <p:cNvSpPr/>
          <p:nvPr/>
        </p:nvSpPr>
        <p:spPr>
          <a:xfrm>
            <a:off x="5634348" y="2646224"/>
            <a:ext cx="47362" cy="47362"/>
          </a:xfrm>
          <a:prstGeom prst="ellipse">
            <a:avLst/>
          </a:prstGeom>
          <a:solidFill>
            <a:srgbClr val="FFFFFF"/>
          </a:solidFill>
          <a:ln w="7620">
            <a:solidFill>
              <a:srgbClr val="4F7A43"/>
            </a:solidFill>
            <a:prstDash val="solid"/>
          </a:ln>
        </p:spPr>
      </p:sp>
      <p:sp>
        <p:nvSpPr>
          <p:cNvPr id="86" name="Shape 84"/>
          <p:cNvSpPr/>
          <p:nvPr/>
        </p:nvSpPr>
        <p:spPr>
          <a:xfrm>
            <a:off x="5508489" y="2527032"/>
            <a:ext cx="47362" cy="47362"/>
          </a:xfrm>
          <a:prstGeom prst="ellipse">
            <a:avLst/>
          </a:prstGeom>
          <a:solidFill>
            <a:srgbClr val="FFFFFF"/>
          </a:solidFill>
          <a:ln w="7620">
            <a:solidFill>
              <a:srgbClr val="4F7A43"/>
            </a:solidFill>
            <a:prstDash val="solid"/>
          </a:ln>
        </p:spPr>
      </p:sp>
      <p:sp>
        <p:nvSpPr>
          <p:cNvPr id="87" name="Shape 85"/>
          <p:cNvSpPr/>
          <p:nvPr/>
        </p:nvSpPr>
        <p:spPr>
          <a:xfrm>
            <a:off x="5430571" y="2407880"/>
            <a:ext cx="47362" cy="47362"/>
          </a:xfrm>
          <a:prstGeom prst="ellipse">
            <a:avLst/>
          </a:prstGeom>
          <a:solidFill>
            <a:srgbClr val="FFFFFF"/>
          </a:solidFill>
          <a:ln w="7620">
            <a:solidFill>
              <a:srgbClr val="4F7A43"/>
            </a:solidFill>
            <a:prstDash val="solid"/>
          </a:ln>
        </p:spPr>
      </p:sp>
      <p:sp>
        <p:nvSpPr>
          <p:cNvPr id="88" name="Shape 86"/>
          <p:cNvSpPr/>
          <p:nvPr/>
        </p:nvSpPr>
        <p:spPr>
          <a:xfrm>
            <a:off x="5407404" y="2299182"/>
            <a:ext cx="47362" cy="47362"/>
          </a:xfrm>
          <a:prstGeom prst="ellipse">
            <a:avLst/>
          </a:prstGeom>
          <a:solidFill>
            <a:srgbClr val="FFFFFF"/>
          </a:solidFill>
          <a:ln w="7620">
            <a:solidFill>
              <a:srgbClr val="4F7A43"/>
            </a:solidFill>
            <a:prstDash val="solid"/>
          </a:ln>
        </p:spPr>
      </p:sp>
      <p:sp>
        <p:nvSpPr>
          <p:cNvPr id="89" name="Shape 87"/>
          <p:cNvSpPr/>
          <p:nvPr/>
        </p:nvSpPr>
        <p:spPr>
          <a:xfrm>
            <a:off x="5441013" y="2210436"/>
            <a:ext cx="47362" cy="47362"/>
          </a:xfrm>
          <a:prstGeom prst="ellipse">
            <a:avLst/>
          </a:prstGeom>
          <a:solidFill>
            <a:srgbClr val="FFFFFF"/>
          </a:solidFill>
          <a:ln w="7620">
            <a:solidFill>
              <a:srgbClr val="4F7A43"/>
            </a:solidFill>
            <a:prstDash val="solid"/>
          </a:ln>
        </p:spPr>
      </p:sp>
      <p:sp>
        <p:nvSpPr>
          <p:cNvPr id="90" name="Shape 88"/>
          <p:cNvSpPr/>
          <p:nvPr/>
        </p:nvSpPr>
        <p:spPr>
          <a:xfrm>
            <a:off x="5528460" y="2149398"/>
            <a:ext cx="47362" cy="47362"/>
          </a:xfrm>
          <a:prstGeom prst="ellipse">
            <a:avLst/>
          </a:prstGeom>
          <a:solidFill>
            <a:srgbClr val="FFFFFF"/>
          </a:solidFill>
          <a:ln w="7620">
            <a:solidFill>
              <a:srgbClr val="4F7A43"/>
            </a:solidFill>
            <a:prstDash val="solid"/>
          </a:ln>
        </p:spPr>
      </p:sp>
      <p:sp>
        <p:nvSpPr>
          <p:cNvPr id="91" name="Shape 89"/>
          <p:cNvSpPr/>
          <p:nvPr/>
        </p:nvSpPr>
        <p:spPr>
          <a:xfrm>
            <a:off x="5662103" y="2121402"/>
            <a:ext cx="47362" cy="47362"/>
          </a:xfrm>
          <a:prstGeom prst="ellipse">
            <a:avLst/>
          </a:prstGeom>
          <a:solidFill>
            <a:srgbClr val="FFFFFF"/>
          </a:solidFill>
          <a:ln w="7620">
            <a:solidFill>
              <a:srgbClr val="4F7A43"/>
            </a:solidFill>
            <a:prstDash val="solid"/>
          </a:ln>
        </p:spPr>
      </p:sp>
      <p:sp>
        <p:nvSpPr>
          <p:cNvPr id="92" name="Shape 90"/>
          <p:cNvSpPr/>
          <p:nvPr/>
        </p:nvSpPr>
        <p:spPr>
          <a:xfrm>
            <a:off x="5830263" y="2128895"/>
            <a:ext cx="47362" cy="47362"/>
          </a:xfrm>
          <a:prstGeom prst="ellipse">
            <a:avLst/>
          </a:prstGeom>
          <a:solidFill>
            <a:srgbClr val="FFFFFF"/>
          </a:solidFill>
          <a:ln w="7620">
            <a:solidFill>
              <a:srgbClr val="4F7A43"/>
            </a:solidFill>
            <a:prstDash val="solid"/>
          </a:ln>
        </p:spPr>
      </p:sp>
      <p:sp>
        <p:nvSpPr>
          <p:cNvPr id="93" name="Shape 91"/>
          <p:cNvSpPr/>
          <p:nvPr/>
        </p:nvSpPr>
        <p:spPr>
          <a:xfrm>
            <a:off x="6018245" y="2171221"/>
            <a:ext cx="47362" cy="47362"/>
          </a:xfrm>
          <a:prstGeom prst="ellipse">
            <a:avLst/>
          </a:prstGeom>
          <a:solidFill>
            <a:srgbClr val="FFFFFF"/>
          </a:solidFill>
          <a:ln w="7620">
            <a:solidFill>
              <a:srgbClr val="4F7A43"/>
            </a:solidFill>
            <a:prstDash val="solid"/>
          </a:ln>
        </p:spPr>
      </p:sp>
      <p:sp>
        <p:nvSpPr>
          <p:cNvPr id="94" name="Shape 92"/>
          <p:cNvSpPr/>
          <p:nvPr/>
        </p:nvSpPr>
        <p:spPr>
          <a:xfrm>
            <a:off x="6209621" y="2244683"/>
            <a:ext cx="47362" cy="47362"/>
          </a:xfrm>
          <a:prstGeom prst="ellipse">
            <a:avLst/>
          </a:prstGeom>
          <a:solidFill>
            <a:srgbClr val="FFFFFF"/>
          </a:solidFill>
          <a:ln w="7620">
            <a:solidFill>
              <a:srgbClr val="4F7A43"/>
            </a:solidFill>
            <a:prstDash val="solid"/>
          </a:ln>
        </p:spPr>
      </p:sp>
      <p:sp>
        <p:nvSpPr>
          <p:cNvPr id="95" name="Shape 93"/>
          <p:cNvSpPr/>
          <p:nvPr/>
        </p:nvSpPr>
        <p:spPr>
          <a:xfrm>
            <a:off x="6387666" y="2342860"/>
            <a:ext cx="47362" cy="47362"/>
          </a:xfrm>
          <a:prstGeom prst="ellipse">
            <a:avLst/>
          </a:prstGeom>
          <a:solidFill>
            <a:srgbClr val="FFFFFF"/>
          </a:solidFill>
          <a:ln w="7620">
            <a:solidFill>
              <a:srgbClr val="4F7A43"/>
            </a:solidFill>
            <a:prstDash val="solid"/>
          </a:ln>
        </p:spPr>
      </p:sp>
      <p:sp>
        <p:nvSpPr>
          <p:cNvPr id="96" name="Shape 94"/>
          <p:cNvSpPr/>
          <p:nvPr/>
        </p:nvSpPr>
        <p:spPr>
          <a:xfrm>
            <a:off x="6536820" y="2457172"/>
            <a:ext cx="47362" cy="47362"/>
          </a:xfrm>
          <a:prstGeom prst="ellipse">
            <a:avLst/>
          </a:prstGeom>
          <a:solidFill>
            <a:srgbClr val="FFFFFF"/>
          </a:solidFill>
          <a:ln w="7620">
            <a:solidFill>
              <a:srgbClr val="4F7A43"/>
            </a:solidFill>
            <a:prstDash val="solid"/>
          </a:ln>
        </p:spPr>
      </p:sp>
      <p:sp>
        <p:nvSpPr>
          <p:cNvPr id="97" name="Shape 95"/>
          <p:cNvSpPr/>
          <p:nvPr/>
        </p:nvSpPr>
        <p:spPr>
          <a:xfrm>
            <a:off x="6644050" y="2577630"/>
            <a:ext cx="47362" cy="47362"/>
          </a:xfrm>
          <a:prstGeom prst="ellipse">
            <a:avLst/>
          </a:prstGeom>
          <a:solidFill>
            <a:srgbClr val="FFFFFF"/>
          </a:solidFill>
          <a:ln w="7620">
            <a:solidFill>
              <a:srgbClr val="4F7A43"/>
            </a:solidFill>
            <a:prstDash val="solid"/>
          </a:ln>
        </p:spPr>
      </p:sp>
      <p:sp>
        <p:nvSpPr>
          <p:cNvPr id="98" name="Shape 96"/>
          <p:cNvSpPr/>
          <p:nvPr/>
        </p:nvSpPr>
        <p:spPr>
          <a:xfrm>
            <a:off x="6699985" y="2693706"/>
            <a:ext cx="47362" cy="47362"/>
          </a:xfrm>
          <a:prstGeom prst="ellipse">
            <a:avLst/>
          </a:prstGeom>
          <a:solidFill>
            <a:srgbClr val="FFFFFF"/>
          </a:solidFill>
          <a:ln w="7620">
            <a:solidFill>
              <a:srgbClr val="4F7A43"/>
            </a:solidFill>
            <a:prstDash val="solid"/>
          </a:ln>
        </p:spPr>
      </p:sp>
      <p:sp>
        <p:nvSpPr>
          <p:cNvPr id="99" name="Shape 97"/>
          <p:cNvSpPr/>
          <p:nvPr/>
        </p:nvSpPr>
        <p:spPr>
          <a:xfrm>
            <a:off x="6699735" y="2795257"/>
            <a:ext cx="47362" cy="47362"/>
          </a:xfrm>
          <a:prstGeom prst="ellipse">
            <a:avLst/>
          </a:prstGeom>
          <a:solidFill>
            <a:srgbClr val="FFFFFF"/>
          </a:solidFill>
          <a:ln w="7620">
            <a:solidFill>
              <a:srgbClr val="4F7A43"/>
            </a:solidFill>
            <a:prstDash val="solid"/>
          </a:ln>
        </p:spPr>
      </p:sp>
      <p:sp>
        <p:nvSpPr>
          <p:cNvPr id="100" name="Shape 98"/>
          <p:cNvSpPr/>
          <p:nvPr/>
        </p:nvSpPr>
        <p:spPr>
          <a:xfrm>
            <a:off x="5601195" y="2311946"/>
            <a:ext cx="947749" cy="709148"/>
          </a:xfrm>
          <a:custGeom>
            <a:avLst/>
            <a:gdLst/>
            <a:ahLst/>
            <a:cxnLst/>
            <a:rect l="l" t="t" r="r" b="b"/>
            <a:pathLst>
              <a:path w="947749" h="709148">
                <a:moveTo>
                  <a:pt x="947749" y="709148"/>
                </a:moveTo>
                <a:lnTo>
                  <a:pt x="851862" y="701270"/>
                </a:lnTo>
                <a:lnTo>
                  <a:pt x="752433" y="683959"/>
                </a:lnTo>
                <a:lnTo>
                  <a:pt x="651863" y="658008"/>
                </a:lnTo>
                <a:lnTo>
                  <a:pt x="552484" y="624377"/>
                </a:lnTo>
                <a:lnTo>
                  <a:pt x="456509" y="584169"/>
                </a:lnTo>
                <a:lnTo>
                  <a:pt x="365981" y="538590"/>
                </a:lnTo>
                <a:lnTo>
                  <a:pt x="282731" y="488925"/>
                </a:lnTo>
                <a:lnTo>
                  <a:pt x="208344" y="436499"/>
                </a:lnTo>
                <a:lnTo>
                  <a:pt x="144128" y="382647"/>
                </a:lnTo>
                <a:lnTo>
                  <a:pt x="91093" y="328678"/>
                </a:lnTo>
                <a:lnTo>
                  <a:pt x="49937" y="275847"/>
                </a:lnTo>
                <a:lnTo>
                  <a:pt x="21042" y="225326"/>
                </a:lnTo>
                <a:lnTo>
                  <a:pt x="4475" y="178176"/>
                </a:lnTo>
                <a:lnTo>
                  <a:pt x="0" y="135327"/>
                </a:lnTo>
                <a:lnTo>
                  <a:pt x="7096" y="97559"/>
                </a:lnTo>
                <a:lnTo>
                  <a:pt x="24978" y="65490"/>
                </a:lnTo>
                <a:lnTo>
                  <a:pt x="52632" y="39563"/>
                </a:lnTo>
                <a:lnTo>
                  <a:pt x="88846" y="20046"/>
                </a:lnTo>
                <a:lnTo>
                  <a:pt x="132254" y="7028"/>
                </a:lnTo>
                <a:lnTo>
                  <a:pt x="181371" y="428"/>
                </a:lnTo>
                <a:lnTo>
                  <a:pt x="234644" y="0"/>
                </a:lnTo>
                <a:lnTo>
                  <a:pt x="290491" y="5350"/>
                </a:lnTo>
                <a:lnTo>
                  <a:pt x="347346" y="15948"/>
                </a:lnTo>
                <a:lnTo>
                  <a:pt x="403704" y="31155"/>
                </a:lnTo>
                <a:lnTo>
                  <a:pt x="458153" y="50236"/>
                </a:lnTo>
                <a:lnTo>
                  <a:pt x="509416" y="72392"/>
                </a:lnTo>
                <a:lnTo>
                  <a:pt x="556376" y="96780"/>
                </a:lnTo>
                <a:lnTo>
                  <a:pt x="598105" y="122542"/>
                </a:lnTo>
                <a:lnTo>
                  <a:pt x="633882" y="148827"/>
                </a:lnTo>
                <a:lnTo>
                  <a:pt x="663204" y="174819"/>
                </a:lnTo>
                <a:lnTo>
                  <a:pt x="685796" y="199755"/>
                </a:lnTo>
                <a:lnTo>
                  <a:pt x="701606" y="222951"/>
                </a:lnTo>
                <a:lnTo>
                  <a:pt x="710804" y="243816"/>
                </a:lnTo>
                <a:lnTo>
                  <a:pt x="713762" y="261867"/>
                </a:lnTo>
                <a:lnTo>
                  <a:pt x="711043" y="276742"/>
                </a:lnTo>
                <a:lnTo>
                  <a:pt x="703372" y="288206"/>
                </a:lnTo>
                <a:lnTo>
                  <a:pt x="691609" y="296156"/>
                </a:lnTo>
                <a:lnTo>
                  <a:pt x="676721" y="300617"/>
                </a:lnTo>
                <a:lnTo>
                  <a:pt x="659742" y="301744"/>
                </a:lnTo>
                <a:lnTo>
                  <a:pt x="641743" y="299806"/>
                </a:lnTo>
              </a:path>
            </a:pathLst>
          </a:custGeom>
          <a:ln w="25400">
            <a:solidFill>
              <a:srgbClr val="C4262E"/>
            </a:solidFill>
            <a:prstDash val="solid"/>
            <a:tailEnd type="triangle"/>
          </a:ln>
        </p:spPr>
      </p:sp>
      <p:sp>
        <p:nvSpPr>
          <p:cNvPr id="101" name="Shape 99"/>
          <p:cNvSpPr/>
          <p:nvPr/>
        </p:nvSpPr>
        <p:spPr>
          <a:xfrm>
            <a:off x="6184647" y="2553461"/>
            <a:ext cx="116582" cy="116582"/>
          </a:xfrm>
          <a:prstGeom prst="ellipse">
            <a:avLst/>
          </a:prstGeom>
          <a:solidFill>
            <a:srgbClr val="FFFFFF"/>
          </a:solidFill>
          <a:ln w="19050">
            <a:solidFill>
              <a:srgbClr val="C4262E"/>
            </a:solidFill>
            <a:prstDash val="solid"/>
          </a:ln>
        </p:spPr>
      </p:sp>
      <p:sp>
        <p:nvSpPr>
          <p:cNvPr id="102" name="Shape 100"/>
          <p:cNvSpPr/>
          <p:nvPr/>
        </p:nvSpPr>
        <p:spPr>
          <a:xfrm>
            <a:off x="6526999" y="2874790"/>
            <a:ext cx="43891" cy="43891"/>
          </a:xfrm>
          <a:prstGeom prst="ellipse">
            <a:avLst/>
          </a:prstGeom>
          <a:solidFill>
            <a:srgbClr val="C4262E"/>
          </a:solidFill>
          <a:ln/>
        </p:spPr>
      </p:sp>
      <p:sp>
        <p:nvSpPr>
          <p:cNvPr id="103" name="Shape 101"/>
          <p:cNvSpPr/>
          <p:nvPr/>
        </p:nvSpPr>
        <p:spPr>
          <a:xfrm>
            <a:off x="6529925" y="2921607"/>
            <a:ext cx="38039" cy="99487"/>
          </a:xfrm>
          <a:prstGeom prst="roundRect">
            <a:avLst>
              <a:gd name="adj" fmla="val 48077"/>
            </a:avLst>
          </a:prstGeom>
          <a:solidFill>
            <a:srgbClr val="C4262E"/>
          </a:solidFill>
          <a:ln/>
        </p:spPr>
      </p:sp>
      <p:sp>
        <p:nvSpPr>
          <p:cNvPr id="104" name="Text 102"/>
          <p:cNvSpPr txBox="1"/>
          <p:nvPr/>
        </p:nvSpPr>
        <p:spPr>
          <a:xfrm>
            <a:off x="4974336" y="3675888"/>
            <a:ext cx="2212848" cy="182880"/>
          </a:xfrm>
          <a:prstGeom prst="rect">
            <a:avLst/>
          </a:prstGeom>
          <a:noFill/>
          <a:ln/>
        </p:spPr>
        <p:txBody>
          <a:bodyPr wrap="square" lIns="0" tIns="0" rIns="0" bIns="0" rtlCol="0" anchor="t"/>
          <a:lstStyle/>
          <a:p>
            <a:pPr indent="0" marL="0">
              <a:buNone/>
            </a:pPr>
            <a:r>
              <a:rPr lang="en-US" sz="800" i="1" dirty="0">
                <a:solidFill>
                  <a:srgbClr val="C4262E"/>
                </a:solidFill>
                <a:latin typeface="Arial" pitchFamily="34" charset="0"/>
                <a:ea typeface="Arial" pitchFamily="34" charset="-122"/>
                <a:cs typeface="Arial" pitchFamily="34" charset="-120"/>
              </a:rPr>
              <a:t>a route from the protest edge to the summit</a:t>
            </a:r>
            <a:endParaRPr lang="en-US" sz="800" dirty="0"/>
          </a:p>
        </p:txBody>
      </p:sp>
      <p:sp>
        <p:nvSpPr>
          <p:cNvPr id="105" name="Text 103"/>
          <p:cNvSpPr txBox="1"/>
          <p:nvPr/>
        </p:nvSpPr>
        <p:spPr>
          <a:xfrm>
            <a:off x="4974336" y="3886200"/>
            <a:ext cx="2212848" cy="1143000"/>
          </a:xfrm>
          <a:prstGeom prst="rect">
            <a:avLst/>
          </a:prstGeom>
          <a:noFill/>
          <a:ln/>
        </p:spPr>
        <p:txBody>
          <a:bodyPr wrap="square" lIns="0" tIns="0" rIns="0" bIns="0" rtlCol="0" anchor="t"/>
          <a:lstStyle/>
          <a:p>
            <a:pPr indent="0" marL="0">
              <a:buNone/>
            </a:pPr>
            <a:r>
              <a:rPr lang="en-US" sz="750" dirty="0">
                <a:solidFill>
                  <a:srgbClr val="1B1B1B"/>
                </a:solidFill>
                <a:latin typeface="Arial" pitchFamily="34" charset="0"/>
                <a:ea typeface="Arial" pitchFamily="34" charset="-122"/>
                <a:cs typeface="Arial" pitchFamily="34" charset="-120"/>
              </a:rPr>
              <a:t>A public route climbs Shimla Pahari from the protest edge to the summit. The institution's rooms sit along it on the contours, so anyone walking up passes the making of knowledge, and the top of the landmark belongs to the public.</a:t>
            </a:r>
            <a:endParaRPr lang="en-US" sz="750" dirty="0"/>
          </a:p>
        </p:txBody>
      </p:sp>
      <p:sp>
        <p:nvSpPr>
          <p:cNvPr id="106" name="Text 104"/>
          <p:cNvSpPr txBox="1"/>
          <p:nvPr/>
        </p:nvSpPr>
        <p:spPr>
          <a:xfrm>
            <a:off x="4974336" y="5120640"/>
            <a:ext cx="2212848" cy="566928"/>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WHAT I DO  </a:t>
            </a:r>
            <a:endParaRPr lang="en-US" sz="750" dirty="0"/>
          </a:p>
          <a:p>
            <a:pPr indent="0" marL="0">
              <a:buNone/>
            </a:pPr>
            <a:r>
              <a:rPr lang="en-US" sz="750" dirty="0">
                <a:solidFill>
                  <a:srgbClr val="1B1B1B"/>
                </a:solidFill>
                <a:latin typeface="Arial" pitchFamily="34" charset="0"/>
                <a:ea typeface="Arial" pitchFamily="34" charset="-122"/>
                <a:cs typeface="Arial" pitchFamily="34" charset="-120"/>
              </a:rPr>
              <a:t>① draw a path edge → summit  ② lay bars on the contours  ③ open each bar to the path</a:t>
            </a:r>
            <a:endParaRPr lang="en-US" sz="750" dirty="0"/>
          </a:p>
        </p:txBody>
      </p:sp>
      <p:sp>
        <p:nvSpPr>
          <p:cNvPr id="107" name="Text 105"/>
          <p:cNvSpPr txBox="1"/>
          <p:nvPr/>
        </p:nvSpPr>
        <p:spPr>
          <a:xfrm>
            <a:off x="4974336" y="5760720"/>
            <a:ext cx="2212848" cy="457200"/>
          </a:xfrm>
          <a:prstGeom prst="rect">
            <a:avLst/>
          </a:prstGeom>
          <a:noFill/>
          <a:ln/>
        </p:spPr>
        <p:txBody>
          <a:bodyPr wrap="square" lIns="0" tIns="0" rIns="0" bIns="0" rtlCol="0" anchor="t"/>
          <a:lstStyle/>
          <a:p>
            <a:pPr indent="0" marL="0">
              <a:buNone/>
            </a:pPr>
            <a:r>
              <a:rPr lang="en-US" sz="700" b="1" dirty="0">
                <a:solidFill>
                  <a:srgbClr val="4F7A43"/>
                </a:solidFill>
                <a:latin typeface="Arial" pitchFamily="34" charset="0"/>
                <a:ea typeface="Arial" pitchFamily="34" charset="-122"/>
                <a:cs typeface="Arial" pitchFamily="34" charset="-120"/>
              </a:rPr>
              <a:t>TOPOGRAPHY  </a:t>
            </a:r>
            <a:pPr indent="0" marL="0">
              <a:buNone/>
            </a:pPr>
            <a:r>
              <a:rPr lang="en-US" sz="700" dirty="0">
                <a:solidFill>
                  <a:srgbClr val="1B1B1B"/>
                </a:solidFill>
                <a:latin typeface="Arial" pitchFamily="34" charset="0"/>
                <a:ea typeface="Arial" pitchFamily="34" charset="-122"/>
                <a:cs typeface="Arial" pitchFamily="34" charset="-120"/>
              </a:rPr>
              <a:t>Buildings follow existing levels; ground and trees kept.</a:t>
            </a:r>
            <a:endParaRPr lang="en-US" sz="700" dirty="0"/>
          </a:p>
        </p:txBody>
      </p:sp>
      <p:sp>
        <p:nvSpPr>
          <p:cNvPr id="108" name="Shape 106"/>
          <p:cNvSpPr/>
          <p:nvPr/>
        </p:nvSpPr>
        <p:spPr>
          <a:xfrm>
            <a:off x="7278624" y="1280160"/>
            <a:ext cx="2212848" cy="2331720"/>
          </a:xfrm>
          <a:prstGeom prst="rect">
            <a:avLst/>
          </a:prstGeom>
          <a:solidFill>
            <a:srgbClr val="FFFFFF"/>
          </a:solidFill>
          <a:ln w="6350">
            <a:solidFill>
              <a:srgbClr val="D9D9D9"/>
            </a:solidFill>
            <a:prstDash val="solid"/>
          </a:ln>
        </p:spPr>
      </p:sp>
      <p:sp>
        <p:nvSpPr>
          <p:cNvPr id="109" name="Text 107"/>
          <p:cNvSpPr txBox="1"/>
          <p:nvPr/>
        </p:nvSpPr>
        <p:spPr>
          <a:xfrm>
            <a:off x="7351776" y="133502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D  </a:t>
            </a:r>
            <a:pPr indent="0" marL="0">
              <a:buNone/>
            </a:pPr>
            <a:r>
              <a:rPr lang="en-US" sz="750" b="1" spc="50" kern="0" dirty="0">
                <a:solidFill>
                  <a:srgbClr val="1B1B1B"/>
                </a:solidFill>
                <a:latin typeface="Arial" pitchFamily="34" charset="0"/>
                <a:ea typeface="Arial" pitchFamily="34" charset="-122"/>
                <a:cs typeface="Arial" pitchFamily="34" charset="-120"/>
              </a:rPr>
              <a:t>THE OPEN PRESS</a:t>
            </a:r>
            <a:endParaRPr lang="en-US" sz="750" dirty="0"/>
          </a:p>
        </p:txBody>
      </p:sp>
      <p:sp>
        <p:nvSpPr>
          <p:cNvPr id="110" name="Shape 108"/>
          <p:cNvSpPr/>
          <p:nvPr/>
        </p:nvSpPr>
        <p:spPr>
          <a:xfrm>
            <a:off x="7498818" y="1995713"/>
            <a:ext cx="1772461" cy="1110926"/>
          </a:xfrm>
          <a:custGeom>
            <a:avLst/>
            <a:gdLst/>
            <a:ahLst/>
            <a:cxnLst/>
            <a:rect l="l" t="t" r="r" b="b"/>
            <a:pathLst>
              <a:path w="1772461" h="1110926">
                <a:moveTo>
                  <a:pt x="1754463" y="942025"/>
                </a:moveTo>
                <a:lnTo>
                  <a:pt x="1731120" y="981655"/>
                </a:lnTo>
                <a:lnTo>
                  <a:pt x="1698520" y="1016615"/>
                </a:lnTo>
                <a:lnTo>
                  <a:pt x="1657020" y="1046523"/>
                </a:lnTo>
                <a:lnTo>
                  <a:pt x="1607075" y="1071050"/>
                </a:lnTo>
                <a:lnTo>
                  <a:pt x="1549233" y="1089929"/>
                </a:lnTo>
                <a:lnTo>
                  <a:pt x="1484126" y="1102952"/>
                </a:lnTo>
                <a:lnTo>
                  <a:pt x="1412469" y="1109977"/>
                </a:lnTo>
                <a:lnTo>
                  <a:pt x="1335046" y="1110926"/>
                </a:lnTo>
                <a:lnTo>
                  <a:pt x="1252706" y="1105789"/>
                </a:lnTo>
                <a:lnTo>
                  <a:pt x="1166351" y="1094623"/>
                </a:lnTo>
                <a:lnTo>
                  <a:pt x="1076927" y="1077550"/>
                </a:lnTo>
                <a:lnTo>
                  <a:pt x="985413" y="1054757"/>
                </a:lnTo>
                <a:lnTo>
                  <a:pt x="892813" y="1026493"/>
                </a:lnTo>
                <a:lnTo>
                  <a:pt x="800141" y="993069"/>
                </a:lnTo>
                <a:lnTo>
                  <a:pt x="708412" y="954850"/>
                </a:lnTo>
                <a:lnTo>
                  <a:pt x="618631" y="912255"/>
                </a:lnTo>
                <a:lnTo>
                  <a:pt x="531782" y="865752"/>
                </a:lnTo>
                <a:lnTo>
                  <a:pt x="448816" y="815848"/>
                </a:lnTo>
                <a:lnTo>
                  <a:pt x="370643" y="763092"/>
                </a:lnTo>
                <a:lnTo>
                  <a:pt x="298119" y="708061"/>
                </a:lnTo>
                <a:lnTo>
                  <a:pt x="232038" y="651358"/>
                </a:lnTo>
                <a:lnTo>
                  <a:pt x="173124" y="593605"/>
                </a:lnTo>
                <a:lnTo>
                  <a:pt x="122024" y="535433"/>
                </a:lnTo>
                <a:lnTo>
                  <a:pt x="79296" y="477481"/>
                </a:lnTo>
                <a:lnTo>
                  <a:pt x="45409" y="420384"/>
                </a:lnTo>
                <a:lnTo>
                  <a:pt x="20735" y="364766"/>
                </a:lnTo>
                <a:lnTo>
                  <a:pt x="5543" y="311238"/>
                </a:lnTo>
                <a:lnTo>
                  <a:pt x="0" y="260385"/>
                </a:lnTo>
                <a:lnTo>
                  <a:pt x="4167" y="212766"/>
                </a:lnTo>
                <a:lnTo>
                  <a:pt x="17998" y="168901"/>
                </a:lnTo>
                <a:lnTo>
                  <a:pt x="41341" y="129271"/>
                </a:lnTo>
                <a:lnTo>
                  <a:pt x="73941" y="94311"/>
                </a:lnTo>
                <a:lnTo>
                  <a:pt x="115441" y="64403"/>
                </a:lnTo>
                <a:lnTo>
                  <a:pt x="165386" y="39876"/>
                </a:lnTo>
                <a:lnTo>
                  <a:pt x="223228" y="20997"/>
                </a:lnTo>
                <a:lnTo>
                  <a:pt x="288334" y="7974"/>
                </a:lnTo>
                <a:lnTo>
                  <a:pt x="359992" y="949"/>
                </a:lnTo>
                <a:lnTo>
                  <a:pt x="437414" y="0"/>
                </a:lnTo>
                <a:lnTo>
                  <a:pt x="519754" y="5137"/>
                </a:lnTo>
                <a:lnTo>
                  <a:pt x="606109" y="16303"/>
                </a:lnTo>
                <a:lnTo>
                  <a:pt x="695534" y="33376"/>
                </a:lnTo>
                <a:lnTo>
                  <a:pt x="787047" y="56169"/>
                </a:lnTo>
                <a:lnTo>
                  <a:pt x="879647" y="84433"/>
                </a:lnTo>
                <a:lnTo>
                  <a:pt x="972320" y="117857"/>
                </a:lnTo>
                <a:lnTo>
                  <a:pt x="1064049" y="156076"/>
                </a:lnTo>
                <a:lnTo>
                  <a:pt x="1153830" y="198671"/>
                </a:lnTo>
                <a:lnTo>
                  <a:pt x="1240679" y="245174"/>
                </a:lnTo>
                <a:lnTo>
                  <a:pt x="1323644" y="295078"/>
                </a:lnTo>
                <a:lnTo>
                  <a:pt x="1401818" y="347834"/>
                </a:lnTo>
                <a:lnTo>
                  <a:pt x="1474342" y="402865"/>
                </a:lnTo>
                <a:lnTo>
                  <a:pt x="1540423" y="459568"/>
                </a:lnTo>
                <a:lnTo>
                  <a:pt x="1599336" y="517321"/>
                </a:lnTo>
                <a:lnTo>
                  <a:pt x="1650437" y="575492"/>
                </a:lnTo>
                <a:lnTo>
                  <a:pt x="1693164" y="633444"/>
                </a:lnTo>
                <a:lnTo>
                  <a:pt x="1727051" y="690542"/>
                </a:lnTo>
                <a:lnTo>
                  <a:pt x="1751726" y="746160"/>
                </a:lnTo>
                <a:lnTo>
                  <a:pt x="1766918" y="799688"/>
                </a:lnTo>
                <a:lnTo>
                  <a:pt x="1772461" y="850541"/>
                </a:lnTo>
                <a:lnTo>
                  <a:pt x="1768294" y="898160"/>
                </a:lnTo>
                <a:close/>
              </a:path>
            </a:pathLst>
          </a:custGeom>
          <a:solidFill>
            <a:srgbClr val="E4E4E4"/>
          </a:solidFill>
          <a:ln w="12700"/>
        </p:spPr>
      </p:sp>
      <p:sp>
        <p:nvSpPr>
          <p:cNvPr id="111" name="Shape 109"/>
          <p:cNvSpPr/>
          <p:nvPr/>
        </p:nvSpPr>
        <p:spPr>
          <a:xfrm>
            <a:off x="7333488" y="2118894"/>
            <a:ext cx="183327" cy="45720"/>
          </a:xfrm>
          <a:custGeom>
            <a:avLst/>
            <a:gdLst/>
            <a:ahLst/>
            <a:cxnLst/>
            <a:rect l="l" t="t" r="r" b="b"/>
            <a:pathLst>
              <a:path w="183327" h="45720">
                <a:moveTo>
                  <a:pt x="183327" y="45720"/>
                </a:moveTo>
                <a:lnTo>
                  <a:pt x="0" y="0"/>
                </a:lnTo>
              </a:path>
            </a:pathLst>
          </a:custGeom>
          <a:ln w="76200">
            <a:solidFill>
              <a:srgbClr val="E4E4E4"/>
            </a:solidFill>
            <a:prstDash val="solid"/>
          </a:ln>
        </p:spPr>
      </p:sp>
      <p:sp>
        <p:nvSpPr>
          <p:cNvPr id="112" name="Shape 110"/>
          <p:cNvSpPr/>
          <p:nvPr/>
        </p:nvSpPr>
        <p:spPr>
          <a:xfrm>
            <a:off x="9253281" y="2937738"/>
            <a:ext cx="183327" cy="45720"/>
          </a:xfrm>
          <a:custGeom>
            <a:avLst/>
            <a:gdLst/>
            <a:ahLst/>
            <a:cxnLst/>
            <a:rect l="l" t="t" r="r" b="b"/>
            <a:pathLst>
              <a:path w="183327" h="45720">
                <a:moveTo>
                  <a:pt x="0" y="0"/>
                </a:moveTo>
                <a:lnTo>
                  <a:pt x="183327" y="45720"/>
                </a:lnTo>
              </a:path>
            </a:pathLst>
          </a:custGeom>
          <a:ln w="76200">
            <a:solidFill>
              <a:srgbClr val="E4E4E4"/>
            </a:solidFill>
            <a:prstDash val="solid"/>
          </a:ln>
        </p:spPr>
      </p:sp>
      <p:sp>
        <p:nvSpPr>
          <p:cNvPr id="113" name="Shape 111"/>
          <p:cNvSpPr/>
          <p:nvPr/>
        </p:nvSpPr>
        <p:spPr>
          <a:xfrm>
            <a:off x="7646523" y="2088290"/>
            <a:ext cx="1477051" cy="925772"/>
          </a:xfrm>
          <a:custGeom>
            <a:avLst/>
            <a:gdLst/>
            <a:ahLst/>
            <a:cxnLst/>
            <a:rect l="l" t="t" r="r" b="b"/>
            <a:pathLst>
              <a:path w="1477051" h="925772">
                <a:moveTo>
                  <a:pt x="1462053" y="785021"/>
                </a:moveTo>
                <a:lnTo>
                  <a:pt x="1442600" y="818046"/>
                </a:lnTo>
                <a:lnTo>
                  <a:pt x="1415433" y="847179"/>
                </a:lnTo>
                <a:lnTo>
                  <a:pt x="1380850" y="872102"/>
                </a:lnTo>
                <a:lnTo>
                  <a:pt x="1339229" y="892542"/>
                </a:lnTo>
                <a:lnTo>
                  <a:pt x="1291027" y="908274"/>
                </a:lnTo>
                <a:lnTo>
                  <a:pt x="1236772" y="919127"/>
                </a:lnTo>
                <a:lnTo>
                  <a:pt x="1177058" y="924981"/>
                </a:lnTo>
                <a:lnTo>
                  <a:pt x="1112539" y="925772"/>
                </a:lnTo>
                <a:lnTo>
                  <a:pt x="1043922" y="921491"/>
                </a:lnTo>
                <a:lnTo>
                  <a:pt x="971959" y="912186"/>
                </a:lnTo>
                <a:lnTo>
                  <a:pt x="897439" y="897958"/>
                </a:lnTo>
                <a:lnTo>
                  <a:pt x="821178" y="878964"/>
                </a:lnTo>
                <a:lnTo>
                  <a:pt x="744011" y="855411"/>
                </a:lnTo>
                <a:lnTo>
                  <a:pt x="666784" y="827557"/>
                </a:lnTo>
                <a:lnTo>
                  <a:pt x="590343" y="795708"/>
                </a:lnTo>
                <a:lnTo>
                  <a:pt x="515526" y="760213"/>
                </a:lnTo>
                <a:lnTo>
                  <a:pt x="443151" y="721460"/>
                </a:lnTo>
                <a:lnTo>
                  <a:pt x="374013" y="679874"/>
                </a:lnTo>
                <a:lnTo>
                  <a:pt x="308869" y="635910"/>
                </a:lnTo>
                <a:lnTo>
                  <a:pt x="248432" y="590051"/>
                </a:lnTo>
                <a:lnTo>
                  <a:pt x="193365" y="542799"/>
                </a:lnTo>
                <a:lnTo>
                  <a:pt x="144270" y="494671"/>
                </a:lnTo>
                <a:lnTo>
                  <a:pt x="101687" y="446195"/>
                </a:lnTo>
                <a:lnTo>
                  <a:pt x="66080" y="397901"/>
                </a:lnTo>
                <a:lnTo>
                  <a:pt x="37841" y="350320"/>
                </a:lnTo>
                <a:lnTo>
                  <a:pt x="17279" y="303972"/>
                </a:lnTo>
                <a:lnTo>
                  <a:pt x="4619" y="259365"/>
                </a:lnTo>
                <a:lnTo>
                  <a:pt x="0" y="216988"/>
                </a:lnTo>
                <a:lnTo>
                  <a:pt x="3472" y="177305"/>
                </a:lnTo>
                <a:lnTo>
                  <a:pt x="14998" y="140751"/>
                </a:lnTo>
                <a:lnTo>
                  <a:pt x="34451" y="107726"/>
                </a:lnTo>
                <a:lnTo>
                  <a:pt x="61618" y="78592"/>
                </a:lnTo>
                <a:lnTo>
                  <a:pt x="96201" y="53669"/>
                </a:lnTo>
                <a:lnTo>
                  <a:pt x="137821" y="33230"/>
                </a:lnTo>
                <a:lnTo>
                  <a:pt x="186023" y="17497"/>
                </a:lnTo>
                <a:lnTo>
                  <a:pt x="240279" y="6645"/>
                </a:lnTo>
                <a:lnTo>
                  <a:pt x="299993" y="791"/>
                </a:lnTo>
                <a:lnTo>
                  <a:pt x="364512" y="0"/>
                </a:lnTo>
                <a:lnTo>
                  <a:pt x="433128" y="4280"/>
                </a:lnTo>
                <a:lnTo>
                  <a:pt x="505091" y="13585"/>
                </a:lnTo>
                <a:lnTo>
                  <a:pt x="579611" y="27813"/>
                </a:lnTo>
                <a:lnTo>
                  <a:pt x="655873" y="46808"/>
                </a:lnTo>
                <a:lnTo>
                  <a:pt x="733039" y="70361"/>
                </a:lnTo>
                <a:lnTo>
                  <a:pt x="810266" y="98214"/>
                </a:lnTo>
                <a:lnTo>
                  <a:pt x="886707" y="130063"/>
                </a:lnTo>
                <a:lnTo>
                  <a:pt x="961525" y="165559"/>
                </a:lnTo>
                <a:lnTo>
                  <a:pt x="1033899" y="204312"/>
                </a:lnTo>
                <a:lnTo>
                  <a:pt x="1103037" y="245898"/>
                </a:lnTo>
                <a:lnTo>
                  <a:pt x="1168181" y="289861"/>
                </a:lnTo>
                <a:lnTo>
                  <a:pt x="1228618" y="335721"/>
                </a:lnTo>
                <a:lnTo>
                  <a:pt x="1283686" y="382973"/>
                </a:lnTo>
                <a:lnTo>
                  <a:pt x="1332780" y="431101"/>
                </a:lnTo>
                <a:lnTo>
                  <a:pt x="1375364" y="479577"/>
                </a:lnTo>
                <a:lnTo>
                  <a:pt x="1410970" y="527870"/>
                </a:lnTo>
                <a:lnTo>
                  <a:pt x="1439209" y="575452"/>
                </a:lnTo>
                <a:lnTo>
                  <a:pt x="1459771" y="621800"/>
                </a:lnTo>
                <a:lnTo>
                  <a:pt x="1472431" y="666407"/>
                </a:lnTo>
                <a:lnTo>
                  <a:pt x="1477051" y="708784"/>
                </a:lnTo>
                <a:lnTo>
                  <a:pt x="1473578" y="748467"/>
                </a:lnTo>
                <a:close/>
              </a:path>
            </a:pathLst>
          </a:custGeom>
          <a:solidFill>
            <a:srgbClr val="FFFFFF"/>
          </a:solidFill>
          <a:ln w="19050">
            <a:solidFill>
              <a:srgbClr val="1B1B1B"/>
            </a:solidFill>
            <a:prstDash val="solid"/>
          </a:ln>
        </p:spPr>
      </p:sp>
      <p:sp>
        <p:nvSpPr>
          <p:cNvPr id="114" name="Shape 112"/>
          <p:cNvSpPr/>
          <p:nvPr/>
        </p:nvSpPr>
        <p:spPr>
          <a:xfrm>
            <a:off x="7933072" y="2233471"/>
            <a:ext cx="1063476" cy="666556"/>
          </a:xfrm>
          <a:custGeom>
            <a:avLst/>
            <a:gdLst/>
            <a:ahLst/>
            <a:cxnLst/>
            <a:rect l="l" t="t" r="r" b="b"/>
            <a:pathLst>
              <a:path w="1063476" h="666556">
                <a:moveTo>
                  <a:pt x="1052678" y="565215"/>
                </a:moveTo>
                <a:lnTo>
                  <a:pt x="1038672" y="588993"/>
                </a:lnTo>
                <a:lnTo>
                  <a:pt x="1019112" y="609969"/>
                </a:lnTo>
                <a:lnTo>
                  <a:pt x="994212" y="627914"/>
                </a:lnTo>
                <a:lnTo>
                  <a:pt x="964245" y="642630"/>
                </a:lnTo>
                <a:lnTo>
                  <a:pt x="929540" y="653957"/>
                </a:lnTo>
                <a:lnTo>
                  <a:pt x="890476" y="661771"/>
                </a:lnTo>
                <a:lnTo>
                  <a:pt x="847481" y="665986"/>
                </a:lnTo>
                <a:lnTo>
                  <a:pt x="801028" y="666556"/>
                </a:lnTo>
                <a:lnTo>
                  <a:pt x="751624" y="663474"/>
                </a:lnTo>
                <a:lnTo>
                  <a:pt x="699811" y="656774"/>
                </a:lnTo>
                <a:lnTo>
                  <a:pt x="646156" y="646530"/>
                </a:lnTo>
                <a:lnTo>
                  <a:pt x="591248" y="632854"/>
                </a:lnTo>
                <a:lnTo>
                  <a:pt x="535688" y="615896"/>
                </a:lnTo>
                <a:lnTo>
                  <a:pt x="480085" y="595841"/>
                </a:lnTo>
                <a:lnTo>
                  <a:pt x="425047" y="572910"/>
                </a:lnTo>
                <a:lnTo>
                  <a:pt x="371178" y="547353"/>
                </a:lnTo>
                <a:lnTo>
                  <a:pt x="319069" y="519451"/>
                </a:lnTo>
                <a:lnTo>
                  <a:pt x="269290" y="489509"/>
                </a:lnTo>
                <a:lnTo>
                  <a:pt x="222386" y="457855"/>
                </a:lnTo>
                <a:lnTo>
                  <a:pt x="178871" y="424837"/>
                </a:lnTo>
                <a:lnTo>
                  <a:pt x="139223" y="390815"/>
                </a:lnTo>
                <a:lnTo>
                  <a:pt x="103875" y="356163"/>
                </a:lnTo>
                <a:lnTo>
                  <a:pt x="73214" y="321260"/>
                </a:lnTo>
                <a:lnTo>
                  <a:pt x="47578" y="286489"/>
                </a:lnTo>
                <a:lnTo>
                  <a:pt x="27246" y="252230"/>
                </a:lnTo>
                <a:lnTo>
                  <a:pt x="12441" y="218860"/>
                </a:lnTo>
                <a:lnTo>
                  <a:pt x="3326" y="186743"/>
                </a:lnTo>
                <a:lnTo>
                  <a:pt x="0" y="156231"/>
                </a:lnTo>
                <a:lnTo>
                  <a:pt x="2500" y="127659"/>
                </a:lnTo>
                <a:lnTo>
                  <a:pt x="10799" y="101341"/>
                </a:lnTo>
                <a:lnTo>
                  <a:pt x="24805" y="77563"/>
                </a:lnTo>
                <a:lnTo>
                  <a:pt x="44365" y="56587"/>
                </a:lnTo>
                <a:lnTo>
                  <a:pt x="69265" y="38642"/>
                </a:lnTo>
                <a:lnTo>
                  <a:pt x="99231" y="23925"/>
                </a:lnTo>
                <a:lnTo>
                  <a:pt x="133937" y="12598"/>
                </a:lnTo>
                <a:lnTo>
                  <a:pt x="173001" y="4784"/>
                </a:lnTo>
                <a:lnTo>
                  <a:pt x="215995" y="570"/>
                </a:lnTo>
                <a:lnTo>
                  <a:pt x="262449" y="0"/>
                </a:lnTo>
                <a:lnTo>
                  <a:pt x="311853" y="3082"/>
                </a:lnTo>
                <a:lnTo>
                  <a:pt x="363666" y="9782"/>
                </a:lnTo>
                <a:lnTo>
                  <a:pt x="417320" y="20025"/>
                </a:lnTo>
                <a:lnTo>
                  <a:pt x="472228" y="33701"/>
                </a:lnTo>
                <a:lnTo>
                  <a:pt x="527788" y="50660"/>
                </a:lnTo>
                <a:lnTo>
                  <a:pt x="583392" y="70714"/>
                </a:lnTo>
                <a:lnTo>
                  <a:pt x="638429" y="93646"/>
                </a:lnTo>
                <a:lnTo>
                  <a:pt x="692298" y="119202"/>
                </a:lnTo>
                <a:lnTo>
                  <a:pt x="744407" y="147105"/>
                </a:lnTo>
                <a:lnTo>
                  <a:pt x="794187" y="177047"/>
                </a:lnTo>
                <a:lnTo>
                  <a:pt x="841091" y="208700"/>
                </a:lnTo>
                <a:lnTo>
                  <a:pt x="884605" y="241719"/>
                </a:lnTo>
                <a:lnTo>
                  <a:pt x="924254" y="275741"/>
                </a:lnTo>
                <a:lnTo>
                  <a:pt x="959602" y="310393"/>
                </a:lnTo>
                <a:lnTo>
                  <a:pt x="990262" y="345295"/>
                </a:lnTo>
                <a:lnTo>
                  <a:pt x="1015899" y="380067"/>
                </a:lnTo>
                <a:lnTo>
                  <a:pt x="1036231" y="414325"/>
                </a:lnTo>
                <a:lnTo>
                  <a:pt x="1051035" y="447696"/>
                </a:lnTo>
                <a:lnTo>
                  <a:pt x="1060151" y="479813"/>
                </a:lnTo>
                <a:lnTo>
                  <a:pt x="1063476" y="510324"/>
                </a:lnTo>
                <a:lnTo>
                  <a:pt x="1060976" y="538896"/>
                </a:lnTo>
                <a:close/>
              </a:path>
            </a:pathLst>
          </a:custGeom>
          <a:ln w="6350">
            <a:solidFill>
              <a:srgbClr val="4F7A43"/>
            </a:solidFill>
            <a:prstDash val="dash"/>
          </a:ln>
        </p:spPr>
      </p:sp>
      <p:sp>
        <p:nvSpPr>
          <p:cNvPr id="115" name="Shape 113"/>
          <p:cNvSpPr/>
          <p:nvPr/>
        </p:nvSpPr>
        <p:spPr>
          <a:xfrm>
            <a:off x="8125088" y="2353821"/>
            <a:ext cx="679443" cy="425855"/>
          </a:xfrm>
          <a:custGeom>
            <a:avLst/>
            <a:gdLst/>
            <a:ahLst/>
            <a:cxnLst/>
            <a:rect l="l" t="t" r="r" b="b"/>
            <a:pathLst>
              <a:path w="679443" h="425855">
                <a:moveTo>
                  <a:pt x="672544" y="361110"/>
                </a:moveTo>
                <a:lnTo>
                  <a:pt x="663596" y="376301"/>
                </a:lnTo>
                <a:lnTo>
                  <a:pt x="651099" y="389702"/>
                </a:lnTo>
                <a:lnTo>
                  <a:pt x="635191" y="401167"/>
                </a:lnTo>
                <a:lnTo>
                  <a:pt x="616045" y="410569"/>
                </a:lnTo>
                <a:lnTo>
                  <a:pt x="593873" y="417806"/>
                </a:lnTo>
                <a:lnTo>
                  <a:pt x="568915" y="422798"/>
                </a:lnTo>
                <a:lnTo>
                  <a:pt x="541446" y="425491"/>
                </a:lnTo>
                <a:lnTo>
                  <a:pt x="511768" y="425855"/>
                </a:lnTo>
                <a:lnTo>
                  <a:pt x="480204" y="423886"/>
                </a:lnTo>
                <a:lnTo>
                  <a:pt x="447101" y="419606"/>
                </a:lnTo>
                <a:lnTo>
                  <a:pt x="412822" y="413061"/>
                </a:lnTo>
                <a:lnTo>
                  <a:pt x="377742" y="404323"/>
                </a:lnTo>
                <a:lnTo>
                  <a:pt x="342245" y="393489"/>
                </a:lnTo>
                <a:lnTo>
                  <a:pt x="306721" y="380676"/>
                </a:lnTo>
                <a:lnTo>
                  <a:pt x="271558" y="366026"/>
                </a:lnTo>
                <a:lnTo>
                  <a:pt x="237142" y="349698"/>
                </a:lnTo>
                <a:lnTo>
                  <a:pt x="203850" y="331871"/>
                </a:lnTo>
                <a:lnTo>
                  <a:pt x="172046" y="312742"/>
                </a:lnTo>
                <a:lnTo>
                  <a:pt x="142080" y="292519"/>
                </a:lnTo>
                <a:lnTo>
                  <a:pt x="114279" y="271423"/>
                </a:lnTo>
                <a:lnTo>
                  <a:pt x="88948" y="249687"/>
                </a:lnTo>
                <a:lnTo>
                  <a:pt x="66364" y="227549"/>
                </a:lnTo>
                <a:lnTo>
                  <a:pt x="46776" y="205249"/>
                </a:lnTo>
                <a:lnTo>
                  <a:pt x="30397" y="183035"/>
                </a:lnTo>
                <a:lnTo>
                  <a:pt x="17407" y="161147"/>
                </a:lnTo>
                <a:lnTo>
                  <a:pt x="7948" y="139827"/>
                </a:lnTo>
                <a:lnTo>
                  <a:pt x="2125" y="119308"/>
                </a:lnTo>
                <a:lnTo>
                  <a:pt x="0" y="99814"/>
                </a:lnTo>
                <a:lnTo>
                  <a:pt x="1597" y="81560"/>
                </a:lnTo>
                <a:lnTo>
                  <a:pt x="6899" y="64745"/>
                </a:lnTo>
                <a:lnTo>
                  <a:pt x="15847" y="49554"/>
                </a:lnTo>
                <a:lnTo>
                  <a:pt x="28344" y="36153"/>
                </a:lnTo>
                <a:lnTo>
                  <a:pt x="44252" y="24688"/>
                </a:lnTo>
                <a:lnTo>
                  <a:pt x="63398" y="15286"/>
                </a:lnTo>
                <a:lnTo>
                  <a:pt x="85571" y="8049"/>
                </a:lnTo>
                <a:lnTo>
                  <a:pt x="110528" y="3057"/>
                </a:lnTo>
                <a:lnTo>
                  <a:pt x="137997" y="364"/>
                </a:lnTo>
                <a:lnTo>
                  <a:pt x="167675" y="0"/>
                </a:lnTo>
                <a:lnTo>
                  <a:pt x="199239" y="1969"/>
                </a:lnTo>
                <a:lnTo>
                  <a:pt x="232342" y="6249"/>
                </a:lnTo>
                <a:lnTo>
                  <a:pt x="266621" y="12794"/>
                </a:lnTo>
                <a:lnTo>
                  <a:pt x="301701" y="21531"/>
                </a:lnTo>
                <a:lnTo>
                  <a:pt x="337198" y="32366"/>
                </a:lnTo>
                <a:lnTo>
                  <a:pt x="372723" y="45179"/>
                </a:lnTo>
                <a:lnTo>
                  <a:pt x="407885" y="59829"/>
                </a:lnTo>
                <a:lnTo>
                  <a:pt x="442301" y="76157"/>
                </a:lnTo>
                <a:lnTo>
                  <a:pt x="475594" y="93983"/>
                </a:lnTo>
                <a:lnTo>
                  <a:pt x="507397" y="113113"/>
                </a:lnTo>
                <a:lnTo>
                  <a:pt x="537363" y="133336"/>
                </a:lnTo>
                <a:lnTo>
                  <a:pt x="565164" y="154431"/>
                </a:lnTo>
                <a:lnTo>
                  <a:pt x="590495" y="176168"/>
                </a:lnTo>
                <a:lnTo>
                  <a:pt x="613079" y="198306"/>
                </a:lnTo>
                <a:lnTo>
                  <a:pt x="632667" y="220605"/>
                </a:lnTo>
                <a:lnTo>
                  <a:pt x="649046" y="242820"/>
                </a:lnTo>
                <a:lnTo>
                  <a:pt x="662036" y="264708"/>
                </a:lnTo>
                <a:lnTo>
                  <a:pt x="671495" y="286028"/>
                </a:lnTo>
                <a:lnTo>
                  <a:pt x="677318" y="306547"/>
                </a:lnTo>
                <a:lnTo>
                  <a:pt x="679443" y="326041"/>
                </a:lnTo>
                <a:lnTo>
                  <a:pt x="677846" y="344295"/>
                </a:lnTo>
                <a:close/>
              </a:path>
            </a:pathLst>
          </a:custGeom>
          <a:ln w="6350">
            <a:solidFill>
              <a:srgbClr val="4F7A43"/>
            </a:solidFill>
            <a:prstDash val="dash"/>
          </a:ln>
        </p:spPr>
      </p:sp>
      <p:sp>
        <p:nvSpPr>
          <p:cNvPr id="116" name="Shape 114"/>
          <p:cNvSpPr/>
          <p:nvPr/>
        </p:nvSpPr>
        <p:spPr>
          <a:xfrm>
            <a:off x="8302334" y="2464914"/>
            <a:ext cx="324951" cy="203670"/>
          </a:xfrm>
          <a:custGeom>
            <a:avLst/>
            <a:gdLst/>
            <a:ahLst/>
            <a:cxnLst/>
            <a:rect l="l" t="t" r="r" b="b"/>
            <a:pathLst>
              <a:path w="324951" h="203670">
                <a:moveTo>
                  <a:pt x="321652" y="172705"/>
                </a:moveTo>
                <a:lnTo>
                  <a:pt x="317372" y="179970"/>
                </a:lnTo>
                <a:lnTo>
                  <a:pt x="311395" y="186379"/>
                </a:lnTo>
                <a:lnTo>
                  <a:pt x="303787" y="191863"/>
                </a:lnTo>
                <a:lnTo>
                  <a:pt x="294630" y="196359"/>
                </a:lnTo>
                <a:lnTo>
                  <a:pt x="284026" y="199820"/>
                </a:lnTo>
                <a:lnTo>
                  <a:pt x="272090" y="202208"/>
                </a:lnTo>
                <a:lnTo>
                  <a:pt x="258953" y="203496"/>
                </a:lnTo>
                <a:lnTo>
                  <a:pt x="244759" y="203670"/>
                </a:lnTo>
                <a:lnTo>
                  <a:pt x="229663" y="202728"/>
                </a:lnTo>
                <a:lnTo>
                  <a:pt x="213831" y="200681"/>
                </a:lnTo>
                <a:lnTo>
                  <a:pt x="197437" y="197551"/>
                </a:lnTo>
                <a:lnTo>
                  <a:pt x="180659" y="193372"/>
                </a:lnTo>
                <a:lnTo>
                  <a:pt x="163682" y="188190"/>
                </a:lnTo>
                <a:lnTo>
                  <a:pt x="146692" y="182063"/>
                </a:lnTo>
                <a:lnTo>
                  <a:pt x="129875" y="175056"/>
                </a:lnTo>
                <a:lnTo>
                  <a:pt x="113416" y="167247"/>
                </a:lnTo>
                <a:lnTo>
                  <a:pt x="97493" y="158721"/>
                </a:lnTo>
                <a:lnTo>
                  <a:pt x="82283" y="149572"/>
                </a:lnTo>
                <a:lnTo>
                  <a:pt x="67951" y="139900"/>
                </a:lnTo>
                <a:lnTo>
                  <a:pt x="54655" y="129811"/>
                </a:lnTo>
                <a:lnTo>
                  <a:pt x="42540" y="119416"/>
                </a:lnTo>
                <a:lnTo>
                  <a:pt x="31739" y="108828"/>
                </a:lnTo>
                <a:lnTo>
                  <a:pt x="22371" y="98163"/>
                </a:lnTo>
                <a:lnTo>
                  <a:pt x="14538" y="87538"/>
                </a:lnTo>
                <a:lnTo>
                  <a:pt x="8325" y="77070"/>
                </a:lnTo>
                <a:lnTo>
                  <a:pt x="3801" y="66874"/>
                </a:lnTo>
                <a:lnTo>
                  <a:pt x="1016" y="57060"/>
                </a:lnTo>
                <a:lnTo>
                  <a:pt x="0" y="47737"/>
                </a:lnTo>
                <a:lnTo>
                  <a:pt x="764" y="39007"/>
                </a:lnTo>
                <a:lnTo>
                  <a:pt x="3300" y="30965"/>
                </a:lnTo>
                <a:lnTo>
                  <a:pt x="7579" y="23700"/>
                </a:lnTo>
                <a:lnTo>
                  <a:pt x="13556" y="17290"/>
                </a:lnTo>
                <a:lnTo>
                  <a:pt x="21164" y="11807"/>
                </a:lnTo>
                <a:lnTo>
                  <a:pt x="30321" y="7311"/>
                </a:lnTo>
                <a:lnTo>
                  <a:pt x="40925" y="3849"/>
                </a:lnTo>
                <a:lnTo>
                  <a:pt x="52861" y="1462"/>
                </a:lnTo>
                <a:lnTo>
                  <a:pt x="65998" y="174"/>
                </a:lnTo>
                <a:lnTo>
                  <a:pt x="80193" y="0"/>
                </a:lnTo>
                <a:lnTo>
                  <a:pt x="95288" y="942"/>
                </a:lnTo>
                <a:lnTo>
                  <a:pt x="111120" y="2989"/>
                </a:lnTo>
                <a:lnTo>
                  <a:pt x="127514" y="6119"/>
                </a:lnTo>
                <a:lnTo>
                  <a:pt x="144292" y="10298"/>
                </a:lnTo>
                <a:lnTo>
                  <a:pt x="161269" y="15479"/>
                </a:lnTo>
                <a:lnTo>
                  <a:pt x="178259" y="21607"/>
                </a:lnTo>
                <a:lnTo>
                  <a:pt x="195076" y="28614"/>
                </a:lnTo>
                <a:lnTo>
                  <a:pt x="211535" y="36423"/>
                </a:lnTo>
                <a:lnTo>
                  <a:pt x="227458" y="44949"/>
                </a:lnTo>
                <a:lnTo>
                  <a:pt x="242668" y="54098"/>
                </a:lnTo>
                <a:lnTo>
                  <a:pt x="257000" y="63770"/>
                </a:lnTo>
                <a:lnTo>
                  <a:pt x="270296" y="73859"/>
                </a:lnTo>
                <a:lnTo>
                  <a:pt x="282411" y="84254"/>
                </a:lnTo>
                <a:lnTo>
                  <a:pt x="293212" y="94842"/>
                </a:lnTo>
                <a:lnTo>
                  <a:pt x="302580" y="105507"/>
                </a:lnTo>
                <a:lnTo>
                  <a:pt x="310413" y="116131"/>
                </a:lnTo>
                <a:lnTo>
                  <a:pt x="316626" y="126599"/>
                </a:lnTo>
                <a:lnTo>
                  <a:pt x="321150" y="136796"/>
                </a:lnTo>
                <a:lnTo>
                  <a:pt x="323935" y="146609"/>
                </a:lnTo>
                <a:lnTo>
                  <a:pt x="324951" y="155932"/>
                </a:lnTo>
                <a:lnTo>
                  <a:pt x="324187" y="164663"/>
                </a:lnTo>
                <a:close/>
              </a:path>
            </a:pathLst>
          </a:custGeom>
          <a:ln w="6350">
            <a:solidFill>
              <a:srgbClr val="4F7A43"/>
            </a:solidFill>
            <a:prstDash val="dash"/>
          </a:ln>
        </p:spPr>
      </p:sp>
      <p:sp>
        <p:nvSpPr>
          <p:cNvPr id="117" name="Shape 115"/>
          <p:cNvSpPr/>
          <p:nvPr/>
        </p:nvSpPr>
        <p:spPr>
          <a:xfrm>
            <a:off x="8998071" y="2810974"/>
            <a:ext cx="47362" cy="47362"/>
          </a:xfrm>
          <a:prstGeom prst="ellipse">
            <a:avLst/>
          </a:prstGeom>
          <a:solidFill>
            <a:srgbClr val="FFFFFF"/>
          </a:solidFill>
          <a:ln w="7620">
            <a:solidFill>
              <a:srgbClr val="4F7A43"/>
            </a:solidFill>
            <a:prstDash val="solid"/>
          </a:ln>
        </p:spPr>
      </p:sp>
      <p:sp>
        <p:nvSpPr>
          <p:cNvPr id="118" name="Shape 116"/>
          <p:cNvSpPr/>
          <p:nvPr/>
        </p:nvSpPr>
        <p:spPr>
          <a:xfrm>
            <a:off x="8932125" y="2884218"/>
            <a:ext cx="47362" cy="47362"/>
          </a:xfrm>
          <a:prstGeom prst="ellipse">
            <a:avLst/>
          </a:prstGeom>
          <a:solidFill>
            <a:srgbClr val="FFFFFF"/>
          </a:solidFill>
          <a:ln w="7620">
            <a:solidFill>
              <a:srgbClr val="4F7A43"/>
            </a:solidFill>
            <a:prstDash val="solid"/>
          </a:ln>
        </p:spPr>
      </p:sp>
      <p:sp>
        <p:nvSpPr>
          <p:cNvPr id="119" name="Shape 117"/>
          <p:cNvSpPr/>
          <p:nvPr/>
        </p:nvSpPr>
        <p:spPr>
          <a:xfrm>
            <a:off x="8816300" y="2926288"/>
            <a:ext cx="47362" cy="47362"/>
          </a:xfrm>
          <a:prstGeom prst="ellipse">
            <a:avLst/>
          </a:prstGeom>
          <a:solidFill>
            <a:srgbClr val="FFFFFF"/>
          </a:solidFill>
          <a:ln w="7620">
            <a:solidFill>
              <a:srgbClr val="4F7A43"/>
            </a:solidFill>
            <a:prstDash val="solid"/>
          </a:ln>
        </p:spPr>
      </p:sp>
      <p:sp>
        <p:nvSpPr>
          <p:cNvPr id="120" name="Shape 118"/>
          <p:cNvSpPr/>
          <p:nvPr/>
        </p:nvSpPr>
        <p:spPr>
          <a:xfrm>
            <a:off x="8660718" y="2933508"/>
            <a:ext cx="47362" cy="47362"/>
          </a:xfrm>
          <a:prstGeom prst="ellipse">
            <a:avLst/>
          </a:prstGeom>
          <a:solidFill>
            <a:srgbClr val="FFFFFF"/>
          </a:solidFill>
          <a:ln w="7620">
            <a:solidFill>
              <a:srgbClr val="4F7A43"/>
            </a:solidFill>
            <a:prstDash val="solid"/>
          </a:ln>
        </p:spPr>
      </p:sp>
      <p:sp>
        <p:nvSpPr>
          <p:cNvPr id="121" name="Shape 119"/>
          <p:cNvSpPr/>
          <p:nvPr/>
        </p:nvSpPr>
        <p:spPr>
          <a:xfrm>
            <a:off x="8478976" y="2905245"/>
            <a:ext cx="47362" cy="47362"/>
          </a:xfrm>
          <a:prstGeom prst="ellipse">
            <a:avLst/>
          </a:prstGeom>
          <a:solidFill>
            <a:srgbClr val="FFFFFF"/>
          </a:solidFill>
          <a:ln w="7620">
            <a:solidFill>
              <a:srgbClr val="4F7A43"/>
            </a:solidFill>
            <a:prstDash val="solid"/>
          </a:ln>
        </p:spPr>
      </p:sp>
      <p:sp>
        <p:nvSpPr>
          <p:cNvPr id="122" name="Shape 120"/>
          <p:cNvSpPr/>
          <p:nvPr/>
        </p:nvSpPr>
        <p:spPr>
          <a:xfrm>
            <a:off x="8286956" y="2843971"/>
            <a:ext cx="47362" cy="47362"/>
          </a:xfrm>
          <a:prstGeom prst="ellipse">
            <a:avLst/>
          </a:prstGeom>
          <a:solidFill>
            <a:srgbClr val="FFFFFF"/>
          </a:solidFill>
          <a:ln w="7620">
            <a:solidFill>
              <a:srgbClr val="4F7A43"/>
            </a:solidFill>
            <a:prstDash val="solid"/>
          </a:ln>
        </p:spPr>
      </p:sp>
      <p:sp>
        <p:nvSpPr>
          <p:cNvPr id="123" name="Shape 121"/>
          <p:cNvSpPr/>
          <p:nvPr/>
        </p:nvSpPr>
        <p:spPr>
          <a:xfrm>
            <a:off x="8101438" y="2755040"/>
            <a:ext cx="47362" cy="47362"/>
          </a:xfrm>
          <a:prstGeom prst="ellipse">
            <a:avLst/>
          </a:prstGeom>
          <a:solidFill>
            <a:srgbClr val="FFFFFF"/>
          </a:solidFill>
          <a:ln w="7620">
            <a:solidFill>
              <a:srgbClr val="4F7A43"/>
            </a:solidFill>
            <a:prstDash val="solid"/>
          </a:ln>
        </p:spPr>
      </p:sp>
      <p:sp>
        <p:nvSpPr>
          <p:cNvPr id="124" name="Shape 122"/>
          <p:cNvSpPr/>
          <p:nvPr/>
        </p:nvSpPr>
        <p:spPr>
          <a:xfrm>
            <a:off x="7938636" y="2646224"/>
            <a:ext cx="47362" cy="47362"/>
          </a:xfrm>
          <a:prstGeom prst="ellipse">
            <a:avLst/>
          </a:prstGeom>
          <a:solidFill>
            <a:srgbClr val="FFFFFF"/>
          </a:solidFill>
          <a:ln w="7620">
            <a:solidFill>
              <a:srgbClr val="4F7A43"/>
            </a:solidFill>
            <a:prstDash val="solid"/>
          </a:ln>
        </p:spPr>
      </p:sp>
      <p:sp>
        <p:nvSpPr>
          <p:cNvPr id="125" name="Shape 123"/>
          <p:cNvSpPr/>
          <p:nvPr/>
        </p:nvSpPr>
        <p:spPr>
          <a:xfrm>
            <a:off x="7812777" y="2527032"/>
            <a:ext cx="47362" cy="47362"/>
          </a:xfrm>
          <a:prstGeom prst="ellipse">
            <a:avLst/>
          </a:prstGeom>
          <a:solidFill>
            <a:srgbClr val="FFFFFF"/>
          </a:solidFill>
          <a:ln w="7620">
            <a:solidFill>
              <a:srgbClr val="4F7A43"/>
            </a:solidFill>
            <a:prstDash val="solid"/>
          </a:ln>
        </p:spPr>
      </p:sp>
      <p:sp>
        <p:nvSpPr>
          <p:cNvPr id="126" name="Shape 124"/>
          <p:cNvSpPr/>
          <p:nvPr/>
        </p:nvSpPr>
        <p:spPr>
          <a:xfrm>
            <a:off x="7734859" y="2407880"/>
            <a:ext cx="47362" cy="47362"/>
          </a:xfrm>
          <a:prstGeom prst="ellipse">
            <a:avLst/>
          </a:prstGeom>
          <a:solidFill>
            <a:srgbClr val="FFFFFF"/>
          </a:solidFill>
          <a:ln w="7620">
            <a:solidFill>
              <a:srgbClr val="4F7A43"/>
            </a:solidFill>
            <a:prstDash val="solid"/>
          </a:ln>
        </p:spPr>
      </p:sp>
      <p:sp>
        <p:nvSpPr>
          <p:cNvPr id="127" name="Shape 125"/>
          <p:cNvSpPr/>
          <p:nvPr/>
        </p:nvSpPr>
        <p:spPr>
          <a:xfrm>
            <a:off x="7711692" y="2299182"/>
            <a:ext cx="47362" cy="47362"/>
          </a:xfrm>
          <a:prstGeom prst="ellipse">
            <a:avLst/>
          </a:prstGeom>
          <a:solidFill>
            <a:srgbClr val="FFFFFF"/>
          </a:solidFill>
          <a:ln w="7620">
            <a:solidFill>
              <a:srgbClr val="4F7A43"/>
            </a:solidFill>
            <a:prstDash val="solid"/>
          </a:ln>
        </p:spPr>
      </p:sp>
      <p:sp>
        <p:nvSpPr>
          <p:cNvPr id="128" name="Shape 126"/>
          <p:cNvSpPr/>
          <p:nvPr/>
        </p:nvSpPr>
        <p:spPr>
          <a:xfrm>
            <a:off x="7745301" y="2210436"/>
            <a:ext cx="47362" cy="47362"/>
          </a:xfrm>
          <a:prstGeom prst="ellipse">
            <a:avLst/>
          </a:prstGeom>
          <a:solidFill>
            <a:srgbClr val="FFFFFF"/>
          </a:solidFill>
          <a:ln w="7620">
            <a:solidFill>
              <a:srgbClr val="4F7A43"/>
            </a:solidFill>
            <a:prstDash val="solid"/>
          </a:ln>
        </p:spPr>
      </p:sp>
      <p:sp>
        <p:nvSpPr>
          <p:cNvPr id="129" name="Shape 127"/>
          <p:cNvSpPr/>
          <p:nvPr/>
        </p:nvSpPr>
        <p:spPr>
          <a:xfrm>
            <a:off x="7832748" y="2149398"/>
            <a:ext cx="47362" cy="47362"/>
          </a:xfrm>
          <a:prstGeom prst="ellipse">
            <a:avLst/>
          </a:prstGeom>
          <a:solidFill>
            <a:srgbClr val="FFFFFF"/>
          </a:solidFill>
          <a:ln w="7620">
            <a:solidFill>
              <a:srgbClr val="4F7A43"/>
            </a:solidFill>
            <a:prstDash val="solid"/>
          </a:ln>
        </p:spPr>
      </p:sp>
      <p:sp>
        <p:nvSpPr>
          <p:cNvPr id="130" name="Shape 128"/>
          <p:cNvSpPr/>
          <p:nvPr/>
        </p:nvSpPr>
        <p:spPr>
          <a:xfrm>
            <a:off x="7966391" y="2121402"/>
            <a:ext cx="47362" cy="47362"/>
          </a:xfrm>
          <a:prstGeom prst="ellipse">
            <a:avLst/>
          </a:prstGeom>
          <a:solidFill>
            <a:srgbClr val="FFFFFF"/>
          </a:solidFill>
          <a:ln w="7620">
            <a:solidFill>
              <a:srgbClr val="4F7A43"/>
            </a:solidFill>
            <a:prstDash val="solid"/>
          </a:ln>
        </p:spPr>
      </p:sp>
      <p:sp>
        <p:nvSpPr>
          <p:cNvPr id="131" name="Shape 129"/>
          <p:cNvSpPr/>
          <p:nvPr/>
        </p:nvSpPr>
        <p:spPr>
          <a:xfrm>
            <a:off x="8134551" y="2128895"/>
            <a:ext cx="47362" cy="47362"/>
          </a:xfrm>
          <a:prstGeom prst="ellipse">
            <a:avLst/>
          </a:prstGeom>
          <a:solidFill>
            <a:srgbClr val="FFFFFF"/>
          </a:solidFill>
          <a:ln w="7620">
            <a:solidFill>
              <a:srgbClr val="4F7A43"/>
            </a:solidFill>
            <a:prstDash val="solid"/>
          </a:ln>
        </p:spPr>
      </p:sp>
      <p:sp>
        <p:nvSpPr>
          <p:cNvPr id="132" name="Shape 130"/>
          <p:cNvSpPr/>
          <p:nvPr/>
        </p:nvSpPr>
        <p:spPr>
          <a:xfrm>
            <a:off x="8322533" y="2171221"/>
            <a:ext cx="47362" cy="47362"/>
          </a:xfrm>
          <a:prstGeom prst="ellipse">
            <a:avLst/>
          </a:prstGeom>
          <a:solidFill>
            <a:srgbClr val="FFFFFF"/>
          </a:solidFill>
          <a:ln w="7620">
            <a:solidFill>
              <a:srgbClr val="4F7A43"/>
            </a:solidFill>
            <a:prstDash val="solid"/>
          </a:ln>
        </p:spPr>
      </p:sp>
      <p:sp>
        <p:nvSpPr>
          <p:cNvPr id="133" name="Shape 131"/>
          <p:cNvSpPr/>
          <p:nvPr/>
        </p:nvSpPr>
        <p:spPr>
          <a:xfrm>
            <a:off x="8513909" y="2244683"/>
            <a:ext cx="47362" cy="47362"/>
          </a:xfrm>
          <a:prstGeom prst="ellipse">
            <a:avLst/>
          </a:prstGeom>
          <a:solidFill>
            <a:srgbClr val="FFFFFF"/>
          </a:solidFill>
          <a:ln w="7620">
            <a:solidFill>
              <a:srgbClr val="4F7A43"/>
            </a:solidFill>
            <a:prstDash val="solid"/>
          </a:ln>
        </p:spPr>
      </p:sp>
      <p:sp>
        <p:nvSpPr>
          <p:cNvPr id="134" name="Shape 132"/>
          <p:cNvSpPr/>
          <p:nvPr/>
        </p:nvSpPr>
        <p:spPr>
          <a:xfrm>
            <a:off x="8691954" y="2342860"/>
            <a:ext cx="47362" cy="47362"/>
          </a:xfrm>
          <a:prstGeom prst="ellipse">
            <a:avLst/>
          </a:prstGeom>
          <a:solidFill>
            <a:srgbClr val="FFFFFF"/>
          </a:solidFill>
          <a:ln w="7620">
            <a:solidFill>
              <a:srgbClr val="4F7A43"/>
            </a:solidFill>
            <a:prstDash val="solid"/>
          </a:ln>
        </p:spPr>
      </p:sp>
      <p:sp>
        <p:nvSpPr>
          <p:cNvPr id="135" name="Shape 133"/>
          <p:cNvSpPr/>
          <p:nvPr/>
        </p:nvSpPr>
        <p:spPr>
          <a:xfrm>
            <a:off x="8841108" y="2457172"/>
            <a:ext cx="47362" cy="47362"/>
          </a:xfrm>
          <a:prstGeom prst="ellipse">
            <a:avLst/>
          </a:prstGeom>
          <a:solidFill>
            <a:srgbClr val="FFFFFF"/>
          </a:solidFill>
          <a:ln w="7620">
            <a:solidFill>
              <a:srgbClr val="4F7A43"/>
            </a:solidFill>
            <a:prstDash val="solid"/>
          </a:ln>
        </p:spPr>
      </p:sp>
      <p:sp>
        <p:nvSpPr>
          <p:cNvPr id="136" name="Shape 134"/>
          <p:cNvSpPr/>
          <p:nvPr/>
        </p:nvSpPr>
        <p:spPr>
          <a:xfrm>
            <a:off x="8948338" y="2577630"/>
            <a:ext cx="47362" cy="47362"/>
          </a:xfrm>
          <a:prstGeom prst="ellipse">
            <a:avLst/>
          </a:prstGeom>
          <a:solidFill>
            <a:srgbClr val="FFFFFF"/>
          </a:solidFill>
          <a:ln w="7620">
            <a:solidFill>
              <a:srgbClr val="4F7A43"/>
            </a:solidFill>
            <a:prstDash val="solid"/>
          </a:ln>
        </p:spPr>
      </p:sp>
      <p:sp>
        <p:nvSpPr>
          <p:cNvPr id="137" name="Shape 135"/>
          <p:cNvSpPr/>
          <p:nvPr/>
        </p:nvSpPr>
        <p:spPr>
          <a:xfrm>
            <a:off x="9004273" y="2693706"/>
            <a:ext cx="47362" cy="47362"/>
          </a:xfrm>
          <a:prstGeom prst="ellipse">
            <a:avLst/>
          </a:prstGeom>
          <a:solidFill>
            <a:srgbClr val="FFFFFF"/>
          </a:solidFill>
          <a:ln w="7620">
            <a:solidFill>
              <a:srgbClr val="4F7A43"/>
            </a:solidFill>
            <a:prstDash val="solid"/>
          </a:ln>
        </p:spPr>
      </p:sp>
      <p:sp>
        <p:nvSpPr>
          <p:cNvPr id="138" name="Shape 136"/>
          <p:cNvSpPr/>
          <p:nvPr/>
        </p:nvSpPr>
        <p:spPr>
          <a:xfrm>
            <a:off x="9004023" y="2795257"/>
            <a:ext cx="47362" cy="47362"/>
          </a:xfrm>
          <a:prstGeom prst="ellipse">
            <a:avLst/>
          </a:prstGeom>
          <a:solidFill>
            <a:srgbClr val="FFFFFF"/>
          </a:solidFill>
          <a:ln w="7620">
            <a:solidFill>
              <a:srgbClr val="4F7A43"/>
            </a:solidFill>
            <a:prstDash val="solid"/>
          </a:ln>
        </p:spPr>
      </p:sp>
      <p:sp>
        <p:nvSpPr>
          <p:cNvPr id="139" name="Shape 137"/>
          <p:cNvSpPr/>
          <p:nvPr/>
        </p:nvSpPr>
        <p:spPr>
          <a:xfrm rot="1440000">
            <a:off x="8365988" y="2489489"/>
            <a:ext cx="364320" cy="364320"/>
          </a:xfrm>
          <a:prstGeom prst="rect">
            <a:avLst/>
          </a:prstGeom>
          <a:solidFill>
            <a:srgbClr val="1B1B1B"/>
          </a:solidFill>
          <a:ln/>
        </p:spPr>
      </p:sp>
      <p:sp>
        <p:nvSpPr>
          <p:cNvPr id="140" name="Shape 138"/>
          <p:cNvSpPr/>
          <p:nvPr/>
        </p:nvSpPr>
        <p:spPr>
          <a:xfrm rot="1440000">
            <a:off x="8475284" y="2598785"/>
            <a:ext cx="145728" cy="145728"/>
          </a:xfrm>
          <a:prstGeom prst="rect">
            <a:avLst/>
          </a:prstGeom>
          <a:solidFill>
            <a:srgbClr val="C4262E"/>
          </a:solidFill>
          <a:ln/>
        </p:spPr>
      </p:sp>
      <p:sp>
        <p:nvSpPr>
          <p:cNvPr id="141" name="Shape 139"/>
          <p:cNvSpPr/>
          <p:nvPr/>
        </p:nvSpPr>
        <p:spPr>
          <a:xfrm>
            <a:off x="7516815" y="2164614"/>
            <a:ext cx="721933" cy="354924"/>
          </a:xfrm>
          <a:custGeom>
            <a:avLst/>
            <a:gdLst/>
            <a:ahLst/>
            <a:cxnLst/>
            <a:rect l="l" t="t" r="r" b="b"/>
            <a:pathLst>
              <a:path w="721933" h="354924">
                <a:moveTo>
                  <a:pt x="0" y="0"/>
                </a:moveTo>
                <a:lnTo>
                  <a:pt x="721933" y="354924"/>
                </a:lnTo>
              </a:path>
            </a:pathLst>
          </a:custGeom>
          <a:ln w="15875">
            <a:solidFill>
              <a:srgbClr val="C4262E"/>
            </a:solidFill>
            <a:prstDash val="solid"/>
            <a:tailEnd type="triangle"/>
          </a:ln>
        </p:spPr>
      </p:sp>
      <p:sp>
        <p:nvSpPr>
          <p:cNvPr id="142" name="Shape 140"/>
          <p:cNvSpPr/>
          <p:nvPr/>
        </p:nvSpPr>
        <p:spPr>
          <a:xfrm>
            <a:off x="8757204" y="2786261"/>
            <a:ext cx="487798" cy="267430"/>
          </a:xfrm>
          <a:custGeom>
            <a:avLst/>
            <a:gdLst/>
            <a:ahLst/>
            <a:cxnLst/>
            <a:rect l="l" t="t" r="r" b="b"/>
            <a:pathLst>
              <a:path w="487798" h="267430">
                <a:moveTo>
                  <a:pt x="487798" y="267430"/>
                </a:moveTo>
                <a:lnTo>
                  <a:pt x="0" y="0"/>
                </a:lnTo>
              </a:path>
            </a:pathLst>
          </a:custGeom>
          <a:ln w="15875">
            <a:solidFill>
              <a:srgbClr val="C4262E"/>
            </a:solidFill>
            <a:prstDash val="solid"/>
            <a:tailEnd type="triangle"/>
          </a:ln>
        </p:spPr>
      </p:sp>
      <p:sp>
        <p:nvSpPr>
          <p:cNvPr id="143" name="Shape 141"/>
          <p:cNvSpPr/>
          <p:nvPr/>
        </p:nvSpPr>
        <p:spPr>
          <a:xfrm>
            <a:off x="8593752" y="2232857"/>
            <a:ext cx="106410" cy="307154"/>
          </a:xfrm>
          <a:custGeom>
            <a:avLst/>
            <a:gdLst/>
            <a:ahLst/>
            <a:cxnLst/>
            <a:rect l="l" t="t" r="r" b="b"/>
            <a:pathLst>
              <a:path w="106410" h="307154">
                <a:moveTo>
                  <a:pt x="106410" y="0"/>
                </a:moveTo>
                <a:lnTo>
                  <a:pt x="0" y="307154"/>
                </a:lnTo>
              </a:path>
            </a:pathLst>
          </a:custGeom>
          <a:ln w="15875">
            <a:solidFill>
              <a:srgbClr val="C4262E"/>
            </a:solidFill>
            <a:prstDash val="solid"/>
            <a:tailEnd type="triangle"/>
          </a:ln>
        </p:spPr>
      </p:sp>
      <p:sp>
        <p:nvSpPr>
          <p:cNvPr id="144" name="Shape 142"/>
          <p:cNvSpPr/>
          <p:nvPr/>
        </p:nvSpPr>
        <p:spPr>
          <a:xfrm>
            <a:off x="8424288" y="2784315"/>
            <a:ext cx="86702" cy="262889"/>
          </a:xfrm>
          <a:custGeom>
            <a:avLst/>
            <a:gdLst/>
            <a:ahLst/>
            <a:cxnLst/>
            <a:rect l="l" t="t" r="r" b="b"/>
            <a:pathLst>
              <a:path w="86702" h="262889">
                <a:moveTo>
                  <a:pt x="0" y="262889"/>
                </a:moveTo>
                <a:lnTo>
                  <a:pt x="86702" y="0"/>
                </a:lnTo>
              </a:path>
            </a:pathLst>
          </a:custGeom>
          <a:ln w="15875">
            <a:solidFill>
              <a:srgbClr val="C4262E"/>
            </a:solidFill>
            <a:prstDash val="solid"/>
            <a:tailEnd type="triangle"/>
          </a:ln>
        </p:spPr>
      </p:sp>
      <p:sp>
        <p:nvSpPr>
          <p:cNvPr id="145" name="Text 143"/>
          <p:cNvSpPr txBox="1"/>
          <p:nvPr/>
        </p:nvSpPr>
        <p:spPr>
          <a:xfrm>
            <a:off x="7278624" y="3675888"/>
            <a:ext cx="2212848" cy="182880"/>
          </a:xfrm>
          <a:prstGeom prst="rect">
            <a:avLst/>
          </a:prstGeom>
          <a:noFill/>
          <a:ln/>
        </p:spPr>
        <p:txBody>
          <a:bodyPr wrap="square" lIns="0" tIns="0" rIns="0" bIns="0" rtlCol="0" anchor="t"/>
          <a:lstStyle/>
          <a:p>
            <a:pPr indent="0" marL="0">
              <a:buNone/>
            </a:pPr>
            <a:r>
              <a:rPr lang="en-US" sz="800" i="1" dirty="0">
                <a:solidFill>
                  <a:srgbClr val="C4262E"/>
                </a:solidFill>
                <a:latin typeface="Arial" pitchFamily="34" charset="0"/>
                <a:ea typeface="Arial" pitchFamily="34" charset="-122"/>
                <a:cs typeface="Arial" pitchFamily="34" charset="-120"/>
              </a:rPr>
              <a:t>production around one public room</a:t>
            </a:r>
            <a:endParaRPr lang="en-US" sz="800" dirty="0"/>
          </a:p>
        </p:txBody>
      </p:sp>
      <p:sp>
        <p:nvSpPr>
          <p:cNvPr id="146" name="Text 144"/>
          <p:cNvSpPr txBox="1"/>
          <p:nvPr/>
        </p:nvSpPr>
        <p:spPr>
          <a:xfrm>
            <a:off x="7278624" y="3886200"/>
            <a:ext cx="2212848" cy="1143000"/>
          </a:xfrm>
          <a:prstGeom prst="rect">
            <a:avLst/>
          </a:prstGeom>
          <a:noFill/>
          <a:ln/>
        </p:spPr>
        <p:txBody>
          <a:bodyPr wrap="square" lIns="0" tIns="0" rIns="0" bIns="0" rtlCol="0" anchor="t"/>
          <a:lstStyle/>
          <a:p>
            <a:pPr indent="0" marL="0">
              <a:buNone/>
            </a:pPr>
            <a:r>
              <a:rPr lang="en-US" sz="750" dirty="0">
                <a:solidFill>
                  <a:srgbClr val="1B1B1B"/>
                </a:solidFill>
                <a:latin typeface="Arial" pitchFamily="34" charset="0"/>
                <a:ea typeface="Arial" pitchFamily="34" charset="-122"/>
                <a:cs typeface="Arial" pitchFamily="34" charset="-120"/>
              </a:rPr>
              <a:t>Gather all production around one public room: a compact building on ground that is already built on, with a central void that shows research, recording, publishing and the archive at work.</a:t>
            </a:r>
            <a:endParaRPr lang="en-US" sz="750" dirty="0"/>
          </a:p>
        </p:txBody>
      </p:sp>
      <p:sp>
        <p:nvSpPr>
          <p:cNvPr id="147" name="Text 145"/>
          <p:cNvSpPr txBox="1"/>
          <p:nvPr/>
        </p:nvSpPr>
        <p:spPr>
          <a:xfrm>
            <a:off x="7278624" y="5120640"/>
            <a:ext cx="2212848" cy="566928"/>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WHAT I DO  </a:t>
            </a:r>
            <a:endParaRPr lang="en-US" sz="750" dirty="0"/>
          </a:p>
          <a:p>
            <a:pPr indent="0" marL="0">
              <a:buNone/>
            </a:pPr>
            <a:r>
              <a:rPr lang="en-US" sz="750" dirty="0">
                <a:solidFill>
                  <a:srgbClr val="1B1B1B"/>
                </a:solidFill>
                <a:latin typeface="Arial" pitchFamily="34" charset="0"/>
                <a:ea typeface="Arial" pitchFamily="34" charset="-122"/>
                <a:cs typeface="Arial" pitchFamily="34" charset="-120"/>
              </a:rPr>
              <a:t>① place block on the existing footprint  ② carve a central void  ③ glaze the work towards it</a:t>
            </a:r>
            <a:endParaRPr lang="en-US" sz="750" dirty="0"/>
          </a:p>
        </p:txBody>
      </p:sp>
      <p:sp>
        <p:nvSpPr>
          <p:cNvPr id="148" name="Text 146"/>
          <p:cNvSpPr txBox="1"/>
          <p:nvPr/>
        </p:nvSpPr>
        <p:spPr>
          <a:xfrm>
            <a:off x="7278624" y="5760720"/>
            <a:ext cx="2212848" cy="457200"/>
          </a:xfrm>
          <a:prstGeom prst="rect">
            <a:avLst/>
          </a:prstGeom>
          <a:noFill/>
          <a:ln/>
        </p:spPr>
        <p:txBody>
          <a:bodyPr wrap="square" lIns="0" tIns="0" rIns="0" bIns="0" rtlCol="0" anchor="t"/>
          <a:lstStyle/>
          <a:p>
            <a:pPr indent="0" marL="0">
              <a:buNone/>
            </a:pPr>
            <a:r>
              <a:rPr lang="en-US" sz="700" b="1" dirty="0">
                <a:solidFill>
                  <a:srgbClr val="4F7A43"/>
                </a:solidFill>
                <a:latin typeface="Arial" pitchFamily="34" charset="0"/>
                <a:ea typeface="Arial" pitchFamily="34" charset="-122"/>
                <a:cs typeface="Arial" pitchFamily="34" charset="-120"/>
              </a:rPr>
              <a:t>TOPOGRAPHY  </a:t>
            </a:r>
            <a:pPr indent="0" marL="0">
              <a:buNone/>
            </a:pPr>
            <a:r>
              <a:rPr lang="en-US" sz="700" dirty="0">
                <a:solidFill>
                  <a:srgbClr val="1B1B1B"/>
                </a:solidFill>
                <a:latin typeface="Arial" pitchFamily="34" charset="0"/>
                <a:ea typeface="Arial" pitchFamily="34" charset="-122"/>
                <a:cs typeface="Arial" pitchFamily="34" charset="-120"/>
              </a:rPr>
              <a:t>Smallest disturbance: reuses already-built ground.</a:t>
            </a:r>
            <a:endParaRPr lang="en-US" sz="700" dirty="0"/>
          </a:p>
        </p:txBody>
      </p:sp>
      <p:sp>
        <p:nvSpPr>
          <p:cNvPr id="149" name="Shape 147"/>
          <p:cNvSpPr/>
          <p:nvPr/>
        </p:nvSpPr>
        <p:spPr>
          <a:xfrm>
            <a:off x="9582912" y="1280160"/>
            <a:ext cx="2212848" cy="2331720"/>
          </a:xfrm>
          <a:prstGeom prst="rect">
            <a:avLst/>
          </a:prstGeom>
          <a:solidFill>
            <a:srgbClr val="FFFFFF"/>
          </a:solidFill>
          <a:ln w="6350">
            <a:solidFill>
              <a:srgbClr val="D9D9D9"/>
            </a:solidFill>
            <a:prstDash val="solid"/>
          </a:ln>
        </p:spPr>
      </p:sp>
      <p:sp>
        <p:nvSpPr>
          <p:cNvPr id="150" name="Text 148"/>
          <p:cNvSpPr txBox="1"/>
          <p:nvPr/>
        </p:nvSpPr>
        <p:spPr>
          <a:xfrm>
            <a:off x="9656064" y="133502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E  </a:t>
            </a:r>
            <a:pPr indent="0" marL="0">
              <a:buNone/>
            </a:pPr>
            <a:r>
              <a:rPr lang="en-US" sz="750" b="1" spc="50" kern="0" dirty="0">
                <a:solidFill>
                  <a:srgbClr val="1B1B1B"/>
                </a:solidFill>
                <a:latin typeface="Arial" pitchFamily="34" charset="0"/>
                <a:ea typeface="Arial" pitchFamily="34" charset="-122"/>
                <a:cs typeface="Arial" pitchFamily="34" charset="-120"/>
              </a:rPr>
              <a:t>CROSSING PATHS</a:t>
            </a:r>
            <a:endParaRPr lang="en-US" sz="750" dirty="0"/>
          </a:p>
        </p:txBody>
      </p:sp>
      <p:sp>
        <p:nvSpPr>
          <p:cNvPr id="151" name="Shape 149"/>
          <p:cNvSpPr/>
          <p:nvPr/>
        </p:nvSpPr>
        <p:spPr>
          <a:xfrm>
            <a:off x="9803106" y="1995713"/>
            <a:ext cx="1772461" cy="1110926"/>
          </a:xfrm>
          <a:custGeom>
            <a:avLst/>
            <a:gdLst/>
            <a:ahLst/>
            <a:cxnLst/>
            <a:rect l="l" t="t" r="r" b="b"/>
            <a:pathLst>
              <a:path w="1772461" h="1110926">
                <a:moveTo>
                  <a:pt x="1754463" y="942025"/>
                </a:moveTo>
                <a:lnTo>
                  <a:pt x="1731120" y="981655"/>
                </a:lnTo>
                <a:lnTo>
                  <a:pt x="1698520" y="1016615"/>
                </a:lnTo>
                <a:lnTo>
                  <a:pt x="1657020" y="1046523"/>
                </a:lnTo>
                <a:lnTo>
                  <a:pt x="1607075" y="1071050"/>
                </a:lnTo>
                <a:lnTo>
                  <a:pt x="1549233" y="1089929"/>
                </a:lnTo>
                <a:lnTo>
                  <a:pt x="1484126" y="1102952"/>
                </a:lnTo>
                <a:lnTo>
                  <a:pt x="1412469" y="1109977"/>
                </a:lnTo>
                <a:lnTo>
                  <a:pt x="1335046" y="1110926"/>
                </a:lnTo>
                <a:lnTo>
                  <a:pt x="1252706" y="1105789"/>
                </a:lnTo>
                <a:lnTo>
                  <a:pt x="1166351" y="1094623"/>
                </a:lnTo>
                <a:lnTo>
                  <a:pt x="1076927" y="1077550"/>
                </a:lnTo>
                <a:lnTo>
                  <a:pt x="985413" y="1054757"/>
                </a:lnTo>
                <a:lnTo>
                  <a:pt x="892813" y="1026493"/>
                </a:lnTo>
                <a:lnTo>
                  <a:pt x="800141" y="993069"/>
                </a:lnTo>
                <a:lnTo>
                  <a:pt x="708412" y="954850"/>
                </a:lnTo>
                <a:lnTo>
                  <a:pt x="618631" y="912255"/>
                </a:lnTo>
                <a:lnTo>
                  <a:pt x="531782" y="865752"/>
                </a:lnTo>
                <a:lnTo>
                  <a:pt x="448816" y="815848"/>
                </a:lnTo>
                <a:lnTo>
                  <a:pt x="370643" y="763092"/>
                </a:lnTo>
                <a:lnTo>
                  <a:pt x="298119" y="708061"/>
                </a:lnTo>
                <a:lnTo>
                  <a:pt x="232038" y="651358"/>
                </a:lnTo>
                <a:lnTo>
                  <a:pt x="173124" y="593605"/>
                </a:lnTo>
                <a:lnTo>
                  <a:pt x="122024" y="535433"/>
                </a:lnTo>
                <a:lnTo>
                  <a:pt x="79296" y="477481"/>
                </a:lnTo>
                <a:lnTo>
                  <a:pt x="45409" y="420384"/>
                </a:lnTo>
                <a:lnTo>
                  <a:pt x="20735" y="364766"/>
                </a:lnTo>
                <a:lnTo>
                  <a:pt x="5543" y="311238"/>
                </a:lnTo>
                <a:lnTo>
                  <a:pt x="0" y="260385"/>
                </a:lnTo>
                <a:lnTo>
                  <a:pt x="4167" y="212766"/>
                </a:lnTo>
                <a:lnTo>
                  <a:pt x="17998" y="168901"/>
                </a:lnTo>
                <a:lnTo>
                  <a:pt x="41341" y="129271"/>
                </a:lnTo>
                <a:lnTo>
                  <a:pt x="73941" y="94311"/>
                </a:lnTo>
                <a:lnTo>
                  <a:pt x="115441" y="64403"/>
                </a:lnTo>
                <a:lnTo>
                  <a:pt x="165386" y="39876"/>
                </a:lnTo>
                <a:lnTo>
                  <a:pt x="223228" y="20997"/>
                </a:lnTo>
                <a:lnTo>
                  <a:pt x="288334" y="7974"/>
                </a:lnTo>
                <a:lnTo>
                  <a:pt x="359992" y="949"/>
                </a:lnTo>
                <a:lnTo>
                  <a:pt x="437414" y="0"/>
                </a:lnTo>
                <a:lnTo>
                  <a:pt x="519754" y="5137"/>
                </a:lnTo>
                <a:lnTo>
                  <a:pt x="606109" y="16303"/>
                </a:lnTo>
                <a:lnTo>
                  <a:pt x="695534" y="33376"/>
                </a:lnTo>
                <a:lnTo>
                  <a:pt x="787047" y="56169"/>
                </a:lnTo>
                <a:lnTo>
                  <a:pt x="879647" y="84433"/>
                </a:lnTo>
                <a:lnTo>
                  <a:pt x="972320" y="117857"/>
                </a:lnTo>
                <a:lnTo>
                  <a:pt x="1064049" y="156076"/>
                </a:lnTo>
                <a:lnTo>
                  <a:pt x="1153830" y="198671"/>
                </a:lnTo>
                <a:lnTo>
                  <a:pt x="1240679" y="245174"/>
                </a:lnTo>
                <a:lnTo>
                  <a:pt x="1323644" y="295078"/>
                </a:lnTo>
                <a:lnTo>
                  <a:pt x="1401818" y="347834"/>
                </a:lnTo>
                <a:lnTo>
                  <a:pt x="1474342" y="402865"/>
                </a:lnTo>
                <a:lnTo>
                  <a:pt x="1540423" y="459568"/>
                </a:lnTo>
                <a:lnTo>
                  <a:pt x="1599336" y="517321"/>
                </a:lnTo>
                <a:lnTo>
                  <a:pt x="1650437" y="575492"/>
                </a:lnTo>
                <a:lnTo>
                  <a:pt x="1693164" y="633444"/>
                </a:lnTo>
                <a:lnTo>
                  <a:pt x="1727051" y="690542"/>
                </a:lnTo>
                <a:lnTo>
                  <a:pt x="1751726" y="746160"/>
                </a:lnTo>
                <a:lnTo>
                  <a:pt x="1766918" y="799688"/>
                </a:lnTo>
                <a:lnTo>
                  <a:pt x="1772461" y="850541"/>
                </a:lnTo>
                <a:lnTo>
                  <a:pt x="1768294" y="898160"/>
                </a:lnTo>
                <a:close/>
              </a:path>
            </a:pathLst>
          </a:custGeom>
          <a:solidFill>
            <a:srgbClr val="E4E4E4"/>
          </a:solidFill>
          <a:ln w="12700"/>
        </p:spPr>
      </p:sp>
      <p:sp>
        <p:nvSpPr>
          <p:cNvPr id="152" name="Shape 150"/>
          <p:cNvSpPr/>
          <p:nvPr/>
        </p:nvSpPr>
        <p:spPr>
          <a:xfrm>
            <a:off x="9637776" y="2118894"/>
            <a:ext cx="183327" cy="45720"/>
          </a:xfrm>
          <a:custGeom>
            <a:avLst/>
            <a:gdLst/>
            <a:ahLst/>
            <a:cxnLst/>
            <a:rect l="l" t="t" r="r" b="b"/>
            <a:pathLst>
              <a:path w="183327" h="45720">
                <a:moveTo>
                  <a:pt x="183327" y="45720"/>
                </a:moveTo>
                <a:lnTo>
                  <a:pt x="0" y="0"/>
                </a:lnTo>
              </a:path>
            </a:pathLst>
          </a:custGeom>
          <a:ln w="76200">
            <a:solidFill>
              <a:srgbClr val="E4E4E4"/>
            </a:solidFill>
            <a:prstDash val="solid"/>
          </a:ln>
        </p:spPr>
      </p:sp>
      <p:sp>
        <p:nvSpPr>
          <p:cNvPr id="153" name="Shape 151"/>
          <p:cNvSpPr/>
          <p:nvPr/>
        </p:nvSpPr>
        <p:spPr>
          <a:xfrm>
            <a:off x="11557569" y="2937738"/>
            <a:ext cx="183327" cy="45720"/>
          </a:xfrm>
          <a:custGeom>
            <a:avLst/>
            <a:gdLst/>
            <a:ahLst/>
            <a:cxnLst/>
            <a:rect l="l" t="t" r="r" b="b"/>
            <a:pathLst>
              <a:path w="183327" h="45720">
                <a:moveTo>
                  <a:pt x="0" y="0"/>
                </a:moveTo>
                <a:lnTo>
                  <a:pt x="183327" y="45720"/>
                </a:lnTo>
              </a:path>
            </a:pathLst>
          </a:custGeom>
          <a:ln w="76200">
            <a:solidFill>
              <a:srgbClr val="E4E4E4"/>
            </a:solidFill>
            <a:prstDash val="solid"/>
          </a:ln>
        </p:spPr>
      </p:sp>
      <p:sp>
        <p:nvSpPr>
          <p:cNvPr id="154" name="Shape 152"/>
          <p:cNvSpPr/>
          <p:nvPr/>
        </p:nvSpPr>
        <p:spPr>
          <a:xfrm>
            <a:off x="9950811" y="2088290"/>
            <a:ext cx="1477051" cy="925772"/>
          </a:xfrm>
          <a:custGeom>
            <a:avLst/>
            <a:gdLst/>
            <a:ahLst/>
            <a:cxnLst/>
            <a:rect l="l" t="t" r="r" b="b"/>
            <a:pathLst>
              <a:path w="1477051" h="925772">
                <a:moveTo>
                  <a:pt x="1462053" y="785021"/>
                </a:moveTo>
                <a:lnTo>
                  <a:pt x="1442600" y="818046"/>
                </a:lnTo>
                <a:lnTo>
                  <a:pt x="1415433" y="847179"/>
                </a:lnTo>
                <a:lnTo>
                  <a:pt x="1380850" y="872102"/>
                </a:lnTo>
                <a:lnTo>
                  <a:pt x="1339229" y="892542"/>
                </a:lnTo>
                <a:lnTo>
                  <a:pt x="1291027" y="908274"/>
                </a:lnTo>
                <a:lnTo>
                  <a:pt x="1236772" y="919127"/>
                </a:lnTo>
                <a:lnTo>
                  <a:pt x="1177058" y="924981"/>
                </a:lnTo>
                <a:lnTo>
                  <a:pt x="1112539" y="925772"/>
                </a:lnTo>
                <a:lnTo>
                  <a:pt x="1043922" y="921491"/>
                </a:lnTo>
                <a:lnTo>
                  <a:pt x="971959" y="912186"/>
                </a:lnTo>
                <a:lnTo>
                  <a:pt x="897439" y="897958"/>
                </a:lnTo>
                <a:lnTo>
                  <a:pt x="821178" y="878964"/>
                </a:lnTo>
                <a:lnTo>
                  <a:pt x="744011" y="855411"/>
                </a:lnTo>
                <a:lnTo>
                  <a:pt x="666784" y="827557"/>
                </a:lnTo>
                <a:lnTo>
                  <a:pt x="590343" y="795708"/>
                </a:lnTo>
                <a:lnTo>
                  <a:pt x="515526" y="760213"/>
                </a:lnTo>
                <a:lnTo>
                  <a:pt x="443151" y="721460"/>
                </a:lnTo>
                <a:lnTo>
                  <a:pt x="374013" y="679874"/>
                </a:lnTo>
                <a:lnTo>
                  <a:pt x="308869" y="635910"/>
                </a:lnTo>
                <a:lnTo>
                  <a:pt x="248432" y="590051"/>
                </a:lnTo>
                <a:lnTo>
                  <a:pt x="193365" y="542799"/>
                </a:lnTo>
                <a:lnTo>
                  <a:pt x="144270" y="494671"/>
                </a:lnTo>
                <a:lnTo>
                  <a:pt x="101687" y="446195"/>
                </a:lnTo>
                <a:lnTo>
                  <a:pt x="66080" y="397901"/>
                </a:lnTo>
                <a:lnTo>
                  <a:pt x="37841" y="350320"/>
                </a:lnTo>
                <a:lnTo>
                  <a:pt x="17279" y="303972"/>
                </a:lnTo>
                <a:lnTo>
                  <a:pt x="4619" y="259365"/>
                </a:lnTo>
                <a:lnTo>
                  <a:pt x="0" y="216988"/>
                </a:lnTo>
                <a:lnTo>
                  <a:pt x="3472" y="177305"/>
                </a:lnTo>
                <a:lnTo>
                  <a:pt x="14998" y="140751"/>
                </a:lnTo>
                <a:lnTo>
                  <a:pt x="34451" y="107726"/>
                </a:lnTo>
                <a:lnTo>
                  <a:pt x="61618" y="78592"/>
                </a:lnTo>
                <a:lnTo>
                  <a:pt x="96201" y="53669"/>
                </a:lnTo>
                <a:lnTo>
                  <a:pt x="137821" y="33230"/>
                </a:lnTo>
                <a:lnTo>
                  <a:pt x="186023" y="17497"/>
                </a:lnTo>
                <a:lnTo>
                  <a:pt x="240279" y="6645"/>
                </a:lnTo>
                <a:lnTo>
                  <a:pt x="299993" y="791"/>
                </a:lnTo>
                <a:lnTo>
                  <a:pt x="364512" y="0"/>
                </a:lnTo>
                <a:lnTo>
                  <a:pt x="433128" y="4280"/>
                </a:lnTo>
                <a:lnTo>
                  <a:pt x="505091" y="13585"/>
                </a:lnTo>
                <a:lnTo>
                  <a:pt x="579611" y="27813"/>
                </a:lnTo>
                <a:lnTo>
                  <a:pt x="655873" y="46808"/>
                </a:lnTo>
                <a:lnTo>
                  <a:pt x="733039" y="70361"/>
                </a:lnTo>
                <a:lnTo>
                  <a:pt x="810266" y="98214"/>
                </a:lnTo>
                <a:lnTo>
                  <a:pt x="886707" y="130063"/>
                </a:lnTo>
                <a:lnTo>
                  <a:pt x="961525" y="165559"/>
                </a:lnTo>
                <a:lnTo>
                  <a:pt x="1033899" y="204312"/>
                </a:lnTo>
                <a:lnTo>
                  <a:pt x="1103037" y="245898"/>
                </a:lnTo>
                <a:lnTo>
                  <a:pt x="1168181" y="289861"/>
                </a:lnTo>
                <a:lnTo>
                  <a:pt x="1228618" y="335721"/>
                </a:lnTo>
                <a:lnTo>
                  <a:pt x="1283686" y="382973"/>
                </a:lnTo>
                <a:lnTo>
                  <a:pt x="1332780" y="431101"/>
                </a:lnTo>
                <a:lnTo>
                  <a:pt x="1375364" y="479577"/>
                </a:lnTo>
                <a:lnTo>
                  <a:pt x="1410970" y="527870"/>
                </a:lnTo>
                <a:lnTo>
                  <a:pt x="1439209" y="575452"/>
                </a:lnTo>
                <a:lnTo>
                  <a:pt x="1459771" y="621800"/>
                </a:lnTo>
                <a:lnTo>
                  <a:pt x="1472431" y="666407"/>
                </a:lnTo>
                <a:lnTo>
                  <a:pt x="1477051" y="708784"/>
                </a:lnTo>
                <a:lnTo>
                  <a:pt x="1473578" y="748467"/>
                </a:lnTo>
                <a:close/>
              </a:path>
            </a:pathLst>
          </a:custGeom>
          <a:solidFill>
            <a:srgbClr val="FFFFFF"/>
          </a:solidFill>
          <a:ln w="19050">
            <a:solidFill>
              <a:srgbClr val="1B1B1B"/>
            </a:solidFill>
            <a:prstDash val="solid"/>
          </a:ln>
        </p:spPr>
      </p:sp>
      <p:sp>
        <p:nvSpPr>
          <p:cNvPr id="155" name="Shape 153"/>
          <p:cNvSpPr/>
          <p:nvPr/>
        </p:nvSpPr>
        <p:spPr>
          <a:xfrm>
            <a:off x="10237360" y="2233471"/>
            <a:ext cx="1063476" cy="666556"/>
          </a:xfrm>
          <a:custGeom>
            <a:avLst/>
            <a:gdLst/>
            <a:ahLst/>
            <a:cxnLst/>
            <a:rect l="l" t="t" r="r" b="b"/>
            <a:pathLst>
              <a:path w="1063476" h="666556">
                <a:moveTo>
                  <a:pt x="1052678" y="565215"/>
                </a:moveTo>
                <a:lnTo>
                  <a:pt x="1038672" y="588993"/>
                </a:lnTo>
                <a:lnTo>
                  <a:pt x="1019112" y="609969"/>
                </a:lnTo>
                <a:lnTo>
                  <a:pt x="994212" y="627914"/>
                </a:lnTo>
                <a:lnTo>
                  <a:pt x="964245" y="642630"/>
                </a:lnTo>
                <a:lnTo>
                  <a:pt x="929540" y="653957"/>
                </a:lnTo>
                <a:lnTo>
                  <a:pt x="890476" y="661771"/>
                </a:lnTo>
                <a:lnTo>
                  <a:pt x="847481" y="665986"/>
                </a:lnTo>
                <a:lnTo>
                  <a:pt x="801028" y="666556"/>
                </a:lnTo>
                <a:lnTo>
                  <a:pt x="751624" y="663474"/>
                </a:lnTo>
                <a:lnTo>
                  <a:pt x="699811" y="656774"/>
                </a:lnTo>
                <a:lnTo>
                  <a:pt x="646156" y="646530"/>
                </a:lnTo>
                <a:lnTo>
                  <a:pt x="591248" y="632854"/>
                </a:lnTo>
                <a:lnTo>
                  <a:pt x="535688" y="615896"/>
                </a:lnTo>
                <a:lnTo>
                  <a:pt x="480085" y="595841"/>
                </a:lnTo>
                <a:lnTo>
                  <a:pt x="425047" y="572910"/>
                </a:lnTo>
                <a:lnTo>
                  <a:pt x="371178" y="547353"/>
                </a:lnTo>
                <a:lnTo>
                  <a:pt x="319069" y="519451"/>
                </a:lnTo>
                <a:lnTo>
                  <a:pt x="269290" y="489509"/>
                </a:lnTo>
                <a:lnTo>
                  <a:pt x="222386" y="457855"/>
                </a:lnTo>
                <a:lnTo>
                  <a:pt x="178871" y="424837"/>
                </a:lnTo>
                <a:lnTo>
                  <a:pt x="139223" y="390815"/>
                </a:lnTo>
                <a:lnTo>
                  <a:pt x="103875" y="356163"/>
                </a:lnTo>
                <a:lnTo>
                  <a:pt x="73214" y="321260"/>
                </a:lnTo>
                <a:lnTo>
                  <a:pt x="47578" y="286489"/>
                </a:lnTo>
                <a:lnTo>
                  <a:pt x="27246" y="252230"/>
                </a:lnTo>
                <a:lnTo>
                  <a:pt x="12441" y="218860"/>
                </a:lnTo>
                <a:lnTo>
                  <a:pt x="3326" y="186743"/>
                </a:lnTo>
                <a:lnTo>
                  <a:pt x="0" y="156231"/>
                </a:lnTo>
                <a:lnTo>
                  <a:pt x="2500" y="127659"/>
                </a:lnTo>
                <a:lnTo>
                  <a:pt x="10799" y="101341"/>
                </a:lnTo>
                <a:lnTo>
                  <a:pt x="24805" y="77563"/>
                </a:lnTo>
                <a:lnTo>
                  <a:pt x="44365" y="56587"/>
                </a:lnTo>
                <a:lnTo>
                  <a:pt x="69265" y="38642"/>
                </a:lnTo>
                <a:lnTo>
                  <a:pt x="99231" y="23925"/>
                </a:lnTo>
                <a:lnTo>
                  <a:pt x="133937" y="12598"/>
                </a:lnTo>
                <a:lnTo>
                  <a:pt x="173001" y="4784"/>
                </a:lnTo>
                <a:lnTo>
                  <a:pt x="215995" y="570"/>
                </a:lnTo>
                <a:lnTo>
                  <a:pt x="262449" y="0"/>
                </a:lnTo>
                <a:lnTo>
                  <a:pt x="311853" y="3082"/>
                </a:lnTo>
                <a:lnTo>
                  <a:pt x="363666" y="9782"/>
                </a:lnTo>
                <a:lnTo>
                  <a:pt x="417320" y="20025"/>
                </a:lnTo>
                <a:lnTo>
                  <a:pt x="472228" y="33701"/>
                </a:lnTo>
                <a:lnTo>
                  <a:pt x="527788" y="50660"/>
                </a:lnTo>
                <a:lnTo>
                  <a:pt x="583392" y="70714"/>
                </a:lnTo>
                <a:lnTo>
                  <a:pt x="638429" y="93646"/>
                </a:lnTo>
                <a:lnTo>
                  <a:pt x="692298" y="119202"/>
                </a:lnTo>
                <a:lnTo>
                  <a:pt x="744407" y="147105"/>
                </a:lnTo>
                <a:lnTo>
                  <a:pt x="794187" y="177047"/>
                </a:lnTo>
                <a:lnTo>
                  <a:pt x="841091" y="208700"/>
                </a:lnTo>
                <a:lnTo>
                  <a:pt x="884605" y="241719"/>
                </a:lnTo>
                <a:lnTo>
                  <a:pt x="924254" y="275741"/>
                </a:lnTo>
                <a:lnTo>
                  <a:pt x="959602" y="310393"/>
                </a:lnTo>
                <a:lnTo>
                  <a:pt x="990262" y="345295"/>
                </a:lnTo>
                <a:lnTo>
                  <a:pt x="1015899" y="380067"/>
                </a:lnTo>
                <a:lnTo>
                  <a:pt x="1036231" y="414325"/>
                </a:lnTo>
                <a:lnTo>
                  <a:pt x="1051035" y="447696"/>
                </a:lnTo>
                <a:lnTo>
                  <a:pt x="1060151" y="479813"/>
                </a:lnTo>
                <a:lnTo>
                  <a:pt x="1063476" y="510324"/>
                </a:lnTo>
                <a:lnTo>
                  <a:pt x="1060976" y="538896"/>
                </a:lnTo>
                <a:close/>
              </a:path>
            </a:pathLst>
          </a:custGeom>
          <a:ln w="6350">
            <a:solidFill>
              <a:srgbClr val="4F7A43"/>
            </a:solidFill>
            <a:prstDash val="dash"/>
          </a:ln>
        </p:spPr>
      </p:sp>
      <p:sp>
        <p:nvSpPr>
          <p:cNvPr id="156" name="Shape 154"/>
          <p:cNvSpPr/>
          <p:nvPr/>
        </p:nvSpPr>
        <p:spPr>
          <a:xfrm>
            <a:off x="10429376" y="2353821"/>
            <a:ext cx="679443" cy="425855"/>
          </a:xfrm>
          <a:custGeom>
            <a:avLst/>
            <a:gdLst/>
            <a:ahLst/>
            <a:cxnLst/>
            <a:rect l="l" t="t" r="r" b="b"/>
            <a:pathLst>
              <a:path w="679443" h="425855">
                <a:moveTo>
                  <a:pt x="672544" y="361110"/>
                </a:moveTo>
                <a:lnTo>
                  <a:pt x="663596" y="376301"/>
                </a:lnTo>
                <a:lnTo>
                  <a:pt x="651099" y="389702"/>
                </a:lnTo>
                <a:lnTo>
                  <a:pt x="635191" y="401167"/>
                </a:lnTo>
                <a:lnTo>
                  <a:pt x="616045" y="410569"/>
                </a:lnTo>
                <a:lnTo>
                  <a:pt x="593873" y="417806"/>
                </a:lnTo>
                <a:lnTo>
                  <a:pt x="568915" y="422798"/>
                </a:lnTo>
                <a:lnTo>
                  <a:pt x="541446" y="425491"/>
                </a:lnTo>
                <a:lnTo>
                  <a:pt x="511768" y="425855"/>
                </a:lnTo>
                <a:lnTo>
                  <a:pt x="480204" y="423886"/>
                </a:lnTo>
                <a:lnTo>
                  <a:pt x="447101" y="419606"/>
                </a:lnTo>
                <a:lnTo>
                  <a:pt x="412822" y="413061"/>
                </a:lnTo>
                <a:lnTo>
                  <a:pt x="377742" y="404323"/>
                </a:lnTo>
                <a:lnTo>
                  <a:pt x="342245" y="393489"/>
                </a:lnTo>
                <a:lnTo>
                  <a:pt x="306721" y="380676"/>
                </a:lnTo>
                <a:lnTo>
                  <a:pt x="271558" y="366026"/>
                </a:lnTo>
                <a:lnTo>
                  <a:pt x="237142" y="349698"/>
                </a:lnTo>
                <a:lnTo>
                  <a:pt x="203850" y="331871"/>
                </a:lnTo>
                <a:lnTo>
                  <a:pt x="172046" y="312742"/>
                </a:lnTo>
                <a:lnTo>
                  <a:pt x="142080" y="292519"/>
                </a:lnTo>
                <a:lnTo>
                  <a:pt x="114279" y="271423"/>
                </a:lnTo>
                <a:lnTo>
                  <a:pt x="88948" y="249687"/>
                </a:lnTo>
                <a:lnTo>
                  <a:pt x="66364" y="227549"/>
                </a:lnTo>
                <a:lnTo>
                  <a:pt x="46776" y="205249"/>
                </a:lnTo>
                <a:lnTo>
                  <a:pt x="30397" y="183035"/>
                </a:lnTo>
                <a:lnTo>
                  <a:pt x="17407" y="161147"/>
                </a:lnTo>
                <a:lnTo>
                  <a:pt x="7948" y="139827"/>
                </a:lnTo>
                <a:lnTo>
                  <a:pt x="2125" y="119308"/>
                </a:lnTo>
                <a:lnTo>
                  <a:pt x="0" y="99814"/>
                </a:lnTo>
                <a:lnTo>
                  <a:pt x="1597" y="81560"/>
                </a:lnTo>
                <a:lnTo>
                  <a:pt x="6899" y="64745"/>
                </a:lnTo>
                <a:lnTo>
                  <a:pt x="15847" y="49554"/>
                </a:lnTo>
                <a:lnTo>
                  <a:pt x="28344" y="36153"/>
                </a:lnTo>
                <a:lnTo>
                  <a:pt x="44252" y="24688"/>
                </a:lnTo>
                <a:lnTo>
                  <a:pt x="63398" y="15286"/>
                </a:lnTo>
                <a:lnTo>
                  <a:pt x="85571" y="8049"/>
                </a:lnTo>
                <a:lnTo>
                  <a:pt x="110528" y="3057"/>
                </a:lnTo>
                <a:lnTo>
                  <a:pt x="137997" y="364"/>
                </a:lnTo>
                <a:lnTo>
                  <a:pt x="167675" y="0"/>
                </a:lnTo>
                <a:lnTo>
                  <a:pt x="199239" y="1969"/>
                </a:lnTo>
                <a:lnTo>
                  <a:pt x="232342" y="6249"/>
                </a:lnTo>
                <a:lnTo>
                  <a:pt x="266621" y="12794"/>
                </a:lnTo>
                <a:lnTo>
                  <a:pt x="301701" y="21531"/>
                </a:lnTo>
                <a:lnTo>
                  <a:pt x="337198" y="32366"/>
                </a:lnTo>
                <a:lnTo>
                  <a:pt x="372723" y="45179"/>
                </a:lnTo>
                <a:lnTo>
                  <a:pt x="407885" y="59829"/>
                </a:lnTo>
                <a:lnTo>
                  <a:pt x="442301" y="76157"/>
                </a:lnTo>
                <a:lnTo>
                  <a:pt x="475594" y="93983"/>
                </a:lnTo>
                <a:lnTo>
                  <a:pt x="507397" y="113113"/>
                </a:lnTo>
                <a:lnTo>
                  <a:pt x="537363" y="133336"/>
                </a:lnTo>
                <a:lnTo>
                  <a:pt x="565164" y="154431"/>
                </a:lnTo>
                <a:lnTo>
                  <a:pt x="590495" y="176168"/>
                </a:lnTo>
                <a:lnTo>
                  <a:pt x="613079" y="198306"/>
                </a:lnTo>
                <a:lnTo>
                  <a:pt x="632667" y="220605"/>
                </a:lnTo>
                <a:lnTo>
                  <a:pt x="649046" y="242820"/>
                </a:lnTo>
                <a:lnTo>
                  <a:pt x="662036" y="264708"/>
                </a:lnTo>
                <a:lnTo>
                  <a:pt x="671495" y="286028"/>
                </a:lnTo>
                <a:lnTo>
                  <a:pt x="677318" y="306547"/>
                </a:lnTo>
                <a:lnTo>
                  <a:pt x="679443" y="326041"/>
                </a:lnTo>
                <a:lnTo>
                  <a:pt x="677846" y="344295"/>
                </a:lnTo>
                <a:close/>
              </a:path>
            </a:pathLst>
          </a:custGeom>
          <a:ln w="6350">
            <a:solidFill>
              <a:srgbClr val="4F7A43"/>
            </a:solidFill>
            <a:prstDash val="dash"/>
          </a:ln>
        </p:spPr>
      </p:sp>
      <p:sp>
        <p:nvSpPr>
          <p:cNvPr id="157" name="Shape 155"/>
          <p:cNvSpPr/>
          <p:nvPr/>
        </p:nvSpPr>
        <p:spPr>
          <a:xfrm>
            <a:off x="10606622" y="2464914"/>
            <a:ext cx="324951" cy="203670"/>
          </a:xfrm>
          <a:custGeom>
            <a:avLst/>
            <a:gdLst/>
            <a:ahLst/>
            <a:cxnLst/>
            <a:rect l="l" t="t" r="r" b="b"/>
            <a:pathLst>
              <a:path w="324951" h="203670">
                <a:moveTo>
                  <a:pt x="321652" y="172705"/>
                </a:moveTo>
                <a:lnTo>
                  <a:pt x="317372" y="179970"/>
                </a:lnTo>
                <a:lnTo>
                  <a:pt x="311395" y="186379"/>
                </a:lnTo>
                <a:lnTo>
                  <a:pt x="303787" y="191863"/>
                </a:lnTo>
                <a:lnTo>
                  <a:pt x="294630" y="196359"/>
                </a:lnTo>
                <a:lnTo>
                  <a:pt x="284026" y="199820"/>
                </a:lnTo>
                <a:lnTo>
                  <a:pt x="272090" y="202208"/>
                </a:lnTo>
                <a:lnTo>
                  <a:pt x="258953" y="203496"/>
                </a:lnTo>
                <a:lnTo>
                  <a:pt x="244759" y="203670"/>
                </a:lnTo>
                <a:lnTo>
                  <a:pt x="229663" y="202728"/>
                </a:lnTo>
                <a:lnTo>
                  <a:pt x="213831" y="200681"/>
                </a:lnTo>
                <a:lnTo>
                  <a:pt x="197437" y="197551"/>
                </a:lnTo>
                <a:lnTo>
                  <a:pt x="180659" y="193372"/>
                </a:lnTo>
                <a:lnTo>
                  <a:pt x="163682" y="188190"/>
                </a:lnTo>
                <a:lnTo>
                  <a:pt x="146692" y="182063"/>
                </a:lnTo>
                <a:lnTo>
                  <a:pt x="129875" y="175056"/>
                </a:lnTo>
                <a:lnTo>
                  <a:pt x="113416" y="167247"/>
                </a:lnTo>
                <a:lnTo>
                  <a:pt x="97493" y="158721"/>
                </a:lnTo>
                <a:lnTo>
                  <a:pt x="82283" y="149572"/>
                </a:lnTo>
                <a:lnTo>
                  <a:pt x="67951" y="139900"/>
                </a:lnTo>
                <a:lnTo>
                  <a:pt x="54655" y="129811"/>
                </a:lnTo>
                <a:lnTo>
                  <a:pt x="42540" y="119416"/>
                </a:lnTo>
                <a:lnTo>
                  <a:pt x="31739" y="108828"/>
                </a:lnTo>
                <a:lnTo>
                  <a:pt x="22371" y="98163"/>
                </a:lnTo>
                <a:lnTo>
                  <a:pt x="14538" y="87538"/>
                </a:lnTo>
                <a:lnTo>
                  <a:pt x="8325" y="77070"/>
                </a:lnTo>
                <a:lnTo>
                  <a:pt x="3801" y="66874"/>
                </a:lnTo>
                <a:lnTo>
                  <a:pt x="1016" y="57060"/>
                </a:lnTo>
                <a:lnTo>
                  <a:pt x="0" y="47737"/>
                </a:lnTo>
                <a:lnTo>
                  <a:pt x="764" y="39007"/>
                </a:lnTo>
                <a:lnTo>
                  <a:pt x="3300" y="30965"/>
                </a:lnTo>
                <a:lnTo>
                  <a:pt x="7579" y="23700"/>
                </a:lnTo>
                <a:lnTo>
                  <a:pt x="13556" y="17290"/>
                </a:lnTo>
                <a:lnTo>
                  <a:pt x="21164" y="11807"/>
                </a:lnTo>
                <a:lnTo>
                  <a:pt x="30321" y="7311"/>
                </a:lnTo>
                <a:lnTo>
                  <a:pt x="40925" y="3849"/>
                </a:lnTo>
                <a:lnTo>
                  <a:pt x="52861" y="1462"/>
                </a:lnTo>
                <a:lnTo>
                  <a:pt x="65998" y="174"/>
                </a:lnTo>
                <a:lnTo>
                  <a:pt x="80193" y="0"/>
                </a:lnTo>
                <a:lnTo>
                  <a:pt x="95288" y="942"/>
                </a:lnTo>
                <a:lnTo>
                  <a:pt x="111120" y="2989"/>
                </a:lnTo>
                <a:lnTo>
                  <a:pt x="127514" y="6119"/>
                </a:lnTo>
                <a:lnTo>
                  <a:pt x="144292" y="10298"/>
                </a:lnTo>
                <a:lnTo>
                  <a:pt x="161269" y="15479"/>
                </a:lnTo>
                <a:lnTo>
                  <a:pt x="178259" y="21607"/>
                </a:lnTo>
                <a:lnTo>
                  <a:pt x="195076" y="28614"/>
                </a:lnTo>
                <a:lnTo>
                  <a:pt x="211535" y="36423"/>
                </a:lnTo>
                <a:lnTo>
                  <a:pt x="227458" y="44949"/>
                </a:lnTo>
                <a:lnTo>
                  <a:pt x="242668" y="54098"/>
                </a:lnTo>
                <a:lnTo>
                  <a:pt x="257000" y="63770"/>
                </a:lnTo>
                <a:lnTo>
                  <a:pt x="270296" y="73859"/>
                </a:lnTo>
                <a:lnTo>
                  <a:pt x="282411" y="84254"/>
                </a:lnTo>
                <a:lnTo>
                  <a:pt x="293212" y="94842"/>
                </a:lnTo>
                <a:lnTo>
                  <a:pt x="302580" y="105507"/>
                </a:lnTo>
                <a:lnTo>
                  <a:pt x="310413" y="116131"/>
                </a:lnTo>
                <a:lnTo>
                  <a:pt x="316626" y="126599"/>
                </a:lnTo>
                <a:lnTo>
                  <a:pt x="321150" y="136796"/>
                </a:lnTo>
                <a:lnTo>
                  <a:pt x="323935" y="146609"/>
                </a:lnTo>
                <a:lnTo>
                  <a:pt x="324951" y="155932"/>
                </a:lnTo>
                <a:lnTo>
                  <a:pt x="324187" y="164663"/>
                </a:lnTo>
                <a:close/>
              </a:path>
            </a:pathLst>
          </a:custGeom>
          <a:ln w="6350">
            <a:solidFill>
              <a:srgbClr val="4F7A43"/>
            </a:solidFill>
            <a:prstDash val="dash"/>
          </a:ln>
        </p:spPr>
      </p:sp>
      <p:sp>
        <p:nvSpPr>
          <p:cNvPr id="158" name="Shape 156"/>
          <p:cNvSpPr/>
          <p:nvPr/>
        </p:nvSpPr>
        <p:spPr>
          <a:xfrm>
            <a:off x="9748751" y="2132400"/>
            <a:ext cx="1881171" cy="837551"/>
          </a:xfrm>
          <a:custGeom>
            <a:avLst/>
            <a:gdLst/>
            <a:ahLst/>
            <a:cxnLst/>
            <a:rect l="l" t="t" r="r" b="b"/>
            <a:pathLst>
              <a:path w="1881171" h="837551">
                <a:moveTo>
                  <a:pt x="0" y="0"/>
                </a:moveTo>
                <a:lnTo>
                  <a:pt x="1881171" y="837551"/>
                </a:lnTo>
              </a:path>
            </a:pathLst>
          </a:custGeom>
          <a:ln w="31750">
            <a:solidFill>
              <a:srgbClr val="C4262E"/>
            </a:solidFill>
            <a:prstDash val="solid"/>
            <a:headEnd type="triangle"/>
            <a:tailEnd type="triangle"/>
          </a:ln>
        </p:spPr>
      </p:sp>
      <p:sp>
        <p:nvSpPr>
          <p:cNvPr id="159" name="Shape 157"/>
          <p:cNvSpPr/>
          <p:nvPr/>
        </p:nvSpPr>
        <p:spPr>
          <a:xfrm>
            <a:off x="10465738" y="2022401"/>
            <a:ext cx="490782" cy="1073658"/>
          </a:xfrm>
          <a:custGeom>
            <a:avLst/>
            <a:gdLst/>
            <a:ahLst/>
            <a:cxnLst/>
            <a:rect l="l" t="t" r="r" b="b"/>
            <a:pathLst>
              <a:path w="490782" h="1073658">
                <a:moveTo>
                  <a:pt x="155591" y="0"/>
                </a:moveTo>
                <a:lnTo>
                  <a:pt x="0" y="349464"/>
                </a:lnTo>
                <a:lnTo>
                  <a:pt x="490782" y="707553"/>
                </a:lnTo>
                <a:lnTo>
                  <a:pt x="327781" y="1073658"/>
                </a:lnTo>
              </a:path>
            </a:pathLst>
          </a:custGeom>
          <a:ln w="31750">
            <a:solidFill>
              <a:srgbClr val="1B1B1B"/>
            </a:solidFill>
            <a:prstDash val="solid"/>
            <a:tailEnd type="triangle"/>
          </a:ln>
        </p:spPr>
      </p:sp>
      <p:sp>
        <p:nvSpPr>
          <p:cNvPr id="160" name="Shape 158"/>
          <p:cNvSpPr/>
          <p:nvPr/>
        </p:nvSpPr>
        <p:spPr>
          <a:xfrm>
            <a:off x="10344661" y="2346989"/>
            <a:ext cx="182880" cy="182880"/>
          </a:xfrm>
          <a:prstGeom prst="ellipse">
            <a:avLst/>
          </a:prstGeom>
          <a:solidFill>
            <a:srgbClr val="FFFFFF"/>
          </a:solidFill>
          <a:ln w="19050">
            <a:solidFill>
              <a:srgbClr val="1B1B1B"/>
            </a:solidFill>
            <a:prstDash val="solid"/>
          </a:ln>
        </p:spPr>
      </p:sp>
      <p:sp>
        <p:nvSpPr>
          <p:cNvPr id="161" name="Shape 159"/>
          <p:cNvSpPr/>
          <p:nvPr/>
        </p:nvSpPr>
        <p:spPr>
          <a:xfrm>
            <a:off x="10887307" y="2588590"/>
            <a:ext cx="182880" cy="182880"/>
          </a:xfrm>
          <a:prstGeom prst="ellipse">
            <a:avLst/>
          </a:prstGeom>
          <a:solidFill>
            <a:srgbClr val="FFFFFF"/>
          </a:solidFill>
          <a:ln w="19050">
            <a:solidFill>
              <a:srgbClr val="1B1B1B"/>
            </a:solidFill>
            <a:prstDash val="solid"/>
          </a:ln>
        </p:spPr>
      </p:sp>
      <p:sp>
        <p:nvSpPr>
          <p:cNvPr id="162" name="Text 160"/>
          <p:cNvSpPr txBox="1"/>
          <p:nvPr/>
        </p:nvSpPr>
        <p:spPr>
          <a:xfrm>
            <a:off x="9582912" y="3675888"/>
            <a:ext cx="2212848" cy="182880"/>
          </a:xfrm>
          <a:prstGeom prst="rect">
            <a:avLst/>
          </a:prstGeom>
          <a:noFill/>
          <a:ln/>
        </p:spPr>
        <p:txBody>
          <a:bodyPr wrap="square" lIns="0" tIns="0" rIns="0" bIns="0" rtlCol="0" anchor="t"/>
          <a:lstStyle/>
          <a:p>
            <a:pPr indent="0" marL="0">
              <a:buNone/>
            </a:pPr>
            <a:r>
              <a:rPr lang="en-US" sz="800" i="1" dirty="0">
                <a:solidFill>
                  <a:srgbClr val="C4262E"/>
                </a:solidFill>
                <a:latin typeface="Arial" pitchFamily="34" charset="0"/>
                <a:ea typeface="Arial" pitchFamily="34" charset="-122"/>
                <a:cs typeface="Arial" pitchFamily="34" charset="-120"/>
              </a:rPr>
              <a:t>two routes, shared rooms where they meet</a:t>
            </a:r>
            <a:endParaRPr lang="en-US" sz="800" dirty="0"/>
          </a:p>
        </p:txBody>
      </p:sp>
      <p:sp>
        <p:nvSpPr>
          <p:cNvPr id="163" name="Text 161"/>
          <p:cNvSpPr txBox="1"/>
          <p:nvPr/>
        </p:nvSpPr>
        <p:spPr>
          <a:xfrm>
            <a:off x="9582912" y="3886200"/>
            <a:ext cx="2212848" cy="1143000"/>
          </a:xfrm>
          <a:prstGeom prst="rect">
            <a:avLst/>
          </a:prstGeom>
          <a:noFill/>
          <a:ln/>
        </p:spPr>
        <p:txBody>
          <a:bodyPr wrap="square" lIns="0" tIns="0" rIns="0" bIns="0" rtlCol="0" anchor="t"/>
          <a:lstStyle/>
          <a:p>
            <a:pPr indent="0" marL="0">
              <a:buNone/>
            </a:pPr>
            <a:r>
              <a:rPr lang="en-US" sz="750" dirty="0">
                <a:solidFill>
                  <a:srgbClr val="1B1B1B"/>
                </a:solidFill>
                <a:latin typeface="Arial" pitchFamily="34" charset="0"/>
                <a:ea typeface="Arial" pitchFamily="34" charset="-122"/>
                <a:cs typeface="Arial" pitchFamily="34" charset="-120"/>
              </a:rPr>
              <a:t>Separate the public route from the working route, then make them cross: every crossing becomes a shared room where citizens and professionals meet.</a:t>
            </a:r>
            <a:endParaRPr lang="en-US" sz="750" dirty="0"/>
          </a:p>
        </p:txBody>
      </p:sp>
      <p:sp>
        <p:nvSpPr>
          <p:cNvPr id="164" name="Text 162"/>
          <p:cNvSpPr txBox="1"/>
          <p:nvPr/>
        </p:nvSpPr>
        <p:spPr>
          <a:xfrm>
            <a:off x="9582912" y="5120640"/>
            <a:ext cx="2212848" cy="566928"/>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WHAT I DO  </a:t>
            </a:r>
            <a:endParaRPr lang="en-US" sz="750" dirty="0"/>
          </a:p>
          <a:p>
            <a:pPr indent="0" marL="0">
              <a:buNone/>
            </a:pPr>
            <a:r>
              <a:rPr lang="en-US" sz="750" dirty="0">
                <a:solidFill>
                  <a:srgbClr val="1B1B1B"/>
                </a:solidFill>
                <a:latin typeface="Arial" pitchFamily="34" charset="0"/>
                <a:ea typeface="Arial" pitchFamily="34" charset="-122"/>
                <a:cs typeface="Arial" pitchFamily="34" charset="-120"/>
              </a:rPr>
              <a:t>① draw the public line  ② draw the working line  ③ inflate the crossings into rooms</a:t>
            </a:r>
            <a:endParaRPr lang="en-US" sz="750" dirty="0"/>
          </a:p>
        </p:txBody>
      </p:sp>
      <p:sp>
        <p:nvSpPr>
          <p:cNvPr id="165" name="Text 163"/>
          <p:cNvSpPr txBox="1"/>
          <p:nvPr/>
        </p:nvSpPr>
        <p:spPr>
          <a:xfrm>
            <a:off x="9582912" y="5760720"/>
            <a:ext cx="2212848" cy="457200"/>
          </a:xfrm>
          <a:prstGeom prst="rect">
            <a:avLst/>
          </a:prstGeom>
          <a:noFill/>
          <a:ln/>
        </p:spPr>
        <p:txBody>
          <a:bodyPr wrap="square" lIns="0" tIns="0" rIns="0" bIns="0" rtlCol="0" anchor="t"/>
          <a:lstStyle/>
          <a:p>
            <a:pPr indent="0" marL="0">
              <a:buNone/>
            </a:pPr>
            <a:r>
              <a:rPr lang="en-US" sz="700" b="1" dirty="0">
                <a:solidFill>
                  <a:srgbClr val="4F7A43"/>
                </a:solidFill>
                <a:latin typeface="Arial" pitchFamily="34" charset="0"/>
                <a:ea typeface="Arial" pitchFamily="34" charset="-122"/>
                <a:cs typeface="Arial" pitchFamily="34" charset="-120"/>
              </a:rPr>
              <a:t>TOPOGRAPHY  </a:t>
            </a:r>
            <a:pPr indent="0" marL="0">
              <a:buNone/>
            </a:pPr>
            <a:r>
              <a:rPr lang="en-US" sz="700" dirty="0">
                <a:solidFill>
                  <a:srgbClr val="1B1B1B"/>
                </a:solidFill>
                <a:latin typeface="Arial" pitchFamily="34" charset="0"/>
                <a:ea typeface="Arial" pitchFamily="34" charset="-122"/>
                <a:cs typeface="Arial" pitchFamily="34" charset="-120"/>
              </a:rPr>
              <a:t>Bars span across the slope on piers: ground kept, more structure needed.</a:t>
            </a:r>
            <a:endParaRPr lang="en-US" sz="700" dirty="0"/>
          </a:p>
        </p:txBody>
      </p:sp>
      <p:sp>
        <p:nvSpPr>
          <p:cNvPr id="166" name="Shape 164"/>
          <p:cNvSpPr/>
          <p:nvPr/>
        </p:nvSpPr>
        <p:spPr>
          <a:xfrm>
            <a:off x="365760" y="6400800"/>
            <a:ext cx="146304" cy="109728"/>
          </a:xfrm>
          <a:prstGeom prst="rect">
            <a:avLst/>
          </a:prstGeom>
          <a:solidFill>
            <a:srgbClr val="C4262E"/>
          </a:solidFill>
          <a:ln/>
        </p:spPr>
      </p:sp>
      <p:sp>
        <p:nvSpPr>
          <p:cNvPr id="167" name="Text 165"/>
          <p:cNvSpPr txBox="1"/>
          <p:nvPr/>
        </p:nvSpPr>
        <p:spPr>
          <a:xfrm>
            <a:off x="612648" y="6382512"/>
            <a:ext cx="33832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a:t>
            </a:r>
            <a:endParaRPr lang="en-US" sz="650" dirty="0"/>
          </a:p>
        </p:txBody>
      </p:sp>
      <p:sp>
        <p:nvSpPr>
          <p:cNvPr id="168" name="Shape 166"/>
          <p:cNvSpPr/>
          <p:nvPr/>
        </p:nvSpPr>
        <p:spPr>
          <a:xfrm>
            <a:off x="1024128" y="6400800"/>
            <a:ext cx="146304" cy="109728"/>
          </a:xfrm>
          <a:prstGeom prst="rect">
            <a:avLst/>
          </a:prstGeom>
          <a:solidFill>
            <a:srgbClr val="F0B9BC"/>
          </a:solidFill>
          <a:ln/>
        </p:spPr>
      </p:sp>
      <p:sp>
        <p:nvSpPr>
          <p:cNvPr id="169" name="Text 167"/>
          <p:cNvSpPr txBox="1"/>
          <p:nvPr/>
        </p:nvSpPr>
        <p:spPr>
          <a:xfrm>
            <a:off x="1271016" y="6382512"/>
            <a:ext cx="54406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semi-public</a:t>
            </a:r>
            <a:endParaRPr lang="en-US" sz="650" dirty="0"/>
          </a:p>
        </p:txBody>
      </p:sp>
      <p:sp>
        <p:nvSpPr>
          <p:cNvPr id="170" name="Shape 168"/>
          <p:cNvSpPr/>
          <p:nvPr/>
        </p:nvSpPr>
        <p:spPr>
          <a:xfrm>
            <a:off x="1888236" y="6400800"/>
            <a:ext cx="146304" cy="109728"/>
          </a:xfrm>
          <a:prstGeom prst="rect">
            <a:avLst/>
          </a:prstGeom>
          <a:solidFill>
            <a:srgbClr val="9A9A9A"/>
          </a:solidFill>
          <a:ln/>
        </p:spPr>
      </p:sp>
      <p:sp>
        <p:nvSpPr>
          <p:cNvPr id="171" name="Text 169"/>
          <p:cNvSpPr txBox="1"/>
          <p:nvPr/>
        </p:nvSpPr>
        <p:spPr>
          <a:xfrm>
            <a:off x="2135124" y="6382512"/>
            <a:ext cx="379476"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a:t>
            </a:r>
            <a:endParaRPr lang="en-US" sz="650" dirty="0"/>
          </a:p>
        </p:txBody>
      </p:sp>
      <p:sp>
        <p:nvSpPr>
          <p:cNvPr id="172" name="Shape 170"/>
          <p:cNvSpPr/>
          <p:nvPr/>
        </p:nvSpPr>
        <p:spPr>
          <a:xfrm>
            <a:off x="2587752" y="6400800"/>
            <a:ext cx="146304" cy="109728"/>
          </a:xfrm>
          <a:prstGeom prst="rect">
            <a:avLst/>
          </a:prstGeom>
          <a:solidFill>
            <a:srgbClr val="1B1B1B"/>
          </a:solidFill>
          <a:ln/>
        </p:spPr>
      </p:sp>
      <p:sp>
        <p:nvSpPr>
          <p:cNvPr id="173" name="Text 171"/>
          <p:cNvSpPr txBox="1"/>
          <p:nvPr/>
        </p:nvSpPr>
        <p:spPr>
          <a:xfrm>
            <a:off x="2834640" y="6382512"/>
            <a:ext cx="46177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protected</a:t>
            </a:r>
            <a:endParaRPr lang="en-US" sz="650" dirty="0"/>
          </a:p>
        </p:txBody>
      </p:sp>
      <p:sp>
        <p:nvSpPr>
          <p:cNvPr id="174" name="Shape 172"/>
          <p:cNvSpPr/>
          <p:nvPr/>
        </p:nvSpPr>
        <p:spPr>
          <a:xfrm>
            <a:off x="3369564" y="6451092"/>
            <a:ext cx="201168" cy="9144"/>
          </a:xfrm>
          <a:custGeom>
            <a:avLst/>
            <a:gdLst/>
            <a:ahLst/>
            <a:cxnLst/>
            <a:rect l="l" t="t" r="r" b="b"/>
            <a:pathLst>
              <a:path w="201168" h="9144">
                <a:moveTo>
                  <a:pt x="0" y="4572"/>
                </a:moveTo>
                <a:lnTo>
                  <a:pt x="201168" y="4572"/>
                </a:lnTo>
              </a:path>
            </a:pathLst>
          </a:custGeom>
          <a:ln w="25400">
            <a:solidFill>
              <a:srgbClr val="C4262E"/>
            </a:solidFill>
            <a:prstDash val="solid"/>
          </a:ln>
        </p:spPr>
      </p:sp>
      <p:sp>
        <p:nvSpPr>
          <p:cNvPr id="175" name="Text 173"/>
          <p:cNvSpPr txBox="1"/>
          <p:nvPr/>
        </p:nvSpPr>
        <p:spPr>
          <a:xfrm>
            <a:off x="3616452" y="6382512"/>
            <a:ext cx="708660"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 movement</a:t>
            </a:r>
            <a:endParaRPr lang="en-US" sz="650" dirty="0"/>
          </a:p>
        </p:txBody>
      </p:sp>
      <p:sp>
        <p:nvSpPr>
          <p:cNvPr id="176" name="Shape 174"/>
          <p:cNvSpPr/>
          <p:nvPr/>
        </p:nvSpPr>
        <p:spPr>
          <a:xfrm>
            <a:off x="4398264" y="6451092"/>
            <a:ext cx="201168" cy="9144"/>
          </a:xfrm>
          <a:custGeom>
            <a:avLst/>
            <a:gdLst/>
            <a:ahLst/>
            <a:cxnLst/>
            <a:rect l="l" t="t" r="r" b="b"/>
            <a:pathLst>
              <a:path w="201168" h="9144">
                <a:moveTo>
                  <a:pt x="0" y="4572"/>
                </a:moveTo>
                <a:lnTo>
                  <a:pt x="201168" y="4572"/>
                </a:lnTo>
              </a:path>
            </a:pathLst>
          </a:custGeom>
          <a:ln w="25400">
            <a:solidFill>
              <a:srgbClr val="1B1B1B"/>
            </a:solidFill>
            <a:prstDash val="solid"/>
          </a:ln>
        </p:spPr>
      </p:sp>
      <p:sp>
        <p:nvSpPr>
          <p:cNvPr id="177" name="Text 175"/>
          <p:cNvSpPr txBox="1"/>
          <p:nvPr/>
        </p:nvSpPr>
        <p:spPr>
          <a:xfrm>
            <a:off x="4645152" y="6382512"/>
            <a:ext cx="74980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 movement</a:t>
            </a:r>
            <a:endParaRPr lang="en-US" sz="650" dirty="0"/>
          </a:p>
        </p:txBody>
      </p:sp>
      <p:sp>
        <p:nvSpPr>
          <p:cNvPr id="178" name="Shape 176"/>
          <p:cNvSpPr/>
          <p:nvPr/>
        </p:nvSpPr>
        <p:spPr>
          <a:xfrm>
            <a:off x="5468112" y="6451092"/>
            <a:ext cx="201168" cy="9144"/>
          </a:xfrm>
          <a:custGeom>
            <a:avLst/>
            <a:gdLst/>
            <a:ahLst/>
            <a:cxnLst/>
            <a:rect l="l" t="t" r="r" b="b"/>
            <a:pathLst>
              <a:path w="201168" h="9144">
                <a:moveTo>
                  <a:pt x="0" y="4572"/>
                </a:moveTo>
                <a:lnTo>
                  <a:pt x="201168" y="4572"/>
                </a:lnTo>
              </a:path>
            </a:pathLst>
          </a:custGeom>
          <a:ln w="15875">
            <a:solidFill>
              <a:srgbClr val="4F7A43"/>
            </a:solidFill>
            <a:prstDash val="dash"/>
          </a:ln>
        </p:spPr>
      </p:sp>
      <p:sp>
        <p:nvSpPr>
          <p:cNvPr id="179" name="Text 177"/>
          <p:cNvSpPr txBox="1"/>
          <p:nvPr/>
        </p:nvSpPr>
        <p:spPr>
          <a:xfrm>
            <a:off x="5715000" y="6382512"/>
            <a:ext cx="832104"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indicative contour</a:t>
            </a:r>
            <a:endParaRPr lang="en-US" sz="650" dirty="0"/>
          </a:p>
        </p:txBody>
      </p:sp>
      <p:sp>
        <p:nvSpPr>
          <p:cNvPr id="180" name="Shape 178"/>
          <p:cNvSpPr/>
          <p:nvPr/>
        </p:nvSpPr>
        <p:spPr>
          <a:xfrm>
            <a:off x="6638544" y="6409944"/>
            <a:ext cx="91440" cy="91440"/>
          </a:xfrm>
          <a:prstGeom prst="ellipse">
            <a:avLst/>
          </a:prstGeom>
          <a:ln w="9525">
            <a:solidFill>
              <a:srgbClr val="4F7A43"/>
            </a:solidFill>
            <a:prstDash val="solid"/>
          </a:ln>
        </p:spPr>
      </p:sp>
      <p:sp>
        <p:nvSpPr>
          <p:cNvPr id="181" name="Text 179"/>
          <p:cNvSpPr txBox="1"/>
          <p:nvPr/>
        </p:nvSpPr>
        <p:spPr>
          <a:xfrm>
            <a:off x="6867144" y="6382512"/>
            <a:ext cx="66751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existing trees</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DIRECTION A — WRAP THE HILL</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a low ring at the foot of the mound</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03</a:t>
            </a:r>
            <a:endParaRPr lang="en-US" sz="3400" dirty="0"/>
          </a:p>
        </p:txBody>
      </p:sp>
      <p:sp>
        <p:nvSpPr>
          <p:cNvPr id="6" name="Shape 4"/>
          <p:cNvSpPr/>
          <p:nvPr/>
        </p:nvSpPr>
        <p:spPr>
          <a:xfrm>
            <a:off x="10241280" y="896112"/>
            <a:ext cx="1554480" cy="182880"/>
          </a:xfrm>
          <a:prstGeom prst="roundRect">
            <a:avLst>
              <a:gd name="adj" fmla="val 20000"/>
            </a:avLst>
          </a:prstGeom>
          <a:solidFill>
            <a:srgbClr val="C4262E"/>
          </a:solidFill>
          <a:ln w="9525">
            <a:solidFill>
              <a:srgbClr val="C4262E"/>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sp>
        <p:nvSpPr>
          <p:cNvPr id="8" name="Text 6"/>
          <p:cNvSpPr txBox="1"/>
          <p:nvPr/>
        </p:nvSpPr>
        <p:spPr>
          <a:xfrm>
            <a:off x="365760" y="1097280"/>
            <a:ext cx="11430000" cy="411480"/>
          </a:xfrm>
          <a:prstGeom prst="rect">
            <a:avLst/>
          </a:prstGeom>
          <a:noFill/>
          <a:ln/>
        </p:spPr>
        <p:txBody>
          <a:bodyPr wrap="square" lIns="0" tIns="0" rIns="0" bIns="0" rtlCol="0" anchor="t"/>
          <a:lstStyle/>
          <a:p>
            <a:pPr indent="0" marL="0">
              <a:buNone/>
            </a:pPr>
            <a:r>
              <a:rPr lang="en-US" sz="1050" b="1" dirty="0">
                <a:solidFill>
                  <a:srgbClr val="1B1B1B"/>
                </a:solidFill>
                <a:latin typeface="Arial" pitchFamily="34" charset="0"/>
                <a:ea typeface="Arial" pitchFamily="34" charset="-122"/>
                <a:cs typeface="Arial" pitchFamily="34" charset="-120"/>
              </a:rPr>
              <a:t>Keep the whole mound as open public ground and build a low ring around its base, so the institution becomes the threshold between the road and the hill.</a:t>
            </a:r>
            <a:endParaRPr lang="en-US" sz="1050" dirty="0"/>
          </a:p>
        </p:txBody>
      </p:sp>
      <p:sp>
        <p:nvSpPr>
          <p:cNvPr id="9" name="Shape 7"/>
          <p:cNvSpPr/>
          <p:nvPr/>
        </p:nvSpPr>
        <p:spPr>
          <a:xfrm>
            <a:off x="365760" y="1627632"/>
            <a:ext cx="1828800" cy="1920240"/>
          </a:xfrm>
          <a:prstGeom prst="rect">
            <a:avLst/>
          </a:prstGeom>
          <a:solidFill>
            <a:srgbClr val="FFFFFF"/>
          </a:solidFill>
          <a:ln w="6350">
            <a:solidFill>
              <a:srgbClr val="D9D9D9"/>
            </a:solidFill>
            <a:prstDash val="solid"/>
          </a:ln>
        </p:spPr>
      </p:sp>
      <p:sp>
        <p:nvSpPr>
          <p:cNvPr id="10" name="Text 8"/>
          <p:cNvSpPr txBox="1"/>
          <p:nvPr/>
        </p:nvSpPr>
        <p:spPr>
          <a:xfrm>
            <a:off x="43891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01  </a:t>
            </a:r>
            <a:pPr indent="0" marL="0">
              <a:buNone/>
            </a:pPr>
            <a:r>
              <a:rPr lang="en-US" sz="750" b="1" spc="50" kern="0" dirty="0">
                <a:solidFill>
                  <a:srgbClr val="1B1B1B"/>
                </a:solidFill>
                <a:latin typeface="Arial" pitchFamily="34" charset="0"/>
                <a:ea typeface="Arial" pitchFamily="34" charset="-122"/>
                <a:cs typeface="Arial" pitchFamily="34" charset="-120"/>
              </a:rPr>
              <a:t>SITE</a:t>
            </a:r>
            <a:endParaRPr lang="en-US" sz="750" dirty="0"/>
          </a:p>
        </p:txBody>
      </p:sp>
      <p:sp>
        <p:nvSpPr>
          <p:cNvPr id="11" name="Shape 9"/>
          <p:cNvSpPr/>
          <p:nvPr/>
        </p:nvSpPr>
        <p:spPr>
          <a:xfrm>
            <a:off x="55576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12" name="Shape 10"/>
          <p:cNvSpPr/>
          <p:nvPr/>
        </p:nvSpPr>
        <p:spPr>
          <a:xfrm>
            <a:off x="42062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13" name="Shape 11"/>
          <p:cNvSpPr/>
          <p:nvPr/>
        </p:nvSpPr>
        <p:spPr>
          <a:xfrm>
            <a:off x="198984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14" name="Shape 12"/>
          <p:cNvSpPr/>
          <p:nvPr/>
        </p:nvSpPr>
        <p:spPr>
          <a:xfrm>
            <a:off x="67649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15" name="Shape 13"/>
          <p:cNvSpPr/>
          <p:nvPr/>
        </p:nvSpPr>
        <p:spPr>
          <a:xfrm>
            <a:off x="910718" y="2433218"/>
            <a:ext cx="869276" cy="544837"/>
          </a:xfrm>
          <a:custGeom>
            <a:avLst/>
            <a:gdLst/>
            <a:ahLst/>
            <a:cxnLst/>
            <a:rect l="l" t="t" r="r" b="b"/>
            <a:pathLst>
              <a:path w="869276" h="544837">
                <a:moveTo>
                  <a:pt x="860450" y="462002"/>
                </a:moveTo>
                <a:lnTo>
                  <a:pt x="849001" y="481438"/>
                </a:lnTo>
                <a:lnTo>
                  <a:pt x="833013" y="498583"/>
                </a:lnTo>
                <a:lnTo>
                  <a:pt x="812660" y="513251"/>
                </a:lnTo>
                <a:lnTo>
                  <a:pt x="788166" y="525280"/>
                </a:lnTo>
                <a:lnTo>
                  <a:pt x="759798" y="534539"/>
                </a:lnTo>
                <a:lnTo>
                  <a:pt x="727867" y="540926"/>
                </a:lnTo>
                <a:lnTo>
                  <a:pt x="692724" y="544371"/>
                </a:lnTo>
                <a:lnTo>
                  <a:pt x="654753" y="544837"/>
                </a:lnTo>
                <a:lnTo>
                  <a:pt x="614371" y="542318"/>
                </a:lnTo>
                <a:lnTo>
                  <a:pt x="572019" y="536841"/>
                </a:lnTo>
                <a:lnTo>
                  <a:pt x="528162" y="528468"/>
                </a:lnTo>
                <a:lnTo>
                  <a:pt x="483281" y="517289"/>
                </a:lnTo>
                <a:lnTo>
                  <a:pt x="437867" y="503428"/>
                </a:lnTo>
                <a:lnTo>
                  <a:pt x="392417" y="487036"/>
                </a:lnTo>
                <a:lnTo>
                  <a:pt x="347430" y="468292"/>
                </a:lnTo>
                <a:lnTo>
                  <a:pt x="303398" y="447402"/>
                </a:lnTo>
                <a:lnTo>
                  <a:pt x="260804" y="424595"/>
                </a:lnTo>
                <a:lnTo>
                  <a:pt x="220115" y="400120"/>
                </a:lnTo>
                <a:lnTo>
                  <a:pt x="181776" y="374247"/>
                </a:lnTo>
                <a:lnTo>
                  <a:pt x="146208" y="347258"/>
                </a:lnTo>
                <a:lnTo>
                  <a:pt x="113799" y="319449"/>
                </a:lnTo>
                <a:lnTo>
                  <a:pt x="84906" y="291124"/>
                </a:lnTo>
                <a:lnTo>
                  <a:pt x="59845" y="262595"/>
                </a:lnTo>
                <a:lnTo>
                  <a:pt x="38890" y="234174"/>
                </a:lnTo>
                <a:lnTo>
                  <a:pt x="22270" y="206171"/>
                </a:lnTo>
                <a:lnTo>
                  <a:pt x="10169" y="178894"/>
                </a:lnTo>
                <a:lnTo>
                  <a:pt x="2718" y="152642"/>
                </a:lnTo>
                <a:lnTo>
                  <a:pt x="0" y="127702"/>
                </a:lnTo>
                <a:lnTo>
                  <a:pt x="2044" y="104348"/>
                </a:lnTo>
                <a:lnTo>
                  <a:pt x="8827" y="82835"/>
                </a:lnTo>
                <a:lnTo>
                  <a:pt x="20275" y="63399"/>
                </a:lnTo>
                <a:lnTo>
                  <a:pt x="36263" y="46253"/>
                </a:lnTo>
                <a:lnTo>
                  <a:pt x="56616" y="31586"/>
                </a:lnTo>
                <a:lnTo>
                  <a:pt x="81111" y="19556"/>
                </a:lnTo>
                <a:lnTo>
                  <a:pt x="109479" y="10298"/>
                </a:lnTo>
                <a:lnTo>
                  <a:pt x="141409" y="3911"/>
                </a:lnTo>
                <a:lnTo>
                  <a:pt x="176552" y="466"/>
                </a:lnTo>
                <a:lnTo>
                  <a:pt x="214523" y="0"/>
                </a:lnTo>
                <a:lnTo>
                  <a:pt x="254906" y="2519"/>
                </a:lnTo>
                <a:lnTo>
                  <a:pt x="297257" y="7995"/>
                </a:lnTo>
                <a:lnTo>
                  <a:pt x="341114" y="16369"/>
                </a:lnTo>
                <a:lnTo>
                  <a:pt x="385995" y="27547"/>
                </a:lnTo>
                <a:lnTo>
                  <a:pt x="431410" y="41409"/>
                </a:lnTo>
                <a:lnTo>
                  <a:pt x="476859" y="57801"/>
                </a:lnTo>
                <a:lnTo>
                  <a:pt x="521847" y="76545"/>
                </a:lnTo>
                <a:lnTo>
                  <a:pt x="565878" y="97435"/>
                </a:lnTo>
                <a:lnTo>
                  <a:pt x="608472" y="120242"/>
                </a:lnTo>
                <a:lnTo>
                  <a:pt x="649161" y="144716"/>
                </a:lnTo>
                <a:lnTo>
                  <a:pt x="687500" y="170590"/>
                </a:lnTo>
                <a:lnTo>
                  <a:pt x="723069" y="197579"/>
                </a:lnTo>
                <a:lnTo>
                  <a:pt x="755477" y="225388"/>
                </a:lnTo>
                <a:lnTo>
                  <a:pt x="784370" y="253712"/>
                </a:lnTo>
                <a:lnTo>
                  <a:pt x="809432" y="282242"/>
                </a:lnTo>
                <a:lnTo>
                  <a:pt x="830387" y="310663"/>
                </a:lnTo>
                <a:lnTo>
                  <a:pt x="847006" y="338666"/>
                </a:lnTo>
                <a:lnTo>
                  <a:pt x="859107" y="365943"/>
                </a:lnTo>
                <a:lnTo>
                  <a:pt x="866558" y="392195"/>
                </a:lnTo>
                <a:lnTo>
                  <a:pt x="869276" y="417135"/>
                </a:lnTo>
                <a:lnTo>
                  <a:pt x="867233" y="440489"/>
                </a:lnTo>
                <a:close/>
              </a:path>
            </a:pathLst>
          </a:custGeom>
          <a:ln w="6350">
            <a:solidFill>
              <a:srgbClr val="4F7A43"/>
            </a:solidFill>
            <a:prstDash val="dash"/>
          </a:ln>
        </p:spPr>
      </p:sp>
      <p:sp>
        <p:nvSpPr>
          <p:cNvPr id="16" name="Shape 14"/>
          <p:cNvSpPr/>
          <p:nvPr/>
        </p:nvSpPr>
        <p:spPr>
          <a:xfrm>
            <a:off x="1067671" y="2531592"/>
            <a:ext cx="555371" cy="348090"/>
          </a:xfrm>
          <a:custGeom>
            <a:avLst/>
            <a:gdLst/>
            <a:ahLst/>
            <a:cxnLst/>
            <a:rect l="l" t="t" r="r" b="b"/>
            <a:pathLst>
              <a:path w="555371" h="348090">
                <a:moveTo>
                  <a:pt x="549732" y="295168"/>
                </a:moveTo>
                <a:lnTo>
                  <a:pt x="542417" y="307585"/>
                </a:lnTo>
                <a:lnTo>
                  <a:pt x="532203" y="318539"/>
                </a:lnTo>
                <a:lnTo>
                  <a:pt x="519200" y="327910"/>
                </a:lnTo>
                <a:lnTo>
                  <a:pt x="503550" y="335596"/>
                </a:lnTo>
                <a:lnTo>
                  <a:pt x="485426" y="341511"/>
                </a:lnTo>
                <a:lnTo>
                  <a:pt x="465026" y="345592"/>
                </a:lnTo>
                <a:lnTo>
                  <a:pt x="442574" y="347793"/>
                </a:lnTo>
                <a:lnTo>
                  <a:pt x="418315" y="348090"/>
                </a:lnTo>
                <a:lnTo>
                  <a:pt x="392515" y="346481"/>
                </a:lnTo>
                <a:lnTo>
                  <a:pt x="365457" y="342982"/>
                </a:lnTo>
                <a:lnTo>
                  <a:pt x="337437" y="337632"/>
                </a:lnTo>
                <a:lnTo>
                  <a:pt x="308763" y="330490"/>
                </a:lnTo>
                <a:lnTo>
                  <a:pt x="279748" y="321635"/>
                </a:lnTo>
                <a:lnTo>
                  <a:pt x="250711" y="311162"/>
                </a:lnTo>
                <a:lnTo>
                  <a:pt x="221969" y="299186"/>
                </a:lnTo>
                <a:lnTo>
                  <a:pt x="193838" y="285840"/>
                </a:lnTo>
                <a:lnTo>
                  <a:pt x="166625" y="271269"/>
                </a:lnTo>
                <a:lnTo>
                  <a:pt x="140629" y="255632"/>
                </a:lnTo>
                <a:lnTo>
                  <a:pt x="116135" y="239102"/>
                </a:lnTo>
                <a:lnTo>
                  <a:pt x="93410" y="221859"/>
                </a:lnTo>
                <a:lnTo>
                  <a:pt x="72705" y="204092"/>
                </a:lnTo>
                <a:lnTo>
                  <a:pt x="54246" y="185996"/>
                </a:lnTo>
                <a:lnTo>
                  <a:pt x="38234" y="167769"/>
                </a:lnTo>
                <a:lnTo>
                  <a:pt x="24846" y="149611"/>
                </a:lnTo>
                <a:lnTo>
                  <a:pt x="14228" y="131720"/>
                </a:lnTo>
                <a:lnTo>
                  <a:pt x="6497" y="114293"/>
                </a:lnTo>
                <a:lnTo>
                  <a:pt x="1737" y="97521"/>
                </a:lnTo>
                <a:lnTo>
                  <a:pt x="0" y="81587"/>
                </a:lnTo>
                <a:lnTo>
                  <a:pt x="1306" y="66667"/>
                </a:lnTo>
                <a:lnTo>
                  <a:pt x="5639" y="52922"/>
                </a:lnTo>
                <a:lnTo>
                  <a:pt x="12954" y="40505"/>
                </a:lnTo>
                <a:lnTo>
                  <a:pt x="23168" y="29551"/>
                </a:lnTo>
                <a:lnTo>
                  <a:pt x="36171" y="20180"/>
                </a:lnTo>
                <a:lnTo>
                  <a:pt x="51821" y="12494"/>
                </a:lnTo>
                <a:lnTo>
                  <a:pt x="69945" y="6579"/>
                </a:lnTo>
                <a:lnTo>
                  <a:pt x="90345" y="2498"/>
                </a:lnTo>
                <a:lnTo>
                  <a:pt x="112797" y="297"/>
                </a:lnTo>
                <a:lnTo>
                  <a:pt x="137056" y="0"/>
                </a:lnTo>
                <a:lnTo>
                  <a:pt x="162856" y="1609"/>
                </a:lnTo>
                <a:lnTo>
                  <a:pt x="189914" y="5108"/>
                </a:lnTo>
                <a:lnTo>
                  <a:pt x="217934" y="10458"/>
                </a:lnTo>
                <a:lnTo>
                  <a:pt x="246608" y="17600"/>
                </a:lnTo>
                <a:lnTo>
                  <a:pt x="275623" y="26456"/>
                </a:lnTo>
                <a:lnTo>
                  <a:pt x="304660" y="36929"/>
                </a:lnTo>
                <a:lnTo>
                  <a:pt x="333402" y="48904"/>
                </a:lnTo>
                <a:lnTo>
                  <a:pt x="361533" y="62250"/>
                </a:lnTo>
                <a:lnTo>
                  <a:pt x="388746" y="76821"/>
                </a:lnTo>
                <a:lnTo>
                  <a:pt x="414742" y="92458"/>
                </a:lnTo>
                <a:lnTo>
                  <a:pt x="439236" y="108988"/>
                </a:lnTo>
                <a:lnTo>
                  <a:pt x="461961" y="126231"/>
                </a:lnTo>
                <a:lnTo>
                  <a:pt x="482666" y="143998"/>
                </a:lnTo>
                <a:lnTo>
                  <a:pt x="501125" y="162094"/>
                </a:lnTo>
                <a:lnTo>
                  <a:pt x="517137" y="180321"/>
                </a:lnTo>
                <a:lnTo>
                  <a:pt x="530525" y="198479"/>
                </a:lnTo>
                <a:lnTo>
                  <a:pt x="541143" y="216370"/>
                </a:lnTo>
                <a:lnTo>
                  <a:pt x="548874" y="233797"/>
                </a:lnTo>
                <a:lnTo>
                  <a:pt x="553634" y="250569"/>
                </a:lnTo>
                <a:lnTo>
                  <a:pt x="555371" y="266503"/>
                </a:lnTo>
                <a:lnTo>
                  <a:pt x="554065" y="281424"/>
                </a:lnTo>
                <a:close/>
              </a:path>
            </a:pathLst>
          </a:custGeom>
          <a:ln w="6350">
            <a:solidFill>
              <a:srgbClr val="4F7A43"/>
            </a:solidFill>
            <a:prstDash val="dash"/>
          </a:ln>
        </p:spPr>
      </p:sp>
      <p:sp>
        <p:nvSpPr>
          <p:cNvPr id="17" name="Shape 15"/>
          <p:cNvSpPr/>
          <p:nvPr/>
        </p:nvSpPr>
        <p:spPr>
          <a:xfrm>
            <a:off x="1212551" y="2622398"/>
            <a:ext cx="265612" cy="166478"/>
          </a:xfrm>
          <a:custGeom>
            <a:avLst/>
            <a:gdLst/>
            <a:ahLst/>
            <a:cxnLst/>
            <a:rect l="l" t="t" r="r" b="b"/>
            <a:pathLst>
              <a:path w="265612" h="166478">
                <a:moveTo>
                  <a:pt x="262915" y="141167"/>
                </a:moveTo>
                <a:lnTo>
                  <a:pt x="259417" y="147106"/>
                </a:lnTo>
                <a:lnTo>
                  <a:pt x="254532" y="152345"/>
                </a:lnTo>
                <a:lnTo>
                  <a:pt x="248313" y="156827"/>
                </a:lnTo>
                <a:lnTo>
                  <a:pt x="240828" y="160502"/>
                </a:lnTo>
                <a:lnTo>
                  <a:pt x="232160" y="163331"/>
                </a:lnTo>
                <a:lnTo>
                  <a:pt x="222404" y="165283"/>
                </a:lnTo>
                <a:lnTo>
                  <a:pt x="211666" y="166336"/>
                </a:lnTo>
                <a:lnTo>
                  <a:pt x="200063" y="166478"/>
                </a:lnTo>
                <a:lnTo>
                  <a:pt x="187724" y="165708"/>
                </a:lnTo>
                <a:lnTo>
                  <a:pt x="174784" y="164035"/>
                </a:lnTo>
                <a:lnTo>
                  <a:pt x="161383" y="161476"/>
                </a:lnTo>
                <a:lnTo>
                  <a:pt x="147669" y="158061"/>
                </a:lnTo>
                <a:lnTo>
                  <a:pt x="133793" y="153825"/>
                </a:lnTo>
                <a:lnTo>
                  <a:pt x="119905" y="148816"/>
                </a:lnTo>
                <a:lnTo>
                  <a:pt x="106159" y="143089"/>
                </a:lnTo>
                <a:lnTo>
                  <a:pt x="92705" y="136706"/>
                </a:lnTo>
                <a:lnTo>
                  <a:pt x="79690" y="129737"/>
                </a:lnTo>
                <a:lnTo>
                  <a:pt x="67257" y="122259"/>
                </a:lnTo>
                <a:lnTo>
                  <a:pt x="55543" y="114353"/>
                </a:lnTo>
                <a:lnTo>
                  <a:pt x="44675" y="106107"/>
                </a:lnTo>
                <a:lnTo>
                  <a:pt x="34772" y="97609"/>
                </a:lnTo>
                <a:lnTo>
                  <a:pt x="25944" y="88955"/>
                </a:lnTo>
                <a:lnTo>
                  <a:pt x="18286" y="80237"/>
                </a:lnTo>
                <a:lnTo>
                  <a:pt x="11883" y="71553"/>
                </a:lnTo>
                <a:lnTo>
                  <a:pt x="6805" y="62997"/>
                </a:lnTo>
                <a:lnTo>
                  <a:pt x="3107" y="54662"/>
                </a:lnTo>
                <a:lnTo>
                  <a:pt x="831" y="46641"/>
                </a:lnTo>
                <a:lnTo>
                  <a:pt x="0" y="39020"/>
                </a:lnTo>
                <a:lnTo>
                  <a:pt x="624" y="31884"/>
                </a:lnTo>
                <a:lnTo>
                  <a:pt x="2697" y="25311"/>
                </a:lnTo>
                <a:lnTo>
                  <a:pt x="6195" y="19372"/>
                </a:lnTo>
                <a:lnTo>
                  <a:pt x="11080" y="14133"/>
                </a:lnTo>
                <a:lnTo>
                  <a:pt x="17299" y="9651"/>
                </a:lnTo>
                <a:lnTo>
                  <a:pt x="24784" y="5976"/>
                </a:lnTo>
                <a:lnTo>
                  <a:pt x="33452" y="3146"/>
                </a:lnTo>
                <a:lnTo>
                  <a:pt x="43208" y="1195"/>
                </a:lnTo>
                <a:lnTo>
                  <a:pt x="53947" y="142"/>
                </a:lnTo>
                <a:lnTo>
                  <a:pt x="65549" y="0"/>
                </a:lnTo>
                <a:lnTo>
                  <a:pt x="77888" y="770"/>
                </a:lnTo>
                <a:lnTo>
                  <a:pt x="90829" y="2443"/>
                </a:lnTo>
                <a:lnTo>
                  <a:pt x="104229" y="5002"/>
                </a:lnTo>
                <a:lnTo>
                  <a:pt x="117943" y="8417"/>
                </a:lnTo>
                <a:lnTo>
                  <a:pt x="131820" y="12653"/>
                </a:lnTo>
                <a:lnTo>
                  <a:pt x="145707" y="17661"/>
                </a:lnTo>
                <a:lnTo>
                  <a:pt x="159453" y="23389"/>
                </a:lnTo>
                <a:lnTo>
                  <a:pt x="172907" y="29772"/>
                </a:lnTo>
                <a:lnTo>
                  <a:pt x="185922" y="36741"/>
                </a:lnTo>
                <a:lnTo>
                  <a:pt x="198355" y="44219"/>
                </a:lnTo>
                <a:lnTo>
                  <a:pt x="210069" y="52125"/>
                </a:lnTo>
                <a:lnTo>
                  <a:pt x="220938" y="60371"/>
                </a:lnTo>
                <a:lnTo>
                  <a:pt x="230840" y="68869"/>
                </a:lnTo>
                <a:lnTo>
                  <a:pt x="239669" y="77523"/>
                </a:lnTo>
                <a:lnTo>
                  <a:pt x="247326" y="86240"/>
                </a:lnTo>
                <a:lnTo>
                  <a:pt x="253729" y="94925"/>
                </a:lnTo>
                <a:lnTo>
                  <a:pt x="258807" y="103481"/>
                </a:lnTo>
                <a:lnTo>
                  <a:pt x="262505" y="111816"/>
                </a:lnTo>
                <a:lnTo>
                  <a:pt x="264782" y="119837"/>
                </a:lnTo>
                <a:lnTo>
                  <a:pt x="265612" y="127458"/>
                </a:lnTo>
                <a:lnTo>
                  <a:pt x="264988" y="134594"/>
                </a:lnTo>
                <a:close/>
              </a:path>
            </a:pathLst>
          </a:custGeom>
          <a:ln w="6350">
            <a:solidFill>
              <a:srgbClr val="4F7A43"/>
            </a:solidFill>
            <a:prstDash val="dash"/>
          </a:ln>
        </p:spPr>
      </p:sp>
      <p:sp>
        <p:nvSpPr>
          <p:cNvPr id="18" name="Shape 16"/>
          <p:cNvSpPr/>
          <p:nvPr/>
        </p:nvSpPr>
        <p:spPr>
          <a:xfrm>
            <a:off x="1780022" y="2904047"/>
            <a:ext cx="41148" cy="41148"/>
          </a:xfrm>
          <a:prstGeom prst="ellipse">
            <a:avLst/>
          </a:prstGeom>
          <a:solidFill>
            <a:srgbClr val="FFFFFF"/>
          </a:solidFill>
          <a:ln w="7620">
            <a:solidFill>
              <a:srgbClr val="4F7A43"/>
            </a:solidFill>
            <a:prstDash val="solid"/>
          </a:ln>
        </p:spPr>
      </p:sp>
      <p:sp>
        <p:nvSpPr>
          <p:cNvPr id="19" name="Shape 17"/>
          <p:cNvSpPr/>
          <p:nvPr/>
        </p:nvSpPr>
        <p:spPr>
          <a:xfrm>
            <a:off x="1726118" y="2963916"/>
            <a:ext cx="41148" cy="41148"/>
          </a:xfrm>
          <a:prstGeom prst="ellipse">
            <a:avLst/>
          </a:prstGeom>
          <a:solidFill>
            <a:srgbClr val="FFFFFF"/>
          </a:solidFill>
          <a:ln w="7620">
            <a:solidFill>
              <a:srgbClr val="4F7A43"/>
            </a:solidFill>
            <a:prstDash val="solid"/>
          </a:ln>
        </p:spPr>
      </p:sp>
      <p:sp>
        <p:nvSpPr>
          <p:cNvPr id="20" name="Shape 18"/>
          <p:cNvSpPr/>
          <p:nvPr/>
        </p:nvSpPr>
        <p:spPr>
          <a:xfrm>
            <a:off x="1631444" y="2998304"/>
            <a:ext cx="41148" cy="41148"/>
          </a:xfrm>
          <a:prstGeom prst="ellipse">
            <a:avLst/>
          </a:prstGeom>
          <a:solidFill>
            <a:srgbClr val="FFFFFF"/>
          </a:solidFill>
          <a:ln w="7620">
            <a:solidFill>
              <a:srgbClr val="4F7A43"/>
            </a:solidFill>
            <a:prstDash val="solid"/>
          </a:ln>
        </p:spPr>
      </p:sp>
      <p:sp>
        <p:nvSpPr>
          <p:cNvPr id="21" name="Shape 19"/>
          <p:cNvSpPr/>
          <p:nvPr/>
        </p:nvSpPr>
        <p:spPr>
          <a:xfrm>
            <a:off x="1504273" y="3004205"/>
            <a:ext cx="41148" cy="41148"/>
          </a:xfrm>
          <a:prstGeom prst="ellipse">
            <a:avLst/>
          </a:prstGeom>
          <a:solidFill>
            <a:srgbClr val="FFFFFF"/>
          </a:solidFill>
          <a:ln w="7620">
            <a:solidFill>
              <a:srgbClr val="4F7A43"/>
            </a:solidFill>
            <a:prstDash val="solid"/>
          </a:ln>
        </p:spPr>
      </p:sp>
      <p:sp>
        <p:nvSpPr>
          <p:cNvPr id="22" name="Shape 20"/>
          <p:cNvSpPr/>
          <p:nvPr/>
        </p:nvSpPr>
        <p:spPr>
          <a:xfrm>
            <a:off x="1355718" y="2981104"/>
            <a:ext cx="41148" cy="41148"/>
          </a:xfrm>
          <a:prstGeom prst="ellipse">
            <a:avLst/>
          </a:prstGeom>
          <a:solidFill>
            <a:srgbClr val="FFFFFF"/>
          </a:solidFill>
          <a:ln w="7620">
            <a:solidFill>
              <a:srgbClr val="4F7A43"/>
            </a:solidFill>
            <a:prstDash val="solid"/>
          </a:ln>
        </p:spPr>
      </p:sp>
      <p:sp>
        <p:nvSpPr>
          <p:cNvPr id="23" name="Shape 21"/>
          <p:cNvSpPr/>
          <p:nvPr/>
        </p:nvSpPr>
        <p:spPr>
          <a:xfrm>
            <a:off x="1198763" y="2931019"/>
            <a:ext cx="41148" cy="41148"/>
          </a:xfrm>
          <a:prstGeom prst="ellipse">
            <a:avLst/>
          </a:prstGeom>
          <a:solidFill>
            <a:srgbClr val="FFFFFF"/>
          </a:solidFill>
          <a:ln w="7620">
            <a:solidFill>
              <a:srgbClr val="4F7A43"/>
            </a:solidFill>
            <a:prstDash val="solid"/>
          </a:ln>
        </p:spPr>
      </p:sp>
      <p:sp>
        <p:nvSpPr>
          <p:cNvPr id="24" name="Shape 22"/>
          <p:cNvSpPr/>
          <p:nvPr/>
        </p:nvSpPr>
        <p:spPr>
          <a:xfrm>
            <a:off x="1047122" y="2858327"/>
            <a:ext cx="41148" cy="41148"/>
          </a:xfrm>
          <a:prstGeom prst="ellipse">
            <a:avLst/>
          </a:prstGeom>
          <a:solidFill>
            <a:srgbClr val="FFFFFF"/>
          </a:solidFill>
          <a:ln w="7620">
            <a:solidFill>
              <a:srgbClr val="4F7A43"/>
            </a:solidFill>
            <a:prstDash val="solid"/>
          </a:ln>
        </p:spPr>
      </p:sp>
      <p:sp>
        <p:nvSpPr>
          <p:cNvPr id="25" name="Shape 23"/>
          <p:cNvSpPr/>
          <p:nvPr/>
        </p:nvSpPr>
        <p:spPr>
          <a:xfrm>
            <a:off x="914049" y="2769382"/>
            <a:ext cx="41148" cy="41148"/>
          </a:xfrm>
          <a:prstGeom prst="ellipse">
            <a:avLst/>
          </a:prstGeom>
          <a:solidFill>
            <a:srgbClr val="FFFFFF"/>
          </a:solidFill>
          <a:ln w="7620">
            <a:solidFill>
              <a:srgbClr val="4F7A43"/>
            </a:solidFill>
            <a:prstDash val="solid"/>
          </a:ln>
        </p:spPr>
      </p:sp>
      <p:sp>
        <p:nvSpPr>
          <p:cNvPr id="26" name="Shape 24"/>
          <p:cNvSpPr/>
          <p:nvPr/>
        </p:nvSpPr>
        <p:spPr>
          <a:xfrm>
            <a:off x="811173" y="2671955"/>
            <a:ext cx="41148" cy="41148"/>
          </a:xfrm>
          <a:prstGeom prst="ellipse">
            <a:avLst/>
          </a:prstGeom>
          <a:solidFill>
            <a:srgbClr val="FFFFFF"/>
          </a:solidFill>
          <a:ln w="7620">
            <a:solidFill>
              <a:srgbClr val="4F7A43"/>
            </a:solidFill>
            <a:prstDash val="solid"/>
          </a:ln>
        </p:spPr>
      </p:sp>
      <p:sp>
        <p:nvSpPr>
          <p:cNvPr id="27" name="Shape 25"/>
          <p:cNvSpPr/>
          <p:nvPr/>
        </p:nvSpPr>
        <p:spPr>
          <a:xfrm>
            <a:off x="747484" y="2574562"/>
            <a:ext cx="41148" cy="41148"/>
          </a:xfrm>
          <a:prstGeom prst="ellipse">
            <a:avLst/>
          </a:prstGeom>
          <a:solidFill>
            <a:srgbClr val="FFFFFF"/>
          </a:solidFill>
          <a:ln w="7620">
            <a:solidFill>
              <a:srgbClr val="4F7A43"/>
            </a:solidFill>
            <a:prstDash val="solid"/>
          </a:ln>
        </p:spPr>
      </p:sp>
      <p:sp>
        <p:nvSpPr>
          <p:cNvPr id="28" name="Shape 26"/>
          <p:cNvSpPr/>
          <p:nvPr/>
        </p:nvSpPr>
        <p:spPr>
          <a:xfrm>
            <a:off x="728547" y="2485713"/>
            <a:ext cx="41148" cy="41148"/>
          </a:xfrm>
          <a:prstGeom prst="ellipse">
            <a:avLst/>
          </a:prstGeom>
          <a:solidFill>
            <a:srgbClr val="FFFFFF"/>
          </a:solidFill>
          <a:ln w="7620">
            <a:solidFill>
              <a:srgbClr val="4F7A43"/>
            </a:solidFill>
            <a:prstDash val="solid"/>
          </a:ln>
        </p:spPr>
      </p:sp>
      <p:sp>
        <p:nvSpPr>
          <p:cNvPr id="29" name="Shape 27"/>
          <p:cNvSpPr/>
          <p:nvPr/>
        </p:nvSpPr>
        <p:spPr>
          <a:xfrm>
            <a:off x="756019" y="2413172"/>
            <a:ext cx="41148" cy="41148"/>
          </a:xfrm>
          <a:prstGeom prst="ellipse">
            <a:avLst/>
          </a:prstGeom>
          <a:solidFill>
            <a:srgbClr val="FFFFFF"/>
          </a:solidFill>
          <a:ln w="7620">
            <a:solidFill>
              <a:srgbClr val="4F7A43"/>
            </a:solidFill>
            <a:prstDash val="solid"/>
          </a:ln>
        </p:spPr>
      </p:sp>
      <p:sp>
        <p:nvSpPr>
          <p:cNvPr id="30" name="Shape 28"/>
          <p:cNvSpPr/>
          <p:nvPr/>
        </p:nvSpPr>
        <p:spPr>
          <a:xfrm>
            <a:off x="827497" y="2363280"/>
            <a:ext cx="41148" cy="41148"/>
          </a:xfrm>
          <a:prstGeom prst="ellipse">
            <a:avLst/>
          </a:prstGeom>
          <a:solidFill>
            <a:srgbClr val="FFFFFF"/>
          </a:solidFill>
          <a:ln w="7620">
            <a:solidFill>
              <a:srgbClr val="4F7A43"/>
            </a:solidFill>
            <a:prstDash val="solid"/>
          </a:ln>
        </p:spPr>
      </p:sp>
      <p:sp>
        <p:nvSpPr>
          <p:cNvPr id="31" name="Shape 29"/>
          <p:cNvSpPr/>
          <p:nvPr/>
        </p:nvSpPr>
        <p:spPr>
          <a:xfrm>
            <a:off x="936736" y="2340397"/>
            <a:ext cx="41148" cy="41148"/>
          </a:xfrm>
          <a:prstGeom prst="ellipse">
            <a:avLst/>
          </a:prstGeom>
          <a:solidFill>
            <a:srgbClr val="FFFFFF"/>
          </a:solidFill>
          <a:ln w="7620">
            <a:solidFill>
              <a:srgbClr val="4F7A43"/>
            </a:solidFill>
            <a:prstDash val="solid"/>
          </a:ln>
        </p:spPr>
      </p:sp>
      <p:sp>
        <p:nvSpPr>
          <p:cNvPr id="32" name="Shape 30"/>
          <p:cNvSpPr/>
          <p:nvPr/>
        </p:nvSpPr>
        <p:spPr>
          <a:xfrm>
            <a:off x="1074189" y="2346521"/>
            <a:ext cx="41148" cy="41148"/>
          </a:xfrm>
          <a:prstGeom prst="ellipse">
            <a:avLst/>
          </a:prstGeom>
          <a:solidFill>
            <a:srgbClr val="FFFFFF"/>
          </a:solidFill>
          <a:ln w="7620">
            <a:solidFill>
              <a:srgbClr val="4F7A43"/>
            </a:solidFill>
            <a:prstDash val="solid"/>
          </a:ln>
        </p:spPr>
      </p:sp>
      <p:sp>
        <p:nvSpPr>
          <p:cNvPr id="33" name="Shape 31"/>
          <p:cNvSpPr/>
          <p:nvPr/>
        </p:nvSpPr>
        <p:spPr>
          <a:xfrm>
            <a:off x="1227843" y="2381119"/>
            <a:ext cx="41148" cy="41148"/>
          </a:xfrm>
          <a:prstGeom prst="ellipse">
            <a:avLst/>
          </a:prstGeom>
          <a:solidFill>
            <a:srgbClr val="FFFFFF"/>
          </a:solidFill>
          <a:ln w="7620">
            <a:solidFill>
              <a:srgbClr val="4F7A43"/>
            </a:solidFill>
            <a:prstDash val="solid"/>
          </a:ln>
        </p:spPr>
      </p:sp>
      <p:sp>
        <p:nvSpPr>
          <p:cNvPr id="34" name="Shape 32"/>
          <p:cNvSpPr/>
          <p:nvPr/>
        </p:nvSpPr>
        <p:spPr>
          <a:xfrm>
            <a:off x="1384272" y="2441166"/>
            <a:ext cx="41148" cy="41148"/>
          </a:xfrm>
          <a:prstGeom prst="ellipse">
            <a:avLst/>
          </a:prstGeom>
          <a:solidFill>
            <a:srgbClr val="FFFFFF"/>
          </a:solidFill>
          <a:ln w="7620">
            <a:solidFill>
              <a:srgbClr val="4F7A43"/>
            </a:solidFill>
            <a:prstDash val="solid"/>
          </a:ln>
        </p:spPr>
      </p:sp>
      <p:sp>
        <p:nvSpPr>
          <p:cNvPr id="35" name="Shape 33"/>
          <p:cNvSpPr/>
          <p:nvPr/>
        </p:nvSpPr>
        <p:spPr>
          <a:xfrm>
            <a:off x="1529804" y="2521415"/>
            <a:ext cx="41148" cy="41148"/>
          </a:xfrm>
          <a:prstGeom prst="ellipse">
            <a:avLst/>
          </a:prstGeom>
          <a:solidFill>
            <a:srgbClr val="FFFFFF"/>
          </a:solidFill>
          <a:ln w="7620">
            <a:solidFill>
              <a:srgbClr val="4F7A43"/>
            </a:solidFill>
            <a:prstDash val="solid"/>
          </a:ln>
        </p:spPr>
      </p:sp>
      <p:sp>
        <p:nvSpPr>
          <p:cNvPr id="36" name="Shape 34"/>
          <p:cNvSpPr/>
          <p:nvPr/>
        </p:nvSpPr>
        <p:spPr>
          <a:xfrm>
            <a:off x="1651722" y="2614852"/>
            <a:ext cx="41148" cy="41148"/>
          </a:xfrm>
          <a:prstGeom prst="ellipse">
            <a:avLst/>
          </a:prstGeom>
          <a:solidFill>
            <a:srgbClr val="FFFFFF"/>
          </a:solidFill>
          <a:ln w="7620">
            <a:solidFill>
              <a:srgbClr val="4F7A43"/>
            </a:solidFill>
            <a:prstDash val="solid"/>
          </a:ln>
        </p:spPr>
      </p:sp>
      <p:sp>
        <p:nvSpPr>
          <p:cNvPr id="37" name="Shape 35"/>
          <p:cNvSpPr/>
          <p:nvPr/>
        </p:nvSpPr>
        <p:spPr>
          <a:xfrm>
            <a:off x="1739371" y="2713313"/>
            <a:ext cx="41148" cy="41148"/>
          </a:xfrm>
          <a:prstGeom prst="ellipse">
            <a:avLst/>
          </a:prstGeom>
          <a:solidFill>
            <a:srgbClr val="FFFFFF"/>
          </a:solidFill>
          <a:ln w="7620">
            <a:solidFill>
              <a:srgbClr val="4F7A43"/>
            </a:solidFill>
            <a:prstDash val="solid"/>
          </a:ln>
        </p:spPr>
      </p:sp>
      <p:sp>
        <p:nvSpPr>
          <p:cNvPr id="38" name="Shape 36"/>
          <p:cNvSpPr/>
          <p:nvPr/>
        </p:nvSpPr>
        <p:spPr>
          <a:xfrm>
            <a:off x="1785091" y="2808193"/>
            <a:ext cx="41148" cy="41148"/>
          </a:xfrm>
          <a:prstGeom prst="ellipse">
            <a:avLst/>
          </a:prstGeom>
          <a:solidFill>
            <a:srgbClr val="FFFFFF"/>
          </a:solidFill>
          <a:ln w="7620">
            <a:solidFill>
              <a:srgbClr val="4F7A43"/>
            </a:solidFill>
            <a:prstDash val="solid"/>
          </a:ln>
        </p:spPr>
      </p:sp>
      <p:sp>
        <p:nvSpPr>
          <p:cNvPr id="39" name="Shape 37"/>
          <p:cNvSpPr/>
          <p:nvPr/>
        </p:nvSpPr>
        <p:spPr>
          <a:xfrm>
            <a:off x="1784887" y="2891200"/>
            <a:ext cx="41148" cy="41148"/>
          </a:xfrm>
          <a:prstGeom prst="ellipse">
            <a:avLst/>
          </a:prstGeom>
          <a:solidFill>
            <a:srgbClr val="FFFFFF"/>
          </a:solidFill>
          <a:ln w="7620">
            <a:solidFill>
              <a:srgbClr val="4F7A43"/>
            </a:solidFill>
            <a:prstDash val="solid"/>
          </a:ln>
        </p:spPr>
      </p:sp>
      <p:sp>
        <p:nvSpPr>
          <p:cNvPr id="40" name="Shape 38"/>
          <p:cNvSpPr/>
          <p:nvPr/>
        </p:nvSpPr>
        <p:spPr>
          <a:xfrm>
            <a:off x="438912" y="1874520"/>
            <a:ext cx="731520" cy="146304"/>
          </a:xfrm>
          <a:prstGeom prst="rect">
            <a:avLst/>
          </a:prstGeom>
          <a:solidFill>
            <a:srgbClr val="FFFFFF"/>
          </a:solidFill>
          <a:ln/>
        </p:spPr>
      </p:sp>
      <p:sp>
        <p:nvSpPr>
          <p:cNvPr id="41" name="Text 39"/>
          <p:cNvSpPr txBox="1"/>
          <p:nvPr/>
        </p:nvSpPr>
        <p:spPr>
          <a:xfrm>
            <a:off x="438912" y="1874520"/>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Egerton / Abbot jn.</a:t>
            </a:r>
            <a:endParaRPr lang="en-US" sz="550" dirty="0"/>
          </a:p>
        </p:txBody>
      </p:sp>
      <p:sp>
        <p:nvSpPr>
          <p:cNvPr id="42" name="Shape 40"/>
          <p:cNvSpPr/>
          <p:nvPr/>
        </p:nvSpPr>
        <p:spPr>
          <a:xfrm>
            <a:off x="1389888" y="3364992"/>
            <a:ext cx="731520" cy="146304"/>
          </a:xfrm>
          <a:prstGeom prst="rect">
            <a:avLst/>
          </a:prstGeom>
          <a:solidFill>
            <a:srgbClr val="FFFFFF"/>
          </a:solidFill>
          <a:ln/>
        </p:spPr>
      </p:sp>
      <p:sp>
        <p:nvSpPr>
          <p:cNvPr id="43" name="Text 41"/>
          <p:cNvSpPr txBox="1"/>
          <p:nvPr/>
        </p:nvSpPr>
        <p:spPr>
          <a:xfrm>
            <a:off x="1389888" y="3364992"/>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Davis / Durand jn.</a:t>
            </a:r>
            <a:endParaRPr lang="en-US" sz="550" dirty="0"/>
          </a:p>
        </p:txBody>
      </p:sp>
      <p:sp>
        <p:nvSpPr>
          <p:cNvPr id="44" name="Shape 42"/>
          <p:cNvSpPr/>
          <p:nvPr/>
        </p:nvSpPr>
        <p:spPr>
          <a:xfrm>
            <a:off x="712716" y="2337251"/>
            <a:ext cx="1134889" cy="711315"/>
          </a:xfrm>
          <a:custGeom>
            <a:avLst/>
            <a:gdLst/>
            <a:ahLst/>
            <a:cxnLst/>
            <a:rect l="l" t="t" r="r" b="b"/>
            <a:pathLst>
              <a:path w="1134889" h="711315">
                <a:moveTo>
                  <a:pt x="1123365" y="603169"/>
                </a:moveTo>
                <a:lnTo>
                  <a:pt x="1108418" y="628544"/>
                </a:lnTo>
                <a:lnTo>
                  <a:pt x="1087545" y="650928"/>
                </a:lnTo>
                <a:lnTo>
                  <a:pt x="1060973" y="670078"/>
                </a:lnTo>
                <a:lnTo>
                  <a:pt x="1028994" y="685783"/>
                </a:lnTo>
                <a:lnTo>
                  <a:pt x="991958" y="697871"/>
                </a:lnTo>
                <a:lnTo>
                  <a:pt x="950271" y="706209"/>
                </a:lnTo>
                <a:lnTo>
                  <a:pt x="904390" y="710707"/>
                </a:lnTo>
                <a:lnTo>
                  <a:pt x="854817" y="711315"/>
                </a:lnTo>
                <a:lnTo>
                  <a:pt x="802095" y="708026"/>
                </a:lnTo>
                <a:lnTo>
                  <a:pt x="746803" y="700876"/>
                </a:lnTo>
                <a:lnTo>
                  <a:pt x="689545" y="689944"/>
                </a:lnTo>
                <a:lnTo>
                  <a:pt x="630950" y="675350"/>
                </a:lnTo>
                <a:lnTo>
                  <a:pt x="571659" y="657253"/>
                </a:lnTo>
                <a:lnTo>
                  <a:pt x="512322" y="635852"/>
                </a:lnTo>
                <a:lnTo>
                  <a:pt x="453589" y="611381"/>
                </a:lnTo>
                <a:lnTo>
                  <a:pt x="396103" y="584108"/>
                </a:lnTo>
                <a:lnTo>
                  <a:pt x="340494" y="554332"/>
                </a:lnTo>
                <a:lnTo>
                  <a:pt x="287372" y="522379"/>
                </a:lnTo>
                <a:lnTo>
                  <a:pt x="237319" y="488600"/>
                </a:lnTo>
                <a:lnTo>
                  <a:pt x="190882" y="453364"/>
                </a:lnTo>
                <a:lnTo>
                  <a:pt x="148571" y="417058"/>
                </a:lnTo>
                <a:lnTo>
                  <a:pt x="110850" y="380079"/>
                </a:lnTo>
                <a:lnTo>
                  <a:pt x="78131" y="342833"/>
                </a:lnTo>
                <a:lnTo>
                  <a:pt x="50773" y="305727"/>
                </a:lnTo>
                <a:lnTo>
                  <a:pt x="29075" y="269168"/>
                </a:lnTo>
                <a:lnTo>
                  <a:pt x="13276" y="233556"/>
                </a:lnTo>
                <a:lnTo>
                  <a:pt x="3549" y="199282"/>
                </a:lnTo>
                <a:lnTo>
                  <a:pt x="0" y="166722"/>
                </a:lnTo>
                <a:lnTo>
                  <a:pt x="2668" y="136232"/>
                </a:lnTo>
                <a:lnTo>
                  <a:pt x="11524" y="108146"/>
                </a:lnTo>
                <a:lnTo>
                  <a:pt x="26470" y="82771"/>
                </a:lnTo>
                <a:lnTo>
                  <a:pt x="47344" y="60386"/>
                </a:lnTo>
                <a:lnTo>
                  <a:pt x="73916" y="41237"/>
                </a:lnTo>
                <a:lnTo>
                  <a:pt x="105895" y="25532"/>
                </a:lnTo>
                <a:lnTo>
                  <a:pt x="142931" y="13444"/>
                </a:lnTo>
                <a:lnTo>
                  <a:pt x="184618" y="5106"/>
                </a:lnTo>
                <a:lnTo>
                  <a:pt x="230499" y="608"/>
                </a:lnTo>
                <a:lnTo>
                  <a:pt x="280072" y="0"/>
                </a:lnTo>
                <a:lnTo>
                  <a:pt x="332793" y="3289"/>
                </a:lnTo>
                <a:lnTo>
                  <a:pt x="388086" y="10438"/>
                </a:lnTo>
                <a:lnTo>
                  <a:pt x="445343" y="21370"/>
                </a:lnTo>
                <a:lnTo>
                  <a:pt x="503938" y="35964"/>
                </a:lnTo>
                <a:lnTo>
                  <a:pt x="563229" y="54061"/>
                </a:lnTo>
                <a:lnTo>
                  <a:pt x="622566" y="75463"/>
                </a:lnTo>
                <a:lnTo>
                  <a:pt x="681300" y="99934"/>
                </a:lnTo>
                <a:lnTo>
                  <a:pt x="738786" y="127207"/>
                </a:lnTo>
                <a:lnTo>
                  <a:pt x="794394" y="156983"/>
                </a:lnTo>
                <a:lnTo>
                  <a:pt x="847516" y="188935"/>
                </a:lnTo>
                <a:lnTo>
                  <a:pt x="897570" y="222714"/>
                </a:lnTo>
                <a:lnTo>
                  <a:pt x="944006" y="257950"/>
                </a:lnTo>
                <a:lnTo>
                  <a:pt x="986317" y="294256"/>
                </a:lnTo>
                <a:lnTo>
                  <a:pt x="1024039" y="331235"/>
                </a:lnTo>
                <a:lnTo>
                  <a:pt x="1056758" y="368482"/>
                </a:lnTo>
                <a:lnTo>
                  <a:pt x="1084116" y="405588"/>
                </a:lnTo>
                <a:lnTo>
                  <a:pt x="1105813" y="442147"/>
                </a:lnTo>
                <a:lnTo>
                  <a:pt x="1121612" y="477758"/>
                </a:lnTo>
                <a:lnTo>
                  <a:pt x="1131339" y="512032"/>
                </a:lnTo>
                <a:lnTo>
                  <a:pt x="1134889" y="544592"/>
                </a:lnTo>
                <a:lnTo>
                  <a:pt x="1132221" y="575083"/>
                </a:lnTo>
                <a:close/>
              </a:path>
            </a:pathLst>
          </a:custGeom>
          <a:ln w="12700">
            <a:solidFill>
              <a:srgbClr val="C4262E"/>
            </a:solidFill>
            <a:prstDash val="dash"/>
          </a:ln>
        </p:spPr>
      </p:sp>
      <p:sp>
        <p:nvSpPr>
          <p:cNvPr id="45" name="Shape 43"/>
          <p:cNvSpPr/>
          <p:nvPr/>
        </p:nvSpPr>
        <p:spPr>
          <a:xfrm>
            <a:off x="594415" y="2775403"/>
            <a:ext cx="777240" cy="146304"/>
          </a:xfrm>
          <a:prstGeom prst="rect">
            <a:avLst/>
          </a:prstGeom>
          <a:solidFill>
            <a:srgbClr val="FFFFFF"/>
          </a:solidFill>
          <a:ln/>
        </p:spPr>
      </p:sp>
      <p:sp>
        <p:nvSpPr>
          <p:cNvPr id="46" name="Text 44"/>
          <p:cNvSpPr txBox="1"/>
          <p:nvPr/>
        </p:nvSpPr>
        <p:spPr>
          <a:xfrm>
            <a:off x="594415" y="2775403"/>
            <a:ext cx="777240" cy="146304"/>
          </a:xfrm>
          <a:prstGeom prst="rect">
            <a:avLst/>
          </a:prstGeom>
          <a:noFill/>
          <a:ln/>
        </p:spPr>
        <p:txBody>
          <a:bodyPr wrap="square" lIns="0" tIns="0" rIns="0" bIns="0" rtlCol="0" anchor="ctr"/>
          <a:lstStyle/>
          <a:p>
            <a:pPr algn="ctr" indent="0" marL="0">
              <a:buNone/>
            </a:pPr>
            <a:r>
              <a:rPr lang="en-US" sz="550" b="1" dirty="0">
                <a:solidFill>
                  <a:srgbClr val="C4262E"/>
                </a:solidFill>
                <a:latin typeface="Arial" pitchFamily="34" charset="0"/>
                <a:ea typeface="Arial" pitchFamily="34" charset="-122"/>
                <a:cs typeface="Arial" pitchFamily="34" charset="-120"/>
              </a:rPr>
              <a:t>flatter margin (toe)</a:t>
            </a:r>
            <a:endParaRPr lang="en-US" sz="550" dirty="0"/>
          </a:p>
        </p:txBody>
      </p:sp>
      <p:sp>
        <p:nvSpPr>
          <p:cNvPr id="47" name="Shape 45"/>
          <p:cNvSpPr/>
          <p:nvPr/>
        </p:nvSpPr>
        <p:spPr>
          <a:xfrm>
            <a:off x="218541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48" name="Shape 46"/>
          <p:cNvSpPr/>
          <p:nvPr/>
        </p:nvSpPr>
        <p:spPr>
          <a:xfrm>
            <a:off x="2286000" y="1627632"/>
            <a:ext cx="1828800" cy="1920240"/>
          </a:xfrm>
          <a:prstGeom prst="rect">
            <a:avLst/>
          </a:prstGeom>
          <a:solidFill>
            <a:srgbClr val="FFFFFF"/>
          </a:solidFill>
          <a:ln w="6350">
            <a:solidFill>
              <a:srgbClr val="D9D9D9"/>
            </a:solidFill>
            <a:prstDash val="solid"/>
          </a:ln>
        </p:spPr>
      </p:sp>
      <p:sp>
        <p:nvSpPr>
          <p:cNvPr id="49" name="Text 47"/>
          <p:cNvSpPr txBox="1"/>
          <p:nvPr/>
        </p:nvSpPr>
        <p:spPr>
          <a:xfrm>
            <a:off x="235915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02  </a:t>
            </a:r>
            <a:pPr indent="0" marL="0">
              <a:buNone/>
            </a:pPr>
            <a:r>
              <a:rPr lang="en-US" sz="750" b="1" spc="50" kern="0" dirty="0">
                <a:solidFill>
                  <a:srgbClr val="1B1B1B"/>
                </a:solidFill>
                <a:latin typeface="Arial" pitchFamily="34" charset="0"/>
                <a:ea typeface="Arial" pitchFamily="34" charset="-122"/>
                <a:cs typeface="Arial" pitchFamily="34" charset="-120"/>
              </a:rPr>
              <a:t>IDEA</a:t>
            </a:r>
            <a:endParaRPr lang="en-US" sz="750" dirty="0"/>
          </a:p>
        </p:txBody>
      </p:sp>
      <p:sp>
        <p:nvSpPr>
          <p:cNvPr id="50" name="Shape 48"/>
          <p:cNvSpPr/>
          <p:nvPr/>
        </p:nvSpPr>
        <p:spPr>
          <a:xfrm>
            <a:off x="247600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51" name="Shape 49"/>
          <p:cNvSpPr/>
          <p:nvPr/>
        </p:nvSpPr>
        <p:spPr>
          <a:xfrm>
            <a:off x="234086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52" name="Shape 50"/>
          <p:cNvSpPr/>
          <p:nvPr/>
        </p:nvSpPr>
        <p:spPr>
          <a:xfrm>
            <a:off x="391008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53" name="Shape 51"/>
          <p:cNvSpPr/>
          <p:nvPr/>
        </p:nvSpPr>
        <p:spPr>
          <a:xfrm>
            <a:off x="259673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54" name="Shape 52"/>
          <p:cNvSpPr/>
          <p:nvPr/>
        </p:nvSpPr>
        <p:spPr>
          <a:xfrm>
            <a:off x="2830958" y="2433218"/>
            <a:ext cx="869276" cy="544837"/>
          </a:xfrm>
          <a:custGeom>
            <a:avLst/>
            <a:gdLst/>
            <a:ahLst/>
            <a:cxnLst/>
            <a:rect l="l" t="t" r="r" b="b"/>
            <a:pathLst>
              <a:path w="869276" h="544837">
                <a:moveTo>
                  <a:pt x="860450" y="462002"/>
                </a:moveTo>
                <a:lnTo>
                  <a:pt x="849001" y="481438"/>
                </a:lnTo>
                <a:lnTo>
                  <a:pt x="833013" y="498583"/>
                </a:lnTo>
                <a:lnTo>
                  <a:pt x="812660" y="513251"/>
                </a:lnTo>
                <a:lnTo>
                  <a:pt x="788166" y="525280"/>
                </a:lnTo>
                <a:lnTo>
                  <a:pt x="759798" y="534539"/>
                </a:lnTo>
                <a:lnTo>
                  <a:pt x="727867" y="540926"/>
                </a:lnTo>
                <a:lnTo>
                  <a:pt x="692724" y="544371"/>
                </a:lnTo>
                <a:lnTo>
                  <a:pt x="654753" y="544837"/>
                </a:lnTo>
                <a:lnTo>
                  <a:pt x="614371" y="542318"/>
                </a:lnTo>
                <a:lnTo>
                  <a:pt x="572019" y="536841"/>
                </a:lnTo>
                <a:lnTo>
                  <a:pt x="528162" y="528468"/>
                </a:lnTo>
                <a:lnTo>
                  <a:pt x="483281" y="517289"/>
                </a:lnTo>
                <a:lnTo>
                  <a:pt x="437867" y="503428"/>
                </a:lnTo>
                <a:lnTo>
                  <a:pt x="392417" y="487036"/>
                </a:lnTo>
                <a:lnTo>
                  <a:pt x="347430" y="468292"/>
                </a:lnTo>
                <a:lnTo>
                  <a:pt x="303398" y="447402"/>
                </a:lnTo>
                <a:lnTo>
                  <a:pt x="260804" y="424595"/>
                </a:lnTo>
                <a:lnTo>
                  <a:pt x="220115" y="400120"/>
                </a:lnTo>
                <a:lnTo>
                  <a:pt x="181776" y="374247"/>
                </a:lnTo>
                <a:lnTo>
                  <a:pt x="146208" y="347258"/>
                </a:lnTo>
                <a:lnTo>
                  <a:pt x="113799" y="319449"/>
                </a:lnTo>
                <a:lnTo>
                  <a:pt x="84906" y="291124"/>
                </a:lnTo>
                <a:lnTo>
                  <a:pt x="59845" y="262595"/>
                </a:lnTo>
                <a:lnTo>
                  <a:pt x="38890" y="234174"/>
                </a:lnTo>
                <a:lnTo>
                  <a:pt x="22270" y="206171"/>
                </a:lnTo>
                <a:lnTo>
                  <a:pt x="10169" y="178894"/>
                </a:lnTo>
                <a:lnTo>
                  <a:pt x="2718" y="152642"/>
                </a:lnTo>
                <a:lnTo>
                  <a:pt x="0" y="127702"/>
                </a:lnTo>
                <a:lnTo>
                  <a:pt x="2044" y="104348"/>
                </a:lnTo>
                <a:lnTo>
                  <a:pt x="8827" y="82835"/>
                </a:lnTo>
                <a:lnTo>
                  <a:pt x="20275" y="63399"/>
                </a:lnTo>
                <a:lnTo>
                  <a:pt x="36263" y="46253"/>
                </a:lnTo>
                <a:lnTo>
                  <a:pt x="56616" y="31586"/>
                </a:lnTo>
                <a:lnTo>
                  <a:pt x="81111" y="19556"/>
                </a:lnTo>
                <a:lnTo>
                  <a:pt x="109479" y="10298"/>
                </a:lnTo>
                <a:lnTo>
                  <a:pt x="141409" y="3911"/>
                </a:lnTo>
                <a:lnTo>
                  <a:pt x="176552" y="466"/>
                </a:lnTo>
                <a:lnTo>
                  <a:pt x="214523" y="0"/>
                </a:lnTo>
                <a:lnTo>
                  <a:pt x="254906" y="2519"/>
                </a:lnTo>
                <a:lnTo>
                  <a:pt x="297257" y="7995"/>
                </a:lnTo>
                <a:lnTo>
                  <a:pt x="341114" y="16369"/>
                </a:lnTo>
                <a:lnTo>
                  <a:pt x="385995" y="27547"/>
                </a:lnTo>
                <a:lnTo>
                  <a:pt x="431410" y="41409"/>
                </a:lnTo>
                <a:lnTo>
                  <a:pt x="476859" y="57801"/>
                </a:lnTo>
                <a:lnTo>
                  <a:pt x="521847" y="76545"/>
                </a:lnTo>
                <a:lnTo>
                  <a:pt x="565878" y="97435"/>
                </a:lnTo>
                <a:lnTo>
                  <a:pt x="608472" y="120242"/>
                </a:lnTo>
                <a:lnTo>
                  <a:pt x="649161" y="144716"/>
                </a:lnTo>
                <a:lnTo>
                  <a:pt x="687500" y="170590"/>
                </a:lnTo>
                <a:lnTo>
                  <a:pt x="723069" y="197579"/>
                </a:lnTo>
                <a:lnTo>
                  <a:pt x="755477" y="225388"/>
                </a:lnTo>
                <a:lnTo>
                  <a:pt x="784370" y="253712"/>
                </a:lnTo>
                <a:lnTo>
                  <a:pt x="809432" y="282242"/>
                </a:lnTo>
                <a:lnTo>
                  <a:pt x="830387" y="310663"/>
                </a:lnTo>
                <a:lnTo>
                  <a:pt x="847006" y="338666"/>
                </a:lnTo>
                <a:lnTo>
                  <a:pt x="859107" y="365943"/>
                </a:lnTo>
                <a:lnTo>
                  <a:pt x="866558" y="392195"/>
                </a:lnTo>
                <a:lnTo>
                  <a:pt x="869276" y="417135"/>
                </a:lnTo>
                <a:lnTo>
                  <a:pt x="867233" y="440489"/>
                </a:lnTo>
                <a:close/>
              </a:path>
            </a:pathLst>
          </a:custGeom>
          <a:ln w="6350">
            <a:solidFill>
              <a:srgbClr val="4F7A43"/>
            </a:solidFill>
            <a:prstDash val="dash"/>
          </a:ln>
        </p:spPr>
      </p:sp>
      <p:sp>
        <p:nvSpPr>
          <p:cNvPr id="55" name="Shape 53"/>
          <p:cNvSpPr/>
          <p:nvPr/>
        </p:nvSpPr>
        <p:spPr>
          <a:xfrm>
            <a:off x="2987911" y="2531592"/>
            <a:ext cx="555371" cy="348090"/>
          </a:xfrm>
          <a:custGeom>
            <a:avLst/>
            <a:gdLst/>
            <a:ahLst/>
            <a:cxnLst/>
            <a:rect l="l" t="t" r="r" b="b"/>
            <a:pathLst>
              <a:path w="555371" h="348090">
                <a:moveTo>
                  <a:pt x="549732" y="295168"/>
                </a:moveTo>
                <a:lnTo>
                  <a:pt x="542417" y="307585"/>
                </a:lnTo>
                <a:lnTo>
                  <a:pt x="532203" y="318539"/>
                </a:lnTo>
                <a:lnTo>
                  <a:pt x="519200" y="327910"/>
                </a:lnTo>
                <a:lnTo>
                  <a:pt x="503550" y="335596"/>
                </a:lnTo>
                <a:lnTo>
                  <a:pt x="485426" y="341511"/>
                </a:lnTo>
                <a:lnTo>
                  <a:pt x="465026" y="345592"/>
                </a:lnTo>
                <a:lnTo>
                  <a:pt x="442574" y="347793"/>
                </a:lnTo>
                <a:lnTo>
                  <a:pt x="418315" y="348090"/>
                </a:lnTo>
                <a:lnTo>
                  <a:pt x="392515" y="346481"/>
                </a:lnTo>
                <a:lnTo>
                  <a:pt x="365457" y="342982"/>
                </a:lnTo>
                <a:lnTo>
                  <a:pt x="337437" y="337632"/>
                </a:lnTo>
                <a:lnTo>
                  <a:pt x="308763" y="330490"/>
                </a:lnTo>
                <a:lnTo>
                  <a:pt x="279748" y="321635"/>
                </a:lnTo>
                <a:lnTo>
                  <a:pt x="250711" y="311162"/>
                </a:lnTo>
                <a:lnTo>
                  <a:pt x="221969" y="299186"/>
                </a:lnTo>
                <a:lnTo>
                  <a:pt x="193838" y="285840"/>
                </a:lnTo>
                <a:lnTo>
                  <a:pt x="166625" y="271269"/>
                </a:lnTo>
                <a:lnTo>
                  <a:pt x="140629" y="255632"/>
                </a:lnTo>
                <a:lnTo>
                  <a:pt x="116135" y="239102"/>
                </a:lnTo>
                <a:lnTo>
                  <a:pt x="93410" y="221859"/>
                </a:lnTo>
                <a:lnTo>
                  <a:pt x="72705" y="204092"/>
                </a:lnTo>
                <a:lnTo>
                  <a:pt x="54246" y="185996"/>
                </a:lnTo>
                <a:lnTo>
                  <a:pt x="38234" y="167769"/>
                </a:lnTo>
                <a:lnTo>
                  <a:pt x="24846" y="149611"/>
                </a:lnTo>
                <a:lnTo>
                  <a:pt x="14228" y="131720"/>
                </a:lnTo>
                <a:lnTo>
                  <a:pt x="6497" y="114293"/>
                </a:lnTo>
                <a:lnTo>
                  <a:pt x="1737" y="97521"/>
                </a:lnTo>
                <a:lnTo>
                  <a:pt x="0" y="81587"/>
                </a:lnTo>
                <a:lnTo>
                  <a:pt x="1306" y="66667"/>
                </a:lnTo>
                <a:lnTo>
                  <a:pt x="5639" y="52922"/>
                </a:lnTo>
                <a:lnTo>
                  <a:pt x="12954" y="40505"/>
                </a:lnTo>
                <a:lnTo>
                  <a:pt x="23168" y="29551"/>
                </a:lnTo>
                <a:lnTo>
                  <a:pt x="36171" y="20180"/>
                </a:lnTo>
                <a:lnTo>
                  <a:pt x="51821" y="12494"/>
                </a:lnTo>
                <a:lnTo>
                  <a:pt x="69945" y="6579"/>
                </a:lnTo>
                <a:lnTo>
                  <a:pt x="90345" y="2498"/>
                </a:lnTo>
                <a:lnTo>
                  <a:pt x="112797" y="297"/>
                </a:lnTo>
                <a:lnTo>
                  <a:pt x="137056" y="0"/>
                </a:lnTo>
                <a:lnTo>
                  <a:pt x="162856" y="1609"/>
                </a:lnTo>
                <a:lnTo>
                  <a:pt x="189914" y="5108"/>
                </a:lnTo>
                <a:lnTo>
                  <a:pt x="217934" y="10458"/>
                </a:lnTo>
                <a:lnTo>
                  <a:pt x="246608" y="17600"/>
                </a:lnTo>
                <a:lnTo>
                  <a:pt x="275623" y="26456"/>
                </a:lnTo>
                <a:lnTo>
                  <a:pt x="304660" y="36929"/>
                </a:lnTo>
                <a:lnTo>
                  <a:pt x="333402" y="48904"/>
                </a:lnTo>
                <a:lnTo>
                  <a:pt x="361533" y="62250"/>
                </a:lnTo>
                <a:lnTo>
                  <a:pt x="388746" y="76821"/>
                </a:lnTo>
                <a:lnTo>
                  <a:pt x="414742" y="92458"/>
                </a:lnTo>
                <a:lnTo>
                  <a:pt x="439236" y="108988"/>
                </a:lnTo>
                <a:lnTo>
                  <a:pt x="461961" y="126231"/>
                </a:lnTo>
                <a:lnTo>
                  <a:pt x="482666" y="143998"/>
                </a:lnTo>
                <a:lnTo>
                  <a:pt x="501125" y="162094"/>
                </a:lnTo>
                <a:lnTo>
                  <a:pt x="517137" y="180321"/>
                </a:lnTo>
                <a:lnTo>
                  <a:pt x="530525" y="198479"/>
                </a:lnTo>
                <a:lnTo>
                  <a:pt x="541143" y="216370"/>
                </a:lnTo>
                <a:lnTo>
                  <a:pt x="548874" y="233797"/>
                </a:lnTo>
                <a:lnTo>
                  <a:pt x="553634" y="250569"/>
                </a:lnTo>
                <a:lnTo>
                  <a:pt x="555371" y="266503"/>
                </a:lnTo>
                <a:lnTo>
                  <a:pt x="554065" y="281424"/>
                </a:lnTo>
                <a:close/>
              </a:path>
            </a:pathLst>
          </a:custGeom>
          <a:ln w="6350">
            <a:solidFill>
              <a:srgbClr val="4F7A43"/>
            </a:solidFill>
            <a:prstDash val="dash"/>
          </a:ln>
        </p:spPr>
      </p:sp>
      <p:sp>
        <p:nvSpPr>
          <p:cNvPr id="56" name="Shape 54"/>
          <p:cNvSpPr/>
          <p:nvPr/>
        </p:nvSpPr>
        <p:spPr>
          <a:xfrm>
            <a:off x="3132791" y="2622398"/>
            <a:ext cx="265612" cy="166478"/>
          </a:xfrm>
          <a:custGeom>
            <a:avLst/>
            <a:gdLst/>
            <a:ahLst/>
            <a:cxnLst/>
            <a:rect l="l" t="t" r="r" b="b"/>
            <a:pathLst>
              <a:path w="265612" h="166478">
                <a:moveTo>
                  <a:pt x="262915" y="141167"/>
                </a:moveTo>
                <a:lnTo>
                  <a:pt x="259417" y="147106"/>
                </a:lnTo>
                <a:lnTo>
                  <a:pt x="254532" y="152345"/>
                </a:lnTo>
                <a:lnTo>
                  <a:pt x="248313" y="156827"/>
                </a:lnTo>
                <a:lnTo>
                  <a:pt x="240828" y="160502"/>
                </a:lnTo>
                <a:lnTo>
                  <a:pt x="232160" y="163331"/>
                </a:lnTo>
                <a:lnTo>
                  <a:pt x="222404" y="165283"/>
                </a:lnTo>
                <a:lnTo>
                  <a:pt x="211666" y="166336"/>
                </a:lnTo>
                <a:lnTo>
                  <a:pt x="200063" y="166478"/>
                </a:lnTo>
                <a:lnTo>
                  <a:pt x="187724" y="165708"/>
                </a:lnTo>
                <a:lnTo>
                  <a:pt x="174784" y="164035"/>
                </a:lnTo>
                <a:lnTo>
                  <a:pt x="161383" y="161476"/>
                </a:lnTo>
                <a:lnTo>
                  <a:pt x="147669" y="158061"/>
                </a:lnTo>
                <a:lnTo>
                  <a:pt x="133793" y="153825"/>
                </a:lnTo>
                <a:lnTo>
                  <a:pt x="119905" y="148816"/>
                </a:lnTo>
                <a:lnTo>
                  <a:pt x="106159" y="143089"/>
                </a:lnTo>
                <a:lnTo>
                  <a:pt x="92705" y="136706"/>
                </a:lnTo>
                <a:lnTo>
                  <a:pt x="79690" y="129737"/>
                </a:lnTo>
                <a:lnTo>
                  <a:pt x="67257" y="122259"/>
                </a:lnTo>
                <a:lnTo>
                  <a:pt x="55543" y="114353"/>
                </a:lnTo>
                <a:lnTo>
                  <a:pt x="44675" y="106107"/>
                </a:lnTo>
                <a:lnTo>
                  <a:pt x="34772" y="97609"/>
                </a:lnTo>
                <a:lnTo>
                  <a:pt x="25944" y="88955"/>
                </a:lnTo>
                <a:lnTo>
                  <a:pt x="18286" y="80237"/>
                </a:lnTo>
                <a:lnTo>
                  <a:pt x="11883" y="71553"/>
                </a:lnTo>
                <a:lnTo>
                  <a:pt x="6805" y="62997"/>
                </a:lnTo>
                <a:lnTo>
                  <a:pt x="3107" y="54662"/>
                </a:lnTo>
                <a:lnTo>
                  <a:pt x="831" y="46641"/>
                </a:lnTo>
                <a:lnTo>
                  <a:pt x="0" y="39020"/>
                </a:lnTo>
                <a:lnTo>
                  <a:pt x="624" y="31884"/>
                </a:lnTo>
                <a:lnTo>
                  <a:pt x="2697" y="25311"/>
                </a:lnTo>
                <a:lnTo>
                  <a:pt x="6195" y="19372"/>
                </a:lnTo>
                <a:lnTo>
                  <a:pt x="11080" y="14133"/>
                </a:lnTo>
                <a:lnTo>
                  <a:pt x="17299" y="9651"/>
                </a:lnTo>
                <a:lnTo>
                  <a:pt x="24784" y="5976"/>
                </a:lnTo>
                <a:lnTo>
                  <a:pt x="33452" y="3146"/>
                </a:lnTo>
                <a:lnTo>
                  <a:pt x="43208" y="1195"/>
                </a:lnTo>
                <a:lnTo>
                  <a:pt x="53947" y="142"/>
                </a:lnTo>
                <a:lnTo>
                  <a:pt x="65549" y="0"/>
                </a:lnTo>
                <a:lnTo>
                  <a:pt x="77888" y="770"/>
                </a:lnTo>
                <a:lnTo>
                  <a:pt x="90829" y="2443"/>
                </a:lnTo>
                <a:lnTo>
                  <a:pt x="104229" y="5002"/>
                </a:lnTo>
                <a:lnTo>
                  <a:pt x="117943" y="8417"/>
                </a:lnTo>
                <a:lnTo>
                  <a:pt x="131820" y="12653"/>
                </a:lnTo>
                <a:lnTo>
                  <a:pt x="145707" y="17661"/>
                </a:lnTo>
                <a:lnTo>
                  <a:pt x="159453" y="23389"/>
                </a:lnTo>
                <a:lnTo>
                  <a:pt x="172907" y="29772"/>
                </a:lnTo>
                <a:lnTo>
                  <a:pt x="185922" y="36741"/>
                </a:lnTo>
                <a:lnTo>
                  <a:pt x="198355" y="44219"/>
                </a:lnTo>
                <a:lnTo>
                  <a:pt x="210069" y="52125"/>
                </a:lnTo>
                <a:lnTo>
                  <a:pt x="220938" y="60371"/>
                </a:lnTo>
                <a:lnTo>
                  <a:pt x="230840" y="68869"/>
                </a:lnTo>
                <a:lnTo>
                  <a:pt x="239669" y="77523"/>
                </a:lnTo>
                <a:lnTo>
                  <a:pt x="247326" y="86240"/>
                </a:lnTo>
                <a:lnTo>
                  <a:pt x="253729" y="94925"/>
                </a:lnTo>
                <a:lnTo>
                  <a:pt x="258807" y="103481"/>
                </a:lnTo>
                <a:lnTo>
                  <a:pt x="262505" y="111816"/>
                </a:lnTo>
                <a:lnTo>
                  <a:pt x="264782" y="119837"/>
                </a:lnTo>
                <a:lnTo>
                  <a:pt x="265612" y="127458"/>
                </a:lnTo>
                <a:lnTo>
                  <a:pt x="264988" y="134594"/>
                </a:lnTo>
                <a:close/>
              </a:path>
            </a:pathLst>
          </a:custGeom>
          <a:ln w="6350">
            <a:solidFill>
              <a:srgbClr val="4F7A43"/>
            </a:solidFill>
            <a:prstDash val="dash"/>
          </a:ln>
        </p:spPr>
      </p:sp>
      <p:sp>
        <p:nvSpPr>
          <p:cNvPr id="57" name="Shape 55"/>
          <p:cNvSpPr/>
          <p:nvPr/>
        </p:nvSpPr>
        <p:spPr>
          <a:xfrm>
            <a:off x="2645036" y="2549329"/>
            <a:ext cx="1033674" cy="495452"/>
          </a:xfrm>
          <a:custGeom>
            <a:avLst/>
            <a:gdLst/>
            <a:ahLst/>
            <a:cxnLst/>
            <a:rect l="l" t="t" r="r" b="b"/>
            <a:pathLst>
              <a:path w="1033674" h="495452">
                <a:moveTo>
                  <a:pt x="1033674" y="460221"/>
                </a:moveTo>
                <a:lnTo>
                  <a:pt x="994284" y="476628"/>
                </a:lnTo>
                <a:lnTo>
                  <a:pt x="948350" y="488070"/>
                </a:lnTo>
                <a:lnTo>
                  <a:pt x="896558" y="494376"/>
                </a:lnTo>
                <a:lnTo>
                  <a:pt x="839679" y="495452"/>
                </a:lnTo>
                <a:lnTo>
                  <a:pt x="778562" y="491283"/>
                </a:lnTo>
                <a:lnTo>
                  <a:pt x="714117" y="481931"/>
                </a:lnTo>
                <a:lnTo>
                  <a:pt x="647306" y="467534"/>
                </a:lnTo>
                <a:lnTo>
                  <a:pt x="579124" y="448308"/>
                </a:lnTo>
                <a:lnTo>
                  <a:pt x="510588" y="424539"/>
                </a:lnTo>
                <a:lnTo>
                  <a:pt x="442719" y="396582"/>
                </a:lnTo>
                <a:lnTo>
                  <a:pt x="376530" y="364853"/>
                </a:lnTo>
                <a:lnTo>
                  <a:pt x="313007" y="329825"/>
                </a:lnTo>
                <a:lnTo>
                  <a:pt x="253097" y="292021"/>
                </a:lnTo>
                <a:lnTo>
                  <a:pt x="197692" y="252003"/>
                </a:lnTo>
                <a:lnTo>
                  <a:pt x="147620" y="210370"/>
                </a:lnTo>
                <a:lnTo>
                  <a:pt x="103627" y="167741"/>
                </a:lnTo>
                <a:lnTo>
                  <a:pt x="66367" y="124751"/>
                </a:lnTo>
                <a:lnTo>
                  <a:pt x="36398" y="82042"/>
                </a:lnTo>
                <a:lnTo>
                  <a:pt x="14165" y="40251"/>
                </a:lnTo>
                <a:lnTo>
                  <a:pt x="0" y="0"/>
                </a:lnTo>
              </a:path>
            </a:pathLst>
          </a:custGeom>
          <a:ln w="88900">
            <a:solidFill>
              <a:srgbClr val="1B1B1B"/>
            </a:solidFill>
            <a:prstDash val="solid"/>
          </a:ln>
        </p:spPr>
      </p:sp>
      <p:sp>
        <p:nvSpPr>
          <p:cNvPr id="58" name="Shape 56"/>
          <p:cNvSpPr/>
          <p:nvPr/>
        </p:nvSpPr>
        <p:spPr>
          <a:xfrm>
            <a:off x="2722089" y="2341034"/>
            <a:ext cx="1033674" cy="495452"/>
          </a:xfrm>
          <a:custGeom>
            <a:avLst/>
            <a:gdLst/>
            <a:ahLst/>
            <a:cxnLst/>
            <a:rect l="l" t="t" r="r" b="b"/>
            <a:pathLst>
              <a:path w="1033674" h="495452">
                <a:moveTo>
                  <a:pt x="0" y="35231"/>
                </a:moveTo>
                <a:lnTo>
                  <a:pt x="39390" y="18824"/>
                </a:lnTo>
                <a:lnTo>
                  <a:pt x="85324" y="7383"/>
                </a:lnTo>
                <a:lnTo>
                  <a:pt x="137117" y="1077"/>
                </a:lnTo>
                <a:lnTo>
                  <a:pt x="193995" y="0"/>
                </a:lnTo>
                <a:lnTo>
                  <a:pt x="255112" y="4169"/>
                </a:lnTo>
                <a:lnTo>
                  <a:pt x="319557" y="13522"/>
                </a:lnTo>
                <a:lnTo>
                  <a:pt x="386368" y="27918"/>
                </a:lnTo>
                <a:lnTo>
                  <a:pt x="454550" y="47144"/>
                </a:lnTo>
                <a:lnTo>
                  <a:pt x="523086" y="70913"/>
                </a:lnTo>
                <a:lnTo>
                  <a:pt x="590955" y="98871"/>
                </a:lnTo>
                <a:lnTo>
                  <a:pt x="657144" y="130600"/>
                </a:lnTo>
                <a:lnTo>
                  <a:pt x="720667" y="165627"/>
                </a:lnTo>
                <a:lnTo>
                  <a:pt x="780578" y="203432"/>
                </a:lnTo>
                <a:lnTo>
                  <a:pt x="835982" y="243449"/>
                </a:lnTo>
                <a:lnTo>
                  <a:pt x="886054" y="285082"/>
                </a:lnTo>
                <a:lnTo>
                  <a:pt x="930048" y="327712"/>
                </a:lnTo>
                <a:lnTo>
                  <a:pt x="967307" y="370701"/>
                </a:lnTo>
                <a:lnTo>
                  <a:pt x="997276" y="413410"/>
                </a:lnTo>
                <a:lnTo>
                  <a:pt x="1019509" y="455201"/>
                </a:lnTo>
                <a:lnTo>
                  <a:pt x="1033674" y="495452"/>
                </a:lnTo>
              </a:path>
            </a:pathLst>
          </a:custGeom>
          <a:ln w="88900">
            <a:solidFill>
              <a:srgbClr val="1B1B1B"/>
            </a:solidFill>
            <a:prstDash val="solid"/>
          </a:ln>
        </p:spPr>
      </p:sp>
      <p:sp>
        <p:nvSpPr>
          <p:cNvPr id="59" name="Shape 57"/>
          <p:cNvSpPr/>
          <p:nvPr/>
        </p:nvSpPr>
        <p:spPr>
          <a:xfrm>
            <a:off x="2431574" y="2350604"/>
            <a:ext cx="502694" cy="223814"/>
          </a:xfrm>
          <a:custGeom>
            <a:avLst/>
            <a:gdLst/>
            <a:ahLst/>
            <a:cxnLst/>
            <a:rect l="l" t="t" r="r" b="b"/>
            <a:pathLst>
              <a:path w="502694" h="223814">
                <a:moveTo>
                  <a:pt x="0" y="0"/>
                </a:moveTo>
                <a:lnTo>
                  <a:pt x="502694" y="223814"/>
                </a:lnTo>
              </a:path>
            </a:pathLst>
          </a:custGeom>
          <a:ln w="19050">
            <a:solidFill>
              <a:srgbClr val="C4262E"/>
            </a:solidFill>
            <a:prstDash val="solid"/>
            <a:tailEnd type="triangle"/>
          </a:ln>
        </p:spPr>
      </p:sp>
      <p:sp>
        <p:nvSpPr>
          <p:cNvPr id="60" name="Shape 58"/>
          <p:cNvSpPr/>
          <p:nvPr/>
        </p:nvSpPr>
        <p:spPr>
          <a:xfrm>
            <a:off x="3525673" y="2837729"/>
            <a:ext cx="443554" cy="197483"/>
          </a:xfrm>
          <a:custGeom>
            <a:avLst/>
            <a:gdLst/>
            <a:ahLst/>
            <a:cxnLst/>
            <a:rect l="l" t="t" r="r" b="b"/>
            <a:pathLst>
              <a:path w="443554" h="197483">
                <a:moveTo>
                  <a:pt x="443554" y="197483"/>
                </a:moveTo>
                <a:lnTo>
                  <a:pt x="0" y="0"/>
                </a:lnTo>
              </a:path>
            </a:pathLst>
          </a:custGeom>
          <a:ln w="19050">
            <a:solidFill>
              <a:srgbClr val="C4262E"/>
            </a:solidFill>
            <a:prstDash val="solid"/>
            <a:tailEnd type="triangle"/>
          </a:ln>
        </p:spPr>
      </p:sp>
      <p:sp>
        <p:nvSpPr>
          <p:cNvPr id="61" name="Shape 59"/>
          <p:cNvSpPr/>
          <p:nvPr/>
        </p:nvSpPr>
        <p:spPr>
          <a:xfrm>
            <a:off x="2955650" y="2632922"/>
            <a:ext cx="548640" cy="146304"/>
          </a:xfrm>
          <a:prstGeom prst="rect">
            <a:avLst/>
          </a:prstGeom>
          <a:solidFill>
            <a:srgbClr val="FFFFFF"/>
          </a:solidFill>
          <a:ln/>
        </p:spPr>
      </p:sp>
      <p:sp>
        <p:nvSpPr>
          <p:cNvPr id="62" name="Text 60"/>
          <p:cNvSpPr txBox="1"/>
          <p:nvPr/>
        </p:nvSpPr>
        <p:spPr>
          <a:xfrm>
            <a:off x="2955650" y="2632922"/>
            <a:ext cx="548640" cy="146304"/>
          </a:xfrm>
          <a:prstGeom prst="rect">
            <a:avLst/>
          </a:prstGeom>
          <a:noFill/>
          <a:ln/>
        </p:spPr>
        <p:txBody>
          <a:bodyPr wrap="square" lIns="0" tIns="0" rIns="0" bIns="0" rtlCol="0" anchor="ctr"/>
          <a:lstStyle/>
          <a:p>
            <a:pPr algn="ctr" indent="0" marL="0">
              <a:buNone/>
            </a:pPr>
            <a:r>
              <a:rPr lang="en-US" sz="550" b="1" dirty="0">
                <a:solidFill>
                  <a:srgbClr val="4F7A43"/>
                </a:solidFill>
                <a:latin typeface="Arial" pitchFamily="34" charset="0"/>
                <a:ea typeface="Arial" pitchFamily="34" charset="-122"/>
                <a:cs typeface="Arial" pitchFamily="34" charset="-120"/>
              </a:rPr>
              <a:t>OPEN HILL</a:t>
            </a:r>
            <a:endParaRPr lang="en-US" sz="550" dirty="0"/>
          </a:p>
        </p:txBody>
      </p:sp>
      <p:sp>
        <p:nvSpPr>
          <p:cNvPr id="63" name="Shape 61"/>
          <p:cNvSpPr/>
          <p:nvPr/>
        </p:nvSpPr>
        <p:spPr>
          <a:xfrm>
            <a:off x="410565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64" name="Shape 62"/>
          <p:cNvSpPr/>
          <p:nvPr/>
        </p:nvSpPr>
        <p:spPr>
          <a:xfrm>
            <a:off x="4206240" y="1627632"/>
            <a:ext cx="1828800" cy="1920240"/>
          </a:xfrm>
          <a:prstGeom prst="rect">
            <a:avLst/>
          </a:prstGeom>
          <a:solidFill>
            <a:srgbClr val="FFFFFF"/>
          </a:solidFill>
          <a:ln w="6350">
            <a:solidFill>
              <a:srgbClr val="D9D9D9"/>
            </a:solidFill>
            <a:prstDash val="solid"/>
          </a:ln>
        </p:spPr>
      </p:sp>
      <p:sp>
        <p:nvSpPr>
          <p:cNvPr id="65" name="Text 63"/>
          <p:cNvSpPr txBox="1"/>
          <p:nvPr/>
        </p:nvSpPr>
        <p:spPr>
          <a:xfrm>
            <a:off x="427939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03  </a:t>
            </a:r>
            <a:pPr indent="0" marL="0">
              <a:buNone/>
            </a:pPr>
            <a:r>
              <a:rPr lang="en-US" sz="750" b="1" spc="50" kern="0" dirty="0">
                <a:solidFill>
                  <a:srgbClr val="1B1B1B"/>
                </a:solidFill>
                <a:latin typeface="Arial" pitchFamily="34" charset="0"/>
                <a:ea typeface="Arial" pitchFamily="34" charset="-122"/>
                <a:cs typeface="Arial" pitchFamily="34" charset="-120"/>
              </a:rPr>
              <a:t>PROGRAM</a:t>
            </a:r>
            <a:endParaRPr lang="en-US" sz="750" dirty="0"/>
          </a:p>
        </p:txBody>
      </p:sp>
      <p:sp>
        <p:nvSpPr>
          <p:cNvPr id="66" name="Shape 64"/>
          <p:cNvSpPr/>
          <p:nvPr/>
        </p:nvSpPr>
        <p:spPr>
          <a:xfrm>
            <a:off x="439624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67" name="Shape 65"/>
          <p:cNvSpPr/>
          <p:nvPr/>
        </p:nvSpPr>
        <p:spPr>
          <a:xfrm>
            <a:off x="426110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68" name="Shape 66"/>
          <p:cNvSpPr/>
          <p:nvPr/>
        </p:nvSpPr>
        <p:spPr>
          <a:xfrm>
            <a:off x="583032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69" name="Shape 67"/>
          <p:cNvSpPr/>
          <p:nvPr/>
        </p:nvSpPr>
        <p:spPr>
          <a:xfrm>
            <a:off x="451697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70" name="Shape 68"/>
          <p:cNvSpPr/>
          <p:nvPr/>
        </p:nvSpPr>
        <p:spPr>
          <a:xfrm>
            <a:off x="5202902" y="2994925"/>
            <a:ext cx="419849" cy="50061"/>
          </a:xfrm>
          <a:custGeom>
            <a:avLst/>
            <a:gdLst/>
            <a:ahLst/>
            <a:cxnLst/>
            <a:rect l="l" t="t" r="r" b="b"/>
            <a:pathLst>
              <a:path w="419849" h="50061">
                <a:moveTo>
                  <a:pt x="419849" y="0"/>
                </a:moveTo>
                <a:lnTo>
                  <a:pt x="407220" y="8336"/>
                </a:lnTo>
                <a:lnTo>
                  <a:pt x="393465" y="15958"/>
                </a:lnTo>
                <a:lnTo>
                  <a:pt x="378613" y="22847"/>
                </a:lnTo>
                <a:lnTo>
                  <a:pt x="362700" y="28988"/>
                </a:lnTo>
                <a:lnTo>
                  <a:pt x="345762" y="34367"/>
                </a:lnTo>
                <a:lnTo>
                  <a:pt x="327839" y="38970"/>
                </a:lnTo>
                <a:lnTo>
                  <a:pt x="308971" y="42789"/>
                </a:lnTo>
                <a:lnTo>
                  <a:pt x="289201" y="45813"/>
                </a:lnTo>
                <a:lnTo>
                  <a:pt x="268577" y="48036"/>
                </a:lnTo>
                <a:lnTo>
                  <a:pt x="247144" y="49453"/>
                </a:lnTo>
                <a:lnTo>
                  <a:pt x="224952" y="50061"/>
                </a:lnTo>
                <a:lnTo>
                  <a:pt x="202053" y="49857"/>
                </a:lnTo>
                <a:lnTo>
                  <a:pt x="178499" y="48843"/>
                </a:lnTo>
                <a:lnTo>
                  <a:pt x="154344" y="47021"/>
                </a:lnTo>
                <a:lnTo>
                  <a:pt x="129645" y="44395"/>
                </a:lnTo>
                <a:lnTo>
                  <a:pt x="104457" y="40971"/>
                </a:lnTo>
                <a:lnTo>
                  <a:pt x="78839" y="36757"/>
                </a:lnTo>
                <a:lnTo>
                  <a:pt x="52851" y="31763"/>
                </a:lnTo>
                <a:lnTo>
                  <a:pt x="26551" y="26000"/>
                </a:lnTo>
                <a:lnTo>
                  <a:pt x="0" y="19482"/>
                </a:lnTo>
              </a:path>
            </a:pathLst>
          </a:custGeom>
          <a:ln w="88900">
            <a:solidFill>
              <a:srgbClr val="C4262E"/>
            </a:solidFill>
            <a:prstDash val="solid"/>
          </a:ln>
        </p:spPr>
      </p:sp>
      <p:sp>
        <p:nvSpPr>
          <p:cNvPr id="71" name="Shape 69"/>
          <p:cNvSpPr/>
          <p:nvPr/>
        </p:nvSpPr>
        <p:spPr>
          <a:xfrm>
            <a:off x="5036206" y="2854069"/>
            <a:ext cx="608076" cy="146304"/>
          </a:xfrm>
          <a:prstGeom prst="rect">
            <a:avLst/>
          </a:prstGeom>
          <a:solidFill>
            <a:srgbClr val="FFFFFF"/>
          </a:solidFill>
          <a:ln/>
        </p:spPr>
      </p:sp>
      <p:sp>
        <p:nvSpPr>
          <p:cNvPr id="72" name="Text 70"/>
          <p:cNvSpPr txBox="1"/>
          <p:nvPr/>
        </p:nvSpPr>
        <p:spPr>
          <a:xfrm>
            <a:off x="5036206" y="2854069"/>
            <a:ext cx="608076"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FORUM · PRESS</a:t>
            </a:r>
            <a:endParaRPr lang="en-US" sz="550" dirty="0"/>
          </a:p>
        </p:txBody>
      </p:sp>
      <p:sp>
        <p:nvSpPr>
          <p:cNvPr id="73" name="Shape 71"/>
          <p:cNvSpPr/>
          <p:nvPr/>
        </p:nvSpPr>
        <p:spPr>
          <a:xfrm>
            <a:off x="4565276" y="2549329"/>
            <a:ext cx="539938" cy="435261"/>
          </a:xfrm>
          <a:custGeom>
            <a:avLst/>
            <a:gdLst/>
            <a:ahLst/>
            <a:cxnLst/>
            <a:rect l="l" t="t" r="r" b="b"/>
            <a:pathLst>
              <a:path w="539938" h="435261">
                <a:moveTo>
                  <a:pt x="539938" y="435261"/>
                </a:moveTo>
                <a:lnTo>
                  <a:pt x="500828" y="420792"/>
                </a:lnTo>
                <a:lnTo>
                  <a:pt x="461983" y="404974"/>
                </a:lnTo>
                <a:lnTo>
                  <a:pt x="423593" y="387881"/>
                </a:lnTo>
                <a:lnTo>
                  <a:pt x="385845" y="369599"/>
                </a:lnTo>
                <a:lnTo>
                  <a:pt x="348923" y="350215"/>
                </a:lnTo>
                <a:lnTo>
                  <a:pt x="313007" y="329825"/>
                </a:lnTo>
                <a:lnTo>
                  <a:pt x="278271" y="308527"/>
                </a:lnTo>
                <a:lnTo>
                  <a:pt x="244886" y="286426"/>
                </a:lnTo>
                <a:lnTo>
                  <a:pt x="213013" y="263628"/>
                </a:lnTo>
                <a:lnTo>
                  <a:pt x="182808" y="240246"/>
                </a:lnTo>
                <a:lnTo>
                  <a:pt x="154418" y="216393"/>
                </a:lnTo>
                <a:lnTo>
                  <a:pt x="127981" y="192185"/>
                </a:lnTo>
                <a:lnTo>
                  <a:pt x="103627" y="167741"/>
                </a:lnTo>
                <a:lnTo>
                  <a:pt x="81473" y="143178"/>
                </a:lnTo>
                <a:lnTo>
                  <a:pt x="61628" y="118618"/>
                </a:lnTo>
                <a:lnTo>
                  <a:pt x="44188" y="94179"/>
                </a:lnTo>
                <a:lnTo>
                  <a:pt x="29239" y="69981"/>
                </a:lnTo>
                <a:lnTo>
                  <a:pt x="16853" y="46141"/>
                </a:lnTo>
                <a:lnTo>
                  <a:pt x="7091" y="22776"/>
                </a:lnTo>
                <a:lnTo>
                  <a:pt x="0" y="0"/>
                </a:lnTo>
              </a:path>
            </a:pathLst>
          </a:custGeom>
          <a:ln w="88900">
            <a:solidFill>
              <a:srgbClr val="F0B9BC"/>
            </a:solidFill>
            <a:prstDash val="solid"/>
          </a:ln>
        </p:spPr>
      </p:sp>
      <p:sp>
        <p:nvSpPr>
          <p:cNvPr id="74" name="Shape 72"/>
          <p:cNvSpPr/>
          <p:nvPr/>
        </p:nvSpPr>
        <p:spPr>
          <a:xfrm>
            <a:off x="4691675" y="2684201"/>
            <a:ext cx="361188" cy="146304"/>
          </a:xfrm>
          <a:prstGeom prst="rect">
            <a:avLst/>
          </a:prstGeom>
          <a:solidFill>
            <a:srgbClr val="FFFFFF"/>
          </a:solidFill>
          <a:ln/>
        </p:spPr>
      </p:sp>
      <p:sp>
        <p:nvSpPr>
          <p:cNvPr id="75" name="Text 73"/>
          <p:cNvSpPr txBox="1"/>
          <p:nvPr/>
        </p:nvSpPr>
        <p:spPr>
          <a:xfrm>
            <a:off x="4691675" y="2684201"/>
            <a:ext cx="361188"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LIBRARY</a:t>
            </a:r>
            <a:endParaRPr lang="en-US" sz="550" dirty="0"/>
          </a:p>
        </p:txBody>
      </p:sp>
      <p:sp>
        <p:nvSpPr>
          <p:cNvPr id="76" name="Shape 74"/>
          <p:cNvSpPr/>
          <p:nvPr/>
        </p:nvSpPr>
        <p:spPr>
          <a:xfrm>
            <a:off x="4642329" y="2340852"/>
            <a:ext cx="396048" cy="35413"/>
          </a:xfrm>
          <a:custGeom>
            <a:avLst/>
            <a:gdLst/>
            <a:ahLst/>
            <a:cxnLst/>
            <a:rect l="l" t="t" r="r" b="b"/>
            <a:pathLst>
              <a:path w="396048" h="35413">
                <a:moveTo>
                  <a:pt x="0" y="35413"/>
                </a:moveTo>
                <a:lnTo>
                  <a:pt x="13278" y="28997"/>
                </a:lnTo>
                <a:lnTo>
                  <a:pt x="27441" y="23196"/>
                </a:lnTo>
                <a:lnTo>
                  <a:pt x="42462" y="18022"/>
                </a:lnTo>
                <a:lnTo>
                  <a:pt x="58313" y="13483"/>
                </a:lnTo>
                <a:lnTo>
                  <a:pt x="74963" y="9589"/>
                </a:lnTo>
                <a:lnTo>
                  <a:pt x="92382" y="6346"/>
                </a:lnTo>
                <a:lnTo>
                  <a:pt x="110534" y="3762"/>
                </a:lnTo>
                <a:lnTo>
                  <a:pt x="129387" y="1840"/>
                </a:lnTo>
                <a:lnTo>
                  <a:pt x="148904" y="586"/>
                </a:lnTo>
                <a:lnTo>
                  <a:pt x="169049" y="0"/>
                </a:lnTo>
                <a:lnTo>
                  <a:pt x="189781" y="84"/>
                </a:lnTo>
                <a:lnTo>
                  <a:pt x="211064" y="839"/>
                </a:lnTo>
                <a:lnTo>
                  <a:pt x="232854" y="2262"/>
                </a:lnTo>
                <a:lnTo>
                  <a:pt x="255112" y="4351"/>
                </a:lnTo>
                <a:lnTo>
                  <a:pt x="277795" y="7102"/>
                </a:lnTo>
                <a:lnTo>
                  <a:pt x="300860" y="10509"/>
                </a:lnTo>
                <a:lnTo>
                  <a:pt x="324262" y="14567"/>
                </a:lnTo>
                <a:lnTo>
                  <a:pt x="347958" y="19267"/>
                </a:lnTo>
                <a:lnTo>
                  <a:pt x="371902" y="24600"/>
                </a:lnTo>
                <a:lnTo>
                  <a:pt x="396048" y="30557"/>
                </a:lnTo>
              </a:path>
            </a:pathLst>
          </a:custGeom>
          <a:ln w="88900">
            <a:solidFill>
              <a:srgbClr val="9A9A9A"/>
            </a:solidFill>
            <a:prstDash val="solid"/>
          </a:ln>
        </p:spPr>
      </p:sp>
      <p:sp>
        <p:nvSpPr>
          <p:cNvPr id="77" name="Shape 75"/>
          <p:cNvSpPr/>
          <p:nvPr/>
        </p:nvSpPr>
        <p:spPr>
          <a:xfrm>
            <a:off x="4713297" y="2385052"/>
            <a:ext cx="402336" cy="146304"/>
          </a:xfrm>
          <a:prstGeom prst="rect">
            <a:avLst/>
          </a:prstGeom>
          <a:solidFill>
            <a:srgbClr val="FFFFFF"/>
          </a:solidFill>
          <a:ln/>
        </p:spPr>
      </p:sp>
      <p:sp>
        <p:nvSpPr>
          <p:cNvPr id="78" name="Text 76"/>
          <p:cNvSpPr txBox="1"/>
          <p:nvPr/>
        </p:nvSpPr>
        <p:spPr>
          <a:xfrm>
            <a:off x="4713297" y="2385052"/>
            <a:ext cx="402336"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RESEARCH</a:t>
            </a:r>
            <a:endParaRPr lang="en-US" sz="550" dirty="0"/>
          </a:p>
        </p:txBody>
      </p:sp>
      <p:sp>
        <p:nvSpPr>
          <p:cNvPr id="79" name="Shape 77"/>
          <p:cNvSpPr/>
          <p:nvPr/>
        </p:nvSpPr>
        <p:spPr>
          <a:xfrm>
            <a:off x="5087094" y="2385147"/>
            <a:ext cx="368079" cy="181953"/>
          </a:xfrm>
          <a:custGeom>
            <a:avLst/>
            <a:gdLst/>
            <a:ahLst/>
            <a:cxnLst/>
            <a:rect l="l" t="t" r="r" b="b"/>
            <a:pathLst>
              <a:path w="368079" h="181953">
                <a:moveTo>
                  <a:pt x="0" y="0"/>
                </a:moveTo>
                <a:lnTo>
                  <a:pt x="19579" y="6157"/>
                </a:lnTo>
                <a:lnTo>
                  <a:pt x="39175" y="12682"/>
                </a:lnTo>
                <a:lnTo>
                  <a:pt x="58764" y="19566"/>
                </a:lnTo>
                <a:lnTo>
                  <a:pt x="78322" y="26801"/>
                </a:lnTo>
                <a:lnTo>
                  <a:pt x="97826" y="34379"/>
                </a:lnTo>
                <a:lnTo>
                  <a:pt x="117251" y="42289"/>
                </a:lnTo>
                <a:lnTo>
                  <a:pt x="136574" y="50523"/>
                </a:lnTo>
                <a:lnTo>
                  <a:pt x="155772" y="59071"/>
                </a:lnTo>
                <a:lnTo>
                  <a:pt x="174821" y="67921"/>
                </a:lnTo>
                <a:lnTo>
                  <a:pt x="193698" y="77064"/>
                </a:lnTo>
                <a:lnTo>
                  <a:pt x="212380" y="86487"/>
                </a:lnTo>
                <a:lnTo>
                  <a:pt x="230844" y="96181"/>
                </a:lnTo>
                <a:lnTo>
                  <a:pt x="249067" y="106132"/>
                </a:lnTo>
                <a:lnTo>
                  <a:pt x="267028" y="116329"/>
                </a:lnTo>
                <a:lnTo>
                  <a:pt x="284704" y="126759"/>
                </a:lnTo>
                <a:lnTo>
                  <a:pt x="302075" y="137409"/>
                </a:lnTo>
                <a:lnTo>
                  <a:pt x="319118" y="148267"/>
                </a:lnTo>
                <a:lnTo>
                  <a:pt x="335813" y="159319"/>
                </a:lnTo>
                <a:lnTo>
                  <a:pt x="352140" y="170553"/>
                </a:lnTo>
                <a:lnTo>
                  <a:pt x="368079" y="181953"/>
                </a:lnTo>
              </a:path>
            </a:pathLst>
          </a:custGeom>
          <a:ln w="88900">
            <a:solidFill>
              <a:srgbClr val="1B1B1B"/>
            </a:solidFill>
            <a:prstDash val="solid"/>
          </a:ln>
        </p:spPr>
      </p:sp>
      <p:sp>
        <p:nvSpPr>
          <p:cNvPr id="80" name="Shape 78"/>
          <p:cNvSpPr/>
          <p:nvPr/>
        </p:nvSpPr>
        <p:spPr>
          <a:xfrm>
            <a:off x="5046814" y="2465958"/>
            <a:ext cx="361188" cy="146304"/>
          </a:xfrm>
          <a:prstGeom prst="rect">
            <a:avLst/>
          </a:prstGeom>
          <a:solidFill>
            <a:srgbClr val="FFFFFF"/>
          </a:solidFill>
          <a:ln/>
        </p:spPr>
      </p:sp>
      <p:sp>
        <p:nvSpPr>
          <p:cNvPr id="81" name="Text 79"/>
          <p:cNvSpPr txBox="1"/>
          <p:nvPr/>
        </p:nvSpPr>
        <p:spPr>
          <a:xfrm>
            <a:off x="5046814" y="2465958"/>
            <a:ext cx="361188"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ARCHIVE</a:t>
            </a:r>
            <a:endParaRPr lang="en-US" sz="550" dirty="0"/>
          </a:p>
        </p:txBody>
      </p:sp>
      <p:sp>
        <p:nvSpPr>
          <p:cNvPr id="82" name="Shape 80"/>
          <p:cNvSpPr/>
          <p:nvPr/>
        </p:nvSpPr>
        <p:spPr>
          <a:xfrm>
            <a:off x="5493196" y="2596240"/>
            <a:ext cx="187864" cy="267720"/>
          </a:xfrm>
          <a:custGeom>
            <a:avLst/>
            <a:gdLst/>
            <a:ahLst/>
            <a:cxnLst/>
            <a:rect l="l" t="t" r="r" b="b"/>
            <a:pathLst>
              <a:path w="187864" h="267720">
                <a:moveTo>
                  <a:pt x="0" y="0"/>
                </a:moveTo>
                <a:lnTo>
                  <a:pt x="16202" y="13367"/>
                </a:lnTo>
                <a:lnTo>
                  <a:pt x="31804" y="26862"/>
                </a:lnTo>
                <a:lnTo>
                  <a:pt x="46783" y="40465"/>
                </a:lnTo>
                <a:lnTo>
                  <a:pt x="61115" y="54155"/>
                </a:lnTo>
                <a:lnTo>
                  <a:pt x="74779" y="67910"/>
                </a:lnTo>
                <a:lnTo>
                  <a:pt x="87753" y="81709"/>
                </a:lnTo>
                <a:lnTo>
                  <a:pt x="100017" y="95532"/>
                </a:lnTo>
                <a:lnTo>
                  <a:pt x="111552" y="109356"/>
                </a:lnTo>
                <a:lnTo>
                  <a:pt x="122341" y="123161"/>
                </a:lnTo>
                <a:lnTo>
                  <a:pt x="132367" y="136925"/>
                </a:lnTo>
                <a:lnTo>
                  <a:pt x="141614" y="150626"/>
                </a:lnTo>
                <a:lnTo>
                  <a:pt x="150069" y="164245"/>
                </a:lnTo>
                <a:lnTo>
                  <a:pt x="157717" y="177759"/>
                </a:lnTo>
                <a:lnTo>
                  <a:pt x="164548" y="191149"/>
                </a:lnTo>
                <a:lnTo>
                  <a:pt x="170551" y="204392"/>
                </a:lnTo>
                <a:lnTo>
                  <a:pt x="175716" y="217470"/>
                </a:lnTo>
                <a:lnTo>
                  <a:pt x="180036" y="230361"/>
                </a:lnTo>
                <a:lnTo>
                  <a:pt x="183504" y="243046"/>
                </a:lnTo>
                <a:lnTo>
                  <a:pt x="186115" y="255506"/>
                </a:lnTo>
                <a:lnTo>
                  <a:pt x="187864" y="267720"/>
                </a:lnTo>
              </a:path>
            </a:pathLst>
          </a:custGeom>
          <a:ln w="88900">
            <a:solidFill>
              <a:srgbClr val="9A9A9A"/>
            </a:solidFill>
            <a:prstDash val="solid"/>
          </a:ln>
        </p:spPr>
      </p:sp>
      <p:sp>
        <p:nvSpPr>
          <p:cNvPr id="83" name="Shape 81"/>
          <p:cNvSpPr/>
          <p:nvPr/>
        </p:nvSpPr>
        <p:spPr>
          <a:xfrm>
            <a:off x="5153217" y="2646594"/>
            <a:ext cx="608076" cy="146304"/>
          </a:xfrm>
          <a:prstGeom prst="rect">
            <a:avLst/>
          </a:prstGeom>
          <a:solidFill>
            <a:srgbClr val="FFFFFF"/>
          </a:solidFill>
          <a:ln/>
        </p:spPr>
      </p:sp>
      <p:sp>
        <p:nvSpPr>
          <p:cNvPr id="84" name="Text 82"/>
          <p:cNvSpPr txBox="1"/>
          <p:nvPr/>
        </p:nvSpPr>
        <p:spPr>
          <a:xfrm>
            <a:off x="5153217" y="2646594"/>
            <a:ext cx="608076"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MEDIA · PUBL.</a:t>
            </a:r>
            <a:endParaRPr lang="en-US" sz="550" dirty="0"/>
          </a:p>
        </p:txBody>
      </p:sp>
      <p:sp>
        <p:nvSpPr>
          <p:cNvPr id="85" name="Shape 83"/>
          <p:cNvSpPr/>
          <p:nvPr/>
        </p:nvSpPr>
        <p:spPr>
          <a:xfrm>
            <a:off x="602589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86" name="Shape 84"/>
          <p:cNvSpPr/>
          <p:nvPr/>
        </p:nvSpPr>
        <p:spPr>
          <a:xfrm>
            <a:off x="6126480" y="1627632"/>
            <a:ext cx="1828800" cy="1920240"/>
          </a:xfrm>
          <a:prstGeom prst="rect">
            <a:avLst/>
          </a:prstGeom>
          <a:solidFill>
            <a:srgbClr val="FFFFFF"/>
          </a:solidFill>
          <a:ln w="6350">
            <a:solidFill>
              <a:srgbClr val="D9D9D9"/>
            </a:solidFill>
            <a:prstDash val="solid"/>
          </a:ln>
        </p:spPr>
      </p:sp>
      <p:sp>
        <p:nvSpPr>
          <p:cNvPr id="87" name="Text 85"/>
          <p:cNvSpPr txBox="1"/>
          <p:nvPr/>
        </p:nvSpPr>
        <p:spPr>
          <a:xfrm>
            <a:off x="619963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04  </a:t>
            </a:r>
            <a:pPr indent="0" marL="0">
              <a:buNone/>
            </a:pPr>
            <a:r>
              <a:rPr lang="en-US" sz="750" b="1" spc="50" kern="0" dirty="0">
                <a:solidFill>
                  <a:srgbClr val="1B1B1B"/>
                </a:solidFill>
                <a:latin typeface="Arial" pitchFamily="34" charset="0"/>
                <a:ea typeface="Arial" pitchFamily="34" charset="-122"/>
                <a:cs typeface="Arial" pitchFamily="34" charset="-120"/>
              </a:rPr>
              <a:t>ZONING</a:t>
            </a:r>
            <a:endParaRPr lang="en-US" sz="750" dirty="0"/>
          </a:p>
        </p:txBody>
      </p:sp>
      <p:sp>
        <p:nvSpPr>
          <p:cNvPr id="88" name="Shape 86"/>
          <p:cNvSpPr/>
          <p:nvPr/>
        </p:nvSpPr>
        <p:spPr>
          <a:xfrm>
            <a:off x="6181344" y="2365553"/>
            <a:ext cx="1719072" cy="1145743"/>
          </a:xfrm>
          <a:custGeom>
            <a:avLst/>
            <a:gdLst/>
            <a:ahLst/>
            <a:cxnLst/>
            <a:rect l="l" t="t" r="r" b="b"/>
            <a:pathLst>
              <a:path w="1719072" h="1145743">
                <a:moveTo>
                  <a:pt x="0" y="785652"/>
                </a:moveTo>
                <a:lnTo>
                  <a:pt x="1237732" y="785652"/>
                </a:lnTo>
                <a:lnTo>
                  <a:pt x="1719072" y="0"/>
                </a:lnTo>
                <a:lnTo>
                  <a:pt x="1719072" y="1145743"/>
                </a:lnTo>
                <a:lnTo>
                  <a:pt x="0" y="1145743"/>
                </a:lnTo>
                <a:close/>
              </a:path>
            </a:pathLst>
          </a:custGeom>
          <a:solidFill>
            <a:srgbClr val="E3ECDC"/>
          </a:solidFill>
          <a:ln w="12700"/>
        </p:spPr>
      </p:sp>
      <p:sp>
        <p:nvSpPr>
          <p:cNvPr id="89" name="Shape 87"/>
          <p:cNvSpPr/>
          <p:nvPr/>
        </p:nvSpPr>
        <p:spPr>
          <a:xfrm>
            <a:off x="6181344" y="3146633"/>
            <a:ext cx="1237732" cy="9144"/>
          </a:xfrm>
          <a:custGeom>
            <a:avLst/>
            <a:gdLst/>
            <a:ahLst/>
            <a:cxnLst/>
            <a:rect l="l" t="t" r="r" b="b"/>
            <a:pathLst>
              <a:path w="1237732" h="9144">
                <a:moveTo>
                  <a:pt x="0" y="4572"/>
                </a:moveTo>
                <a:lnTo>
                  <a:pt x="1237732" y="4572"/>
                </a:lnTo>
              </a:path>
            </a:pathLst>
          </a:custGeom>
          <a:ln w="15875">
            <a:solidFill>
              <a:srgbClr val="1B1B1B"/>
            </a:solidFill>
            <a:prstDash val="solid"/>
          </a:ln>
        </p:spPr>
      </p:sp>
      <p:sp>
        <p:nvSpPr>
          <p:cNvPr id="90" name="Shape 88"/>
          <p:cNvSpPr/>
          <p:nvPr/>
        </p:nvSpPr>
        <p:spPr>
          <a:xfrm>
            <a:off x="7419076" y="2365553"/>
            <a:ext cx="481340" cy="785652"/>
          </a:xfrm>
          <a:custGeom>
            <a:avLst/>
            <a:gdLst/>
            <a:ahLst/>
            <a:cxnLst/>
            <a:rect l="l" t="t" r="r" b="b"/>
            <a:pathLst>
              <a:path w="481340" h="785652">
                <a:moveTo>
                  <a:pt x="0" y="785652"/>
                </a:moveTo>
                <a:lnTo>
                  <a:pt x="481340" y="0"/>
                </a:lnTo>
              </a:path>
            </a:pathLst>
          </a:custGeom>
          <a:ln w="15875">
            <a:solidFill>
              <a:srgbClr val="1B1B1B"/>
            </a:solidFill>
            <a:prstDash val="solid"/>
          </a:ln>
        </p:spPr>
      </p:sp>
      <p:sp>
        <p:nvSpPr>
          <p:cNvPr id="91" name="Shape 89"/>
          <p:cNvSpPr/>
          <p:nvPr/>
        </p:nvSpPr>
        <p:spPr>
          <a:xfrm>
            <a:off x="6525158" y="2660172"/>
            <a:ext cx="223479" cy="491033"/>
          </a:xfrm>
          <a:prstGeom prst="rect">
            <a:avLst/>
          </a:prstGeom>
          <a:solidFill>
            <a:srgbClr val="C4262E"/>
          </a:solidFill>
          <a:ln w="6350">
            <a:solidFill>
              <a:srgbClr val="1B1B1B"/>
            </a:solidFill>
            <a:prstDash val="solid"/>
          </a:ln>
        </p:spPr>
      </p:sp>
      <p:sp>
        <p:nvSpPr>
          <p:cNvPr id="92" name="Text 90"/>
          <p:cNvSpPr txBox="1"/>
          <p:nvPr/>
        </p:nvSpPr>
        <p:spPr>
          <a:xfrm>
            <a:off x="6433718" y="3169493"/>
            <a:ext cx="406359" cy="128016"/>
          </a:xfrm>
          <a:prstGeom prst="rect">
            <a:avLst/>
          </a:prstGeom>
          <a:noFill/>
          <a:ln/>
        </p:spPr>
        <p:txBody>
          <a:bodyPr wrap="square" lIns="0" tIns="0" rIns="0" bIns="0" rtlCol="0" anchor="t"/>
          <a:lstStyle/>
          <a:p>
            <a:pPr algn="ctr" indent="0" marL="0">
              <a:buNone/>
            </a:pPr>
            <a:r>
              <a:rPr lang="en-US" sz="450" b="1" dirty="0">
                <a:solidFill>
                  <a:srgbClr val="C4262E"/>
                </a:solidFill>
                <a:latin typeface="Arial" pitchFamily="34" charset="0"/>
                <a:ea typeface="Arial" pitchFamily="34" charset="-122"/>
                <a:cs typeface="Arial" pitchFamily="34" charset="-120"/>
              </a:rPr>
              <a:t>ARCADE</a:t>
            </a:r>
            <a:endParaRPr lang="en-US" sz="450" dirty="0"/>
          </a:p>
        </p:txBody>
      </p:sp>
      <p:sp>
        <p:nvSpPr>
          <p:cNvPr id="93" name="Shape 91"/>
          <p:cNvSpPr/>
          <p:nvPr/>
        </p:nvSpPr>
        <p:spPr>
          <a:xfrm>
            <a:off x="6748638" y="2660172"/>
            <a:ext cx="223479" cy="491033"/>
          </a:xfrm>
          <a:prstGeom prst="rect">
            <a:avLst/>
          </a:prstGeom>
          <a:solidFill>
            <a:srgbClr val="F0B9BC"/>
          </a:solidFill>
          <a:ln w="6350">
            <a:solidFill>
              <a:srgbClr val="1B1B1B"/>
            </a:solidFill>
            <a:prstDash val="solid"/>
          </a:ln>
        </p:spPr>
      </p:sp>
      <p:sp>
        <p:nvSpPr>
          <p:cNvPr id="94" name="Text 92"/>
          <p:cNvSpPr txBox="1"/>
          <p:nvPr/>
        </p:nvSpPr>
        <p:spPr>
          <a:xfrm>
            <a:off x="6657198" y="3169493"/>
            <a:ext cx="406359" cy="128016"/>
          </a:xfrm>
          <a:prstGeom prst="rect">
            <a:avLst/>
          </a:prstGeom>
          <a:noFill/>
          <a:ln/>
        </p:spPr>
        <p:txBody>
          <a:bodyPr wrap="square" lIns="0" tIns="0" rIns="0" bIns="0" rtlCol="0" anchor="t"/>
          <a:lstStyle/>
          <a:p>
            <a:pPr algn="ctr" indent="0" marL="0">
              <a:buNone/>
            </a:pPr>
            <a:r>
              <a:rPr lang="en-US" sz="450" b="1" dirty="0">
                <a:solidFill>
                  <a:srgbClr val="1B1B1B"/>
                </a:solidFill>
                <a:latin typeface="Arial" pitchFamily="34" charset="0"/>
                <a:ea typeface="Arial" pitchFamily="34" charset="-122"/>
                <a:cs typeface="Arial" pitchFamily="34" charset="-120"/>
              </a:rPr>
              <a:t>PUBLIC</a:t>
            </a:r>
            <a:endParaRPr lang="en-US" sz="450" dirty="0"/>
          </a:p>
        </p:txBody>
      </p:sp>
      <p:sp>
        <p:nvSpPr>
          <p:cNvPr id="95" name="Shape 93"/>
          <p:cNvSpPr/>
          <p:nvPr/>
        </p:nvSpPr>
        <p:spPr>
          <a:xfrm>
            <a:off x="6972117" y="2660172"/>
            <a:ext cx="223479" cy="491033"/>
          </a:xfrm>
          <a:prstGeom prst="rect">
            <a:avLst/>
          </a:prstGeom>
          <a:solidFill>
            <a:srgbClr val="9A9A9A"/>
          </a:solidFill>
          <a:ln w="6350">
            <a:solidFill>
              <a:srgbClr val="1B1B1B"/>
            </a:solidFill>
            <a:prstDash val="solid"/>
          </a:ln>
        </p:spPr>
      </p:sp>
      <p:sp>
        <p:nvSpPr>
          <p:cNvPr id="96" name="Text 94"/>
          <p:cNvSpPr txBox="1"/>
          <p:nvPr/>
        </p:nvSpPr>
        <p:spPr>
          <a:xfrm>
            <a:off x="6880677" y="3169493"/>
            <a:ext cx="406359" cy="128016"/>
          </a:xfrm>
          <a:prstGeom prst="rect">
            <a:avLst/>
          </a:prstGeom>
          <a:noFill/>
          <a:ln/>
        </p:spPr>
        <p:txBody>
          <a:bodyPr wrap="square" lIns="0" tIns="0" rIns="0" bIns="0" rtlCol="0" anchor="t"/>
          <a:lstStyle/>
          <a:p>
            <a:pPr algn="ctr" indent="0" marL="0">
              <a:buNone/>
            </a:pPr>
            <a:r>
              <a:rPr lang="en-US" sz="450" b="1" dirty="0">
                <a:solidFill>
                  <a:srgbClr val="1B1B1B"/>
                </a:solidFill>
                <a:latin typeface="Arial" pitchFamily="34" charset="0"/>
                <a:ea typeface="Arial" pitchFamily="34" charset="-122"/>
                <a:cs typeface="Arial" pitchFamily="34" charset="-120"/>
              </a:rPr>
              <a:t>WORK</a:t>
            </a:r>
            <a:endParaRPr lang="en-US" sz="450" dirty="0"/>
          </a:p>
        </p:txBody>
      </p:sp>
      <p:sp>
        <p:nvSpPr>
          <p:cNvPr id="97" name="Shape 95"/>
          <p:cNvSpPr/>
          <p:nvPr/>
        </p:nvSpPr>
        <p:spPr>
          <a:xfrm>
            <a:off x="7195596" y="2660172"/>
            <a:ext cx="223479" cy="491033"/>
          </a:xfrm>
          <a:prstGeom prst="rect">
            <a:avLst/>
          </a:prstGeom>
          <a:solidFill>
            <a:srgbClr val="1B1B1B"/>
          </a:solidFill>
          <a:ln w="6350">
            <a:solidFill>
              <a:srgbClr val="1B1B1B"/>
            </a:solidFill>
            <a:prstDash val="solid"/>
          </a:ln>
        </p:spPr>
      </p:sp>
      <p:sp>
        <p:nvSpPr>
          <p:cNvPr id="98" name="Text 96"/>
          <p:cNvSpPr txBox="1"/>
          <p:nvPr/>
        </p:nvSpPr>
        <p:spPr>
          <a:xfrm>
            <a:off x="7104156" y="3169493"/>
            <a:ext cx="406359" cy="128016"/>
          </a:xfrm>
          <a:prstGeom prst="rect">
            <a:avLst/>
          </a:prstGeom>
          <a:noFill/>
          <a:ln/>
        </p:spPr>
        <p:txBody>
          <a:bodyPr wrap="square" lIns="0" tIns="0" rIns="0" bIns="0" rtlCol="0" anchor="t"/>
          <a:lstStyle/>
          <a:p>
            <a:pPr algn="ctr" indent="0" marL="0">
              <a:buNone/>
            </a:pPr>
            <a:r>
              <a:rPr lang="en-US" sz="450" b="1" dirty="0">
                <a:solidFill>
                  <a:srgbClr val="1B1B1B"/>
                </a:solidFill>
                <a:latin typeface="Arial" pitchFamily="34" charset="0"/>
                <a:ea typeface="Arial" pitchFamily="34" charset="-122"/>
                <a:cs typeface="Arial" pitchFamily="34" charset="-120"/>
              </a:rPr>
              <a:t>ARCHIVE</a:t>
            </a:r>
            <a:endParaRPr lang="en-US" sz="450" dirty="0"/>
          </a:p>
        </p:txBody>
      </p:sp>
      <p:sp>
        <p:nvSpPr>
          <p:cNvPr id="99" name="Shape 97"/>
          <p:cNvSpPr/>
          <p:nvPr/>
        </p:nvSpPr>
        <p:spPr>
          <a:xfrm>
            <a:off x="6488582" y="2356409"/>
            <a:ext cx="1411834" cy="303764"/>
          </a:xfrm>
          <a:custGeom>
            <a:avLst/>
            <a:gdLst/>
            <a:ahLst/>
            <a:cxnLst/>
            <a:rect l="l" t="t" r="r" b="b"/>
            <a:pathLst>
              <a:path w="1411834" h="303764">
                <a:moveTo>
                  <a:pt x="0" y="303764"/>
                </a:moveTo>
                <a:lnTo>
                  <a:pt x="930493" y="303764"/>
                </a:lnTo>
                <a:lnTo>
                  <a:pt x="1411834" y="0"/>
                </a:lnTo>
              </a:path>
            </a:pathLst>
          </a:custGeom>
          <a:ln w="25400">
            <a:solidFill>
              <a:srgbClr val="4F7A43"/>
            </a:solidFill>
            <a:prstDash val="solid"/>
          </a:ln>
        </p:spPr>
      </p:sp>
      <p:sp>
        <p:nvSpPr>
          <p:cNvPr id="100" name="Text 98"/>
          <p:cNvSpPr txBox="1"/>
          <p:nvPr/>
        </p:nvSpPr>
        <p:spPr>
          <a:xfrm>
            <a:off x="6113313" y="3160349"/>
            <a:ext cx="36576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01" name="Text 99"/>
          <p:cNvSpPr txBox="1"/>
          <p:nvPr/>
        </p:nvSpPr>
        <p:spPr>
          <a:xfrm>
            <a:off x="7511247" y="2825313"/>
            <a:ext cx="365760" cy="146304"/>
          </a:xfrm>
          <a:prstGeom prst="rect">
            <a:avLst/>
          </a:prstGeom>
          <a:noFill/>
          <a:ln/>
        </p:spPr>
        <p:txBody>
          <a:bodyPr wrap="square" lIns="0" tIns="0" rIns="0" bIns="0" rtlCol="0" anchor="ctr"/>
          <a:lstStyle/>
          <a:p>
            <a:pPr algn="ctr" indent="0" marL="0">
              <a:buNone/>
            </a:pPr>
            <a:r>
              <a:rPr lang="en-US" sz="550" dirty="0">
                <a:solidFill>
                  <a:srgbClr val="4F7A43"/>
                </a:solidFill>
                <a:latin typeface="Arial" pitchFamily="34" charset="0"/>
                <a:ea typeface="Arial" pitchFamily="34" charset="-122"/>
                <a:cs typeface="Arial" pitchFamily="34" charset="-120"/>
              </a:rPr>
              <a:t>HILL</a:t>
            </a:r>
            <a:endParaRPr lang="en-US" sz="550" dirty="0"/>
          </a:p>
        </p:txBody>
      </p:sp>
      <p:sp>
        <p:nvSpPr>
          <p:cNvPr id="102" name="Shape 100"/>
          <p:cNvSpPr/>
          <p:nvPr/>
        </p:nvSpPr>
        <p:spPr>
          <a:xfrm>
            <a:off x="794613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03" name="Shape 101"/>
          <p:cNvSpPr/>
          <p:nvPr/>
        </p:nvSpPr>
        <p:spPr>
          <a:xfrm>
            <a:off x="8046720" y="1627632"/>
            <a:ext cx="1828800" cy="1920240"/>
          </a:xfrm>
          <a:prstGeom prst="rect">
            <a:avLst/>
          </a:prstGeom>
          <a:solidFill>
            <a:srgbClr val="FFFFFF"/>
          </a:solidFill>
          <a:ln w="6350">
            <a:solidFill>
              <a:srgbClr val="D9D9D9"/>
            </a:solidFill>
            <a:prstDash val="solid"/>
          </a:ln>
        </p:spPr>
      </p:sp>
      <p:sp>
        <p:nvSpPr>
          <p:cNvPr id="104" name="Text 102"/>
          <p:cNvSpPr txBox="1"/>
          <p:nvPr/>
        </p:nvSpPr>
        <p:spPr>
          <a:xfrm>
            <a:off x="811987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05  </a:t>
            </a:r>
            <a:pPr indent="0" marL="0">
              <a:buNone/>
            </a:pPr>
            <a:r>
              <a:rPr lang="en-US" sz="750" b="1" spc="50" kern="0" dirty="0">
                <a:solidFill>
                  <a:srgbClr val="1B1B1B"/>
                </a:solidFill>
                <a:latin typeface="Arial" pitchFamily="34" charset="0"/>
                <a:ea typeface="Arial" pitchFamily="34" charset="-122"/>
                <a:cs typeface="Arial" pitchFamily="34" charset="-120"/>
              </a:rPr>
              <a:t>MASSING</a:t>
            </a:r>
            <a:endParaRPr lang="en-US" sz="750" dirty="0"/>
          </a:p>
        </p:txBody>
      </p:sp>
      <p:sp>
        <p:nvSpPr>
          <p:cNvPr id="105" name="Shape 103"/>
          <p:cNvSpPr/>
          <p:nvPr/>
        </p:nvSpPr>
        <p:spPr>
          <a:xfrm>
            <a:off x="8101584" y="2693026"/>
            <a:ext cx="1719072" cy="818270"/>
          </a:xfrm>
          <a:custGeom>
            <a:avLst/>
            <a:gdLst/>
            <a:ahLst/>
            <a:cxnLst/>
            <a:rect l="l" t="t" r="r" b="b"/>
            <a:pathLst>
              <a:path w="1719072" h="818270">
                <a:moveTo>
                  <a:pt x="0" y="556386"/>
                </a:moveTo>
                <a:lnTo>
                  <a:pt x="28651" y="556386"/>
                </a:lnTo>
                <a:lnTo>
                  <a:pt x="57302" y="556386"/>
                </a:lnTo>
                <a:lnTo>
                  <a:pt x="85954" y="556386"/>
                </a:lnTo>
                <a:lnTo>
                  <a:pt x="114605" y="556386"/>
                </a:lnTo>
                <a:lnTo>
                  <a:pt x="143256" y="556386"/>
                </a:lnTo>
                <a:lnTo>
                  <a:pt x="171907" y="556386"/>
                </a:lnTo>
                <a:lnTo>
                  <a:pt x="200558" y="555915"/>
                </a:lnTo>
                <a:lnTo>
                  <a:pt x="229210" y="550638"/>
                </a:lnTo>
                <a:lnTo>
                  <a:pt x="257861" y="539605"/>
                </a:lnTo>
                <a:lnTo>
                  <a:pt x="286512" y="523052"/>
                </a:lnTo>
                <a:lnTo>
                  <a:pt x="315163" y="501327"/>
                </a:lnTo>
                <a:lnTo>
                  <a:pt x="343814" y="474888"/>
                </a:lnTo>
                <a:lnTo>
                  <a:pt x="372466" y="444295"/>
                </a:lnTo>
                <a:lnTo>
                  <a:pt x="401117" y="410193"/>
                </a:lnTo>
                <a:lnTo>
                  <a:pt x="429768" y="373302"/>
                </a:lnTo>
                <a:lnTo>
                  <a:pt x="458419" y="334402"/>
                </a:lnTo>
                <a:lnTo>
                  <a:pt x="487070" y="294313"/>
                </a:lnTo>
                <a:lnTo>
                  <a:pt x="515722" y="253883"/>
                </a:lnTo>
                <a:lnTo>
                  <a:pt x="544373" y="213965"/>
                </a:lnTo>
                <a:lnTo>
                  <a:pt x="573024" y="175402"/>
                </a:lnTo>
                <a:lnTo>
                  <a:pt x="601675" y="139008"/>
                </a:lnTo>
                <a:lnTo>
                  <a:pt x="630326" y="105552"/>
                </a:lnTo>
                <a:lnTo>
                  <a:pt x="658978" y="75741"/>
                </a:lnTo>
                <a:lnTo>
                  <a:pt x="687629" y="50204"/>
                </a:lnTo>
                <a:lnTo>
                  <a:pt x="716280" y="29479"/>
                </a:lnTo>
                <a:lnTo>
                  <a:pt x="744931" y="14006"/>
                </a:lnTo>
                <a:lnTo>
                  <a:pt x="773582" y="4110"/>
                </a:lnTo>
                <a:lnTo>
                  <a:pt x="802234" y="0"/>
                </a:lnTo>
                <a:lnTo>
                  <a:pt x="830885" y="1764"/>
                </a:lnTo>
                <a:lnTo>
                  <a:pt x="859536" y="9363"/>
                </a:lnTo>
                <a:lnTo>
                  <a:pt x="888187" y="22639"/>
                </a:lnTo>
                <a:lnTo>
                  <a:pt x="916838" y="41309"/>
                </a:lnTo>
                <a:lnTo>
                  <a:pt x="945490" y="64981"/>
                </a:lnTo>
                <a:lnTo>
                  <a:pt x="974141" y="93153"/>
                </a:lnTo>
                <a:lnTo>
                  <a:pt x="1002792" y="125232"/>
                </a:lnTo>
                <a:lnTo>
                  <a:pt x="1031443" y="160540"/>
                </a:lnTo>
                <a:lnTo>
                  <a:pt x="1060094" y="198331"/>
                </a:lnTo>
                <a:lnTo>
                  <a:pt x="1088746" y="237807"/>
                </a:lnTo>
                <a:lnTo>
                  <a:pt x="1117397" y="278134"/>
                </a:lnTo>
                <a:lnTo>
                  <a:pt x="1146048" y="318462"/>
                </a:lnTo>
                <a:lnTo>
                  <a:pt x="1174699" y="357938"/>
                </a:lnTo>
                <a:lnTo>
                  <a:pt x="1203350" y="395729"/>
                </a:lnTo>
                <a:lnTo>
                  <a:pt x="1232002" y="431036"/>
                </a:lnTo>
                <a:lnTo>
                  <a:pt x="1260653" y="463115"/>
                </a:lnTo>
                <a:lnTo>
                  <a:pt x="1289304" y="491288"/>
                </a:lnTo>
                <a:lnTo>
                  <a:pt x="1317955" y="514959"/>
                </a:lnTo>
                <a:lnTo>
                  <a:pt x="1346606" y="533630"/>
                </a:lnTo>
                <a:lnTo>
                  <a:pt x="1375258" y="546905"/>
                </a:lnTo>
                <a:lnTo>
                  <a:pt x="1403909" y="554505"/>
                </a:lnTo>
                <a:lnTo>
                  <a:pt x="1432560" y="556386"/>
                </a:lnTo>
                <a:lnTo>
                  <a:pt x="1461211" y="556386"/>
                </a:lnTo>
                <a:lnTo>
                  <a:pt x="1489862" y="556386"/>
                </a:lnTo>
                <a:lnTo>
                  <a:pt x="1518514" y="556386"/>
                </a:lnTo>
                <a:lnTo>
                  <a:pt x="1547165" y="556386"/>
                </a:lnTo>
                <a:lnTo>
                  <a:pt x="1575816" y="556386"/>
                </a:lnTo>
                <a:lnTo>
                  <a:pt x="1604467" y="556386"/>
                </a:lnTo>
                <a:lnTo>
                  <a:pt x="1633118" y="556386"/>
                </a:lnTo>
                <a:lnTo>
                  <a:pt x="1661770" y="556386"/>
                </a:lnTo>
                <a:lnTo>
                  <a:pt x="1690421" y="556386"/>
                </a:lnTo>
                <a:lnTo>
                  <a:pt x="1719072" y="556386"/>
                </a:lnTo>
                <a:lnTo>
                  <a:pt x="1719072" y="818270"/>
                </a:lnTo>
                <a:lnTo>
                  <a:pt x="0" y="818270"/>
                </a:lnTo>
                <a:close/>
              </a:path>
            </a:pathLst>
          </a:custGeom>
          <a:solidFill>
            <a:srgbClr val="E3ECDC"/>
          </a:solidFill>
          <a:ln w="12700"/>
        </p:spPr>
      </p:sp>
      <p:sp>
        <p:nvSpPr>
          <p:cNvPr id="106" name="Shape 104"/>
          <p:cNvSpPr/>
          <p:nvPr/>
        </p:nvSpPr>
        <p:spPr>
          <a:xfrm>
            <a:off x="8101584" y="2693026"/>
            <a:ext cx="1719072" cy="556386"/>
          </a:xfrm>
          <a:custGeom>
            <a:avLst/>
            <a:gdLst/>
            <a:ahLst/>
            <a:cxnLst/>
            <a:rect l="l" t="t" r="r" b="b"/>
            <a:pathLst>
              <a:path w="1719072" h="556386">
                <a:moveTo>
                  <a:pt x="0" y="556386"/>
                </a:moveTo>
                <a:lnTo>
                  <a:pt x="28651" y="556386"/>
                </a:lnTo>
                <a:lnTo>
                  <a:pt x="57302" y="556386"/>
                </a:lnTo>
                <a:lnTo>
                  <a:pt x="85954" y="556386"/>
                </a:lnTo>
                <a:lnTo>
                  <a:pt x="114605" y="556386"/>
                </a:lnTo>
                <a:lnTo>
                  <a:pt x="143256" y="556386"/>
                </a:lnTo>
                <a:lnTo>
                  <a:pt x="171907" y="556386"/>
                </a:lnTo>
                <a:lnTo>
                  <a:pt x="200558" y="555915"/>
                </a:lnTo>
                <a:lnTo>
                  <a:pt x="229210" y="550638"/>
                </a:lnTo>
                <a:lnTo>
                  <a:pt x="257861" y="539605"/>
                </a:lnTo>
                <a:lnTo>
                  <a:pt x="286512" y="523052"/>
                </a:lnTo>
                <a:lnTo>
                  <a:pt x="315163" y="501327"/>
                </a:lnTo>
                <a:lnTo>
                  <a:pt x="343814" y="474888"/>
                </a:lnTo>
                <a:lnTo>
                  <a:pt x="372466" y="444295"/>
                </a:lnTo>
                <a:lnTo>
                  <a:pt x="401117" y="410193"/>
                </a:lnTo>
                <a:lnTo>
                  <a:pt x="429768" y="373302"/>
                </a:lnTo>
                <a:lnTo>
                  <a:pt x="458419" y="334402"/>
                </a:lnTo>
                <a:lnTo>
                  <a:pt x="487070" y="294313"/>
                </a:lnTo>
                <a:lnTo>
                  <a:pt x="515722" y="253883"/>
                </a:lnTo>
                <a:lnTo>
                  <a:pt x="544373" y="213965"/>
                </a:lnTo>
                <a:lnTo>
                  <a:pt x="573024" y="175402"/>
                </a:lnTo>
                <a:lnTo>
                  <a:pt x="601675" y="139008"/>
                </a:lnTo>
                <a:lnTo>
                  <a:pt x="630326" y="105552"/>
                </a:lnTo>
                <a:lnTo>
                  <a:pt x="658978" y="75741"/>
                </a:lnTo>
                <a:lnTo>
                  <a:pt x="687629" y="50204"/>
                </a:lnTo>
                <a:lnTo>
                  <a:pt x="716280" y="29479"/>
                </a:lnTo>
                <a:lnTo>
                  <a:pt x="744931" y="14006"/>
                </a:lnTo>
                <a:lnTo>
                  <a:pt x="773582" y="4110"/>
                </a:lnTo>
                <a:lnTo>
                  <a:pt x="802234" y="0"/>
                </a:lnTo>
                <a:lnTo>
                  <a:pt x="830885" y="1764"/>
                </a:lnTo>
                <a:lnTo>
                  <a:pt x="859536" y="9363"/>
                </a:lnTo>
                <a:lnTo>
                  <a:pt x="888187" y="22639"/>
                </a:lnTo>
                <a:lnTo>
                  <a:pt x="916838" y="41309"/>
                </a:lnTo>
                <a:lnTo>
                  <a:pt x="945490" y="64981"/>
                </a:lnTo>
                <a:lnTo>
                  <a:pt x="974141" y="93153"/>
                </a:lnTo>
                <a:lnTo>
                  <a:pt x="1002792" y="125232"/>
                </a:lnTo>
                <a:lnTo>
                  <a:pt x="1031443" y="160540"/>
                </a:lnTo>
                <a:lnTo>
                  <a:pt x="1060094" y="198331"/>
                </a:lnTo>
                <a:lnTo>
                  <a:pt x="1088746" y="237807"/>
                </a:lnTo>
                <a:lnTo>
                  <a:pt x="1117397" y="278134"/>
                </a:lnTo>
                <a:lnTo>
                  <a:pt x="1146048" y="318462"/>
                </a:lnTo>
                <a:lnTo>
                  <a:pt x="1174699" y="357938"/>
                </a:lnTo>
                <a:lnTo>
                  <a:pt x="1203350" y="395729"/>
                </a:lnTo>
                <a:lnTo>
                  <a:pt x="1232002" y="431036"/>
                </a:lnTo>
                <a:lnTo>
                  <a:pt x="1260653" y="463115"/>
                </a:lnTo>
                <a:lnTo>
                  <a:pt x="1289304" y="491288"/>
                </a:lnTo>
                <a:lnTo>
                  <a:pt x="1317955" y="514959"/>
                </a:lnTo>
                <a:lnTo>
                  <a:pt x="1346606" y="533630"/>
                </a:lnTo>
                <a:lnTo>
                  <a:pt x="1375258" y="546905"/>
                </a:lnTo>
                <a:lnTo>
                  <a:pt x="1403909" y="554505"/>
                </a:lnTo>
                <a:lnTo>
                  <a:pt x="1432560" y="556386"/>
                </a:lnTo>
                <a:lnTo>
                  <a:pt x="1461211" y="556386"/>
                </a:lnTo>
                <a:lnTo>
                  <a:pt x="1489862" y="556386"/>
                </a:lnTo>
                <a:lnTo>
                  <a:pt x="1518514" y="556386"/>
                </a:lnTo>
                <a:lnTo>
                  <a:pt x="1547165" y="556386"/>
                </a:lnTo>
                <a:lnTo>
                  <a:pt x="1575816" y="556386"/>
                </a:lnTo>
                <a:lnTo>
                  <a:pt x="1604467" y="556386"/>
                </a:lnTo>
                <a:lnTo>
                  <a:pt x="1633118" y="556386"/>
                </a:lnTo>
                <a:lnTo>
                  <a:pt x="1661770" y="556386"/>
                </a:lnTo>
                <a:lnTo>
                  <a:pt x="1690421" y="556386"/>
                </a:lnTo>
                <a:lnTo>
                  <a:pt x="1719072" y="556386"/>
                </a:lnTo>
              </a:path>
            </a:pathLst>
          </a:custGeom>
          <a:ln w="15875">
            <a:solidFill>
              <a:srgbClr val="1B1B1B"/>
            </a:solidFill>
            <a:prstDash val="solid"/>
          </a:ln>
        </p:spPr>
      </p:sp>
      <p:sp>
        <p:nvSpPr>
          <p:cNvPr id="107" name="Text 105"/>
          <p:cNvSpPr txBox="1"/>
          <p:nvPr/>
        </p:nvSpPr>
        <p:spPr>
          <a:xfrm>
            <a:off x="7976128" y="3258556"/>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08" name="Text 106"/>
          <p:cNvSpPr txBox="1"/>
          <p:nvPr/>
        </p:nvSpPr>
        <p:spPr>
          <a:xfrm>
            <a:off x="9488912" y="3258556"/>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09" name="Shape 107"/>
          <p:cNvSpPr/>
          <p:nvPr/>
        </p:nvSpPr>
        <p:spPr>
          <a:xfrm>
            <a:off x="8307873" y="2823030"/>
            <a:ext cx="206289" cy="229149"/>
          </a:xfrm>
          <a:prstGeom prst="rect">
            <a:avLst/>
          </a:prstGeom>
          <a:solidFill>
            <a:srgbClr val="1B1B1B"/>
          </a:solidFill>
          <a:ln/>
        </p:spPr>
      </p:sp>
      <p:sp>
        <p:nvSpPr>
          <p:cNvPr id="110" name="Shape 108"/>
          <p:cNvSpPr/>
          <p:nvPr/>
        </p:nvSpPr>
        <p:spPr>
          <a:xfrm>
            <a:off x="9408079" y="2933366"/>
            <a:ext cx="206289" cy="229149"/>
          </a:xfrm>
          <a:prstGeom prst="rect">
            <a:avLst/>
          </a:prstGeom>
          <a:solidFill>
            <a:srgbClr val="1B1B1B"/>
          </a:solidFill>
          <a:ln/>
        </p:spPr>
      </p:sp>
      <p:sp>
        <p:nvSpPr>
          <p:cNvPr id="111" name="Shape 109"/>
          <p:cNvSpPr/>
          <p:nvPr/>
        </p:nvSpPr>
        <p:spPr>
          <a:xfrm>
            <a:off x="8514161" y="2823030"/>
            <a:ext cx="137526" cy="76113"/>
          </a:xfrm>
          <a:custGeom>
            <a:avLst/>
            <a:gdLst/>
            <a:ahLst/>
            <a:cxnLst/>
            <a:rect l="l" t="t" r="r" b="b"/>
            <a:pathLst>
              <a:path w="137526" h="76113">
                <a:moveTo>
                  <a:pt x="0" y="0"/>
                </a:moveTo>
                <a:lnTo>
                  <a:pt x="137526" y="76113"/>
                </a:lnTo>
              </a:path>
            </a:pathLst>
          </a:custGeom>
          <a:ln w="25400">
            <a:solidFill>
              <a:srgbClr val="4F7A43"/>
            </a:solidFill>
            <a:prstDash val="solid"/>
          </a:ln>
        </p:spPr>
      </p:sp>
      <p:sp>
        <p:nvSpPr>
          <p:cNvPr id="112" name="Shape 110"/>
          <p:cNvSpPr/>
          <p:nvPr/>
        </p:nvSpPr>
        <p:spPr>
          <a:xfrm>
            <a:off x="9270553" y="2933366"/>
            <a:ext cx="137526" cy="109811"/>
          </a:xfrm>
          <a:custGeom>
            <a:avLst/>
            <a:gdLst/>
            <a:ahLst/>
            <a:cxnLst/>
            <a:rect l="l" t="t" r="r" b="b"/>
            <a:pathLst>
              <a:path w="137526" h="109811">
                <a:moveTo>
                  <a:pt x="137526" y="0"/>
                </a:moveTo>
                <a:lnTo>
                  <a:pt x="0" y="109811"/>
                </a:lnTo>
              </a:path>
            </a:pathLst>
          </a:custGeom>
          <a:ln w="25400">
            <a:solidFill>
              <a:srgbClr val="4F7A43"/>
            </a:solidFill>
            <a:prstDash val="solid"/>
          </a:ln>
        </p:spPr>
      </p:sp>
      <p:sp>
        <p:nvSpPr>
          <p:cNvPr id="113" name="Text 111"/>
          <p:cNvSpPr txBox="1"/>
          <p:nvPr/>
        </p:nvSpPr>
        <p:spPr>
          <a:xfrm>
            <a:off x="8269468" y="2519172"/>
            <a:ext cx="1280160" cy="146304"/>
          </a:xfrm>
          <a:prstGeom prst="rect">
            <a:avLst/>
          </a:prstGeom>
          <a:noFill/>
          <a:ln/>
        </p:spPr>
        <p:txBody>
          <a:bodyPr wrap="square" lIns="0" tIns="0" rIns="0" bIns="0" rtlCol="0" anchor="ctr"/>
          <a:lstStyle/>
          <a:p>
            <a:pPr algn="ctr" indent="0" marL="0">
              <a:buNone/>
            </a:pPr>
            <a:r>
              <a:rPr lang="en-US" sz="550" dirty="0">
                <a:solidFill>
                  <a:srgbClr val="4F7A43"/>
                </a:solidFill>
                <a:latin typeface="Arial" pitchFamily="34" charset="0"/>
                <a:ea typeface="Arial" pitchFamily="34" charset="-122"/>
                <a:cs typeface="Arial" pitchFamily="34" charset="-120"/>
              </a:rPr>
              <a:t>roof continues the slope</a:t>
            </a:r>
            <a:endParaRPr lang="en-US" sz="550" dirty="0"/>
          </a:p>
        </p:txBody>
      </p:sp>
      <p:sp>
        <p:nvSpPr>
          <p:cNvPr id="114" name="Shape 112"/>
          <p:cNvSpPr/>
          <p:nvPr/>
        </p:nvSpPr>
        <p:spPr>
          <a:xfrm>
            <a:off x="986637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15" name="Shape 113"/>
          <p:cNvSpPr/>
          <p:nvPr/>
        </p:nvSpPr>
        <p:spPr>
          <a:xfrm>
            <a:off x="9966960" y="1627632"/>
            <a:ext cx="1828800" cy="1920240"/>
          </a:xfrm>
          <a:prstGeom prst="rect">
            <a:avLst/>
          </a:prstGeom>
          <a:solidFill>
            <a:srgbClr val="FFFFFF"/>
          </a:solidFill>
          <a:ln w="6350">
            <a:solidFill>
              <a:srgbClr val="D9D9D9"/>
            </a:solidFill>
            <a:prstDash val="solid"/>
          </a:ln>
        </p:spPr>
      </p:sp>
      <p:sp>
        <p:nvSpPr>
          <p:cNvPr id="116" name="Text 114"/>
          <p:cNvSpPr txBox="1"/>
          <p:nvPr/>
        </p:nvSpPr>
        <p:spPr>
          <a:xfrm>
            <a:off x="1004011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06  </a:t>
            </a:r>
            <a:pPr indent="0" marL="0">
              <a:buNone/>
            </a:pPr>
            <a:r>
              <a:rPr lang="en-US" sz="750" b="1" spc="50" kern="0" dirty="0">
                <a:solidFill>
                  <a:srgbClr val="1B1B1B"/>
                </a:solidFill>
                <a:latin typeface="Arial" pitchFamily="34" charset="0"/>
                <a:ea typeface="Arial" pitchFamily="34" charset="-122"/>
                <a:cs typeface="Arial" pitchFamily="34" charset="-120"/>
              </a:rPr>
              <a:t>EXPERIENCE</a:t>
            </a:r>
            <a:endParaRPr lang="en-US" sz="750" dirty="0"/>
          </a:p>
        </p:txBody>
      </p:sp>
      <p:sp>
        <p:nvSpPr>
          <p:cNvPr id="117" name="Shape 115"/>
          <p:cNvSpPr/>
          <p:nvPr/>
        </p:nvSpPr>
        <p:spPr>
          <a:xfrm>
            <a:off x="10021824" y="2365553"/>
            <a:ext cx="1719072" cy="1145743"/>
          </a:xfrm>
          <a:custGeom>
            <a:avLst/>
            <a:gdLst/>
            <a:ahLst/>
            <a:cxnLst/>
            <a:rect l="l" t="t" r="r" b="b"/>
            <a:pathLst>
              <a:path w="1719072" h="1145743">
                <a:moveTo>
                  <a:pt x="0" y="785652"/>
                </a:moveTo>
                <a:lnTo>
                  <a:pt x="1237732" y="785652"/>
                </a:lnTo>
                <a:lnTo>
                  <a:pt x="1719072" y="0"/>
                </a:lnTo>
                <a:lnTo>
                  <a:pt x="1719072" y="1145743"/>
                </a:lnTo>
                <a:lnTo>
                  <a:pt x="0" y="1145743"/>
                </a:lnTo>
                <a:close/>
              </a:path>
            </a:pathLst>
          </a:custGeom>
          <a:solidFill>
            <a:srgbClr val="E3ECDC"/>
          </a:solidFill>
          <a:ln w="12700"/>
        </p:spPr>
      </p:sp>
      <p:sp>
        <p:nvSpPr>
          <p:cNvPr id="118" name="Shape 116"/>
          <p:cNvSpPr/>
          <p:nvPr/>
        </p:nvSpPr>
        <p:spPr>
          <a:xfrm>
            <a:off x="10021824" y="3146633"/>
            <a:ext cx="1237732" cy="9144"/>
          </a:xfrm>
          <a:custGeom>
            <a:avLst/>
            <a:gdLst/>
            <a:ahLst/>
            <a:cxnLst/>
            <a:rect l="l" t="t" r="r" b="b"/>
            <a:pathLst>
              <a:path w="1237732" h="9144">
                <a:moveTo>
                  <a:pt x="0" y="4572"/>
                </a:moveTo>
                <a:lnTo>
                  <a:pt x="1237732" y="4572"/>
                </a:lnTo>
              </a:path>
            </a:pathLst>
          </a:custGeom>
          <a:ln w="15875">
            <a:solidFill>
              <a:srgbClr val="1B1B1B"/>
            </a:solidFill>
            <a:prstDash val="solid"/>
          </a:ln>
        </p:spPr>
      </p:sp>
      <p:sp>
        <p:nvSpPr>
          <p:cNvPr id="119" name="Shape 117"/>
          <p:cNvSpPr/>
          <p:nvPr/>
        </p:nvSpPr>
        <p:spPr>
          <a:xfrm>
            <a:off x="11259556" y="2365553"/>
            <a:ext cx="481340" cy="785652"/>
          </a:xfrm>
          <a:custGeom>
            <a:avLst/>
            <a:gdLst/>
            <a:ahLst/>
            <a:cxnLst/>
            <a:rect l="l" t="t" r="r" b="b"/>
            <a:pathLst>
              <a:path w="481340" h="785652">
                <a:moveTo>
                  <a:pt x="0" y="785652"/>
                </a:moveTo>
                <a:lnTo>
                  <a:pt x="481340" y="0"/>
                </a:lnTo>
              </a:path>
            </a:pathLst>
          </a:custGeom>
          <a:ln w="15875">
            <a:solidFill>
              <a:srgbClr val="1B1B1B"/>
            </a:solidFill>
            <a:prstDash val="solid"/>
          </a:ln>
        </p:spPr>
      </p:sp>
      <p:sp>
        <p:nvSpPr>
          <p:cNvPr id="120" name="Shape 118"/>
          <p:cNvSpPr/>
          <p:nvPr/>
        </p:nvSpPr>
        <p:spPr>
          <a:xfrm>
            <a:off x="10365638" y="2660172"/>
            <a:ext cx="223479" cy="491033"/>
          </a:xfrm>
          <a:prstGeom prst="rect">
            <a:avLst/>
          </a:prstGeom>
          <a:solidFill>
            <a:srgbClr val="C4262E"/>
          </a:solidFill>
          <a:ln w="6350">
            <a:solidFill>
              <a:srgbClr val="1B1B1B"/>
            </a:solidFill>
            <a:prstDash val="solid"/>
          </a:ln>
        </p:spPr>
      </p:sp>
      <p:sp>
        <p:nvSpPr>
          <p:cNvPr id="121" name="Text 119"/>
          <p:cNvSpPr txBox="1"/>
          <p:nvPr/>
        </p:nvSpPr>
        <p:spPr>
          <a:xfrm>
            <a:off x="10274198" y="3169493"/>
            <a:ext cx="406359" cy="128016"/>
          </a:xfrm>
          <a:prstGeom prst="rect">
            <a:avLst/>
          </a:prstGeom>
          <a:noFill/>
          <a:ln/>
        </p:spPr>
        <p:txBody>
          <a:bodyPr wrap="square" lIns="0" tIns="0" rIns="0" bIns="0" rtlCol="0" anchor="t"/>
          <a:lstStyle/>
          <a:p>
            <a:pPr algn="ctr" indent="0" marL="0">
              <a:buNone/>
            </a:pPr>
            <a:r>
              <a:rPr lang="en-US" sz="450" b="1" dirty="0">
                <a:solidFill>
                  <a:srgbClr val="C4262E"/>
                </a:solidFill>
                <a:latin typeface="Arial" pitchFamily="34" charset="0"/>
                <a:ea typeface="Arial" pitchFamily="34" charset="-122"/>
                <a:cs typeface="Arial" pitchFamily="34" charset="-120"/>
              </a:rPr>
              <a:t>ARCADE</a:t>
            </a:r>
            <a:endParaRPr lang="en-US" sz="450" dirty="0"/>
          </a:p>
        </p:txBody>
      </p:sp>
      <p:sp>
        <p:nvSpPr>
          <p:cNvPr id="122" name="Shape 120"/>
          <p:cNvSpPr/>
          <p:nvPr/>
        </p:nvSpPr>
        <p:spPr>
          <a:xfrm>
            <a:off x="10589118" y="2660172"/>
            <a:ext cx="223479" cy="491033"/>
          </a:xfrm>
          <a:prstGeom prst="rect">
            <a:avLst/>
          </a:prstGeom>
          <a:solidFill>
            <a:srgbClr val="F0B9BC"/>
          </a:solidFill>
          <a:ln w="6350">
            <a:solidFill>
              <a:srgbClr val="1B1B1B"/>
            </a:solidFill>
            <a:prstDash val="solid"/>
          </a:ln>
        </p:spPr>
      </p:sp>
      <p:sp>
        <p:nvSpPr>
          <p:cNvPr id="123" name="Text 121"/>
          <p:cNvSpPr txBox="1"/>
          <p:nvPr/>
        </p:nvSpPr>
        <p:spPr>
          <a:xfrm>
            <a:off x="10497678" y="3169493"/>
            <a:ext cx="406359" cy="128016"/>
          </a:xfrm>
          <a:prstGeom prst="rect">
            <a:avLst/>
          </a:prstGeom>
          <a:noFill/>
          <a:ln/>
        </p:spPr>
        <p:txBody>
          <a:bodyPr wrap="square" lIns="0" tIns="0" rIns="0" bIns="0" rtlCol="0" anchor="t"/>
          <a:lstStyle/>
          <a:p>
            <a:pPr algn="ctr" indent="0" marL="0">
              <a:buNone/>
            </a:pPr>
            <a:r>
              <a:rPr lang="en-US" sz="450" b="1" dirty="0">
                <a:solidFill>
                  <a:srgbClr val="1B1B1B"/>
                </a:solidFill>
                <a:latin typeface="Arial" pitchFamily="34" charset="0"/>
                <a:ea typeface="Arial" pitchFamily="34" charset="-122"/>
                <a:cs typeface="Arial" pitchFamily="34" charset="-120"/>
              </a:rPr>
              <a:t>PUBLIC</a:t>
            </a:r>
            <a:endParaRPr lang="en-US" sz="450" dirty="0"/>
          </a:p>
        </p:txBody>
      </p:sp>
      <p:sp>
        <p:nvSpPr>
          <p:cNvPr id="124" name="Shape 122"/>
          <p:cNvSpPr/>
          <p:nvPr/>
        </p:nvSpPr>
        <p:spPr>
          <a:xfrm>
            <a:off x="10812597" y="2660172"/>
            <a:ext cx="223479" cy="491033"/>
          </a:xfrm>
          <a:prstGeom prst="rect">
            <a:avLst/>
          </a:prstGeom>
          <a:solidFill>
            <a:srgbClr val="9A9A9A"/>
          </a:solidFill>
          <a:ln w="6350">
            <a:solidFill>
              <a:srgbClr val="1B1B1B"/>
            </a:solidFill>
            <a:prstDash val="solid"/>
          </a:ln>
        </p:spPr>
      </p:sp>
      <p:sp>
        <p:nvSpPr>
          <p:cNvPr id="125" name="Text 123"/>
          <p:cNvSpPr txBox="1"/>
          <p:nvPr/>
        </p:nvSpPr>
        <p:spPr>
          <a:xfrm>
            <a:off x="10721157" y="3169493"/>
            <a:ext cx="406359" cy="128016"/>
          </a:xfrm>
          <a:prstGeom prst="rect">
            <a:avLst/>
          </a:prstGeom>
          <a:noFill/>
          <a:ln/>
        </p:spPr>
        <p:txBody>
          <a:bodyPr wrap="square" lIns="0" tIns="0" rIns="0" bIns="0" rtlCol="0" anchor="t"/>
          <a:lstStyle/>
          <a:p>
            <a:pPr algn="ctr" indent="0" marL="0">
              <a:buNone/>
            </a:pPr>
            <a:r>
              <a:rPr lang="en-US" sz="450" b="1" dirty="0">
                <a:solidFill>
                  <a:srgbClr val="1B1B1B"/>
                </a:solidFill>
                <a:latin typeface="Arial" pitchFamily="34" charset="0"/>
                <a:ea typeface="Arial" pitchFamily="34" charset="-122"/>
                <a:cs typeface="Arial" pitchFamily="34" charset="-120"/>
              </a:rPr>
              <a:t>WORK</a:t>
            </a:r>
            <a:endParaRPr lang="en-US" sz="450" dirty="0"/>
          </a:p>
        </p:txBody>
      </p:sp>
      <p:sp>
        <p:nvSpPr>
          <p:cNvPr id="126" name="Shape 124"/>
          <p:cNvSpPr/>
          <p:nvPr/>
        </p:nvSpPr>
        <p:spPr>
          <a:xfrm>
            <a:off x="11036076" y="2660172"/>
            <a:ext cx="223479" cy="491033"/>
          </a:xfrm>
          <a:prstGeom prst="rect">
            <a:avLst/>
          </a:prstGeom>
          <a:solidFill>
            <a:srgbClr val="1B1B1B"/>
          </a:solidFill>
          <a:ln w="6350">
            <a:solidFill>
              <a:srgbClr val="1B1B1B"/>
            </a:solidFill>
            <a:prstDash val="solid"/>
          </a:ln>
        </p:spPr>
      </p:sp>
      <p:sp>
        <p:nvSpPr>
          <p:cNvPr id="127" name="Text 125"/>
          <p:cNvSpPr txBox="1"/>
          <p:nvPr/>
        </p:nvSpPr>
        <p:spPr>
          <a:xfrm>
            <a:off x="10944636" y="3169493"/>
            <a:ext cx="406359" cy="128016"/>
          </a:xfrm>
          <a:prstGeom prst="rect">
            <a:avLst/>
          </a:prstGeom>
          <a:noFill/>
          <a:ln/>
        </p:spPr>
        <p:txBody>
          <a:bodyPr wrap="square" lIns="0" tIns="0" rIns="0" bIns="0" rtlCol="0" anchor="t"/>
          <a:lstStyle/>
          <a:p>
            <a:pPr algn="ctr" indent="0" marL="0">
              <a:buNone/>
            </a:pPr>
            <a:r>
              <a:rPr lang="en-US" sz="450" b="1" dirty="0">
                <a:solidFill>
                  <a:srgbClr val="1B1B1B"/>
                </a:solidFill>
                <a:latin typeface="Arial" pitchFamily="34" charset="0"/>
                <a:ea typeface="Arial" pitchFamily="34" charset="-122"/>
                <a:cs typeface="Arial" pitchFamily="34" charset="-120"/>
              </a:rPr>
              <a:t>ARCHIVE</a:t>
            </a:r>
            <a:endParaRPr lang="en-US" sz="450" dirty="0"/>
          </a:p>
        </p:txBody>
      </p:sp>
      <p:sp>
        <p:nvSpPr>
          <p:cNvPr id="128" name="Shape 126"/>
          <p:cNvSpPr/>
          <p:nvPr/>
        </p:nvSpPr>
        <p:spPr>
          <a:xfrm>
            <a:off x="10329062" y="2356409"/>
            <a:ext cx="1411834" cy="303764"/>
          </a:xfrm>
          <a:custGeom>
            <a:avLst/>
            <a:gdLst/>
            <a:ahLst/>
            <a:cxnLst/>
            <a:rect l="l" t="t" r="r" b="b"/>
            <a:pathLst>
              <a:path w="1411834" h="303764">
                <a:moveTo>
                  <a:pt x="0" y="303764"/>
                </a:moveTo>
                <a:lnTo>
                  <a:pt x="930493" y="303764"/>
                </a:lnTo>
                <a:lnTo>
                  <a:pt x="1411834" y="0"/>
                </a:lnTo>
              </a:path>
            </a:pathLst>
          </a:custGeom>
          <a:ln w="25400">
            <a:solidFill>
              <a:srgbClr val="4F7A43"/>
            </a:solidFill>
            <a:prstDash val="solid"/>
          </a:ln>
        </p:spPr>
      </p:sp>
      <p:sp>
        <p:nvSpPr>
          <p:cNvPr id="129" name="Text 127"/>
          <p:cNvSpPr txBox="1"/>
          <p:nvPr/>
        </p:nvSpPr>
        <p:spPr>
          <a:xfrm>
            <a:off x="9953793" y="3160349"/>
            <a:ext cx="36576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30" name="Text 128"/>
          <p:cNvSpPr txBox="1"/>
          <p:nvPr/>
        </p:nvSpPr>
        <p:spPr>
          <a:xfrm>
            <a:off x="11351727" y="2825313"/>
            <a:ext cx="365760" cy="146304"/>
          </a:xfrm>
          <a:prstGeom prst="rect">
            <a:avLst/>
          </a:prstGeom>
          <a:noFill/>
          <a:ln/>
        </p:spPr>
        <p:txBody>
          <a:bodyPr wrap="square" lIns="0" tIns="0" rIns="0" bIns="0" rtlCol="0" anchor="ctr"/>
          <a:lstStyle/>
          <a:p>
            <a:pPr algn="ctr" indent="0" marL="0">
              <a:buNone/>
            </a:pPr>
            <a:r>
              <a:rPr lang="en-US" sz="550" dirty="0">
                <a:solidFill>
                  <a:srgbClr val="4F7A43"/>
                </a:solidFill>
                <a:latin typeface="Arial" pitchFamily="34" charset="0"/>
                <a:ea typeface="Arial" pitchFamily="34" charset="-122"/>
                <a:cs typeface="Arial" pitchFamily="34" charset="-120"/>
              </a:rPr>
              <a:t>HILL</a:t>
            </a:r>
            <a:endParaRPr lang="en-US" sz="550" dirty="0"/>
          </a:p>
        </p:txBody>
      </p:sp>
      <p:sp>
        <p:nvSpPr>
          <p:cNvPr id="131" name="Shape 129"/>
          <p:cNvSpPr/>
          <p:nvPr/>
        </p:nvSpPr>
        <p:spPr>
          <a:xfrm>
            <a:off x="10160447" y="3004901"/>
            <a:ext cx="43891" cy="43891"/>
          </a:xfrm>
          <a:prstGeom prst="ellipse">
            <a:avLst/>
          </a:prstGeom>
          <a:solidFill>
            <a:srgbClr val="C4262E"/>
          </a:solidFill>
          <a:ln/>
        </p:spPr>
      </p:sp>
      <p:sp>
        <p:nvSpPr>
          <p:cNvPr id="132" name="Shape 130"/>
          <p:cNvSpPr/>
          <p:nvPr/>
        </p:nvSpPr>
        <p:spPr>
          <a:xfrm>
            <a:off x="10163373" y="3051719"/>
            <a:ext cx="38039" cy="99487"/>
          </a:xfrm>
          <a:prstGeom prst="roundRect">
            <a:avLst>
              <a:gd name="adj" fmla="val 48077"/>
            </a:avLst>
          </a:prstGeom>
          <a:solidFill>
            <a:srgbClr val="C4262E"/>
          </a:solidFill>
          <a:ln/>
        </p:spPr>
      </p:sp>
      <p:sp>
        <p:nvSpPr>
          <p:cNvPr id="133" name="Shape 131"/>
          <p:cNvSpPr/>
          <p:nvPr/>
        </p:nvSpPr>
        <p:spPr>
          <a:xfrm>
            <a:off x="10273833" y="3091769"/>
            <a:ext cx="359981" cy="9144"/>
          </a:xfrm>
          <a:custGeom>
            <a:avLst/>
            <a:gdLst/>
            <a:ahLst/>
            <a:cxnLst/>
            <a:rect l="l" t="t" r="r" b="b"/>
            <a:pathLst>
              <a:path w="359981" h="9144">
                <a:moveTo>
                  <a:pt x="0" y="4572"/>
                </a:moveTo>
                <a:lnTo>
                  <a:pt x="359981" y="4572"/>
                </a:lnTo>
              </a:path>
            </a:pathLst>
          </a:custGeom>
          <a:ln w="19050">
            <a:solidFill>
              <a:srgbClr val="C4262E"/>
            </a:solidFill>
            <a:prstDash val="solid"/>
            <a:tailEnd type="triangle"/>
          </a:ln>
        </p:spPr>
      </p:sp>
      <p:sp>
        <p:nvSpPr>
          <p:cNvPr id="134" name="Shape 132"/>
          <p:cNvSpPr/>
          <p:nvPr/>
        </p:nvSpPr>
        <p:spPr>
          <a:xfrm>
            <a:off x="10633814" y="2300082"/>
            <a:ext cx="935175" cy="796260"/>
          </a:xfrm>
          <a:custGeom>
            <a:avLst/>
            <a:gdLst/>
            <a:ahLst/>
            <a:cxnLst/>
            <a:rect l="l" t="t" r="r" b="b"/>
            <a:pathLst>
              <a:path w="935175" h="796260">
                <a:moveTo>
                  <a:pt x="0" y="796260"/>
                </a:moveTo>
                <a:lnTo>
                  <a:pt x="0" y="286939"/>
                </a:lnTo>
                <a:lnTo>
                  <a:pt x="935175" y="0"/>
                </a:lnTo>
              </a:path>
            </a:pathLst>
          </a:custGeom>
          <a:ln w="19050">
            <a:solidFill>
              <a:srgbClr val="C4262E"/>
            </a:solidFill>
            <a:prstDash val="solid"/>
            <a:tailEnd type="triangle"/>
          </a:ln>
        </p:spPr>
      </p:sp>
      <p:sp>
        <p:nvSpPr>
          <p:cNvPr id="135" name="Shape 133"/>
          <p:cNvSpPr/>
          <p:nvPr/>
        </p:nvSpPr>
        <p:spPr>
          <a:xfrm>
            <a:off x="11547043" y="2202881"/>
            <a:ext cx="43891" cy="43891"/>
          </a:xfrm>
          <a:prstGeom prst="ellipse">
            <a:avLst/>
          </a:prstGeom>
          <a:solidFill>
            <a:srgbClr val="C4262E"/>
          </a:solidFill>
          <a:ln/>
        </p:spPr>
      </p:sp>
      <p:sp>
        <p:nvSpPr>
          <p:cNvPr id="136" name="Shape 134"/>
          <p:cNvSpPr/>
          <p:nvPr/>
        </p:nvSpPr>
        <p:spPr>
          <a:xfrm>
            <a:off x="11549969" y="2249698"/>
            <a:ext cx="38039" cy="99487"/>
          </a:xfrm>
          <a:prstGeom prst="roundRect">
            <a:avLst>
              <a:gd name="adj" fmla="val 48077"/>
            </a:avLst>
          </a:prstGeom>
          <a:solidFill>
            <a:srgbClr val="C4262E"/>
          </a:solidFill>
          <a:ln/>
        </p:spPr>
      </p:sp>
      <p:sp>
        <p:nvSpPr>
          <p:cNvPr id="137" name="Text 135"/>
          <p:cNvSpPr txBox="1"/>
          <p:nvPr/>
        </p:nvSpPr>
        <p:spPr>
          <a:xfrm>
            <a:off x="36576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WHY — FROM THE BRIEF</a:t>
            </a:r>
            <a:endParaRPr lang="en-US" sz="850" dirty="0"/>
          </a:p>
        </p:txBody>
      </p:sp>
      <p:sp>
        <p:nvSpPr>
          <p:cNvPr id="138" name="Text 136"/>
          <p:cNvSpPr txBox="1"/>
          <p:nvPr/>
        </p:nvSpPr>
        <p:spPr>
          <a:xfrm>
            <a:off x="36576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ISSUE   </a:t>
            </a:r>
            <a:pPr indent="0" marL="0">
              <a:spcAft>
                <a:spcPts val="500"/>
              </a:spcAft>
              <a:buNone/>
            </a:pPr>
            <a:r>
              <a:rPr lang="en-US" sz="750" dirty="0">
                <a:solidFill>
                  <a:srgbClr val="1B1B1B"/>
                </a:solidFill>
                <a:latin typeface="Arial" pitchFamily="34" charset="0"/>
                <a:ea typeface="Arial" pitchFamily="34" charset="-122"/>
                <a:cs typeface="Arial" pitchFamily="34" charset="-120"/>
              </a:rPr>
              <a:t>Who owns the landmark? Instead of an image-building on top, the institution stays low and the hill stays public.</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VISION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Public knowledge sits at the city's edge; the hill above stays open to everyone.</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SITE   </a:t>
            </a:r>
            <a:pPr indent="0" marL="0">
              <a:spcAft>
                <a:spcPts val="500"/>
              </a:spcAft>
              <a:buNone/>
            </a:pPr>
            <a:r>
              <a:rPr lang="en-US" sz="750" dirty="0">
                <a:solidFill>
                  <a:srgbClr val="1B1B1B"/>
                </a:solidFill>
                <a:latin typeface="Arial" pitchFamily="34" charset="0"/>
                <a:ea typeface="Arial" pitchFamily="34" charset="-122"/>
                <a:cs typeface="Arial" pitchFamily="34" charset="-120"/>
              </a:rPr>
              <a:t>Uses the flatter margin between road and the toe of the mound; mound and trees untouched.</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USERS   </a:t>
            </a:r>
            <a:pPr indent="0" marL="0">
              <a:spcAft>
                <a:spcPts val="500"/>
              </a:spcAft>
              <a:buNone/>
            </a:pPr>
            <a:r>
              <a:rPr lang="en-US" sz="750" dirty="0">
                <a:solidFill>
                  <a:srgbClr val="1B1B1B"/>
                </a:solidFill>
                <a:latin typeface="Arial" pitchFamily="34" charset="0"/>
                <a:ea typeface="Arial" pitchFamily="34" charset="-122"/>
                <a:cs typeface="Arial" pitchFamily="34" charset="-120"/>
              </a:rPr>
              <a:t>Public meets the ring from the road; professionals work in the inner half facing the hill.</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PROGRAM   </a:t>
            </a:r>
            <a:pPr indent="0" marL="0">
              <a:spcAft>
                <a:spcPts val="500"/>
              </a:spcAft>
              <a:buNone/>
            </a:pPr>
            <a:r>
              <a:rPr lang="en-US" sz="750" dirty="0">
                <a:solidFill>
                  <a:srgbClr val="1B1B1B"/>
                </a:solidFill>
                <a:latin typeface="Arial" pitchFamily="34" charset="0"/>
                <a:ea typeface="Arial" pitchFamily="34" charset="-122"/>
                <a:cs typeface="Arial" pitchFamily="34" charset="-120"/>
              </a:rPr>
              <a:t>Segments: forum + press at the protest edge, library, archive, research, media, publishing around the loop.</a:t>
            </a:r>
            <a:endParaRPr lang="en-US" sz="900" dirty="0"/>
          </a:p>
        </p:txBody>
      </p:sp>
      <p:sp>
        <p:nvSpPr>
          <p:cNvPr id="139" name="Text 137"/>
          <p:cNvSpPr txBox="1"/>
          <p:nvPr/>
        </p:nvSpPr>
        <p:spPr>
          <a:xfrm>
            <a:off x="420624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SPACE — WHAT IT BECOMES</a:t>
            </a:r>
            <a:endParaRPr lang="en-US" sz="850" dirty="0"/>
          </a:p>
        </p:txBody>
      </p:sp>
      <p:sp>
        <p:nvSpPr>
          <p:cNvPr id="140" name="Text 138"/>
          <p:cNvSpPr txBox="1"/>
          <p:nvPr/>
        </p:nvSpPr>
        <p:spPr>
          <a:xfrm>
            <a:off x="420624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SPATIAL IDEA   </a:t>
            </a:r>
            <a:pPr indent="0" marL="0">
              <a:spcAft>
                <a:spcPts val="500"/>
              </a:spcAft>
              <a:buNone/>
            </a:pPr>
            <a:r>
              <a:rPr lang="en-US" sz="750" dirty="0">
                <a:solidFill>
                  <a:srgbClr val="1B1B1B"/>
                </a:solidFill>
                <a:latin typeface="Arial" pitchFamily="34" charset="0"/>
                <a:ea typeface="Arial" pitchFamily="34" charset="-122"/>
                <a:cs typeface="Arial" pitchFamily="34" charset="-120"/>
              </a:rPr>
              <a:t>One continuous low building wrapping the hill, broken by gates at the junctions.</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CIRCULATION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Public loop on the road side; working corridor on the hill side; gates cross from road to hill.</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PUBLIC / PRIVATE   </a:t>
            </a:r>
            <a:pPr indent="0" marL="0">
              <a:spcAft>
                <a:spcPts val="500"/>
              </a:spcAft>
              <a:buNone/>
            </a:pPr>
            <a:r>
              <a:rPr lang="en-US" sz="750" dirty="0">
                <a:solidFill>
                  <a:srgbClr val="1B1B1B"/>
                </a:solidFill>
                <a:latin typeface="Arial" pitchFamily="34" charset="0"/>
                <a:ea typeface="Arial" pitchFamily="34" charset="-122"/>
                <a:cs typeface="Arial" pitchFamily="34" charset="-120"/>
              </a:rPr>
              <a:t>Outer face public → inner face working; archive in the thickest segment.</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MASSING / FORM   </a:t>
            </a:r>
            <a:pPr indent="0" marL="0">
              <a:spcAft>
                <a:spcPts val="500"/>
              </a:spcAft>
              <a:buNone/>
            </a:pPr>
            <a:r>
              <a:rPr lang="en-US" sz="750" dirty="0">
                <a:solidFill>
                  <a:srgbClr val="1B1B1B"/>
                </a:solidFill>
                <a:latin typeface="Arial" pitchFamily="34" charset="0"/>
                <a:ea typeface="Arial" pitchFamily="34" charset="-122"/>
                <a:cs typeface="Arial" pitchFamily="34" charset="-120"/>
              </a:rPr>
              <a:t>Long low ring, 1–2 floors; roof slopes up to meet the hill.</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SECTION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Road → arcade → rooms → working corridor → roof continuing onto the slope.</a:t>
            </a:r>
            <a:endParaRPr lang="en-US" sz="900" dirty="0"/>
          </a:p>
        </p:txBody>
      </p:sp>
      <p:sp>
        <p:nvSpPr>
          <p:cNvPr id="141" name="Text 139"/>
          <p:cNvSpPr txBox="1"/>
          <p:nvPr/>
        </p:nvSpPr>
        <p:spPr>
          <a:xfrm>
            <a:off x="804672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GROUND + EXPERIENCE</a:t>
            </a:r>
            <a:endParaRPr lang="en-US" sz="850" dirty="0"/>
          </a:p>
        </p:txBody>
      </p:sp>
      <p:sp>
        <p:nvSpPr>
          <p:cNvPr id="142" name="Text 140"/>
          <p:cNvSpPr txBox="1"/>
          <p:nvPr/>
        </p:nvSpPr>
        <p:spPr>
          <a:xfrm>
            <a:off x="804672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WHAT I ACTUALLY DO   </a:t>
            </a:r>
            <a:pPr indent="0" marL="0">
              <a:spcAft>
                <a:spcPts val="500"/>
              </a:spcAft>
              <a:buNone/>
            </a:pPr>
            <a:r>
              <a:rPr lang="en-US" sz="750" dirty="0">
                <a:solidFill>
                  <a:srgbClr val="1B1B1B"/>
                </a:solidFill>
                <a:latin typeface="Arial" pitchFamily="34" charset="0"/>
                <a:ea typeface="Arial" pitchFamily="34" charset="-122"/>
                <a:cs typeface="Arial" pitchFamily="34" charset="-120"/>
              </a:rPr>
              <a:t>① offset a band inside the boundary  ② break it at the junctions  ③ slope the roof up to the hill</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LANDSCAPE / TOPOGRAPHY   </a:t>
            </a:r>
            <a:pPr indent="0" marL="0">
              <a:spcAft>
                <a:spcPts val="500"/>
              </a:spcAft>
              <a:buNone/>
            </a:pPr>
            <a:r>
              <a:rPr lang="en-US" sz="750" dirty="0">
                <a:solidFill>
                  <a:srgbClr val="1B1B1B"/>
                </a:solidFill>
                <a:latin typeface="Arial" pitchFamily="34" charset="0"/>
                <a:ea typeface="Arial" pitchFamily="34" charset="-122"/>
                <a:cs typeface="Arial" pitchFamily="34" charset="-120"/>
              </a:rPr>
              <a:t>Builds only on the toe; the mound's profile is extended, never cut.</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EXPERIENCE   </a:t>
            </a:r>
            <a:pPr indent="0" marL="0">
              <a:spcAft>
                <a:spcPts val="500"/>
              </a:spcAft>
              <a:buNone/>
            </a:pPr>
            <a:r>
              <a:rPr lang="en-US" sz="750" dirty="0">
                <a:solidFill>
                  <a:srgbClr val="1B1B1B"/>
                </a:solidFill>
                <a:latin typeface="Arial" pitchFamily="34" charset="0"/>
                <a:ea typeface="Arial" pitchFamily="34" charset="-122"/>
                <a:cs typeface="Arial" pitchFamily="34" charset="-120"/>
              </a:rPr>
              <a:t>A sheltered walk along the edge; through a gate, the green hill opens up.</a:t>
            </a:r>
            <a:endParaRPr lang="en-US" sz="900" dirty="0"/>
          </a:p>
        </p:txBody>
      </p:sp>
      <p:sp>
        <p:nvSpPr>
          <p:cNvPr id="143" name="Shape 141"/>
          <p:cNvSpPr/>
          <p:nvPr/>
        </p:nvSpPr>
        <p:spPr>
          <a:xfrm>
            <a:off x="365760" y="6446520"/>
            <a:ext cx="146304" cy="109728"/>
          </a:xfrm>
          <a:prstGeom prst="rect">
            <a:avLst/>
          </a:prstGeom>
          <a:solidFill>
            <a:srgbClr val="C4262E"/>
          </a:solidFill>
          <a:ln/>
        </p:spPr>
      </p:sp>
      <p:sp>
        <p:nvSpPr>
          <p:cNvPr id="144" name="Text 142"/>
          <p:cNvSpPr txBox="1"/>
          <p:nvPr/>
        </p:nvSpPr>
        <p:spPr>
          <a:xfrm>
            <a:off x="612648" y="6428232"/>
            <a:ext cx="33832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a:t>
            </a:r>
            <a:endParaRPr lang="en-US" sz="650" dirty="0"/>
          </a:p>
        </p:txBody>
      </p:sp>
      <p:sp>
        <p:nvSpPr>
          <p:cNvPr id="145" name="Shape 143"/>
          <p:cNvSpPr/>
          <p:nvPr/>
        </p:nvSpPr>
        <p:spPr>
          <a:xfrm>
            <a:off x="1024128" y="6446520"/>
            <a:ext cx="146304" cy="109728"/>
          </a:xfrm>
          <a:prstGeom prst="rect">
            <a:avLst/>
          </a:prstGeom>
          <a:solidFill>
            <a:srgbClr val="F0B9BC"/>
          </a:solidFill>
          <a:ln/>
        </p:spPr>
      </p:sp>
      <p:sp>
        <p:nvSpPr>
          <p:cNvPr id="146" name="Text 144"/>
          <p:cNvSpPr txBox="1"/>
          <p:nvPr/>
        </p:nvSpPr>
        <p:spPr>
          <a:xfrm>
            <a:off x="1271016" y="6428232"/>
            <a:ext cx="54406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semi-public</a:t>
            </a:r>
            <a:endParaRPr lang="en-US" sz="650" dirty="0"/>
          </a:p>
        </p:txBody>
      </p:sp>
      <p:sp>
        <p:nvSpPr>
          <p:cNvPr id="147" name="Shape 145"/>
          <p:cNvSpPr/>
          <p:nvPr/>
        </p:nvSpPr>
        <p:spPr>
          <a:xfrm>
            <a:off x="1888236" y="6446520"/>
            <a:ext cx="146304" cy="109728"/>
          </a:xfrm>
          <a:prstGeom prst="rect">
            <a:avLst/>
          </a:prstGeom>
          <a:solidFill>
            <a:srgbClr val="9A9A9A"/>
          </a:solidFill>
          <a:ln/>
        </p:spPr>
      </p:sp>
      <p:sp>
        <p:nvSpPr>
          <p:cNvPr id="148" name="Text 146"/>
          <p:cNvSpPr txBox="1"/>
          <p:nvPr/>
        </p:nvSpPr>
        <p:spPr>
          <a:xfrm>
            <a:off x="2135124" y="6428232"/>
            <a:ext cx="379476"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a:t>
            </a:r>
            <a:endParaRPr lang="en-US" sz="650" dirty="0"/>
          </a:p>
        </p:txBody>
      </p:sp>
      <p:sp>
        <p:nvSpPr>
          <p:cNvPr id="149" name="Shape 147"/>
          <p:cNvSpPr/>
          <p:nvPr/>
        </p:nvSpPr>
        <p:spPr>
          <a:xfrm>
            <a:off x="2587752" y="6446520"/>
            <a:ext cx="146304" cy="109728"/>
          </a:xfrm>
          <a:prstGeom prst="rect">
            <a:avLst/>
          </a:prstGeom>
          <a:solidFill>
            <a:srgbClr val="1B1B1B"/>
          </a:solidFill>
          <a:ln/>
        </p:spPr>
      </p:sp>
      <p:sp>
        <p:nvSpPr>
          <p:cNvPr id="150" name="Text 148"/>
          <p:cNvSpPr txBox="1"/>
          <p:nvPr/>
        </p:nvSpPr>
        <p:spPr>
          <a:xfrm>
            <a:off x="2834640" y="6428232"/>
            <a:ext cx="46177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protected</a:t>
            </a:r>
            <a:endParaRPr lang="en-US" sz="650" dirty="0"/>
          </a:p>
        </p:txBody>
      </p:sp>
      <p:sp>
        <p:nvSpPr>
          <p:cNvPr id="151" name="Shape 149"/>
          <p:cNvSpPr/>
          <p:nvPr/>
        </p:nvSpPr>
        <p:spPr>
          <a:xfrm>
            <a:off x="3369564" y="6496812"/>
            <a:ext cx="201168" cy="9144"/>
          </a:xfrm>
          <a:custGeom>
            <a:avLst/>
            <a:gdLst/>
            <a:ahLst/>
            <a:cxnLst/>
            <a:rect l="l" t="t" r="r" b="b"/>
            <a:pathLst>
              <a:path w="201168" h="9144">
                <a:moveTo>
                  <a:pt x="0" y="4572"/>
                </a:moveTo>
                <a:lnTo>
                  <a:pt x="201168" y="4572"/>
                </a:lnTo>
              </a:path>
            </a:pathLst>
          </a:custGeom>
          <a:ln w="25400">
            <a:solidFill>
              <a:srgbClr val="C4262E"/>
            </a:solidFill>
            <a:prstDash val="solid"/>
          </a:ln>
        </p:spPr>
      </p:sp>
      <p:sp>
        <p:nvSpPr>
          <p:cNvPr id="152" name="Text 150"/>
          <p:cNvSpPr txBox="1"/>
          <p:nvPr/>
        </p:nvSpPr>
        <p:spPr>
          <a:xfrm>
            <a:off x="3616452" y="6428232"/>
            <a:ext cx="708660"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 movement</a:t>
            </a:r>
            <a:endParaRPr lang="en-US" sz="650" dirty="0"/>
          </a:p>
        </p:txBody>
      </p:sp>
      <p:sp>
        <p:nvSpPr>
          <p:cNvPr id="153" name="Shape 151"/>
          <p:cNvSpPr/>
          <p:nvPr/>
        </p:nvSpPr>
        <p:spPr>
          <a:xfrm>
            <a:off x="4398264" y="6496812"/>
            <a:ext cx="201168" cy="9144"/>
          </a:xfrm>
          <a:custGeom>
            <a:avLst/>
            <a:gdLst/>
            <a:ahLst/>
            <a:cxnLst/>
            <a:rect l="l" t="t" r="r" b="b"/>
            <a:pathLst>
              <a:path w="201168" h="9144">
                <a:moveTo>
                  <a:pt x="0" y="4572"/>
                </a:moveTo>
                <a:lnTo>
                  <a:pt x="201168" y="4572"/>
                </a:lnTo>
              </a:path>
            </a:pathLst>
          </a:custGeom>
          <a:ln w="25400">
            <a:solidFill>
              <a:srgbClr val="1B1B1B"/>
            </a:solidFill>
            <a:prstDash val="solid"/>
          </a:ln>
        </p:spPr>
      </p:sp>
      <p:sp>
        <p:nvSpPr>
          <p:cNvPr id="154" name="Text 152"/>
          <p:cNvSpPr txBox="1"/>
          <p:nvPr/>
        </p:nvSpPr>
        <p:spPr>
          <a:xfrm>
            <a:off x="4645152" y="6428232"/>
            <a:ext cx="74980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 movement</a:t>
            </a:r>
            <a:endParaRPr lang="en-US" sz="650" dirty="0"/>
          </a:p>
        </p:txBody>
      </p:sp>
      <p:sp>
        <p:nvSpPr>
          <p:cNvPr id="155" name="Shape 153"/>
          <p:cNvSpPr/>
          <p:nvPr/>
        </p:nvSpPr>
        <p:spPr>
          <a:xfrm>
            <a:off x="5468112" y="6496812"/>
            <a:ext cx="201168" cy="9144"/>
          </a:xfrm>
          <a:custGeom>
            <a:avLst/>
            <a:gdLst/>
            <a:ahLst/>
            <a:cxnLst/>
            <a:rect l="l" t="t" r="r" b="b"/>
            <a:pathLst>
              <a:path w="201168" h="9144">
                <a:moveTo>
                  <a:pt x="0" y="4572"/>
                </a:moveTo>
                <a:lnTo>
                  <a:pt x="201168" y="4572"/>
                </a:lnTo>
              </a:path>
            </a:pathLst>
          </a:custGeom>
          <a:ln w="15875">
            <a:solidFill>
              <a:srgbClr val="4F7A43"/>
            </a:solidFill>
            <a:prstDash val="dash"/>
          </a:ln>
        </p:spPr>
      </p:sp>
      <p:sp>
        <p:nvSpPr>
          <p:cNvPr id="156" name="Text 154"/>
          <p:cNvSpPr txBox="1"/>
          <p:nvPr/>
        </p:nvSpPr>
        <p:spPr>
          <a:xfrm>
            <a:off x="5715000" y="6428232"/>
            <a:ext cx="832104"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indicative contour</a:t>
            </a:r>
            <a:endParaRPr lang="en-US" sz="650" dirty="0"/>
          </a:p>
        </p:txBody>
      </p:sp>
      <p:sp>
        <p:nvSpPr>
          <p:cNvPr id="157" name="Shape 155"/>
          <p:cNvSpPr/>
          <p:nvPr/>
        </p:nvSpPr>
        <p:spPr>
          <a:xfrm>
            <a:off x="6638544" y="6455664"/>
            <a:ext cx="91440" cy="91440"/>
          </a:xfrm>
          <a:prstGeom prst="ellipse">
            <a:avLst/>
          </a:prstGeom>
          <a:ln w="9525">
            <a:solidFill>
              <a:srgbClr val="4F7A43"/>
            </a:solidFill>
            <a:prstDash val="solid"/>
          </a:ln>
        </p:spPr>
      </p:sp>
      <p:sp>
        <p:nvSpPr>
          <p:cNvPr id="158" name="Text 156"/>
          <p:cNvSpPr txBox="1"/>
          <p:nvPr/>
        </p:nvSpPr>
        <p:spPr>
          <a:xfrm>
            <a:off x="6867144" y="6428232"/>
            <a:ext cx="66751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existing trees</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DIRECTION B — THE THICK EDGE</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building the protest interface</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04</a:t>
            </a:r>
            <a:endParaRPr lang="en-US" sz="3400" dirty="0"/>
          </a:p>
        </p:txBody>
      </p:sp>
      <p:sp>
        <p:nvSpPr>
          <p:cNvPr id="6" name="Shape 4"/>
          <p:cNvSpPr/>
          <p:nvPr/>
        </p:nvSpPr>
        <p:spPr>
          <a:xfrm>
            <a:off x="10241280" y="896112"/>
            <a:ext cx="1554480" cy="182880"/>
          </a:xfrm>
          <a:prstGeom prst="roundRect">
            <a:avLst>
              <a:gd name="adj" fmla="val 20000"/>
            </a:avLst>
          </a:prstGeom>
          <a:solidFill>
            <a:srgbClr val="C4262E"/>
          </a:solidFill>
          <a:ln w="9525">
            <a:solidFill>
              <a:srgbClr val="C4262E"/>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sp>
        <p:nvSpPr>
          <p:cNvPr id="8" name="Text 6"/>
          <p:cNvSpPr txBox="1"/>
          <p:nvPr/>
        </p:nvSpPr>
        <p:spPr>
          <a:xfrm>
            <a:off x="365760" y="1097280"/>
            <a:ext cx="11430000" cy="411480"/>
          </a:xfrm>
          <a:prstGeom prst="rect">
            <a:avLst/>
          </a:prstGeom>
          <a:noFill/>
          <a:ln/>
        </p:spPr>
        <p:txBody>
          <a:bodyPr wrap="square" lIns="0" tIns="0" rIns="0" bIns="0" rtlCol="0" anchor="t"/>
          <a:lstStyle/>
          <a:p>
            <a:pPr indent="0" marL="0">
              <a:buNone/>
            </a:pPr>
            <a:r>
              <a:rPr lang="en-US" sz="1050" b="1" dirty="0">
                <a:solidFill>
                  <a:srgbClr val="1B1B1B"/>
                </a:solidFill>
                <a:latin typeface="Arial" pitchFamily="34" charset="0"/>
                <a:ea typeface="Arial" pitchFamily="34" charset="-122"/>
                <a:cs typeface="Arial" pitchFamily="34" charset="-120"/>
              </a:rPr>
              <a:t>Build the protest edge itself: one thick building along the street whose ground floor is a covered public room for speech, press and gathering, with work stacked behind and above.</a:t>
            </a:r>
            <a:endParaRPr lang="en-US" sz="1050" dirty="0"/>
          </a:p>
        </p:txBody>
      </p:sp>
      <p:sp>
        <p:nvSpPr>
          <p:cNvPr id="9" name="Shape 7"/>
          <p:cNvSpPr/>
          <p:nvPr/>
        </p:nvSpPr>
        <p:spPr>
          <a:xfrm>
            <a:off x="365760" y="1627632"/>
            <a:ext cx="1828800" cy="1920240"/>
          </a:xfrm>
          <a:prstGeom prst="rect">
            <a:avLst/>
          </a:prstGeom>
          <a:solidFill>
            <a:srgbClr val="FFFFFF"/>
          </a:solidFill>
          <a:ln w="6350">
            <a:solidFill>
              <a:srgbClr val="D9D9D9"/>
            </a:solidFill>
            <a:prstDash val="solid"/>
          </a:ln>
        </p:spPr>
      </p:sp>
      <p:sp>
        <p:nvSpPr>
          <p:cNvPr id="10" name="Text 8"/>
          <p:cNvSpPr txBox="1"/>
          <p:nvPr/>
        </p:nvSpPr>
        <p:spPr>
          <a:xfrm>
            <a:off x="43891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01  </a:t>
            </a:r>
            <a:pPr indent="0" marL="0">
              <a:buNone/>
            </a:pPr>
            <a:r>
              <a:rPr lang="en-US" sz="750" b="1" spc="50" kern="0" dirty="0">
                <a:solidFill>
                  <a:srgbClr val="1B1B1B"/>
                </a:solidFill>
                <a:latin typeface="Arial" pitchFamily="34" charset="0"/>
                <a:ea typeface="Arial" pitchFamily="34" charset="-122"/>
                <a:cs typeface="Arial" pitchFamily="34" charset="-120"/>
              </a:rPr>
              <a:t>SITE</a:t>
            </a:r>
            <a:endParaRPr lang="en-US" sz="750" dirty="0"/>
          </a:p>
        </p:txBody>
      </p:sp>
      <p:sp>
        <p:nvSpPr>
          <p:cNvPr id="11" name="Shape 9"/>
          <p:cNvSpPr/>
          <p:nvPr/>
        </p:nvSpPr>
        <p:spPr>
          <a:xfrm>
            <a:off x="55576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12" name="Shape 10"/>
          <p:cNvSpPr/>
          <p:nvPr/>
        </p:nvSpPr>
        <p:spPr>
          <a:xfrm>
            <a:off x="42062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13" name="Shape 11"/>
          <p:cNvSpPr/>
          <p:nvPr/>
        </p:nvSpPr>
        <p:spPr>
          <a:xfrm>
            <a:off x="198984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14" name="Shape 12"/>
          <p:cNvSpPr/>
          <p:nvPr/>
        </p:nvSpPr>
        <p:spPr>
          <a:xfrm>
            <a:off x="67649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15" name="Shape 13"/>
          <p:cNvSpPr/>
          <p:nvPr/>
        </p:nvSpPr>
        <p:spPr>
          <a:xfrm>
            <a:off x="910718" y="2433218"/>
            <a:ext cx="869276" cy="544837"/>
          </a:xfrm>
          <a:custGeom>
            <a:avLst/>
            <a:gdLst/>
            <a:ahLst/>
            <a:cxnLst/>
            <a:rect l="l" t="t" r="r" b="b"/>
            <a:pathLst>
              <a:path w="869276" h="544837">
                <a:moveTo>
                  <a:pt x="860450" y="462002"/>
                </a:moveTo>
                <a:lnTo>
                  <a:pt x="849001" y="481438"/>
                </a:lnTo>
                <a:lnTo>
                  <a:pt x="833013" y="498583"/>
                </a:lnTo>
                <a:lnTo>
                  <a:pt x="812660" y="513251"/>
                </a:lnTo>
                <a:lnTo>
                  <a:pt x="788166" y="525280"/>
                </a:lnTo>
                <a:lnTo>
                  <a:pt x="759798" y="534539"/>
                </a:lnTo>
                <a:lnTo>
                  <a:pt x="727867" y="540926"/>
                </a:lnTo>
                <a:lnTo>
                  <a:pt x="692724" y="544371"/>
                </a:lnTo>
                <a:lnTo>
                  <a:pt x="654753" y="544837"/>
                </a:lnTo>
                <a:lnTo>
                  <a:pt x="614371" y="542318"/>
                </a:lnTo>
                <a:lnTo>
                  <a:pt x="572019" y="536841"/>
                </a:lnTo>
                <a:lnTo>
                  <a:pt x="528162" y="528468"/>
                </a:lnTo>
                <a:lnTo>
                  <a:pt x="483281" y="517289"/>
                </a:lnTo>
                <a:lnTo>
                  <a:pt x="437867" y="503428"/>
                </a:lnTo>
                <a:lnTo>
                  <a:pt x="392417" y="487036"/>
                </a:lnTo>
                <a:lnTo>
                  <a:pt x="347430" y="468292"/>
                </a:lnTo>
                <a:lnTo>
                  <a:pt x="303398" y="447402"/>
                </a:lnTo>
                <a:lnTo>
                  <a:pt x="260804" y="424595"/>
                </a:lnTo>
                <a:lnTo>
                  <a:pt x="220115" y="400120"/>
                </a:lnTo>
                <a:lnTo>
                  <a:pt x="181776" y="374247"/>
                </a:lnTo>
                <a:lnTo>
                  <a:pt x="146208" y="347258"/>
                </a:lnTo>
                <a:lnTo>
                  <a:pt x="113799" y="319449"/>
                </a:lnTo>
                <a:lnTo>
                  <a:pt x="84906" y="291124"/>
                </a:lnTo>
                <a:lnTo>
                  <a:pt x="59845" y="262595"/>
                </a:lnTo>
                <a:lnTo>
                  <a:pt x="38890" y="234174"/>
                </a:lnTo>
                <a:lnTo>
                  <a:pt x="22270" y="206171"/>
                </a:lnTo>
                <a:lnTo>
                  <a:pt x="10169" y="178894"/>
                </a:lnTo>
                <a:lnTo>
                  <a:pt x="2718" y="152642"/>
                </a:lnTo>
                <a:lnTo>
                  <a:pt x="0" y="127702"/>
                </a:lnTo>
                <a:lnTo>
                  <a:pt x="2044" y="104348"/>
                </a:lnTo>
                <a:lnTo>
                  <a:pt x="8827" y="82835"/>
                </a:lnTo>
                <a:lnTo>
                  <a:pt x="20275" y="63399"/>
                </a:lnTo>
                <a:lnTo>
                  <a:pt x="36263" y="46253"/>
                </a:lnTo>
                <a:lnTo>
                  <a:pt x="56616" y="31586"/>
                </a:lnTo>
                <a:lnTo>
                  <a:pt x="81111" y="19556"/>
                </a:lnTo>
                <a:lnTo>
                  <a:pt x="109479" y="10298"/>
                </a:lnTo>
                <a:lnTo>
                  <a:pt x="141409" y="3911"/>
                </a:lnTo>
                <a:lnTo>
                  <a:pt x="176552" y="466"/>
                </a:lnTo>
                <a:lnTo>
                  <a:pt x="214523" y="0"/>
                </a:lnTo>
                <a:lnTo>
                  <a:pt x="254906" y="2519"/>
                </a:lnTo>
                <a:lnTo>
                  <a:pt x="297257" y="7995"/>
                </a:lnTo>
                <a:lnTo>
                  <a:pt x="341114" y="16369"/>
                </a:lnTo>
                <a:lnTo>
                  <a:pt x="385995" y="27547"/>
                </a:lnTo>
                <a:lnTo>
                  <a:pt x="431410" y="41409"/>
                </a:lnTo>
                <a:lnTo>
                  <a:pt x="476859" y="57801"/>
                </a:lnTo>
                <a:lnTo>
                  <a:pt x="521847" y="76545"/>
                </a:lnTo>
                <a:lnTo>
                  <a:pt x="565878" y="97435"/>
                </a:lnTo>
                <a:lnTo>
                  <a:pt x="608472" y="120242"/>
                </a:lnTo>
                <a:lnTo>
                  <a:pt x="649161" y="144716"/>
                </a:lnTo>
                <a:lnTo>
                  <a:pt x="687500" y="170590"/>
                </a:lnTo>
                <a:lnTo>
                  <a:pt x="723069" y="197579"/>
                </a:lnTo>
                <a:lnTo>
                  <a:pt x="755477" y="225388"/>
                </a:lnTo>
                <a:lnTo>
                  <a:pt x="784370" y="253712"/>
                </a:lnTo>
                <a:lnTo>
                  <a:pt x="809432" y="282242"/>
                </a:lnTo>
                <a:lnTo>
                  <a:pt x="830387" y="310663"/>
                </a:lnTo>
                <a:lnTo>
                  <a:pt x="847006" y="338666"/>
                </a:lnTo>
                <a:lnTo>
                  <a:pt x="859107" y="365943"/>
                </a:lnTo>
                <a:lnTo>
                  <a:pt x="866558" y="392195"/>
                </a:lnTo>
                <a:lnTo>
                  <a:pt x="869276" y="417135"/>
                </a:lnTo>
                <a:lnTo>
                  <a:pt x="867233" y="440489"/>
                </a:lnTo>
                <a:close/>
              </a:path>
            </a:pathLst>
          </a:custGeom>
          <a:ln w="6350">
            <a:solidFill>
              <a:srgbClr val="4F7A43"/>
            </a:solidFill>
            <a:prstDash val="dash"/>
          </a:ln>
        </p:spPr>
      </p:sp>
      <p:sp>
        <p:nvSpPr>
          <p:cNvPr id="16" name="Shape 14"/>
          <p:cNvSpPr/>
          <p:nvPr/>
        </p:nvSpPr>
        <p:spPr>
          <a:xfrm>
            <a:off x="1067671" y="2531592"/>
            <a:ext cx="555371" cy="348090"/>
          </a:xfrm>
          <a:custGeom>
            <a:avLst/>
            <a:gdLst/>
            <a:ahLst/>
            <a:cxnLst/>
            <a:rect l="l" t="t" r="r" b="b"/>
            <a:pathLst>
              <a:path w="555371" h="348090">
                <a:moveTo>
                  <a:pt x="549732" y="295168"/>
                </a:moveTo>
                <a:lnTo>
                  <a:pt x="542417" y="307585"/>
                </a:lnTo>
                <a:lnTo>
                  <a:pt x="532203" y="318539"/>
                </a:lnTo>
                <a:lnTo>
                  <a:pt x="519200" y="327910"/>
                </a:lnTo>
                <a:lnTo>
                  <a:pt x="503550" y="335596"/>
                </a:lnTo>
                <a:lnTo>
                  <a:pt x="485426" y="341511"/>
                </a:lnTo>
                <a:lnTo>
                  <a:pt x="465026" y="345592"/>
                </a:lnTo>
                <a:lnTo>
                  <a:pt x="442574" y="347793"/>
                </a:lnTo>
                <a:lnTo>
                  <a:pt x="418315" y="348090"/>
                </a:lnTo>
                <a:lnTo>
                  <a:pt x="392515" y="346481"/>
                </a:lnTo>
                <a:lnTo>
                  <a:pt x="365457" y="342982"/>
                </a:lnTo>
                <a:lnTo>
                  <a:pt x="337437" y="337632"/>
                </a:lnTo>
                <a:lnTo>
                  <a:pt x="308763" y="330490"/>
                </a:lnTo>
                <a:lnTo>
                  <a:pt x="279748" y="321635"/>
                </a:lnTo>
                <a:lnTo>
                  <a:pt x="250711" y="311162"/>
                </a:lnTo>
                <a:lnTo>
                  <a:pt x="221969" y="299186"/>
                </a:lnTo>
                <a:lnTo>
                  <a:pt x="193838" y="285840"/>
                </a:lnTo>
                <a:lnTo>
                  <a:pt x="166625" y="271269"/>
                </a:lnTo>
                <a:lnTo>
                  <a:pt x="140629" y="255632"/>
                </a:lnTo>
                <a:lnTo>
                  <a:pt x="116135" y="239102"/>
                </a:lnTo>
                <a:lnTo>
                  <a:pt x="93410" y="221859"/>
                </a:lnTo>
                <a:lnTo>
                  <a:pt x="72705" y="204092"/>
                </a:lnTo>
                <a:lnTo>
                  <a:pt x="54246" y="185996"/>
                </a:lnTo>
                <a:lnTo>
                  <a:pt x="38234" y="167769"/>
                </a:lnTo>
                <a:lnTo>
                  <a:pt x="24846" y="149611"/>
                </a:lnTo>
                <a:lnTo>
                  <a:pt x="14228" y="131720"/>
                </a:lnTo>
                <a:lnTo>
                  <a:pt x="6497" y="114293"/>
                </a:lnTo>
                <a:lnTo>
                  <a:pt x="1737" y="97521"/>
                </a:lnTo>
                <a:lnTo>
                  <a:pt x="0" y="81587"/>
                </a:lnTo>
                <a:lnTo>
                  <a:pt x="1306" y="66667"/>
                </a:lnTo>
                <a:lnTo>
                  <a:pt x="5639" y="52922"/>
                </a:lnTo>
                <a:lnTo>
                  <a:pt x="12954" y="40505"/>
                </a:lnTo>
                <a:lnTo>
                  <a:pt x="23168" y="29551"/>
                </a:lnTo>
                <a:lnTo>
                  <a:pt x="36171" y="20180"/>
                </a:lnTo>
                <a:lnTo>
                  <a:pt x="51821" y="12494"/>
                </a:lnTo>
                <a:lnTo>
                  <a:pt x="69945" y="6579"/>
                </a:lnTo>
                <a:lnTo>
                  <a:pt x="90345" y="2498"/>
                </a:lnTo>
                <a:lnTo>
                  <a:pt x="112797" y="297"/>
                </a:lnTo>
                <a:lnTo>
                  <a:pt x="137056" y="0"/>
                </a:lnTo>
                <a:lnTo>
                  <a:pt x="162856" y="1609"/>
                </a:lnTo>
                <a:lnTo>
                  <a:pt x="189914" y="5108"/>
                </a:lnTo>
                <a:lnTo>
                  <a:pt x="217934" y="10458"/>
                </a:lnTo>
                <a:lnTo>
                  <a:pt x="246608" y="17600"/>
                </a:lnTo>
                <a:lnTo>
                  <a:pt x="275623" y="26456"/>
                </a:lnTo>
                <a:lnTo>
                  <a:pt x="304660" y="36929"/>
                </a:lnTo>
                <a:lnTo>
                  <a:pt x="333402" y="48904"/>
                </a:lnTo>
                <a:lnTo>
                  <a:pt x="361533" y="62250"/>
                </a:lnTo>
                <a:lnTo>
                  <a:pt x="388746" y="76821"/>
                </a:lnTo>
                <a:lnTo>
                  <a:pt x="414742" y="92458"/>
                </a:lnTo>
                <a:lnTo>
                  <a:pt x="439236" y="108988"/>
                </a:lnTo>
                <a:lnTo>
                  <a:pt x="461961" y="126231"/>
                </a:lnTo>
                <a:lnTo>
                  <a:pt x="482666" y="143998"/>
                </a:lnTo>
                <a:lnTo>
                  <a:pt x="501125" y="162094"/>
                </a:lnTo>
                <a:lnTo>
                  <a:pt x="517137" y="180321"/>
                </a:lnTo>
                <a:lnTo>
                  <a:pt x="530525" y="198479"/>
                </a:lnTo>
                <a:lnTo>
                  <a:pt x="541143" y="216370"/>
                </a:lnTo>
                <a:lnTo>
                  <a:pt x="548874" y="233797"/>
                </a:lnTo>
                <a:lnTo>
                  <a:pt x="553634" y="250569"/>
                </a:lnTo>
                <a:lnTo>
                  <a:pt x="555371" y="266503"/>
                </a:lnTo>
                <a:lnTo>
                  <a:pt x="554065" y="281424"/>
                </a:lnTo>
                <a:close/>
              </a:path>
            </a:pathLst>
          </a:custGeom>
          <a:ln w="6350">
            <a:solidFill>
              <a:srgbClr val="4F7A43"/>
            </a:solidFill>
            <a:prstDash val="dash"/>
          </a:ln>
        </p:spPr>
      </p:sp>
      <p:sp>
        <p:nvSpPr>
          <p:cNvPr id="17" name="Shape 15"/>
          <p:cNvSpPr/>
          <p:nvPr/>
        </p:nvSpPr>
        <p:spPr>
          <a:xfrm>
            <a:off x="1212551" y="2622398"/>
            <a:ext cx="265612" cy="166478"/>
          </a:xfrm>
          <a:custGeom>
            <a:avLst/>
            <a:gdLst/>
            <a:ahLst/>
            <a:cxnLst/>
            <a:rect l="l" t="t" r="r" b="b"/>
            <a:pathLst>
              <a:path w="265612" h="166478">
                <a:moveTo>
                  <a:pt x="262915" y="141167"/>
                </a:moveTo>
                <a:lnTo>
                  <a:pt x="259417" y="147106"/>
                </a:lnTo>
                <a:lnTo>
                  <a:pt x="254532" y="152345"/>
                </a:lnTo>
                <a:lnTo>
                  <a:pt x="248313" y="156827"/>
                </a:lnTo>
                <a:lnTo>
                  <a:pt x="240828" y="160502"/>
                </a:lnTo>
                <a:lnTo>
                  <a:pt x="232160" y="163331"/>
                </a:lnTo>
                <a:lnTo>
                  <a:pt x="222404" y="165283"/>
                </a:lnTo>
                <a:lnTo>
                  <a:pt x="211666" y="166336"/>
                </a:lnTo>
                <a:lnTo>
                  <a:pt x="200063" y="166478"/>
                </a:lnTo>
                <a:lnTo>
                  <a:pt x="187724" y="165708"/>
                </a:lnTo>
                <a:lnTo>
                  <a:pt x="174784" y="164035"/>
                </a:lnTo>
                <a:lnTo>
                  <a:pt x="161383" y="161476"/>
                </a:lnTo>
                <a:lnTo>
                  <a:pt x="147669" y="158061"/>
                </a:lnTo>
                <a:lnTo>
                  <a:pt x="133793" y="153825"/>
                </a:lnTo>
                <a:lnTo>
                  <a:pt x="119905" y="148816"/>
                </a:lnTo>
                <a:lnTo>
                  <a:pt x="106159" y="143089"/>
                </a:lnTo>
                <a:lnTo>
                  <a:pt x="92705" y="136706"/>
                </a:lnTo>
                <a:lnTo>
                  <a:pt x="79690" y="129737"/>
                </a:lnTo>
                <a:lnTo>
                  <a:pt x="67257" y="122259"/>
                </a:lnTo>
                <a:lnTo>
                  <a:pt x="55543" y="114353"/>
                </a:lnTo>
                <a:lnTo>
                  <a:pt x="44675" y="106107"/>
                </a:lnTo>
                <a:lnTo>
                  <a:pt x="34772" y="97609"/>
                </a:lnTo>
                <a:lnTo>
                  <a:pt x="25944" y="88955"/>
                </a:lnTo>
                <a:lnTo>
                  <a:pt x="18286" y="80237"/>
                </a:lnTo>
                <a:lnTo>
                  <a:pt x="11883" y="71553"/>
                </a:lnTo>
                <a:lnTo>
                  <a:pt x="6805" y="62997"/>
                </a:lnTo>
                <a:lnTo>
                  <a:pt x="3107" y="54662"/>
                </a:lnTo>
                <a:lnTo>
                  <a:pt x="831" y="46641"/>
                </a:lnTo>
                <a:lnTo>
                  <a:pt x="0" y="39020"/>
                </a:lnTo>
                <a:lnTo>
                  <a:pt x="624" y="31884"/>
                </a:lnTo>
                <a:lnTo>
                  <a:pt x="2697" y="25311"/>
                </a:lnTo>
                <a:lnTo>
                  <a:pt x="6195" y="19372"/>
                </a:lnTo>
                <a:lnTo>
                  <a:pt x="11080" y="14133"/>
                </a:lnTo>
                <a:lnTo>
                  <a:pt x="17299" y="9651"/>
                </a:lnTo>
                <a:lnTo>
                  <a:pt x="24784" y="5976"/>
                </a:lnTo>
                <a:lnTo>
                  <a:pt x="33452" y="3146"/>
                </a:lnTo>
                <a:lnTo>
                  <a:pt x="43208" y="1195"/>
                </a:lnTo>
                <a:lnTo>
                  <a:pt x="53947" y="142"/>
                </a:lnTo>
                <a:lnTo>
                  <a:pt x="65549" y="0"/>
                </a:lnTo>
                <a:lnTo>
                  <a:pt x="77888" y="770"/>
                </a:lnTo>
                <a:lnTo>
                  <a:pt x="90829" y="2443"/>
                </a:lnTo>
                <a:lnTo>
                  <a:pt x="104229" y="5002"/>
                </a:lnTo>
                <a:lnTo>
                  <a:pt x="117943" y="8417"/>
                </a:lnTo>
                <a:lnTo>
                  <a:pt x="131820" y="12653"/>
                </a:lnTo>
                <a:lnTo>
                  <a:pt x="145707" y="17661"/>
                </a:lnTo>
                <a:lnTo>
                  <a:pt x="159453" y="23389"/>
                </a:lnTo>
                <a:lnTo>
                  <a:pt x="172907" y="29772"/>
                </a:lnTo>
                <a:lnTo>
                  <a:pt x="185922" y="36741"/>
                </a:lnTo>
                <a:lnTo>
                  <a:pt x="198355" y="44219"/>
                </a:lnTo>
                <a:lnTo>
                  <a:pt x="210069" y="52125"/>
                </a:lnTo>
                <a:lnTo>
                  <a:pt x="220938" y="60371"/>
                </a:lnTo>
                <a:lnTo>
                  <a:pt x="230840" y="68869"/>
                </a:lnTo>
                <a:lnTo>
                  <a:pt x="239669" y="77523"/>
                </a:lnTo>
                <a:lnTo>
                  <a:pt x="247326" y="86240"/>
                </a:lnTo>
                <a:lnTo>
                  <a:pt x="253729" y="94925"/>
                </a:lnTo>
                <a:lnTo>
                  <a:pt x="258807" y="103481"/>
                </a:lnTo>
                <a:lnTo>
                  <a:pt x="262505" y="111816"/>
                </a:lnTo>
                <a:lnTo>
                  <a:pt x="264782" y="119837"/>
                </a:lnTo>
                <a:lnTo>
                  <a:pt x="265612" y="127458"/>
                </a:lnTo>
                <a:lnTo>
                  <a:pt x="264988" y="134594"/>
                </a:lnTo>
                <a:close/>
              </a:path>
            </a:pathLst>
          </a:custGeom>
          <a:ln w="6350">
            <a:solidFill>
              <a:srgbClr val="4F7A43"/>
            </a:solidFill>
            <a:prstDash val="dash"/>
          </a:ln>
        </p:spPr>
      </p:sp>
      <p:sp>
        <p:nvSpPr>
          <p:cNvPr id="18" name="Shape 16"/>
          <p:cNvSpPr/>
          <p:nvPr/>
        </p:nvSpPr>
        <p:spPr>
          <a:xfrm>
            <a:off x="1780022" y="2904047"/>
            <a:ext cx="41148" cy="41148"/>
          </a:xfrm>
          <a:prstGeom prst="ellipse">
            <a:avLst/>
          </a:prstGeom>
          <a:solidFill>
            <a:srgbClr val="FFFFFF"/>
          </a:solidFill>
          <a:ln w="7620">
            <a:solidFill>
              <a:srgbClr val="4F7A43"/>
            </a:solidFill>
            <a:prstDash val="solid"/>
          </a:ln>
        </p:spPr>
      </p:sp>
      <p:sp>
        <p:nvSpPr>
          <p:cNvPr id="19" name="Shape 17"/>
          <p:cNvSpPr/>
          <p:nvPr/>
        </p:nvSpPr>
        <p:spPr>
          <a:xfrm>
            <a:off x="1726118" y="2963916"/>
            <a:ext cx="41148" cy="41148"/>
          </a:xfrm>
          <a:prstGeom prst="ellipse">
            <a:avLst/>
          </a:prstGeom>
          <a:solidFill>
            <a:srgbClr val="FFFFFF"/>
          </a:solidFill>
          <a:ln w="7620">
            <a:solidFill>
              <a:srgbClr val="4F7A43"/>
            </a:solidFill>
            <a:prstDash val="solid"/>
          </a:ln>
        </p:spPr>
      </p:sp>
      <p:sp>
        <p:nvSpPr>
          <p:cNvPr id="20" name="Shape 18"/>
          <p:cNvSpPr/>
          <p:nvPr/>
        </p:nvSpPr>
        <p:spPr>
          <a:xfrm>
            <a:off x="1631444" y="2998304"/>
            <a:ext cx="41148" cy="41148"/>
          </a:xfrm>
          <a:prstGeom prst="ellipse">
            <a:avLst/>
          </a:prstGeom>
          <a:solidFill>
            <a:srgbClr val="FFFFFF"/>
          </a:solidFill>
          <a:ln w="7620">
            <a:solidFill>
              <a:srgbClr val="4F7A43"/>
            </a:solidFill>
            <a:prstDash val="solid"/>
          </a:ln>
        </p:spPr>
      </p:sp>
      <p:sp>
        <p:nvSpPr>
          <p:cNvPr id="21" name="Shape 19"/>
          <p:cNvSpPr/>
          <p:nvPr/>
        </p:nvSpPr>
        <p:spPr>
          <a:xfrm>
            <a:off x="1504273" y="3004205"/>
            <a:ext cx="41148" cy="41148"/>
          </a:xfrm>
          <a:prstGeom prst="ellipse">
            <a:avLst/>
          </a:prstGeom>
          <a:solidFill>
            <a:srgbClr val="FFFFFF"/>
          </a:solidFill>
          <a:ln w="7620">
            <a:solidFill>
              <a:srgbClr val="4F7A43"/>
            </a:solidFill>
            <a:prstDash val="solid"/>
          </a:ln>
        </p:spPr>
      </p:sp>
      <p:sp>
        <p:nvSpPr>
          <p:cNvPr id="22" name="Shape 20"/>
          <p:cNvSpPr/>
          <p:nvPr/>
        </p:nvSpPr>
        <p:spPr>
          <a:xfrm>
            <a:off x="1355718" y="2981104"/>
            <a:ext cx="41148" cy="41148"/>
          </a:xfrm>
          <a:prstGeom prst="ellipse">
            <a:avLst/>
          </a:prstGeom>
          <a:solidFill>
            <a:srgbClr val="FFFFFF"/>
          </a:solidFill>
          <a:ln w="7620">
            <a:solidFill>
              <a:srgbClr val="4F7A43"/>
            </a:solidFill>
            <a:prstDash val="solid"/>
          </a:ln>
        </p:spPr>
      </p:sp>
      <p:sp>
        <p:nvSpPr>
          <p:cNvPr id="23" name="Shape 21"/>
          <p:cNvSpPr/>
          <p:nvPr/>
        </p:nvSpPr>
        <p:spPr>
          <a:xfrm>
            <a:off x="1198763" y="2931019"/>
            <a:ext cx="41148" cy="41148"/>
          </a:xfrm>
          <a:prstGeom prst="ellipse">
            <a:avLst/>
          </a:prstGeom>
          <a:solidFill>
            <a:srgbClr val="FFFFFF"/>
          </a:solidFill>
          <a:ln w="7620">
            <a:solidFill>
              <a:srgbClr val="4F7A43"/>
            </a:solidFill>
            <a:prstDash val="solid"/>
          </a:ln>
        </p:spPr>
      </p:sp>
      <p:sp>
        <p:nvSpPr>
          <p:cNvPr id="24" name="Shape 22"/>
          <p:cNvSpPr/>
          <p:nvPr/>
        </p:nvSpPr>
        <p:spPr>
          <a:xfrm>
            <a:off x="1047122" y="2858327"/>
            <a:ext cx="41148" cy="41148"/>
          </a:xfrm>
          <a:prstGeom prst="ellipse">
            <a:avLst/>
          </a:prstGeom>
          <a:solidFill>
            <a:srgbClr val="FFFFFF"/>
          </a:solidFill>
          <a:ln w="7620">
            <a:solidFill>
              <a:srgbClr val="4F7A43"/>
            </a:solidFill>
            <a:prstDash val="solid"/>
          </a:ln>
        </p:spPr>
      </p:sp>
      <p:sp>
        <p:nvSpPr>
          <p:cNvPr id="25" name="Shape 23"/>
          <p:cNvSpPr/>
          <p:nvPr/>
        </p:nvSpPr>
        <p:spPr>
          <a:xfrm>
            <a:off x="914049" y="2769382"/>
            <a:ext cx="41148" cy="41148"/>
          </a:xfrm>
          <a:prstGeom prst="ellipse">
            <a:avLst/>
          </a:prstGeom>
          <a:solidFill>
            <a:srgbClr val="FFFFFF"/>
          </a:solidFill>
          <a:ln w="7620">
            <a:solidFill>
              <a:srgbClr val="4F7A43"/>
            </a:solidFill>
            <a:prstDash val="solid"/>
          </a:ln>
        </p:spPr>
      </p:sp>
      <p:sp>
        <p:nvSpPr>
          <p:cNvPr id="26" name="Shape 24"/>
          <p:cNvSpPr/>
          <p:nvPr/>
        </p:nvSpPr>
        <p:spPr>
          <a:xfrm>
            <a:off x="811173" y="2671955"/>
            <a:ext cx="41148" cy="41148"/>
          </a:xfrm>
          <a:prstGeom prst="ellipse">
            <a:avLst/>
          </a:prstGeom>
          <a:solidFill>
            <a:srgbClr val="FFFFFF"/>
          </a:solidFill>
          <a:ln w="7620">
            <a:solidFill>
              <a:srgbClr val="4F7A43"/>
            </a:solidFill>
            <a:prstDash val="solid"/>
          </a:ln>
        </p:spPr>
      </p:sp>
      <p:sp>
        <p:nvSpPr>
          <p:cNvPr id="27" name="Shape 25"/>
          <p:cNvSpPr/>
          <p:nvPr/>
        </p:nvSpPr>
        <p:spPr>
          <a:xfrm>
            <a:off x="747484" y="2574562"/>
            <a:ext cx="41148" cy="41148"/>
          </a:xfrm>
          <a:prstGeom prst="ellipse">
            <a:avLst/>
          </a:prstGeom>
          <a:solidFill>
            <a:srgbClr val="FFFFFF"/>
          </a:solidFill>
          <a:ln w="7620">
            <a:solidFill>
              <a:srgbClr val="4F7A43"/>
            </a:solidFill>
            <a:prstDash val="solid"/>
          </a:ln>
        </p:spPr>
      </p:sp>
      <p:sp>
        <p:nvSpPr>
          <p:cNvPr id="28" name="Shape 26"/>
          <p:cNvSpPr/>
          <p:nvPr/>
        </p:nvSpPr>
        <p:spPr>
          <a:xfrm>
            <a:off x="728547" y="2485713"/>
            <a:ext cx="41148" cy="41148"/>
          </a:xfrm>
          <a:prstGeom prst="ellipse">
            <a:avLst/>
          </a:prstGeom>
          <a:solidFill>
            <a:srgbClr val="FFFFFF"/>
          </a:solidFill>
          <a:ln w="7620">
            <a:solidFill>
              <a:srgbClr val="4F7A43"/>
            </a:solidFill>
            <a:prstDash val="solid"/>
          </a:ln>
        </p:spPr>
      </p:sp>
      <p:sp>
        <p:nvSpPr>
          <p:cNvPr id="29" name="Shape 27"/>
          <p:cNvSpPr/>
          <p:nvPr/>
        </p:nvSpPr>
        <p:spPr>
          <a:xfrm>
            <a:off x="756019" y="2413172"/>
            <a:ext cx="41148" cy="41148"/>
          </a:xfrm>
          <a:prstGeom prst="ellipse">
            <a:avLst/>
          </a:prstGeom>
          <a:solidFill>
            <a:srgbClr val="FFFFFF"/>
          </a:solidFill>
          <a:ln w="7620">
            <a:solidFill>
              <a:srgbClr val="4F7A43"/>
            </a:solidFill>
            <a:prstDash val="solid"/>
          </a:ln>
        </p:spPr>
      </p:sp>
      <p:sp>
        <p:nvSpPr>
          <p:cNvPr id="30" name="Shape 28"/>
          <p:cNvSpPr/>
          <p:nvPr/>
        </p:nvSpPr>
        <p:spPr>
          <a:xfrm>
            <a:off x="827497" y="2363280"/>
            <a:ext cx="41148" cy="41148"/>
          </a:xfrm>
          <a:prstGeom prst="ellipse">
            <a:avLst/>
          </a:prstGeom>
          <a:solidFill>
            <a:srgbClr val="FFFFFF"/>
          </a:solidFill>
          <a:ln w="7620">
            <a:solidFill>
              <a:srgbClr val="4F7A43"/>
            </a:solidFill>
            <a:prstDash val="solid"/>
          </a:ln>
        </p:spPr>
      </p:sp>
      <p:sp>
        <p:nvSpPr>
          <p:cNvPr id="31" name="Shape 29"/>
          <p:cNvSpPr/>
          <p:nvPr/>
        </p:nvSpPr>
        <p:spPr>
          <a:xfrm>
            <a:off x="936736" y="2340397"/>
            <a:ext cx="41148" cy="41148"/>
          </a:xfrm>
          <a:prstGeom prst="ellipse">
            <a:avLst/>
          </a:prstGeom>
          <a:solidFill>
            <a:srgbClr val="FFFFFF"/>
          </a:solidFill>
          <a:ln w="7620">
            <a:solidFill>
              <a:srgbClr val="4F7A43"/>
            </a:solidFill>
            <a:prstDash val="solid"/>
          </a:ln>
        </p:spPr>
      </p:sp>
      <p:sp>
        <p:nvSpPr>
          <p:cNvPr id="32" name="Shape 30"/>
          <p:cNvSpPr/>
          <p:nvPr/>
        </p:nvSpPr>
        <p:spPr>
          <a:xfrm>
            <a:off x="1074189" y="2346521"/>
            <a:ext cx="41148" cy="41148"/>
          </a:xfrm>
          <a:prstGeom prst="ellipse">
            <a:avLst/>
          </a:prstGeom>
          <a:solidFill>
            <a:srgbClr val="FFFFFF"/>
          </a:solidFill>
          <a:ln w="7620">
            <a:solidFill>
              <a:srgbClr val="4F7A43"/>
            </a:solidFill>
            <a:prstDash val="solid"/>
          </a:ln>
        </p:spPr>
      </p:sp>
      <p:sp>
        <p:nvSpPr>
          <p:cNvPr id="33" name="Shape 31"/>
          <p:cNvSpPr/>
          <p:nvPr/>
        </p:nvSpPr>
        <p:spPr>
          <a:xfrm>
            <a:off x="1227843" y="2381119"/>
            <a:ext cx="41148" cy="41148"/>
          </a:xfrm>
          <a:prstGeom prst="ellipse">
            <a:avLst/>
          </a:prstGeom>
          <a:solidFill>
            <a:srgbClr val="FFFFFF"/>
          </a:solidFill>
          <a:ln w="7620">
            <a:solidFill>
              <a:srgbClr val="4F7A43"/>
            </a:solidFill>
            <a:prstDash val="solid"/>
          </a:ln>
        </p:spPr>
      </p:sp>
      <p:sp>
        <p:nvSpPr>
          <p:cNvPr id="34" name="Shape 32"/>
          <p:cNvSpPr/>
          <p:nvPr/>
        </p:nvSpPr>
        <p:spPr>
          <a:xfrm>
            <a:off x="1384272" y="2441166"/>
            <a:ext cx="41148" cy="41148"/>
          </a:xfrm>
          <a:prstGeom prst="ellipse">
            <a:avLst/>
          </a:prstGeom>
          <a:solidFill>
            <a:srgbClr val="FFFFFF"/>
          </a:solidFill>
          <a:ln w="7620">
            <a:solidFill>
              <a:srgbClr val="4F7A43"/>
            </a:solidFill>
            <a:prstDash val="solid"/>
          </a:ln>
        </p:spPr>
      </p:sp>
      <p:sp>
        <p:nvSpPr>
          <p:cNvPr id="35" name="Shape 33"/>
          <p:cNvSpPr/>
          <p:nvPr/>
        </p:nvSpPr>
        <p:spPr>
          <a:xfrm>
            <a:off x="1529804" y="2521415"/>
            <a:ext cx="41148" cy="41148"/>
          </a:xfrm>
          <a:prstGeom prst="ellipse">
            <a:avLst/>
          </a:prstGeom>
          <a:solidFill>
            <a:srgbClr val="FFFFFF"/>
          </a:solidFill>
          <a:ln w="7620">
            <a:solidFill>
              <a:srgbClr val="4F7A43"/>
            </a:solidFill>
            <a:prstDash val="solid"/>
          </a:ln>
        </p:spPr>
      </p:sp>
      <p:sp>
        <p:nvSpPr>
          <p:cNvPr id="36" name="Shape 34"/>
          <p:cNvSpPr/>
          <p:nvPr/>
        </p:nvSpPr>
        <p:spPr>
          <a:xfrm>
            <a:off x="1651722" y="2614852"/>
            <a:ext cx="41148" cy="41148"/>
          </a:xfrm>
          <a:prstGeom prst="ellipse">
            <a:avLst/>
          </a:prstGeom>
          <a:solidFill>
            <a:srgbClr val="FFFFFF"/>
          </a:solidFill>
          <a:ln w="7620">
            <a:solidFill>
              <a:srgbClr val="4F7A43"/>
            </a:solidFill>
            <a:prstDash val="solid"/>
          </a:ln>
        </p:spPr>
      </p:sp>
      <p:sp>
        <p:nvSpPr>
          <p:cNvPr id="37" name="Shape 35"/>
          <p:cNvSpPr/>
          <p:nvPr/>
        </p:nvSpPr>
        <p:spPr>
          <a:xfrm>
            <a:off x="1739371" y="2713313"/>
            <a:ext cx="41148" cy="41148"/>
          </a:xfrm>
          <a:prstGeom prst="ellipse">
            <a:avLst/>
          </a:prstGeom>
          <a:solidFill>
            <a:srgbClr val="FFFFFF"/>
          </a:solidFill>
          <a:ln w="7620">
            <a:solidFill>
              <a:srgbClr val="4F7A43"/>
            </a:solidFill>
            <a:prstDash val="solid"/>
          </a:ln>
        </p:spPr>
      </p:sp>
      <p:sp>
        <p:nvSpPr>
          <p:cNvPr id="38" name="Shape 36"/>
          <p:cNvSpPr/>
          <p:nvPr/>
        </p:nvSpPr>
        <p:spPr>
          <a:xfrm>
            <a:off x="1785091" y="2808193"/>
            <a:ext cx="41148" cy="41148"/>
          </a:xfrm>
          <a:prstGeom prst="ellipse">
            <a:avLst/>
          </a:prstGeom>
          <a:solidFill>
            <a:srgbClr val="FFFFFF"/>
          </a:solidFill>
          <a:ln w="7620">
            <a:solidFill>
              <a:srgbClr val="4F7A43"/>
            </a:solidFill>
            <a:prstDash val="solid"/>
          </a:ln>
        </p:spPr>
      </p:sp>
      <p:sp>
        <p:nvSpPr>
          <p:cNvPr id="39" name="Shape 37"/>
          <p:cNvSpPr/>
          <p:nvPr/>
        </p:nvSpPr>
        <p:spPr>
          <a:xfrm>
            <a:off x="1784887" y="2891200"/>
            <a:ext cx="41148" cy="41148"/>
          </a:xfrm>
          <a:prstGeom prst="ellipse">
            <a:avLst/>
          </a:prstGeom>
          <a:solidFill>
            <a:srgbClr val="FFFFFF"/>
          </a:solidFill>
          <a:ln w="7620">
            <a:solidFill>
              <a:srgbClr val="4F7A43"/>
            </a:solidFill>
            <a:prstDash val="solid"/>
          </a:ln>
        </p:spPr>
      </p:sp>
      <p:sp>
        <p:nvSpPr>
          <p:cNvPr id="40" name="Shape 38"/>
          <p:cNvSpPr/>
          <p:nvPr/>
        </p:nvSpPr>
        <p:spPr>
          <a:xfrm>
            <a:off x="1318395" y="2917702"/>
            <a:ext cx="601425" cy="176498"/>
          </a:xfrm>
          <a:custGeom>
            <a:avLst/>
            <a:gdLst/>
            <a:ahLst/>
            <a:cxnLst/>
            <a:rect l="l" t="t" r="r" b="b"/>
            <a:pathLst>
              <a:path w="601425" h="176498">
                <a:moveTo>
                  <a:pt x="601425" y="0"/>
                </a:moveTo>
                <a:lnTo>
                  <a:pt x="598363" y="24020"/>
                </a:lnTo>
                <a:lnTo>
                  <a:pt x="591800" y="46671"/>
                </a:lnTo>
                <a:lnTo>
                  <a:pt x="581772" y="67829"/>
                </a:lnTo>
                <a:lnTo>
                  <a:pt x="568334" y="87378"/>
                </a:lnTo>
                <a:lnTo>
                  <a:pt x="551561" y="105210"/>
                </a:lnTo>
                <a:lnTo>
                  <a:pt x="531543" y="121227"/>
                </a:lnTo>
                <a:lnTo>
                  <a:pt x="508392" y="135341"/>
                </a:lnTo>
                <a:lnTo>
                  <a:pt x="482235" y="147475"/>
                </a:lnTo>
                <a:lnTo>
                  <a:pt x="453216" y="157561"/>
                </a:lnTo>
                <a:lnTo>
                  <a:pt x="421494" y="165545"/>
                </a:lnTo>
                <a:lnTo>
                  <a:pt x="387243" y="171381"/>
                </a:lnTo>
                <a:lnTo>
                  <a:pt x="350652" y="175039"/>
                </a:lnTo>
                <a:lnTo>
                  <a:pt x="311923" y="176498"/>
                </a:lnTo>
                <a:lnTo>
                  <a:pt x="271268" y="175750"/>
                </a:lnTo>
                <a:lnTo>
                  <a:pt x="228911" y="172800"/>
                </a:lnTo>
                <a:lnTo>
                  <a:pt x="185084" y="167662"/>
                </a:lnTo>
                <a:lnTo>
                  <a:pt x="140030" y="160366"/>
                </a:lnTo>
                <a:lnTo>
                  <a:pt x="93995" y="150952"/>
                </a:lnTo>
                <a:lnTo>
                  <a:pt x="47232" y="139472"/>
                </a:lnTo>
                <a:lnTo>
                  <a:pt x="0" y="125988"/>
                </a:lnTo>
              </a:path>
            </a:pathLst>
          </a:custGeom>
          <a:ln w="44450">
            <a:solidFill>
              <a:srgbClr val="C4262E"/>
            </a:solidFill>
            <a:prstDash val="solid"/>
          </a:ln>
        </p:spPr>
      </p:sp>
      <p:sp>
        <p:nvSpPr>
          <p:cNvPr id="41" name="Shape 39"/>
          <p:cNvSpPr/>
          <p:nvPr/>
        </p:nvSpPr>
        <p:spPr>
          <a:xfrm>
            <a:off x="438912" y="1874520"/>
            <a:ext cx="731520" cy="146304"/>
          </a:xfrm>
          <a:prstGeom prst="rect">
            <a:avLst/>
          </a:prstGeom>
          <a:solidFill>
            <a:srgbClr val="FFFFFF"/>
          </a:solidFill>
          <a:ln/>
        </p:spPr>
      </p:sp>
      <p:sp>
        <p:nvSpPr>
          <p:cNvPr id="42" name="Text 40"/>
          <p:cNvSpPr txBox="1"/>
          <p:nvPr/>
        </p:nvSpPr>
        <p:spPr>
          <a:xfrm>
            <a:off x="438912" y="1874520"/>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Egerton / Abbot jn.</a:t>
            </a:r>
            <a:endParaRPr lang="en-US" sz="550" dirty="0"/>
          </a:p>
        </p:txBody>
      </p:sp>
      <p:sp>
        <p:nvSpPr>
          <p:cNvPr id="43" name="Shape 41"/>
          <p:cNvSpPr/>
          <p:nvPr/>
        </p:nvSpPr>
        <p:spPr>
          <a:xfrm>
            <a:off x="1389888" y="3364992"/>
            <a:ext cx="731520" cy="146304"/>
          </a:xfrm>
          <a:prstGeom prst="rect">
            <a:avLst/>
          </a:prstGeom>
          <a:solidFill>
            <a:srgbClr val="FFFFFF"/>
          </a:solidFill>
          <a:ln/>
        </p:spPr>
      </p:sp>
      <p:sp>
        <p:nvSpPr>
          <p:cNvPr id="44" name="Text 42"/>
          <p:cNvSpPr txBox="1"/>
          <p:nvPr/>
        </p:nvSpPr>
        <p:spPr>
          <a:xfrm>
            <a:off x="1389888" y="3364992"/>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Davis / Durand jn.</a:t>
            </a:r>
            <a:endParaRPr lang="en-US" sz="550" dirty="0"/>
          </a:p>
        </p:txBody>
      </p:sp>
      <p:sp>
        <p:nvSpPr>
          <p:cNvPr id="45" name="Shape 43"/>
          <p:cNvSpPr/>
          <p:nvPr/>
        </p:nvSpPr>
        <p:spPr>
          <a:xfrm>
            <a:off x="1333000" y="3159071"/>
            <a:ext cx="960120" cy="146304"/>
          </a:xfrm>
          <a:prstGeom prst="rect">
            <a:avLst/>
          </a:prstGeom>
          <a:solidFill>
            <a:srgbClr val="FFFFFF"/>
          </a:solidFill>
          <a:ln/>
        </p:spPr>
      </p:sp>
      <p:sp>
        <p:nvSpPr>
          <p:cNvPr id="46" name="Text 44"/>
          <p:cNvSpPr txBox="1"/>
          <p:nvPr/>
        </p:nvSpPr>
        <p:spPr>
          <a:xfrm>
            <a:off x="1333000" y="3159071"/>
            <a:ext cx="960120" cy="146304"/>
          </a:xfrm>
          <a:prstGeom prst="rect">
            <a:avLst/>
          </a:prstGeom>
          <a:noFill/>
          <a:ln/>
        </p:spPr>
        <p:txBody>
          <a:bodyPr wrap="square" lIns="0" tIns="0" rIns="0" bIns="0" rtlCol="0" anchor="ctr"/>
          <a:lstStyle/>
          <a:p>
            <a:pPr algn="ctr" indent="0" marL="0">
              <a:buNone/>
            </a:pPr>
            <a:r>
              <a:rPr lang="en-US" sz="550" b="1" dirty="0">
                <a:solidFill>
                  <a:srgbClr val="C4262E"/>
                </a:solidFill>
                <a:latin typeface="Arial" pitchFamily="34" charset="0"/>
                <a:ea typeface="Arial" pitchFamily="34" charset="-122"/>
                <a:cs typeface="Arial" pitchFamily="34" charset="-120"/>
              </a:rPr>
              <a:t>PUBLIC / PROTEST EDGE</a:t>
            </a:r>
            <a:endParaRPr lang="en-US" sz="550" dirty="0"/>
          </a:p>
        </p:txBody>
      </p:sp>
      <p:sp>
        <p:nvSpPr>
          <p:cNvPr id="47" name="Shape 45"/>
          <p:cNvSpPr/>
          <p:nvPr/>
        </p:nvSpPr>
        <p:spPr>
          <a:xfrm>
            <a:off x="218541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48" name="Shape 46"/>
          <p:cNvSpPr/>
          <p:nvPr/>
        </p:nvSpPr>
        <p:spPr>
          <a:xfrm>
            <a:off x="2286000" y="1627632"/>
            <a:ext cx="1828800" cy="1920240"/>
          </a:xfrm>
          <a:prstGeom prst="rect">
            <a:avLst/>
          </a:prstGeom>
          <a:solidFill>
            <a:srgbClr val="FFFFFF"/>
          </a:solidFill>
          <a:ln w="6350">
            <a:solidFill>
              <a:srgbClr val="D9D9D9"/>
            </a:solidFill>
            <a:prstDash val="solid"/>
          </a:ln>
        </p:spPr>
      </p:sp>
      <p:sp>
        <p:nvSpPr>
          <p:cNvPr id="49" name="Text 47"/>
          <p:cNvSpPr txBox="1"/>
          <p:nvPr/>
        </p:nvSpPr>
        <p:spPr>
          <a:xfrm>
            <a:off x="235915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02  </a:t>
            </a:r>
            <a:pPr indent="0" marL="0">
              <a:buNone/>
            </a:pPr>
            <a:r>
              <a:rPr lang="en-US" sz="750" b="1" spc="50" kern="0" dirty="0">
                <a:solidFill>
                  <a:srgbClr val="1B1B1B"/>
                </a:solidFill>
                <a:latin typeface="Arial" pitchFamily="34" charset="0"/>
                <a:ea typeface="Arial" pitchFamily="34" charset="-122"/>
                <a:cs typeface="Arial" pitchFamily="34" charset="-120"/>
              </a:rPr>
              <a:t>IDEA</a:t>
            </a:r>
            <a:endParaRPr lang="en-US" sz="750" dirty="0"/>
          </a:p>
        </p:txBody>
      </p:sp>
      <p:sp>
        <p:nvSpPr>
          <p:cNvPr id="50" name="Shape 48"/>
          <p:cNvSpPr/>
          <p:nvPr/>
        </p:nvSpPr>
        <p:spPr>
          <a:xfrm>
            <a:off x="247600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51" name="Shape 49"/>
          <p:cNvSpPr/>
          <p:nvPr/>
        </p:nvSpPr>
        <p:spPr>
          <a:xfrm>
            <a:off x="234086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52" name="Shape 50"/>
          <p:cNvSpPr/>
          <p:nvPr/>
        </p:nvSpPr>
        <p:spPr>
          <a:xfrm>
            <a:off x="391008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53" name="Shape 51"/>
          <p:cNvSpPr/>
          <p:nvPr/>
        </p:nvSpPr>
        <p:spPr>
          <a:xfrm>
            <a:off x="259673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54" name="Shape 52"/>
          <p:cNvSpPr/>
          <p:nvPr/>
        </p:nvSpPr>
        <p:spPr>
          <a:xfrm>
            <a:off x="2830958" y="2433218"/>
            <a:ext cx="869276" cy="544837"/>
          </a:xfrm>
          <a:custGeom>
            <a:avLst/>
            <a:gdLst/>
            <a:ahLst/>
            <a:cxnLst/>
            <a:rect l="l" t="t" r="r" b="b"/>
            <a:pathLst>
              <a:path w="869276" h="544837">
                <a:moveTo>
                  <a:pt x="860450" y="462002"/>
                </a:moveTo>
                <a:lnTo>
                  <a:pt x="849001" y="481438"/>
                </a:lnTo>
                <a:lnTo>
                  <a:pt x="833013" y="498583"/>
                </a:lnTo>
                <a:lnTo>
                  <a:pt x="812660" y="513251"/>
                </a:lnTo>
                <a:lnTo>
                  <a:pt x="788166" y="525280"/>
                </a:lnTo>
                <a:lnTo>
                  <a:pt x="759798" y="534539"/>
                </a:lnTo>
                <a:lnTo>
                  <a:pt x="727867" y="540926"/>
                </a:lnTo>
                <a:lnTo>
                  <a:pt x="692724" y="544371"/>
                </a:lnTo>
                <a:lnTo>
                  <a:pt x="654753" y="544837"/>
                </a:lnTo>
                <a:lnTo>
                  <a:pt x="614371" y="542318"/>
                </a:lnTo>
                <a:lnTo>
                  <a:pt x="572019" y="536841"/>
                </a:lnTo>
                <a:lnTo>
                  <a:pt x="528162" y="528468"/>
                </a:lnTo>
                <a:lnTo>
                  <a:pt x="483281" y="517289"/>
                </a:lnTo>
                <a:lnTo>
                  <a:pt x="437867" y="503428"/>
                </a:lnTo>
                <a:lnTo>
                  <a:pt x="392417" y="487036"/>
                </a:lnTo>
                <a:lnTo>
                  <a:pt x="347430" y="468292"/>
                </a:lnTo>
                <a:lnTo>
                  <a:pt x="303398" y="447402"/>
                </a:lnTo>
                <a:lnTo>
                  <a:pt x="260804" y="424595"/>
                </a:lnTo>
                <a:lnTo>
                  <a:pt x="220115" y="400120"/>
                </a:lnTo>
                <a:lnTo>
                  <a:pt x="181776" y="374247"/>
                </a:lnTo>
                <a:lnTo>
                  <a:pt x="146208" y="347258"/>
                </a:lnTo>
                <a:lnTo>
                  <a:pt x="113799" y="319449"/>
                </a:lnTo>
                <a:lnTo>
                  <a:pt x="84906" y="291124"/>
                </a:lnTo>
                <a:lnTo>
                  <a:pt x="59845" y="262595"/>
                </a:lnTo>
                <a:lnTo>
                  <a:pt x="38890" y="234174"/>
                </a:lnTo>
                <a:lnTo>
                  <a:pt x="22270" y="206171"/>
                </a:lnTo>
                <a:lnTo>
                  <a:pt x="10169" y="178894"/>
                </a:lnTo>
                <a:lnTo>
                  <a:pt x="2718" y="152642"/>
                </a:lnTo>
                <a:lnTo>
                  <a:pt x="0" y="127702"/>
                </a:lnTo>
                <a:lnTo>
                  <a:pt x="2044" y="104348"/>
                </a:lnTo>
                <a:lnTo>
                  <a:pt x="8827" y="82835"/>
                </a:lnTo>
                <a:lnTo>
                  <a:pt x="20275" y="63399"/>
                </a:lnTo>
                <a:lnTo>
                  <a:pt x="36263" y="46253"/>
                </a:lnTo>
                <a:lnTo>
                  <a:pt x="56616" y="31586"/>
                </a:lnTo>
                <a:lnTo>
                  <a:pt x="81111" y="19556"/>
                </a:lnTo>
                <a:lnTo>
                  <a:pt x="109479" y="10298"/>
                </a:lnTo>
                <a:lnTo>
                  <a:pt x="141409" y="3911"/>
                </a:lnTo>
                <a:lnTo>
                  <a:pt x="176552" y="466"/>
                </a:lnTo>
                <a:lnTo>
                  <a:pt x="214523" y="0"/>
                </a:lnTo>
                <a:lnTo>
                  <a:pt x="254906" y="2519"/>
                </a:lnTo>
                <a:lnTo>
                  <a:pt x="297257" y="7995"/>
                </a:lnTo>
                <a:lnTo>
                  <a:pt x="341114" y="16369"/>
                </a:lnTo>
                <a:lnTo>
                  <a:pt x="385995" y="27547"/>
                </a:lnTo>
                <a:lnTo>
                  <a:pt x="431410" y="41409"/>
                </a:lnTo>
                <a:lnTo>
                  <a:pt x="476859" y="57801"/>
                </a:lnTo>
                <a:lnTo>
                  <a:pt x="521847" y="76545"/>
                </a:lnTo>
                <a:lnTo>
                  <a:pt x="565878" y="97435"/>
                </a:lnTo>
                <a:lnTo>
                  <a:pt x="608472" y="120242"/>
                </a:lnTo>
                <a:lnTo>
                  <a:pt x="649161" y="144716"/>
                </a:lnTo>
                <a:lnTo>
                  <a:pt x="687500" y="170590"/>
                </a:lnTo>
                <a:lnTo>
                  <a:pt x="723069" y="197579"/>
                </a:lnTo>
                <a:lnTo>
                  <a:pt x="755477" y="225388"/>
                </a:lnTo>
                <a:lnTo>
                  <a:pt x="784370" y="253712"/>
                </a:lnTo>
                <a:lnTo>
                  <a:pt x="809432" y="282242"/>
                </a:lnTo>
                <a:lnTo>
                  <a:pt x="830387" y="310663"/>
                </a:lnTo>
                <a:lnTo>
                  <a:pt x="847006" y="338666"/>
                </a:lnTo>
                <a:lnTo>
                  <a:pt x="859107" y="365943"/>
                </a:lnTo>
                <a:lnTo>
                  <a:pt x="866558" y="392195"/>
                </a:lnTo>
                <a:lnTo>
                  <a:pt x="869276" y="417135"/>
                </a:lnTo>
                <a:lnTo>
                  <a:pt x="867233" y="440489"/>
                </a:lnTo>
                <a:close/>
              </a:path>
            </a:pathLst>
          </a:custGeom>
          <a:ln w="6350">
            <a:solidFill>
              <a:srgbClr val="4F7A43"/>
            </a:solidFill>
            <a:prstDash val="dash"/>
          </a:ln>
        </p:spPr>
      </p:sp>
      <p:sp>
        <p:nvSpPr>
          <p:cNvPr id="55" name="Shape 53"/>
          <p:cNvSpPr/>
          <p:nvPr/>
        </p:nvSpPr>
        <p:spPr>
          <a:xfrm>
            <a:off x="2987911" y="2531592"/>
            <a:ext cx="555371" cy="348090"/>
          </a:xfrm>
          <a:custGeom>
            <a:avLst/>
            <a:gdLst/>
            <a:ahLst/>
            <a:cxnLst/>
            <a:rect l="l" t="t" r="r" b="b"/>
            <a:pathLst>
              <a:path w="555371" h="348090">
                <a:moveTo>
                  <a:pt x="549732" y="295168"/>
                </a:moveTo>
                <a:lnTo>
                  <a:pt x="542417" y="307585"/>
                </a:lnTo>
                <a:lnTo>
                  <a:pt x="532203" y="318539"/>
                </a:lnTo>
                <a:lnTo>
                  <a:pt x="519200" y="327910"/>
                </a:lnTo>
                <a:lnTo>
                  <a:pt x="503550" y="335596"/>
                </a:lnTo>
                <a:lnTo>
                  <a:pt x="485426" y="341511"/>
                </a:lnTo>
                <a:lnTo>
                  <a:pt x="465026" y="345592"/>
                </a:lnTo>
                <a:lnTo>
                  <a:pt x="442574" y="347793"/>
                </a:lnTo>
                <a:lnTo>
                  <a:pt x="418315" y="348090"/>
                </a:lnTo>
                <a:lnTo>
                  <a:pt x="392515" y="346481"/>
                </a:lnTo>
                <a:lnTo>
                  <a:pt x="365457" y="342982"/>
                </a:lnTo>
                <a:lnTo>
                  <a:pt x="337437" y="337632"/>
                </a:lnTo>
                <a:lnTo>
                  <a:pt x="308763" y="330490"/>
                </a:lnTo>
                <a:lnTo>
                  <a:pt x="279748" y="321635"/>
                </a:lnTo>
                <a:lnTo>
                  <a:pt x="250711" y="311162"/>
                </a:lnTo>
                <a:lnTo>
                  <a:pt x="221969" y="299186"/>
                </a:lnTo>
                <a:lnTo>
                  <a:pt x="193838" y="285840"/>
                </a:lnTo>
                <a:lnTo>
                  <a:pt x="166625" y="271269"/>
                </a:lnTo>
                <a:lnTo>
                  <a:pt x="140629" y="255632"/>
                </a:lnTo>
                <a:lnTo>
                  <a:pt x="116135" y="239102"/>
                </a:lnTo>
                <a:lnTo>
                  <a:pt x="93410" y="221859"/>
                </a:lnTo>
                <a:lnTo>
                  <a:pt x="72705" y="204092"/>
                </a:lnTo>
                <a:lnTo>
                  <a:pt x="54246" y="185996"/>
                </a:lnTo>
                <a:lnTo>
                  <a:pt x="38234" y="167769"/>
                </a:lnTo>
                <a:lnTo>
                  <a:pt x="24846" y="149611"/>
                </a:lnTo>
                <a:lnTo>
                  <a:pt x="14228" y="131720"/>
                </a:lnTo>
                <a:lnTo>
                  <a:pt x="6497" y="114293"/>
                </a:lnTo>
                <a:lnTo>
                  <a:pt x="1737" y="97521"/>
                </a:lnTo>
                <a:lnTo>
                  <a:pt x="0" y="81587"/>
                </a:lnTo>
                <a:lnTo>
                  <a:pt x="1306" y="66667"/>
                </a:lnTo>
                <a:lnTo>
                  <a:pt x="5639" y="52922"/>
                </a:lnTo>
                <a:lnTo>
                  <a:pt x="12954" y="40505"/>
                </a:lnTo>
                <a:lnTo>
                  <a:pt x="23168" y="29551"/>
                </a:lnTo>
                <a:lnTo>
                  <a:pt x="36171" y="20180"/>
                </a:lnTo>
                <a:lnTo>
                  <a:pt x="51821" y="12494"/>
                </a:lnTo>
                <a:lnTo>
                  <a:pt x="69945" y="6579"/>
                </a:lnTo>
                <a:lnTo>
                  <a:pt x="90345" y="2498"/>
                </a:lnTo>
                <a:lnTo>
                  <a:pt x="112797" y="297"/>
                </a:lnTo>
                <a:lnTo>
                  <a:pt x="137056" y="0"/>
                </a:lnTo>
                <a:lnTo>
                  <a:pt x="162856" y="1609"/>
                </a:lnTo>
                <a:lnTo>
                  <a:pt x="189914" y="5108"/>
                </a:lnTo>
                <a:lnTo>
                  <a:pt x="217934" y="10458"/>
                </a:lnTo>
                <a:lnTo>
                  <a:pt x="246608" y="17600"/>
                </a:lnTo>
                <a:lnTo>
                  <a:pt x="275623" y="26456"/>
                </a:lnTo>
                <a:lnTo>
                  <a:pt x="304660" y="36929"/>
                </a:lnTo>
                <a:lnTo>
                  <a:pt x="333402" y="48904"/>
                </a:lnTo>
                <a:lnTo>
                  <a:pt x="361533" y="62250"/>
                </a:lnTo>
                <a:lnTo>
                  <a:pt x="388746" y="76821"/>
                </a:lnTo>
                <a:lnTo>
                  <a:pt x="414742" y="92458"/>
                </a:lnTo>
                <a:lnTo>
                  <a:pt x="439236" y="108988"/>
                </a:lnTo>
                <a:lnTo>
                  <a:pt x="461961" y="126231"/>
                </a:lnTo>
                <a:lnTo>
                  <a:pt x="482666" y="143998"/>
                </a:lnTo>
                <a:lnTo>
                  <a:pt x="501125" y="162094"/>
                </a:lnTo>
                <a:lnTo>
                  <a:pt x="517137" y="180321"/>
                </a:lnTo>
                <a:lnTo>
                  <a:pt x="530525" y="198479"/>
                </a:lnTo>
                <a:lnTo>
                  <a:pt x="541143" y="216370"/>
                </a:lnTo>
                <a:lnTo>
                  <a:pt x="548874" y="233797"/>
                </a:lnTo>
                <a:lnTo>
                  <a:pt x="553634" y="250569"/>
                </a:lnTo>
                <a:lnTo>
                  <a:pt x="555371" y="266503"/>
                </a:lnTo>
                <a:lnTo>
                  <a:pt x="554065" y="281424"/>
                </a:lnTo>
                <a:close/>
              </a:path>
            </a:pathLst>
          </a:custGeom>
          <a:ln w="6350">
            <a:solidFill>
              <a:srgbClr val="4F7A43"/>
            </a:solidFill>
            <a:prstDash val="dash"/>
          </a:ln>
        </p:spPr>
      </p:sp>
      <p:sp>
        <p:nvSpPr>
          <p:cNvPr id="56" name="Shape 54"/>
          <p:cNvSpPr/>
          <p:nvPr/>
        </p:nvSpPr>
        <p:spPr>
          <a:xfrm>
            <a:off x="3132791" y="2622398"/>
            <a:ext cx="265612" cy="166478"/>
          </a:xfrm>
          <a:custGeom>
            <a:avLst/>
            <a:gdLst/>
            <a:ahLst/>
            <a:cxnLst/>
            <a:rect l="l" t="t" r="r" b="b"/>
            <a:pathLst>
              <a:path w="265612" h="166478">
                <a:moveTo>
                  <a:pt x="262915" y="141167"/>
                </a:moveTo>
                <a:lnTo>
                  <a:pt x="259417" y="147106"/>
                </a:lnTo>
                <a:lnTo>
                  <a:pt x="254532" y="152345"/>
                </a:lnTo>
                <a:lnTo>
                  <a:pt x="248313" y="156827"/>
                </a:lnTo>
                <a:lnTo>
                  <a:pt x="240828" y="160502"/>
                </a:lnTo>
                <a:lnTo>
                  <a:pt x="232160" y="163331"/>
                </a:lnTo>
                <a:lnTo>
                  <a:pt x="222404" y="165283"/>
                </a:lnTo>
                <a:lnTo>
                  <a:pt x="211666" y="166336"/>
                </a:lnTo>
                <a:lnTo>
                  <a:pt x="200063" y="166478"/>
                </a:lnTo>
                <a:lnTo>
                  <a:pt x="187724" y="165708"/>
                </a:lnTo>
                <a:lnTo>
                  <a:pt x="174784" y="164035"/>
                </a:lnTo>
                <a:lnTo>
                  <a:pt x="161383" y="161476"/>
                </a:lnTo>
                <a:lnTo>
                  <a:pt x="147669" y="158061"/>
                </a:lnTo>
                <a:lnTo>
                  <a:pt x="133793" y="153825"/>
                </a:lnTo>
                <a:lnTo>
                  <a:pt x="119905" y="148816"/>
                </a:lnTo>
                <a:lnTo>
                  <a:pt x="106159" y="143089"/>
                </a:lnTo>
                <a:lnTo>
                  <a:pt x="92705" y="136706"/>
                </a:lnTo>
                <a:lnTo>
                  <a:pt x="79690" y="129737"/>
                </a:lnTo>
                <a:lnTo>
                  <a:pt x="67257" y="122259"/>
                </a:lnTo>
                <a:lnTo>
                  <a:pt x="55543" y="114353"/>
                </a:lnTo>
                <a:lnTo>
                  <a:pt x="44675" y="106107"/>
                </a:lnTo>
                <a:lnTo>
                  <a:pt x="34772" y="97609"/>
                </a:lnTo>
                <a:lnTo>
                  <a:pt x="25944" y="88955"/>
                </a:lnTo>
                <a:lnTo>
                  <a:pt x="18286" y="80237"/>
                </a:lnTo>
                <a:lnTo>
                  <a:pt x="11883" y="71553"/>
                </a:lnTo>
                <a:lnTo>
                  <a:pt x="6805" y="62997"/>
                </a:lnTo>
                <a:lnTo>
                  <a:pt x="3107" y="54662"/>
                </a:lnTo>
                <a:lnTo>
                  <a:pt x="831" y="46641"/>
                </a:lnTo>
                <a:lnTo>
                  <a:pt x="0" y="39020"/>
                </a:lnTo>
                <a:lnTo>
                  <a:pt x="624" y="31884"/>
                </a:lnTo>
                <a:lnTo>
                  <a:pt x="2697" y="25311"/>
                </a:lnTo>
                <a:lnTo>
                  <a:pt x="6195" y="19372"/>
                </a:lnTo>
                <a:lnTo>
                  <a:pt x="11080" y="14133"/>
                </a:lnTo>
                <a:lnTo>
                  <a:pt x="17299" y="9651"/>
                </a:lnTo>
                <a:lnTo>
                  <a:pt x="24784" y="5976"/>
                </a:lnTo>
                <a:lnTo>
                  <a:pt x="33452" y="3146"/>
                </a:lnTo>
                <a:lnTo>
                  <a:pt x="43208" y="1195"/>
                </a:lnTo>
                <a:lnTo>
                  <a:pt x="53947" y="142"/>
                </a:lnTo>
                <a:lnTo>
                  <a:pt x="65549" y="0"/>
                </a:lnTo>
                <a:lnTo>
                  <a:pt x="77888" y="770"/>
                </a:lnTo>
                <a:lnTo>
                  <a:pt x="90829" y="2443"/>
                </a:lnTo>
                <a:lnTo>
                  <a:pt x="104229" y="5002"/>
                </a:lnTo>
                <a:lnTo>
                  <a:pt x="117943" y="8417"/>
                </a:lnTo>
                <a:lnTo>
                  <a:pt x="131820" y="12653"/>
                </a:lnTo>
                <a:lnTo>
                  <a:pt x="145707" y="17661"/>
                </a:lnTo>
                <a:lnTo>
                  <a:pt x="159453" y="23389"/>
                </a:lnTo>
                <a:lnTo>
                  <a:pt x="172907" y="29772"/>
                </a:lnTo>
                <a:lnTo>
                  <a:pt x="185922" y="36741"/>
                </a:lnTo>
                <a:lnTo>
                  <a:pt x="198355" y="44219"/>
                </a:lnTo>
                <a:lnTo>
                  <a:pt x="210069" y="52125"/>
                </a:lnTo>
                <a:lnTo>
                  <a:pt x="220938" y="60371"/>
                </a:lnTo>
                <a:lnTo>
                  <a:pt x="230840" y="68869"/>
                </a:lnTo>
                <a:lnTo>
                  <a:pt x="239669" y="77523"/>
                </a:lnTo>
                <a:lnTo>
                  <a:pt x="247326" y="86240"/>
                </a:lnTo>
                <a:lnTo>
                  <a:pt x="253729" y="94925"/>
                </a:lnTo>
                <a:lnTo>
                  <a:pt x="258807" y="103481"/>
                </a:lnTo>
                <a:lnTo>
                  <a:pt x="262505" y="111816"/>
                </a:lnTo>
                <a:lnTo>
                  <a:pt x="264782" y="119837"/>
                </a:lnTo>
                <a:lnTo>
                  <a:pt x="265612" y="127458"/>
                </a:lnTo>
                <a:lnTo>
                  <a:pt x="264988" y="134594"/>
                </a:lnTo>
                <a:close/>
              </a:path>
            </a:pathLst>
          </a:custGeom>
          <a:ln w="6350">
            <a:solidFill>
              <a:srgbClr val="4F7A43"/>
            </a:solidFill>
            <a:prstDash val="dash"/>
          </a:ln>
        </p:spPr>
      </p:sp>
      <p:sp>
        <p:nvSpPr>
          <p:cNvPr id="57" name="Shape 55"/>
          <p:cNvSpPr/>
          <p:nvPr/>
        </p:nvSpPr>
        <p:spPr>
          <a:xfrm>
            <a:off x="3700262" y="2904047"/>
            <a:ext cx="41148" cy="41148"/>
          </a:xfrm>
          <a:prstGeom prst="ellipse">
            <a:avLst/>
          </a:prstGeom>
          <a:solidFill>
            <a:srgbClr val="FFFFFF"/>
          </a:solidFill>
          <a:ln w="7620">
            <a:solidFill>
              <a:srgbClr val="4F7A43"/>
            </a:solidFill>
            <a:prstDash val="solid"/>
          </a:ln>
        </p:spPr>
      </p:sp>
      <p:sp>
        <p:nvSpPr>
          <p:cNvPr id="58" name="Shape 56"/>
          <p:cNvSpPr/>
          <p:nvPr/>
        </p:nvSpPr>
        <p:spPr>
          <a:xfrm>
            <a:off x="3646358" y="2963916"/>
            <a:ext cx="41148" cy="41148"/>
          </a:xfrm>
          <a:prstGeom prst="ellipse">
            <a:avLst/>
          </a:prstGeom>
          <a:solidFill>
            <a:srgbClr val="FFFFFF"/>
          </a:solidFill>
          <a:ln w="7620">
            <a:solidFill>
              <a:srgbClr val="4F7A43"/>
            </a:solidFill>
            <a:prstDash val="solid"/>
          </a:ln>
        </p:spPr>
      </p:sp>
      <p:sp>
        <p:nvSpPr>
          <p:cNvPr id="59" name="Shape 57"/>
          <p:cNvSpPr/>
          <p:nvPr/>
        </p:nvSpPr>
        <p:spPr>
          <a:xfrm>
            <a:off x="3551684" y="2998304"/>
            <a:ext cx="41148" cy="41148"/>
          </a:xfrm>
          <a:prstGeom prst="ellipse">
            <a:avLst/>
          </a:prstGeom>
          <a:solidFill>
            <a:srgbClr val="FFFFFF"/>
          </a:solidFill>
          <a:ln w="7620">
            <a:solidFill>
              <a:srgbClr val="4F7A43"/>
            </a:solidFill>
            <a:prstDash val="solid"/>
          </a:ln>
        </p:spPr>
      </p:sp>
      <p:sp>
        <p:nvSpPr>
          <p:cNvPr id="60" name="Shape 58"/>
          <p:cNvSpPr/>
          <p:nvPr/>
        </p:nvSpPr>
        <p:spPr>
          <a:xfrm>
            <a:off x="3424513" y="3004205"/>
            <a:ext cx="41148" cy="41148"/>
          </a:xfrm>
          <a:prstGeom prst="ellipse">
            <a:avLst/>
          </a:prstGeom>
          <a:solidFill>
            <a:srgbClr val="FFFFFF"/>
          </a:solidFill>
          <a:ln w="7620">
            <a:solidFill>
              <a:srgbClr val="4F7A43"/>
            </a:solidFill>
            <a:prstDash val="solid"/>
          </a:ln>
        </p:spPr>
      </p:sp>
      <p:sp>
        <p:nvSpPr>
          <p:cNvPr id="61" name="Shape 59"/>
          <p:cNvSpPr/>
          <p:nvPr/>
        </p:nvSpPr>
        <p:spPr>
          <a:xfrm>
            <a:off x="3275958" y="2981104"/>
            <a:ext cx="41148" cy="41148"/>
          </a:xfrm>
          <a:prstGeom prst="ellipse">
            <a:avLst/>
          </a:prstGeom>
          <a:solidFill>
            <a:srgbClr val="FFFFFF"/>
          </a:solidFill>
          <a:ln w="7620">
            <a:solidFill>
              <a:srgbClr val="4F7A43"/>
            </a:solidFill>
            <a:prstDash val="solid"/>
          </a:ln>
        </p:spPr>
      </p:sp>
      <p:sp>
        <p:nvSpPr>
          <p:cNvPr id="62" name="Shape 60"/>
          <p:cNvSpPr/>
          <p:nvPr/>
        </p:nvSpPr>
        <p:spPr>
          <a:xfrm>
            <a:off x="3119003" y="2931019"/>
            <a:ext cx="41148" cy="41148"/>
          </a:xfrm>
          <a:prstGeom prst="ellipse">
            <a:avLst/>
          </a:prstGeom>
          <a:solidFill>
            <a:srgbClr val="FFFFFF"/>
          </a:solidFill>
          <a:ln w="7620">
            <a:solidFill>
              <a:srgbClr val="4F7A43"/>
            </a:solidFill>
            <a:prstDash val="solid"/>
          </a:ln>
        </p:spPr>
      </p:sp>
      <p:sp>
        <p:nvSpPr>
          <p:cNvPr id="63" name="Shape 61"/>
          <p:cNvSpPr/>
          <p:nvPr/>
        </p:nvSpPr>
        <p:spPr>
          <a:xfrm>
            <a:off x="2967362" y="2858327"/>
            <a:ext cx="41148" cy="41148"/>
          </a:xfrm>
          <a:prstGeom prst="ellipse">
            <a:avLst/>
          </a:prstGeom>
          <a:solidFill>
            <a:srgbClr val="FFFFFF"/>
          </a:solidFill>
          <a:ln w="7620">
            <a:solidFill>
              <a:srgbClr val="4F7A43"/>
            </a:solidFill>
            <a:prstDash val="solid"/>
          </a:ln>
        </p:spPr>
      </p:sp>
      <p:sp>
        <p:nvSpPr>
          <p:cNvPr id="64" name="Shape 62"/>
          <p:cNvSpPr/>
          <p:nvPr/>
        </p:nvSpPr>
        <p:spPr>
          <a:xfrm>
            <a:off x="2834289" y="2769382"/>
            <a:ext cx="41148" cy="41148"/>
          </a:xfrm>
          <a:prstGeom prst="ellipse">
            <a:avLst/>
          </a:prstGeom>
          <a:solidFill>
            <a:srgbClr val="FFFFFF"/>
          </a:solidFill>
          <a:ln w="7620">
            <a:solidFill>
              <a:srgbClr val="4F7A43"/>
            </a:solidFill>
            <a:prstDash val="solid"/>
          </a:ln>
        </p:spPr>
      </p:sp>
      <p:sp>
        <p:nvSpPr>
          <p:cNvPr id="65" name="Shape 63"/>
          <p:cNvSpPr/>
          <p:nvPr/>
        </p:nvSpPr>
        <p:spPr>
          <a:xfrm>
            <a:off x="2731413" y="2671955"/>
            <a:ext cx="41148" cy="41148"/>
          </a:xfrm>
          <a:prstGeom prst="ellipse">
            <a:avLst/>
          </a:prstGeom>
          <a:solidFill>
            <a:srgbClr val="FFFFFF"/>
          </a:solidFill>
          <a:ln w="7620">
            <a:solidFill>
              <a:srgbClr val="4F7A43"/>
            </a:solidFill>
            <a:prstDash val="solid"/>
          </a:ln>
        </p:spPr>
      </p:sp>
      <p:sp>
        <p:nvSpPr>
          <p:cNvPr id="66" name="Shape 64"/>
          <p:cNvSpPr/>
          <p:nvPr/>
        </p:nvSpPr>
        <p:spPr>
          <a:xfrm>
            <a:off x="2667724" y="2574562"/>
            <a:ext cx="41148" cy="41148"/>
          </a:xfrm>
          <a:prstGeom prst="ellipse">
            <a:avLst/>
          </a:prstGeom>
          <a:solidFill>
            <a:srgbClr val="FFFFFF"/>
          </a:solidFill>
          <a:ln w="7620">
            <a:solidFill>
              <a:srgbClr val="4F7A43"/>
            </a:solidFill>
            <a:prstDash val="solid"/>
          </a:ln>
        </p:spPr>
      </p:sp>
      <p:sp>
        <p:nvSpPr>
          <p:cNvPr id="67" name="Shape 65"/>
          <p:cNvSpPr/>
          <p:nvPr/>
        </p:nvSpPr>
        <p:spPr>
          <a:xfrm>
            <a:off x="2648787" y="2485713"/>
            <a:ext cx="41148" cy="41148"/>
          </a:xfrm>
          <a:prstGeom prst="ellipse">
            <a:avLst/>
          </a:prstGeom>
          <a:solidFill>
            <a:srgbClr val="FFFFFF"/>
          </a:solidFill>
          <a:ln w="7620">
            <a:solidFill>
              <a:srgbClr val="4F7A43"/>
            </a:solidFill>
            <a:prstDash val="solid"/>
          </a:ln>
        </p:spPr>
      </p:sp>
      <p:sp>
        <p:nvSpPr>
          <p:cNvPr id="68" name="Shape 66"/>
          <p:cNvSpPr/>
          <p:nvPr/>
        </p:nvSpPr>
        <p:spPr>
          <a:xfrm>
            <a:off x="2676259" y="2413172"/>
            <a:ext cx="41148" cy="41148"/>
          </a:xfrm>
          <a:prstGeom prst="ellipse">
            <a:avLst/>
          </a:prstGeom>
          <a:solidFill>
            <a:srgbClr val="FFFFFF"/>
          </a:solidFill>
          <a:ln w="7620">
            <a:solidFill>
              <a:srgbClr val="4F7A43"/>
            </a:solidFill>
            <a:prstDash val="solid"/>
          </a:ln>
        </p:spPr>
      </p:sp>
      <p:sp>
        <p:nvSpPr>
          <p:cNvPr id="69" name="Shape 67"/>
          <p:cNvSpPr/>
          <p:nvPr/>
        </p:nvSpPr>
        <p:spPr>
          <a:xfrm>
            <a:off x="2747737" y="2363280"/>
            <a:ext cx="41148" cy="41148"/>
          </a:xfrm>
          <a:prstGeom prst="ellipse">
            <a:avLst/>
          </a:prstGeom>
          <a:solidFill>
            <a:srgbClr val="FFFFFF"/>
          </a:solidFill>
          <a:ln w="7620">
            <a:solidFill>
              <a:srgbClr val="4F7A43"/>
            </a:solidFill>
            <a:prstDash val="solid"/>
          </a:ln>
        </p:spPr>
      </p:sp>
      <p:sp>
        <p:nvSpPr>
          <p:cNvPr id="70" name="Shape 68"/>
          <p:cNvSpPr/>
          <p:nvPr/>
        </p:nvSpPr>
        <p:spPr>
          <a:xfrm>
            <a:off x="2856976" y="2340397"/>
            <a:ext cx="41148" cy="41148"/>
          </a:xfrm>
          <a:prstGeom prst="ellipse">
            <a:avLst/>
          </a:prstGeom>
          <a:solidFill>
            <a:srgbClr val="FFFFFF"/>
          </a:solidFill>
          <a:ln w="7620">
            <a:solidFill>
              <a:srgbClr val="4F7A43"/>
            </a:solidFill>
            <a:prstDash val="solid"/>
          </a:ln>
        </p:spPr>
      </p:sp>
      <p:sp>
        <p:nvSpPr>
          <p:cNvPr id="71" name="Shape 69"/>
          <p:cNvSpPr/>
          <p:nvPr/>
        </p:nvSpPr>
        <p:spPr>
          <a:xfrm>
            <a:off x="2994429" y="2346521"/>
            <a:ext cx="41148" cy="41148"/>
          </a:xfrm>
          <a:prstGeom prst="ellipse">
            <a:avLst/>
          </a:prstGeom>
          <a:solidFill>
            <a:srgbClr val="FFFFFF"/>
          </a:solidFill>
          <a:ln w="7620">
            <a:solidFill>
              <a:srgbClr val="4F7A43"/>
            </a:solidFill>
            <a:prstDash val="solid"/>
          </a:ln>
        </p:spPr>
      </p:sp>
      <p:sp>
        <p:nvSpPr>
          <p:cNvPr id="72" name="Shape 70"/>
          <p:cNvSpPr/>
          <p:nvPr/>
        </p:nvSpPr>
        <p:spPr>
          <a:xfrm>
            <a:off x="3148083" y="2381119"/>
            <a:ext cx="41148" cy="41148"/>
          </a:xfrm>
          <a:prstGeom prst="ellipse">
            <a:avLst/>
          </a:prstGeom>
          <a:solidFill>
            <a:srgbClr val="FFFFFF"/>
          </a:solidFill>
          <a:ln w="7620">
            <a:solidFill>
              <a:srgbClr val="4F7A43"/>
            </a:solidFill>
            <a:prstDash val="solid"/>
          </a:ln>
        </p:spPr>
      </p:sp>
      <p:sp>
        <p:nvSpPr>
          <p:cNvPr id="73" name="Shape 71"/>
          <p:cNvSpPr/>
          <p:nvPr/>
        </p:nvSpPr>
        <p:spPr>
          <a:xfrm>
            <a:off x="3304512" y="2441166"/>
            <a:ext cx="41148" cy="41148"/>
          </a:xfrm>
          <a:prstGeom prst="ellipse">
            <a:avLst/>
          </a:prstGeom>
          <a:solidFill>
            <a:srgbClr val="FFFFFF"/>
          </a:solidFill>
          <a:ln w="7620">
            <a:solidFill>
              <a:srgbClr val="4F7A43"/>
            </a:solidFill>
            <a:prstDash val="solid"/>
          </a:ln>
        </p:spPr>
      </p:sp>
      <p:sp>
        <p:nvSpPr>
          <p:cNvPr id="74" name="Shape 72"/>
          <p:cNvSpPr/>
          <p:nvPr/>
        </p:nvSpPr>
        <p:spPr>
          <a:xfrm>
            <a:off x="3450044" y="2521415"/>
            <a:ext cx="41148" cy="41148"/>
          </a:xfrm>
          <a:prstGeom prst="ellipse">
            <a:avLst/>
          </a:prstGeom>
          <a:solidFill>
            <a:srgbClr val="FFFFFF"/>
          </a:solidFill>
          <a:ln w="7620">
            <a:solidFill>
              <a:srgbClr val="4F7A43"/>
            </a:solidFill>
            <a:prstDash val="solid"/>
          </a:ln>
        </p:spPr>
      </p:sp>
      <p:sp>
        <p:nvSpPr>
          <p:cNvPr id="75" name="Shape 73"/>
          <p:cNvSpPr/>
          <p:nvPr/>
        </p:nvSpPr>
        <p:spPr>
          <a:xfrm>
            <a:off x="3571962" y="2614852"/>
            <a:ext cx="41148" cy="41148"/>
          </a:xfrm>
          <a:prstGeom prst="ellipse">
            <a:avLst/>
          </a:prstGeom>
          <a:solidFill>
            <a:srgbClr val="FFFFFF"/>
          </a:solidFill>
          <a:ln w="7620">
            <a:solidFill>
              <a:srgbClr val="4F7A43"/>
            </a:solidFill>
            <a:prstDash val="solid"/>
          </a:ln>
        </p:spPr>
      </p:sp>
      <p:sp>
        <p:nvSpPr>
          <p:cNvPr id="76" name="Shape 74"/>
          <p:cNvSpPr/>
          <p:nvPr/>
        </p:nvSpPr>
        <p:spPr>
          <a:xfrm>
            <a:off x="3659611" y="2713313"/>
            <a:ext cx="41148" cy="41148"/>
          </a:xfrm>
          <a:prstGeom prst="ellipse">
            <a:avLst/>
          </a:prstGeom>
          <a:solidFill>
            <a:srgbClr val="FFFFFF"/>
          </a:solidFill>
          <a:ln w="7620">
            <a:solidFill>
              <a:srgbClr val="4F7A43"/>
            </a:solidFill>
            <a:prstDash val="solid"/>
          </a:ln>
        </p:spPr>
      </p:sp>
      <p:sp>
        <p:nvSpPr>
          <p:cNvPr id="77" name="Shape 75"/>
          <p:cNvSpPr/>
          <p:nvPr/>
        </p:nvSpPr>
        <p:spPr>
          <a:xfrm>
            <a:off x="3705331" y="2808193"/>
            <a:ext cx="41148" cy="41148"/>
          </a:xfrm>
          <a:prstGeom prst="ellipse">
            <a:avLst/>
          </a:prstGeom>
          <a:solidFill>
            <a:srgbClr val="FFFFFF"/>
          </a:solidFill>
          <a:ln w="7620">
            <a:solidFill>
              <a:srgbClr val="4F7A43"/>
            </a:solidFill>
            <a:prstDash val="solid"/>
          </a:ln>
        </p:spPr>
      </p:sp>
      <p:sp>
        <p:nvSpPr>
          <p:cNvPr id="78" name="Shape 76"/>
          <p:cNvSpPr/>
          <p:nvPr/>
        </p:nvSpPr>
        <p:spPr>
          <a:xfrm>
            <a:off x="3705127" y="2891200"/>
            <a:ext cx="41148" cy="41148"/>
          </a:xfrm>
          <a:prstGeom prst="ellipse">
            <a:avLst/>
          </a:prstGeom>
          <a:solidFill>
            <a:srgbClr val="FFFFFF"/>
          </a:solidFill>
          <a:ln w="7620">
            <a:solidFill>
              <a:srgbClr val="4F7A43"/>
            </a:solidFill>
            <a:prstDash val="solid"/>
          </a:ln>
        </p:spPr>
      </p:sp>
      <p:sp>
        <p:nvSpPr>
          <p:cNvPr id="79" name="Shape 77"/>
          <p:cNvSpPr/>
          <p:nvPr/>
        </p:nvSpPr>
        <p:spPr>
          <a:xfrm>
            <a:off x="3238635" y="2917702"/>
            <a:ext cx="601425" cy="176498"/>
          </a:xfrm>
          <a:custGeom>
            <a:avLst/>
            <a:gdLst/>
            <a:ahLst/>
            <a:cxnLst/>
            <a:rect l="l" t="t" r="r" b="b"/>
            <a:pathLst>
              <a:path w="601425" h="176498">
                <a:moveTo>
                  <a:pt x="601425" y="0"/>
                </a:moveTo>
                <a:lnTo>
                  <a:pt x="598363" y="24020"/>
                </a:lnTo>
                <a:lnTo>
                  <a:pt x="591800" y="46671"/>
                </a:lnTo>
                <a:lnTo>
                  <a:pt x="581772" y="67829"/>
                </a:lnTo>
                <a:lnTo>
                  <a:pt x="568334" y="87378"/>
                </a:lnTo>
                <a:lnTo>
                  <a:pt x="551561" y="105210"/>
                </a:lnTo>
                <a:lnTo>
                  <a:pt x="531543" y="121227"/>
                </a:lnTo>
                <a:lnTo>
                  <a:pt x="508392" y="135341"/>
                </a:lnTo>
                <a:lnTo>
                  <a:pt x="482235" y="147475"/>
                </a:lnTo>
                <a:lnTo>
                  <a:pt x="453216" y="157561"/>
                </a:lnTo>
                <a:lnTo>
                  <a:pt x="421494" y="165545"/>
                </a:lnTo>
                <a:lnTo>
                  <a:pt x="387243" y="171381"/>
                </a:lnTo>
                <a:lnTo>
                  <a:pt x="350652" y="175039"/>
                </a:lnTo>
                <a:lnTo>
                  <a:pt x="311923" y="176498"/>
                </a:lnTo>
                <a:lnTo>
                  <a:pt x="271268" y="175750"/>
                </a:lnTo>
                <a:lnTo>
                  <a:pt x="228911" y="172800"/>
                </a:lnTo>
                <a:lnTo>
                  <a:pt x="185084" y="167662"/>
                </a:lnTo>
                <a:lnTo>
                  <a:pt x="140030" y="160366"/>
                </a:lnTo>
                <a:lnTo>
                  <a:pt x="93995" y="150952"/>
                </a:lnTo>
                <a:lnTo>
                  <a:pt x="47232" y="139472"/>
                </a:lnTo>
                <a:lnTo>
                  <a:pt x="0" y="125988"/>
                </a:lnTo>
              </a:path>
            </a:pathLst>
          </a:custGeom>
          <a:ln w="44450">
            <a:solidFill>
              <a:srgbClr val="C4262E"/>
            </a:solidFill>
            <a:prstDash val="solid"/>
          </a:ln>
        </p:spPr>
      </p:sp>
      <p:sp>
        <p:nvSpPr>
          <p:cNvPr id="80" name="Shape 78"/>
          <p:cNvSpPr/>
          <p:nvPr/>
        </p:nvSpPr>
        <p:spPr>
          <a:xfrm rot="-741527">
            <a:off x="3258966" y="2942209"/>
            <a:ext cx="582636" cy="89338"/>
          </a:xfrm>
          <a:prstGeom prst="rect">
            <a:avLst/>
          </a:prstGeom>
          <a:solidFill>
            <a:srgbClr val="1B1B1B"/>
          </a:solidFill>
          <a:ln/>
        </p:spPr>
      </p:sp>
      <p:sp>
        <p:nvSpPr>
          <p:cNvPr id="81" name="Shape 79"/>
          <p:cNvSpPr/>
          <p:nvPr/>
        </p:nvSpPr>
        <p:spPr>
          <a:xfrm>
            <a:off x="3629430" y="3038762"/>
            <a:ext cx="265292" cy="113789"/>
          </a:xfrm>
          <a:custGeom>
            <a:avLst/>
            <a:gdLst/>
            <a:ahLst/>
            <a:cxnLst/>
            <a:rect l="l" t="t" r="r" b="b"/>
            <a:pathLst>
              <a:path w="265292" h="113789">
                <a:moveTo>
                  <a:pt x="265292" y="113789"/>
                </a:moveTo>
                <a:lnTo>
                  <a:pt x="0" y="0"/>
                </a:lnTo>
              </a:path>
            </a:pathLst>
          </a:custGeom>
          <a:ln w="19050">
            <a:solidFill>
              <a:srgbClr val="C4262E"/>
            </a:solidFill>
            <a:prstDash val="solid"/>
            <a:tailEnd type="triangle"/>
          </a:ln>
        </p:spPr>
      </p:sp>
      <p:sp>
        <p:nvSpPr>
          <p:cNvPr id="82" name="Shape 80"/>
          <p:cNvSpPr/>
          <p:nvPr/>
        </p:nvSpPr>
        <p:spPr>
          <a:xfrm>
            <a:off x="3516313" y="3052535"/>
            <a:ext cx="72026" cy="150204"/>
          </a:xfrm>
          <a:custGeom>
            <a:avLst/>
            <a:gdLst/>
            <a:ahLst/>
            <a:cxnLst/>
            <a:rect l="l" t="t" r="r" b="b"/>
            <a:pathLst>
              <a:path w="72026" h="150204">
                <a:moveTo>
                  <a:pt x="72026" y="150204"/>
                </a:moveTo>
                <a:lnTo>
                  <a:pt x="0" y="0"/>
                </a:lnTo>
              </a:path>
            </a:pathLst>
          </a:custGeom>
          <a:ln w="19050">
            <a:solidFill>
              <a:srgbClr val="C4262E"/>
            </a:solidFill>
            <a:prstDash val="solid"/>
            <a:tailEnd type="triangle"/>
          </a:ln>
        </p:spPr>
      </p:sp>
      <p:sp>
        <p:nvSpPr>
          <p:cNvPr id="83" name="Shape 81"/>
          <p:cNvSpPr/>
          <p:nvPr/>
        </p:nvSpPr>
        <p:spPr>
          <a:xfrm>
            <a:off x="3271653" y="2692034"/>
            <a:ext cx="177734" cy="223912"/>
          </a:xfrm>
          <a:custGeom>
            <a:avLst/>
            <a:gdLst/>
            <a:ahLst/>
            <a:cxnLst/>
            <a:rect l="l" t="t" r="r" b="b"/>
            <a:pathLst>
              <a:path w="177734" h="223912">
                <a:moveTo>
                  <a:pt x="177734" y="223912"/>
                </a:moveTo>
                <a:lnTo>
                  <a:pt x="0" y="0"/>
                </a:lnTo>
              </a:path>
            </a:pathLst>
          </a:custGeom>
          <a:ln w="12700">
            <a:solidFill>
              <a:srgbClr val="4F7A43"/>
            </a:solidFill>
            <a:prstDash val="dash"/>
            <a:tailEnd type="triangle"/>
          </a:ln>
        </p:spPr>
      </p:sp>
      <p:sp>
        <p:nvSpPr>
          <p:cNvPr id="84" name="Shape 82"/>
          <p:cNvSpPr/>
          <p:nvPr/>
        </p:nvSpPr>
        <p:spPr>
          <a:xfrm>
            <a:off x="2687499" y="2472751"/>
            <a:ext cx="731520" cy="146304"/>
          </a:xfrm>
          <a:prstGeom prst="rect">
            <a:avLst/>
          </a:prstGeom>
          <a:solidFill>
            <a:srgbClr val="FFFFFF"/>
          </a:solidFill>
          <a:ln/>
        </p:spPr>
      </p:sp>
      <p:sp>
        <p:nvSpPr>
          <p:cNvPr id="85" name="Text 83"/>
          <p:cNvSpPr txBox="1"/>
          <p:nvPr/>
        </p:nvSpPr>
        <p:spPr>
          <a:xfrm>
            <a:off x="2687499" y="2472751"/>
            <a:ext cx="731520" cy="146304"/>
          </a:xfrm>
          <a:prstGeom prst="rect">
            <a:avLst/>
          </a:prstGeom>
          <a:noFill/>
          <a:ln/>
        </p:spPr>
        <p:txBody>
          <a:bodyPr wrap="square" lIns="0" tIns="0" rIns="0" bIns="0" rtlCol="0" anchor="ctr"/>
          <a:lstStyle/>
          <a:p>
            <a:pPr algn="ctr" indent="0" marL="0">
              <a:buNone/>
            </a:pPr>
            <a:r>
              <a:rPr lang="en-US" sz="550" b="1" dirty="0">
                <a:solidFill>
                  <a:srgbClr val="4F7A43"/>
                </a:solidFill>
                <a:latin typeface="Arial" pitchFamily="34" charset="0"/>
                <a:ea typeface="Arial" pitchFamily="34" charset="-122"/>
                <a:cs typeface="Arial" pitchFamily="34" charset="-120"/>
              </a:rPr>
              <a:t>OPEN HILL PARK</a:t>
            </a:r>
            <a:endParaRPr lang="en-US" sz="550" dirty="0"/>
          </a:p>
        </p:txBody>
      </p:sp>
      <p:sp>
        <p:nvSpPr>
          <p:cNvPr id="86" name="Shape 84"/>
          <p:cNvSpPr/>
          <p:nvPr/>
        </p:nvSpPr>
        <p:spPr>
          <a:xfrm>
            <a:off x="410565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87" name="Shape 85"/>
          <p:cNvSpPr/>
          <p:nvPr/>
        </p:nvSpPr>
        <p:spPr>
          <a:xfrm>
            <a:off x="4206240" y="1627632"/>
            <a:ext cx="1828800" cy="1920240"/>
          </a:xfrm>
          <a:prstGeom prst="rect">
            <a:avLst/>
          </a:prstGeom>
          <a:solidFill>
            <a:srgbClr val="FFFFFF"/>
          </a:solidFill>
          <a:ln w="6350">
            <a:solidFill>
              <a:srgbClr val="D9D9D9"/>
            </a:solidFill>
            <a:prstDash val="solid"/>
          </a:ln>
        </p:spPr>
      </p:sp>
      <p:sp>
        <p:nvSpPr>
          <p:cNvPr id="88" name="Text 86"/>
          <p:cNvSpPr txBox="1"/>
          <p:nvPr/>
        </p:nvSpPr>
        <p:spPr>
          <a:xfrm>
            <a:off x="427939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03  </a:t>
            </a:r>
            <a:pPr indent="0" marL="0">
              <a:buNone/>
            </a:pPr>
            <a:r>
              <a:rPr lang="en-US" sz="750" b="1" spc="50" kern="0" dirty="0">
                <a:solidFill>
                  <a:srgbClr val="1B1B1B"/>
                </a:solidFill>
                <a:latin typeface="Arial" pitchFamily="34" charset="0"/>
                <a:ea typeface="Arial" pitchFamily="34" charset="-122"/>
                <a:cs typeface="Arial" pitchFamily="34" charset="-120"/>
              </a:rPr>
              <a:t>PROGRAM</a:t>
            </a:r>
            <a:endParaRPr lang="en-US" sz="750" dirty="0"/>
          </a:p>
        </p:txBody>
      </p:sp>
      <p:sp>
        <p:nvSpPr>
          <p:cNvPr id="89" name="Shape 87"/>
          <p:cNvSpPr/>
          <p:nvPr/>
        </p:nvSpPr>
        <p:spPr>
          <a:xfrm>
            <a:off x="4306824" y="3190890"/>
            <a:ext cx="1627632" cy="9144"/>
          </a:xfrm>
          <a:custGeom>
            <a:avLst/>
            <a:gdLst/>
            <a:ahLst/>
            <a:cxnLst/>
            <a:rect l="l" t="t" r="r" b="b"/>
            <a:pathLst>
              <a:path w="1627632" h="9144">
                <a:moveTo>
                  <a:pt x="0" y="4572"/>
                </a:moveTo>
                <a:lnTo>
                  <a:pt x="1627632" y="4572"/>
                </a:lnTo>
              </a:path>
            </a:pathLst>
          </a:custGeom>
          <a:ln w="38100">
            <a:solidFill>
              <a:srgbClr val="9A9A9A"/>
            </a:solidFill>
            <a:prstDash val="solid"/>
          </a:ln>
        </p:spPr>
      </p:sp>
      <p:sp>
        <p:nvSpPr>
          <p:cNvPr id="90" name="Text 88"/>
          <p:cNvSpPr txBox="1"/>
          <p:nvPr/>
        </p:nvSpPr>
        <p:spPr>
          <a:xfrm>
            <a:off x="4892040" y="3241182"/>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91" name="Shape 89"/>
          <p:cNvSpPr/>
          <p:nvPr/>
        </p:nvSpPr>
        <p:spPr>
          <a:xfrm>
            <a:off x="4306824" y="2801590"/>
            <a:ext cx="1627632" cy="284144"/>
          </a:xfrm>
          <a:prstGeom prst="rect">
            <a:avLst/>
          </a:prstGeom>
          <a:solidFill>
            <a:srgbClr val="C4262E"/>
          </a:solidFill>
          <a:ln/>
        </p:spPr>
      </p:sp>
      <p:sp>
        <p:nvSpPr>
          <p:cNvPr id="92" name="Text 90"/>
          <p:cNvSpPr txBox="1"/>
          <p:nvPr/>
        </p:nvSpPr>
        <p:spPr>
          <a:xfrm>
            <a:off x="4306824" y="2801590"/>
            <a:ext cx="1627632" cy="284144"/>
          </a:xfrm>
          <a:prstGeom prst="rect">
            <a:avLst/>
          </a:prstGeom>
          <a:no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ARCADE · FORUM</a:t>
            </a:r>
            <a:endParaRPr lang="en-US" sz="550" dirty="0"/>
          </a:p>
        </p:txBody>
      </p:sp>
      <p:sp>
        <p:nvSpPr>
          <p:cNvPr id="93" name="Shape 91"/>
          <p:cNvSpPr/>
          <p:nvPr/>
        </p:nvSpPr>
        <p:spPr>
          <a:xfrm>
            <a:off x="4306824" y="2476854"/>
            <a:ext cx="406908" cy="324736"/>
          </a:xfrm>
          <a:prstGeom prst="rect">
            <a:avLst/>
          </a:prstGeom>
          <a:solidFill>
            <a:srgbClr val="F0B9BC"/>
          </a:solidFill>
          <a:ln w="12700">
            <a:solidFill>
              <a:srgbClr val="FFFFFF"/>
            </a:solidFill>
            <a:prstDash val="solid"/>
          </a:ln>
        </p:spPr>
      </p:sp>
      <p:sp>
        <p:nvSpPr>
          <p:cNvPr id="94" name="Text 92"/>
          <p:cNvSpPr txBox="1"/>
          <p:nvPr/>
        </p:nvSpPr>
        <p:spPr>
          <a:xfrm>
            <a:off x="4306824" y="2476854"/>
            <a:ext cx="406908" cy="324736"/>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PRESS</a:t>
            </a:r>
            <a:endParaRPr lang="en-US" sz="500" dirty="0"/>
          </a:p>
        </p:txBody>
      </p:sp>
      <p:sp>
        <p:nvSpPr>
          <p:cNvPr id="95" name="Shape 93"/>
          <p:cNvSpPr/>
          <p:nvPr/>
        </p:nvSpPr>
        <p:spPr>
          <a:xfrm>
            <a:off x="4713732" y="2476854"/>
            <a:ext cx="406908" cy="324736"/>
          </a:xfrm>
          <a:prstGeom prst="rect">
            <a:avLst/>
          </a:prstGeom>
          <a:solidFill>
            <a:srgbClr val="F0B9BC"/>
          </a:solidFill>
          <a:ln w="12700">
            <a:solidFill>
              <a:srgbClr val="FFFFFF"/>
            </a:solidFill>
            <a:prstDash val="solid"/>
          </a:ln>
        </p:spPr>
      </p:sp>
      <p:sp>
        <p:nvSpPr>
          <p:cNvPr id="96" name="Text 94"/>
          <p:cNvSpPr txBox="1"/>
          <p:nvPr/>
        </p:nvSpPr>
        <p:spPr>
          <a:xfrm>
            <a:off x="4713732" y="2476854"/>
            <a:ext cx="406908" cy="324736"/>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EXHIB.</a:t>
            </a:r>
            <a:endParaRPr lang="en-US" sz="500" dirty="0"/>
          </a:p>
        </p:txBody>
      </p:sp>
      <p:sp>
        <p:nvSpPr>
          <p:cNvPr id="97" name="Shape 95"/>
          <p:cNvSpPr/>
          <p:nvPr/>
        </p:nvSpPr>
        <p:spPr>
          <a:xfrm>
            <a:off x="5120640" y="2476854"/>
            <a:ext cx="406908" cy="324736"/>
          </a:xfrm>
          <a:prstGeom prst="rect">
            <a:avLst/>
          </a:prstGeom>
          <a:solidFill>
            <a:srgbClr val="F0B9BC"/>
          </a:solidFill>
          <a:ln w="12700">
            <a:solidFill>
              <a:srgbClr val="FFFFFF"/>
            </a:solidFill>
            <a:prstDash val="solid"/>
          </a:ln>
        </p:spPr>
      </p:sp>
      <p:sp>
        <p:nvSpPr>
          <p:cNvPr id="98" name="Text 96"/>
          <p:cNvSpPr txBox="1"/>
          <p:nvPr/>
        </p:nvSpPr>
        <p:spPr>
          <a:xfrm>
            <a:off x="5120640" y="2476854"/>
            <a:ext cx="406908" cy="324736"/>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AUDIT.</a:t>
            </a:r>
            <a:endParaRPr lang="en-US" sz="500" dirty="0"/>
          </a:p>
        </p:txBody>
      </p:sp>
      <p:sp>
        <p:nvSpPr>
          <p:cNvPr id="99" name="Shape 97"/>
          <p:cNvSpPr/>
          <p:nvPr/>
        </p:nvSpPr>
        <p:spPr>
          <a:xfrm>
            <a:off x="5527548" y="2476854"/>
            <a:ext cx="406908" cy="324736"/>
          </a:xfrm>
          <a:prstGeom prst="rect">
            <a:avLst/>
          </a:prstGeom>
          <a:solidFill>
            <a:srgbClr val="F0B9BC"/>
          </a:solidFill>
          <a:ln w="12700">
            <a:solidFill>
              <a:srgbClr val="FFFFFF"/>
            </a:solidFill>
            <a:prstDash val="solid"/>
          </a:ln>
        </p:spPr>
      </p:sp>
      <p:sp>
        <p:nvSpPr>
          <p:cNvPr id="100" name="Text 98"/>
          <p:cNvSpPr txBox="1"/>
          <p:nvPr/>
        </p:nvSpPr>
        <p:spPr>
          <a:xfrm>
            <a:off x="5527548" y="2476854"/>
            <a:ext cx="406908" cy="324736"/>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LIBRARY</a:t>
            </a:r>
            <a:endParaRPr lang="en-US" sz="500" dirty="0"/>
          </a:p>
        </p:txBody>
      </p:sp>
      <p:sp>
        <p:nvSpPr>
          <p:cNvPr id="101" name="Shape 99"/>
          <p:cNvSpPr/>
          <p:nvPr/>
        </p:nvSpPr>
        <p:spPr>
          <a:xfrm>
            <a:off x="4306824" y="2172413"/>
            <a:ext cx="406908" cy="304440"/>
          </a:xfrm>
          <a:prstGeom prst="rect">
            <a:avLst/>
          </a:prstGeom>
          <a:solidFill>
            <a:srgbClr val="9A9A9A"/>
          </a:solidFill>
          <a:ln w="12700">
            <a:solidFill>
              <a:srgbClr val="FFFFFF"/>
            </a:solidFill>
            <a:prstDash val="solid"/>
          </a:ln>
        </p:spPr>
      </p:sp>
      <p:sp>
        <p:nvSpPr>
          <p:cNvPr id="102" name="Text 100"/>
          <p:cNvSpPr txBox="1"/>
          <p:nvPr/>
        </p:nvSpPr>
        <p:spPr>
          <a:xfrm>
            <a:off x="4306824" y="2172413"/>
            <a:ext cx="406908" cy="304440"/>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RESEARCH</a:t>
            </a:r>
            <a:endParaRPr lang="en-US" sz="500" dirty="0"/>
          </a:p>
        </p:txBody>
      </p:sp>
      <p:sp>
        <p:nvSpPr>
          <p:cNvPr id="103" name="Shape 101"/>
          <p:cNvSpPr/>
          <p:nvPr/>
        </p:nvSpPr>
        <p:spPr>
          <a:xfrm>
            <a:off x="4713732" y="2172413"/>
            <a:ext cx="406908" cy="304440"/>
          </a:xfrm>
          <a:prstGeom prst="rect">
            <a:avLst/>
          </a:prstGeom>
          <a:solidFill>
            <a:srgbClr val="9A9A9A"/>
          </a:solidFill>
          <a:ln w="12700">
            <a:solidFill>
              <a:srgbClr val="FFFFFF"/>
            </a:solidFill>
            <a:prstDash val="solid"/>
          </a:ln>
        </p:spPr>
      </p:sp>
      <p:sp>
        <p:nvSpPr>
          <p:cNvPr id="104" name="Text 102"/>
          <p:cNvSpPr txBox="1"/>
          <p:nvPr/>
        </p:nvSpPr>
        <p:spPr>
          <a:xfrm>
            <a:off x="4713732" y="2172413"/>
            <a:ext cx="406908" cy="304440"/>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MEDIA</a:t>
            </a:r>
            <a:endParaRPr lang="en-US" sz="500" dirty="0"/>
          </a:p>
        </p:txBody>
      </p:sp>
      <p:sp>
        <p:nvSpPr>
          <p:cNvPr id="105" name="Shape 103"/>
          <p:cNvSpPr/>
          <p:nvPr/>
        </p:nvSpPr>
        <p:spPr>
          <a:xfrm>
            <a:off x="5120640" y="2172413"/>
            <a:ext cx="406908" cy="304440"/>
          </a:xfrm>
          <a:prstGeom prst="rect">
            <a:avLst/>
          </a:prstGeom>
          <a:solidFill>
            <a:srgbClr val="9A9A9A"/>
          </a:solidFill>
          <a:ln w="12700">
            <a:solidFill>
              <a:srgbClr val="FFFFFF"/>
            </a:solidFill>
            <a:prstDash val="solid"/>
          </a:ln>
        </p:spPr>
      </p:sp>
      <p:sp>
        <p:nvSpPr>
          <p:cNvPr id="106" name="Text 104"/>
          <p:cNvSpPr txBox="1"/>
          <p:nvPr/>
        </p:nvSpPr>
        <p:spPr>
          <a:xfrm>
            <a:off x="5120640" y="2172413"/>
            <a:ext cx="406908" cy="304440"/>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PUBLISH.</a:t>
            </a:r>
            <a:endParaRPr lang="en-US" sz="500" dirty="0"/>
          </a:p>
        </p:txBody>
      </p:sp>
      <p:sp>
        <p:nvSpPr>
          <p:cNvPr id="107" name="Shape 105"/>
          <p:cNvSpPr/>
          <p:nvPr/>
        </p:nvSpPr>
        <p:spPr>
          <a:xfrm>
            <a:off x="5527548" y="2172413"/>
            <a:ext cx="406908" cy="304440"/>
          </a:xfrm>
          <a:prstGeom prst="rect">
            <a:avLst/>
          </a:prstGeom>
          <a:solidFill>
            <a:srgbClr val="1B1B1B"/>
          </a:solidFill>
          <a:ln w="12700">
            <a:solidFill>
              <a:srgbClr val="FFFFFF"/>
            </a:solidFill>
            <a:prstDash val="solid"/>
          </a:ln>
        </p:spPr>
      </p:sp>
      <p:sp>
        <p:nvSpPr>
          <p:cNvPr id="108" name="Text 106"/>
          <p:cNvSpPr txBox="1"/>
          <p:nvPr/>
        </p:nvSpPr>
        <p:spPr>
          <a:xfrm>
            <a:off x="5527548" y="2172413"/>
            <a:ext cx="406908" cy="304440"/>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ARCHIVE</a:t>
            </a:r>
            <a:endParaRPr lang="en-US" sz="500" dirty="0"/>
          </a:p>
        </p:txBody>
      </p:sp>
      <p:sp>
        <p:nvSpPr>
          <p:cNvPr id="109" name="Text 107"/>
          <p:cNvSpPr txBox="1"/>
          <p:nvPr/>
        </p:nvSpPr>
        <p:spPr>
          <a:xfrm>
            <a:off x="4892040" y="1988637"/>
            <a:ext cx="457200" cy="146304"/>
          </a:xfrm>
          <a:prstGeom prst="rect">
            <a:avLst/>
          </a:prstGeom>
          <a:noFill/>
          <a:ln/>
        </p:spPr>
        <p:txBody>
          <a:bodyPr wrap="square" lIns="0" tIns="0" rIns="0" bIns="0" rtlCol="0" anchor="ctr"/>
          <a:lstStyle/>
          <a:p>
            <a:pPr algn="ctr" indent="0" marL="0">
              <a:buNone/>
            </a:pPr>
            <a:r>
              <a:rPr lang="en-US" sz="550" dirty="0">
                <a:solidFill>
                  <a:srgbClr val="4F7A43"/>
                </a:solidFill>
                <a:latin typeface="Arial" pitchFamily="34" charset="0"/>
                <a:ea typeface="Arial" pitchFamily="34" charset="-122"/>
                <a:cs typeface="Arial" pitchFamily="34" charset="-120"/>
              </a:rPr>
              <a:t>HILL</a:t>
            </a:r>
            <a:endParaRPr lang="en-US" sz="550" dirty="0"/>
          </a:p>
        </p:txBody>
      </p:sp>
      <p:sp>
        <p:nvSpPr>
          <p:cNvPr id="110" name="Shape 108"/>
          <p:cNvSpPr/>
          <p:nvPr/>
        </p:nvSpPr>
        <p:spPr>
          <a:xfrm>
            <a:off x="602589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11" name="Shape 109"/>
          <p:cNvSpPr/>
          <p:nvPr/>
        </p:nvSpPr>
        <p:spPr>
          <a:xfrm>
            <a:off x="6126480" y="1627632"/>
            <a:ext cx="1828800" cy="1920240"/>
          </a:xfrm>
          <a:prstGeom prst="rect">
            <a:avLst/>
          </a:prstGeom>
          <a:solidFill>
            <a:srgbClr val="FFFFFF"/>
          </a:solidFill>
          <a:ln w="6350">
            <a:solidFill>
              <a:srgbClr val="D9D9D9"/>
            </a:solidFill>
            <a:prstDash val="solid"/>
          </a:ln>
        </p:spPr>
      </p:sp>
      <p:sp>
        <p:nvSpPr>
          <p:cNvPr id="112" name="Text 110"/>
          <p:cNvSpPr txBox="1"/>
          <p:nvPr/>
        </p:nvSpPr>
        <p:spPr>
          <a:xfrm>
            <a:off x="619963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04  </a:t>
            </a:r>
            <a:pPr indent="0" marL="0">
              <a:buNone/>
            </a:pPr>
            <a:r>
              <a:rPr lang="en-US" sz="750" b="1" spc="50" kern="0" dirty="0">
                <a:solidFill>
                  <a:srgbClr val="1B1B1B"/>
                </a:solidFill>
                <a:latin typeface="Arial" pitchFamily="34" charset="0"/>
                <a:ea typeface="Arial" pitchFamily="34" charset="-122"/>
                <a:cs typeface="Arial" pitchFamily="34" charset="-120"/>
              </a:rPr>
              <a:t>ZONING</a:t>
            </a:r>
            <a:endParaRPr lang="en-US" sz="750" dirty="0"/>
          </a:p>
        </p:txBody>
      </p:sp>
      <p:sp>
        <p:nvSpPr>
          <p:cNvPr id="113" name="Shape 111"/>
          <p:cNvSpPr/>
          <p:nvPr/>
        </p:nvSpPr>
        <p:spPr>
          <a:xfrm>
            <a:off x="7419076" y="2447392"/>
            <a:ext cx="481340" cy="1063904"/>
          </a:xfrm>
          <a:custGeom>
            <a:avLst/>
            <a:gdLst/>
            <a:ahLst/>
            <a:cxnLst/>
            <a:rect l="l" t="t" r="r" b="b"/>
            <a:pathLst>
              <a:path w="481340" h="1063904">
                <a:moveTo>
                  <a:pt x="0" y="818388"/>
                </a:moveTo>
                <a:lnTo>
                  <a:pt x="481340" y="0"/>
                </a:lnTo>
                <a:lnTo>
                  <a:pt x="481340" y="1063904"/>
                </a:lnTo>
                <a:lnTo>
                  <a:pt x="0" y="1063904"/>
                </a:lnTo>
                <a:close/>
              </a:path>
            </a:pathLst>
          </a:custGeom>
          <a:solidFill>
            <a:srgbClr val="E3ECDC"/>
          </a:solidFill>
          <a:ln w="12700"/>
        </p:spPr>
      </p:sp>
      <p:sp>
        <p:nvSpPr>
          <p:cNvPr id="114" name="Shape 112"/>
          <p:cNvSpPr/>
          <p:nvPr/>
        </p:nvSpPr>
        <p:spPr>
          <a:xfrm>
            <a:off x="6181344" y="3261208"/>
            <a:ext cx="1237732" cy="9144"/>
          </a:xfrm>
          <a:custGeom>
            <a:avLst/>
            <a:gdLst/>
            <a:ahLst/>
            <a:cxnLst/>
            <a:rect l="l" t="t" r="r" b="b"/>
            <a:pathLst>
              <a:path w="1237732" h="9144">
                <a:moveTo>
                  <a:pt x="0" y="4572"/>
                </a:moveTo>
                <a:lnTo>
                  <a:pt x="1237732" y="4572"/>
                </a:lnTo>
              </a:path>
            </a:pathLst>
          </a:custGeom>
          <a:ln w="15875">
            <a:solidFill>
              <a:srgbClr val="1B1B1B"/>
            </a:solidFill>
            <a:prstDash val="solid"/>
          </a:ln>
        </p:spPr>
      </p:sp>
      <p:sp>
        <p:nvSpPr>
          <p:cNvPr id="115" name="Shape 113"/>
          <p:cNvSpPr/>
          <p:nvPr/>
        </p:nvSpPr>
        <p:spPr>
          <a:xfrm>
            <a:off x="7419076" y="2447392"/>
            <a:ext cx="481340" cy="818388"/>
          </a:xfrm>
          <a:custGeom>
            <a:avLst/>
            <a:gdLst/>
            <a:ahLst/>
            <a:cxnLst/>
            <a:rect l="l" t="t" r="r" b="b"/>
            <a:pathLst>
              <a:path w="481340" h="818388">
                <a:moveTo>
                  <a:pt x="0" y="818388"/>
                </a:moveTo>
                <a:lnTo>
                  <a:pt x="481340" y="0"/>
                </a:lnTo>
              </a:path>
            </a:pathLst>
          </a:custGeom>
          <a:ln w="15875">
            <a:solidFill>
              <a:srgbClr val="1B1B1B"/>
            </a:solidFill>
            <a:prstDash val="solid"/>
          </a:ln>
        </p:spPr>
      </p:sp>
      <p:sp>
        <p:nvSpPr>
          <p:cNvPr id="116" name="Shape 114"/>
          <p:cNvSpPr/>
          <p:nvPr/>
        </p:nvSpPr>
        <p:spPr>
          <a:xfrm>
            <a:off x="6559540" y="2820577"/>
            <a:ext cx="300838" cy="445203"/>
          </a:xfrm>
          <a:prstGeom prst="rect">
            <a:avLst/>
          </a:prstGeom>
          <a:solidFill>
            <a:srgbClr val="FFFFFF"/>
          </a:solidFill>
          <a:ln w="12700">
            <a:solidFill>
              <a:srgbClr val="C4262E"/>
            </a:solidFill>
            <a:prstDash val="dash"/>
          </a:ln>
        </p:spPr>
      </p:sp>
      <p:sp>
        <p:nvSpPr>
          <p:cNvPr id="117" name="Text 115"/>
          <p:cNvSpPr txBox="1"/>
          <p:nvPr/>
        </p:nvSpPr>
        <p:spPr>
          <a:xfrm>
            <a:off x="6559540" y="3015353"/>
            <a:ext cx="300838" cy="128016"/>
          </a:xfrm>
          <a:prstGeom prst="rect">
            <a:avLst/>
          </a:prstGeom>
          <a:noFill/>
          <a:ln/>
        </p:spPr>
        <p:txBody>
          <a:bodyPr wrap="square" lIns="0" tIns="0" rIns="0" bIns="0" rtlCol="0" anchor="t"/>
          <a:lstStyle/>
          <a:p>
            <a:pPr algn="ctr" indent="0" marL="0">
              <a:buNone/>
            </a:pPr>
            <a:r>
              <a:rPr lang="en-US" sz="500" b="1" dirty="0">
                <a:solidFill>
                  <a:srgbClr val="C4262E"/>
                </a:solidFill>
                <a:latin typeface="Arial" pitchFamily="34" charset="0"/>
                <a:ea typeface="Arial" pitchFamily="34" charset="-122"/>
                <a:cs typeface="Arial" pitchFamily="34" charset="-120"/>
              </a:rPr>
              <a:t>ARCADE</a:t>
            </a:r>
            <a:endParaRPr lang="en-US" sz="500" dirty="0"/>
          </a:p>
        </p:txBody>
      </p:sp>
      <p:sp>
        <p:nvSpPr>
          <p:cNvPr id="118" name="Shape 116"/>
          <p:cNvSpPr/>
          <p:nvPr/>
        </p:nvSpPr>
        <p:spPr>
          <a:xfrm>
            <a:off x="6860377" y="2820577"/>
            <a:ext cx="343814" cy="445203"/>
          </a:xfrm>
          <a:prstGeom prst="rect">
            <a:avLst/>
          </a:prstGeom>
          <a:solidFill>
            <a:srgbClr val="F0B9BC"/>
          </a:solidFill>
          <a:ln w="6350">
            <a:solidFill>
              <a:srgbClr val="1B1B1B"/>
            </a:solidFill>
            <a:prstDash val="solid"/>
          </a:ln>
        </p:spPr>
      </p:sp>
      <p:sp>
        <p:nvSpPr>
          <p:cNvPr id="119" name="Shape 117"/>
          <p:cNvSpPr/>
          <p:nvPr/>
        </p:nvSpPr>
        <p:spPr>
          <a:xfrm>
            <a:off x="6559540" y="2319723"/>
            <a:ext cx="644652" cy="500853"/>
          </a:xfrm>
          <a:prstGeom prst="rect">
            <a:avLst/>
          </a:prstGeom>
          <a:solidFill>
            <a:srgbClr val="9A9A9A"/>
          </a:solidFill>
          <a:ln w="6350">
            <a:solidFill>
              <a:srgbClr val="1B1B1B"/>
            </a:solidFill>
            <a:prstDash val="solid"/>
          </a:ln>
        </p:spPr>
      </p:sp>
      <p:sp>
        <p:nvSpPr>
          <p:cNvPr id="120" name="Text 118"/>
          <p:cNvSpPr txBox="1"/>
          <p:nvPr/>
        </p:nvSpPr>
        <p:spPr>
          <a:xfrm>
            <a:off x="6559540" y="2319723"/>
            <a:ext cx="644652" cy="500853"/>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WORK FLOORS</a:t>
            </a:r>
            <a:endParaRPr lang="en-US" sz="500" dirty="0"/>
          </a:p>
        </p:txBody>
      </p:sp>
      <p:sp>
        <p:nvSpPr>
          <p:cNvPr id="121" name="Shape 119"/>
          <p:cNvSpPr/>
          <p:nvPr/>
        </p:nvSpPr>
        <p:spPr>
          <a:xfrm>
            <a:off x="7204192" y="2319723"/>
            <a:ext cx="214884" cy="946057"/>
          </a:xfrm>
          <a:prstGeom prst="rect">
            <a:avLst/>
          </a:prstGeom>
          <a:solidFill>
            <a:srgbClr val="1B1B1B"/>
          </a:solidFill>
          <a:ln/>
        </p:spPr>
      </p:sp>
      <p:sp>
        <p:nvSpPr>
          <p:cNvPr id="122" name="Text 120"/>
          <p:cNvSpPr txBox="1"/>
          <p:nvPr/>
        </p:nvSpPr>
        <p:spPr>
          <a:xfrm>
            <a:off x="7204192" y="2319723"/>
            <a:ext cx="214884" cy="946057"/>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ARCH.</a:t>
            </a:r>
            <a:endParaRPr lang="en-US" sz="500" dirty="0"/>
          </a:p>
        </p:txBody>
      </p:sp>
      <p:sp>
        <p:nvSpPr>
          <p:cNvPr id="123" name="Text 121"/>
          <p:cNvSpPr txBox="1"/>
          <p:nvPr/>
        </p:nvSpPr>
        <p:spPr>
          <a:xfrm>
            <a:off x="6170371" y="3274924"/>
            <a:ext cx="36576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24" name="Shape 122"/>
          <p:cNvSpPr/>
          <p:nvPr/>
        </p:nvSpPr>
        <p:spPr>
          <a:xfrm>
            <a:off x="794613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25" name="Shape 123"/>
          <p:cNvSpPr/>
          <p:nvPr/>
        </p:nvSpPr>
        <p:spPr>
          <a:xfrm>
            <a:off x="8046720" y="1627632"/>
            <a:ext cx="1828800" cy="1920240"/>
          </a:xfrm>
          <a:prstGeom prst="rect">
            <a:avLst/>
          </a:prstGeom>
          <a:solidFill>
            <a:srgbClr val="FFFFFF"/>
          </a:solidFill>
          <a:ln w="6350">
            <a:solidFill>
              <a:srgbClr val="D9D9D9"/>
            </a:solidFill>
            <a:prstDash val="solid"/>
          </a:ln>
        </p:spPr>
      </p:sp>
      <p:sp>
        <p:nvSpPr>
          <p:cNvPr id="126" name="Text 124"/>
          <p:cNvSpPr txBox="1"/>
          <p:nvPr/>
        </p:nvSpPr>
        <p:spPr>
          <a:xfrm>
            <a:off x="811987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05  </a:t>
            </a:r>
            <a:pPr indent="0" marL="0">
              <a:buNone/>
            </a:pPr>
            <a:r>
              <a:rPr lang="en-US" sz="750" b="1" spc="50" kern="0" dirty="0">
                <a:solidFill>
                  <a:srgbClr val="1B1B1B"/>
                </a:solidFill>
                <a:latin typeface="Arial" pitchFamily="34" charset="0"/>
                <a:ea typeface="Arial" pitchFamily="34" charset="-122"/>
                <a:cs typeface="Arial" pitchFamily="34" charset="-120"/>
              </a:rPr>
              <a:t>MASSING</a:t>
            </a:r>
            <a:endParaRPr lang="en-US" sz="750" dirty="0"/>
          </a:p>
        </p:txBody>
      </p:sp>
      <p:sp>
        <p:nvSpPr>
          <p:cNvPr id="127" name="Shape 125"/>
          <p:cNvSpPr/>
          <p:nvPr/>
        </p:nvSpPr>
        <p:spPr>
          <a:xfrm>
            <a:off x="8101584" y="3261208"/>
            <a:ext cx="1719072" cy="9144"/>
          </a:xfrm>
          <a:custGeom>
            <a:avLst/>
            <a:gdLst/>
            <a:ahLst/>
            <a:cxnLst/>
            <a:rect l="l" t="t" r="r" b="b"/>
            <a:pathLst>
              <a:path w="1719072" h="9144">
                <a:moveTo>
                  <a:pt x="0" y="4572"/>
                </a:moveTo>
                <a:lnTo>
                  <a:pt x="1719072" y="4572"/>
                </a:lnTo>
              </a:path>
            </a:pathLst>
          </a:custGeom>
          <a:ln w="15875">
            <a:solidFill>
              <a:srgbClr val="1B1B1B"/>
            </a:solidFill>
            <a:prstDash val="solid"/>
          </a:ln>
        </p:spPr>
      </p:sp>
      <p:sp>
        <p:nvSpPr>
          <p:cNvPr id="128" name="Shape 126"/>
          <p:cNvSpPr/>
          <p:nvPr/>
        </p:nvSpPr>
        <p:spPr>
          <a:xfrm>
            <a:off x="8204728" y="2742011"/>
            <a:ext cx="1512783" cy="261884"/>
          </a:xfrm>
          <a:prstGeom prst="rect">
            <a:avLst/>
          </a:prstGeom>
          <a:solidFill>
            <a:srgbClr val="FFFFFF"/>
          </a:solidFill>
          <a:ln w="9525">
            <a:solidFill>
              <a:srgbClr val="1B1B1B"/>
            </a:solidFill>
            <a:prstDash val="solid"/>
          </a:ln>
        </p:spPr>
      </p:sp>
      <p:sp>
        <p:nvSpPr>
          <p:cNvPr id="129" name="Shape 127"/>
          <p:cNvSpPr/>
          <p:nvPr/>
        </p:nvSpPr>
        <p:spPr>
          <a:xfrm>
            <a:off x="8204728" y="2480127"/>
            <a:ext cx="1512783" cy="261884"/>
          </a:xfrm>
          <a:prstGeom prst="rect">
            <a:avLst/>
          </a:prstGeom>
          <a:solidFill>
            <a:srgbClr val="FFFFFF"/>
          </a:solidFill>
          <a:ln w="9525">
            <a:solidFill>
              <a:srgbClr val="1B1B1B"/>
            </a:solidFill>
            <a:prstDash val="solid"/>
          </a:ln>
        </p:spPr>
      </p:sp>
      <p:sp>
        <p:nvSpPr>
          <p:cNvPr id="130" name="Shape 128"/>
          <p:cNvSpPr/>
          <p:nvPr/>
        </p:nvSpPr>
        <p:spPr>
          <a:xfrm>
            <a:off x="8204728" y="2218243"/>
            <a:ext cx="1512783" cy="261884"/>
          </a:xfrm>
          <a:prstGeom prst="rect">
            <a:avLst/>
          </a:prstGeom>
          <a:solidFill>
            <a:srgbClr val="FFFFFF"/>
          </a:solidFill>
          <a:ln w="9525">
            <a:solidFill>
              <a:srgbClr val="1B1B1B"/>
            </a:solidFill>
            <a:prstDash val="solid"/>
          </a:ln>
        </p:spPr>
      </p:sp>
      <p:sp>
        <p:nvSpPr>
          <p:cNvPr id="131" name="Shape 129"/>
          <p:cNvSpPr/>
          <p:nvPr/>
        </p:nvSpPr>
        <p:spPr>
          <a:xfrm>
            <a:off x="8870353" y="2218243"/>
            <a:ext cx="181534" cy="1047537"/>
          </a:xfrm>
          <a:prstGeom prst="rect">
            <a:avLst/>
          </a:prstGeom>
          <a:solidFill>
            <a:srgbClr val="FFFFFF"/>
          </a:solidFill>
          <a:ln w="12700">
            <a:solidFill>
              <a:srgbClr val="C4262E"/>
            </a:solidFill>
            <a:prstDash val="dash"/>
          </a:ln>
        </p:spPr>
      </p:sp>
      <p:sp>
        <p:nvSpPr>
          <p:cNvPr id="132" name="Shape 130"/>
          <p:cNvSpPr/>
          <p:nvPr/>
        </p:nvSpPr>
        <p:spPr>
          <a:xfrm>
            <a:off x="8230412" y="3003895"/>
            <a:ext cx="9144" cy="261884"/>
          </a:xfrm>
          <a:custGeom>
            <a:avLst/>
            <a:gdLst/>
            <a:ahLst/>
            <a:cxnLst/>
            <a:rect l="l" t="t" r="r" b="b"/>
            <a:pathLst>
              <a:path w="9144" h="261884">
                <a:moveTo>
                  <a:pt x="4572" y="261884"/>
                </a:moveTo>
                <a:lnTo>
                  <a:pt x="4572" y="0"/>
                </a:lnTo>
              </a:path>
            </a:pathLst>
          </a:custGeom>
          <a:ln w="9525">
            <a:solidFill>
              <a:srgbClr val="1B1B1B"/>
            </a:solidFill>
            <a:prstDash val="solid"/>
          </a:ln>
        </p:spPr>
      </p:sp>
      <p:sp>
        <p:nvSpPr>
          <p:cNvPr id="133" name="Shape 131"/>
          <p:cNvSpPr/>
          <p:nvPr/>
        </p:nvSpPr>
        <p:spPr>
          <a:xfrm>
            <a:off x="8502713" y="3003895"/>
            <a:ext cx="9144" cy="261884"/>
          </a:xfrm>
          <a:custGeom>
            <a:avLst/>
            <a:gdLst/>
            <a:ahLst/>
            <a:cxnLst/>
            <a:rect l="l" t="t" r="r" b="b"/>
            <a:pathLst>
              <a:path w="9144" h="261884">
                <a:moveTo>
                  <a:pt x="4572" y="261884"/>
                </a:moveTo>
                <a:lnTo>
                  <a:pt x="4572" y="0"/>
                </a:lnTo>
              </a:path>
            </a:pathLst>
          </a:custGeom>
          <a:ln w="9525">
            <a:solidFill>
              <a:srgbClr val="1B1B1B"/>
            </a:solidFill>
            <a:prstDash val="solid"/>
          </a:ln>
        </p:spPr>
      </p:sp>
      <p:sp>
        <p:nvSpPr>
          <p:cNvPr id="134" name="Shape 132"/>
          <p:cNvSpPr/>
          <p:nvPr/>
        </p:nvSpPr>
        <p:spPr>
          <a:xfrm>
            <a:off x="8775014" y="3003895"/>
            <a:ext cx="9144" cy="261884"/>
          </a:xfrm>
          <a:custGeom>
            <a:avLst/>
            <a:gdLst/>
            <a:ahLst/>
            <a:cxnLst/>
            <a:rect l="l" t="t" r="r" b="b"/>
            <a:pathLst>
              <a:path w="9144" h="261884">
                <a:moveTo>
                  <a:pt x="4572" y="261884"/>
                </a:moveTo>
                <a:lnTo>
                  <a:pt x="4572" y="0"/>
                </a:lnTo>
              </a:path>
            </a:pathLst>
          </a:custGeom>
          <a:ln w="9525">
            <a:solidFill>
              <a:srgbClr val="1B1B1B"/>
            </a:solidFill>
            <a:prstDash val="solid"/>
          </a:ln>
        </p:spPr>
      </p:sp>
      <p:sp>
        <p:nvSpPr>
          <p:cNvPr id="135" name="Shape 133"/>
          <p:cNvSpPr/>
          <p:nvPr/>
        </p:nvSpPr>
        <p:spPr>
          <a:xfrm>
            <a:off x="9138082" y="3003895"/>
            <a:ext cx="9144" cy="261884"/>
          </a:xfrm>
          <a:custGeom>
            <a:avLst/>
            <a:gdLst/>
            <a:ahLst/>
            <a:cxnLst/>
            <a:rect l="l" t="t" r="r" b="b"/>
            <a:pathLst>
              <a:path w="9144" h="261884">
                <a:moveTo>
                  <a:pt x="4572" y="261884"/>
                </a:moveTo>
                <a:lnTo>
                  <a:pt x="4572" y="0"/>
                </a:lnTo>
              </a:path>
            </a:pathLst>
          </a:custGeom>
          <a:ln w="9525">
            <a:solidFill>
              <a:srgbClr val="1B1B1B"/>
            </a:solidFill>
            <a:prstDash val="solid"/>
          </a:ln>
        </p:spPr>
      </p:sp>
      <p:sp>
        <p:nvSpPr>
          <p:cNvPr id="136" name="Shape 134"/>
          <p:cNvSpPr/>
          <p:nvPr/>
        </p:nvSpPr>
        <p:spPr>
          <a:xfrm>
            <a:off x="9410383" y="3003895"/>
            <a:ext cx="9144" cy="261884"/>
          </a:xfrm>
          <a:custGeom>
            <a:avLst/>
            <a:gdLst/>
            <a:ahLst/>
            <a:cxnLst/>
            <a:rect l="l" t="t" r="r" b="b"/>
            <a:pathLst>
              <a:path w="9144" h="261884">
                <a:moveTo>
                  <a:pt x="4572" y="261884"/>
                </a:moveTo>
                <a:lnTo>
                  <a:pt x="4572" y="0"/>
                </a:lnTo>
              </a:path>
            </a:pathLst>
          </a:custGeom>
          <a:ln w="9525">
            <a:solidFill>
              <a:srgbClr val="1B1B1B"/>
            </a:solidFill>
            <a:prstDash val="solid"/>
          </a:ln>
        </p:spPr>
      </p:sp>
      <p:sp>
        <p:nvSpPr>
          <p:cNvPr id="137" name="Shape 135"/>
          <p:cNvSpPr/>
          <p:nvPr/>
        </p:nvSpPr>
        <p:spPr>
          <a:xfrm>
            <a:off x="9682684" y="3003895"/>
            <a:ext cx="9144" cy="261884"/>
          </a:xfrm>
          <a:custGeom>
            <a:avLst/>
            <a:gdLst/>
            <a:ahLst/>
            <a:cxnLst/>
            <a:rect l="l" t="t" r="r" b="b"/>
            <a:pathLst>
              <a:path w="9144" h="261884">
                <a:moveTo>
                  <a:pt x="4572" y="261884"/>
                </a:moveTo>
                <a:lnTo>
                  <a:pt x="4572" y="0"/>
                </a:lnTo>
              </a:path>
            </a:pathLst>
          </a:custGeom>
          <a:ln w="9525">
            <a:solidFill>
              <a:srgbClr val="1B1B1B"/>
            </a:solidFill>
            <a:prstDash val="solid"/>
          </a:ln>
        </p:spPr>
      </p:sp>
      <p:sp>
        <p:nvSpPr>
          <p:cNvPr id="138" name="Text 136"/>
          <p:cNvSpPr txBox="1"/>
          <p:nvPr/>
        </p:nvSpPr>
        <p:spPr>
          <a:xfrm>
            <a:off x="8141525" y="3070830"/>
            <a:ext cx="731520" cy="146304"/>
          </a:xfrm>
          <a:prstGeom prst="rect">
            <a:avLst/>
          </a:prstGeom>
          <a:noFill/>
          <a:ln/>
        </p:spPr>
        <p:txBody>
          <a:bodyPr wrap="square" lIns="0" tIns="0" rIns="0" bIns="0" rtlCol="0" anchor="ctr"/>
          <a:lstStyle/>
          <a:p>
            <a:pPr algn="ctr" indent="0" marL="0">
              <a:buNone/>
            </a:pPr>
            <a:r>
              <a:rPr lang="en-US" sz="550" dirty="0">
                <a:solidFill>
                  <a:srgbClr val="C4262E"/>
                </a:solidFill>
                <a:latin typeface="Arial" pitchFamily="34" charset="0"/>
                <a:ea typeface="Arial" pitchFamily="34" charset="-122"/>
                <a:cs typeface="Arial" pitchFamily="34" charset="-120"/>
              </a:rPr>
              <a:t>lifted arcade</a:t>
            </a:r>
            <a:endParaRPr lang="en-US" sz="550" dirty="0"/>
          </a:p>
        </p:txBody>
      </p:sp>
      <p:sp>
        <p:nvSpPr>
          <p:cNvPr id="139" name="Text 137"/>
          <p:cNvSpPr txBox="1"/>
          <p:nvPr/>
        </p:nvSpPr>
        <p:spPr>
          <a:xfrm>
            <a:off x="8641080" y="2062795"/>
            <a:ext cx="640080" cy="146304"/>
          </a:xfrm>
          <a:prstGeom prst="rect">
            <a:avLst/>
          </a:prstGeom>
          <a:noFill/>
          <a:ln/>
        </p:spPr>
        <p:txBody>
          <a:bodyPr wrap="square" lIns="0" tIns="0" rIns="0" bIns="0" rtlCol="0" anchor="ctr"/>
          <a:lstStyle/>
          <a:p>
            <a:pPr algn="ctr" indent="0" marL="0">
              <a:buNone/>
            </a:pPr>
            <a:r>
              <a:rPr lang="en-US" sz="550" dirty="0">
                <a:solidFill>
                  <a:srgbClr val="C4262E"/>
                </a:solidFill>
                <a:latin typeface="Arial" pitchFamily="34" charset="0"/>
                <a:ea typeface="Arial" pitchFamily="34" charset="-122"/>
                <a:cs typeface="Arial" pitchFamily="34" charset="-120"/>
              </a:rPr>
              <a:t>cut to hill</a:t>
            </a:r>
            <a:endParaRPr lang="en-US" sz="550" dirty="0"/>
          </a:p>
        </p:txBody>
      </p:sp>
      <p:sp>
        <p:nvSpPr>
          <p:cNvPr id="140" name="Shape 138"/>
          <p:cNvSpPr/>
          <p:nvPr/>
        </p:nvSpPr>
        <p:spPr>
          <a:xfrm>
            <a:off x="986637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41" name="Shape 139"/>
          <p:cNvSpPr/>
          <p:nvPr/>
        </p:nvSpPr>
        <p:spPr>
          <a:xfrm>
            <a:off x="9966960" y="1627632"/>
            <a:ext cx="1828800" cy="1920240"/>
          </a:xfrm>
          <a:prstGeom prst="rect">
            <a:avLst/>
          </a:prstGeom>
          <a:solidFill>
            <a:srgbClr val="FFFFFF"/>
          </a:solidFill>
          <a:ln w="6350">
            <a:solidFill>
              <a:srgbClr val="D9D9D9"/>
            </a:solidFill>
            <a:prstDash val="solid"/>
          </a:ln>
        </p:spPr>
      </p:sp>
      <p:sp>
        <p:nvSpPr>
          <p:cNvPr id="142" name="Text 140"/>
          <p:cNvSpPr txBox="1"/>
          <p:nvPr/>
        </p:nvSpPr>
        <p:spPr>
          <a:xfrm>
            <a:off x="1004011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06  </a:t>
            </a:r>
            <a:pPr indent="0" marL="0">
              <a:buNone/>
            </a:pPr>
            <a:r>
              <a:rPr lang="en-US" sz="750" b="1" spc="50" kern="0" dirty="0">
                <a:solidFill>
                  <a:srgbClr val="1B1B1B"/>
                </a:solidFill>
                <a:latin typeface="Arial" pitchFamily="34" charset="0"/>
                <a:ea typeface="Arial" pitchFamily="34" charset="-122"/>
                <a:cs typeface="Arial" pitchFamily="34" charset="-120"/>
              </a:rPr>
              <a:t>EXPERIENCE</a:t>
            </a:r>
            <a:endParaRPr lang="en-US" sz="750" dirty="0"/>
          </a:p>
        </p:txBody>
      </p:sp>
      <p:sp>
        <p:nvSpPr>
          <p:cNvPr id="143" name="Shape 141"/>
          <p:cNvSpPr/>
          <p:nvPr/>
        </p:nvSpPr>
        <p:spPr>
          <a:xfrm>
            <a:off x="11259556" y="2447392"/>
            <a:ext cx="481340" cy="1063904"/>
          </a:xfrm>
          <a:custGeom>
            <a:avLst/>
            <a:gdLst/>
            <a:ahLst/>
            <a:cxnLst/>
            <a:rect l="l" t="t" r="r" b="b"/>
            <a:pathLst>
              <a:path w="481340" h="1063904">
                <a:moveTo>
                  <a:pt x="0" y="818388"/>
                </a:moveTo>
                <a:lnTo>
                  <a:pt x="481340" y="0"/>
                </a:lnTo>
                <a:lnTo>
                  <a:pt x="481340" y="1063904"/>
                </a:lnTo>
                <a:lnTo>
                  <a:pt x="0" y="1063904"/>
                </a:lnTo>
                <a:close/>
              </a:path>
            </a:pathLst>
          </a:custGeom>
          <a:solidFill>
            <a:srgbClr val="E3ECDC"/>
          </a:solidFill>
          <a:ln w="12700"/>
        </p:spPr>
      </p:sp>
      <p:sp>
        <p:nvSpPr>
          <p:cNvPr id="144" name="Shape 142"/>
          <p:cNvSpPr/>
          <p:nvPr/>
        </p:nvSpPr>
        <p:spPr>
          <a:xfrm>
            <a:off x="10021824" y="3261208"/>
            <a:ext cx="1237732" cy="9144"/>
          </a:xfrm>
          <a:custGeom>
            <a:avLst/>
            <a:gdLst/>
            <a:ahLst/>
            <a:cxnLst/>
            <a:rect l="l" t="t" r="r" b="b"/>
            <a:pathLst>
              <a:path w="1237732" h="9144">
                <a:moveTo>
                  <a:pt x="0" y="4572"/>
                </a:moveTo>
                <a:lnTo>
                  <a:pt x="1237732" y="4572"/>
                </a:lnTo>
              </a:path>
            </a:pathLst>
          </a:custGeom>
          <a:ln w="15875">
            <a:solidFill>
              <a:srgbClr val="1B1B1B"/>
            </a:solidFill>
            <a:prstDash val="solid"/>
          </a:ln>
        </p:spPr>
      </p:sp>
      <p:sp>
        <p:nvSpPr>
          <p:cNvPr id="145" name="Shape 143"/>
          <p:cNvSpPr/>
          <p:nvPr/>
        </p:nvSpPr>
        <p:spPr>
          <a:xfrm>
            <a:off x="11259556" y="2447392"/>
            <a:ext cx="481340" cy="818388"/>
          </a:xfrm>
          <a:custGeom>
            <a:avLst/>
            <a:gdLst/>
            <a:ahLst/>
            <a:cxnLst/>
            <a:rect l="l" t="t" r="r" b="b"/>
            <a:pathLst>
              <a:path w="481340" h="818388">
                <a:moveTo>
                  <a:pt x="0" y="818388"/>
                </a:moveTo>
                <a:lnTo>
                  <a:pt x="481340" y="0"/>
                </a:lnTo>
              </a:path>
            </a:pathLst>
          </a:custGeom>
          <a:ln w="15875">
            <a:solidFill>
              <a:srgbClr val="1B1B1B"/>
            </a:solidFill>
            <a:prstDash val="solid"/>
          </a:ln>
        </p:spPr>
      </p:sp>
      <p:sp>
        <p:nvSpPr>
          <p:cNvPr id="146" name="Shape 144"/>
          <p:cNvSpPr/>
          <p:nvPr/>
        </p:nvSpPr>
        <p:spPr>
          <a:xfrm>
            <a:off x="10400020" y="2820577"/>
            <a:ext cx="300838" cy="445203"/>
          </a:xfrm>
          <a:prstGeom prst="rect">
            <a:avLst/>
          </a:prstGeom>
          <a:solidFill>
            <a:srgbClr val="FFFFFF"/>
          </a:solidFill>
          <a:ln w="12700">
            <a:solidFill>
              <a:srgbClr val="C4262E"/>
            </a:solidFill>
            <a:prstDash val="dash"/>
          </a:ln>
        </p:spPr>
      </p:sp>
      <p:sp>
        <p:nvSpPr>
          <p:cNvPr id="147" name="Text 145"/>
          <p:cNvSpPr txBox="1"/>
          <p:nvPr/>
        </p:nvSpPr>
        <p:spPr>
          <a:xfrm>
            <a:off x="10400020" y="3015353"/>
            <a:ext cx="300838" cy="128016"/>
          </a:xfrm>
          <a:prstGeom prst="rect">
            <a:avLst/>
          </a:prstGeom>
          <a:noFill/>
          <a:ln/>
        </p:spPr>
        <p:txBody>
          <a:bodyPr wrap="square" lIns="0" tIns="0" rIns="0" bIns="0" rtlCol="0" anchor="t"/>
          <a:lstStyle/>
          <a:p>
            <a:pPr algn="ctr" indent="0" marL="0">
              <a:buNone/>
            </a:pPr>
            <a:r>
              <a:rPr lang="en-US" sz="500" b="1" dirty="0">
                <a:solidFill>
                  <a:srgbClr val="C4262E"/>
                </a:solidFill>
                <a:latin typeface="Arial" pitchFamily="34" charset="0"/>
                <a:ea typeface="Arial" pitchFamily="34" charset="-122"/>
                <a:cs typeface="Arial" pitchFamily="34" charset="-120"/>
              </a:rPr>
              <a:t>ARCADE</a:t>
            </a:r>
            <a:endParaRPr lang="en-US" sz="500" dirty="0"/>
          </a:p>
        </p:txBody>
      </p:sp>
      <p:sp>
        <p:nvSpPr>
          <p:cNvPr id="148" name="Shape 146"/>
          <p:cNvSpPr/>
          <p:nvPr/>
        </p:nvSpPr>
        <p:spPr>
          <a:xfrm>
            <a:off x="10700857" y="2820577"/>
            <a:ext cx="343814" cy="445203"/>
          </a:xfrm>
          <a:prstGeom prst="rect">
            <a:avLst/>
          </a:prstGeom>
          <a:solidFill>
            <a:srgbClr val="F0B9BC"/>
          </a:solidFill>
          <a:ln w="6350">
            <a:solidFill>
              <a:srgbClr val="1B1B1B"/>
            </a:solidFill>
            <a:prstDash val="solid"/>
          </a:ln>
        </p:spPr>
      </p:sp>
      <p:sp>
        <p:nvSpPr>
          <p:cNvPr id="149" name="Shape 147"/>
          <p:cNvSpPr/>
          <p:nvPr/>
        </p:nvSpPr>
        <p:spPr>
          <a:xfrm>
            <a:off x="10400020" y="2319723"/>
            <a:ext cx="644652" cy="500853"/>
          </a:xfrm>
          <a:prstGeom prst="rect">
            <a:avLst/>
          </a:prstGeom>
          <a:solidFill>
            <a:srgbClr val="9A9A9A"/>
          </a:solidFill>
          <a:ln w="6350">
            <a:solidFill>
              <a:srgbClr val="1B1B1B"/>
            </a:solidFill>
            <a:prstDash val="solid"/>
          </a:ln>
        </p:spPr>
      </p:sp>
      <p:sp>
        <p:nvSpPr>
          <p:cNvPr id="150" name="Text 148"/>
          <p:cNvSpPr txBox="1"/>
          <p:nvPr/>
        </p:nvSpPr>
        <p:spPr>
          <a:xfrm>
            <a:off x="10400020" y="2319723"/>
            <a:ext cx="644652" cy="500853"/>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WORK FLOORS</a:t>
            </a:r>
            <a:endParaRPr lang="en-US" sz="500" dirty="0"/>
          </a:p>
        </p:txBody>
      </p:sp>
      <p:sp>
        <p:nvSpPr>
          <p:cNvPr id="151" name="Shape 149"/>
          <p:cNvSpPr/>
          <p:nvPr/>
        </p:nvSpPr>
        <p:spPr>
          <a:xfrm>
            <a:off x="11044672" y="2319723"/>
            <a:ext cx="214884" cy="946057"/>
          </a:xfrm>
          <a:prstGeom prst="rect">
            <a:avLst/>
          </a:prstGeom>
          <a:solidFill>
            <a:srgbClr val="1B1B1B"/>
          </a:solidFill>
          <a:ln/>
        </p:spPr>
      </p:sp>
      <p:sp>
        <p:nvSpPr>
          <p:cNvPr id="152" name="Text 150"/>
          <p:cNvSpPr txBox="1"/>
          <p:nvPr/>
        </p:nvSpPr>
        <p:spPr>
          <a:xfrm>
            <a:off x="11044672" y="2319723"/>
            <a:ext cx="214884" cy="946057"/>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ARCH.</a:t>
            </a:r>
            <a:endParaRPr lang="en-US" sz="500" dirty="0"/>
          </a:p>
        </p:txBody>
      </p:sp>
      <p:sp>
        <p:nvSpPr>
          <p:cNvPr id="153" name="Text 151"/>
          <p:cNvSpPr txBox="1"/>
          <p:nvPr/>
        </p:nvSpPr>
        <p:spPr>
          <a:xfrm>
            <a:off x="10010851" y="3274924"/>
            <a:ext cx="36576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54" name="Shape 152"/>
          <p:cNvSpPr/>
          <p:nvPr/>
        </p:nvSpPr>
        <p:spPr>
          <a:xfrm>
            <a:off x="10087204" y="3128620"/>
            <a:ext cx="41148" cy="41148"/>
          </a:xfrm>
          <a:prstGeom prst="ellipse">
            <a:avLst/>
          </a:prstGeom>
          <a:solidFill>
            <a:srgbClr val="C4262E"/>
          </a:solidFill>
          <a:ln/>
        </p:spPr>
      </p:sp>
      <p:sp>
        <p:nvSpPr>
          <p:cNvPr id="155" name="Shape 153"/>
          <p:cNvSpPr/>
          <p:nvPr/>
        </p:nvSpPr>
        <p:spPr>
          <a:xfrm>
            <a:off x="10089947" y="3172511"/>
            <a:ext cx="35662" cy="93269"/>
          </a:xfrm>
          <a:prstGeom prst="roundRect">
            <a:avLst>
              <a:gd name="adj" fmla="val 51281"/>
            </a:avLst>
          </a:prstGeom>
          <a:solidFill>
            <a:srgbClr val="C4262E"/>
          </a:solidFill>
          <a:ln/>
        </p:spPr>
      </p:sp>
      <p:sp>
        <p:nvSpPr>
          <p:cNvPr id="156" name="Shape 154"/>
          <p:cNvSpPr/>
          <p:nvPr/>
        </p:nvSpPr>
        <p:spPr>
          <a:xfrm>
            <a:off x="10207539" y="3128620"/>
            <a:ext cx="41148" cy="41148"/>
          </a:xfrm>
          <a:prstGeom prst="ellipse">
            <a:avLst/>
          </a:prstGeom>
          <a:solidFill>
            <a:srgbClr val="C4262E"/>
          </a:solidFill>
          <a:ln/>
        </p:spPr>
      </p:sp>
      <p:sp>
        <p:nvSpPr>
          <p:cNvPr id="157" name="Shape 155"/>
          <p:cNvSpPr/>
          <p:nvPr/>
        </p:nvSpPr>
        <p:spPr>
          <a:xfrm>
            <a:off x="10210282" y="3172511"/>
            <a:ext cx="35662" cy="93269"/>
          </a:xfrm>
          <a:prstGeom prst="roundRect">
            <a:avLst>
              <a:gd name="adj" fmla="val 51281"/>
            </a:avLst>
          </a:prstGeom>
          <a:solidFill>
            <a:srgbClr val="C4262E"/>
          </a:solidFill>
          <a:ln/>
        </p:spPr>
      </p:sp>
      <p:sp>
        <p:nvSpPr>
          <p:cNvPr id="158" name="Shape 156"/>
          <p:cNvSpPr/>
          <p:nvPr/>
        </p:nvSpPr>
        <p:spPr>
          <a:xfrm>
            <a:off x="10482590" y="3128620"/>
            <a:ext cx="41148" cy="41148"/>
          </a:xfrm>
          <a:prstGeom prst="ellipse">
            <a:avLst/>
          </a:prstGeom>
          <a:solidFill>
            <a:srgbClr val="C4262E"/>
          </a:solidFill>
          <a:ln/>
        </p:spPr>
      </p:sp>
      <p:sp>
        <p:nvSpPr>
          <p:cNvPr id="159" name="Shape 157"/>
          <p:cNvSpPr/>
          <p:nvPr/>
        </p:nvSpPr>
        <p:spPr>
          <a:xfrm>
            <a:off x="10485333" y="3172511"/>
            <a:ext cx="35662" cy="93269"/>
          </a:xfrm>
          <a:prstGeom prst="roundRect">
            <a:avLst>
              <a:gd name="adj" fmla="val 51281"/>
            </a:avLst>
          </a:prstGeom>
          <a:solidFill>
            <a:srgbClr val="C4262E"/>
          </a:solidFill>
          <a:ln/>
        </p:spPr>
      </p:sp>
      <p:sp>
        <p:nvSpPr>
          <p:cNvPr id="160" name="Shape 158"/>
          <p:cNvSpPr/>
          <p:nvPr/>
        </p:nvSpPr>
        <p:spPr>
          <a:xfrm>
            <a:off x="10602925" y="3128620"/>
            <a:ext cx="41148" cy="41148"/>
          </a:xfrm>
          <a:prstGeom prst="ellipse">
            <a:avLst/>
          </a:prstGeom>
          <a:solidFill>
            <a:srgbClr val="C4262E"/>
          </a:solidFill>
          <a:ln/>
        </p:spPr>
      </p:sp>
      <p:sp>
        <p:nvSpPr>
          <p:cNvPr id="161" name="Shape 159"/>
          <p:cNvSpPr/>
          <p:nvPr/>
        </p:nvSpPr>
        <p:spPr>
          <a:xfrm>
            <a:off x="10605668" y="3172511"/>
            <a:ext cx="35662" cy="93269"/>
          </a:xfrm>
          <a:prstGeom prst="roundRect">
            <a:avLst>
              <a:gd name="adj" fmla="val 51281"/>
            </a:avLst>
          </a:prstGeom>
          <a:solidFill>
            <a:srgbClr val="C4262E"/>
          </a:solidFill>
          <a:ln/>
        </p:spPr>
      </p:sp>
      <p:sp>
        <p:nvSpPr>
          <p:cNvPr id="162" name="Shape 160"/>
          <p:cNvSpPr/>
          <p:nvPr/>
        </p:nvSpPr>
        <p:spPr>
          <a:xfrm>
            <a:off x="10571913" y="2802197"/>
            <a:ext cx="27" cy="27"/>
          </a:xfrm>
          <a:prstGeom prst="ellipse">
            <a:avLst/>
          </a:prstGeom>
          <a:solidFill>
            <a:srgbClr val="1B1B1B"/>
          </a:solidFill>
          <a:ln/>
        </p:spPr>
      </p:sp>
      <p:sp>
        <p:nvSpPr>
          <p:cNvPr id="163" name="Shape 161"/>
          <p:cNvSpPr/>
          <p:nvPr/>
        </p:nvSpPr>
        <p:spPr>
          <a:xfrm>
            <a:off x="10571915" y="2802226"/>
            <a:ext cx="24" cy="62"/>
          </a:xfrm>
          <a:prstGeom prst="roundRect">
            <a:avLst>
              <a:gd name="adj" fmla="val 76200000"/>
            </a:avLst>
          </a:prstGeom>
          <a:solidFill>
            <a:srgbClr val="1B1B1B"/>
          </a:solidFill>
          <a:ln/>
        </p:spPr>
      </p:sp>
      <p:sp>
        <p:nvSpPr>
          <p:cNvPr id="164" name="Shape 162"/>
          <p:cNvSpPr/>
          <p:nvPr/>
        </p:nvSpPr>
        <p:spPr>
          <a:xfrm>
            <a:off x="10159350" y="2597975"/>
            <a:ext cx="713415" cy="484925"/>
          </a:xfrm>
          <a:custGeom>
            <a:avLst/>
            <a:gdLst/>
            <a:ahLst/>
            <a:cxnLst/>
            <a:rect l="l" t="t" r="r" b="b"/>
            <a:pathLst>
              <a:path w="713415" h="484925">
                <a:moveTo>
                  <a:pt x="713415" y="0"/>
                </a:moveTo>
                <a:lnTo>
                  <a:pt x="0" y="484925"/>
                </a:lnTo>
              </a:path>
            </a:pathLst>
          </a:custGeom>
          <a:ln w="12700">
            <a:solidFill>
              <a:srgbClr val="1B1B1B"/>
            </a:solidFill>
            <a:prstDash val="dash"/>
            <a:tailEnd type="triangle"/>
          </a:ln>
        </p:spPr>
      </p:sp>
      <p:sp>
        <p:nvSpPr>
          <p:cNvPr id="165" name="Text 163"/>
          <p:cNvSpPr txBox="1"/>
          <p:nvPr/>
        </p:nvSpPr>
        <p:spPr>
          <a:xfrm>
            <a:off x="10063521" y="2164275"/>
            <a:ext cx="1188720" cy="146304"/>
          </a:xfrm>
          <a:prstGeom prst="rect">
            <a:avLst/>
          </a:prstGeom>
          <a:noFill/>
          <a:ln/>
        </p:spPr>
        <p:txBody>
          <a:bodyPr wrap="square" lIns="0" tIns="0" rIns="0" bIns="0" rtlCol="0" anchor="ctr"/>
          <a:lstStyle/>
          <a:p>
            <a:pPr algn="ctr" indent="0" marL="0">
              <a:buNone/>
            </a:pPr>
            <a:r>
              <a:rPr lang="en-US" sz="550" dirty="0">
                <a:solidFill>
                  <a:srgbClr val="1B1B1B"/>
                </a:solidFill>
                <a:latin typeface="Arial" pitchFamily="34" charset="0"/>
                <a:ea typeface="Arial" pitchFamily="34" charset="-122"/>
                <a:cs typeface="Arial" pitchFamily="34" charset="-120"/>
              </a:rPr>
              <a:t>press / studios look down</a:t>
            </a:r>
            <a:endParaRPr lang="en-US" sz="550" dirty="0"/>
          </a:p>
        </p:txBody>
      </p:sp>
      <p:sp>
        <p:nvSpPr>
          <p:cNvPr id="166" name="Text 164"/>
          <p:cNvSpPr txBox="1"/>
          <p:nvPr/>
        </p:nvSpPr>
        <p:spPr>
          <a:xfrm>
            <a:off x="36576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WHY — FROM THE BRIEF</a:t>
            </a:r>
            <a:endParaRPr lang="en-US" sz="850" dirty="0"/>
          </a:p>
        </p:txBody>
      </p:sp>
      <p:sp>
        <p:nvSpPr>
          <p:cNvPr id="167" name="Text 165"/>
          <p:cNvSpPr txBox="1"/>
          <p:nvPr/>
        </p:nvSpPr>
        <p:spPr>
          <a:xfrm>
            <a:off x="36576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ISSUE   </a:t>
            </a:r>
            <a:pPr indent="0" marL="0">
              <a:spcAft>
                <a:spcPts val="500"/>
              </a:spcAft>
              <a:buNone/>
            </a:pPr>
            <a:r>
              <a:rPr lang="en-US" sz="750" dirty="0">
                <a:solidFill>
                  <a:srgbClr val="1B1B1B"/>
                </a:solidFill>
                <a:latin typeface="Arial" pitchFamily="34" charset="0"/>
                <a:ea typeface="Arial" pitchFamily="34" charset="-122"/>
                <a:cs typeface="Arial" pitchFamily="34" charset="-120"/>
              </a:rPr>
              <a:t>Public speech and media already meet at the public/protest interface; the brief asks how architecture relates citizen, media and state.</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VISION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Public voice gets a proper civic room at the city's edge, wired directly to the press.</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SITE   </a:t>
            </a:r>
            <a:pPr indent="0" marL="0">
              <a:spcAft>
                <a:spcPts val="500"/>
              </a:spcAft>
              <a:buNone/>
            </a:pPr>
            <a:r>
              <a:rPr lang="en-US" sz="750" dirty="0">
                <a:solidFill>
                  <a:srgbClr val="1B1B1B"/>
                </a:solidFill>
                <a:latin typeface="Arial" pitchFamily="34" charset="0"/>
                <a:ea typeface="Arial" pitchFamily="34" charset="-122"/>
                <a:cs typeface="Arial" pitchFamily="34" charset="-120"/>
              </a:rPr>
              <a:t>Concentrates building on the street edge; the rest of Shimla Pahari stays an open hill park.</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USERS   </a:t>
            </a:r>
            <a:pPr indent="0" marL="0">
              <a:spcAft>
                <a:spcPts val="500"/>
              </a:spcAft>
              <a:buNone/>
            </a:pPr>
            <a:r>
              <a:rPr lang="en-US" sz="750" dirty="0">
                <a:solidFill>
                  <a:srgbClr val="1B1B1B"/>
                </a:solidFill>
                <a:latin typeface="Arial" pitchFamily="34" charset="0"/>
                <a:ea typeface="Arial" pitchFamily="34" charset="-122"/>
                <a:cs typeface="Arial" pitchFamily="34" charset="-120"/>
              </a:rPr>
              <a:t>Protesters, public and journalists meet under the arcade; researchers and staff work above.</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PROGRAM   </a:t>
            </a:r>
            <a:pPr indent="0" marL="0">
              <a:spcAft>
                <a:spcPts val="500"/>
              </a:spcAft>
              <a:buNone/>
            </a:pPr>
            <a:r>
              <a:rPr lang="en-US" sz="750" dirty="0">
                <a:solidFill>
                  <a:srgbClr val="1B1B1B"/>
                </a:solidFill>
                <a:latin typeface="Arial" pitchFamily="34" charset="0"/>
                <a:ea typeface="Arial" pitchFamily="34" charset="-122"/>
                <a:cs typeface="Arial" pitchFamily="34" charset="-120"/>
              </a:rPr>
              <a:t>Ground: forum, press room, exhibition, auditorium. Above: library, research, media, publishing. Rear: archive.</a:t>
            </a:r>
            <a:endParaRPr lang="en-US" sz="900" dirty="0"/>
          </a:p>
        </p:txBody>
      </p:sp>
      <p:sp>
        <p:nvSpPr>
          <p:cNvPr id="168" name="Text 166"/>
          <p:cNvSpPr txBox="1"/>
          <p:nvPr/>
        </p:nvSpPr>
        <p:spPr>
          <a:xfrm>
            <a:off x="420624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SPACE — WHAT IT BECOMES</a:t>
            </a:r>
            <a:endParaRPr lang="en-US" sz="850" dirty="0"/>
          </a:p>
        </p:txBody>
      </p:sp>
      <p:sp>
        <p:nvSpPr>
          <p:cNvPr id="169" name="Text 167"/>
          <p:cNvSpPr txBox="1"/>
          <p:nvPr/>
        </p:nvSpPr>
        <p:spPr>
          <a:xfrm>
            <a:off x="420624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SPATIAL IDEA   </a:t>
            </a:r>
            <a:pPr indent="0" marL="0">
              <a:spcAft>
                <a:spcPts val="500"/>
              </a:spcAft>
              <a:buNone/>
            </a:pPr>
            <a:r>
              <a:rPr lang="en-US" sz="750" dirty="0">
                <a:solidFill>
                  <a:srgbClr val="1B1B1B"/>
                </a:solidFill>
                <a:latin typeface="Arial" pitchFamily="34" charset="0"/>
                <a:ea typeface="Arial" pitchFamily="34" charset="-122"/>
                <a:cs typeface="Arial" pitchFamily="34" charset="-120"/>
              </a:rPr>
              <a:t>A deep linear bar with a double-height public arcade facing the road.</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CIRCULATION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Linear public spine at ground; cores up to working floors; passages through to the hill.</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PUBLIC / PRIVATE   </a:t>
            </a:r>
            <a:pPr indent="0" marL="0">
              <a:spcAft>
                <a:spcPts val="500"/>
              </a:spcAft>
              <a:buNone/>
            </a:pPr>
            <a:r>
              <a:rPr lang="en-US" sz="750" dirty="0">
                <a:solidFill>
                  <a:srgbClr val="1B1B1B"/>
                </a:solidFill>
                <a:latin typeface="Arial" pitchFamily="34" charset="0"/>
                <a:ea typeface="Arial" pitchFamily="34" charset="-122"/>
                <a:cs typeface="Arial" pitchFamily="34" charset="-120"/>
              </a:rPr>
              <a:t>Layered back from the street: arcade → public hall → working floors → archive at the rear.</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MASSING / FORM   </a:t>
            </a:r>
            <a:pPr indent="0" marL="0">
              <a:spcAft>
                <a:spcPts val="500"/>
              </a:spcAft>
              <a:buNone/>
            </a:pPr>
            <a:r>
              <a:rPr lang="en-US" sz="750" dirty="0">
                <a:solidFill>
                  <a:srgbClr val="1B1B1B"/>
                </a:solidFill>
                <a:latin typeface="Arial" pitchFamily="34" charset="0"/>
                <a:ea typeface="Arial" pitchFamily="34" charset="-122"/>
                <a:cs typeface="Arial" pitchFamily="34" charset="-120"/>
              </a:rPr>
              <a:t>3–4 storey bar on the edge; lifted ground floor; one or two cuts through to the hill.</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SECTION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Road | arcade void | public hall | stacked work floors | archive | hill.</a:t>
            </a:r>
            <a:endParaRPr lang="en-US" sz="900" dirty="0"/>
          </a:p>
        </p:txBody>
      </p:sp>
      <p:sp>
        <p:nvSpPr>
          <p:cNvPr id="170" name="Text 168"/>
          <p:cNvSpPr txBox="1"/>
          <p:nvPr/>
        </p:nvSpPr>
        <p:spPr>
          <a:xfrm>
            <a:off x="804672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GROUND + EXPERIENCE</a:t>
            </a:r>
            <a:endParaRPr lang="en-US" sz="850" dirty="0"/>
          </a:p>
        </p:txBody>
      </p:sp>
      <p:sp>
        <p:nvSpPr>
          <p:cNvPr id="171" name="Text 169"/>
          <p:cNvSpPr txBox="1"/>
          <p:nvPr/>
        </p:nvSpPr>
        <p:spPr>
          <a:xfrm>
            <a:off x="804672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WHAT I ACTUALLY DO   </a:t>
            </a:r>
            <a:pPr indent="0" marL="0">
              <a:spcAft>
                <a:spcPts val="500"/>
              </a:spcAft>
              <a:buNone/>
            </a:pPr>
            <a:r>
              <a:rPr lang="en-US" sz="750" dirty="0">
                <a:solidFill>
                  <a:srgbClr val="1B1B1B"/>
                </a:solidFill>
                <a:latin typeface="Arial" pitchFamily="34" charset="0"/>
                <a:ea typeface="Arial" pitchFamily="34" charset="-122"/>
                <a:cs typeface="Arial" pitchFamily="34" charset="-120"/>
              </a:rPr>
              <a:t>① extrude a bar on the edge  ② lift it into an arcade  ③ cut passages to the hill</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LANDSCAPE / TOPOGRAPHY   </a:t>
            </a:r>
            <a:pPr indent="0" marL="0">
              <a:spcAft>
                <a:spcPts val="500"/>
              </a:spcAft>
              <a:buNone/>
            </a:pPr>
            <a:r>
              <a:rPr lang="en-US" sz="750" dirty="0">
                <a:solidFill>
                  <a:srgbClr val="1B1B1B"/>
                </a:solidFill>
                <a:latin typeface="Arial" pitchFamily="34" charset="0"/>
                <a:ea typeface="Arial" pitchFamily="34" charset="-122"/>
                <a:cs typeface="Arial" pitchFamily="34" charset="-120"/>
              </a:rPr>
              <a:t>Sits on the flat road edge; the hill is untouched and becomes the backdrop.</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EXPERIENCE   </a:t>
            </a:r>
            <a:pPr indent="0" marL="0">
              <a:spcAft>
                <a:spcPts val="500"/>
              </a:spcAft>
              <a:buNone/>
            </a:pPr>
            <a:r>
              <a:rPr lang="en-US" sz="750" dirty="0">
                <a:solidFill>
                  <a:srgbClr val="1B1B1B"/>
                </a:solidFill>
                <a:latin typeface="Arial" pitchFamily="34" charset="0"/>
                <a:ea typeface="Arial" pitchFamily="34" charset="-122"/>
                <a:cs typeface="Arial" pitchFamily="34" charset="-120"/>
              </a:rPr>
              <a:t>Standing in a large covered room open to the street, with press and studios looking down.</a:t>
            </a:r>
            <a:endParaRPr lang="en-US" sz="900" dirty="0"/>
          </a:p>
        </p:txBody>
      </p:sp>
      <p:sp>
        <p:nvSpPr>
          <p:cNvPr id="172" name="Shape 170"/>
          <p:cNvSpPr/>
          <p:nvPr/>
        </p:nvSpPr>
        <p:spPr>
          <a:xfrm>
            <a:off x="365760" y="6446520"/>
            <a:ext cx="146304" cy="109728"/>
          </a:xfrm>
          <a:prstGeom prst="rect">
            <a:avLst/>
          </a:prstGeom>
          <a:solidFill>
            <a:srgbClr val="C4262E"/>
          </a:solidFill>
          <a:ln/>
        </p:spPr>
      </p:sp>
      <p:sp>
        <p:nvSpPr>
          <p:cNvPr id="173" name="Text 171"/>
          <p:cNvSpPr txBox="1"/>
          <p:nvPr/>
        </p:nvSpPr>
        <p:spPr>
          <a:xfrm>
            <a:off x="612648" y="6428232"/>
            <a:ext cx="33832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a:t>
            </a:r>
            <a:endParaRPr lang="en-US" sz="650" dirty="0"/>
          </a:p>
        </p:txBody>
      </p:sp>
      <p:sp>
        <p:nvSpPr>
          <p:cNvPr id="174" name="Shape 172"/>
          <p:cNvSpPr/>
          <p:nvPr/>
        </p:nvSpPr>
        <p:spPr>
          <a:xfrm>
            <a:off x="1024128" y="6446520"/>
            <a:ext cx="146304" cy="109728"/>
          </a:xfrm>
          <a:prstGeom prst="rect">
            <a:avLst/>
          </a:prstGeom>
          <a:solidFill>
            <a:srgbClr val="F0B9BC"/>
          </a:solidFill>
          <a:ln/>
        </p:spPr>
      </p:sp>
      <p:sp>
        <p:nvSpPr>
          <p:cNvPr id="175" name="Text 173"/>
          <p:cNvSpPr txBox="1"/>
          <p:nvPr/>
        </p:nvSpPr>
        <p:spPr>
          <a:xfrm>
            <a:off x="1271016" y="6428232"/>
            <a:ext cx="54406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semi-public</a:t>
            </a:r>
            <a:endParaRPr lang="en-US" sz="650" dirty="0"/>
          </a:p>
        </p:txBody>
      </p:sp>
      <p:sp>
        <p:nvSpPr>
          <p:cNvPr id="176" name="Shape 174"/>
          <p:cNvSpPr/>
          <p:nvPr/>
        </p:nvSpPr>
        <p:spPr>
          <a:xfrm>
            <a:off x="1888236" y="6446520"/>
            <a:ext cx="146304" cy="109728"/>
          </a:xfrm>
          <a:prstGeom prst="rect">
            <a:avLst/>
          </a:prstGeom>
          <a:solidFill>
            <a:srgbClr val="9A9A9A"/>
          </a:solidFill>
          <a:ln/>
        </p:spPr>
      </p:sp>
      <p:sp>
        <p:nvSpPr>
          <p:cNvPr id="177" name="Text 175"/>
          <p:cNvSpPr txBox="1"/>
          <p:nvPr/>
        </p:nvSpPr>
        <p:spPr>
          <a:xfrm>
            <a:off x="2135124" y="6428232"/>
            <a:ext cx="379476"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a:t>
            </a:r>
            <a:endParaRPr lang="en-US" sz="650" dirty="0"/>
          </a:p>
        </p:txBody>
      </p:sp>
      <p:sp>
        <p:nvSpPr>
          <p:cNvPr id="178" name="Shape 176"/>
          <p:cNvSpPr/>
          <p:nvPr/>
        </p:nvSpPr>
        <p:spPr>
          <a:xfrm>
            <a:off x="2587752" y="6446520"/>
            <a:ext cx="146304" cy="109728"/>
          </a:xfrm>
          <a:prstGeom prst="rect">
            <a:avLst/>
          </a:prstGeom>
          <a:solidFill>
            <a:srgbClr val="1B1B1B"/>
          </a:solidFill>
          <a:ln/>
        </p:spPr>
      </p:sp>
      <p:sp>
        <p:nvSpPr>
          <p:cNvPr id="179" name="Text 177"/>
          <p:cNvSpPr txBox="1"/>
          <p:nvPr/>
        </p:nvSpPr>
        <p:spPr>
          <a:xfrm>
            <a:off x="2834640" y="6428232"/>
            <a:ext cx="46177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protected</a:t>
            </a:r>
            <a:endParaRPr lang="en-US" sz="650" dirty="0"/>
          </a:p>
        </p:txBody>
      </p:sp>
      <p:sp>
        <p:nvSpPr>
          <p:cNvPr id="180" name="Shape 178"/>
          <p:cNvSpPr/>
          <p:nvPr/>
        </p:nvSpPr>
        <p:spPr>
          <a:xfrm>
            <a:off x="3369564" y="6496812"/>
            <a:ext cx="201168" cy="9144"/>
          </a:xfrm>
          <a:custGeom>
            <a:avLst/>
            <a:gdLst/>
            <a:ahLst/>
            <a:cxnLst/>
            <a:rect l="l" t="t" r="r" b="b"/>
            <a:pathLst>
              <a:path w="201168" h="9144">
                <a:moveTo>
                  <a:pt x="0" y="4572"/>
                </a:moveTo>
                <a:lnTo>
                  <a:pt x="201168" y="4572"/>
                </a:lnTo>
              </a:path>
            </a:pathLst>
          </a:custGeom>
          <a:ln w="25400">
            <a:solidFill>
              <a:srgbClr val="C4262E"/>
            </a:solidFill>
            <a:prstDash val="solid"/>
          </a:ln>
        </p:spPr>
      </p:sp>
      <p:sp>
        <p:nvSpPr>
          <p:cNvPr id="181" name="Text 179"/>
          <p:cNvSpPr txBox="1"/>
          <p:nvPr/>
        </p:nvSpPr>
        <p:spPr>
          <a:xfrm>
            <a:off x="3616452" y="6428232"/>
            <a:ext cx="708660"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 movement</a:t>
            </a:r>
            <a:endParaRPr lang="en-US" sz="650" dirty="0"/>
          </a:p>
        </p:txBody>
      </p:sp>
      <p:sp>
        <p:nvSpPr>
          <p:cNvPr id="182" name="Shape 180"/>
          <p:cNvSpPr/>
          <p:nvPr/>
        </p:nvSpPr>
        <p:spPr>
          <a:xfrm>
            <a:off x="4398264" y="6496812"/>
            <a:ext cx="201168" cy="9144"/>
          </a:xfrm>
          <a:custGeom>
            <a:avLst/>
            <a:gdLst/>
            <a:ahLst/>
            <a:cxnLst/>
            <a:rect l="l" t="t" r="r" b="b"/>
            <a:pathLst>
              <a:path w="201168" h="9144">
                <a:moveTo>
                  <a:pt x="0" y="4572"/>
                </a:moveTo>
                <a:lnTo>
                  <a:pt x="201168" y="4572"/>
                </a:lnTo>
              </a:path>
            </a:pathLst>
          </a:custGeom>
          <a:ln w="25400">
            <a:solidFill>
              <a:srgbClr val="1B1B1B"/>
            </a:solidFill>
            <a:prstDash val="solid"/>
          </a:ln>
        </p:spPr>
      </p:sp>
      <p:sp>
        <p:nvSpPr>
          <p:cNvPr id="183" name="Text 181"/>
          <p:cNvSpPr txBox="1"/>
          <p:nvPr/>
        </p:nvSpPr>
        <p:spPr>
          <a:xfrm>
            <a:off x="4645152" y="6428232"/>
            <a:ext cx="74980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 movement</a:t>
            </a:r>
            <a:endParaRPr lang="en-US" sz="650" dirty="0"/>
          </a:p>
        </p:txBody>
      </p:sp>
      <p:sp>
        <p:nvSpPr>
          <p:cNvPr id="184" name="Shape 182"/>
          <p:cNvSpPr/>
          <p:nvPr/>
        </p:nvSpPr>
        <p:spPr>
          <a:xfrm>
            <a:off x="5468112" y="6496812"/>
            <a:ext cx="201168" cy="9144"/>
          </a:xfrm>
          <a:custGeom>
            <a:avLst/>
            <a:gdLst/>
            <a:ahLst/>
            <a:cxnLst/>
            <a:rect l="l" t="t" r="r" b="b"/>
            <a:pathLst>
              <a:path w="201168" h="9144">
                <a:moveTo>
                  <a:pt x="0" y="4572"/>
                </a:moveTo>
                <a:lnTo>
                  <a:pt x="201168" y="4572"/>
                </a:lnTo>
              </a:path>
            </a:pathLst>
          </a:custGeom>
          <a:ln w="15875">
            <a:solidFill>
              <a:srgbClr val="4F7A43"/>
            </a:solidFill>
            <a:prstDash val="dash"/>
          </a:ln>
        </p:spPr>
      </p:sp>
      <p:sp>
        <p:nvSpPr>
          <p:cNvPr id="185" name="Text 183"/>
          <p:cNvSpPr txBox="1"/>
          <p:nvPr/>
        </p:nvSpPr>
        <p:spPr>
          <a:xfrm>
            <a:off x="5715000" y="6428232"/>
            <a:ext cx="832104"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indicative contour</a:t>
            </a:r>
            <a:endParaRPr lang="en-US" sz="650" dirty="0"/>
          </a:p>
        </p:txBody>
      </p:sp>
      <p:sp>
        <p:nvSpPr>
          <p:cNvPr id="186" name="Shape 184"/>
          <p:cNvSpPr/>
          <p:nvPr/>
        </p:nvSpPr>
        <p:spPr>
          <a:xfrm>
            <a:off x="6638544" y="6455664"/>
            <a:ext cx="91440" cy="91440"/>
          </a:xfrm>
          <a:prstGeom prst="ellipse">
            <a:avLst/>
          </a:prstGeom>
          <a:ln w="9525">
            <a:solidFill>
              <a:srgbClr val="4F7A43"/>
            </a:solidFill>
            <a:prstDash val="solid"/>
          </a:ln>
        </p:spPr>
      </p:sp>
      <p:sp>
        <p:nvSpPr>
          <p:cNvPr id="187" name="Text 185"/>
          <p:cNvSpPr txBox="1"/>
          <p:nvPr/>
        </p:nvSpPr>
        <p:spPr>
          <a:xfrm>
            <a:off x="6867144" y="6428232"/>
            <a:ext cx="66751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existing trees</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DIRECTION C — THE PUBLIC ASCENT</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a route from the protest edge to the summit</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05</a:t>
            </a:r>
            <a:endParaRPr lang="en-US" sz="3400" dirty="0"/>
          </a:p>
        </p:txBody>
      </p:sp>
      <p:sp>
        <p:nvSpPr>
          <p:cNvPr id="6" name="Shape 4"/>
          <p:cNvSpPr/>
          <p:nvPr/>
        </p:nvSpPr>
        <p:spPr>
          <a:xfrm>
            <a:off x="10241280" y="896112"/>
            <a:ext cx="1554480" cy="182880"/>
          </a:xfrm>
          <a:prstGeom prst="roundRect">
            <a:avLst>
              <a:gd name="adj" fmla="val 20000"/>
            </a:avLst>
          </a:prstGeom>
          <a:solidFill>
            <a:srgbClr val="C4262E"/>
          </a:solidFill>
          <a:ln w="9525">
            <a:solidFill>
              <a:srgbClr val="C4262E"/>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sp>
        <p:nvSpPr>
          <p:cNvPr id="8" name="Text 6"/>
          <p:cNvSpPr txBox="1"/>
          <p:nvPr/>
        </p:nvSpPr>
        <p:spPr>
          <a:xfrm>
            <a:off x="365760" y="1097280"/>
            <a:ext cx="11430000" cy="411480"/>
          </a:xfrm>
          <a:prstGeom prst="rect">
            <a:avLst/>
          </a:prstGeom>
          <a:noFill/>
          <a:ln/>
        </p:spPr>
        <p:txBody>
          <a:bodyPr wrap="square" lIns="0" tIns="0" rIns="0" bIns="0" rtlCol="0" anchor="t"/>
          <a:lstStyle/>
          <a:p>
            <a:pPr indent="0" marL="0">
              <a:buNone/>
            </a:pPr>
            <a:r>
              <a:rPr lang="en-US" sz="1050" b="1" dirty="0">
                <a:solidFill>
                  <a:srgbClr val="1B1B1B"/>
                </a:solidFill>
                <a:latin typeface="Arial" pitchFamily="34" charset="0"/>
                <a:ea typeface="Arial" pitchFamily="34" charset="-122"/>
                <a:cs typeface="Arial" pitchFamily="34" charset="-120"/>
              </a:rPr>
              <a:t>A public route climbs Shimla Pahari from the protest edge to the summit. The institution's rooms sit along it on the contours, so anyone walking up passes the making of knowledge, and the top of the landmark belongs to the public.</a:t>
            </a:r>
            <a:endParaRPr lang="en-US" sz="1050" dirty="0"/>
          </a:p>
        </p:txBody>
      </p:sp>
      <p:sp>
        <p:nvSpPr>
          <p:cNvPr id="9" name="Shape 7"/>
          <p:cNvSpPr/>
          <p:nvPr/>
        </p:nvSpPr>
        <p:spPr>
          <a:xfrm>
            <a:off x="365760" y="1627632"/>
            <a:ext cx="1828800" cy="1920240"/>
          </a:xfrm>
          <a:prstGeom prst="rect">
            <a:avLst/>
          </a:prstGeom>
          <a:solidFill>
            <a:srgbClr val="FFFFFF"/>
          </a:solidFill>
          <a:ln w="6350">
            <a:solidFill>
              <a:srgbClr val="D9D9D9"/>
            </a:solidFill>
            <a:prstDash val="solid"/>
          </a:ln>
        </p:spPr>
      </p:sp>
      <p:sp>
        <p:nvSpPr>
          <p:cNvPr id="10" name="Text 8"/>
          <p:cNvSpPr txBox="1"/>
          <p:nvPr/>
        </p:nvSpPr>
        <p:spPr>
          <a:xfrm>
            <a:off x="43891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01  </a:t>
            </a:r>
            <a:pPr indent="0" marL="0">
              <a:buNone/>
            </a:pPr>
            <a:r>
              <a:rPr lang="en-US" sz="750" b="1" spc="50" kern="0" dirty="0">
                <a:solidFill>
                  <a:srgbClr val="1B1B1B"/>
                </a:solidFill>
                <a:latin typeface="Arial" pitchFamily="34" charset="0"/>
                <a:ea typeface="Arial" pitchFamily="34" charset="-122"/>
                <a:cs typeface="Arial" pitchFamily="34" charset="-120"/>
              </a:rPr>
              <a:t>SITE</a:t>
            </a:r>
            <a:endParaRPr lang="en-US" sz="750" dirty="0"/>
          </a:p>
        </p:txBody>
      </p:sp>
      <p:sp>
        <p:nvSpPr>
          <p:cNvPr id="11" name="Shape 9"/>
          <p:cNvSpPr/>
          <p:nvPr/>
        </p:nvSpPr>
        <p:spPr>
          <a:xfrm>
            <a:off x="55576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12" name="Shape 10"/>
          <p:cNvSpPr/>
          <p:nvPr/>
        </p:nvSpPr>
        <p:spPr>
          <a:xfrm>
            <a:off x="42062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13" name="Shape 11"/>
          <p:cNvSpPr/>
          <p:nvPr/>
        </p:nvSpPr>
        <p:spPr>
          <a:xfrm>
            <a:off x="198984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14" name="Shape 12"/>
          <p:cNvSpPr/>
          <p:nvPr/>
        </p:nvSpPr>
        <p:spPr>
          <a:xfrm>
            <a:off x="67649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15" name="Shape 13"/>
          <p:cNvSpPr/>
          <p:nvPr/>
        </p:nvSpPr>
        <p:spPr>
          <a:xfrm>
            <a:off x="910718" y="2433218"/>
            <a:ext cx="869276" cy="544837"/>
          </a:xfrm>
          <a:custGeom>
            <a:avLst/>
            <a:gdLst/>
            <a:ahLst/>
            <a:cxnLst/>
            <a:rect l="l" t="t" r="r" b="b"/>
            <a:pathLst>
              <a:path w="869276" h="544837">
                <a:moveTo>
                  <a:pt x="860450" y="462002"/>
                </a:moveTo>
                <a:lnTo>
                  <a:pt x="849001" y="481438"/>
                </a:lnTo>
                <a:lnTo>
                  <a:pt x="833013" y="498583"/>
                </a:lnTo>
                <a:lnTo>
                  <a:pt x="812660" y="513251"/>
                </a:lnTo>
                <a:lnTo>
                  <a:pt x="788166" y="525280"/>
                </a:lnTo>
                <a:lnTo>
                  <a:pt x="759798" y="534539"/>
                </a:lnTo>
                <a:lnTo>
                  <a:pt x="727867" y="540926"/>
                </a:lnTo>
                <a:lnTo>
                  <a:pt x="692724" y="544371"/>
                </a:lnTo>
                <a:lnTo>
                  <a:pt x="654753" y="544837"/>
                </a:lnTo>
                <a:lnTo>
                  <a:pt x="614371" y="542318"/>
                </a:lnTo>
                <a:lnTo>
                  <a:pt x="572019" y="536841"/>
                </a:lnTo>
                <a:lnTo>
                  <a:pt x="528162" y="528468"/>
                </a:lnTo>
                <a:lnTo>
                  <a:pt x="483281" y="517289"/>
                </a:lnTo>
                <a:lnTo>
                  <a:pt x="437867" y="503428"/>
                </a:lnTo>
                <a:lnTo>
                  <a:pt x="392417" y="487036"/>
                </a:lnTo>
                <a:lnTo>
                  <a:pt x="347430" y="468292"/>
                </a:lnTo>
                <a:lnTo>
                  <a:pt x="303398" y="447402"/>
                </a:lnTo>
                <a:lnTo>
                  <a:pt x="260804" y="424595"/>
                </a:lnTo>
                <a:lnTo>
                  <a:pt x="220115" y="400120"/>
                </a:lnTo>
                <a:lnTo>
                  <a:pt x="181776" y="374247"/>
                </a:lnTo>
                <a:lnTo>
                  <a:pt x="146208" y="347258"/>
                </a:lnTo>
                <a:lnTo>
                  <a:pt x="113799" y="319449"/>
                </a:lnTo>
                <a:lnTo>
                  <a:pt x="84906" y="291124"/>
                </a:lnTo>
                <a:lnTo>
                  <a:pt x="59845" y="262595"/>
                </a:lnTo>
                <a:lnTo>
                  <a:pt x="38890" y="234174"/>
                </a:lnTo>
                <a:lnTo>
                  <a:pt x="22270" y="206171"/>
                </a:lnTo>
                <a:lnTo>
                  <a:pt x="10169" y="178894"/>
                </a:lnTo>
                <a:lnTo>
                  <a:pt x="2718" y="152642"/>
                </a:lnTo>
                <a:lnTo>
                  <a:pt x="0" y="127702"/>
                </a:lnTo>
                <a:lnTo>
                  <a:pt x="2044" y="104348"/>
                </a:lnTo>
                <a:lnTo>
                  <a:pt x="8827" y="82835"/>
                </a:lnTo>
                <a:lnTo>
                  <a:pt x="20275" y="63399"/>
                </a:lnTo>
                <a:lnTo>
                  <a:pt x="36263" y="46253"/>
                </a:lnTo>
                <a:lnTo>
                  <a:pt x="56616" y="31586"/>
                </a:lnTo>
                <a:lnTo>
                  <a:pt x="81111" y="19556"/>
                </a:lnTo>
                <a:lnTo>
                  <a:pt x="109479" y="10298"/>
                </a:lnTo>
                <a:lnTo>
                  <a:pt x="141409" y="3911"/>
                </a:lnTo>
                <a:lnTo>
                  <a:pt x="176552" y="466"/>
                </a:lnTo>
                <a:lnTo>
                  <a:pt x="214523" y="0"/>
                </a:lnTo>
                <a:lnTo>
                  <a:pt x="254906" y="2519"/>
                </a:lnTo>
                <a:lnTo>
                  <a:pt x="297257" y="7995"/>
                </a:lnTo>
                <a:lnTo>
                  <a:pt x="341114" y="16369"/>
                </a:lnTo>
                <a:lnTo>
                  <a:pt x="385995" y="27547"/>
                </a:lnTo>
                <a:lnTo>
                  <a:pt x="431410" y="41409"/>
                </a:lnTo>
                <a:lnTo>
                  <a:pt x="476859" y="57801"/>
                </a:lnTo>
                <a:lnTo>
                  <a:pt x="521847" y="76545"/>
                </a:lnTo>
                <a:lnTo>
                  <a:pt x="565878" y="97435"/>
                </a:lnTo>
                <a:lnTo>
                  <a:pt x="608472" y="120242"/>
                </a:lnTo>
                <a:lnTo>
                  <a:pt x="649161" y="144716"/>
                </a:lnTo>
                <a:lnTo>
                  <a:pt x="687500" y="170590"/>
                </a:lnTo>
                <a:lnTo>
                  <a:pt x="723069" y="197579"/>
                </a:lnTo>
                <a:lnTo>
                  <a:pt x="755477" y="225388"/>
                </a:lnTo>
                <a:lnTo>
                  <a:pt x="784370" y="253712"/>
                </a:lnTo>
                <a:lnTo>
                  <a:pt x="809432" y="282242"/>
                </a:lnTo>
                <a:lnTo>
                  <a:pt x="830387" y="310663"/>
                </a:lnTo>
                <a:lnTo>
                  <a:pt x="847006" y="338666"/>
                </a:lnTo>
                <a:lnTo>
                  <a:pt x="859107" y="365943"/>
                </a:lnTo>
                <a:lnTo>
                  <a:pt x="866558" y="392195"/>
                </a:lnTo>
                <a:lnTo>
                  <a:pt x="869276" y="417135"/>
                </a:lnTo>
                <a:lnTo>
                  <a:pt x="867233" y="440489"/>
                </a:lnTo>
                <a:close/>
              </a:path>
            </a:pathLst>
          </a:custGeom>
          <a:ln w="6350">
            <a:solidFill>
              <a:srgbClr val="4F7A43"/>
            </a:solidFill>
            <a:prstDash val="dash"/>
          </a:ln>
        </p:spPr>
      </p:sp>
      <p:sp>
        <p:nvSpPr>
          <p:cNvPr id="16" name="Shape 14"/>
          <p:cNvSpPr/>
          <p:nvPr/>
        </p:nvSpPr>
        <p:spPr>
          <a:xfrm>
            <a:off x="1067671" y="2531592"/>
            <a:ext cx="555371" cy="348090"/>
          </a:xfrm>
          <a:custGeom>
            <a:avLst/>
            <a:gdLst/>
            <a:ahLst/>
            <a:cxnLst/>
            <a:rect l="l" t="t" r="r" b="b"/>
            <a:pathLst>
              <a:path w="555371" h="348090">
                <a:moveTo>
                  <a:pt x="549732" y="295168"/>
                </a:moveTo>
                <a:lnTo>
                  <a:pt x="542417" y="307585"/>
                </a:lnTo>
                <a:lnTo>
                  <a:pt x="532203" y="318539"/>
                </a:lnTo>
                <a:lnTo>
                  <a:pt x="519200" y="327910"/>
                </a:lnTo>
                <a:lnTo>
                  <a:pt x="503550" y="335596"/>
                </a:lnTo>
                <a:lnTo>
                  <a:pt x="485426" y="341511"/>
                </a:lnTo>
                <a:lnTo>
                  <a:pt x="465026" y="345592"/>
                </a:lnTo>
                <a:lnTo>
                  <a:pt x="442574" y="347793"/>
                </a:lnTo>
                <a:lnTo>
                  <a:pt x="418315" y="348090"/>
                </a:lnTo>
                <a:lnTo>
                  <a:pt x="392515" y="346481"/>
                </a:lnTo>
                <a:lnTo>
                  <a:pt x="365457" y="342982"/>
                </a:lnTo>
                <a:lnTo>
                  <a:pt x="337437" y="337632"/>
                </a:lnTo>
                <a:lnTo>
                  <a:pt x="308763" y="330490"/>
                </a:lnTo>
                <a:lnTo>
                  <a:pt x="279748" y="321635"/>
                </a:lnTo>
                <a:lnTo>
                  <a:pt x="250711" y="311162"/>
                </a:lnTo>
                <a:lnTo>
                  <a:pt x="221969" y="299186"/>
                </a:lnTo>
                <a:lnTo>
                  <a:pt x="193838" y="285840"/>
                </a:lnTo>
                <a:lnTo>
                  <a:pt x="166625" y="271269"/>
                </a:lnTo>
                <a:lnTo>
                  <a:pt x="140629" y="255632"/>
                </a:lnTo>
                <a:lnTo>
                  <a:pt x="116135" y="239102"/>
                </a:lnTo>
                <a:lnTo>
                  <a:pt x="93410" y="221859"/>
                </a:lnTo>
                <a:lnTo>
                  <a:pt x="72705" y="204092"/>
                </a:lnTo>
                <a:lnTo>
                  <a:pt x="54246" y="185996"/>
                </a:lnTo>
                <a:lnTo>
                  <a:pt x="38234" y="167769"/>
                </a:lnTo>
                <a:lnTo>
                  <a:pt x="24846" y="149611"/>
                </a:lnTo>
                <a:lnTo>
                  <a:pt x="14228" y="131720"/>
                </a:lnTo>
                <a:lnTo>
                  <a:pt x="6497" y="114293"/>
                </a:lnTo>
                <a:lnTo>
                  <a:pt x="1737" y="97521"/>
                </a:lnTo>
                <a:lnTo>
                  <a:pt x="0" y="81587"/>
                </a:lnTo>
                <a:lnTo>
                  <a:pt x="1306" y="66667"/>
                </a:lnTo>
                <a:lnTo>
                  <a:pt x="5639" y="52922"/>
                </a:lnTo>
                <a:lnTo>
                  <a:pt x="12954" y="40505"/>
                </a:lnTo>
                <a:lnTo>
                  <a:pt x="23168" y="29551"/>
                </a:lnTo>
                <a:lnTo>
                  <a:pt x="36171" y="20180"/>
                </a:lnTo>
                <a:lnTo>
                  <a:pt x="51821" y="12494"/>
                </a:lnTo>
                <a:lnTo>
                  <a:pt x="69945" y="6579"/>
                </a:lnTo>
                <a:lnTo>
                  <a:pt x="90345" y="2498"/>
                </a:lnTo>
                <a:lnTo>
                  <a:pt x="112797" y="297"/>
                </a:lnTo>
                <a:lnTo>
                  <a:pt x="137056" y="0"/>
                </a:lnTo>
                <a:lnTo>
                  <a:pt x="162856" y="1609"/>
                </a:lnTo>
                <a:lnTo>
                  <a:pt x="189914" y="5108"/>
                </a:lnTo>
                <a:lnTo>
                  <a:pt x="217934" y="10458"/>
                </a:lnTo>
                <a:lnTo>
                  <a:pt x="246608" y="17600"/>
                </a:lnTo>
                <a:lnTo>
                  <a:pt x="275623" y="26456"/>
                </a:lnTo>
                <a:lnTo>
                  <a:pt x="304660" y="36929"/>
                </a:lnTo>
                <a:lnTo>
                  <a:pt x="333402" y="48904"/>
                </a:lnTo>
                <a:lnTo>
                  <a:pt x="361533" y="62250"/>
                </a:lnTo>
                <a:lnTo>
                  <a:pt x="388746" y="76821"/>
                </a:lnTo>
                <a:lnTo>
                  <a:pt x="414742" y="92458"/>
                </a:lnTo>
                <a:lnTo>
                  <a:pt x="439236" y="108988"/>
                </a:lnTo>
                <a:lnTo>
                  <a:pt x="461961" y="126231"/>
                </a:lnTo>
                <a:lnTo>
                  <a:pt x="482666" y="143998"/>
                </a:lnTo>
                <a:lnTo>
                  <a:pt x="501125" y="162094"/>
                </a:lnTo>
                <a:lnTo>
                  <a:pt x="517137" y="180321"/>
                </a:lnTo>
                <a:lnTo>
                  <a:pt x="530525" y="198479"/>
                </a:lnTo>
                <a:lnTo>
                  <a:pt x="541143" y="216370"/>
                </a:lnTo>
                <a:lnTo>
                  <a:pt x="548874" y="233797"/>
                </a:lnTo>
                <a:lnTo>
                  <a:pt x="553634" y="250569"/>
                </a:lnTo>
                <a:lnTo>
                  <a:pt x="555371" y="266503"/>
                </a:lnTo>
                <a:lnTo>
                  <a:pt x="554065" y="281424"/>
                </a:lnTo>
                <a:close/>
              </a:path>
            </a:pathLst>
          </a:custGeom>
          <a:ln w="6350">
            <a:solidFill>
              <a:srgbClr val="4F7A43"/>
            </a:solidFill>
            <a:prstDash val="dash"/>
          </a:ln>
        </p:spPr>
      </p:sp>
      <p:sp>
        <p:nvSpPr>
          <p:cNvPr id="17" name="Shape 15"/>
          <p:cNvSpPr/>
          <p:nvPr/>
        </p:nvSpPr>
        <p:spPr>
          <a:xfrm>
            <a:off x="1212551" y="2622398"/>
            <a:ext cx="265612" cy="166478"/>
          </a:xfrm>
          <a:custGeom>
            <a:avLst/>
            <a:gdLst/>
            <a:ahLst/>
            <a:cxnLst/>
            <a:rect l="l" t="t" r="r" b="b"/>
            <a:pathLst>
              <a:path w="265612" h="166478">
                <a:moveTo>
                  <a:pt x="262915" y="141167"/>
                </a:moveTo>
                <a:lnTo>
                  <a:pt x="259417" y="147106"/>
                </a:lnTo>
                <a:lnTo>
                  <a:pt x="254532" y="152345"/>
                </a:lnTo>
                <a:lnTo>
                  <a:pt x="248313" y="156827"/>
                </a:lnTo>
                <a:lnTo>
                  <a:pt x="240828" y="160502"/>
                </a:lnTo>
                <a:lnTo>
                  <a:pt x="232160" y="163331"/>
                </a:lnTo>
                <a:lnTo>
                  <a:pt x="222404" y="165283"/>
                </a:lnTo>
                <a:lnTo>
                  <a:pt x="211666" y="166336"/>
                </a:lnTo>
                <a:lnTo>
                  <a:pt x="200063" y="166478"/>
                </a:lnTo>
                <a:lnTo>
                  <a:pt x="187724" y="165708"/>
                </a:lnTo>
                <a:lnTo>
                  <a:pt x="174784" y="164035"/>
                </a:lnTo>
                <a:lnTo>
                  <a:pt x="161383" y="161476"/>
                </a:lnTo>
                <a:lnTo>
                  <a:pt x="147669" y="158061"/>
                </a:lnTo>
                <a:lnTo>
                  <a:pt x="133793" y="153825"/>
                </a:lnTo>
                <a:lnTo>
                  <a:pt x="119905" y="148816"/>
                </a:lnTo>
                <a:lnTo>
                  <a:pt x="106159" y="143089"/>
                </a:lnTo>
                <a:lnTo>
                  <a:pt x="92705" y="136706"/>
                </a:lnTo>
                <a:lnTo>
                  <a:pt x="79690" y="129737"/>
                </a:lnTo>
                <a:lnTo>
                  <a:pt x="67257" y="122259"/>
                </a:lnTo>
                <a:lnTo>
                  <a:pt x="55543" y="114353"/>
                </a:lnTo>
                <a:lnTo>
                  <a:pt x="44675" y="106107"/>
                </a:lnTo>
                <a:lnTo>
                  <a:pt x="34772" y="97609"/>
                </a:lnTo>
                <a:lnTo>
                  <a:pt x="25944" y="88955"/>
                </a:lnTo>
                <a:lnTo>
                  <a:pt x="18286" y="80237"/>
                </a:lnTo>
                <a:lnTo>
                  <a:pt x="11883" y="71553"/>
                </a:lnTo>
                <a:lnTo>
                  <a:pt x="6805" y="62997"/>
                </a:lnTo>
                <a:lnTo>
                  <a:pt x="3107" y="54662"/>
                </a:lnTo>
                <a:lnTo>
                  <a:pt x="831" y="46641"/>
                </a:lnTo>
                <a:lnTo>
                  <a:pt x="0" y="39020"/>
                </a:lnTo>
                <a:lnTo>
                  <a:pt x="624" y="31884"/>
                </a:lnTo>
                <a:lnTo>
                  <a:pt x="2697" y="25311"/>
                </a:lnTo>
                <a:lnTo>
                  <a:pt x="6195" y="19372"/>
                </a:lnTo>
                <a:lnTo>
                  <a:pt x="11080" y="14133"/>
                </a:lnTo>
                <a:lnTo>
                  <a:pt x="17299" y="9651"/>
                </a:lnTo>
                <a:lnTo>
                  <a:pt x="24784" y="5976"/>
                </a:lnTo>
                <a:lnTo>
                  <a:pt x="33452" y="3146"/>
                </a:lnTo>
                <a:lnTo>
                  <a:pt x="43208" y="1195"/>
                </a:lnTo>
                <a:lnTo>
                  <a:pt x="53947" y="142"/>
                </a:lnTo>
                <a:lnTo>
                  <a:pt x="65549" y="0"/>
                </a:lnTo>
                <a:lnTo>
                  <a:pt x="77888" y="770"/>
                </a:lnTo>
                <a:lnTo>
                  <a:pt x="90829" y="2443"/>
                </a:lnTo>
                <a:lnTo>
                  <a:pt x="104229" y="5002"/>
                </a:lnTo>
                <a:lnTo>
                  <a:pt x="117943" y="8417"/>
                </a:lnTo>
                <a:lnTo>
                  <a:pt x="131820" y="12653"/>
                </a:lnTo>
                <a:lnTo>
                  <a:pt x="145707" y="17661"/>
                </a:lnTo>
                <a:lnTo>
                  <a:pt x="159453" y="23389"/>
                </a:lnTo>
                <a:lnTo>
                  <a:pt x="172907" y="29772"/>
                </a:lnTo>
                <a:lnTo>
                  <a:pt x="185922" y="36741"/>
                </a:lnTo>
                <a:lnTo>
                  <a:pt x="198355" y="44219"/>
                </a:lnTo>
                <a:lnTo>
                  <a:pt x="210069" y="52125"/>
                </a:lnTo>
                <a:lnTo>
                  <a:pt x="220938" y="60371"/>
                </a:lnTo>
                <a:lnTo>
                  <a:pt x="230840" y="68869"/>
                </a:lnTo>
                <a:lnTo>
                  <a:pt x="239669" y="77523"/>
                </a:lnTo>
                <a:lnTo>
                  <a:pt x="247326" y="86240"/>
                </a:lnTo>
                <a:lnTo>
                  <a:pt x="253729" y="94925"/>
                </a:lnTo>
                <a:lnTo>
                  <a:pt x="258807" y="103481"/>
                </a:lnTo>
                <a:lnTo>
                  <a:pt x="262505" y="111816"/>
                </a:lnTo>
                <a:lnTo>
                  <a:pt x="264782" y="119837"/>
                </a:lnTo>
                <a:lnTo>
                  <a:pt x="265612" y="127458"/>
                </a:lnTo>
                <a:lnTo>
                  <a:pt x="264988" y="134594"/>
                </a:lnTo>
                <a:close/>
              </a:path>
            </a:pathLst>
          </a:custGeom>
          <a:ln w="6350">
            <a:solidFill>
              <a:srgbClr val="4F7A43"/>
            </a:solidFill>
            <a:prstDash val="dash"/>
          </a:ln>
        </p:spPr>
      </p:sp>
      <p:sp>
        <p:nvSpPr>
          <p:cNvPr id="18" name="Shape 16"/>
          <p:cNvSpPr/>
          <p:nvPr/>
        </p:nvSpPr>
        <p:spPr>
          <a:xfrm>
            <a:off x="1780022" y="2904047"/>
            <a:ext cx="41148" cy="41148"/>
          </a:xfrm>
          <a:prstGeom prst="ellipse">
            <a:avLst/>
          </a:prstGeom>
          <a:solidFill>
            <a:srgbClr val="FFFFFF"/>
          </a:solidFill>
          <a:ln w="7620">
            <a:solidFill>
              <a:srgbClr val="4F7A43"/>
            </a:solidFill>
            <a:prstDash val="solid"/>
          </a:ln>
        </p:spPr>
      </p:sp>
      <p:sp>
        <p:nvSpPr>
          <p:cNvPr id="19" name="Shape 17"/>
          <p:cNvSpPr/>
          <p:nvPr/>
        </p:nvSpPr>
        <p:spPr>
          <a:xfrm>
            <a:off x="1726118" y="2963916"/>
            <a:ext cx="41148" cy="41148"/>
          </a:xfrm>
          <a:prstGeom prst="ellipse">
            <a:avLst/>
          </a:prstGeom>
          <a:solidFill>
            <a:srgbClr val="FFFFFF"/>
          </a:solidFill>
          <a:ln w="7620">
            <a:solidFill>
              <a:srgbClr val="4F7A43"/>
            </a:solidFill>
            <a:prstDash val="solid"/>
          </a:ln>
        </p:spPr>
      </p:sp>
      <p:sp>
        <p:nvSpPr>
          <p:cNvPr id="20" name="Shape 18"/>
          <p:cNvSpPr/>
          <p:nvPr/>
        </p:nvSpPr>
        <p:spPr>
          <a:xfrm>
            <a:off x="1631444" y="2998304"/>
            <a:ext cx="41148" cy="41148"/>
          </a:xfrm>
          <a:prstGeom prst="ellipse">
            <a:avLst/>
          </a:prstGeom>
          <a:solidFill>
            <a:srgbClr val="FFFFFF"/>
          </a:solidFill>
          <a:ln w="7620">
            <a:solidFill>
              <a:srgbClr val="4F7A43"/>
            </a:solidFill>
            <a:prstDash val="solid"/>
          </a:ln>
        </p:spPr>
      </p:sp>
      <p:sp>
        <p:nvSpPr>
          <p:cNvPr id="21" name="Shape 19"/>
          <p:cNvSpPr/>
          <p:nvPr/>
        </p:nvSpPr>
        <p:spPr>
          <a:xfrm>
            <a:off x="1504273" y="3004205"/>
            <a:ext cx="41148" cy="41148"/>
          </a:xfrm>
          <a:prstGeom prst="ellipse">
            <a:avLst/>
          </a:prstGeom>
          <a:solidFill>
            <a:srgbClr val="FFFFFF"/>
          </a:solidFill>
          <a:ln w="7620">
            <a:solidFill>
              <a:srgbClr val="4F7A43"/>
            </a:solidFill>
            <a:prstDash val="solid"/>
          </a:ln>
        </p:spPr>
      </p:sp>
      <p:sp>
        <p:nvSpPr>
          <p:cNvPr id="22" name="Shape 20"/>
          <p:cNvSpPr/>
          <p:nvPr/>
        </p:nvSpPr>
        <p:spPr>
          <a:xfrm>
            <a:off x="1355718" y="2981104"/>
            <a:ext cx="41148" cy="41148"/>
          </a:xfrm>
          <a:prstGeom prst="ellipse">
            <a:avLst/>
          </a:prstGeom>
          <a:solidFill>
            <a:srgbClr val="FFFFFF"/>
          </a:solidFill>
          <a:ln w="7620">
            <a:solidFill>
              <a:srgbClr val="4F7A43"/>
            </a:solidFill>
            <a:prstDash val="solid"/>
          </a:ln>
        </p:spPr>
      </p:sp>
      <p:sp>
        <p:nvSpPr>
          <p:cNvPr id="23" name="Shape 21"/>
          <p:cNvSpPr/>
          <p:nvPr/>
        </p:nvSpPr>
        <p:spPr>
          <a:xfrm>
            <a:off x="1198763" y="2931019"/>
            <a:ext cx="41148" cy="41148"/>
          </a:xfrm>
          <a:prstGeom prst="ellipse">
            <a:avLst/>
          </a:prstGeom>
          <a:solidFill>
            <a:srgbClr val="FFFFFF"/>
          </a:solidFill>
          <a:ln w="7620">
            <a:solidFill>
              <a:srgbClr val="4F7A43"/>
            </a:solidFill>
            <a:prstDash val="solid"/>
          </a:ln>
        </p:spPr>
      </p:sp>
      <p:sp>
        <p:nvSpPr>
          <p:cNvPr id="24" name="Shape 22"/>
          <p:cNvSpPr/>
          <p:nvPr/>
        </p:nvSpPr>
        <p:spPr>
          <a:xfrm>
            <a:off x="1047122" y="2858327"/>
            <a:ext cx="41148" cy="41148"/>
          </a:xfrm>
          <a:prstGeom prst="ellipse">
            <a:avLst/>
          </a:prstGeom>
          <a:solidFill>
            <a:srgbClr val="FFFFFF"/>
          </a:solidFill>
          <a:ln w="7620">
            <a:solidFill>
              <a:srgbClr val="4F7A43"/>
            </a:solidFill>
            <a:prstDash val="solid"/>
          </a:ln>
        </p:spPr>
      </p:sp>
      <p:sp>
        <p:nvSpPr>
          <p:cNvPr id="25" name="Shape 23"/>
          <p:cNvSpPr/>
          <p:nvPr/>
        </p:nvSpPr>
        <p:spPr>
          <a:xfrm>
            <a:off x="914049" y="2769382"/>
            <a:ext cx="41148" cy="41148"/>
          </a:xfrm>
          <a:prstGeom prst="ellipse">
            <a:avLst/>
          </a:prstGeom>
          <a:solidFill>
            <a:srgbClr val="FFFFFF"/>
          </a:solidFill>
          <a:ln w="7620">
            <a:solidFill>
              <a:srgbClr val="4F7A43"/>
            </a:solidFill>
            <a:prstDash val="solid"/>
          </a:ln>
        </p:spPr>
      </p:sp>
      <p:sp>
        <p:nvSpPr>
          <p:cNvPr id="26" name="Shape 24"/>
          <p:cNvSpPr/>
          <p:nvPr/>
        </p:nvSpPr>
        <p:spPr>
          <a:xfrm>
            <a:off x="811173" y="2671955"/>
            <a:ext cx="41148" cy="41148"/>
          </a:xfrm>
          <a:prstGeom prst="ellipse">
            <a:avLst/>
          </a:prstGeom>
          <a:solidFill>
            <a:srgbClr val="FFFFFF"/>
          </a:solidFill>
          <a:ln w="7620">
            <a:solidFill>
              <a:srgbClr val="4F7A43"/>
            </a:solidFill>
            <a:prstDash val="solid"/>
          </a:ln>
        </p:spPr>
      </p:sp>
      <p:sp>
        <p:nvSpPr>
          <p:cNvPr id="27" name="Shape 25"/>
          <p:cNvSpPr/>
          <p:nvPr/>
        </p:nvSpPr>
        <p:spPr>
          <a:xfrm>
            <a:off x="747484" y="2574562"/>
            <a:ext cx="41148" cy="41148"/>
          </a:xfrm>
          <a:prstGeom prst="ellipse">
            <a:avLst/>
          </a:prstGeom>
          <a:solidFill>
            <a:srgbClr val="FFFFFF"/>
          </a:solidFill>
          <a:ln w="7620">
            <a:solidFill>
              <a:srgbClr val="4F7A43"/>
            </a:solidFill>
            <a:prstDash val="solid"/>
          </a:ln>
        </p:spPr>
      </p:sp>
      <p:sp>
        <p:nvSpPr>
          <p:cNvPr id="28" name="Shape 26"/>
          <p:cNvSpPr/>
          <p:nvPr/>
        </p:nvSpPr>
        <p:spPr>
          <a:xfrm>
            <a:off x="728547" y="2485713"/>
            <a:ext cx="41148" cy="41148"/>
          </a:xfrm>
          <a:prstGeom prst="ellipse">
            <a:avLst/>
          </a:prstGeom>
          <a:solidFill>
            <a:srgbClr val="FFFFFF"/>
          </a:solidFill>
          <a:ln w="7620">
            <a:solidFill>
              <a:srgbClr val="4F7A43"/>
            </a:solidFill>
            <a:prstDash val="solid"/>
          </a:ln>
        </p:spPr>
      </p:sp>
      <p:sp>
        <p:nvSpPr>
          <p:cNvPr id="29" name="Shape 27"/>
          <p:cNvSpPr/>
          <p:nvPr/>
        </p:nvSpPr>
        <p:spPr>
          <a:xfrm>
            <a:off x="756019" y="2413172"/>
            <a:ext cx="41148" cy="41148"/>
          </a:xfrm>
          <a:prstGeom prst="ellipse">
            <a:avLst/>
          </a:prstGeom>
          <a:solidFill>
            <a:srgbClr val="FFFFFF"/>
          </a:solidFill>
          <a:ln w="7620">
            <a:solidFill>
              <a:srgbClr val="4F7A43"/>
            </a:solidFill>
            <a:prstDash val="solid"/>
          </a:ln>
        </p:spPr>
      </p:sp>
      <p:sp>
        <p:nvSpPr>
          <p:cNvPr id="30" name="Shape 28"/>
          <p:cNvSpPr/>
          <p:nvPr/>
        </p:nvSpPr>
        <p:spPr>
          <a:xfrm>
            <a:off x="827497" y="2363280"/>
            <a:ext cx="41148" cy="41148"/>
          </a:xfrm>
          <a:prstGeom prst="ellipse">
            <a:avLst/>
          </a:prstGeom>
          <a:solidFill>
            <a:srgbClr val="FFFFFF"/>
          </a:solidFill>
          <a:ln w="7620">
            <a:solidFill>
              <a:srgbClr val="4F7A43"/>
            </a:solidFill>
            <a:prstDash val="solid"/>
          </a:ln>
        </p:spPr>
      </p:sp>
      <p:sp>
        <p:nvSpPr>
          <p:cNvPr id="31" name="Shape 29"/>
          <p:cNvSpPr/>
          <p:nvPr/>
        </p:nvSpPr>
        <p:spPr>
          <a:xfrm>
            <a:off x="936736" y="2340397"/>
            <a:ext cx="41148" cy="41148"/>
          </a:xfrm>
          <a:prstGeom prst="ellipse">
            <a:avLst/>
          </a:prstGeom>
          <a:solidFill>
            <a:srgbClr val="FFFFFF"/>
          </a:solidFill>
          <a:ln w="7620">
            <a:solidFill>
              <a:srgbClr val="4F7A43"/>
            </a:solidFill>
            <a:prstDash val="solid"/>
          </a:ln>
        </p:spPr>
      </p:sp>
      <p:sp>
        <p:nvSpPr>
          <p:cNvPr id="32" name="Shape 30"/>
          <p:cNvSpPr/>
          <p:nvPr/>
        </p:nvSpPr>
        <p:spPr>
          <a:xfrm>
            <a:off x="1074189" y="2346521"/>
            <a:ext cx="41148" cy="41148"/>
          </a:xfrm>
          <a:prstGeom prst="ellipse">
            <a:avLst/>
          </a:prstGeom>
          <a:solidFill>
            <a:srgbClr val="FFFFFF"/>
          </a:solidFill>
          <a:ln w="7620">
            <a:solidFill>
              <a:srgbClr val="4F7A43"/>
            </a:solidFill>
            <a:prstDash val="solid"/>
          </a:ln>
        </p:spPr>
      </p:sp>
      <p:sp>
        <p:nvSpPr>
          <p:cNvPr id="33" name="Shape 31"/>
          <p:cNvSpPr/>
          <p:nvPr/>
        </p:nvSpPr>
        <p:spPr>
          <a:xfrm>
            <a:off x="1227843" y="2381119"/>
            <a:ext cx="41148" cy="41148"/>
          </a:xfrm>
          <a:prstGeom prst="ellipse">
            <a:avLst/>
          </a:prstGeom>
          <a:solidFill>
            <a:srgbClr val="FFFFFF"/>
          </a:solidFill>
          <a:ln w="7620">
            <a:solidFill>
              <a:srgbClr val="4F7A43"/>
            </a:solidFill>
            <a:prstDash val="solid"/>
          </a:ln>
        </p:spPr>
      </p:sp>
      <p:sp>
        <p:nvSpPr>
          <p:cNvPr id="34" name="Shape 32"/>
          <p:cNvSpPr/>
          <p:nvPr/>
        </p:nvSpPr>
        <p:spPr>
          <a:xfrm>
            <a:off x="1384272" y="2441166"/>
            <a:ext cx="41148" cy="41148"/>
          </a:xfrm>
          <a:prstGeom prst="ellipse">
            <a:avLst/>
          </a:prstGeom>
          <a:solidFill>
            <a:srgbClr val="FFFFFF"/>
          </a:solidFill>
          <a:ln w="7620">
            <a:solidFill>
              <a:srgbClr val="4F7A43"/>
            </a:solidFill>
            <a:prstDash val="solid"/>
          </a:ln>
        </p:spPr>
      </p:sp>
      <p:sp>
        <p:nvSpPr>
          <p:cNvPr id="35" name="Shape 33"/>
          <p:cNvSpPr/>
          <p:nvPr/>
        </p:nvSpPr>
        <p:spPr>
          <a:xfrm>
            <a:off x="1529804" y="2521415"/>
            <a:ext cx="41148" cy="41148"/>
          </a:xfrm>
          <a:prstGeom prst="ellipse">
            <a:avLst/>
          </a:prstGeom>
          <a:solidFill>
            <a:srgbClr val="FFFFFF"/>
          </a:solidFill>
          <a:ln w="7620">
            <a:solidFill>
              <a:srgbClr val="4F7A43"/>
            </a:solidFill>
            <a:prstDash val="solid"/>
          </a:ln>
        </p:spPr>
      </p:sp>
      <p:sp>
        <p:nvSpPr>
          <p:cNvPr id="36" name="Shape 34"/>
          <p:cNvSpPr/>
          <p:nvPr/>
        </p:nvSpPr>
        <p:spPr>
          <a:xfrm>
            <a:off x="1651722" y="2614852"/>
            <a:ext cx="41148" cy="41148"/>
          </a:xfrm>
          <a:prstGeom prst="ellipse">
            <a:avLst/>
          </a:prstGeom>
          <a:solidFill>
            <a:srgbClr val="FFFFFF"/>
          </a:solidFill>
          <a:ln w="7620">
            <a:solidFill>
              <a:srgbClr val="4F7A43"/>
            </a:solidFill>
            <a:prstDash val="solid"/>
          </a:ln>
        </p:spPr>
      </p:sp>
      <p:sp>
        <p:nvSpPr>
          <p:cNvPr id="37" name="Shape 35"/>
          <p:cNvSpPr/>
          <p:nvPr/>
        </p:nvSpPr>
        <p:spPr>
          <a:xfrm>
            <a:off x="1739371" y="2713313"/>
            <a:ext cx="41148" cy="41148"/>
          </a:xfrm>
          <a:prstGeom prst="ellipse">
            <a:avLst/>
          </a:prstGeom>
          <a:solidFill>
            <a:srgbClr val="FFFFFF"/>
          </a:solidFill>
          <a:ln w="7620">
            <a:solidFill>
              <a:srgbClr val="4F7A43"/>
            </a:solidFill>
            <a:prstDash val="solid"/>
          </a:ln>
        </p:spPr>
      </p:sp>
      <p:sp>
        <p:nvSpPr>
          <p:cNvPr id="38" name="Shape 36"/>
          <p:cNvSpPr/>
          <p:nvPr/>
        </p:nvSpPr>
        <p:spPr>
          <a:xfrm>
            <a:off x="1785091" y="2808193"/>
            <a:ext cx="41148" cy="41148"/>
          </a:xfrm>
          <a:prstGeom prst="ellipse">
            <a:avLst/>
          </a:prstGeom>
          <a:solidFill>
            <a:srgbClr val="FFFFFF"/>
          </a:solidFill>
          <a:ln w="7620">
            <a:solidFill>
              <a:srgbClr val="4F7A43"/>
            </a:solidFill>
            <a:prstDash val="solid"/>
          </a:ln>
        </p:spPr>
      </p:sp>
      <p:sp>
        <p:nvSpPr>
          <p:cNvPr id="39" name="Shape 37"/>
          <p:cNvSpPr/>
          <p:nvPr/>
        </p:nvSpPr>
        <p:spPr>
          <a:xfrm>
            <a:off x="1784887" y="2891200"/>
            <a:ext cx="41148" cy="41148"/>
          </a:xfrm>
          <a:prstGeom prst="ellipse">
            <a:avLst/>
          </a:prstGeom>
          <a:solidFill>
            <a:srgbClr val="FFFFFF"/>
          </a:solidFill>
          <a:ln w="7620">
            <a:solidFill>
              <a:srgbClr val="4F7A43"/>
            </a:solidFill>
            <a:prstDash val="solid"/>
          </a:ln>
        </p:spPr>
      </p:sp>
      <p:sp>
        <p:nvSpPr>
          <p:cNvPr id="40" name="Shape 38"/>
          <p:cNvSpPr/>
          <p:nvPr/>
        </p:nvSpPr>
        <p:spPr>
          <a:xfrm>
            <a:off x="1318395" y="2917702"/>
            <a:ext cx="601425" cy="176498"/>
          </a:xfrm>
          <a:custGeom>
            <a:avLst/>
            <a:gdLst/>
            <a:ahLst/>
            <a:cxnLst/>
            <a:rect l="l" t="t" r="r" b="b"/>
            <a:pathLst>
              <a:path w="601425" h="176498">
                <a:moveTo>
                  <a:pt x="601425" y="0"/>
                </a:moveTo>
                <a:lnTo>
                  <a:pt x="598363" y="24020"/>
                </a:lnTo>
                <a:lnTo>
                  <a:pt x="591800" y="46671"/>
                </a:lnTo>
                <a:lnTo>
                  <a:pt x="581772" y="67829"/>
                </a:lnTo>
                <a:lnTo>
                  <a:pt x="568334" y="87378"/>
                </a:lnTo>
                <a:lnTo>
                  <a:pt x="551561" y="105210"/>
                </a:lnTo>
                <a:lnTo>
                  <a:pt x="531543" y="121227"/>
                </a:lnTo>
                <a:lnTo>
                  <a:pt x="508392" y="135341"/>
                </a:lnTo>
                <a:lnTo>
                  <a:pt x="482235" y="147475"/>
                </a:lnTo>
                <a:lnTo>
                  <a:pt x="453216" y="157561"/>
                </a:lnTo>
                <a:lnTo>
                  <a:pt x="421494" y="165545"/>
                </a:lnTo>
                <a:lnTo>
                  <a:pt x="387243" y="171381"/>
                </a:lnTo>
                <a:lnTo>
                  <a:pt x="350652" y="175039"/>
                </a:lnTo>
                <a:lnTo>
                  <a:pt x="311923" y="176498"/>
                </a:lnTo>
                <a:lnTo>
                  <a:pt x="271268" y="175750"/>
                </a:lnTo>
                <a:lnTo>
                  <a:pt x="228911" y="172800"/>
                </a:lnTo>
                <a:lnTo>
                  <a:pt x="185084" y="167662"/>
                </a:lnTo>
                <a:lnTo>
                  <a:pt x="140030" y="160366"/>
                </a:lnTo>
                <a:lnTo>
                  <a:pt x="93995" y="150952"/>
                </a:lnTo>
                <a:lnTo>
                  <a:pt x="47232" y="139472"/>
                </a:lnTo>
                <a:lnTo>
                  <a:pt x="0" y="125988"/>
                </a:lnTo>
              </a:path>
            </a:pathLst>
          </a:custGeom>
          <a:ln w="44450">
            <a:solidFill>
              <a:srgbClr val="C4262E"/>
            </a:solidFill>
            <a:prstDash val="solid"/>
          </a:ln>
        </p:spPr>
      </p:sp>
      <p:sp>
        <p:nvSpPr>
          <p:cNvPr id="41" name="Shape 39"/>
          <p:cNvSpPr/>
          <p:nvPr/>
        </p:nvSpPr>
        <p:spPr>
          <a:xfrm>
            <a:off x="438912" y="1874520"/>
            <a:ext cx="731520" cy="146304"/>
          </a:xfrm>
          <a:prstGeom prst="rect">
            <a:avLst/>
          </a:prstGeom>
          <a:solidFill>
            <a:srgbClr val="FFFFFF"/>
          </a:solidFill>
          <a:ln/>
        </p:spPr>
      </p:sp>
      <p:sp>
        <p:nvSpPr>
          <p:cNvPr id="42" name="Text 40"/>
          <p:cNvSpPr txBox="1"/>
          <p:nvPr/>
        </p:nvSpPr>
        <p:spPr>
          <a:xfrm>
            <a:off x="438912" y="1874520"/>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Egerton / Abbot jn.</a:t>
            </a:r>
            <a:endParaRPr lang="en-US" sz="550" dirty="0"/>
          </a:p>
        </p:txBody>
      </p:sp>
      <p:sp>
        <p:nvSpPr>
          <p:cNvPr id="43" name="Shape 41"/>
          <p:cNvSpPr/>
          <p:nvPr/>
        </p:nvSpPr>
        <p:spPr>
          <a:xfrm>
            <a:off x="1389888" y="3364992"/>
            <a:ext cx="731520" cy="146304"/>
          </a:xfrm>
          <a:prstGeom prst="rect">
            <a:avLst/>
          </a:prstGeom>
          <a:solidFill>
            <a:srgbClr val="FFFFFF"/>
          </a:solidFill>
          <a:ln/>
        </p:spPr>
      </p:sp>
      <p:sp>
        <p:nvSpPr>
          <p:cNvPr id="44" name="Text 42"/>
          <p:cNvSpPr txBox="1"/>
          <p:nvPr/>
        </p:nvSpPr>
        <p:spPr>
          <a:xfrm>
            <a:off x="1389888" y="3364992"/>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Davis / Durand jn.</a:t>
            </a:r>
            <a:endParaRPr lang="en-US" sz="550" dirty="0"/>
          </a:p>
        </p:txBody>
      </p:sp>
      <p:sp>
        <p:nvSpPr>
          <p:cNvPr id="45" name="Shape 43"/>
          <p:cNvSpPr/>
          <p:nvPr/>
        </p:nvSpPr>
        <p:spPr>
          <a:xfrm>
            <a:off x="1357859" y="2687559"/>
            <a:ext cx="109728" cy="109728"/>
          </a:xfrm>
          <a:prstGeom prst="ellipse">
            <a:avLst/>
          </a:prstGeom>
          <a:ln w="19050">
            <a:solidFill>
              <a:srgbClr val="C4262E"/>
            </a:solidFill>
            <a:prstDash val="solid"/>
          </a:ln>
        </p:spPr>
      </p:sp>
      <p:sp>
        <p:nvSpPr>
          <p:cNvPr id="46" name="Shape 44"/>
          <p:cNvSpPr/>
          <p:nvPr/>
        </p:nvSpPr>
        <p:spPr>
          <a:xfrm>
            <a:off x="1206983" y="2532111"/>
            <a:ext cx="411480" cy="146304"/>
          </a:xfrm>
          <a:prstGeom prst="rect">
            <a:avLst/>
          </a:prstGeom>
          <a:solidFill>
            <a:srgbClr val="FFFFFF"/>
          </a:solidFill>
          <a:ln/>
        </p:spPr>
      </p:sp>
      <p:sp>
        <p:nvSpPr>
          <p:cNvPr id="47" name="Text 45"/>
          <p:cNvSpPr txBox="1"/>
          <p:nvPr/>
        </p:nvSpPr>
        <p:spPr>
          <a:xfrm>
            <a:off x="1206983" y="2532111"/>
            <a:ext cx="411480" cy="146304"/>
          </a:xfrm>
          <a:prstGeom prst="rect">
            <a:avLst/>
          </a:prstGeom>
          <a:noFill/>
          <a:ln/>
        </p:spPr>
        <p:txBody>
          <a:bodyPr wrap="square" lIns="0" tIns="0" rIns="0" bIns="0" rtlCol="0" anchor="ctr"/>
          <a:lstStyle/>
          <a:p>
            <a:pPr algn="ctr" indent="0" marL="0">
              <a:buNone/>
            </a:pPr>
            <a:r>
              <a:rPr lang="en-US" sz="550" b="1" dirty="0">
                <a:solidFill>
                  <a:srgbClr val="C4262E"/>
                </a:solidFill>
                <a:latin typeface="Arial" pitchFamily="34" charset="0"/>
                <a:ea typeface="Arial" pitchFamily="34" charset="-122"/>
                <a:cs typeface="Arial" pitchFamily="34" charset="-120"/>
              </a:rPr>
              <a:t>SUMMIT</a:t>
            </a:r>
            <a:endParaRPr lang="en-US" sz="550" dirty="0"/>
          </a:p>
        </p:txBody>
      </p:sp>
      <p:sp>
        <p:nvSpPr>
          <p:cNvPr id="48" name="Shape 46"/>
          <p:cNvSpPr/>
          <p:nvPr/>
        </p:nvSpPr>
        <p:spPr>
          <a:xfrm>
            <a:off x="1515880" y="3159071"/>
            <a:ext cx="594360" cy="146304"/>
          </a:xfrm>
          <a:prstGeom prst="rect">
            <a:avLst/>
          </a:prstGeom>
          <a:solidFill>
            <a:srgbClr val="FFFFFF"/>
          </a:solidFill>
          <a:ln/>
        </p:spPr>
      </p:sp>
      <p:sp>
        <p:nvSpPr>
          <p:cNvPr id="49" name="Text 47"/>
          <p:cNvSpPr txBox="1"/>
          <p:nvPr/>
        </p:nvSpPr>
        <p:spPr>
          <a:xfrm>
            <a:off x="1515880" y="3159071"/>
            <a:ext cx="594360" cy="146304"/>
          </a:xfrm>
          <a:prstGeom prst="rect">
            <a:avLst/>
          </a:prstGeom>
          <a:noFill/>
          <a:ln/>
        </p:spPr>
        <p:txBody>
          <a:bodyPr wrap="square" lIns="0" tIns="0" rIns="0" bIns="0" rtlCol="0" anchor="ctr"/>
          <a:lstStyle/>
          <a:p>
            <a:pPr algn="ctr" indent="0" marL="0">
              <a:buNone/>
            </a:pPr>
            <a:r>
              <a:rPr lang="en-US" sz="550" b="1" dirty="0">
                <a:solidFill>
                  <a:srgbClr val="C4262E"/>
                </a:solidFill>
                <a:latin typeface="Arial" pitchFamily="34" charset="0"/>
                <a:ea typeface="Arial" pitchFamily="34" charset="-122"/>
                <a:cs typeface="Arial" pitchFamily="34" charset="-120"/>
              </a:rPr>
              <a:t>PROTEST EDGE</a:t>
            </a:r>
            <a:endParaRPr lang="en-US" sz="550" dirty="0"/>
          </a:p>
        </p:txBody>
      </p:sp>
      <p:sp>
        <p:nvSpPr>
          <p:cNvPr id="50" name="Shape 48"/>
          <p:cNvSpPr/>
          <p:nvPr/>
        </p:nvSpPr>
        <p:spPr>
          <a:xfrm>
            <a:off x="218541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51" name="Shape 49"/>
          <p:cNvSpPr/>
          <p:nvPr/>
        </p:nvSpPr>
        <p:spPr>
          <a:xfrm>
            <a:off x="2286000" y="1627632"/>
            <a:ext cx="1828800" cy="1920240"/>
          </a:xfrm>
          <a:prstGeom prst="rect">
            <a:avLst/>
          </a:prstGeom>
          <a:solidFill>
            <a:srgbClr val="FFFFFF"/>
          </a:solidFill>
          <a:ln w="6350">
            <a:solidFill>
              <a:srgbClr val="D9D9D9"/>
            </a:solidFill>
            <a:prstDash val="solid"/>
          </a:ln>
        </p:spPr>
      </p:sp>
      <p:sp>
        <p:nvSpPr>
          <p:cNvPr id="52" name="Text 50"/>
          <p:cNvSpPr txBox="1"/>
          <p:nvPr/>
        </p:nvSpPr>
        <p:spPr>
          <a:xfrm>
            <a:off x="235915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02  </a:t>
            </a:r>
            <a:pPr indent="0" marL="0">
              <a:buNone/>
            </a:pPr>
            <a:r>
              <a:rPr lang="en-US" sz="750" b="1" spc="50" kern="0" dirty="0">
                <a:solidFill>
                  <a:srgbClr val="1B1B1B"/>
                </a:solidFill>
                <a:latin typeface="Arial" pitchFamily="34" charset="0"/>
                <a:ea typeface="Arial" pitchFamily="34" charset="-122"/>
                <a:cs typeface="Arial" pitchFamily="34" charset="-120"/>
              </a:rPr>
              <a:t>IDEA</a:t>
            </a:r>
            <a:endParaRPr lang="en-US" sz="750" dirty="0"/>
          </a:p>
        </p:txBody>
      </p:sp>
      <p:sp>
        <p:nvSpPr>
          <p:cNvPr id="53" name="Shape 51"/>
          <p:cNvSpPr/>
          <p:nvPr/>
        </p:nvSpPr>
        <p:spPr>
          <a:xfrm>
            <a:off x="247600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54" name="Shape 52"/>
          <p:cNvSpPr/>
          <p:nvPr/>
        </p:nvSpPr>
        <p:spPr>
          <a:xfrm>
            <a:off x="234086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55" name="Shape 53"/>
          <p:cNvSpPr/>
          <p:nvPr/>
        </p:nvSpPr>
        <p:spPr>
          <a:xfrm>
            <a:off x="391008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56" name="Shape 54"/>
          <p:cNvSpPr/>
          <p:nvPr/>
        </p:nvSpPr>
        <p:spPr>
          <a:xfrm>
            <a:off x="259673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57" name="Shape 55"/>
          <p:cNvSpPr/>
          <p:nvPr/>
        </p:nvSpPr>
        <p:spPr>
          <a:xfrm>
            <a:off x="2830958" y="2433218"/>
            <a:ext cx="869276" cy="544837"/>
          </a:xfrm>
          <a:custGeom>
            <a:avLst/>
            <a:gdLst/>
            <a:ahLst/>
            <a:cxnLst/>
            <a:rect l="l" t="t" r="r" b="b"/>
            <a:pathLst>
              <a:path w="869276" h="544837">
                <a:moveTo>
                  <a:pt x="860450" y="462002"/>
                </a:moveTo>
                <a:lnTo>
                  <a:pt x="849001" y="481438"/>
                </a:lnTo>
                <a:lnTo>
                  <a:pt x="833013" y="498583"/>
                </a:lnTo>
                <a:lnTo>
                  <a:pt x="812660" y="513251"/>
                </a:lnTo>
                <a:lnTo>
                  <a:pt x="788166" y="525280"/>
                </a:lnTo>
                <a:lnTo>
                  <a:pt x="759798" y="534539"/>
                </a:lnTo>
                <a:lnTo>
                  <a:pt x="727867" y="540926"/>
                </a:lnTo>
                <a:lnTo>
                  <a:pt x="692724" y="544371"/>
                </a:lnTo>
                <a:lnTo>
                  <a:pt x="654753" y="544837"/>
                </a:lnTo>
                <a:lnTo>
                  <a:pt x="614371" y="542318"/>
                </a:lnTo>
                <a:lnTo>
                  <a:pt x="572019" y="536841"/>
                </a:lnTo>
                <a:lnTo>
                  <a:pt x="528162" y="528468"/>
                </a:lnTo>
                <a:lnTo>
                  <a:pt x="483281" y="517289"/>
                </a:lnTo>
                <a:lnTo>
                  <a:pt x="437867" y="503428"/>
                </a:lnTo>
                <a:lnTo>
                  <a:pt x="392417" y="487036"/>
                </a:lnTo>
                <a:lnTo>
                  <a:pt x="347430" y="468292"/>
                </a:lnTo>
                <a:lnTo>
                  <a:pt x="303398" y="447402"/>
                </a:lnTo>
                <a:lnTo>
                  <a:pt x="260804" y="424595"/>
                </a:lnTo>
                <a:lnTo>
                  <a:pt x="220115" y="400120"/>
                </a:lnTo>
                <a:lnTo>
                  <a:pt x="181776" y="374247"/>
                </a:lnTo>
                <a:lnTo>
                  <a:pt x="146208" y="347258"/>
                </a:lnTo>
                <a:lnTo>
                  <a:pt x="113799" y="319449"/>
                </a:lnTo>
                <a:lnTo>
                  <a:pt x="84906" y="291124"/>
                </a:lnTo>
                <a:lnTo>
                  <a:pt x="59845" y="262595"/>
                </a:lnTo>
                <a:lnTo>
                  <a:pt x="38890" y="234174"/>
                </a:lnTo>
                <a:lnTo>
                  <a:pt x="22270" y="206171"/>
                </a:lnTo>
                <a:lnTo>
                  <a:pt x="10169" y="178894"/>
                </a:lnTo>
                <a:lnTo>
                  <a:pt x="2718" y="152642"/>
                </a:lnTo>
                <a:lnTo>
                  <a:pt x="0" y="127702"/>
                </a:lnTo>
                <a:lnTo>
                  <a:pt x="2044" y="104348"/>
                </a:lnTo>
                <a:lnTo>
                  <a:pt x="8827" y="82835"/>
                </a:lnTo>
                <a:lnTo>
                  <a:pt x="20275" y="63399"/>
                </a:lnTo>
                <a:lnTo>
                  <a:pt x="36263" y="46253"/>
                </a:lnTo>
                <a:lnTo>
                  <a:pt x="56616" y="31586"/>
                </a:lnTo>
                <a:lnTo>
                  <a:pt x="81111" y="19556"/>
                </a:lnTo>
                <a:lnTo>
                  <a:pt x="109479" y="10298"/>
                </a:lnTo>
                <a:lnTo>
                  <a:pt x="141409" y="3911"/>
                </a:lnTo>
                <a:lnTo>
                  <a:pt x="176552" y="466"/>
                </a:lnTo>
                <a:lnTo>
                  <a:pt x="214523" y="0"/>
                </a:lnTo>
                <a:lnTo>
                  <a:pt x="254906" y="2519"/>
                </a:lnTo>
                <a:lnTo>
                  <a:pt x="297257" y="7995"/>
                </a:lnTo>
                <a:lnTo>
                  <a:pt x="341114" y="16369"/>
                </a:lnTo>
                <a:lnTo>
                  <a:pt x="385995" y="27547"/>
                </a:lnTo>
                <a:lnTo>
                  <a:pt x="431410" y="41409"/>
                </a:lnTo>
                <a:lnTo>
                  <a:pt x="476859" y="57801"/>
                </a:lnTo>
                <a:lnTo>
                  <a:pt x="521847" y="76545"/>
                </a:lnTo>
                <a:lnTo>
                  <a:pt x="565878" y="97435"/>
                </a:lnTo>
                <a:lnTo>
                  <a:pt x="608472" y="120242"/>
                </a:lnTo>
                <a:lnTo>
                  <a:pt x="649161" y="144716"/>
                </a:lnTo>
                <a:lnTo>
                  <a:pt x="687500" y="170590"/>
                </a:lnTo>
                <a:lnTo>
                  <a:pt x="723069" y="197579"/>
                </a:lnTo>
                <a:lnTo>
                  <a:pt x="755477" y="225388"/>
                </a:lnTo>
                <a:lnTo>
                  <a:pt x="784370" y="253712"/>
                </a:lnTo>
                <a:lnTo>
                  <a:pt x="809432" y="282242"/>
                </a:lnTo>
                <a:lnTo>
                  <a:pt x="830387" y="310663"/>
                </a:lnTo>
                <a:lnTo>
                  <a:pt x="847006" y="338666"/>
                </a:lnTo>
                <a:lnTo>
                  <a:pt x="859107" y="365943"/>
                </a:lnTo>
                <a:lnTo>
                  <a:pt x="866558" y="392195"/>
                </a:lnTo>
                <a:lnTo>
                  <a:pt x="869276" y="417135"/>
                </a:lnTo>
                <a:lnTo>
                  <a:pt x="867233" y="440489"/>
                </a:lnTo>
                <a:close/>
              </a:path>
            </a:pathLst>
          </a:custGeom>
          <a:ln w="6350">
            <a:solidFill>
              <a:srgbClr val="4F7A43"/>
            </a:solidFill>
            <a:prstDash val="dash"/>
          </a:ln>
        </p:spPr>
      </p:sp>
      <p:sp>
        <p:nvSpPr>
          <p:cNvPr id="58" name="Shape 56"/>
          <p:cNvSpPr/>
          <p:nvPr/>
        </p:nvSpPr>
        <p:spPr>
          <a:xfrm>
            <a:off x="2987911" y="2531592"/>
            <a:ext cx="555371" cy="348090"/>
          </a:xfrm>
          <a:custGeom>
            <a:avLst/>
            <a:gdLst/>
            <a:ahLst/>
            <a:cxnLst/>
            <a:rect l="l" t="t" r="r" b="b"/>
            <a:pathLst>
              <a:path w="555371" h="348090">
                <a:moveTo>
                  <a:pt x="549732" y="295168"/>
                </a:moveTo>
                <a:lnTo>
                  <a:pt x="542417" y="307585"/>
                </a:lnTo>
                <a:lnTo>
                  <a:pt x="532203" y="318539"/>
                </a:lnTo>
                <a:lnTo>
                  <a:pt x="519200" y="327910"/>
                </a:lnTo>
                <a:lnTo>
                  <a:pt x="503550" y="335596"/>
                </a:lnTo>
                <a:lnTo>
                  <a:pt x="485426" y="341511"/>
                </a:lnTo>
                <a:lnTo>
                  <a:pt x="465026" y="345592"/>
                </a:lnTo>
                <a:lnTo>
                  <a:pt x="442574" y="347793"/>
                </a:lnTo>
                <a:lnTo>
                  <a:pt x="418315" y="348090"/>
                </a:lnTo>
                <a:lnTo>
                  <a:pt x="392515" y="346481"/>
                </a:lnTo>
                <a:lnTo>
                  <a:pt x="365457" y="342982"/>
                </a:lnTo>
                <a:lnTo>
                  <a:pt x="337437" y="337632"/>
                </a:lnTo>
                <a:lnTo>
                  <a:pt x="308763" y="330490"/>
                </a:lnTo>
                <a:lnTo>
                  <a:pt x="279748" y="321635"/>
                </a:lnTo>
                <a:lnTo>
                  <a:pt x="250711" y="311162"/>
                </a:lnTo>
                <a:lnTo>
                  <a:pt x="221969" y="299186"/>
                </a:lnTo>
                <a:lnTo>
                  <a:pt x="193838" y="285840"/>
                </a:lnTo>
                <a:lnTo>
                  <a:pt x="166625" y="271269"/>
                </a:lnTo>
                <a:lnTo>
                  <a:pt x="140629" y="255632"/>
                </a:lnTo>
                <a:lnTo>
                  <a:pt x="116135" y="239102"/>
                </a:lnTo>
                <a:lnTo>
                  <a:pt x="93410" y="221859"/>
                </a:lnTo>
                <a:lnTo>
                  <a:pt x="72705" y="204092"/>
                </a:lnTo>
                <a:lnTo>
                  <a:pt x="54246" y="185996"/>
                </a:lnTo>
                <a:lnTo>
                  <a:pt x="38234" y="167769"/>
                </a:lnTo>
                <a:lnTo>
                  <a:pt x="24846" y="149611"/>
                </a:lnTo>
                <a:lnTo>
                  <a:pt x="14228" y="131720"/>
                </a:lnTo>
                <a:lnTo>
                  <a:pt x="6497" y="114293"/>
                </a:lnTo>
                <a:lnTo>
                  <a:pt x="1737" y="97521"/>
                </a:lnTo>
                <a:lnTo>
                  <a:pt x="0" y="81587"/>
                </a:lnTo>
                <a:lnTo>
                  <a:pt x="1306" y="66667"/>
                </a:lnTo>
                <a:lnTo>
                  <a:pt x="5639" y="52922"/>
                </a:lnTo>
                <a:lnTo>
                  <a:pt x="12954" y="40505"/>
                </a:lnTo>
                <a:lnTo>
                  <a:pt x="23168" y="29551"/>
                </a:lnTo>
                <a:lnTo>
                  <a:pt x="36171" y="20180"/>
                </a:lnTo>
                <a:lnTo>
                  <a:pt x="51821" y="12494"/>
                </a:lnTo>
                <a:lnTo>
                  <a:pt x="69945" y="6579"/>
                </a:lnTo>
                <a:lnTo>
                  <a:pt x="90345" y="2498"/>
                </a:lnTo>
                <a:lnTo>
                  <a:pt x="112797" y="297"/>
                </a:lnTo>
                <a:lnTo>
                  <a:pt x="137056" y="0"/>
                </a:lnTo>
                <a:lnTo>
                  <a:pt x="162856" y="1609"/>
                </a:lnTo>
                <a:lnTo>
                  <a:pt x="189914" y="5108"/>
                </a:lnTo>
                <a:lnTo>
                  <a:pt x="217934" y="10458"/>
                </a:lnTo>
                <a:lnTo>
                  <a:pt x="246608" y="17600"/>
                </a:lnTo>
                <a:lnTo>
                  <a:pt x="275623" y="26456"/>
                </a:lnTo>
                <a:lnTo>
                  <a:pt x="304660" y="36929"/>
                </a:lnTo>
                <a:lnTo>
                  <a:pt x="333402" y="48904"/>
                </a:lnTo>
                <a:lnTo>
                  <a:pt x="361533" y="62250"/>
                </a:lnTo>
                <a:lnTo>
                  <a:pt x="388746" y="76821"/>
                </a:lnTo>
                <a:lnTo>
                  <a:pt x="414742" y="92458"/>
                </a:lnTo>
                <a:lnTo>
                  <a:pt x="439236" y="108988"/>
                </a:lnTo>
                <a:lnTo>
                  <a:pt x="461961" y="126231"/>
                </a:lnTo>
                <a:lnTo>
                  <a:pt x="482666" y="143998"/>
                </a:lnTo>
                <a:lnTo>
                  <a:pt x="501125" y="162094"/>
                </a:lnTo>
                <a:lnTo>
                  <a:pt x="517137" y="180321"/>
                </a:lnTo>
                <a:lnTo>
                  <a:pt x="530525" y="198479"/>
                </a:lnTo>
                <a:lnTo>
                  <a:pt x="541143" y="216370"/>
                </a:lnTo>
                <a:lnTo>
                  <a:pt x="548874" y="233797"/>
                </a:lnTo>
                <a:lnTo>
                  <a:pt x="553634" y="250569"/>
                </a:lnTo>
                <a:lnTo>
                  <a:pt x="555371" y="266503"/>
                </a:lnTo>
                <a:lnTo>
                  <a:pt x="554065" y="281424"/>
                </a:lnTo>
                <a:close/>
              </a:path>
            </a:pathLst>
          </a:custGeom>
          <a:ln w="6350">
            <a:solidFill>
              <a:srgbClr val="4F7A43"/>
            </a:solidFill>
            <a:prstDash val="dash"/>
          </a:ln>
        </p:spPr>
      </p:sp>
      <p:sp>
        <p:nvSpPr>
          <p:cNvPr id="59" name="Shape 57"/>
          <p:cNvSpPr/>
          <p:nvPr/>
        </p:nvSpPr>
        <p:spPr>
          <a:xfrm>
            <a:off x="3132791" y="2622398"/>
            <a:ext cx="265612" cy="166478"/>
          </a:xfrm>
          <a:custGeom>
            <a:avLst/>
            <a:gdLst/>
            <a:ahLst/>
            <a:cxnLst/>
            <a:rect l="l" t="t" r="r" b="b"/>
            <a:pathLst>
              <a:path w="265612" h="166478">
                <a:moveTo>
                  <a:pt x="262915" y="141167"/>
                </a:moveTo>
                <a:lnTo>
                  <a:pt x="259417" y="147106"/>
                </a:lnTo>
                <a:lnTo>
                  <a:pt x="254532" y="152345"/>
                </a:lnTo>
                <a:lnTo>
                  <a:pt x="248313" y="156827"/>
                </a:lnTo>
                <a:lnTo>
                  <a:pt x="240828" y="160502"/>
                </a:lnTo>
                <a:lnTo>
                  <a:pt x="232160" y="163331"/>
                </a:lnTo>
                <a:lnTo>
                  <a:pt x="222404" y="165283"/>
                </a:lnTo>
                <a:lnTo>
                  <a:pt x="211666" y="166336"/>
                </a:lnTo>
                <a:lnTo>
                  <a:pt x="200063" y="166478"/>
                </a:lnTo>
                <a:lnTo>
                  <a:pt x="187724" y="165708"/>
                </a:lnTo>
                <a:lnTo>
                  <a:pt x="174784" y="164035"/>
                </a:lnTo>
                <a:lnTo>
                  <a:pt x="161383" y="161476"/>
                </a:lnTo>
                <a:lnTo>
                  <a:pt x="147669" y="158061"/>
                </a:lnTo>
                <a:lnTo>
                  <a:pt x="133793" y="153825"/>
                </a:lnTo>
                <a:lnTo>
                  <a:pt x="119905" y="148816"/>
                </a:lnTo>
                <a:lnTo>
                  <a:pt x="106159" y="143089"/>
                </a:lnTo>
                <a:lnTo>
                  <a:pt x="92705" y="136706"/>
                </a:lnTo>
                <a:lnTo>
                  <a:pt x="79690" y="129737"/>
                </a:lnTo>
                <a:lnTo>
                  <a:pt x="67257" y="122259"/>
                </a:lnTo>
                <a:lnTo>
                  <a:pt x="55543" y="114353"/>
                </a:lnTo>
                <a:lnTo>
                  <a:pt x="44675" y="106107"/>
                </a:lnTo>
                <a:lnTo>
                  <a:pt x="34772" y="97609"/>
                </a:lnTo>
                <a:lnTo>
                  <a:pt x="25944" y="88955"/>
                </a:lnTo>
                <a:lnTo>
                  <a:pt x="18286" y="80237"/>
                </a:lnTo>
                <a:lnTo>
                  <a:pt x="11883" y="71553"/>
                </a:lnTo>
                <a:lnTo>
                  <a:pt x="6805" y="62997"/>
                </a:lnTo>
                <a:lnTo>
                  <a:pt x="3107" y="54662"/>
                </a:lnTo>
                <a:lnTo>
                  <a:pt x="831" y="46641"/>
                </a:lnTo>
                <a:lnTo>
                  <a:pt x="0" y="39020"/>
                </a:lnTo>
                <a:lnTo>
                  <a:pt x="624" y="31884"/>
                </a:lnTo>
                <a:lnTo>
                  <a:pt x="2697" y="25311"/>
                </a:lnTo>
                <a:lnTo>
                  <a:pt x="6195" y="19372"/>
                </a:lnTo>
                <a:lnTo>
                  <a:pt x="11080" y="14133"/>
                </a:lnTo>
                <a:lnTo>
                  <a:pt x="17299" y="9651"/>
                </a:lnTo>
                <a:lnTo>
                  <a:pt x="24784" y="5976"/>
                </a:lnTo>
                <a:lnTo>
                  <a:pt x="33452" y="3146"/>
                </a:lnTo>
                <a:lnTo>
                  <a:pt x="43208" y="1195"/>
                </a:lnTo>
                <a:lnTo>
                  <a:pt x="53947" y="142"/>
                </a:lnTo>
                <a:lnTo>
                  <a:pt x="65549" y="0"/>
                </a:lnTo>
                <a:lnTo>
                  <a:pt x="77888" y="770"/>
                </a:lnTo>
                <a:lnTo>
                  <a:pt x="90829" y="2443"/>
                </a:lnTo>
                <a:lnTo>
                  <a:pt x="104229" y="5002"/>
                </a:lnTo>
                <a:lnTo>
                  <a:pt x="117943" y="8417"/>
                </a:lnTo>
                <a:lnTo>
                  <a:pt x="131820" y="12653"/>
                </a:lnTo>
                <a:lnTo>
                  <a:pt x="145707" y="17661"/>
                </a:lnTo>
                <a:lnTo>
                  <a:pt x="159453" y="23389"/>
                </a:lnTo>
                <a:lnTo>
                  <a:pt x="172907" y="29772"/>
                </a:lnTo>
                <a:lnTo>
                  <a:pt x="185922" y="36741"/>
                </a:lnTo>
                <a:lnTo>
                  <a:pt x="198355" y="44219"/>
                </a:lnTo>
                <a:lnTo>
                  <a:pt x="210069" y="52125"/>
                </a:lnTo>
                <a:lnTo>
                  <a:pt x="220938" y="60371"/>
                </a:lnTo>
                <a:lnTo>
                  <a:pt x="230840" y="68869"/>
                </a:lnTo>
                <a:lnTo>
                  <a:pt x="239669" y="77523"/>
                </a:lnTo>
                <a:lnTo>
                  <a:pt x="247326" y="86240"/>
                </a:lnTo>
                <a:lnTo>
                  <a:pt x="253729" y="94925"/>
                </a:lnTo>
                <a:lnTo>
                  <a:pt x="258807" y="103481"/>
                </a:lnTo>
                <a:lnTo>
                  <a:pt x="262505" y="111816"/>
                </a:lnTo>
                <a:lnTo>
                  <a:pt x="264782" y="119837"/>
                </a:lnTo>
                <a:lnTo>
                  <a:pt x="265612" y="127458"/>
                </a:lnTo>
                <a:lnTo>
                  <a:pt x="264988" y="134594"/>
                </a:lnTo>
                <a:close/>
              </a:path>
            </a:pathLst>
          </a:custGeom>
          <a:ln w="6350">
            <a:solidFill>
              <a:srgbClr val="4F7A43"/>
            </a:solidFill>
            <a:prstDash val="dash"/>
          </a:ln>
        </p:spPr>
      </p:sp>
      <p:sp>
        <p:nvSpPr>
          <p:cNvPr id="60" name="Shape 58"/>
          <p:cNvSpPr/>
          <p:nvPr/>
        </p:nvSpPr>
        <p:spPr>
          <a:xfrm>
            <a:off x="3700262" y="2904047"/>
            <a:ext cx="41148" cy="41148"/>
          </a:xfrm>
          <a:prstGeom prst="ellipse">
            <a:avLst/>
          </a:prstGeom>
          <a:solidFill>
            <a:srgbClr val="FFFFFF"/>
          </a:solidFill>
          <a:ln w="7620">
            <a:solidFill>
              <a:srgbClr val="4F7A43"/>
            </a:solidFill>
            <a:prstDash val="solid"/>
          </a:ln>
        </p:spPr>
      </p:sp>
      <p:sp>
        <p:nvSpPr>
          <p:cNvPr id="61" name="Shape 59"/>
          <p:cNvSpPr/>
          <p:nvPr/>
        </p:nvSpPr>
        <p:spPr>
          <a:xfrm>
            <a:off x="3646358" y="2963916"/>
            <a:ext cx="41148" cy="41148"/>
          </a:xfrm>
          <a:prstGeom prst="ellipse">
            <a:avLst/>
          </a:prstGeom>
          <a:solidFill>
            <a:srgbClr val="FFFFFF"/>
          </a:solidFill>
          <a:ln w="7620">
            <a:solidFill>
              <a:srgbClr val="4F7A43"/>
            </a:solidFill>
            <a:prstDash val="solid"/>
          </a:ln>
        </p:spPr>
      </p:sp>
      <p:sp>
        <p:nvSpPr>
          <p:cNvPr id="62" name="Shape 60"/>
          <p:cNvSpPr/>
          <p:nvPr/>
        </p:nvSpPr>
        <p:spPr>
          <a:xfrm>
            <a:off x="3551684" y="2998304"/>
            <a:ext cx="41148" cy="41148"/>
          </a:xfrm>
          <a:prstGeom prst="ellipse">
            <a:avLst/>
          </a:prstGeom>
          <a:solidFill>
            <a:srgbClr val="FFFFFF"/>
          </a:solidFill>
          <a:ln w="7620">
            <a:solidFill>
              <a:srgbClr val="4F7A43"/>
            </a:solidFill>
            <a:prstDash val="solid"/>
          </a:ln>
        </p:spPr>
      </p:sp>
      <p:sp>
        <p:nvSpPr>
          <p:cNvPr id="63" name="Shape 61"/>
          <p:cNvSpPr/>
          <p:nvPr/>
        </p:nvSpPr>
        <p:spPr>
          <a:xfrm>
            <a:off x="3424513" y="3004205"/>
            <a:ext cx="41148" cy="41148"/>
          </a:xfrm>
          <a:prstGeom prst="ellipse">
            <a:avLst/>
          </a:prstGeom>
          <a:solidFill>
            <a:srgbClr val="FFFFFF"/>
          </a:solidFill>
          <a:ln w="7620">
            <a:solidFill>
              <a:srgbClr val="4F7A43"/>
            </a:solidFill>
            <a:prstDash val="solid"/>
          </a:ln>
        </p:spPr>
      </p:sp>
      <p:sp>
        <p:nvSpPr>
          <p:cNvPr id="64" name="Shape 62"/>
          <p:cNvSpPr/>
          <p:nvPr/>
        </p:nvSpPr>
        <p:spPr>
          <a:xfrm>
            <a:off x="3275958" y="2981104"/>
            <a:ext cx="41148" cy="41148"/>
          </a:xfrm>
          <a:prstGeom prst="ellipse">
            <a:avLst/>
          </a:prstGeom>
          <a:solidFill>
            <a:srgbClr val="FFFFFF"/>
          </a:solidFill>
          <a:ln w="7620">
            <a:solidFill>
              <a:srgbClr val="4F7A43"/>
            </a:solidFill>
            <a:prstDash val="solid"/>
          </a:ln>
        </p:spPr>
      </p:sp>
      <p:sp>
        <p:nvSpPr>
          <p:cNvPr id="65" name="Shape 63"/>
          <p:cNvSpPr/>
          <p:nvPr/>
        </p:nvSpPr>
        <p:spPr>
          <a:xfrm>
            <a:off x="3119003" y="2931019"/>
            <a:ext cx="41148" cy="41148"/>
          </a:xfrm>
          <a:prstGeom prst="ellipse">
            <a:avLst/>
          </a:prstGeom>
          <a:solidFill>
            <a:srgbClr val="FFFFFF"/>
          </a:solidFill>
          <a:ln w="7620">
            <a:solidFill>
              <a:srgbClr val="4F7A43"/>
            </a:solidFill>
            <a:prstDash val="solid"/>
          </a:ln>
        </p:spPr>
      </p:sp>
      <p:sp>
        <p:nvSpPr>
          <p:cNvPr id="66" name="Shape 64"/>
          <p:cNvSpPr/>
          <p:nvPr/>
        </p:nvSpPr>
        <p:spPr>
          <a:xfrm>
            <a:off x="2967362" y="2858327"/>
            <a:ext cx="41148" cy="41148"/>
          </a:xfrm>
          <a:prstGeom prst="ellipse">
            <a:avLst/>
          </a:prstGeom>
          <a:solidFill>
            <a:srgbClr val="FFFFFF"/>
          </a:solidFill>
          <a:ln w="7620">
            <a:solidFill>
              <a:srgbClr val="4F7A43"/>
            </a:solidFill>
            <a:prstDash val="solid"/>
          </a:ln>
        </p:spPr>
      </p:sp>
      <p:sp>
        <p:nvSpPr>
          <p:cNvPr id="67" name="Shape 65"/>
          <p:cNvSpPr/>
          <p:nvPr/>
        </p:nvSpPr>
        <p:spPr>
          <a:xfrm>
            <a:off x="2834289" y="2769382"/>
            <a:ext cx="41148" cy="41148"/>
          </a:xfrm>
          <a:prstGeom prst="ellipse">
            <a:avLst/>
          </a:prstGeom>
          <a:solidFill>
            <a:srgbClr val="FFFFFF"/>
          </a:solidFill>
          <a:ln w="7620">
            <a:solidFill>
              <a:srgbClr val="4F7A43"/>
            </a:solidFill>
            <a:prstDash val="solid"/>
          </a:ln>
        </p:spPr>
      </p:sp>
      <p:sp>
        <p:nvSpPr>
          <p:cNvPr id="68" name="Shape 66"/>
          <p:cNvSpPr/>
          <p:nvPr/>
        </p:nvSpPr>
        <p:spPr>
          <a:xfrm>
            <a:off x="2731413" y="2671955"/>
            <a:ext cx="41148" cy="41148"/>
          </a:xfrm>
          <a:prstGeom prst="ellipse">
            <a:avLst/>
          </a:prstGeom>
          <a:solidFill>
            <a:srgbClr val="FFFFFF"/>
          </a:solidFill>
          <a:ln w="7620">
            <a:solidFill>
              <a:srgbClr val="4F7A43"/>
            </a:solidFill>
            <a:prstDash val="solid"/>
          </a:ln>
        </p:spPr>
      </p:sp>
      <p:sp>
        <p:nvSpPr>
          <p:cNvPr id="69" name="Shape 67"/>
          <p:cNvSpPr/>
          <p:nvPr/>
        </p:nvSpPr>
        <p:spPr>
          <a:xfrm>
            <a:off x="2667724" y="2574562"/>
            <a:ext cx="41148" cy="41148"/>
          </a:xfrm>
          <a:prstGeom prst="ellipse">
            <a:avLst/>
          </a:prstGeom>
          <a:solidFill>
            <a:srgbClr val="FFFFFF"/>
          </a:solidFill>
          <a:ln w="7620">
            <a:solidFill>
              <a:srgbClr val="4F7A43"/>
            </a:solidFill>
            <a:prstDash val="solid"/>
          </a:ln>
        </p:spPr>
      </p:sp>
      <p:sp>
        <p:nvSpPr>
          <p:cNvPr id="70" name="Shape 68"/>
          <p:cNvSpPr/>
          <p:nvPr/>
        </p:nvSpPr>
        <p:spPr>
          <a:xfrm>
            <a:off x="2648787" y="2485713"/>
            <a:ext cx="41148" cy="41148"/>
          </a:xfrm>
          <a:prstGeom prst="ellipse">
            <a:avLst/>
          </a:prstGeom>
          <a:solidFill>
            <a:srgbClr val="FFFFFF"/>
          </a:solidFill>
          <a:ln w="7620">
            <a:solidFill>
              <a:srgbClr val="4F7A43"/>
            </a:solidFill>
            <a:prstDash val="solid"/>
          </a:ln>
        </p:spPr>
      </p:sp>
      <p:sp>
        <p:nvSpPr>
          <p:cNvPr id="71" name="Shape 69"/>
          <p:cNvSpPr/>
          <p:nvPr/>
        </p:nvSpPr>
        <p:spPr>
          <a:xfrm>
            <a:off x="2676259" y="2413172"/>
            <a:ext cx="41148" cy="41148"/>
          </a:xfrm>
          <a:prstGeom prst="ellipse">
            <a:avLst/>
          </a:prstGeom>
          <a:solidFill>
            <a:srgbClr val="FFFFFF"/>
          </a:solidFill>
          <a:ln w="7620">
            <a:solidFill>
              <a:srgbClr val="4F7A43"/>
            </a:solidFill>
            <a:prstDash val="solid"/>
          </a:ln>
        </p:spPr>
      </p:sp>
      <p:sp>
        <p:nvSpPr>
          <p:cNvPr id="72" name="Shape 70"/>
          <p:cNvSpPr/>
          <p:nvPr/>
        </p:nvSpPr>
        <p:spPr>
          <a:xfrm>
            <a:off x="2747737" y="2363280"/>
            <a:ext cx="41148" cy="41148"/>
          </a:xfrm>
          <a:prstGeom prst="ellipse">
            <a:avLst/>
          </a:prstGeom>
          <a:solidFill>
            <a:srgbClr val="FFFFFF"/>
          </a:solidFill>
          <a:ln w="7620">
            <a:solidFill>
              <a:srgbClr val="4F7A43"/>
            </a:solidFill>
            <a:prstDash val="solid"/>
          </a:ln>
        </p:spPr>
      </p:sp>
      <p:sp>
        <p:nvSpPr>
          <p:cNvPr id="73" name="Shape 71"/>
          <p:cNvSpPr/>
          <p:nvPr/>
        </p:nvSpPr>
        <p:spPr>
          <a:xfrm>
            <a:off x="2856976" y="2340397"/>
            <a:ext cx="41148" cy="41148"/>
          </a:xfrm>
          <a:prstGeom prst="ellipse">
            <a:avLst/>
          </a:prstGeom>
          <a:solidFill>
            <a:srgbClr val="FFFFFF"/>
          </a:solidFill>
          <a:ln w="7620">
            <a:solidFill>
              <a:srgbClr val="4F7A43"/>
            </a:solidFill>
            <a:prstDash val="solid"/>
          </a:ln>
        </p:spPr>
      </p:sp>
      <p:sp>
        <p:nvSpPr>
          <p:cNvPr id="74" name="Shape 72"/>
          <p:cNvSpPr/>
          <p:nvPr/>
        </p:nvSpPr>
        <p:spPr>
          <a:xfrm>
            <a:off x="2994429" y="2346521"/>
            <a:ext cx="41148" cy="41148"/>
          </a:xfrm>
          <a:prstGeom prst="ellipse">
            <a:avLst/>
          </a:prstGeom>
          <a:solidFill>
            <a:srgbClr val="FFFFFF"/>
          </a:solidFill>
          <a:ln w="7620">
            <a:solidFill>
              <a:srgbClr val="4F7A43"/>
            </a:solidFill>
            <a:prstDash val="solid"/>
          </a:ln>
        </p:spPr>
      </p:sp>
      <p:sp>
        <p:nvSpPr>
          <p:cNvPr id="75" name="Shape 73"/>
          <p:cNvSpPr/>
          <p:nvPr/>
        </p:nvSpPr>
        <p:spPr>
          <a:xfrm>
            <a:off x="3148083" y="2381119"/>
            <a:ext cx="41148" cy="41148"/>
          </a:xfrm>
          <a:prstGeom prst="ellipse">
            <a:avLst/>
          </a:prstGeom>
          <a:solidFill>
            <a:srgbClr val="FFFFFF"/>
          </a:solidFill>
          <a:ln w="7620">
            <a:solidFill>
              <a:srgbClr val="4F7A43"/>
            </a:solidFill>
            <a:prstDash val="solid"/>
          </a:ln>
        </p:spPr>
      </p:sp>
      <p:sp>
        <p:nvSpPr>
          <p:cNvPr id="76" name="Shape 74"/>
          <p:cNvSpPr/>
          <p:nvPr/>
        </p:nvSpPr>
        <p:spPr>
          <a:xfrm>
            <a:off x="3304512" y="2441166"/>
            <a:ext cx="41148" cy="41148"/>
          </a:xfrm>
          <a:prstGeom prst="ellipse">
            <a:avLst/>
          </a:prstGeom>
          <a:solidFill>
            <a:srgbClr val="FFFFFF"/>
          </a:solidFill>
          <a:ln w="7620">
            <a:solidFill>
              <a:srgbClr val="4F7A43"/>
            </a:solidFill>
            <a:prstDash val="solid"/>
          </a:ln>
        </p:spPr>
      </p:sp>
      <p:sp>
        <p:nvSpPr>
          <p:cNvPr id="77" name="Shape 75"/>
          <p:cNvSpPr/>
          <p:nvPr/>
        </p:nvSpPr>
        <p:spPr>
          <a:xfrm>
            <a:off x="3450044" y="2521415"/>
            <a:ext cx="41148" cy="41148"/>
          </a:xfrm>
          <a:prstGeom prst="ellipse">
            <a:avLst/>
          </a:prstGeom>
          <a:solidFill>
            <a:srgbClr val="FFFFFF"/>
          </a:solidFill>
          <a:ln w="7620">
            <a:solidFill>
              <a:srgbClr val="4F7A43"/>
            </a:solidFill>
            <a:prstDash val="solid"/>
          </a:ln>
        </p:spPr>
      </p:sp>
      <p:sp>
        <p:nvSpPr>
          <p:cNvPr id="78" name="Shape 76"/>
          <p:cNvSpPr/>
          <p:nvPr/>
        </p:nvSpPr>
        <p:spPr>
          <a:xfrm>
            <a:off x="3571962" y="2614852"/>
            <a:ext cx="41148" cy="41148"/>
          </a:xfrm>
          <a:prstGeom prst="ellipse">
            <a:avLst/>
          </a:prstGeom>
          <a:solidFill>
            <a:srgbClr val="FFFFFF"/>
          </a:solidFill>
          <a:ln w="7620">
            <a:solidFill>
              <a:srgbClr val="4F7A43"/>
            </a:solidFill>
            <a:prstDash val="solid"/>
          </a:ln>
        </p:spPr>
      </p:sp>
      <p:sp>
        <p:nvSpPr>
          <p:cNvPr id="79" name="Shape 77"/>
          <p:cNvSpPr/>
          <p:nvPr/>
        </p:nvSpPr>
        <p:spPr>
          <a:xfrm>
            <a:off x="3659611" y="2713313"/>
            <a:ext cx="41148" cy="41148"/>
          </a:xfrm>
          <a:prstGeom prst="ellipse">
            <a:avLst/>
          </a:prstGeom>
          <a:solidFill>
            <a:srgbClr val="FFFFFF"/>
          </a:solidFill>
          <a:ln w="7620">
            <a:solidFill>
              <a:srgbClr val="4F7A43"/>
            </a:solidFill>
            <a:prstDash val="solid"/>
          </a:ln>
        </p:spPr>
      </p:sp>
      <p:sp>
        <p:nvSpPr>
          <p:cNvPr id="80" name="Shape 78"/>
          <p:cNvSpPr/>
          <p:nvPr/>
        </p:nvSpPr>
        <p:spPr>
          <a:xfrm>
            <a:off x="3705331" y="2808193"/>
            <a:ext cx="41148" cy="41148"/>
          </a:xfrm>
          <a:prstGeom prst="ellipse">
            <a:avLst/>
          </a:prstGeom>
          <a:solidFill>
            <a:srgbClr val="FFFFFF"/>
          </a:solidFill>
          <a:ln w="7620">
            <a:solidFill>
              <a:srgbClr val="4F7A43"/>
            </a:solidFill>
            <a:prstDash val="solid"/>
          </a:ln>
        </p:spPr>
      </p:sp>
      <p:sp>
        <p:nvSpPr>
          <p:cNvPr id="81" name="Shape 79"/>
          <p:cNvSpPr/>
          <p:nvPr/>
        </p:nvSpPr>
        <p:spPr>
          <a:xfrm>
            <a:off x="3705127" y="2891200"/>
            <a:ext cx="41148" cy="41148"/>
          </a:xfrm>
          <a:prstGeom prst="ellipse">
            <a:avLst/>
          </a:prstGeom>
          <a:solidFill>
            <a:srgbClr val="FFFFFF"/>
          </a:solidFill>
          <a:ln w="7620">
            <a:solidFill>
              <a:srgbClr val="4F7A43"/>
            </a:solidFill>
            <a:prstDash val="solid"/>
          </a:ln>
        </p:spPr>
      </p:sp>
      <p:sp>
        <p:nvSpPr>
          <p:cNvPr id="82" name="Shape 80"/>
          <p:cNvSpPr/>
          <p:nvPr/>
        </p:nvSpPr>
        <p:spPr>
          <a:xfrm>
            <a:off x="2808408" y="2497364"/>
            <a:ext cx="774682" cy="579651"/>
          </a:xfrm>
          <a:custGeom>
            <a:avLst/>
            <a:gdLst/>
            <a:ahLst/>
            <a:cxnLst/>
            <a:rect l="l" t="t" r="r" b="b"/>
            <a:pathLst>
              <a:path w="774682" h="579651">
                <a:moveTo>
                  <a:pt x="774682" y="579651"/>
                </a:moveTo>
                <a:lnTo>
                  <a:pt x="696305" y="573212"/>
                </a:lnTo>
                <a:lnTo>
                  <a:pt x="615032" y="559062"/>
                </a:lnTo>
                <a:lnTo>
                  <a:pt x="532827" y="537850"/>
                </a:lnTo>
                <a:lnTo>
                  <a:pt x="451596" y="510361"/>
                </a:lnTo>
                <a:lnTo>
                  <a:pt x="373147" y="477494"/>
                </a:lnTo>
                <a:lnTo>
                  <a:pt x="299149" y="440239"/>
                </a:lnTo>
                <a:lnTo>
                  <a:pt x="231102" y="399643"/>
                </a:lnTo>
                <a:lnTo>
                  <a:pt x="170299" y="356791"/>
                </a:lnTo>
                <a:lnTo>
                  <a:pt x="117809" y="312772"/>
                </a:lnTo>
                <a:lnTo>
                  <a:pt x="74458" y="268658"/>
                </a:lnTo>
                <a:lnTo>
                  <a:pt x="40818" y="225475"/>
                </a:lnTo>
                <a:lnTo>
                  <a:pt x="17199" y="184179"/>
                </a:lnTo>
                <a:lnTo>
                  <a:pt x="3658" y="145639"/>
                </a:lnTo>
                <a:lnTo>
                  <a:pt x="0" y="110615"/>
                </a:lnTo>
                <a:lnTo>
                  <a:pt x="5800" y="79744"/>
                </a:lnTo>
                <a:lnTo>
                  <a:pt x="20417" y="53531"/>
                </a:lnTo>
                <a:lnTo>
                  <a:pt x="43021" y="32338"/>
                </a:lnTo>
                <a:lnTo>
                  <a:pt x="72622" y="16385"/>
                </a:lnTo>
                <a:lnTo>
                  <a:pt x="108103" y="5745"/>
                </a:lnTo>
                <a:lnTo>
                  <a:pt x="148251" y="350"/>
                </a:lnTo>
                <a:lnTo>
                  <a:pt x="191796" y="0"/>
                </a:lnTo>
                <a:lnTo>
                  <a:pt x="237445" y="4373"/>
                </a:lnTo>
                <a:lnTo>
                  <a:pt x="283918" y="13036"/>
                </a:lnTo>
                <a:lnTo>
                  <a:pt x="329984" y="25465"/>
                </a:lnTo>
                <a:lnTo>
                  <a:pt x="374491" y="41062"/>
                </a:lnTo>
                <a:lnTo>
                  <a:pt x="416392" y="59172"/>
                </a:lnTo>
                <a:lnTo>
                  <a:pt x="454777" y="79107"/>
                </a:lnTo>
                <a:lnTo>
                  <a:pt x="488886" y="100165"/>
                </a:lnTo>
                <a:lnTo>
                  <a:pt x="518130" y="121650"/>
                </a:lnTo>
                <a:lnTo>
                  <a:pt x="542097" y="142895"/>
                </a:lnTo>
                <a:lnTo>
                  <a:pt x="560564" y="163278"/>
                </a:lnTo>
                <a:lnTo>
                  <a:pt x="573487" y="182239"/>
                </a:lnTo>
                <a:lnTo>
                  <a:pt x="581005" y="199293"/>
                </a:lnTo>
                <a:lnTo>
                  <a:pt x="583423" y="214048"/>
                </a:lnTo>
                <a:lnTo>
                  <a:pt x="581200" y="226206"/>
                </a:lnTo>
                <a:lnTo>
                  <a:pt x="574930" y="235577"/>
                </a:lnTo>
                <a:lnTo>
                  <a:pt x="565315" y="242075"/>
                </a:lnTo>
                <a:lnTo>
                  <a:pt x="553146" y="245722"/>
                </a:lnTo>
                <a:lnTo>
                  <a:pt x="539268" y="246643"/>
                </a:lnTo>
                <a:lnTo>
                  <a:pt x="524555" y="245059"/>
                </a:lnTo>
              </a:path>
            </a:pathLst>
          </a:custGeom>
          <a:ln w="25400">
            <a:solidFill>
              <a:srgbClr val="C4262E"/>
            </a:solidFill>
            <a:prstDash val="solid"/>
            <a:tailEnd type="triangle"/>
          </a:ln>
        </p:spPr>
      </p:sp>
      <p:sp>
        <p:nvSpPr>
          <p:cNvPr id="83" name="Shape 81"/>
          <p:cNvSpPr/>
          <p:nvPr/>
        </p:nvSpPr>
        <p:spPr>
          <a:xfrm>
            <a:off x="3278099" y="2687559"/>
            <a:ext cx="109728" cy="109728"/>
          </a:xfrm>
          <a:prstGeom prst="ellipse">
            <a:avLst/>
          </a:prstGeom>
          <a:solidFill>
            <a:srgbClr val="FFFFFF"/>
          </a:solidFill>
          <a:ln w="19050">
            <a:solidFill>
              <a:srgbClr val="C4262E"/>
            </a:solidFill>
            <a:prstDash val="solid"/>
          </a:ln>
        </p:spPr>
      </p:sp>
      <p:sp>
        <p:nvSpPr>
          <p:cNvPr id="84" name="Shape 82"/>
          <p:cNvSpPr/>
          <p:nvPr/>
        </p:nvSpPr>
        <p:spPr>
          <a:xfrm>
            <a:off x="3561144" y="2930711"/>
            <a:ext cx="43891" cy="43891"/>
          </a:xfrm>
          <a:prstGeom prst="ellipse">
            <a:avLst/>
          </a:prstGeom>
          <a:solidFill>
            <a:srgbClr val="C4262E"/>
          </a:solidFill>
          <a:ln/>
        </p:spPr>
      </p:sp>
      <p:sp>
        <p:nvSpPr>
          <p:cNvPr id="85" name="Shape 83"/>
          <p:cNvSpPr/>
          <p:nvPr/>
        </p:nvSpPr>
        <p:spPr>
          <a:xfrm>
            <a:off x="3564070" y="2977528"/>
            <a:ext cx="38039" cy="99487"/>
          </a:xfrm>
          <a:prstGeom prst="roundRect">
            <a:avLst>
              <a:gd name="adj" fmla="val 48077"/>
            </a:avLst>
          </a:prstGeom>
          <a:solidFill>
            <a:srgbClr val="C4262E"/>
          </a:solidFill>
          <a:ln/>
        </p:spPr>
      </p:sp>
      <p:sp>
        <p:nvSpPr>
          <p:cNvPr id="86" name="Shape 84"/>
          <p:cNvSpPr/>
          <p:nvPr/>
        </p:nvSpPr>
        <p:spPr>
          <a:xfrm>
            <a:off x="410565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87" name="Shape 85"/>
          <p:cNvSpPr/>
          <p:nvPr/>
        </p:nvSpPr>
        <p:spPr>
          <a:xfrm>
            <a:off x="4206240" y="1627632"/>
            <a:ext cx="1828800" cy="1920240"/>
          </a:xfrm>
          <a:prstGeom prst="rect">
            <a:avLst/>
          </a:prstGeom>
          <a:solidFill>
            <a:srgbClr val="FFFFFF"/>
          </a:solidFill>
          <a:ln w="6350">
            <a:solidFill>
              <a:srgbClr val="D9D9D9"/>
            </a:solidFill>
            <a:prstDash val="solid"/>
          </a:ln>
        </p:spPr>
      </p:sp>
      <p:sp>
        <p:nvSpPr>
          <p:cNvPr id="88" name="Text 86"/>
          <p:cNvSpPr txBox="1"/>
          <p:nvPr/>
        </p:nvSpPr>
        <p:spPr>
          <a:xfrm>
            <a:off x="427939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03  </a:t>
            </a:r>
            <a:pPr indent="0" marL="0">
              <a:buNone/>
            </a:pPr>
            <a:r>
              <a:rPr lang="en-US" sz="750" b="1" spc="50" kern="0" dirty="0">
                <a:solidFill>
                  <a:srgbClr val="1B1B1B"/>
                </a:solidFill>
                <a:latin typeface="Arial" pitchFamily="34" charset="0"/>
                <a:ea typeface="Arial" pitchFamily="34" charset="-122"/>
                <a:cs typeface="Arial" pitchFamily="34" charset="-120"/>
              </a:rPr>
              <a:t>PROGRAM</a:t>
            </a:r>
            <a:endParaRPr lang="en-US" sz="750" dirty="0"/>
          </a:p>
        </p:txBody>
      </p:sp>
      <p:sp>
        <p:nvSpPr>
          <p:cNvPr id="89" name="Shape 87"/>
          <p:cNvSpPr/>
          <p:nvPr/>
        </p:nvSpPr>
        <p:spPr>
          <a:xfrm>
            <a:off x="4278318" y="1936365"/>
            <a:ext cx="1684644" cy="1055885"/>
          </a:xfrm>
          <a:custGeom>
            <a:avLst/>
            <a:gdLst/>
            <a:ahLst/>
            <a:cxnLst/>
            <a:rect l="l" t="t" r="r" b="b"/>
            <a:pathLst>
              <a:path w="1684644" h="1055885">
                <a:moveTo>
                  <a:pt x="1667538" y="895352"/>
                </a:moveTo>
                <a:lnTo>
                  <a:pt x="1645351" y="933019"/>
                </a:lnTo>
                <a:lnTo>
                  <a:pt x="1614366" y="966247"/>
                </a:lnTo>
                <a:lnTo>
                  <a:pt x="1574923" y="994673"/>
                </a:lnTo>
                <a:lnTo>
                  <a:pt x="1527453" y="1017985"/>
                </a:lnTo>
                <a:lnTo>
                  <a:pt x="1472476" y="1035929"/>
                </a:lnTo>
                <a:lnTo>
                  <a:pt x="1410595" y="1048306"/>
                </a:lnTo>
                <a:lnTo>
                  <a:pt x="1342488" y="1054983"/>
                </a:lnTo>
                <a:lnTo>
                  <a:pt x="1268902" y="1055885"/>
                </a:lnTo>
                <a:lnTo>
                  <a:pt x="1190641" y="1051003"/>
                </a:lnTo>
                <a:lnTo>
                  <a:pt x="1108564" y="1040390"/>
                </a:lnTo>
                <a:lnTo>
                  <a:pt x="1023571" y="1024163"/>
                </a:lnTo>
                <a:lnTo>
                  <a:pt x="936591" y="1002499"/>
                </a:lnTo>
                <a:lnTo>
                  <a:pt x="848579" y="975636"/>
                </a:lnTo>
                <a:lnTo>
                  <a:pt x="760498" y="943867"/>
                </a:lnTo>
                <a:lnTo>
                  <a:pt x="673313" y="907542"/>
                </a:lnTo>
                <a:lnTo>
                  <a:pt x="587981" y="867058"/>
                </a:lnTo>
                <a:lnTo>
                  <a:pt x="505435" y="822858"/>
                </a:lnTo>
                <a:lnTo>
                  <a:pt x="426580" y="775427"/>
                </a:lnTo>
                <a:lnTo>
                  <a:pt x="352279" y="725285"/>
                </a:lnTo>
                <a:lnTo>
                  <a:pt x="283348" y="672980"/>
                </a:lnTo>
                <a:lnTo>
                  <a:pt x="220541" y="619087"/>
                </a:lnTo>
                <a:lnTo>
                  <a:pt x="164547" y="564195"/>
                </a:lnTo>
                <a:lnTo>
                  <a:pt x="115978" y="508905"/>
                </a:lnTo>
                <a:lnTo>
                  <a:pt x="75367" y="453825"/>
                </a:lnTo>
                <a:lnTo>
                  <a:pt x="43160" y="399556"/>
                </a:lnTo>
                <a:lnTo>
                  <a:pt x="19708" y="346694"/>
                </a:lnTo>
                <a:lnTo>
                  <a:pt x="5268" y="295818"/>
                </a:lnTo>
                <a:lnTo>
                  <a:pt x="0" y="247485"/>
                </a:lnTo>
                <a:lnTo>
                  <a:pt x="3960" y="202224"/>
                </a:lnTo>
                <a:lnTo>
                  <a:pt x="17106" y="160533"/>
                </a:lnTo>
                <a:lnTo>
                  <a:pt x="39293" y="122866"/>
                </a:lnTo>
                <a:lnTo>
                  <a:pt x="70278" y="89638"/>
                </a:lnTo>
                <a:lnTo>
                  <a:pt x="109721" y="61212"/>
                </a:lnTo>
                <a:lnTo>
                  <a:pt x="157192" y="37900"/>
                </a:lnTo>
                <a:lnTo>
                  <a:pt x="212168" y="19957"/>
                </a:lnTo>
                <a:lnTo>
                  <a:pt x="274049" y="7579"/>
                </a:lnTo>
                <a:lnTo>
                  <a:pt x="342156" y="902"/>
                </a:lnTo>
                <a:lnTo>
                  <a:pt x="415742" y="0"/>
                </a:lnTo>
                <a:lnTo>
                  <a:pt x="494003" y="4882"/>
                </a:lnTo>
                <a:lnTo>
                  <a:pt x="576080" y="15495"/>
                </a:lnTo>
                <a:lnTo>
                  <a:pt x="661073" y="31722"/>
                </a:lnTo>
                <a:lnTo>
                  <a:pt x="748053" y="53386"/>
                </a:lnTo>
                <a:lnTo>
                  <a:pt x="836065" y="80249"/>
                </a:lnTo>
                <a:lnTo>
                  <a:pt x="924146" y="112018"/>
                </a:lnTo>
                <a:lnTo>
                  <a:pt x="1011331" y="148343"/>
                </a:lnTo>
                <a:lnTo>
                  <a:pt x="1096663" y="188827"/>
                </a:lnTo>
                <a:lnTo>
                  <a:pt x="1179209" y="233027"/>
                </a:lnTo>
                <a:lnTo>
                  <a:pt x="1258065" y="280458"/>
                </a:lnTo>
                <a:lnTo>
                  <a:pt x="1332365" y="330600"/>
                </a:lnTo>
                <a:lnTo>
                  <a:pt x="1401296" y="382905"/>
                </a:lnTo>
                <a:lnTo>
                  <a:pt x="1464103" y="436798"/>
                </a:lnTo>
                <a:lnTo>
                  <a:pt x="1520097" y="491690"/>
                </a:lnTo>
                <a:lnTo>
                  <a:pt x="1568666" y="546980"/>
                </a:lnTo>
                <a:lnTo>
                  <a:pt x="1609277" y="602060"/>
                </a:lnTo>
                <a:lnTo>
                  <a:pt x="1641484" y="656329"/>
                </a:lnTo>
                <a:lnTo>
                  <a:pt x="1664936" y="709191"/>
                </a:lnTo>
                <a:lnTo>
                  <a:pt x="1679376" y="760067"/>
                </a:lnTo>
                <a:lnTo>
                  <a:pt x="1684644" y="808401"/>
                </a:lnTo>
                <a:lnTo>
                  <a:pt x="1680684" y="853661"/>
                </a:lnTo>
                <a:close/>
              </a:path>
            </a:pathLst>
          </a:custGeom>
          <a:solidFill>
            <a:srgbClr val="E4E4E4"/>
          </a:solidFill>
          <a:ln w="12700"/>
        </p:spPr>
      </p:sp>
      <p:sp>
        <p:nvSpPr>
          <p:cNvPr id="90" name="Shape 88"/>
          <p:cNvSpPr/>
          <p:nvPr/>
        </p:nvSpPr>
        <p:spPr>
          <a:xfrm>
            <a:off x="4261104" y="2051178"/>
            <a:ext cx="34320" cy="45720"/>
          </a:xfrm>
          <a:custGeom>
            <a:avLst/>
            <a:gdLst/>
            <a:ahLst/>
            <a:cxnLst/>
            <a:rect l="l" t="t" r="r" b="b"/>
            <a:pathLst>
              <a:path w="34320" h="45720">
                <a:moveTo>
                  <a:pt x="34320" y="45720"/>
                </a:moveTo>
                <a:lnTo>
                  <a:pt x="0" y="0"/>
                </a:lnTo>
              </a:path>
            </a:pathLst>
          </a:custGeom>
          <a:ln w="76200">
            <a:solidFill>
              <a:srgbClr val="E4E4E4"/>
            </a:solidFill>
            <a:prstDash val="solid"/>
          </a:ln>
        </p:spPr>
      </p:sp>
      <p:sp>
        <p:nvSpPr>
          <p:cNvPr id="91" name="Shape 89"/>
          <p:cNvSpPr/>
          <p:nvPr/>
        </p:nvSpPr>
        <p:spPr>
          <a:xfrm>
            <a:off x="5945856" y="2831718"/>
            <a:ext cx="34320" cy="45720"/>
          </a:xfrm>
          <a:custGeom>
            <a:avLst/>
            <a:gdLst/>
            <a:ahLst/>
            <a:cxnLst/>
            <a:rect l="l" t="t" r="r" b="b"/>
            <a:pathLst>
              <a:path w="34320" h="45720">
                <a:moveTo>
                  <a:pt x="0" y="0"/>
                </a:moveTo>
                <a:lnTo>
                  <a:pt x="34320" y="45720"/>
                </a:lnTo>
              </a:path>
            </a:pathLst>
          </a:custGeom>
          <a:ln w="76200">
            <a:solidFill>
              <a:srgbClr val="E4E4E4"/>
            </a:solidFill>
            <a:prstDash val="solid"/>
          </a:ln>
        </p:spPr>
      </p:sp>
      <p:sp>
        <p:nvSpPr>
          <p:cNvPr id="92" name="Shape 90"/>
          <p:cNvSpPr/>
          <p:nvPr/>
        </p:nvSpPr>
        <p:spPr>
          <a:xfrm>
            <a:off x="4418705" y="2024356"/>
            <a:ext cx="1403870" cy="879904"/>
          </a:xfrm>
          <a:custGeom>
            <a:avLst/>
            <a:gdLst/>
            <a:ahLst/>
            <a:cxnLst/>
            <a:rect l="l" t="t" r="r" b="b"/>
            <a:pathLst>
              <a:path w="1403870" h="879904">
                <a:moveTo>
                  <a:pt x="1389615" y="746127"/>
                </a:moveTo>
                <a:lnTo>
                  <a:pt x="1371126" y="777516"/>
                </a:lnTo>
                <a:lnTo>
                  <a:pt x="1345305" y="805206"/>
                </a:lnTo>
                <a:lnTo>
                  <a:pt x="1312436" y="828894"/>
                </a:lnTo>
                <a:lnTo>
                  <a:pt x="1272877" y="848321"/>
                </a:lnTo>
                <a:lnTo>
                  <a:pt x="1227063" y="863274"/>
                </a:lnTo>
                <a:lnTo>
                  <a:pt x="1175496" y="873589"/>
                </a:lnTo>
                <a:lnTo>
                  <a:pt x="1118740" y="879152"/>
                </a:lnTo>
                <a:lnTo>
                  <a:pt x="1057418" y="879904"/>
                </a:lnTo>
                <a:lnTo>
                  <a:pt x="992201" y="875836"/>
                </a:lnTo>
                <a:lnTo>
                  <a:pt x="923804" y="866992"/>
                </a:lnTo>
                <a:lnTo>
                  <a:pt x="852976" y="853469"/>
                </a:lnTo>
                <a:lnTo>
                  <a:pt x="780493" y="835416"/>
                </a:lnTo>
                <a:lnTo>
                  <a:pt x="707149" y="813030"/>
                </a:lnTo>
                <a:lnTo>
                  <a:pt x="633748" y="786556"/>
                </a:lnTo>
                <a:lnTo>
                  <a:pt x="561095" y="756285"/>
                </a:lnTo>
                <a:lnTo>
                  <a:pt x="489984" y="722548"/>
                </a:lnTo>
                <a:lnTo>
                  <a:pt x="421196" y="685715"/>
                </a:lnTo>
                <a:lnTo>
                  <a:pt x="355483" y="646189"/>
                </a:lnTo>
                <a:lnTo>
                  <a:pt x="293566" y="604404"/>
                </a:lnTo>
                <a:lnTo>
                  <a:pt x="236124" y="560817"/>
                </a:lnTo>
                <a:lnTo>
                  <a:pt x="183784" y="515906"/>
                </a:lnTo>
                <a:lnTo>
                  <a:pt x="137122" y="470162"/>
                </a:lnTo>
                <a:lnTo>
                  <a:pt x="96648" y="424088"/>
                </a:lnTo>
                <a:lnTo>
                  <a:pt x="62806" y="378187"/>
                </a:lnTo>
                <a:lnTo>
                  <a:pt x="35966" y="332963"/>
                </a:lnTo>
                <a:lnTo>
                  <a:pt x="16423" y="288912"/>
                </a:lnTo>
                <a:lnTo>
                  <a:pt x="4390" y="246515"/>
                </a:lnTo>
                <a:lnTo>
                  <a:pt x="0" y="206237"/>
                </a:lnTo>
                <a:lnTo>
                  <a:pt x="3300" y="168520"/>
                </a:lnTo>
                <a:lnTo>
                  <a:pt x="14255" y="133777"/>
                </a:lnTo>
                <a:lnTo>
                  <a:pt x="32744" y="102389"/>
                </a:lnTo>
                <a:lnTo>
                  <a:pt x="58565" y="74699"/>
                </a:lnTo>
                <a:lnTo>
                  <a:pt x="91434" y="51010"/>
                </a:lnTo>
                <a:lnTo>
                  <a:pt x="130993" y="31583"/>
                </a:lnTo>
                <a:lnTo>
                  <a:pt x="176807" y="16630"/>
                </a:lnTo>
                <a:lnTo>
                  <a:pt x="228374" y="6316"/>
                </a:lnTo>
                <a:lnTo>
                  <a:pt x="285130" y="752"/>
                </a:lnTo>
                <a:lnTo>
                  <a:pt x="346452" y="0"/>
                </a:lnTo>
                <a:lnTo>
                  <a:pt x="411669" y="4068"/>
                </a:lnTo>
                <a:lnTo>
                  <a:pt x="480066" y="12912"/>
                </a:lnTo>
                <a:lnTo>
                  <a:pt x="550894" y="26435"/>
                </a:lnTo>
                <a:lnTo>
                  <a:pt x="623377" y="44488"/>
                </a:lnTo>
                <a:lnTo>
                  <a:pt x="696721" y="66875"/>
                </a:lnTo>
                <a:lnTo>
                  <a:pt x="770122" y="93348"/>
                </a:lnTo>
                <a:lnTo>
                  <a:pt x="842775" y="123619"/>
                </a:lnTo>
                <a:lnTo>
                  <a:pt x="913886" y="157356"/>
                </a:lnTo>
                <a:lnTo>
                  <a:pt x="982675" y="194189"/>
                </a:lnTo>
                <a:lnTo>
                  <a:pt x="1048387" y="233715"/>
                </a:lnTo>
                <a:lnTo>
                  <a:pt x="1110304" y="275500"/>
                </a:lnTo>
                <a:lnTo>
                  <a:pt x="1167747" y="319087"/>
                </a:lnTo>
                <a:lnTo>
                  <a:pt x="1220086" y="363999"/>
                </a:lnTo>
                <a:lnTo>
                  <a:pt x="1266748" y="409742"/>
                </a:lnTo>
                <a:lnTo>
                  <a:pt x="1307222" y="455816"/>
                </a:lnTo>
                <a:lnTo>
                  <a:pt x="1341064" y="501717"/>
                </a:lnTo>
                <a:lnTo>
                  <a:pt x="1367904" y="546941"/>
                </a:lnTo>
                <a:lnTo>
                  <a:pt x="1387447" y="590993"/>
                </a:lnTo>
                <a:lnTo>
                  <a:pt x="1399480" y="633390"/>
                </a:lnTo>
                <a:lnTo>
                  <a:pt x="1403870" y="673667"/>
                </a:lnTo>
                <a:lnTo>
                  <a:pt x="1400570" y="711384"/>
                </a:lnTo>
                <a:close/>
              </a:path>
            </a:pathLst>
          </a:custGeom>
          <a:solidFill>
            <a:srgbClr val="FFFFFF"/>
          </a:solidFill>
          <a:ln w="19050">
            <a:solidFill>
              <a:srgbClr val="1B1B1B"/>
            </a:solidFill>
            <a:prstDash val="solid"/>
          </a:ln>
        </p:spPr>
      </p:sp>
      <p:sp>
        <p:nvSpPr>
          <p:cNvPr id="93" name="Shape 91"/>
          <p:cNvSpPr/>
          <p:nvPr/>
        </p:nvSpPr>
        <p:spPr>
          <a:xfrm>
            <a:off x="4691057" y="2162343"/>
            <a:ext cx="1010786" cy="633531"/>
          </a:xfrm>
          <a:custGeom>
            <a:avLst/>
            <a:gdLst/>
            <a:ahLst/>
            <a:cxnLst/>
            <a:rect l="l" t="t" r="r" b="b"/>
            <a:pathLst>
              <a:path w="1010786" h="633531">
                <a:moveTo>
                  <a:pt x="1000523" y="537211"/>
                </a:moveTo>
                <a:lnTo>
                  <a:pt x="987211" y="559811"/>
                </a:lnTo>
                <a:lnTo>
                  <a:pt x="968620" y="579748"/>
                </a:lnTo>
                <a:lnTo>
                  <a:pt x="944954" y="596804"/>
                </a:lnTo>
                <a:lnTo>
                  <a:pt x="916472" y="610791"/>
                </a:lnTo>
                <a:lnTo>
                  <a:pt x="883486" y="621557"/>
                </a:lnTo>
                <a:lnTo>
                  <a:pt x="846357" y="628984"/>
                </a:lnTo>
                <a:lnTo>
                  <a:pt x="805493" y="632990"/>
                </a:lnTo>
                <a:lnTo>
                  <a:pt x="761341" y="633531"/>
                </a:lnTo>
                <a:lnTo>
                  <a:pt x="714385" y="630602"/>
                </a:lnTo>
                <a:lnTo>
                  <a:pt x="665139" y="624234"/>
                </a:lnTo>
                <a:lnTo>
                  <a:pt x="614142" y="614498"/>
                </a:lnTo>
                <a:lnTo>
                  <a:pt x="561955" y="601499"/>
                </a:lnTo>
                <a:lnTo>
                  <a:pt x="509147" y="585381"/>
                </a:lnTo>
                <a:lnTo>
                  <a:pt x="456299" y="566320"/>
                </a:lnTo>
                <a:lnTo>
                  <a:pt x="403988" y="544525"/>
                </a:lnTo>
                <a:lnTo>
                  <a:pt x="352788" y="520235"/>
                </a:lnTo>
                <a:lnTo>
                  <a:pt x="303261" y="493715"/>
                </a:lnTo>
                <a:lnTo>
                  <a:pt x="255948" y="465256"/>
                </a:lnTo>
                <a:lnTo>
                  <a:pt x="211368" y="435171"/>
                </a:lnTo>
                <a:lnTo>
                  <a:pt x="170009" y="403788"/>
                </a:lnTo>
                <a:lnTo>
                  <a:pt x="132325" y="371452"/>
                </a:lnTo>
                <a:lnTo>
                  <a:pt x="98728" y="338517"/>
                </a:lnTo>
                <a:lnTo>
                  <a:pt x="69587" y="305343"/>
                </a:lnTo>
                <a:lnTo>
                  <a:pt x="45220" y="272295"/>
                </a:lnTo>
                <a:lnTo>
                  <a:pt x="25896" y="239734"/>
                </a:lnTo>
                <a:lnTo>
                  <a:pt x="11825" y="208016"/>
                </a:lnTo>
                <a:lnTo>
                  <a:pt x="3161" y="177491"/>
                </a:lnTo>
                <a:lnTo>
                  <a:pt x="0" y="148491"/>
                </a:lnTo>
                <a:lnTo>
                  <a:pt x="2376" y="121335"/>
                </a:lnTo>
                <a:lnTo>
                  <a:pt x="10264" y="96320"/>
                </a:lnTo>
                <a:lnTo>
                  <a:pt x="23576" y="73720"/>
                </a:lnTo>
                <a:lnTo>
                  <a:pt x="42167" y="53783"/>
                </a:lnTo>
                <a:lnTo>
                  <a:pt x="65833" y="36727"/>
                </a:lnTo>
                <a:lnTo>
                  <a:pt x="94315" y="22740"/>
                </a:lnTo>
                <a:lnTo>
                  <a:pt x="127301" y="11974"/>
                </a:lnTo>
                <a:lnTo>
                  <a:pt x="164429" y="4547"/>
                </a:lnTo>
                <a:lnTo>
                  <a:pt x="205293" y="541"/>
                </a:lnTo>
                <a:lnTo>
                  <a:pt x="249445" y="0"/>
                </a:lnTo>
                <a:lnTo>
                  <a:pt x="296402" y="2929"/>
                </a:lnTo>
                <a:lnTo>
                  <a:pt x="345648" y="9297"/>
                </a:lnTo>
                <a:lnTo>
                  <a:pt x="396644" y="19033"/>
                </a:lnTo>
                <a:lnTo>
                  <a:pt x="448832" y="32032"/>
                </a:lnTo>
                <a:lnTo>
                  <a:pt x="501639" y="48150"/>
                </a:lnTo>
                <a:lnTo>
                  <a:pt x="554488" y="67211"/>
                </a:lnTo>
                <a:lnTo>
                  <a:pt x="606798" y="89006"/>
                </a:lnTo>
                <a:lnTo>
                  <a:pt x="657998" y="113296"/>
                </a:lnTo>
                <a:lnTo>
                  <a:pt x="707526" y="139816"/>
                </a:lnTo>
                <a:lnTo>
                  <a:pt x="754839" y="168275"/>
                </a:lnTo>
                <a:lnTo>
                  <a:pt x="799419" y="198360"/>
                </a:lnTo>
                <a:lnTo>
                  <a:pt x="840777" y="229743"/>
                </a:lnTo>
                <a:lnTo>
                  <a:pt x="878462" y="262079"/>
                </a:lnTo>
                <a:lnTo>
                  <a:pt x="912058" y="295014"/>
                </a:lnTo>
                <a:lnTo>
                  <a:pt x="941200" y="328188"/>
                </a:lnTo>
                <a:lnTo>
                  <a:pt x="965566" y="361236"/>
                </a:lnTo>
                <a:lnTo>
                  <a:pt x="984891" y="393797"/>
                </a:lnTo>
                <a:lnTo>
                  <a:pt x="998962" y="425515"/>
                </a:lnTo>
                <a:lnTo>
                  <a:pt x="1007625" y="456040"/>
                </a:lnTo>
                <a:lnTo>
                  <a:pt x="1010786" y="485040"/>
                </a:lnTo>
                <a:lnTo>
                  <a:pt x="1008410" y="512196"/>
                </a:lnTo>
                <a:close/>
              </a:path>
            </a:pathLst>
          </a:custGeom>
          <a:ln w="6350">
            <a:solidFill>
              <a:srgbClr val="4F7A43"/>
            </a:solidFill>
            <a:prstDash val="dash"/>
          </a:ln>
        </p:spPr>
      </p:sp>
      <p:sp>
        <p:nvSpPr>
          <p:cNvPr id="94" name="Shape 92"/>
          <p:cNvSpPr/>
          <p:nvPr/>
        </p:nvSpPr>
        <p:spPr>
          <a:xfrm>
            <a:off x="4873560" y="2276731"/>
            <a:ext cx="645780" cy="404756"/>
          </a:xfrm>
          <a:custGeom>
            <a:avLst/>
            <a:gdLst/>
            <a:ahLst/>
            <a:cxnLst/>
            <a:rect l="l" t="t" r="r" b="b"/>
            <a:pathLst>
              <a:path w="645780" h="404756">
                <a:moveTo>
                  <a:pt x="639223" y="343218"/>
                </a:moveTo>
                <a:lnTo>
                  <a:pt x="630718" y="357657"/>
                </a:lnTo>
                <a:lnTo>
                  <a:pt x="618840" y="370395"/>
                </a:lnTo>
                <a:lnTo>
                  <a:pt x="603720" y="381291"/>
                </a:lnTo>
                <a:lnTo>
                  <a:pt x="585523" y="390228"/>
                </a:lnTo>
                <a:lnTo>
                  <a:pt x="564449" y="397106"/>
                </a:lnTo>
                <a:lnTo>
                  <a:pt x="540728" y="401851"/>
                </a:lnTo>
                <a:lnTo>
                  <a:pt x="514621" y="404410"/>
                </a:lnTo>
                <a:lnTo>
                  <a:pt x="486412" y="404756"/>
                </a:lnTo>
                <a:lnTo>
                  <a:pt x="456412" y="402885"/>
                </a:lnTo>
                <a:lnTo>
                  <a:pt x="424950" y="398816"/>
                </a:lnTo>
                <a:lnTo>
                  <a:pt x="392369" y="392596"/>
                </a:lnTo>
                <a:lnTo>
                  <a:pt x="359027" y="384291"/>
                </a:lnTo>
                <a:lnTo>
                  <a:pt x="325289" y="373994"/>
                </a:lnTo>
                <a:lnTo>
                  <a:pt x="291524" y="361816"/>
                </a:lnTo>
                <a:lnTo>
                  <a:pt x="258104" y="347891"/>
                </a:lnTo>
                <a:lnTo>
                  <a:pt x="225393" y="332372"/>
                </a:lnTo>
                <a:lnTo>
                  <a:pt x="193750" y="315429"/>
                </a:lnTo>
                <a:lnTo>
                  <a:pt x="163522" y="297247"/>
                </a:lnTo>
                <a:lnTo>
                  <a:pt x="135040" y="278026"/>
                </a:lnTo>
                <a:lnTo>
                  <a:pt x="108617" y="257976"/>
                </a:lnTo>
                <a:lnTo>
                  <a:pt x="84541" y="237317"/>
                </a:lnTo>
                <a:lnTo>
                  <a:pt x="63076" y="216275"/>
                </a:lnTo>
                <a:lnTo>
                  <a:pt x="44458" y="195080"/>
                </a:lnTo>
                <a:lnTo>
                  <a:pt x="28891" y="173966"/>
                </a:lnTo>
                <a:lnTo>
                  <a:pt x="16545" y="153163"/>
                </a:lnTo>
                <a:lnTo>
                  <a:pt x="7555" y="132899"/>
                </a:lnTo>
                <a:lnTo>
                  <a:pt x="2020" y="113397"/>
                </a:lnTo>
                <a:lnTo>
                  <a:pt x="0" y="94869"/>
                </a:lnTo>
                <a:lnTo>
                  <a:pt x="1518" y="77519"/>
                </a:lnTo>
                <a:lnTo>
                  <a:pt x="6557" y="61538"/>
                </a:lnTo>
                <a:lnTo>
                  <a:pt x="15062" y="47099"/>
                </a:lnTo>
                <a:lnTo>
                  <a:pt x="26940" y="34361"/>
                </a:lnTo>
                <a:lnTo>
                  <a:pt x="42060" y="23465"/>
                </a:lnTo>
                <a:lnTo>
                  <a:pt x="60257" y="14528"/>
                </a:lnTo>
                <a:lnTo>
                  <a:pt x="81331" y="7650"/>
                </a:lnTo>
                <a:lnTo>
                  <a:pt x="105052" y="2905"/>
                </a:lnTo>
                <a:lnTo>
                  <a:pt x="131160" y="346"/>
                </a:lnTo>
                <a:lnTo>
                  <a:pt x="159368" y="0"/>
                </a:lnTo>
                <a:lnTo>
                  <a:pt x="189368" y="1871"/>
                </a:lnTo>
                <a:lnTo>
                  <a:pt x="220831" y="5940"/>
                </a:lnTo>
                <a:lnTo>
                  <a:pt x="253411" y="12160"/>
                </a:lnTo>
                <a:lnTo>
                  <a:pt x="286754" y="20465"/>
                </a:lnTo>
                <a:lnTo>
                  <a:pt x="320492" y="30762"/>
                </a:lnTo>
                <a:lnTo>
                  <a:pt x="354256" y="42940"/>
                </a:lnTo>
                <a:lnTo>
                  <a:pt x="387677" y="56865"/>
                </a:lnTo>
                <a:lnTo>
                  <a:pt x="420388" y="72384"/>
                </a:lnTo>
                <a:lnTo>
                  <a:pt x="452030" y="89327"/>
                </a:lnTo>
                <a:lnTo>
                  <a:pt x="482258" y="107509"/>
                </a:lnTo>
                <a:lnTo>
                  <a:pt x="510740" y="126730"/>
                </a:lnTo>
                <a:lnTo>
                  <a:pt x="537163" y="146780"/>
                </a:lnTo>
                <a:lnTo>
                  <a:pt x="561239" y="167439"/>
                </a:lnTo>
                <a:lnTo>
                  <a:pt x="582704" y="188481"/>
                </a:lnTo>
                <a:lnTo>
                  <a:pt x="601322" y="209676"/>
                </a:lnTo>
                <a:lnTo>
                  <a:pt x="616889" y="230790"/>
                </a:lnTo>
                <a:lnTo>
                  <a:pt x="629236" y="251593"/>
                </a:lnTo>
                <a:lnTo>
                  <a:pt x="638226" y="271857"/>
                </a:lnTo>
                <a:lnTo>
                  <a:pt x="643761" y="291359"/>
                </a:lnTo>
                <a:lnTo>
                  <a:pt x="645780" y="309887"/>
                </a:lnTo>
                <a:lnTo>
                  <a:pt x="644262" y="327237"/>
                </a:lnTo>
                <a:close/>
              </a:path>
            </a:pathLst>
          </a:custGeom>
          <a:ln w="6350">
            <a:solidFill>
              <a:srgbClr val="4F7A43"/>
            </a:solidFill>
            <a:prstDash val="dash"/>
          </a:ln>
        </p:spPr>
      </p:sp>
      <p:sp>
        <p:nvSpPr>
          <p:cNvPr id="95" name="Shape 93"/>
          <p:cNvSpPr/>
          <p:nvPr/>
        </p:nvSpPr>
        <p:spPr>
          <a:xfrm>
            <a:off x="5042024" y="2382319"/>
            <a:ext cx="308851" cy="193579"/>
          </a:xfrm>
          <a:custGeom>
            <a:avLst/>
            <a:gdLst/>
            <a:ahLst/>
            <a:cxnLst/>
            <a:rect l="l" t="t" r="r" b="b"/>
            <a:pathLst>
              <a:path w="308851" h="193579">
                <a:moveTo>
                  <a:pt x="305715" y="164148"/>
                </a:moveTo>
                <a:lnTo>
                  <a:pt x="301648" y="171053"/>
                </a:lnTo>
                <a:lnTo>
                  <a:pt x="295967" y="177145"/>
                </a:lnTo>
                <a:lnTo>
                  <a:pt x="288736" y="182357"/>
                </a:lnTo>
                <a:lnTo>
                  <a:pt x="280033" y="186631"/>
                </a:lnTo>
                <a:lnTo>
                  <a:pt x="269954" y="189920"/>
                </a:lnTo>
                <a:lnTo>
                  <a:pt x="258609" y="192189"/>
                </a:lnTo>
                <a:lnTo>
                  <a:pt x="246123" y="193414"/>
                </a:lnTo>
                <a:lnTo>
                  <a:pt x="232632" y="193579"/>
                </a:lnTo>
                <a:lnTo>
                  <a:pt x="218284" y="192684"/>
                </a:lnTo>
                <a:lnTo>
                  <a:pt x="203237" y="190738"/>
                </a:lnTo>
                <a:lnTo>
                  <a:pt x="187655" y="187763"/>
                </a:lnTo>
                <a:lnTo>
                  <a:pt x="171708" y="183791"/>
                </a:lnTo>
                <a:lnTo>
                  <a:pt x="155573" y="178867"/>
                </a:lnTo>
                <a:lnTo>
                  <a:pt x="139425" y="173042"/>
                </a:lnTo>
                <a:lnTo>
                  <a:pt x="123441" y="166383"/>
                </a:lnTo>
                <a:lnTo>
                  <a:pt x="107796" y="158961"/>
                </a:lnTo>
                <a:lnTo>
                  <a:pt x="92663" y="150857"/>
                </a:lnTo>
                <a:lnTo>
                  <a:pt x="78206" y="142162"/>
                </a:lnTo>
                <a:lnTo>
                  <a:pt x="64585" y="132969"/>
                </a:lnTo>
                <a:lnTo>
                  <a:pt x="51947" y="123380"/>
                </a:lnTo>
                <a:lnTo>
                  <a:pt x="40433" y="113499"/>
                </a:lnTo>
                <a:lnTo>
                  <a:pt x="30167" y="103436"/>
                </a:lnTo>
                <a:lnTo>
                  <a:pt x="21263" y="93299"/>
                </a:lnTo>
                <a:lnTo>
                  <a:pt x="13817" y="83201"/>
                </a:lnTo>
                <a:lnTo>
                  <a:pt x="7913" y="73252"/>
                </a:lnTo>
                <a:lnTo>
                  <a:pt x="3613" y="63561"/>
                </a:lnTo>
                <a:lnTo>
                  <a:pt x="966" y="54233"/>
                </a:lnTo>
                <a:lnTo>
                  <a:pt x="0" y="45372"/>
                </a:lnTo>
                <a:lnTo>
                  <a:pt x="726" y="37074"/>
                </a:lnTo>
                <a:lnTo>
                  <a:pt x="3136" y="29431"/>
                </a:lnTo>
                <a:lnTo>
                  <a:pt x="7204" y="22526"/>
                </a:lnTo>
                <a:lnTo>
                  <a:pt x="12884" y="16434"/>
                </a:lnTo>
                <a:lnTo>
                  <a:pt x="20116" y="11222"/>
                </a:lnTo>
                <a:lnTo>
                  <a:pt x="28818" y="6948"/>
                </a:lnTo>
                <a:lnTo>
                  <a:pt x="38897" y="3659"/>
                </a:lnTo>
                <a:lnTo>
                  <a:pt x="50242" y="1389"/>
                </a:lnTo>
                <a:lnTo>
                  <a:pt x="62729" y="165"/>
                </a:lnTo>
                <a:lnTo>
                  <a:pt x="76219" y="0"/>
                </a:lnTo>
                <a:lnTo>
                  <a:pt x="90567" y="895"/>
                </a:lnTo>
                <a:lnTo>
                  <a:pt x="105615" y="2841"/>
                </a:lnTo>
                <a:lnTo>
                  <a:pt x="121197" y="5816"/>
                </a:lnTo>
                <a:lnTo>
                  <a:pt x="137143" y="9787"/>
                </a:lnTo>
                <a:lnTo>
                  <a:pt x="153279" y="14712"/>
                </a:lnTo>
                <a:lnTo>
                  <a:pt x="169427" y="20537"/>
                </a:lnTo>
                <a:lnTo>
                  <a:pt x="185411" y="27196"/>
                </a:lnTo>
                <a:lnTo>
                  <a:pt x="201055" y="34618"/>
                </a:lnTo>
                <a:lnTo>
                  <a:pt x="216188" y="42722"/>
                </a:lnTo>
                <a:lnTo>
                  <a:pt x="230645" y="51417"/>
                </a:lnTo>
                <a:lnTo>
                  <a:pt x="244267" y="60610"/>
                </a:lnTo>
                <a:lnTo>
                  <a:pt x="256904" y="70199"/>
                </a:lnTo>
                <a:lnTo>
                  <a:pt x="268419" y="80080"/>
                </a:lnTo>
                <a:lnTo>
                  <a:pt x="278684" y="90143"/>
                </a:lnTo>
                <a:lnTo>
                  <a:pt x="287589" y="100280"/>
                </a:lnTo>
                <a:lnTo>
                  <a:pt x="295034" y="110378"/>
                </a:lnTo>
                <a:lnTo>
                  <a:pt x="300939" y="120327"/>
                </a:lnTo>
                <a:lnTo>
                  <a:pt x="305238" y="130018"/>
                </a:lnTo>
                <a:lnTo>
                  <a:pt x="307886" y="139346"/>
                </a:lnTo>
                <a:lnTo>
                  <a:pt x="308851" y="148207"/>
                </a:lnTo>
                <a:lnTo>
                  <a:pt x="308125" y="156504"/>
                </a:lnTo>
                <a:close/>
              </a:path>
            </a:pathLst>
          </a:custGeom>
          <a:ln w="6350">
            <a:solidFill>
              <a:srgbClr val="4F7A43"/>
            </a:solidFill>
            <a:prstDash val="dash"/>
          </a:ln>
        </p:spPr>
      </p:sp>
      <p:sp>
        <p:nvSpPr>
          <p:cNvPr id="96" name="Shape 94"/>
          <p:cNvSpPr/>
          <p:nvPr/>
        </p:nvSpPr>
        <p:spPr>
          <a:xfrm>
            <a:off x="4664835" y="2236931"/>
            <a:ext cx="900793" cy="674013"/>
          </a:xfrm>
          <a:custGeom>
            <a:avLst/>
            <a:gdLst/>
            <a:ahLst/>
            <a:cxnLst/>
            <a:rect l="l" t="t" r="r" b="b"/>
            <a:pathLst>
              <a:path w="900793" h="674013">
                <a:moveTo>
                  <a:pt x="900793" y="674013"/>
                </a:moveTo>
                <a:lnTo>
                  <a:pt x="809657" y="666526"/>
                </a:lnTo>
                <a:lnTo>
                  <a:pt x="715154" y="650072"/>
                </a:lnTo>
                <a:lnTo>
                  <a:pt x="619566" y="625407"/>
                </a:lnTo>
                <a:lnTo>
                  <a:pt x="525112" y="593443"/>
                </a:lnTo>
                <a:lnTo>
                  <a:pt x="433892" y="555226"/>
                </a:lnTo>
                <a:lnTo>
                  <a:pt x="347848" y="511906"/>
                </a:lnTo>
                <a:lnTo>
                  <a:pt x="268723" y="464701"/>
                </a:lnTo>
                <a:lnTo>
                  <a:pt x="198022" y="414873"/>
                </a:lnTo>
                <a:lnTo>
                  <a:pt x="136987" y="363689"/>
                </a:lnTo>
                <a:lnTo>
                  <a:pt x="86580" y="312394"/>
                </a:lnTo>
                <a:lnTo>
                  <a:pt x="47463" y="262180"/>
                </a:lnTo>
                <a:lnTo>
                  <a:pt x="19999" y="214162"/>
                </a:lnTo>
                <a:lnTo>
                  <a:pt x="4253" y="169348"/>
                </a:lnTo>
                <a:lnTo>
                  <a:pt x="0" y="128622"/>
                </a:lnTo>
                <a:lnTo>
                  <a:pt x="6744" y="92725"/>
                </a:lnTo>
                <a:lnTo>
                  <a:pt x="23740" y="62245"/>
                </a:lnTo>
                <a:lnTo>
                  <a:pt x="50024" y="37603"/>
                </a:lnTo>
                <a:lnTo>
                  <a:pt x="84444" y="19053"/>
                </a:lnTo>
                <a:lnTo>
                  <a:pt x="125701" y="6680"/>
                </a:lnTo>
                <a:lnTo>
                  <a:pt x="172385" y="407"/>
                </a:lnTo>
                <a:lnTo>
                  <a:pt x="223018" y="0"/>
                </a:lnTo>
                <a:lnTo>
                  <a:pt x="276098" y="5084"/>
                </a:lnTo>
                <a:lnTo>
                  <a:pt x="330137" y="15158"/>
                </a:lnTo>
                <a:lnTo>
                  <a:pt x="383703" y="29611"/>
                </a:lnTo>
                <a:lnTo>
                  <a:pt x="435454" y="47747"/>
                </a:lnTo>
                <a:lnTo>
                  <a:pt x="484177" y="68805"/>
                </a:lnTo>
                <a:lnTo>
                  <a:pt x="528810" y="91985"/>
                </a:lnTo>
                <a:lnTo>
                  <a:pt x="568472" y="116471"/>
                </a:lnTo>
                <a:lnTo>
                  <a:pt x="602476" y="141454"/>
                </a:lnTo>
                <a:lnTo>
                  <a:pt x="630346" y="166158"/>
                </a:lnTo>
                <a:lnTo>
                  <a:pt x="651818" y="189859"/>
                </a:lnTo>
                <a:lnTo>
                  <a:pt x="666845" y="211905"/>
                </a:lnTo>
                <a:lnTo>
                  <a:pt x="675587" y="231736"/>
                </a:lnTo>
                <a:lnTo>
                  <a:pt x="678399" y="248893"/>
                </a:lnTo>
                <a:lnTo>
                  <a:pt x="675814" y="263031"/>
                </a:lnTo>
                <a:lnTo>
                  <a:pt x="668523" y="273927"/>
                </a:lnTo>
                <a:lnTo>
                  <a:pt x="657343" y="281483"/>
                </a:lnTo>
                <a:lnTo>
                  <a:pt x="643193" y="285723"/>
                </a:lnTo>
                <a:lnTo>
                  <a:pt x="627055" y="286794"/>
                </a:lnTo>
                <a:lnTo>
                  <a:pt x="609948" y="284952"/>
                </a:lnTo>
              </a:path>
            </a:pathLst>
          </a:custGeom>
          <a:ln w="15875">
            <a:solidFill>
              <a:srgbClr val="C4262E"/>
            </a:solidFill>
            <a:prstDash val="dash"/>
            <a:tailEnd type="triangle"/>
          </a:ln>
        </p:spPr>
      </p:sp>
      <p:sp>
        <p:nvSpPr>
          <p:cNvPr id="97" name="Shape 95"/>
          <p:cNvSpPr/>
          <p:nvPr/>
        </p:nvSpPr>
        <p:spPr>
          <a:xfrm rot="169550">
            <a:off x="5255953" y="2910153"/>
            <a:ext cx="466711" cy="69254"/>
          </a:xfrm>
          <a:prstGeom prst="rect">
            <a:avLst/>
          </a:prstGeom>
          <a:solidFill>
            <a:srgbClr val="C4262E"/>
          </a:solidFill>
          <a:ln/>
        </p:spPr>
      </p:sp>
      <p:sp>
        <p:nvSpPr>
          <p:cNvPr id="98" name="Shape 96"/>
          <p:cNvSpPr/>
          <p:nvPr/>
        </p:nvSpPr>
        <p:spPr>
          <a:xfrm>
            <a:off x="5411585" y="2867056"/>
            <a:ext cx="155448" cy="155448"/>
          </a:xfrm>
          <a:prstGeom prst="ellipse">
            <a:avLst/>
          </a:prstGeom>
          <a:solidFill>
            <a:srgbClr val="FFFFFF"/>
          </a:solidFill>
          <a:ln w="9525">
            <a:solidFill>
              <a:srgbClr val="1B1B1B"/>
            </a:solidFill>
            <a:prstDash val="solid"/>
          </a:ln>
        </p:spPr>
      </p:sp>
      <p:sp>
        <p:nvSpPr>
          <p:cNvPr id="99" name="Text 97"/>
          <p:cNvSpPr txBox="1"/>
          <p:nvPr/>
        </p:nvSpPr>
        <p:spPr>
          <a:xfrm>
            <a:off x="5411585" y="2867056"/>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1</a:t>
            </a:r>
            <a:endParaRPr lang="en-US" sz="600" dirty="0"/>
          </a:p>
        </p:txBody>
      </p:sp>
      <p:sp>
        <p:nvSpPr>
          <p:cNvPr id="100" name="Shape 98"/>
          <p:cNvSpPr/>
          <p:nvPr/>
        </p:nvSpPr>
        <p:spPr>
          <a:xfrm rot="2669841">
            <a:off x="4457887" y="2479625"/>
            <a:ext cx="414018" cy="69254"/>
          </a:xfrm>
          <a:prstGeom prst="rect">
            <a:avLst/>
          </a:prstGeom>
          <a:solidFill>
            <a:srgbClr val="F0B9BC"/>
          </a:solidFill>
          <a:ln w="6350">
            <a:solidFill>
              <a:srgbClr val="1B1B1B"/>
            </a:solidFill>
            <a:prstDash val="solid"/>
          </a:ln>
        </p:spPr>
      </p:sp>
      <p:sp>
        <p:nvSpPr>
          <p:cNvPr id="101" name="Shape 99"/>
          <p:cNvSpPr/>
          <p:nvPr/>
        </p:nvSpPr>
        <p:spPr>
          <a:xfrm>
            <a:off x="4587172" y="2436528"/>
            <a:ext cx="155448" cy="155448"/>
          </a:xfrm>
          <a:prstGeom prst="ellipse">
            <a:avLst/>
          </a:prstGeom>
          <a:solidFill>
            <a:srgbClr val="FFFFFF"/>
          </a:solidFill>
          <a:ln w="9525">
            <a:solidFill>
              <a:srgbClr val="1B1B1B"/>
            </a:solidFill>
            <a:prstDash val="solid"/>
          </a:ln>
        </p:spPr>
      </p:sp>
      <p:sp>
        <p:nvSpPr>
          <p:cNvPr id="102" name="Text 100"/>
          <p:cNvSpPr txBox="1"/>
          <p:nvPr/>
        </p:nvSpPr>
        <p:spPr>
          <a:xfrm>
            <a:off x="4587172" y="2436528"/>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2</a:t>
            </a:r>
            <a:endParaRPr lang="en-US" sz="600" dirty="0"/>
          </a:p>
        </p:txBody>
      </p:sp>
      <p:sp>
        <p:nvSpPr>
          <p:cNvPr id="103" name="Shape 101"/>
          <p:cNvSpPr/>
          <p:nvPr/>
        </p:nvSpPr>
        <p:spPr>
          <a:xfrm rot="-1236591">
            <a:off x="4607712" y="2161593"/>
            <a:ext cx="346269" cy="69254"/>
          </a:xfrm>
          <a:prstGeom prst="rect">
            <a:avLst/>
          </a:prstGeom>
          <a:solidFill>
            <a:srgbClr val="1B1B1B"/>
          </a:solidFill>
          <a:ln/>
        </p:spPr>
      </p:sp>
      <p:sp>
        <p:nvSpPr>
          <p:cNvPr id="104" name="Shape 102"/>
          <p:cNvSpPr/>
          <p:nvPr/>
        </p:nvSpPr>
        <p:spPr>
          <a:xfrm>
            <a:off x="4703123" y="2118496"/>
            <a:ext cx="155448" cy="155448"/>
          </a:xfrm>
          <a:prstGeom prst="ellipse">
            <a:avLst/>
          </a:prstGeom>
          <a:solidFill>
            <a:srgbClr val="FFFFFF"/>
          </a:solidFill>
          <a:ln w="9525">
            <a:solidFill>
              <a:srgbClr val="1B1B1B"/>
            </a:solidFill>
            <a:prstDash val="solid"/>
          </a:ln>
        </p:spPr>
      </p:sp>
      <p:sp>
        <p:nvSpPr>
          <p:cNvPr id="105" name="Text 103"/>
          <p:cNvSpPr txBox="1"/>
          <p:nvPr/>
        </p:nvSpPr>
        <p:spPr>
          <a:xfrm>
            <a:off x="4703123" y="2118496"/>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3</a:t>
            </a:r>
            <a:endParaRPr lang="en-US" sz="600" dirty="0"/>
          </a:p>
        </p:txBody>
      </p:sp>
      <p:sp>
        <p:nvSpPr>
          <p:cNvPr id="106" name="Shape 104"/>
          <p:cNvSpPr/>
          <p:nvPr/>
        </p:nvSpPr>
        <p:spPr>
          <a:xfrm rot="1650735">
            <a:off x="5148548" y="2311453"/>
            <a:ext cx="270993" cy="69254"/>
          </a:xfrm>
          <a:prstGeom prst="rect">
            <a:avLst/>
          </a:prstGeom>
          <a:solidFill>
            <a:srgbClr val="9A9A9A"/>
          </a:solidFill>
          <a:ln/>
        </p:spPr>
      </p:sp>
      <p:sp>
        <p:nvSpPr>
          <p:cNvPr id="107" name="Shape 105"/>
          <p:cNvSpPr/>
          <p:nvPr/>
        </p:nvSpPr>
        <p:spPr>
          <a:xfrm>
            <a:off x="5206320" y="2268356"/>
            <a:ext cx="155448" cy="155448"/>
          </a:xfrm>
          <a:prstGeom prst="ellipse">
            <a:avLst/>
          </a:prstGeom>
          <a:solidFill>
            <a:srgbClr val="FFFFFF"/>
          </a:solidFill>
          <a:ln w="9525">
            <a:solidFill>
              <a:srgbClr val="1B1B1B"/>
            </a:solidFill>
            <a:prstDash val="solid"/>
          </a:ln>
        </p:spPr>
      </p:sp>
      <p:sp>
        <p:nvSpPr>
          <p:cNvPr id="108" name="Text 106"/>
          <p:cNvSpPr txBox="1"/>
          <p:nvPr/>
        </p:nvSpPr>
        <p:spPr>
          <a:xfrm>
            <a:off x="5206320" y="2268356"/>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4</a:t>
            </a:r>
            <a:endParaRPr lang="en-US" sz="600" dirty="0"/>
          </a:p>
        </p:txBody>
      </p:sp>
      <p:sp>
        <p:nvSpPr>
          <p:cNvPr id="109" name="Shape 107"/>
          <p:cNvSpPr/>
          <p:nvPr/>
        </p:nvSpPr>
        <p:spPr>
          <a:xfrm rot="173647">
            <a:off x="4691943" y="2041389"/>
            <a:ext cx="255938" cy="55403"/>
          </a:xfrm>
          <a:prstGeom prst="rect">
            <a:avLst/>
          </a:prstGeom>
          <a:solidFill>
            <a:srgbClr val="9A9A9A"/>
          </a:solidFill>
          <a:ln/>
        </p:spPr>
      </p:sp>
      <p:sp>
        <p:nvSpPr>
          <p:cNvPr id="110" name="Shape 108"/>
          <p:cNvSpPr/>
          <p:nvPr/>
        </p:nvSpPr>
        <p:spPr>
          <a:xfrm>
            <a:off x="4742188" y="1991367"/>
            <a:ext cx="155448" cy="155448"/>
          </a:xfrm>
          <a:prstGeom prst="ellipse">
            <a:avLst/>
          </a:prstGeom>
          <a:solidFill>
            <a:srgbClr val="FFFFFF"/>
          </a:solidFill>
          <a:ln w="9525">
            <a:solidFill>
              <a:srgbClr val="1B1B1B"/>
            </a:solidFill>
            <a:prstDash val="solid"/>
          </a:ln>
        </p:spPr>
      </p:sp>
      <p:sp>
        <p:nvSpPr>
          <p:cNvPr id="111" name="Text 109"/>
          <p:cNvSpPr txBox="1"/>
          <p:nvPr/>
        </p:nvSpPr>
        <p:spPr>
          <a:xfrm>
            <a:off x="4742188" y="1991367"/>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5</a:t>
            </a:r>
            <a:endParaRPr lang="en-US" sz="600" dirty="0"/>
          </a:p>
        </p:txBody>
      </p:sp>
      <p:sp>
        <p:nvSpPr>
          <p:cNvPr id="112" name="Shape 110"/>
          <p:cNvSpPr/>
          <p:nvPr/>
        </p:nvSpPr>
        <p:spPr>
          <a:xfrm>
            <a:off x="5219380" y="2466480"/>
            <a:ext cx="110806" cy="110806"/>
          </a:xfrm>
          <a:prstGeom prst="ellipse">
            <a:avLst/>
          </a:prstGeom>
          <a:solidFill>
            <a:srgbClr val="FFFFFF"/>
          </a:solidFill>
          <a:ln w="19050">
            <a:solidFill>
              <a:srgbClr val="C4262E"/>
            </a:solidFill>
            <a:prstDash val="solid"/>
          </a:ln>
        </p:spPr>
      </p:sp>
      <p:sp>
        <p:nvSpPr>
          <p:cNvPr id="113" name="Text 111"/>
          <p:cNvSpPr txBox="1"/>
          <p:nvPr/>
        </p:nvSpPr>
        <p:spPr>
          <a:xfrm>
            <a:off x="4261104" y="3054096"/>
            <a:ext cx="1737360" cy="566928"/>
          </a:xfrm>
          <a:prstGeom prst="rect">
            <a:avLst/>
          </a:prstGeom>
          <a:noFill/>
          <a:ln/>
        </p:spPr>
        <p:txBody>
          <a:bodyPr wrap="square" lIns="0" tIns="0" rIns="0" bIns="0" rtlCol="0" anchor="t"/>
          <a:lstStyle/>
          <a:p>
            <a:pPr indent="0" marL="0">
              <a:buNone/>
            </a:pPr>
            <a:r>
              <a:rPr lang="en-US" sz="450" dirty="0">
                <a:solidFill>
                  <a:srgbClr val="6B6B6B"/>
                </a:solidFill>
                <a:latin typeface="Arial" pitchFamily="34" charset="0"/>
                <a:ea typeface="Arial" pitchFamily="34" charset="-122"/>
                <a:cs typeface="Arial" pitchFamily="34" charset="-120"/>
              </a:rPr>
              <a:t>1  forum · press · exhibition · auditorium</a:t>
            </a:r>
            <a:endParaRPr lang="en-US" sz="450" dirty="0"/>
          </a:p>
          <a:p>
            <a:pPr indent="0" marL="0">
              <a:buNone/>
            </a:pPr>
            <a:r>
              <a:rPr lang="en-US" sz="450" dirty="0">
                <a:solidFill>
                  <a:srgbClr val="6B6B6B"/>
                </a:solidFill>
                <a:latin typeface="Arial" pitchFamily="34" charset="0"/>
                <a:ea typeface="Arial" pitchFamily="34" charset="-122"/>
                <a:cs typeface="Arial" pitchFamily="34" charset="-120"/>
              </a:rPr>
              <a:t>2  library · workshops · education</a:t>
            </a:r>
            <a:endParaRPr lang="en-US" sz="450" dirty="0"/>
          </a:p>
          <a:p>
            <a:pPr indent="0" marL="0">
              <a:buNone/>
            </a:pPr>
            <a:r>
              <a:rPr lang="en-US" sz="450" dirty="0">
                <a:solidFill>
                  <a:srgbClr val="6B6B6B"/>
                </a:solidFill>
                <a:latin typeface="Arial" pitchFamily="34" charset="0"/>
                <a:ea typeface="Arial" pitchFamily="34" charset="-122"/>
                <a:cs typeface="Arial" pitchFamily="34" charset="-120"/>
              </a:rPr>
              <a:t>3  archive · research</a:t>
            </a:r>
            <a:endParaRPr lang="en-US" sz="450" dirty="0"/>
          </a:p>
          <a:p>
            <a:pPr indent="0" marL="0">
              <a:buNone/>
            </a:pPr>
            <a:r>
              <a:rPr lang="en-US" sz="450" dirty="0">
                <a:solidFill>
                  <a:srgbClr val="6B6B6B"/>
                </a:solidFill>
                <a:latin typeface="Arial" pitchFamily="34" charset="0"/>
                <a:ea typeface="Arial" pitchFamily="34" charset="-122"/>
                <a:cs typeface="Arial" pitchFamily="34" charset="-120"/>
              </a:rPr>
              <a:t>4  media · publishing</a:t>
            </a:r>
            <a:endParaRPr lang="en-US" sz="450" dirty="0"/>
          </a:p>
          <a:p>
            <a:pPr indent="0" marL="0">
              <a:buNone/>
            </a:pPr>
            <a:r>
              <a:rPr lang="en-US" sz="450" dirty="0">
                <a:solidFill>
                  <a:srgbClr val="6B6B6B"/>
                </a:solidFill>
                <a:latin typeface="Arial" pitchFamily="34" charset="0"/>
                <a:ea typeface="Arial" pitchFamily="34" charset="-122"/>
                <a:cs typeface="Arial" pitchFamily="34" charset="-120"/>
              </a:rPr>
              <a:t>5  print · dispatch (service side)</a:t>
            </a:r>
            <a:endParaRPr lang="en-US" sz="450" dirty="0"/>
          </a:p>
        </p:txBody>
      </p:sp>
      <p:sp>
        <p:nvSpPr>
          <p:cNvPr id="114" name="Shape 112"/>
          <p:cNvSpPr/>
          <p:nvPr/>
        </p:nvSpPr>
        <p:spPr>
          <a:xfrm>
            <a:off x="602589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15" name="Shape 113"/>
          <p:cNvSpPr/>
          <p:nvPr/>
        </p:nvSpPr>
        <p:spPr>
          <a:xfrm>
            <a:off x="6126480" y="1627632"/>
            <a:ext cx="1828800" cy="1920240"/>
          </a:xfrm>
          <a:prstGeom prst="rect">
            <a:avLst/>
          </a:prstGeom>
          <a:solidFill>
            <a:srgbClr val="FFFFFF"/>
          </a:solidFill>
          <a:ln w="6350">
            <a:solidFill>
              <a:srgbClr val="D9D9D9"/>
            </a:solidFill>
            <a:prstDash val="solid"/>
          </a:ln>
        </p:spPr>
      </p:sp>
      <p:sp>
        <p:nvSpPr>
          <p:cNvPr id="116" name="Text 114"/>
          <p:cNvSpPr txBox="1"/>
          <p:nvPr/>
        </p:nvSpPr>
        <p:spPr>
          <a:xfrm>
            <a:off x="619963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04  </a:t>
            </a:r>
            <a:pPr indent="0" marL="0">
              <a:buNone/>
            </a:pPr>
            <a:r>
              <a:rPr lang="en-US" sz="750" b="1" spc="50" kern="0" dirty="0">
                <a:solidFill>
                  <a:srgbClr val="1B1B1B"/>
                </a:solidFill>
                <a:latin typeface="Arial" pitchFamily="34" charset="0"/>
                <a:ea typeface="Arial" pitchFamily="34" charset="-122"/>
                <a:cs typeface="Arial" pitchFamily="34" charset="-120"/>
              </a:rPr>
              <a:t>ZONING</a:t>
            </a:r>
            <a:endParaRPr lang="en-US" sz="750" dirty="0"/>
          </a:p>
        </p:txBody>
      </p:sp>
      <p:sp>
        <p:nvSpPr>
          <p:cNvPr id="117" name="Shape 115"/>
          <p:cNvSpPr/>
          <p:nvPr/>
        </p:nvSpPr>
        <p:spPr>
          <a:xfrm>
            <a:off x="6181344" y="2693026"/>
            <a:ext cx="1719072" cy="818270"/>
          </a:xfrm>
          <a:custGeom>
            <a:avLst/>
            <a:gdLst/>
            <a:ahLst/>
            <a:cxnLst/>
            <a:rect l="l" t="t" r="r" b="b"/>
            <a:pathLst>
              <a:path w="1719072" h="818270">
                <a:moveTo>
                  <a:pt x="0" y="556386"/>
                </a:moveTo>
                <a:lnTo>
                  <a:pt x="28651" y="556386"/>
                </a:lnTo>
                <a:lnTo>
                  <a:pt x="57302" y="556386"/>
                </a:lnTo>
                <a:lnTo>
                  <a:pt x="85954" y="556386"/>
                </a:lnTo>
                <a:lnTo>
                  <a:pt x="114605" y="556386"/>
                </a:lnTo>
                <a:lnTo>
                  <a:pt x="143256" y="556386"/>
                </a:lnTo>
                <a:lnTo>
                  <a:pt x="171907" y="556386"/>
                </a:lnTo>
                <a:lnTo>
                  <a:pt x="200558" y="555915"/>
                </a:lnTo>
                <a:lnTo>
                  <a:pt x="229210" y="550638"/>
                </a:lnTo>
                <a:lnTo>
                  <a:pt x="257861" y="539605"/>
                </a:lnTo>
                <a:lnTo>
                  <a:pt x="286512" y="523052"/>
                </a:lnTo>
                <a:lnTo>
                  <a:pt x="315163" y="501327"/>
                </a:lnTo>
                <a:lnTo>
                  <a:pt x="343814" y="474888"/>
                </a:lnTo>
                <a:lnTo>
                  <a:pt x="372466" y="444295"/>
                </a:lnTo>
                <a:lnTo>
                  <a:pt x="401117" y="410193"/>
                </a:lnTo>
                <a:lnTo>
                  <a:pt x="429768" y="373302"/>
                </a:lnTo>
                <a:lnTo>
                  <a:pt x="458419" y="334402"/>
                </a:lnTo>
                <a:lnTo>
                  <a:pt x="487070" y="294313"/>
                </a:lnTo>
                <a:lnTo>
                  <a:pt x="515722" y="253883"/>
                </a:lnTo>
                <a:lnTo>
                  <a:pt x="544373" y="213965"/>
                </a:lnTo>
                <a:lnTo>
                  <a:pt x="573024" y="175402"/>
                </a:lnTo>
                <a:lnTo>
                  <a:pt x="601675" y="139008"/>
                </a:lnTo>
                <a:lnTo>
                  <a:pt x="630326" y="105552"/>
                </a:lnTo>
                <a:lnTo>
                  <a:pt x="658978" y="75741"/>
                </a:lnTo>
                <a:lnTo>
                  <a:pt x="687629" y="50204"/>
                </a:lnTo>
                <a:lnTo>
                  <a:pt x="716280" y="29479"/>
                </a:lnTo>
                <a:lnTo>
                  <a:pt x="744931" y="14006"/>
                </a:lnTo>
                <a:lnTo>
                  <a:pt x="773582" y="4110"/>
                </a:lnTo>
                <a:lnTo>
                  <a:pt x="802234" y="0"/>
                </a:lnTo>
                <a:lnTo>
                  <a:pt x="830885" y="1764"/>
                </a:lnTo>
                <a:lnTo>
                  <a:pt x="859536" y="9363"/>
                </a:lnTo>
                <a:lnTo>
                  <a:pt x="888187" y="22639"/>
                </a:lnTo>
                <a:lnTo>
                  <a:pt x="916838" y="41309"/>
                </a:lnTo>
                <a:lnTo>
                  <a:pt x="945490" y="64981"/>
                </a:lnTo>
                <a:lnTo>
                  <a:pt x="974141" y="93153"/>
                </a:lnTo>
                <a:lnTo>
                  <a:pt x="1002792" y="125232"/>
                </a:lnTo>
                <a:lnTo>
                  <a:pt x="1031443" y="160540"/>
                </a:lnTo>
                <a:lnTo>
                  <a:pt x="1060094" y="198331"/>
                </a:lnTo>
                <a:lnTo>
                  <a:pt x="1088746" y="237807"/>
                </a:lnTo>
                <a:lnTo>
                  <a:pt x="1117397" y="278134"/>
                </a:lnTo>
                <a:lnTo>
                  <a:pt x="1146048" y="318462"/>
                </a:lnTo>
                <a:lnTo>
                  <a:pt x="1174699" y="357938"/>
                </a:lnTo>
                <a:lnTo>
                  <a:pt x="1203350" y="395729"/>
                </a:lnTo>
                <a:lnTo>
                  <a:pt x="1232002" y="431036"/>
                </a:lnTo>
                <a:lnTo>
                  <a:pt x="1260653" y="463115"/>
                </a:lnTo>
                <a:lnTo>
                  <a:pt x="1289304" y="491288"/>
                </a:lnTo>
                <a:lnTo>
                  <a:pt x="1317955" y="514959"/>
                </a:lnTo>
                <a:lnTo>
                  <a:pt x="1346606" y="533630"/>
                </a:lnTo>
                <a:lnTo>
                  <a:pt x="1375258" y="546905"/>
                </a:lnTo>
                <a:lnTo>
                  <a:pt x="1403909" y="554505"/>
                </a:lnTo>
                <a:lnTo>
                  <a:pt x="1432560" y="556386"/>
                </a:lnTo>
                <a:lnTo>
                  <a:pt x="1461211" y="556386"/>
                </a:lnTo>
                <a:lnTo>
                  <a:pt x="1489862" y="556386"/>
                </a:lnTo>
                <a:lnTo>
                  <a:pt x="1518514" y="556386"/>
                </a:lnTo>
                <a:lnTo>
                  <a:pt x="1547165" y="556386"/>
                </a:lnTo>
                <a:lnTo>
                  <a:pt x="1575816" y="556386"/>
                </a:lnTo>
                <a:lnTo>
                  <a:pt x="1604467" y="556386"/>
                </a:lnTo>
                <a:lnTo>
                  <a:pt x="1633118" y="556386"/>
                </a:lnTo>
                <a:lnTo>
                  <a:pt x="1661770" y="556386"/>
                </a:lnTo>
                <a:lnTo>
                  <a:pt x="1690421" y="556386"/>
                </a:lnTo>
                <a:lnTo>
                  <a:pt x="1719072" y="556386"/>
                </a:lnTo>
                <a:lnTo>
                  <a:pt x="1719072" y="818270"/>
                </a:lnTo>
                <a:lnTo>
                  <a:pt x="0" y="818270"/>
                </a:lnTo>
                <a:close/>
              </a:path>
            </a:pathLst>
          </a:custGeom>
          <a:solidFill>
            <a:srgbClr val="E3ECDC"/>
          </a:solidFill>
          <a:ln w="12700"/>
        </p:spPr>
      </p:sp>
      <p:sp>
        <p:nvSpPr>
          <p:cNvPr id="118" name="Shape 116"/>
          <p:cNvSpPr/>
          <p:nvPr/>
        </p:nvSpPr>
        <p:spPr>
          <a:xfrm>
            <a:off x="6181344" y="2693026"/>
            <a:ext cx="1719072" cy="556386"/>
          </a:xfrm>
          <a:custGeom>
            <a:avLst/>
            <a:gdLst/>
            <a:ahLst/>
            <a:cxnLst/>
            <a:rect l="l" t="t" r="r" b="b"/>
            <a:pathLst>
              <a:path w="1719072" h="556386">
                <a:moveTo>
                  <a:pt x="0" y="556386"/>
                </a:moveTo>
                <a:lnTo>
                  <a:pt x="28651" y="556386"/>
                </a:lnTo>
                <a:lnTo>
                  <a:pt x="57302" y="556386"/>
                </a:lnTo>
                <a:lnTo>
                  <a:pt x="85954" y="556386"/>
                </a:lnTo>
                <a:lnTo>
                  <a:pt x="114605" y="556386"/>
                </a:lnTo>
                <a:lnTo>
                  <a:pt x="143256" y="556386"/>
                </a:lnTo>
                <a:lnTo>
                  <a:pt x="171907" y="556386"/>
                </a:lnTo>
                <a:lnTo>
                  <a:pt x="200558" y="555915"/>
                </a:lnTo>
                <a:lnTo>
                  <a:pt x="229210" y="550638"/>
                </a:lnTo>
                <a:lnTo>
                  <a:pt x="257861" y="539605"/>
                </a:lnTo>
                <a:lnTo>
                  <a:pt x="286512" y="523052"/>
                </a:lnTo>
                <a:lnTo>
                  <a:pt x="315163" y="501327"/>
                </a:lnTo>
                <a:lnTo>
                  <a:pt x="343814" y="474888"/>
                </a:lnTo>
                <a:lnTo>
                  <a:pt x="372466" y="444295"/>
                </a:lnTo>
                <a:lnTo>
                  <a:pt x="401117" y="410193"/>
                </a:lnTo>
                <a:lnTo>
                  <a:pt x="429768" y="373302"/>
                </a:lnTo>
                <a:lnTo>
                  <a:pt x="458419" y="334402"/>
                </a:lnTo>
                <a:lnTo>
                  <a:pt x="487070" y="294313"/>
                </a:lnTo>
                <a:lnTo>
                  <a:pt x="515722" y="253883"/>
                </a:lnTo>
                <a:lnTo>
                  <a:pt x="544373" y="213965"/>
                </a:lnTo>
                <a:lnTo>
                  <a:pt x="573024" y="175402"/>
                </a:lnTo>
                <a:lnTo>
                  <a:pt x="601675" y="139008"/>
                </a:lnTo>
                <a:lnTo>
                  <a:pt x="630326" y="105552"/>
                </a:lnTo>
                <a:lnTo>
                  <a:pt x="658978" y="75741"/>
                </a:lnTo>
                <a:lnTo>
                  <a:pt x="687629" y="50204"/>
                </a:lnTo>
                <a:lnTo>
                  <a:pt x="716280" y="29479"/>
                </a:lnTo>
                <a:lnTo>
                  <a:pt x="744931" y="14006"/>
                </a:lnTo>
                <a:lnTo>
                  <a:pt x="773582" y="4110"/>
                </a:lnTo>
                <a:lnTo>
                  <a:pt x="802234" y="0"/>
                </a:lnTo>
                <a:lnTo>
                  <a:pt x="830885" y="1764"/>
                </a:lnTo>
                <a:lnTo>
                  <a:pt x="859536" y="9363"/>
                </a:lnTo>
                <a:lnTo>
                  <a:pt x="888187" y="22639"/>
                </a:lnTo>
                <a:lnTo>
                  <a:pt x="916838" y="41309"/>
                </a:lnTo>
                <a:lnTo>
                  <a:pt x="945490" y="64981"/>
                </a:lnTo>
                <a:lnTo>
                  <a:pt x="974141" y="93153"/>
                </a:lnTo>
                <a:lnTo>
                  <a:pt x="1002792" y="125232"/>
                </a:lnTo>
                <a:lnTo>
                  <a:pt x="1031443" y="160540"/>
                </a:lnTo>
                <a:lnTo>
                  <a:pt x="1060094" y="198331"/>
                </a:lnTo>
                <a:lnTo>
                  <a:pt x="1088746" y="237807"/>
                </a:lnTo>
                <a:lnTo>
                  <a:pt x="1117397" y="278134"/>
                </a:lnTo>
                <a:lnTo>
                  <a:pt x="1146048" y="318462"/>
                </a:lnTo>
                <a:lnTo>
                  <a:pt x="1174699" y="357938"/>
                </a:lnTo>
                <a:lnTo>
                  <a:pt x="1203350" y="395729"/>
                </a:lnTo>
                <a:lnTo>
                  <a:pt x="1232002" y="431036"/>
                </a:lnTo>
                <a:lnTo>
                  <a:pt x="1260653" y="463115"/>
                </a:lnTo>
                <a:lnTo>
                  <a:pt x="1289304" y="491288"/>
                </a:lnTo>
                <a:lnTo>
                  <a:pt x="1317955" y="514959"/>
                </a:lnTo>
                <a:lnTo>
                  <a:pt x="1346606" y="533630"/>
                </a:lnTo>
                <a:lnTo>
                  <a:pt x="1375258" y="546905"/>
                </a:lnTo>
                <a:lnTo>
                  <a:pt x="1403909" y="554505"/>
                </a:lnTo>
                <a:lnTo>
                  <a:pt x="1432560" y="556386"/>
                </a:lnTo>
                <a:lnTo>
                  <a:pt x="1461211" y="556386"/>
                </a:lnTo>
                <a:lnTo>
                  <a:pt x="1489862" y="556386"/>
                </a:lnTo>
                <a:lnTo>
                  <a:pt x="1518514" y="556386"/>
                </a:lnTo>
                <a:lnTo>
                  <a:pt x="1547165" y="556386"/>
                </a:lnTo>
                <a:lnTo>
                  <a:pt x="1575816" y="556386"/>
                </a:lnTo>
                <a:lnTo>
                  <a:pt x="1604467" y="556386"/>
                </a:lnTo>
                <a:lnTo>
                  <a:pt x="1633118" y="556386"/>
                </a:lnTo>
                <a:lnTo>
                  <a:pt x="1661770" y="556386"/>
                </a:lnTo>
                <a:lnTo>
                  <a:pt x="1690421" y="556386"/>
                </a:lnTo>
                <a:lnTo>
                  <a:pt x="1719072" y="556386"/>
                </a:lnTo>
              </a:path>
            </a:pathLst>
          </a:custGeom>
          <a:ln w="15875">
            <a:solidFill>
              <a:srgbClr val="1B1B1B"/>
            </a:solidFill>
            <a:prstDash val="solid"/>
          </a:ln>
        </p:spPr>
      </p:sp>
      <p:sp>
        <p:nvSpPr>
          <p:cNvPr id="119" name="Text 117"/>
          <p:cNvSpPr txBox="1"/>
          <p:nvPr/>
        </p:nvSpPr>
        <p:spPr>
          <a:xfrm>
            <a:off x="6055888" y="3258556"/>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20" name="Text 118"/>
          <p:cNvSpPr txBox="1"/>
          <p:nvPr/>
        </p:nvSpPr>
        <p:spPr>
          <a:xfrm>
            <a:off x="7568672" y="3258556"/>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21" name="Shape 119"/>
          <p:cNvSpPr/>
          <p:nvPr/>
        </p:nvSpPr>
        <p:spPr>
          <a:xfrm>
            <a:off x="6365285" y="3067362"/>
            <a:ext cx="113459" cy="122758"/>
          </a:xfrm>
          <a:prstGeom prst="rect">
            <a:avLst/>
          </a:prstGeom>
          <a:solidFill>
            <a:srgbClr val="C4262E"/>
          </a:solidFill>
          <a:ln/>
        </p:spPr>
      </p:sp>
      <p:sp>
        <p:nvSpPr>
          <p:cNvPr id="122" name="Shape 120"/>
          <p:cNvSpPr/>
          <p:nvPr/>
        </p:nvSpPr>
        <p:spPr>
          <a:xfrm>
            <a:off x="6580856" y="2742952"/>
            <a:ext cx="73748" cy="245516"/>
          </a:xfrm>
          <a:prstGeom prst="rect">
            <a:avLst/>
          </a:prstGeom>
          <a:solidFill>
            <a:srgbClr val="F0B9BC"/>
          </a:solidFill>
          <a:ln w="6350">
            <a:solidFill>
              <a:srgbClr val="1B1B1B"/>
            </a:solidFill>
            <a:prstDash val="solid"/>
          </a:ln>
        </p:spPr>
      </p:sp>
      <p:sp>
        <p:nvSpPr>
          <p:cNvPr id="123" name="Shape 121"/>
          <p:cNvSpPr/>
          <p:nvPr/>
        </p:nvSpPr>
        <p:spPr>
          <a:xfrm>
            <a:off x="6587347" y="2988469"/>
            <a:ext cx="9144" cy="102843"/>
          </a:xfrm>
          <a:custGeom>
            <a:avLst/>
            <a:gdLst/>
            <a:ahLst/>
            <a:cxnLst/>
            <a:rect l="l" t="t" r="r" b="b"/>
            <a:pathLst>
              <a:path w="9144" h="102843">
                <a:moveTo>
                  <a:pt x="4572" y="0"/>
                </a:moveTo>
                <a:lnTo>
                  <a:pt x="4572" y="102843"/>
                </a:lnTo>
              </a:path>
            </a:pathLst>
          </a:custGeom>
          <a:ln w="9525">
            <a:solidFill>
              <a:srgbClr val="1B1B1B"/>
            </a:solidFill>
            <a:prstDash val="solid"/>
          </a:ln>
        </p:spPr>
      </p:sp>
      <p:sp>
        <p:nvSpPr>
          <p:cNvPr id="124" name="Shape 122"/>
          <p:cNvSpPr/>
          <p:nvPr/>
        </p:nvSpPr>
        <p:spPr>
          <a:xfrm>
            <a:off x="6613158" y="2988469"/>
            <a:ext cx="9144" cy="69022"/>
          </a:xfrm>
          <a:custGeom>
            <a:avLst/>
            <a:gdLst/>
            <a:ahLst/>
            <a:cxnLst/>
            <a:rect l="l" t="t" r="r" b="b"/>
            <a:pathLst>
              <a:path w="9144" h="69022">
                <a:moveTo>
                  <a:pt x="4572" y="0"/>
                </a:moveTo>
                <a:lnTo>
                  <a:pt x="4572" y="69022"/>
                </a:lnTo>
              </a:path>
            </a:pathLst>
          </a:custGeom>
          <a:ln w="9525">
            <a:solidFill>
              <a:srgbClr val="1B1B1B"/>
            </a:solidFill>
            <a:prstDash val="solid"/>
          </a:ln>
        </p:spPr>
      </p:sp>
      <p:sp>
        <p:nvSpPr>
          <p:cNvPr id="125" name="Shape 123"/>
          <p:cNvSpPr/>
          <p:nvPr/>
        </p:nvSpPr>
        <p:spPr>
          <a:xfrm>
            <a:off x="6638970" y="2988469"/>
            <a:ext cx="9144" cy="33721"/>
          </a:xfrm>
          <a:custGeom>
            <a:avLst/>
            <a:gdLst/>
            <a:ahLst/>
            <a:cxnLst/>
            <a:rect l="l" t="t" r="r" b="b"/>
            <a:pathLst>
              <a:path w="9144" h="33721">
                <a:moveTo>
                  <a:pt x="4572" y="0"/>
                </a:moveTo>
                <a:lnTo>
                  <a:pt x="4572" y="33721"/>
                </a:lnTo>
              </a:path>
            </a:pathLst>
          </a:custGeom>
          <a:ln w="9525">
            <a:solidFill>
              <a:srgbClr val="1B1B1B"/>
            </a:solidFill>
            <a:prstDash val="solid"/>
          </a:ln>
        </p:spPr>
      </p:sp>
      <p:sp>
        <p:nvSpPr>
          <p:cNvPr id="126" name="Shape 124"/>
          <p:cNvSpPr/>
          <p:nvPr/>
        </p:nvSpPr>
        <p:spPr>
          <a:xfrm>
            <a:off x="6705661" y="2579735"/>
            <a:ext cx="68075" cy="245516"/>
          </a:xfrm>
          <a:prstGeom prst="rect">
            <a:avLst/>
          </a:prstGeom>
          <a:solidFill>
            <a:srgbClr val="1B1B1B"/>
          </a:solidFill>
          <a:ln/>
        </p:spPr>
      </p:sp>
      <p:sp>
        <p:nvSpPr>
          <p:cNvPr id="127" name="Shape 125"/>
          <p:cNvSpPr/>
          <p:nvPr/>
        </p:nvSpPr>
        <p:spPr>
          <a:xfrm>
            <a:off x="6711300" y="2825252"/>
            <a:ext cx="9144" cy="95344"/>
          </a:xfrm>
          <a:custGeom>
            <a:avLst/>
            <a:gdLst/>
            <a:ahLst/>
            <a:cxnLst/>
            <a:rect l="l" t="t" r="r" b="b"/>
            <a:pathLst>
              <a:path w="9144" h="95344">
                <a:moveTo>
                  <a:pt x="4572" y="0"/>
                </a:moveTo>
                <a:lnTo>
                  <a:pt x="4572" y="95344"/>
                </a:lnTo>
              </a:path>
            </a:pathLst>
          </a:custGeom>
          <a:ln w="9525">
            <a:solidFill>
              <a:srgbClr val="1B1B1B"/>
            </a:solidFill>
            <a:prstDash val="solid"/>
          </a:ln>
        </p:spPr>
      </p:sp>
      <p:sp>
        <p:nvSpPr>
          <p:cNvPr id="128" name="Shape 126"/>
          <p:cNvSpPr/>
          <p:nvPr/>
        </p:nvSpPr>
        <p:spPr>
          <a:xfrm>
            <a:off x="6735127" y="2825252"/>
            <a:ext cx="9144" cy="62699"/>
          </a:xfrm>
          <a:custGeom>
            <a:avLst/>
            <a:gdLst/>
            <a:ahLst/>
            <a:cxnLst/>
            <a:rect l="l" t="t" r="r" b="b"/>
            <a:pathLst>
              <a:path w="9144" h="62699">
                <a:moveTo>
                  <a:pt x="4572" y="0"/>
                </a:moveTo>
                <a:lnTo>
                  <a:pt x="4572" y="62699"/>
                </a:lnTo>
              </a:path>
            </a:pathLst>
          </a:custGeom>
          <a:ln w="9525">
            <a:solidFill>
              <a:srgbClr val="1B1B1B"/>
            </a:solidFill>
            <a:prstDash val="solid"/>
          </a:ln>
        </p:spPr>
      </p:sp>
      <p:sp>
        <p:nvSpPr>
          <p:cNvPr id="129" name="Shape 127"/>
          <p:cNvSpPr/>
          <p:nvPr/>
        </p:nvSpPr>
        <p:spPr>
          <a:xfrm>
            <a:off x="6758953" y="2825252"/>
            <a:ext cx="9144" cy="31271"/>
          </a:xfrm>
          <a:custGeom>
            <a:avLst/>
            <a:gdLst/>
            <a:ahLst/>
            <a:cxnLst/>
            <a:rect l="l" t="t" r="r" b="b"/>
            <a:pathLst>
              <a:path w="9144" h="31271">
                <a:moveTo>
                  <a:pt x="4572" y="0"/>
                </a:moveTo>
                <a:lnTo>
                  <a:pt x="4572" y="31271"/>
                </a:lnTo>
              </a:path>
            </a:pathLst>
          </a:custGeom>
          <a:ln w="9525">
            <a:solidFill>
              <a:srgbClr val="1B1B1B"/>
            </a:solidFill>
            <a:prstDash val="solid"/>
          </a:ln>
        </p:spPr>
      </p:sp>
      <p:sp>
        <p:nvSpPr>
          <p:cNvPr id="130" name="Shape 128"/>
          <p:cNvSpPr/>
          <p:nvPr/>
        </p:nvSpPr>
        <p:spPr>
          <a:xfrm>
            <a:off x="6819120" y="2469727"/>
            <a:ext cx="62402" cy="245516"/>
          </a:xfrm>
          <a:prstGeom prst="rect">
            <a:avLst/>
          </a:prstGeom>
          <a:solidFill>
            <a:srgbClr val="9A9A9A"/>
          </a:solidFill>
          <a:ln/>
        </p:spPr>
      </p:sp>
      <p:sp>
        <p:nvSpPr>
          <p:cNvPr id="131" name="Shape 129"/>
          <p:cNvSpPr/>
          <p:nvPr/>
        </p:nvSpPr>
        <p:spPr>
          <a:xfrm>
            <a:off x="6823908" y="2715243"/>
            <a:ext cx="9144" cy="65360"/>
          </a:xfrm>
          <a:custGeom>
            <a:avLst/>
            <a:gdLst/>
            <a:ahLst/>
            <a:cxnLst/>
            <a:rect l="l" t="t" r="r" b="b"/>
            <a:pathLst>
              <a:path w="9144" h="65360">
                <a:moveTo>
                  <a:pt x="4572" y="0"/>
                </a:moveTo>
                <a:lnTo>
                  <a:pt x="4572" y="65360"/>
                </a:lnTo>
              </a:path>
            </a:pathLst>
          </a:custGeom>
          <a:ln w="9525">
            <a:solidFill>
              <a:srgbClr val="1B1B1B"/>
            </a:solidFill>
            <a:prstDash val="solid"/>
          </a:ln>
        </p:spPr>
      </p:sp>
      <p:sp>
        <p:nvSpPr>
          <p:cNvPr id="132" name="Shape 130"/>
          <p:cNvSpPr/>
          <p:nvPr/>
        </p:nvSpPr>
        <p:spPr>
          <a:xfrm>
            <a:off x="6845749" y="2715243"/>
            <a:ext cx="9144" cy="44096"/>
          </a:xfrm>
          <a:custGeom>
            <a:avLst/>
            <a:gdLst/>
            <a:ahLst/>
            <a:cxnLst/>
            <a:rect l="l" t="t" r="r" b="b"/>
            <a:pathLst>
              <a:path w="9144" h="44096">
                <a:moveTo>
                  <a:pt x="4572" y="0"/>
                </a:moveTo>
                <a:lnTo>
                  <a:pt x="4572" y="44096"/>
                </a:lnTo>
              </a:path>
            </a:pathLst>
          </a:custGeom>
          <a:ln w="9525">
            <a:solidFill>
              <a:srgbClr val="1B1B1B"/>
            </a:solidFill>
            <a:prstDash val="solid"/>
          </a:ln>
        </p:spPr>
      </p:sp>
      <p:sp>
        <p:nvSpPr>
          <p:cNvPr id="133" name="Shape 131"/>
          <p:cNvSpPr/>
          <p:nvPr/>
        </p:nvSpPr>
        <p:spPr>
          <a:xfrm>
            <a:off x="6867590" y="2715243"/>
            <a:ext cx="9144" cy="25432"/>
          </a:xfrm>
          <a:custGeom>
            <a:avLst/>
            <a:gdLst/>
            <a:ahLst/>
            <a:cxnLst/>
            <a:rect l="l" t="t" r="r" b="b"/>
            <a:pathLst>
              <a:path w="9144" h="25432">
                <a:moveTo>
                  <a:pt x="4572" y="0"/>
                </a:moveTo>
                <a:lnTo>
                  <a:pt x="4572" y="25432"/>
                </a:lnTo>
              </a:path>
            </a:pathLst>
          </a:custGeom>
          <a:ln w="9525">
            <a:solidFill>
              <a:srgbClr val="1B1B1B"/>
            </a:solidFill>
            <a:prstDash val="solid"/>
          </a:ln>
        </p:spPr>
      </p:sp>
      <p:sp>
        <p:nvSpPr>
          <p:cNvPr id="134" name="Shape 132"/>
          <p:cNvSpPr/>
          <p:nvPr/>
        </p:nvSpPr>
        <p:spPr>
          <a:xfrm>
            <a:off x="7614362" y="3090078"/>
            <a:ext cx="113459" cy="122758"/>
          </a:xfrm>
          <a:prstGeom prst="rect">
            <a:avLst/>
          </a:prstGeom>
          <a:solidFill>
            <a:srgbClr val="9A9A9A"/>
          </a:solidFill>
          <a:ln/>
        </p:spPr>
      </p:sp>
      <p:sp>
        <p:nvSpPr>
          <p:cNvPr id="135" name="Shape 133"/>
          <p:cNvSpPr/>
          <p:nvPr/>
        </p:nvSpPr>
        <p:spPr>
          <a:xfrm>
            <a:off x="6921233" y="2670048"/>
            <a:ext cx="136151" cy="9144"/>
          </a:xfrm>
          <a:custGeom>
            <a:avLst/>
            <a:gdLst/>
            <a:ahLst/>
            <a:cxnLst/>
            <a:rect l="l" t="t" r="r" b="b"/>
            <a:pathLst>
              <a:path w="136151" h="9144">
                <a:moveTo>
                  <a:pt x="0" y="4572"/>
                </a:moveTo>
                <a:lnTo>
                  <a:pt x="136151" y="4572"/>
                </a:lnTo>
              </a:path>
            </a:pathLst>
          </a:custGeom>
          <a:ln w="38100">
            <a:solidFill>
              <a:srgbClr val="C4262E"/>
            </a:solidFill>
            <a:prstDash val="solid"/>
          </a:ln>
        </p:spPr>
      </p:sp>
      <p:sp>
        <p:nvSpPr>
          <p:cNvPr id="136" name="Shape 134"/>
          <p:cNvSpPr/>
          <p:nvPr/>
        </p:nvSpPr>
        <p:spPr>
          <a:xfrm>
            <a:off x="794613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37" name="Shape 135"/>
          <p:cNvSpPr/>
          <p:nvPr/>
        </p:nvSpPr>
        <p:spPr>
          <a:xfrm>
            <a:off x="8046720" y="1627632"/>
            <a:ext cx="1828800" cy="1920240"/>
          </a:xfrm>
          <a:prstGeom prst="rect">
            <a:avLst/>
          </a:prstGeom>
          <a:solidFill>
            <a:srgbClr val="FFFFFF"/>
          </a:solidFill>
          <a:ln w="6350">
            <a:solidFill>
              <a:srgbClr val="D9D9D9"/>
            </a:solidFill>
            <a:prstDash val="solid"/>
          </a:ln>
        </p:spPr>
      </p:sp>
      <p:sp>
        <p:nvSpPr>
          <p:cNvPr id="138" name="Text 136"/>
          <p:cNvSpPr txBox="1"/>
          <p:nvPr/>
        </p:nvSpPr>
        <p:spPr>
          <a:xfrm>
            <a:off x="811987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05  </a:t>
            </a:r>
            <a:pPr indent="0" marL="0">
              <a:buNone/>
            </a:pPr>
            <a:r>
              <a:rPr lang="en-US" sz="750" b="1" spc="50" kern="0" dirty="0">
                <a:solidFill>
                  <a:srgbClr val="1B1B1B"/>
                </a:solidFill>
                <a:latin typeface="Arial" pitchFamily="34" charset="0"/>
                <a:ea typeface="Arial" pitchFamily="34" charset="-122"/>
                <a:cs typeface="Arial" pitchFamily="34" charset="-120"/>
              </a:rPr>
              <a:t>MASSING</a:t>
            </a:r>
            <a:endParaRPr lang="en-US" sz="750" dirty="0"/>
          </a:p>
        </p:txBody>
      </p:sp>
      <p:sp>
        <p:nvSpPr>
          <p:cNvPr id="139" name="Shape 137"/>
          <p:cNvSpPr/>
          <p:nvPr/>
        </p:nvSpPr>
        <p:spPr>
          <a:xfrm>
            <a:off x="8101584" y="2693026"/>
            <a:ext cx="1719072" cy="818270"/>
          </a:xfrm>
          <a:custGeom>
            <a:avLst/>
            <a:gdLst/>
            <a:ahLst/>
            <a:cxnLst/>
            <a:rect l="l" t="t" r="r" b="b"/>
            <a:pathLst>
              <a:path w="1719072" h="818270">
                <a:moveTo>
                  <a:pt x="0" y="556386"/>
                </a:moveTo>
                <a:lnTo>
                  <a:pt x="28651" y="556386"/>
                </a:lnTo>
                <a:lnTo>
                  <a:pt x="57302" y="556386"/>
                </a:lnTo>
                <a:lnTo>
                  <a:pt x="85954" y="556386"/>
                </a:lnTo>
                <a:lnTo>
                  <a:pt x="114605" y="556386"/>
                </a:lnTo>
                <a:lnTo>
                  <a:pt x="143256" y="556386"/>
                </a:lnTo>
                <a:lnTo>
                  <a:pt x="171907" y="556386"/>
                </a:lnTo>
                <a:lnTo>
                  <a:pt x="200558" y="555915"/>
                </a:lnTo>
                <a:lnTo>
                  <a:pt x="229210" y="550638"/>
                </a:lnTo>
                <a:lnTo>
                  <a:pt x="257861" y="539605"/>
                </a:lnTo>
                <a:lnTo>
                  <a:pt x="286512" y="523052"/>
                </a:lnTo>
                <a:lnTo>
                  <a:pt x="315163" y="501327"/>
                </a:lnTo>
                <a:lnTo>
                  <a:pt x="343814" y="474888"/>
                </a:lnTo>
                <a:lnTo>
                  <a:pt x="372466" y="444295"/>
                </a:lnTo>
                <a:lnTo>
                  <a:pt x="401117" y="410193"/>
                </a:lnTo>
                <a:lnTo>
                  <a:pt x="429768" y="373302"/>
                </a:lnTo>
                <a:lnTo>
                  <a:pt x="458419" y="334402"/>
                </a:lnTo>
                <a:lnTo>
                  <a:pt x="487070" y="294313"/>
                </a:lnTo>
                <a:lnTo>
                  <a:pt x="515722" y="253883"/>
                </a:lnTo>
                <a:lnTo>
                  <a:pt x="544373" y="213965"/>
                </a:lnTo>
                <a:lnTo>
                  <a:pt x="573024" y="175402"/>
                </a:lnTo>
                <a:lnTo>
                  <a:pt x="601675" y="139008"/>
                </a:lnTo>
                <a:lnTo>
                  <a:pt x="630326" y="105552"/>
                </a:lnTo>
                <a:lnTo>
                  <a:pt x="658978" y="75741"/>
                </a:lnTo>
                <a:lnTo>
                  <a:pt x="687629" y="50204"/>
                </a:lnTo>
                <a:lnTo>
                  <a:pt x="716280" y="29479"/>
                </a:lnTo>
                <a:lnTo>
                  <a:pt x="744931" y="14006"/>
                </a:lnTo>
                <a:lnTo>
                  <a:pt x="773582" y="4110"/>
                </a:lnTo>
                <a:lnTo>
                  <a:pt x="802234" y="0"/>
                </a:lnTo>
                <a:lnTo>
                  <a:pt x="830885" y="1764"/>
                </a:lnTo>
                <a:lnTo>
                  <a:pt x="859536" y="9363"/>
                </a:lnTo>
                <a:lnTo>
                  <a:pt x="888187" y="22639"/>
                </a:lnTo>
                <a:lnTo>
                  <a:pt x="916838" y="41309"/>
                </a:lnTo>
                <a:lnTo>
                  <a:pt x="945490" y="64981"/>
                </a:lnTo>
                <a:lnTo>
                  <a:pt x="974141" y="93153"/>
                </a:lnTo>
                <a:lnTo>
                  <a:pt x="1002792" y="125232"/>
                </a:lnTo>
                <a:lnTo>
                  <a:pt x="1031443" y="160540"/>
                </a:lnTo>
                <a:lnTo>
                  <a:pt x="1060094" y="198331"/>
                </a:lnTo>
                <a:lnTo>
                  <a:pt x="1088746" y="237807"/>
                </a:lnTo>
                <a:lnTo>
                  <a:pt x="1117397" y="278134"/>
                </a:lnTo>
                <a:lnTo>
                  <a:pt x="1146048" y="318462"/>
                </a:lnTo>
                <a:lnTo>
                  <a:pt x="1174699" y="357938"/>
                </a:lnTo>
                <a:lnTo>
                  <a:pt x="1203350" y="395729"/>
                </a:lnTo>
                <a:lnTo>
                  <a:pt x="1232002" y="431036"/>
                </a:lnTo>
                <a:lnTo>
                  <a:pt x="1260653" y="463115"/>
                </a:lnTo>
                <a:lnTo>
                  <a:pt x="1289304" y="491288"/>
                </a:lnTo>
                <a:lnTo>
                  <a:pt x="1317955" y="514959"/>
                </a:lnTo>
                <a:lnTo>
                  <a:pt x="1346606" y="533630"/>
                </a:lnTo>
                <a:lnTo>
                  <a:pt x="1375258" y="546905"/>
                </a:lnTo>
                <a:lnTo>
                  <a:pt x="1403909" y="554505"/>
                </a:lnTo>
                <a:lnTo>
                  <a:pt x="1432560" y="556386"/>
                </a:lnTo>
                <a:lnTo>
                  <a:pt x="1461211" y="556386"/>
                </a:lnTo>
                <a:lnTo>
                  <a:pt x="1489862" y="556386"/>
                </a:lnTo>
                <a:lnTo>
                  <a:pt x="1518514" y="556386"/>
                </a:lnTo>
                <a:lnTo>
                  <a:pt x="1547165" y="556386"/>
                </a:lnTo>
                <a:lnTo>
                  <a:pt x="1575816" y="556386"/>
                </a:lnTo>
                <a:lnTo>
                  <a:pt x="1604467" y="556386"/>
                </a:lnTo>
                <a:lnTo>
                  <a:pt x="1633118" y="556386"/>
                </a:lnTo>
                <a:lnTo>
                  <a:pt x="1661770" y="556386"/>
                </a:lnTo>
                <a:lnTo>
                  <a:pt x="1690421" y="556386"/>
                </a:lnTo>
                <a:lnTo>
                  <a:pt x="1719072" y="556386"/>
                </a:lnTo>
                <a:lnTo>
                  <a:pt x="1719072" y="818270"/>
                </a:lnTo>
                <a:lnTo>
                  <a:pt x="0" y="818270"/>
                </a:lnTo>
                <a:close/>
              </a:path>
            </a:pathLst>
          </a:custGeom>
          <a:solidFill>
            <a:srgbClr val="E3ECDC"/>
          </a:solidFill>
          <a:ln w="12700"/>
        </p:spPr>
      </p:sp>
      <p:sp>
        <p:nvSpPr>
          <p:cNvPr id="140" name="Shape 138"/>
          <p:cNvSpPr/>
          <p:nvPr/>
        </p:nvSpPr>
        <p:spPr>
          <a:xfrm>
            <a:off x="8101584" y="2693026"/>
            <a:ext cx="1719072" cy="556386"/>
          </a:xfrm>
          <a:custGeom>
            <a:avLst/>
            <a:gdLst/>
            <a:ahLst/>
            <a:cxnLst/>
            <a:rect l="l" t="t" r="r" b="b"/>
            <a:pathLst>
              <a:path w="1719072" h="556386">
                <a:moveTo>
                  <a:pt x="0" y="556386"/>
                </a:moveTo>
                <a:lnTo>
                  <a:pt x="28651" y="556386"/>
                </a:lnTo>
                <a:lnTo>
                  <a:pt x="57302" y="556386"/>
                </a:lnTo>
                <a:lnTo>
                  <a:pt x="85954" y="556386"/>
                </a:lnTo>
                <a:lnTo>
                  <a:pt x="114605" y="556386"/>
                </a:lnTo>
                <a:lnTo>
                  <a:pt x="143256" y="556386"/>
                </a:lnTo>
                <a:lnTo>
                  <a:pt x="171907" y="556386"/>
                </a:lnTo>
                <a:lnTo>
                  <a:pt x="200558" y="555915"/>
                </a:lnTo>
                <a:lnTo>
                  <a:pt x="229210" y="550638"/>
                </a:lnTo>
                <a:lnTo>
                  <a:pt x="257861" y="539605"/>
                </a:lnTo>
                <a:lnTo>
                  <a:pt x="286512" y="523052"/>
                </a:lnTo>
                <a:lnTo>
                  <a:pt x="315163" y="501327"/>
                </a:lnTo>
                <a:lnTo>
                  <a:pt x="343814" y="474888"/>
                </a:lnTo>
                <a:lnTo>
                  <a:pt x="372466" y="444295"/>
                </a:lnTo>
                <a:lnTo>
                  <a:pt x="401117" y="410193"/>
                </a:lnTo>
                <a:lnTo>
                  <a:pt x="429768" y="373302"/>
                </a:lnTo>
                <a:lnTo>
                  <a:pt x="458419" y="334402"/>
                </a:lnTo>
                <a:lnTo>
                  <a:pt x="487070" y="294313"/>
                </a:lnTo>
                <a:lnTo>
                  <a:pt x="515722" y="253883"/>
                </a:lnTo>
                <a:lnTo>
                  <a:pt x="544373" y="213965"/>
                </a:lnTo>
                <a:lnTo>
                  <a:pt x="573024" y="175402"/>
                </a:lnTo>
                <a:lnTo>
                  <a:pt x="601675" y="139008"/>
                </a:lnTo>
                <a:lnTo>
                  <a:pt x="630326" y="105552"/>
                </a:lnTo>
                <a:lnTo>
                  <a:pt x="658978" y="75741"/>
                </a:lnTo>
                <a:lnTo>
                  <a:pt x="687629" y="50204"/>
                </a:lnTo>
                <a:lnTo>
                  <a:pt x="716280" y="29479"/>
                </a:lnTo>
                <a:lnTo>
                  <a:pt x="744931" y="14006"/>
                </a:lnTo>
                <a:lnTo>
                  <a:pt x="773582" y="4110"/>
                </a:lnTo>
                <a:lnTo>
                  <a:pt x="802234" y="0"/>
                </a:lnTo>
                <a:lnTo>
                  <a:pt x="830885" y="1764"/>
                </a:lnTo>
                <a:lnTo>
                  <a:pt x="859536" y="9363"/>
                </a:lnTo>
                <a:lnTo>
                  <a:pt x="888187" y="22639"/>
                </a:lnTo>
                <a:lnTo>
                  <a:pt x="916838" y="41309"/>
                </a:lnTo>
                <a:lnTo>
                  <a:pt x="945490" y="64981"/>
                </a:lnTo>
                <a:lnTo>
                  <a:pt x="974141" y="93153"/>
                </a:lnTo>
                <a:lnTo>
                  <a:pt x="1002792" y="125232"/>
                </a:lnTo>
                <a:lnTo>
                  <a:pt x="1031443" y="160540"/>
                </a:lnTo>
                <a:lnTo>
                  <a:pt x="1060094" y="198331"/>
                </a:lnTo>
                <a:lnTo>
                  <a:pt x="1088746" y="237807"/>
                </a:lnTo>
                <a:lnTo>
                  <a:pt x="1117397" y="278134"/>
                </a:lnTo>
                <a:lnTo>
                  <a:pt x="1146048" y="318462"/>
                </a:lnTo>
                <a:lnTo>
                  <a:pt x="1174699" y="357938"/>
                </a:lnTo>
                <a:lnTo>
                  <a:pt x="1203350" y="395729"/>
                </a:lnTo>
                <a:lnTo>
                  <a:pt x="1232002" y="431036"/>
                </a:lnTo>
                <a:lnTo>
                  <a:pt x="1260653" y="463115"/>
                </a:lnTo>
                <a:lnTo>
                  <a:pt x="1289304" y="491288"/>
                </a:lnTo>
                <a:lnTo>
                  <a:pt x="1317955" y="514959"/>
                </a:lnTo>
                <a:lnTo>
                  <a:pt x="1346606" y="533630"/>
                </a:lnTo>
                <a:lnTo>
                  <a:pt x="1375258" y="546905"/>
                </a:lnTo>
                <a:lnTo>
                  <a:pt x="1403909" y="554505"/>
                </a:lnTo>
                <a:lnTo>
                  <a:pt x="1432560" y="556386"/>
                </a:lnTo>
                <a:lnTo>
                  <a:pt x="1461211" y="556386"/>
                </a:lnTo>
                <a:lnTo>
                  <a:pt x="1489862" y="556386"/>
                </a:lnTo>
                <a:lnTo>
                  <a:pt x="1518514" y="556386"/>
                </a:lnTo>
                <a:lnTo>
                  <a:pt x="1547165" y="556386"/>
                </a:lnTo>
                <a:lnTo>
                  <a:pt x="1575816" y="556386"/>
                </a:lnTo>
                <a:lnTo>
                  <a:pt x="1604467" y="556386"/>
                </a:lnTo>
                <a:lnTo>
                  <a:pt x="1633118" y="556386"/>
                </a:lnTo>
                <a:lnTo>
                  <a:pt x="1661770" y="556386"/>
                </a:lnTo>
                <a:lnTo>
                  <a:pt x="1690421" y="556386"/>
                </a:lnTo>
                <a:lnTo>
                  <a:pt x="1719072" y="556386"/>
                </a:lnTo>
              </a:path>
            </a:pathLst>
          </a:custGeom>
          <a:ln w="15875">
            <a:solidFill>
              <a:srgbClr val="1B1B1B"/>
            </a:solidFill>
            <a:prstDash val="solid"/>
          </a:ln>
        </p:spPr>
      </p:sp>
      <p:sp>
        <p:nvSpPr>
          <p:cNvPr id="141" name="Text 139"/>
          <p:cNvSpPr txBox="1"/>
          <p:nvPr/>
        </p:nvSpPr>
        <p:spPr>
          <a:xfrm>
            <a:off x="7976128" y="3258556"/>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42" name="Text 140"/>
          <p:cNvSpPr txBox="1"/>
          <p:nvPr/>
        </p:nvSpPr>
        <p:spPr>
          <a:xfrm>
            <a:off x="9488912" y="3258556"/>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43" name="Shape 141"/>
          <p:cNvSpPr/>
          <p:nvPr/>
        </p:nvSpPr>
        <p:spPr>
          <a:xfrm>
            <a:off x="8285525" y="3067362"/>
            <a:ext cx="113459" cy="122758"/>
          </a:xfrm>
          <a:prstGeom prst="rect">
            <a:avLst/>
          </a:prstGeom>
          <a:solidFill>
            <a:srgbClr val="1B1B1B"/>
          </a:solidFill>
          <a:ln/>
        </p:spPr>
      </p:sp>
      <p:sp>
        <p:nvSpPr>
          <p:cNvPr id="144" name="Shape 142"/>
          <p:cNvSpPr/>
          <p:nvPr/>
        </p:nvSpPr>
        <p:spPr>
          <a:xfrm>
            <a:off x="8501096" y="2742952"/>
            <a:ext cx="73748" cy="245516"/>
          </a:xfrm>
          <a:prstGeom prst="rect">
            <a:avLst/>
          </a:prstGeom>
          <a:solidFill>
            <a:srgbClr val="1B1B1B"/>
          </a:solidFill>
          <a:ln/>
        </p:spPr>
      </p:sp>
      <p:sp>
        <p:nvSpPr>
          <p:cNvPr id="145" name="Shape 143"/>
          <p:cNvSpPr/>
          <p:nvPr/>
        </p:nvSpPr>
        <p:spPr>
          <a:xfrm>
            <a:off x="8507587" y="2988469"/>
            <a:ext cx="9144" cy="102843"/>
          </a:xfrm>
          <a:custGeom>
            <a:avLst/>
            <a:gdLst/>
            <a:ahLst/>
            <a:cxnLst/>
            <a:rect l="l" t="t" r="r" b="b"/>
            <a:pathLst>
              <a:path w="9144" h="102843">
                <a:moveTo>
                  <a:pt x="4572" y="0"/>
                </a:moveTo>
                <a:lnTo>
                  <a:pt x="4572" y="102843"/>
                </a:lnTo>
              </a:path>
            </a:pathLst>
          </a:custGeom>
          <a:ln w="9525">
            <a:solidFill>
              <a:srgbClr val="1B1B1B"/>
            </a:solidFill>
            <a:prstDash val="solid"/>
          </a:ln>
        </p:spPr>
      </p:sp>
      <p:sp>
        <p:nvSpPr>
          <p:cNvPr id="146" name="Shape 144"/>
          <p:cNvSpPr/>
          <p:nvPr/>
        </p:nvSpPr>
        <p:spPr>
          <a:xfrm>
            <a:off x="8533398" y="2988469"/>
            <a:ext cx="9144" cy="69022"/>
          </a:xfrm>
          <a:custGeom>
            <a:avLst/>
            <a:gdLst/>
            <a:ahLst/>
            <a:cxnLst/>
            <a:rect l="l" t="t" r="r" b="b"/>
            <a:pathLst>
              <a:path w="9144" h="69022">
                <a:moveTo>
                  <a:pt x="4572" y="0"/>
                </a:moveTo>
                <a:lnTo>
                  <a:pt x="4572" y="69022"/>
                </a:lnTo>
              </a:path>
            </a:pathLst>
          </a:custGeom>
          <a:ln w="9525">
            <a:solidFill>
              <a:srgbClr val="1B1B1B"/>
            </a:solidFill>
            <a:prstDash val="solid"/>
          </a:ln>
        </p:spPr>
      </p:sp>
      <p:sp>
        <p:nvSpPr>
          <p:cNvPr id="147" name="Shape 145"/>
          <p:cNvSpPr/>
          <p:nvPr/>
        </p:nvSpPr>
        <p:spPr>
          <a:xfrm>
            <a:off x="8559210" y="2988469"/>
            <a:ext cx="9144" cy="33721"/>
          </a:xfrm>
          <a:custGeom>
            <a:avLst/>
            <a:gdLst/>
            <a:ahLst/>
            <a:cxnLst/>
            <a:rect l="l" t="t" r="r" b="b"/>
            <a:pathLst>
              <a:path w="9144" h="33721">
                <a:moveTo>
                  <a:pt x="4572" y="0"/>
                </a:moveTo>
                <a:lnTo>
                  <a:pt x="4572" y="33721"/>
                </a:lnTo>
              </a:path>
            </a:pathLst>
          </a:custGeom>
          <a:ln w="9525">
            <a:solidFill>
              <a:srgbClr val="1B1B1B"/>
            </a:solidFill>
            <a:prstDash val="solid"/>
          </a:ln>
        </p:spPr>
      </p:sp>
      <p:sp>
        <p:nvSpPr>
          <p:cNvPr id="148" name="Shape 146"/>
          <p:cNvSpPr/>
          <p:nvPr/>
        </p:nvSpPr>
        <p:spPr>
          <a:xfrm>
            <a:off x="8625901" y="2579735"/>
            <a:ext cx="68075" cy="245516"/>
          </a:xfrm>
          <a:prstGeom prst="rect">
            <a:avLst/>
          </a:prstGeom>
          <a:solidFill>
            <a:srgbClr val="1B1B1B"/>
          </a:solidFill>
          <a:ln/>
        </p:spPr>
      </p:sp>
      <p:sp>
        <p:nvSpPr>
          <p:cNvPr id="149" name="Shape 147"/>
          <p:cNvSpPr/>
          <p:nvPr/>
        </p:nvSpPr>
        <p:spPr>
          <a:xfrm>
            <a:off x="8631540" y="2825252"/>
            <a:ext cx="9144" cy="95344"/>
          </a:xfrm>
          <a:custGeom>
            <a:avLst/>
            <a:gdLst/>
            <a:ahLst/>
            <a:cxnLst/>
            <a:rect l="l" t="t" r="r" b="b"/>
            <a:pathLst>
              <a:path w="9144" h="95344">
                <a:moveTo>
                  <a:pt x="4572" y="0"/>
                </a:moveTo>
                <a:lnTo>
                  <a:pt x="4572" y="95344"/>
                </a:lnTo>
              </a:path>
            </a:pathLst>
          </a:custGeom>
          <a:ln w="9525">
            <a:solidFill>
              <a:srgbClr val="1B1B1B"/>
            </a:solidFill>
            <a:prstDash val="solid"/>
          </a:ln>
        </p:spPr>
      </p:sp>
      <p:sp>
        <p:nvSpPr>
          <p:cNvPr id="150" name="Shape 148"/>
          <p:cNvSpPr/>
          <p:nvPr/>
        </p:nvSpPr>
        <p:spPr>
          <a:xfrm>
            <a:off x="8655367" y="2825252"/>
            <a:ext cx="9144" cy="62699"/>
          </a:xfrm>
          <a:custGeom>
            <a:avLst/>
            <a:gdLst/>
            <a:ahLst/>
            <a:cxnLst/>
            <a:rect l="l" t="t" r="r" b="b"/>
            <a:pathLst>
              <a:path w="9144" h="62699">
                <a:moveTo>
                  <a:pt x="4572" y="0"/>
                </a:moveTo>
                <a:lnTo>
                  <a:pt x="4572" y="62699"/>
                </a:lnTo>
              </a:path>
            </a:pathLst>
          </a:custGeom>
          <a:ln w="9525">
            <a:solidFill>
              <a:srgbClr val="1B1B1B"/>
            </a:solidFill>
            <a:prstDash val="solid"/>
          </a:ln>
        </p:spPr>
      </p:sp>
      <p:sp>
        <p:nvSpPr>
          <p:cNvPr id="151" name="Shape 149"/>
          <p:cNvSpPr/>
          <p:nvPr/>
        </p:nvSpPr>
        <p:spPr>
          <a:xfrm>
            <a:off x="8679193" y="2825252"/>
            <a:ext cx="9144" cy="31271"/>
          </a:xfrm>
          <a:custGeom>
            <a:avLst/>
            <a:gdLst/>
            <a:ahLst/>
            <a:cxnLst/>
            <a:rect l="l" t="t" r="r" b="b"/>
            <a:pathLst>
              <a:path w="9144" h="31271">
                <a:moveTo>
                  <a:pt x="4572" y="0"/>
                </a:moveTo>
                <a:lnTo>
                  <a:pt x="4572" y="31271"/>
                </a:lnTo>
              </a:path>
            </a:pathLst>
          </a:custGeom>
          <a:ln w="9525">
            <a:solidFill>
              <a:srgbClr val="1B1B1B"/>
            </a:solidFill>
            <a:prstDash val="solid"/>
          </a:ln>
        </p:spPr>
      </p:sp>
      <p:sp>
        <p:nvSpPr>
          <p:cNvPr id="152" name="Shape 150"/>
          <p:cNvSpPr/>
          <p:nvPr/>
        </p:nvSpPr>
        <p:spPr>
          <a:xfrm>
            <a:off x="8739360" y="2469727"/>
            <a:ext cx="62402" cy="245516"/>
          </a:xfrm>
          <a:prstGeom prst="rect">
            <a:avLst/>
          </a:prstGeom>
          <a:solidFill>
            <a:srgbClr val="1B1B1B"/>
          </a:solidFill>
          <a:ln/>
        </p:spPr>
      </p:sp>
      <p:sp>
        <p:nvSpPr>
          <p:cNvPr id="153" name="Shape 151"/>
          <p:cNvSpPr/>
          <p:nvPr/>
        </p:nvSpPr>
        <p:spPr>
          <a:xfrm>
            <a:off x="8744148" y="2715243"/>
            <a:ext cx="9144" cy="65360"/>
          </a:xfrm>
          <a:custGeom>
            <a:avLst/>
            <a:gdLst/>
            <a:ahLst/>
            <a:cxnLst/>
            <a:rect l="l" t="t" r="r" b="b"/>
            <a:pathLst>
              <a:path w="9144" h="65360">
                <a:moveTo>
                  <a:pt x="4572" y="0"/>
                </a:moveTo>
                <a:lnTo>
                  <a:pt x="4572" y="65360"/>
                </a:lnTo>
              </a:path>
            </a:pathLst>
          </a:custGeom>
          <a:ln w="9525">
            <a:solidFill>
              <a:srgbClr val="1B1B1B"/>
            </a:solidFill>
            <a:prstDash val="solid"/>
          </a:ln>
        </p:spPr>
      </p:sp>
      <p:sp>
        <p:nvSpPr>
          <p:cNvPr id="154" name="Shape 152"/>
          <p:cNvSpPr/>
          <p:nvPr/>
        </p:nvSpPr>
        <p:spPr>
          <a:xfrm>
            <a:off x="8765989" y="2715243"/>
            <a:ext cx="9144" cy="44096"/>
          </a:xfrm>
          <a:custGeom>
            <a:avLst/>
            <a:gdLst/>
            <a:ahLst/>
            <a:cxnLst/>
            <a:rect l="l" t="t" r="r" b="b"/>
            <a:pathLst>
              <a:path w="9144" h="44096">
                <a:moveTo>
                  <a:pt x="4572" y="0"/>
                </a:moveTo>
                <a:lnTo>
                  <a:pt x="4572" y="44096"/>
                </a:lnTo>
              </a:path>
            </a:pathLst>
          </a:custGeom>
          <a:ln w="9525">
            <a:solidFill>
              <a:srgbClr val="1B1B1B"/>
            </a:solidFill>
            <a:prstDash val="solid"/>
          </a:ln>
        </p:spPr>
      </p:sp>
      <p:sp>
        <p:nvSpPr>
          <p:cNvPr id="155" name="Shape 153"/>
          <p:cNvSpPr/>
          <p:nvPr/>
        </p:nvSpPr>
        <p:spPr>
          <a:xfrm>
            <a:off x="8787830" y="2715243"/>
            <a:ext cx="9144" cy="25432"/>
          </a:xfrm>
          <a:custGeom>
            <a:avLst/>
            <a:gdLst/>
            <a:ahLst/>
            <a:cxnLst/>
            <a:rect l="l" t="t" r="r" b="b"/>
            <a:pathLst>
              <a:path w="9144" h="25432">
                <a:moveTo>
                  <a:pt x="4572" y="0"/>
                </a:moveTo>
                <a:lnTo>
                  <a:pt x="4572" y="25432"/>
                </a:lnTo>
              </a:path>
            </a:pathLst>
          </a:custGeom>
          <a:ln w="9525">
            <a:solidFill>
              <a:srgbClr val="1B1B1B"/>
            </a:solidFill>
            <a:prstDash val="solid"/>
          </a:ln>
        </p:spPr>
      </p:sp>
      <p:sp>
        <p:nvSpPr>
          <p:cNvPr id="156" name="Shape 154"/>
          <p:cNvSpPr/>
          <p:nvPr/>
        </p:nvSpPr>
        <p:spPr>
          <a:xfrm>
            <a:off x="9534602" y="3090078"/>
            <a:ext cx="113459" cy="122758"/>
          </a:xfrm>
          <a:prstGeom prst="rect">
            <a:avLst/>
          </a:prstGeom>
          <a:solidFill>
            <a:srgbClr val="1B1B1B"/>
          </a:solidFill>
          <a:ln/>
        </p:spPr>
      </p:sp>
      <p:sp>
        <p:nvSpPr>
          <p:cNvPr id="157" name="Shape 155"/>
          <p:cNvSpPr/>
          <p:nvPr/>
        </p:nvSpPr>
        <p:spPr>
          <a:xfrm>
            <a:off x="8841473" y="2670048"/>
            <a:ext cx="136151" cy="9144"/>
          </a:xfrm>
          <a:custGeom>
            <a:avLst/>
            <a:gdLst/>
            <a:ahLst/>
            <a:cxnLst/>
            <a:rect l="l" t="t" r="r" b="b"/>
            <a:pathLst>
              <a:path w="136151" h="9144">
                <a:moveTo>
                  <a:pt x="0" y="4572"/>
                </a:moveTo>
                <a:lnTo>
                  <a:pt x="136151" y="4572"/>
                </a:lnTo>
              </a:path>
            </a:pathLst>
          </a:custGeom>
          <a:ln w="38100">
            <a:solidFill>
              <a:srgbClr val="C4262E"/>
            </a:solidFill>
            <a:prstDash val="solid"/>
          </a:ln>
        </p:spPr>
      </p:sp>
      <p:sp>
        <p:nvSpPr>
          <p:cNvPr id="158" name="Shape 156"/>
          <p:cNvSpPr/>
          <p:nvPr/>
        </p:nvSpPr>
        <p:spPr>
          <a:xfrm>
            <a:off x="8274179" y="2665476"/>
            <a:ext cx="635369" cy="556504"/>
          </a:xfrm>
          <a:custGeom>
            <a:avLst/>
            <a:gdLst/>
            <a:ahLst/>
            <a:cxnLst/>
            <a:rect l="l" t="t" r="r" b="b"/>
            <a:pathLst>
              <a:path w="635369" h="556504">
                <a:moveTo>
                  <a:pt x="0" y="556504"/>
                </a:moveTo>
                <a:lnTo>
                  <a:pt x="26474" y="556147"/>
                </a:lnTo>
                <a:lnTo>
                  <a:pt x="52947" y="551756"/>
                </a:lnTo>
                <a:lnTo>
                  <a:pt x="79421" y="542431"/>
                </a:lnTo>
                <a:lnTo>
                  <a:pt x="105895" y="528343"/>
                </a:lnTo>
                <a:lnTo>
                  <a:pt x="132369" y="509745"/>
                </a:lnTo>
                <a:lnTo>
                  <a:pt x="158842" y="486972"/>
                </a:lnTo>
                <a:lnTo>
                  <a:pt x="185316" y="460435"/>
                </a:lnTo>
                <a:lnTo>
                  <a:pt x="211790" y="430612"/>
                </a:lnTo>
                <a:lnTo>
                  <a:pt x="238263" y="398042"/>
                </a:lnTo>
                <a:lnTo>
                  <a:pt x="264737" y="363312"/>
                </a:lnTo>
                <a:lnTo>
                  <a:pt x="291211" y="327048"/>
                </a:lnTo>
                <a:lnTo>
                  <a:pt x="317685" y="289904"/>
                </a:lnTo>
                <a:lnTo>
                  <a:pt x="344158" y="252550"/>
                </a:lnTo>
                <a:lnTo>
                  <a:pt x="370632" y="215659"/>
                </a:lnTo>
                <a:lnTo>
                  <a:pt x="397106" y="179897"/>
                </a:lnTo>
                <a:lnTo>
                  <a:pt x="423579" y="145909"/>
                </a:lnTo>
                <a:lnTo>
                  <a:pt x="450053" y="114307"/>
                </a:lnTo>
                <a:lnTo>
                  <a:pt x="476527" y="85662"/>
                </a:lnTo>
                <a:lnTo>
                  <a:pt x="503000" y="60490"/>
                </a:lnTo>
                <a:lnTo>
                  <a:pt x="529474" y="39245"/>
                </a:lnTo>
                <a:lnTo>
                  <a:pt x="555948" y="22310"/>
                </a:lnTo>
                <a:lnTo>
                  <a:pt x="582422" y="9991"/>
                </a:lnTo>
                <a:lnTo>
                  <a:pt x="608895" y="2509"/>
                </a:lnTo>
                <a:lnTo>
                  <a:pt x="635369" y="0"/>
                </a:lnTo>
              </a:path>
            </a:pathLst>
          </a:custGeom>
          <a:ln w="22225">
            <a:solidFill>
              <a:srgbClr val="C4262E"/>
            </a:solidFill>
            <a:prstDash val="dash"/>
            <a:tailEnd type="triangle"/>
          </a:ln>
        </p:spPr>
      </p:sp>
      <p:sp>
        <p:nvSpPr>
          <p:cNvPr id="159" name="Shape 157"/>
          <p:cNvSpPr/>
          <p:nvPr/>
        </p:nvSpPr>
        <p:spPr>
          <a:xfrm>
            <a:off x="986637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60" name="Shape 158"/>
          <p:cNvSpPr/>
          <p:nvPr/>
        </p:nvSpPr>
        <p:spPr>
          <a:xfrm>
            <a:off x="9966960" y="1627632"/>
            <a:ext cx="1828800" cy="1920240"/>
          </a:xfrm>
          <a:prstGeom prst="rect">
            <a:avLst/>
          </a:prstGeom>
          <a:solidFill>
            <a:srgbClr val="FFFFFF"/>
          </a:solidFill>
          <a:ln w="6350">
            <a:solidFill>
              <a:srgbClr val="D9D9D9"/>
            </a:solidFill>
            <a:prstDash val="solid"/>
          </a:ln>
        </p:spPr>
      </p:sp>
      <p:sp>
        <p:nvSpPr>
          <p:cNvPr id="161" name="Text 159"/>
          <p:cNvSpPr txBox="1"/>
          <p:nvPr/>
        </p:nvSpPr>
        <p:spPr>
          <a:xfrm>
            <a:off x="1004011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06  </a:t>
            </a:r>
            <a:pPr indent="0" marL="0">
              <a:buNone/>
            </a:pPr>
            <a:r>
              <a:rPr lang="en-US" sz="750" b="1" spc="50" kern="0" dirty="0">
                <a:solidFill>
                  <a:srgbClr val="1B1B1B"/>
                </a:solidFill>
                <a:latin typeface="Arial" pitchFamily="34" charset="0"/>
                <a:ea typeface="Arial" pitchFamily="34" charset="-122"/>
                <a:cs typeface="Arial" pitchFamily="34" charset="-120"/>
              </a:rPr>
              <a:t>EXPERIENCE</a:t>
            </a:r>
            <a:endParaRPr lang="en-US" sz="750" dirty="0"/>
          </a:p>
        </p:txBody>
      </p:sp>
      <p:sp>
        <p:nvSpPr>
          <p:cNvPr id="162" name="Shape 160"/>
          <p:cNvSpPr/>
          <p:nvPr/>
        </p:nvSpPr>
        <p:spPr>
          <a:xfrm>
            <a:off x="10021824" y="2693026"/>
            <a:ext cx="1719072" cy="818270"/>
          </a:xfrm>
          <a:custGeom>
            <a:avLst/>
            <a:gdLst/>
            <a:ahLst/>
            <a:cxnLst/>
            <a:rect l="l" t="t" r="r" b="b"/>
            <a:pathLst>
              <a:path w="1719072" h="818270">
                <a:moveTo>
                  <a:pt x="0" y="556386"/>
                </a:moveTo>
                <a:lnTo>
                  <a:pt x="28651" y="556386"/>
                </a:lnTo>
                <a:lnTo>
                  <a:pt x="57302" y="556386"/>
                </a:lnTo>
                <a:lnTo>
                  <a:pt x="85954" y="556386"/>
                </a:lnTo>
                <a:lnTo>
                  <a:pt x="114605" y="556386"/>
                </a:lnTo>
                <a:lnTo>
                  <a:pt x="143256" y="556386"/>
                </a:lnTo>
                <a:lnTo>
                  <a:pt x="171907" y="556386"/>
                </a:lnTo>
                <a:lnTo>
                  <a:pt x="200558" y="555915"/>
                </a:lnTo>
                <a:lnTo>
                  <a:pt x="229210" y="550638"/>
                </a:lnTo>
                <a:lnTo>
                  <a:pt x="257861" y="539605"/>
                </a:lnTo>
                <a:lnTo>
                  <a:pt x="286512" y="523052"/>
                </a:lnTo>
                <a:lnTo>
                  <a:pt x="315163" y="501327"/>
                </a:lnTo>
                <a:lnTo>
                  <a:pt x="343814" y="474888"/>
                </a:lnTo>
                <a:lnTo>
                  <a:pt x="372466" y="444295"/>
                </a:lnTo>
                <a:lnTo>
                  <a:pt x="401117" y="410193"/>
                </a:lnTo>
                <a:lnTo>
                  <a:pt x="429768" y="373302"/>
                </a:lnTo>
                <a:lnTo>
                  <a:pt x="458419" y="334402"/>
                </a:lnTo>
                <a:lnTo>
                  <a:pt x="487070" y="294313"/>
                </a:lnTo>
                <a:lnTo>
                  <a:pt x="515722" y="253883"/>
                </a:lnTo>
                <a:lnTo>
                  <a:pt x="544373" y="213965"/>
                </a:lnTo>
                <a:lnTo>
                  <a:pt x="573024" y="175402"/>
                </a:lnTo>
                <a:lnTo>
                  <a:pt x="601675" y="139008"/>
                </a:lnTo>
                <a:lnTo>
                  <a:pt x="630326" y="105552"/>
                </a:lnTo>
                <a:lnTo>
                  <a:pt x="658978" y="75741"/>
                </a:lnTo>
                <a:lnTo>
                  <a:pt x="687629" y="50204"/>
                </a:lnTo>
                <a:lnTo>
                  <a:pt x="716280" y="29479"/>
                </a:lnTo>
                <a:lnTo>
                  <a:pt x="744931" y="14006"/>
                </a:lnTo>
                <a:lnTo>
                  <a:pt x="773582" y="4110"/>
                </a:lnTo>
                <a:lnTo>
                  <a:pt x="802234" y="0"/>
                </a:lnTo>
                <a:lnTo>
                  <a:pt x="830885" y="1764"/>
                </a:lnTo>
                <a:lnTo>
                  <a:pt x="859536" y="9363"/>
                </a:lnTo>
                <a:lnTo>
                  <a:pt x="888187" y="22639"/>
                </a:lnTo>
                <a:lnTo>
                  <a:pt x="916838" y="41309"/>
                </a:lnTo>
                <a:lnTo>
                  <a:pt x="945490" y="64981"/>
                </a:lnTo>
                <a:lnTo>
                  <a:pt x="974141" y="93153"/>
                </a:lnTo>
                <a:lnTo>
                  <a:pt x="1002792" y="125232"/>
                </a:lnTo>
                <a:lnTo>
                  <a:pt x="1031443" y="160540"/>
                </a:lnTo>
                <a:lnTo>
                  <a:pt x="1060094" y="198331"/>
                </a:lnTo>
                <a:lnTo>
                  <a:pt x="1088746" y="237807"/>
                </a:lnTo>
                <a:lnTo>
                  <a:pt x="1117397" y="278134"/>
                </a:lnTo>
                <a:lnTo>
                  <a:pt x="1146048" y="318462"/>
                </a:lnTo>
                <a:lnTo>
                  <a:pt x="1174699" y="357938"/>
                </a:lnTo>
                <a:lnTo>
                  <a:pt x="1203350" y="395729"/>
                </a:lnTo>
                <a:lnTo>
                  <a:pt x="1232002" y="431036"/>
                </a:lnTo>
                <a:lnTo>
                  <a:pt x="1260653" y="463115"/>
                </a:lnTo>
                <a:lnTo>
                  <a:pt x="1289304" y="491288"/>
                </a:lnTo>
                <a:lnTo>
                  <a:pt x="1317955" y="514959"/>
                </a:lnTo>
                <a:lnTo>
                  <a:pt x="1346606" y="533630"/>
                </a:lnTo>
                <a:lnTo>
                  <a:pt x="1375258" y="546905"/>
                </a:lnTo>
                <a:lnTo>
                  <a:pt x="1403909" y="554505"/>
                </a:lnTo>
                <a:lnTo>
                  <a:pt x="1432560" y="556386"/>
                </a:lnTo>
                <a:lnTo>
                  <a:pt x="1461211" y="556386"/>
                </a:lnTo>
                <a:lnTo>
                  <a:pt x="1489862" y="556386"/>
                </a:lnTo>
                <a:lnTo>
                  <a:pt x="1518514" y="556386"/>
                </a:lnTo>
                <a:lnTo>
                  <a:pt x="1547165" y="556386"/>
                </a:lnTo>
                <a:lnTo>
                  <a:pt x="1575816" y="556386"/>
                </a:lnTo>
                <a:lnTo>
                  <a:pt x="1604467" y="556386"/>
                </a:lnTo>
                <a:lnTo>
                  <a:pt x="1633118" y="556386"/>
                </a:lnTo>
                <a:lnTo>
                  <a:pt x="1661770" y="556386"/>
                </a:lnTo>
                <a:lnTo>
                  <a:pt x="1690421" y="556386"/>
                </a:lnTo>
                <a:lnTo>
                  <a:pt x="1719072" y="556386"/>
                </a:lnTo>
                <a:lnTo>
                  <a:pt x="1719072" y="818270"/>
                </a:lnTo>
                <a:lnTo>
                  <a:pt x="0" y="818270"/>
                </a:lnTo>
                <a:close/>
              </a:path>
            </a:pathLst>
          </a:custGeom>
          <a:solidFill>
            <a:srgbClr val="E3ECDC"/>
          </a:solidFill>
          <a:ln w="12700"/>
        </p:spPr>
      </p:sp>
      <p:sp>
        <p:nvSpPr>
          <p:cNvPr id="163" name="Shape 161"/>
          <p:cNvSpPr/>
          <p:nvPr/>
        </p:nvSpPr>
        <p:spPr>
          <a:xfrm>
            <a:off x="10021824" y="2693026"/>
            <a:ext cx="1719072" cy="556386"/>
          </a:xfrm>
          <a:custGeom>
            <a:avLst/>
            <a:gdLst/>
            <a:ahLst/>
            <a:cxnLst/>
            <a:rect l="l" t="t" r="r" b="b"/>
            <a:pathLst>
              <a:path w="1719072" h="556386">
                <a:moveTo>
                  <a:pt x="0" y="556386"/>
                </a:moveTo>
                <a:lnTo>
                  <a:pt x="28651" y="556386"/>
                </a:lnTo>
                <a:lnTo>
                  <a:pt x="57302" y="556386"/>
                </a:lnTo>
                <a:lnTo>
                  <a:pt x="85954" y="556386"/>
                </a:lnTo>
                <a:lnTo>
                  <a:pt x="114605" y="556386"/>
                </a:lnTo>
                <a:lnTo>
                  <a:pt x="143256" y="556386"/>
                </a:lnTo>
                <a:lnTo>
                  <a:pt x="171907" y="556386"/>
                </a:lnTo>
                <a:lnTo>
                  <a:pt x="200558" y="555915"/>
                </a:lnTo>
                <a:lnTo>
                  <a:pt x="229210" y="550638"/>
                </a:lnTo>
                <a:lnTo>
                  <a:pt x="257861" y="539605"/>
                </a:lnTo>
                <a:lnTo>
                  <a:pt x="286512" y="523052"/>
                </a:lnTo>
                <a:lnTo>
                  <a:pt x="315163" y="501327"/>
                </a:lnTo>
                <a:lnTo>
                  <a:pt x="343814" y="474888"/>
                </a:lnTo>
                <a:lnTo>
                  <a:pt x="372466" y="444295"/>
                </a:lnTo>
                <a:lnTo>
                  <a:pt x="401117" y="410193"/>
                </a:lnTo>
                <a:lnTo>
                  <a:pt x="429768" y="373302"/>
                </a:lnTo>
                <a:lnTo>
                  <a:pt x="458419" y="334402"/>
                </a:lnTo>
                <a:lnTo>
                  <a:pt x="487070" y="294313"/>
                </a:lnTo>
                <a:lnTo>
                  <a:pt x="515722" y="253883"/>
                </a:lnTo>
                <a:lnTo>
                  <a:pt x="544373" y="213965"/>
                </a:lnTo>
                <a:lnTo>
                  <a:pt x="573024" y="175402"/>
                </a:lnTo>
                <a:lnTo>
                  <a:pt x="601675" y="139008"/>
                </a:lnTo>
                <a:lnTo>
                  <a:pt x="630326" y="105552"/>
                </a:lnTo>
                <a:lnTo>
                  <a:pt x="658978" y="75741"/>
                </a:lnTo>
                <a:lnTo>
                  <a:pt x="687629" y="50204"/>
                </a:lnTo>
                <a:lnTo>
                  <a:pt x="716280" y="29479"/>
                </a:lnTo>
                <a:lnTo>
                  <a:pt x="744931" y="14006"/>
                </a:lnTo>
                <a:lnTo>
                  <a:pt x="773582" y="4110"/>
                </a:lnTo>
                <a:lnTo>
                  <a:pt x="802234" y="0"/>
                </a:lnTo>
                <a:lnTo>
                  <a:pt x="830885" y="1764"/>
                </a:lnTo>
                <a:lnTo>
                  <a:pt x="859536" y="9363"/>
                </a:lnTo>
                <a:lnTo>
                  <a:pt x="888187" y="22639"/>
                </a:lnTo>
                <a:lnTo>
                  <a:pt x="916838" y="41309"/>
                </a:lnTo>
                <a:lnTo>
                  <a:pt x="945490" y="64981"/>
                </a:lnTo>
                <a:lnTo>
                  <a:pt x="974141" y="93153"/>
                </a:lnTo>
                <a:lnTo>
                  <a:pt x="1002792" y="125232"/>
                </a:lnTo>
                <a:lnTo>
                  <a:pt x="1031443" y="160540"/>
                </a:lnTo>
                <a:lnTo>
                  <a:pt x="1060094" y="198331"/>
                </a:lnTo>
                <a:lnTo>
                  <a:pt x="1088746" y="237807"/>
                </a:lnTo>
                <a:lnTo>
                  <a:pt x="1117397" y="278134"/>
                </a:lnTo>
                <a:lnTo>
                  <a:pt x="1146048" y="318462"/>
                </a:lnTo>
                <a:lnTo>
                  <a:pt x="1174699" y="357938"/>
                </a:lnTo>
                <a:lnTo>
                  <a:pt x="1203350" y="395729"/>
                </a:lnTo>
                <a:lnTo>
                  <a:pt x="1232002" y="431036"/>
                </a:lnTo>
                <a:lnTo>
                  <a:pt x="1260653" y="463115"/>
                </a:lnTo>
                <a:lnTo>
                  <a:pt x="1289304" y="491288"/>
                </a:lnTo>
                <a:lnTo>
                  <a:pt x="1317955" y="514959"/>
                </a:lnTo>
                <a:lnTo>
                  <a:pt x="1346606" y="533630"/>
                </a:lnTo>
                <a:lnTo>
                  <a:pt x="1375258" y="546905"/>
                </a:lnTo>
                <a:lnTo>
                  <a:pt x="1403909" y="554505"/>
                </a:lnTo>
                <a:lnTo>
                  <a:pt x="1432560" y="556386"/>
                </a:lnTo>
                <a:lnTo>
                  <a:pt x="1461211" y="556386"/>
                </a:lnTo>
                <a:lnTo>
                  <a:pt x="1489862" y="556386"/>
                </a:lnTo>
                <a:lnTo>
                  <a:pt x="1518514" y="556386"/>
                </a:lnTo>
                <a:lnTo>
                  <a:pt x="1547165" y="556386"/>
                </a:lnTo>
                <a:lnTo>
                  <a:pt x="1575816" y="556386"/>
                </a:lnTo>
                <a:lnTo>
                  <a:pt x="1604467" y="556386"/>
                </a:lnTo>
                <a:lnTo>
                  <a:pt x="1633118" y="556386"/>
                </a:lnTo>
                <a:lnTo>
                  <a:pt x="1661770" y="556386"/>
                </a:lnTo>
                <a:lnTo>
                  <a:pt x="1690421" y="556386"/>
                </a:lnTo>
                <a:lnTo>
                  <a:pt x="1719072" y="556386"/>
                </a:lnTo>
              </a:path>
            </a:pathLst>
          </a:custGeom>
          <a:ln w="15875">
            <a:solidFill>
              <a:srgbClr val="1B1B1B"/>
            </a:solidFill>
            <a:prstDash val="solid"/>
          </a:ln>
        </p:spPr>
      </p:sp>
      <p:sp>
        <p:nvSpPr>
          <p:cNvPr id="164" name="Text 162"/>
          <p:cNvSpPr txBox="1"/>
          <p:nvPr/>
        </p:nvSpPr>
        <p:spPr>
          <a:xfrm>
            <a:off x="9896368" y="3258556"/>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65" name="Text 163"/>
          <p:cNvSpPr txBox="1"/>
          <p:nvPr/>
        </p:nvSpPr>
        <p:spPr>
          <a:xfrm>
            <a:off x="11409152" y="3258556"/>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66" name="Shape 164"/>
          <p:cNvSpPr/>
          <p:nvPr/>
        </p:nvSpPr>
        <p:spPr>
          <a:xfrm>
            <a:off x="10361066" y="3003322"/>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167" name="Shape 165"/>
          <p:cNvSpPr/>
          <p:nvPr/>
        </p:nvSpPr>
        <p:spPr>
          <a:xfrm>
            <a:off x="10310774" y="2911882"/>
            <a:ext cx="109728" cy="109728"/>
          </a:xfrm>
          <a:prstGeom prst="ellipse">
            <a:avLst/>
          </a:prstGeom>
          <a:solidFill>
            <a:srgbClr val="FFFFFF"/>
          </a:solidFill>
          <a:ln w="7620">
            <a:solidFill>
              <a:srgbClr val="4F7A43"/>
            </a:solidFill>
            <a:prstDash val="solid"/>
          </a:ln>
        </p:spPr>
      </p:sp>
      <p:sp>
        <p:nvSpPr>
          <p:cNvPr id="168" name="Shape 166"/>
          <p:cNvSpPr/>
          <p:nvPr/>
        </p:nvSpPr>
        <p:spPr>
          <a:xfrm>
            <a:off x="10498592" y="2830819"/>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169" name="Shape 167"/>
          <p:cNvSpPr/>
          <p:nvPr/>
        </p:nvSpPr>
        <p:spPr>
          <a:xfrm>
            <a:off x="10448300" y="2739379"/>
            <a:ext cx="109728" cy="109728"/>
          </a:xfrm>
          <a:prstGeom prst="ellipse">
            <a:avLst/>
          </a:prstGeom>
          <a:solidFill>
            <a:srgbClr val="FFFFFF"/>
          </a:solidFill>
          <a:ln w="7620">
            <a:solidFill>
              <a:srgbClr val="4F7A43"/>
            </a:solidFill>
            <a:prstDash val="solid"/>
          </a:ln>
        </p:spPr>
      </p:sp>
      <p:sp>
        <p:nvSpPr>
          <p:cNvPr id="170" name="Shape 168"/>
          <p:cNvSpPr/>
          <p:nvPr/>
        </p:nvSpPr>
        <p:spPr>
          <a:xfrm>
            <a:off x="11254984" y="2966167"/>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171" name="Shape 169"/>
          <p:cNvSpPr/>
          <p:nvPr/>
        </p:nvSpPr>
        <p:spPr>
          <a:xfrm>
            <a:off x="11204692" y="2874727"/>
            <a:ext cx="109728" cy="109728"/>
          </a:xfrm>
          <a:prstGeom prst="ellipse">
            <a:avLst/>
          </a:prstGeom>
          <a:solidFill>
            <a:srgbClr val="FFFFFF"/>
          </a:solidFill>
          <a:ln w="7620">
            <a:solidFill>
              <a:srgbClr val="4F7A43"/>
            </a:solidFill>
            <a:prstDash val="solid"/>
          </a:ln>
        </p:spPr>
      </p:sp>
      <p:sp>
        <p:nvSpPr>
          <p:cNvPr id="172" name="Shape 170"/>
          <p:cNvSpPr/>
          <p:nvPr/>
        </p:nvSpPr>
        <p:spPr>
          <a:xfrm>
            <a:off x="11392510" y="3075339"/>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173" name="Shape 171"/>
          <p:cNvSpPr/>
          <p:nvPr/>
        </p:nvSpPr>
        <p:spPr>
          <a:xfrm>
            <a:off x="11342218" y="2983899"/>
            <a:ext cx="109728" cy="109728"/>
          </a:xfrm>
          <a:prstGeom prst="ellipse">
            <a:avLst/>
          </a:prstGeom>
          <a:solidFill>
            <a:srgbClr val="FFFFFF"/>
          </a:solidFill>
          <a:ln w="7620">
            <a:solidFill>
              <a:srgbClr val="4F7A43"/>
            </a:solidFill>
            <a:prstDash val="solid"/>
          </a:ln>
        </p:spPr>
      </p:sp>
      <p:sp>
        <p:nvSpPr>
          <p:cNvPr id="174" name="Shape 172"/>
          <p:cNvSpPr/>
          <p:nvPr/>
        </p:nvSpPr>
        <p:spPr>
          <a:xfrm>
            <a:off x="10205765" y="3067362"/>
            <a:ext cx="113459" cy="122758"/>
          </a:xfrm>
          <a:prstGeom prst="rect">
            <a:avLst/>
          </a:prstGeom>
          <a:solidFill>
            <a:srgbClr val="C4262E"/>
          </a:solidFill>
          <a:ln/>
        </p:spPr>
      </p:sp>
      <p:sp>
        <p:nvSpPr>
          <p:cNvPr id="175" name="Shape 173"/>
          <p:cNvSpPr/>
          <p:nvPr/>
        </p:nvSpPr>
        <p:spPr>
          <a:xfrm>
            <a:off x="10421336" y="2742952"/>
            <a:ext cx="73748" cy="245516"/>
          </a:xfrm>
          <a:prstGeom prst="rect">
            <a:avLst/>
          </a:prstGeom>
          <a:solidFill>
            <a:srgbClr val="F0B9BC"/>
          </a:solidFill>
          <a:ln w="6350">
            <a:solidFill>
              <a:srgbClr val="1B1B1B"/>
            </a:solidFill>
            <a:prstDash val="solid"/>
          </a:ln>
        </p:spPr>
      </p:sp>
      <p:sp>
        <p:nvSpPr>
          <p:cNvPr id="176" name="Shape 174"/>
          <p:cNvSpPr/>
          <p:nvPr/>
        </p:nvSpPr>
        <p:spPr>
          <a:xfrm>
            <a:off x="10427827" y="2988469"/>
            <a:ext cx="9144" cy="102843"/>
          </a:xfrm>
          <a:custGeom>
            <a:avLst/>
            <a:gdLst/>
            <a:ahLst/>
            <a:cxnLst/>
            <a:rect l="l" t="t" r="r" b="b"/>
            <a:pathLst>
              <a:path w="9144" h="102843">
                <a:moveTo>
                  <a:pt x="4572" y="0"/>
                </a:moveTo>
                <a:lnTo>
                  <a:pt x="4572" y="102843"/>
                </a:lnTo>
              </a:path>
            </a:pathLst>
          </a:custGeom>
          <a:ln w="9525">
            <a:solidFill>
              <a:srgbClr val="1B1B1B"/>
            </a:solidFill>
            <a:prstDash val="solid"/>
          </a:ln>
        </p:spPr>
      </p:sp>
      <p:sp>
        <p:nvSpPr>
          <p:cNvPr id="177" name="Shape 175"/>
          <p:cNvSpPr/>
          <p:nvPr/>
        </p:nvSpPr>
        <p:spPr>
          <a:xfrm>
            <a:off x="10453638" y="2988469"/>
            <a:ext cx="9144" cy="69022"/>
          </a:xfrm>
          <a:custGeom>
            <a:avLst/>
            <a:gdLst/>
            <a:ahLst/>
            <a:cxnLst/>
            <a:rect l="l" t="t" r="r" b="b"/>
            <a:pathLst>
              <a:path w="9144" h="69022">
                <a:moveTo>
                  <a:pt x="4572" y="0"/>
                </a:moveTo>
                <a:lnTo>
                  <a:pt x="4572" y="69022"/>
                </a:lnTo>
              </a:path>
            </a:pathLst>
          </a:custGeom>
          <a:ln w="9525">
            <a:solidFill>
              <a:srgbClr val="1B1B1B"/>
            </a:solidFill>
            <a:prstDash val="solid"/>
          </a:ln>
        </p:spPr>
      </p:sp>
      <p:sp>
        <p:nvSpPr>
          <p:cNvPr id="178" name="Shape 176"/>
          <p:cNvSpPr/>
          <p:nvPr/>
        </p:nvSpPr>
        <p:spPr>
          <a:xfrm>
            <a:off x="10479450" y="2988469"/>
            <a:ext cx="9144" cy="33721"/>
          </a:xfrm>
          <a:custGeom>
            <a:avLst/>
            <a:gdLst/>
            <a:ahLst/>
            <a:cxnLst/>
            <a:rect l="l" t="t" r="r" b="b"/>
            <a:pathLst>
              <a:path w="9144" h="33721">
                <a:moveTo>
                  <a:pt x="4572" y="0"/>
                </a:moveTo>
                <a:lnTo>
                  <a:pt x="4572" y="33721"/>
                </a:lnTo>
              </a:path>
            </a:pathLst>
          </a:custGeom>
          <a:ln w="9525">
            <a:solidFill>
              <a:srgbClr val="1B1B1B"/>
            </a:solidFill>
            <a:prstDash val="solid"/>
          </a:ln>
        </p:spPr>
      </p:sp>
      <p:sp>
        <p:nvSpPr>
          <p:cNvPr id="179" name="Shape 177"/>
          <p:cNvSpPr/>
          <p:nvPr/>
        </p:nvSpPr>
        <p:spPr>
          <a:xfrm>
            <a:off x="10546141" y="2579735"/>
            <a:ext cx="68075" cy="245516"/>
          </a:xfrm>
          <a:prstGeom prst="rect">
            <a:avLst/>
          </a:prstGeom>
          <a:solidFill>
            <a:srgbClr val="1B1B1B"/>
          </a:solidFill>
          <a:ln/>
        </p:spPr>
      </p:sp>
      <p:sp>
        <p:nvSpPr>
          <p:cNvPr id="180" name="Shape 178"/>
          <p:cNvSpPr/>
          <p:nvPr/>
        </p:nvSpPr>
        <p:spPr>
          <a:xfrm>
            <a:off x="10551780" y="2825252"/>
            <a:ext cx="9144" cy="95344"/>
          </a:xfrm>
          <a:custGeom>
            <a:avLst/>
            <a:gdLst/>
            <a:ahLst/>
            <a:cxnLst/>
            <a:rect l="l" t="t" r="r" b="b"/>
            <a:pathLst>
              <a:path w="9144" h="95344">
                <a:moveTo>
                  <a:pt x="4572" y="0"/>
                </a:moveTo>
                <a:lnTo>
                  <a:pt x="4572" y="95344"/>
                </a:lnTo>
              </a:path>
            </a:pathLst>
          </a:custGeom>
          <a:ln w="9525">
            <a:solidFill>
              <a:srgbClr val="1B1B1B"/>
            </a:solidFill>
            <a:prstDash val="solid"/>
          </a:ln>
        </p:spPr>
      </p:sp>
      <p:sp>
        <p:nvSpPr>
          <p:cNvPr id="181" name="Shape 179"/>
          <p:cNvSpPr/>
          <p:nvPr/>
        </p:nvSpPr>
        <p:spPr>
          <a:xfrm>
            <a:off x="10575607" y="2825252"/>
            <a:ext cx="9144" cy="62699"/>
          </a:xfrm>
          <a:custGeom>
            <a:avLst/>
            <a:gdLst/>
            <a:ahLst/>
            <a:cxnLst/>
            <a:rect l="l" t="t" r="r" b="b"/>
            <a:pathLst>
              <a:path w="9144" h="62699">
                <a:moveTo>
                  <a:pt x="4572" y="0"/>
                </a:moveTo>
                <a:lnTo>
                  <a:pt x="4572" y="62699"/>
                </a:lnTo>
              </a:path>
            </a:pathLst>
          </a:custGeom>
          <a:ln w="9525">
            <a:solidFill>
              <a:srgbClr val="1B1B1B"/>
            </a:solidFill>
            <a:prstDash val="solid"/>
          </a:ln>
        </p:spPr>
      </p:sp>
      <p:sp>
        <p:nvSpPr>
          <p:cNvPr id="182" name="Shape 180"/>
          <p:cNvSpPr/>
          <p:nvPr/>
        </p:nvSpPr>
        <p:spPr>
          <a:xfrm>
            <a:off x="10599433" y="2825252"/>
            <a:ext cx="9144" cy="31271"/>
          </a:xfrm>
          <a:custGeom>
            <a:avLst/>
            <a:gdLst/>
            <a:ahLst/>
            <a:cxnLst/>
            <a:rect l="l" t="t" r="r" b="b"/>
            <a:pathLst>
              <a:path w="9144" h="31271">
                <a:moveTo>
                  <a:pt x="4572" y="0"/>
                </a:moveTo>
                <a:lnTo>
                  <a:pt x="4572" y="31271"/>
                </a:lnTo>
              </a:path>
            </a:pathLst>
          </a:custGeom>
          <a:ln w="9525">
            <a:solidFill>
              <a:srgbClr val="1B1B1B"/>
            </a:solidFill>
            <a:prstDash val="solid"/>
          </a:ln>
        </p:spPr>
      </p:sp>
      <p:sp>
        <p:nvSpPr>
          <p:cNvPr id="183" name="Shape 181"/>
          <p:cNvSpPr/>
          <p:nvPr/>
        </p:nvSpPr>
        <p:spPr>
          <a:xfrm>
            <a:off x="10659600" y="2469727"/>
            <a:ext cx="62402" cy="245516"/>
          </a:xfrm>
          <a:prstGeom prst="rect">
            <a:avLst/>
          </a:prstGeom>
          <a:solidFill>
            <a:srgbClr val="9A9A9A"/>
          </a:solidFill>
          <a:ln/>
        </p:spPr>
      </p:sp>
      <p:sp>
        <p:nvSpPr>
          <p:cNvPr id="184" name="Shape 182"/>
          <p:cNvSpPr/>
          <p:nvPr/>
        </p:nvSpPr>
        <p:spPr>
          <a:xfrm>
            <a:off x="10664388" y="2715243"/>
            <a:ext cx="9144" cy="65360"/>
          </a:xfrm>
          <a:custGeom>
            <a:avLst/>
            <a:gdLst/>
            <a:ahLst/>
            <a:cxnLst/>
            <a:rect l="l" t="t" r="r" b="b"/>
            <a:pathLst>
              <a:path w="9144" h="65360">
                <a:moveTo>
                  <a:pt x="4572" y="0"/>
                </a:moveTo>
                <a:lnTo>
                  <a:pt x="4572" y="65360"/>
                </a:lnTo>
              </a:path>
            </a:pathLst>
          </a:custGeom>
          <a:ln w="9525">
            <a:solidFill>
              <a:srgbClr val="1B1B1B"/>
            </a:solidFill>
            <a:prstDash val="solid"/>
          </a:ln>
        </p:spPr>
      </p:sp>
      <p:sp>
        <p:nvSpPr>
          <p:cNvPr id="185" name="Shape 183"/>
          <p:cNvSpPr/>
          <p:nvPr/>
        </p:nvSpPr>
        <p:spPr>
          <a:xfrm>
            <a:off x="10686229" y="2715243"/>
            <a:ext cx="9144" cy="44096"/>
          </a:xfrm>
          <a:custGeom>
            <a:avLst/>
            <a:gdLst/>
            <a:ahLst/>
            <a:cxnLst/>
            <a:rect l="l" t="t" r="r" b="b"/>
            <a:pathLst>
              <a:path w="9144" h="44096">
                <a:moveTo>
                  <a:pt x="4572" y="0"/>
                </a:moveTo>
                <a:lnTo>
                  <a:pt x="4572" y="44096"/>
                </a:lnTo>
              </a:path>
            </a:pathLst>
          </a:custGeom>
          <a:ln w="9525">
            <a:solidFill>
              <a:srgbClr val="1B1B1B"/>
            </a:solidFill>
            <a:prstDash val="solid"/>
          </a:ln>
        </p:spPr>
      </p:sp>
      <p:sp>
        <p:nvSpPr>
          <p:cNvPr id="186" name="Shape 184"/>
          <p:cNvSpPr/>
          <p:nvPr/>
        </p:nvSpPr>
        <p:spPr>
          <a:xfrm>
            <a:off x="10708070" y="2715243"/>
            <a:ext cx="9144" cy="25432"/>
          </a:xfrm>
          <a:custGeom>
            <a:avLst/>
            <a:gdLst/>
            <a:ahLst/>
            <a:cxnLst/>
            <a:rect l="l" t="t" r="r" b="b"/>
            <a:pathLst>
              <a:path w="9144" h="25432">
                <a:moveTo>
                  <a:pt x="4572" y="0"/>
                </a:moveTo>
                <a:lnTo>
                  <a:pt x="4572" y="25432"/>
                </a:lnTo>
              </a:path>
            </a:pathLst>
          </a:custGeom>
          <a:ln w="9525">
            <a:solidFill>
              <a:srgbClr val="1B1B1B"/>
            </a:solidFill>
            <a:prstDash val="solid"/>
          </a:ln>
        </p:spPr>
      </p:sp>
      <p:sp>
        <p:nvSpPr>
          <p:cNvPr id="187" name="Shape 185"/>
          <p:cNvSpPr/>
          <p:nvPr/>
        </p:nvSpPr>
        <p:spPr>
          <a:xfrm>
            <a:off x="11454842" y="3090078"/>
            <a:ext cx="113459" cy="122758"/>
          </a:xfrm>
          <a:prstGeom prst="rect">
            <a:avLst/>
          </a:prstGeom>
          <a:solidFill>
            <a:srgbClr val="9A9A9A"/>
          </a:solidFill>
          <a:ln/>
        </p:spPr>
      </p:sp>
      <p:sp>
        <p:nvSpPr>
          <p:cNvPr id="188" name="Shape 186"/>
          <p:cNvSpPr/>
          <p:nvPr/>
        </p:nvSpPr>
        <p:spPr>
          <a:xfrm>
            <a:off x="10761713" y="2670048"/>
            <a:ext cx="136151" cy="9144"/>
          </a:xfrm>
          <a:custGeom>
            <a:avLst/>
            <a:gdLst/>
            <a:ahLst/>
            <a:cxnLst/>
            <a:rect l="l" t="t" r="r" b="b"/>
            <a:pathLst>
              <a:path w="136151" h="9144">
                <a:moveTo>
                  <a:pt x="0" y="4572"/>
                </a:moveTo>
                <a:lnTo>
                  <a:pt x="136151" y="4572"/>
                </a:lnTo>
              </a:path>
            </a:pathLst>
          </a:custGeom>
          <a:ln w="38100">
            <a:solidFill>
              <a:srgbClr val="C4262E"/>
            </a:solidFill>
            <a:prstDash val="solid"/>
          </a:ln>
        </p:spPr>
      </p:sp>
      <p:sp>
        <p:nvSpPr>
          <p:cNvPr id="189" name="Shape 187"/>
          <p:cNvSpPr/>
          <p:nvPr/>
        </p:nvSpPr>
        <p:spPr>
          <a:xfrm>
            <a:off x="10194419" y="2665476"/>
            <a:ext cx="635369" cy="556504"/>
          </a:xfrm>
          <a:custGeom>
            <a:avLst/>
            <a:gdLst/>
            <a:ahLst/>
            <a:cxnLst/>
            <a:rect l="l" t="t" r="r" b="b"/>
            <a:pathLst>
              <a:path w="635369" h="556504">
                <a:moveTo>
                  <a:pt x="0" y="556504"/>
                </a:moveTo>
                <a:lnTo>
                  <a:pt x="26474" y="556147"/>
                </a:lnTo>
                <a:lnTo>
                  <a:pt x="52947" y="551756"/>
                </a:lnTo>
                <a:lnTo>
                  <a:pt x="79421" y="542431"/>
                </a:lnTo>
                <a:lnTo>
                  <a:pt x="105895" y="528343"/>
                </a:lnTo>
                <a:lnTo>
                  <a:pt x="132369" y="509745"/>
                </a:lnTo>
                <a:lnTo>
                  <a:pt x="158842" y="486972"/>
                </a:lnTo>
                <a:lnTo>
                  <a:pt x="185316" y="460435"/>
                </a:lnTo>
                <a:lnTo>
                  <a:pt x="211790" y="430612"/>
                </a:lnTo>
                <a:lnTo>
                  <a:pt x="238263" y="398042"/>
                </a:lnTo>
                <a:lnTo>
                  <a:pt x="264737" y="363312"/>
                </a:lnTo>
                <a:lnTo>
                  <a:pt x="291211" y="327048"/>
                </a:lnTo>
                <a:lnTo>
                  <a:pt x="317685" y="289904"/>
                </a:lnTo>
                <a:lnTo>
                  <a:pt x="344158" y="252550"/>
                </a:lnTo>
                <a:lnTo>
                  <a:pt x="370632" y="215659"/>
                </a:lnTo>
                <a:lnTo>
                  <a:pt x="397106" y="179897"/>
                </a:lnTo>
                <a:lnTo>
                  <a:pt x="423579" y="145909"/>
                </a:lnTo>
                <a:lnTo>
                  <a:pt x="450053" y="114307"/>
                </a:lnTo>
                <a:lnTo>
                  <a:pt x="476527" y="85662"/>
                </a:lnTo>
                <a:lnTo>
                  <a:pt x="503000" y="60490"/>
                </a:lnTo>
                <a:lnTo>
                  <a:pt x="529474" y="39245"/>
                </a:lnTo>
                <a:lnTo>
                  <a:pt x="555948" y="22310"/>
                </a:lnTo>
                <a:lnTo>
                  <a:pt x="582422" y="9991"/>
                </a:lnTo>
                <a:lnTo>
                  <a:pt x="608895" y="2509"/>
                </a:lnTo>
                <a:lnTo>
                  <a:pt x="635369" y="0"/>
                </a:lnTo>
              </a:path>
            </a:pathLst>
          </a:custGeom>
          <a:ln w="22225">
            <a:solidFill>
              <a:srgbClr val="C4262E"/>
            </a:solidFill>
            <a:prstDash val="solid"/>
            <a:tailEnd type="triangle"/>
          </a:ln>
        </p:spPr>
      </p:sp>
      <p:sp>
        <p:nvSpPr>
          <p:cNvPr id="190" name="Shape 188"/>
          <p:cNvSpPr/>
          <p:nvPr/>
        </p:nvSpPr>
        <p:spPr>
          <a:xfrm>
            <a:off x="10358122" y="3011043"/>
            <a:ext cx="35662" cy="35662"/>
          </a:xfrm>
          <a:prstGeom prst="ellipse">
            <a:avLst/>
          </a:prstGeom>
          <a:solidFill>
            <a:srgbClr val="C4262E"/>
          </a:solidFill>
          <a:ln/>
        </p:spPr>
      </p:sp>
      <p:sp>
        <p:nvSpPr>
          <p:cNvPr id="191" name="Shape 189"/>
          <p:cNvSpPr/>
          <p:nvPr/>
        </p:nvSpPr>
        <p:spPr>
          <a:xfrm>
            <a:off x="10360499" y="3049082"/>
            <a:ext cx="30907" cy="80833"/>
          </a:xfrm>
          <a:prstGeom prst="roundRect">
            <a:avLst>
              <a:gd name="adj" fmla="val 59171"/>
            </a:avLst>
          </a:prstGeom>
          <a:solidFill>
            <a:srgbClr val="C4262E"/>
          </a:solidFill>
          <a:ln/>
        </p:spPr>
      </p:sp>
      <p:sp>
        <p:nvSpPr>
          <p:cNvPr id="192" name="Shape 190"/>
          <p:cNvSpPr/>
          <p:nvPr/>
        </p:nvSpPr>
        <p:spPr>
          <a:xfrm>
            <a:off x="10494273" y="2836508"/>
            <a:ext cx="35662" cy="35662"/>
          </a:xfrm>
          <a:prstGeom prst="ellipse">
            <a:avLst/>
          </a:prstGeom>
          <a:solidFill>
            <a:srgbClr val="C4262E"/>
          </a:solidFill>
          <a:ln/>
        </p:spPr>
      </p:sp>
      <p:sp>
        <p:nvSpPr>
          <p:cNvPr id="193" name="Shape 191"/>
          <p:cNvSpPr/>
          <p:nvPr/>
        </p:nvSpPr>
        <p:spPr>
          <a:xfrm>
            <a:off x="10496650" y="2874547"/>
            <a:ext cx="30907" cy="80833"/>
          </a:xfrm>
          <a:prstGeom prst="roundRect">
            <a:avLst>
              <a:gd name="adj" fmla="val 59171"/>
            </a:avLst>
          </a:prstGeom>
          <a:solidFill>
            <a:srgbClr val="C4262E"/>
          </a:solidFill>
          <a:ln/>
        </p:spPr>
      </p:sp>
      <p:sp>
        <p:nvSpPr>
          <p:cNvPr id="194" name="Shape 192"/>
          <p:cNvSpPr/>
          <p:nvPr/>
        </p:nvSpPr>
        <p:spPr>
          <a:xfrm>
            <a:off x="10607731" y="2683214"/>
            <a:ext cx="35662" cy="35662"/>
          </a:xfrm>
          <a:prstGeom prst="ellipse">
            <a:avLst/>
          </a:prstGeom>
          <a:solidFill>
            <a:srgbClr val="C4262E"/>
          </a:solidFill>
          <a:ln/>
        </p:spPr>
      </p:sp>
      <p:sp>
        <p:nvSpPr>
          <p:cNvPr id="195" name="Shape 193"/>
          <p:cNvSpPr/>
          <p:nvPr/>
        </p:nvSpPr>
        <p:spPr>
          <a:xfrm>
            <a:off x="10610109" y="2721253"/>
            <a:ext cx="30907" cy="80833"/>
          </a:xfrm>
          <a:prstGeom prst="roundRect">
            <a:avLst>
              <a:gd name="adj" fmla="val 59171"/>
            </a:avLst>
          </a:prstGeom>
          <a:solidFill>
            <a:srgbClr val="C4262E"/>
          </a:solidFill>
          <a:ln/>
        </p:spPr>
      </p:sp>
      <p:sp>
        <p:nvSpPr>
          <p:cNvPr id="196" name="Shape 194"/>
          <p:cNvSpPr/>
          <p:nvPr/>
        </p:nvSpPr>
        <p:spPr>
          <a:xfrm>
            <a:off x="10811957" y="2546604"/>
            <a:ext cx="35662" cy="35662"/>
          </a:xfrm>
          <a:prstGeom prst="ellipse">
            <a:avLst/>
          </a:prstGeom>
          <a:solidFill>
            <a:srgbClr val="C4262E"/>
          </a:solidFill>
          <a:ln/>
        </p:spPr>
      </p:sp>
      <p:sp>
        <p:nvSpPr>
          <p:cNvPr id="197" name="Shape 195"/>
          <p:cNvSpPr/>
          <p:nvPr/>
        </p:nvSpPr>
        <p:spPr>
          <a:xfrm>
            <a:off x="10814334" y="2584643"/>
            <a:ext cx="30907" cy="80833"/>
          </a:xfrm>
          <a:prstGeom prst="roundRect">
            <a:avLst>
              <a:gd name="adj" fmla="val 59171"/>
            </a:avLst>
          </a:prstGeom>
          <a:solidFill>
            <a:srgbClr val="C4262E"/>
          </a:solidFill>
          <a:ln/>
        </p:spPr>
      </p:sp>
      <p:sp>
        <p:nvSpPr>
          <p:cNvPr id="198" name="Shape 196"/>
          <p:cNvSpPr/>
          <p:nvPr/>
        </p:nvSpPr>
        <p:spPr>
          <a:xfrm>
            <a:off x="10403385" y="2865711"/>
            <a:ext cx="54826" cy="200196"/>
          </a:xfrm>
          <a:custGeom>
            <a:avLst/>
            <a:gdLst/>
            <a:ahLst/>
            <a:cxnLst/>
            <a:rect l="l" t="t" r="r" b="b"/>
            <a:pathLst>
              <a:path w="54826" h="200196">
                <a:moveTo>
                  <a:pt x="0" y="200196"/>
                </a:moveTo>
                <a:lnTo>
                  <a:pt x="54826" y="0"/>
                </a:lnTo>
              </a:path>
            </a:pathLst>
          </a:custGeom>
          <a:ln w="9525">
            <a:solidFill>
              <a:srgbClr val="C4262E"/>
            </a:solidFill>
            <a:prstDash val="sysDot"/>
            <a:tailEnd type="arrow"/>
          </a:ln>
        </p:spPr>
      </p:sp>
      <p:sp>
        <p:nvSpPr>
          <p:cNvPr id="199" name="Shape 197"/>
          <p:cNvSpPr/>
          <p:nvPr/>
        </p:nvSpPr>
        <p:spPr>
          <a:xfrm>
            <a:off x="10539535" y="2702494"/>
            <a:ext cx="40643" cy="188878"/>
          </a:xfrm>
          <a:custGeom>
            <a:avLst/>
            <a:gdLst/>
            <a:ahLst/>
            <a:cxnLst/>
            <a:rect l="l" t="t" r="r" b="b"/>
            <a:pathLst>
              <a:path w="40643" h="188878">
                <a:moveTo>
                  <a:pt x="0" y="188878"/>
                </a:moveTo>
                <a:lnTo>
                  <a:pt x="40643" y="0"/>
                </a:lnTo>
              </a:path>
            </a:pathLst>
          </a:custGeom>
          <a:ln w="9525">
            <a:solidFill>
              <a:srgbClr val="C4262E"/>
            </a:solidFill>
            <a:prstDash val="sysDot"/>
            <a:tailEnd type="arrow"/>
          </a:ln>
        </p:spPr>
      </p:sp>
      <p:sp>
        <p:nvSpPr>
          <p:cNvPr id="200" name="Shape 198"/>
          <p:cNvSpPr/>
          <p:nvPr/>
        </p:nvSpPr>
        <p:spPr>
          <a:xfrm>
            <a:off x="10652994" y="2592485"/>
            <a:ext cx="37807" cy="145593"/>
          </a:xfrm>
          <a:custGeom>
            <a:avLst/>
            <a:gdLst/>
            <a:ahLst/>
            <a:cxnLst/>
            <a:rect l="l" t="t" r="r" b="b"/>
            <a:pathLst>
              <a:path w="37807" h="145593">
                <a:moveTo>
                  <a:pt x="0" y="145593"/>
                </a:moveTo>
                <a:lnTo>
                  <a:pt x="37807" y="0"/>
                </a:lnTo>
              </a:path>
            </a:pathLst>
          </a:custGeom>
          <a:ln w="9525">
            <a:solidFill>
              <a:srgbClr val="C4262E"/>
            </a:solidFill>
            <a:prstDash val="sysDot"/>
            <a:tailEnd type="arrow"/>
          </a:ln>
        </p:spPr>
      </p:sp>
      <p:sp>
        <p:nvSpPr>
          <p:cNvPr id="201" name="Text 199"/>
          <p:cNvSpPr txBox="1"/>
          <p:nvPr/>
        </p:nvSpPr>
        <p:spPr>
          <a:xfrm>
            <a:off x="36576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WHY — FROM THE BRIEF</a:t>
            </a:r>
            <a:endParaRPr lang="en-US" sz="850" dirty="0"/>
          </a:p>
        </p:txBody>
      </p:sp>
      <p:sp>
        <p:nvSpPr>
          <p:cNvPr id="202" name="Text 200"/>
          <p:cNvSpPr txBox="1"/>
          <p:nvPr/>
        </p:nvSpPr>
        <p:spPr>
          <a:xfrm>
            <a:off x="36576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ISSUE   </a:t>
            </a:r>
            <a:pPr indent="0" marL="0">
              <a:spcAft>
                <a:spcPts val="500"/>
              </a:spcAft>
              <a:buNone/>
            </a:pPr>
            <a:r>
              <a:rPr lang="en-US" sz="750" dirty="0">
                <a:solidFill>
                  <a:srgbClr val="1B1B1B"/>
                </a:solidFill>
                <a:latin typeface="Arial" pitchFamily="34" charset="0"/>
                <a:ea typeface="Arial" pitchFamily="34" charset="-122"/>
                <a:cs typeface="Arial" pitchFamily="34" charset="-120"/>
              </a:rPr>
              <a:t>Who can reach, see and question knowledge? The route makes access and visibility physical.</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VISION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Citizens take part alongside professionals; the public, not the institution, owns the top of the landmark.</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SITE   </a:t>
            </a:r>
            <a:pPr indent="0" marL="0">
              <a:spcAft>
                <a:spcPts val="500"/>
              </a:spcAft>
              <a:buNone/>
            </a:pPr>
            <a:r>
              <a:rPr lang="en-US" sz="750" dirty="0">
                <a:solidFill>
                  <a:srgbClr val="1B1B1B"/>
                </a:solidFill>
                <a:latin typeface="Arial" pitchFamily="34" charset="0"/>
                <a:ea typeface="Arial" pitchFamily="34" charset="-122"/>
                <a:cs typeface="Arial" pitchFamily="34" charset="-120"/>
              </a:rPr>
              <a:t>Follows the contours: no regrading; buildings sit lightly between the trees.</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USERS   </a:t>
            </a:r>
            <a:pPr indent="0" marL="0">
              <a:spcAft>
                <a:spcPts val="500"/>
              </a:spcAft>
              <a:buNone/>
            </a:pPr>
            <a:r>
              <a:rPr lang="en-US" sz="750" dirty="0">
                <a:solidFill>
                  <a:srgbClr val="1B1B1B"/>
                </a:solidFill>
                <a:latin typeface="Arial" pitchFamily="34" charset="0"/>
                <a:ea typeface="Arial" pitchFamily="34" charset="-122"/>
                <a:cs typeface="Arial" pitchFamily="34" charset="-120"/>
              </a:rPr>
              <a:t>Public climbs the route; journalists and researchers use a direct working spine; both meet in shared rooms.</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PROGRAM   </a:t>
            </a:r>
            <a:pPr indent="0" marL="0">
              <a:spcAft>
                <a:spcPts val="500"/>
              </a:spcAft>
              <a:buNone/>
            </a:pPr>
            <a:r>
              <a:rPr lang="en-US" sz="750" dirty="0">
                <a:solidFill>
                  <a:srgbClr val="1B1B1B"/>
                </a:solidFill>
                <a:latin typeface="Arial" pitchFamily="34" charset="0"/>
                <a:ea typeface="Arial" pitchFamily="34" charset="-122"/>
                <a:cs typeface="Arial" pitchFamily="34" charset="-120"/>
              </a:rPr>
              <a:t>Ordered by height: edge = forum, press, exhibition, auditorium; lower = library, workshops; middle = archive, research; upper = media, publishing; summit = open forum.</a:t>
            </a:r>
            <a:endParaRPr lang="en-US" sz="900" dirty="0"/>
          </a:p>
        </p:txBody>
      </p:sp>
      <p:sp>
        <p:nvSpPr>
          <p:cNvPr id="203" name="Text 201"/>
          <p:cNvSpPr txBox="1"/>
          <p:nvPr/>
        </p:nvSpPr>
        <p:spPr>
          <a:xfrm>
            <a:off x="420624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SPACE — WHAT IT BECOMES</a:t>
            </a:r>
            <a:endParaRPr lang="en-US" sz="850" dirty="0"/>
          </a:p>
        </p:txBody>
      </p:sp>
      <p:sp>
        <p:nvSpPr>
          <p:cNvPr id="204" name="Text 202"/>
          <p:cNvSpPr txBox="1"/>
          <p:nvPr/>
        </p:nvSpPr>
        <p:spPr>
          <a:xfrm>
            <a:off x="420624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SPATIAL IDEA   </a:t>
            </a:r>
            <a:pPr indent="0" marL="0">
              <a:spcAft>
                <a:spcPts val="500"/>
              </a:spcAft>
              <a:buNone/>
            </a:pPr>
            <a:r>
              <a:rPr lang="en-US" sz="750" dirty="0">
                <a:solidFill>
                  <a:srgbClr val="1B1B1B"/>
                </a:solidFill>
                <a:latin typeface="Arial" pitchFamily="34" charset="0"/>
                <a:ea typeface="Arial" pitchFamily="34" charset="-122"/>
                <a:cs typeface="Arial" pitchFamily="34" charset="-120"/>
              </a:rPr>
              <a:t>Low bars stepping up the hill, strung on one public path.</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CIRCULATION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Slow public switchback route + straight working spine + service loop at the base.</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PUBLIC / PRIVATE   </a:t>
            </a:r>
            <a:pPr indent="0" marL="0">
              <a:spcAft>
                <a:spcPts val="500"/>
              </a:spcAft>
              <a:buNone/>
            </a:pPr>
            <a:r>
              <a:rPr lang="en-US" sz="750" dirty="0">
                <a:solidFill>
                  <a:srgbClr val="1B1B1B"/>
                </a:solidFill>
                <a:latin typeface="Arial" pitchFamily="34" charset="0"/>
                <a:ea typeface="Arial" pitchFamily="34" charset="-122"/>
                <a:cs typeface="Arial" pitchFamily="34" charset="-120"/>
              </a:rPr>
              <a:t>Route public; each bar open on the route side, working on the hill side; archive stores protected.</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MASSING / FORM   </a:t>
            </a:r>
            <a:pPr indent="0" marL="0">
              <a:spcAft>
                <a:spcPts val="500"/>
              </a:spcAft>
              <a:buNone/>
            </a:pPr>
            <a:r>
              <a:rPr lang="en-US" sz="750" dirty="0">
                <a:solidFill>
                  <a:srgbClr val="1B1B1B"/>
                </a:solidFill>
                <a:latin typeface="Arial" pitchFamily="34" charset="0"/>
                <a:ea typeface="Arial" pitchFamily="34" charset="-122"/>
                <a:cs typeface="Arial" pitchFamily="34" charset="-120"/>
              </a:rPr>
              <a:t>3–4 low bars (1–2 floors) parallel to the contours, stepping up on piers.</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SECTION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Stepped section; ground continuous under and between bars; roofs become landings.</a:t>
            </a:r>
            <a:endParaRPr lang="en-US" sz="900" dirty="0"/>
          </a:p>
        </p:txBody>
      </p:sp>
      <p:sp>
        <p:nvSpPr>
          <p:cNvPr id="205" name="Text 203"/>
          <p:cNvSpPr txBox="1"/>
          <p:nvPr/>
        </p:nvSpPr>
        <p:spPr>
          <a:xfrm>
            <a:off x="804672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GROUND + EXPERIENCE</a:t>
            </a:r>
            <a:endParaRPr lang="en-US" sz="850" dirty="0"/>
          </a:p>
        </p:txBody>
      </p:sp>
      <p:sp>
        <p:nvSpPr>
          <p:cNvPr id="206" name="Text 204"/>
          <p:cNvSpPr txBox="1"/>
          <p:nvPr/>
        </p:nvSpPr>
        <p:spPr>
          <a:xfrm>
            <a:off x="804672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WHAT I ACTUALLY DO   </a:t>
            </a:r>
            <a:pPr indent="0" marL="0">
              <a:spcAft>
                <a:spcPts val="500"/>
              </a:spcAft>
              <a:buNone/>
            </a:pPr>
            <a:r>
              <a:rPr lang="en-US" sz="750" dirty="0">
                <a:solidFill>
                  <a:srgbClr val="1B1B1B"/>
                </a:solidFill>
                <a:latin typeface="Arial" pitchFamily="34" charset="0"/>
                <a:ea typeface="Arial" pitchFamily="34" charset="-122"/>
                <a:cs typeface="Arial" pitchFamily="34" charset="-120"/>
              </a:rPr>
              <a:t>① draw a path edge → summit  ② lay bars on the contours  ③ open each bar to the path</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LANDSCAPE / TOPOGRAPHY   </a:t>
            </a:r>
            <a:pPr indent="0" marL="0">
              <a:spcAft>
                <a:spcPts val="500"/>
              </a:spcAft>
              <a:buNone/>
            </a:pPr>
            <a:r>
              <a:rPr lang="en-US" sz="750" dirty="0">
                <a:solidFill>
                  <a:srgbClr val="1B1B1B"/>
                </a:solidFill>
                <a:latin typeface="Arial" pitchFamily="34" charset="0"/>
                <a:ea typeface="Arial" pitchFamily="34" charset="-122"/>
                <a:cs typeface="Arial" pitchFamily="34" charset="-120"/>
              </a:rPr>
              <a:t>Buildings follow existing levels; ground and trees kept.</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EXPERIENCE   </a:t>
            </a:r>
            <a:pPr indent="0" marL="0">
              <a:spcAft>
                <a:spcPts val="500"/>
              </a:spcAft>
              <a:buNone/>
            </a:pPr>
            <a:r>
              <a:rPr lang="en-US" sz="750" dirty="0">
                <a:solidFill>
                  <a:srgbClr val="1B1B1B"/>
                </a:solidFill>
                <a:latin typeface="Arial" pitchFamily="34" charset="0"/>
                <a:ea typeface="Arial" pitchFamily="34" charset="-122"/>
                <a:cs typeface="Arial" pitchFamily="34" charset="-120"/>
              </a:rPr>
              <a:t>Climbing, looking into rooms at work, arriving at the top with the city below.</a:t>
            </a:r>
            <a:endParaRPr lang="en-US" sz="900" dirty="0"/>
          </a:p>
        </p:txBody>
      </p:sp>
      <p:sp>
        <p:nvSpPr>
          <p:cNvPr id="207" name="Shape 205"/>
          <p:cNvSpPr/>
          <p:nvPr/>
        </p:nvSpPr>
        <p:spPr>
          <a:xfrm>
            <a:off x="365760" y="6446520"/>
            <a:ext cx="146304" cy="109728"/>
          </a:xfrm>
          <a:prstGeom prst="rect">
            <a:avLst/>
          </a:prstGeom>
          <a:solidFill>
            <a:srgbClr val="C4262E"/>
          </a:solidFill>
          <a:ln/>
        </p:spPr>
      </p:sp>
      <p:sp>
        <p:nvSpPr>
          <p:cNvPr id="208" name="Text 206"/>
          <p:cNvSpPr txBox="1"/>
          <p:nvPr/>
        </p:nvSpPr>
        <p:spPr>
          <a:xfrm>
            <a:off x="612648" y="6428232"/>
            <a:ext cx="33832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a:t>
            </a:r>
            <a:endParaRPr lang="en-US" sz="650" dirty="0"/>
          </a:p>
        </p:txBody>
      </p:sp>
      <p:sp>
        <p:nvSpPr>
          <p:cNvPr id="209" name="Shape 207"/>
          <p:cNvSpPr/>
          <p:nvPr/>
        </p:nvSpPr>
        <p:spPr>
          <a:xfrm>
            <a:off x="1024128" y="6446520"/>
            <a:ext cx="146304" cy="109728"/>
          </a:xfrm>
          <a:prstGeom prst="rect">
            <a:avLst/>
          </a:prstGeom>
          <a:solidFill>
            <a:srgbClr val="F0B9BC"/>
          </a:solidFill>
          <a:ln/>
        </p:spPr>
      </p:sp>
      <p:sp>
        <p:nvSpPr>
          <p:cNvPr id="210" name="Text 208"/>
          <p:cNvSpPr txBox="1"/>
          <p:nvPr/>
        </p:nvSpPr>
        <p:spPr>
          <a:xfrm>
            <a:off x="1271016" y="6428232"/>
            <a:ext cx="54406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semi-public</a:t>
            </a:r>
            <a:endParaRPr lang="en-US" sz="650" dirty="0"/>
          </a:p>
        </p:txBody>
      </p:sp>
      <p:sp>
        <p:nvSpPr>
          <p:cNvPr id="211" name="Shape 209"/>
          <p:cNvSpPr/>
          <p:nvPr/>
        </p:nvSpPr>
        <p:spPr>
          <a:xfrm>
            <a:off x="1888236" y="6446520"/>
            <a:ext cx="146304" cy="109728"/>
          </a:xfrm>
          <a:prstGeom prst="rect">
            <a:avLst/>
          </a:prstGeom>
          <a:solidFill>
            <a:srgbClr val="9A9A9A"/>
          </a:solidFill>
          <a:ln/>
        </p:spPr>
      </p:sp>
      <p:sp>
        <p:nvSpPr>
          <p:cNvPr id="212" name="Text 210"/>
          <p:cNvSpPr txBox="1"/>
          <p:nvPr/>
        </p:nvSpPr>
        <p:spPr>
          <a:xfrm>
            <a:off x="2135124" y="6428232"/>
            <a:ext cx="379476"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a:t>
            </a:r>
            <a:endParaRPr lang="en-US" sz="650" dirty="0"/>
          </a:p>
        </p:txBody>
      </p:sp>
      <p:sp>
        <p:nvSpPr>
          <p:cNvPr id="213" name="Shape 211"/>
          <p:cNvSpPr/>
          <p:nvPr/>
        </p:nvSpPr>
        <p:spPr>
          <a:xfrm>
            <a:off x="2587752" y="6446520"/>
            <a:ext cx="146304" cy="109728"/>
          </a:xfrm>
          <a:prstGeom prst="rect">
            <a:avLst/>
          </a:prstGeom>
          <a:solidFill>
            <a:srgbClr val="1B1B1B"/>
          </a:solidFill>
          <a:ln/>
        </p:spPr>
      </p:sp>
      <p:sp>
        <p:nvSpPr>
          <p:cNvPr id="214" name="Text 212"/>
          <p:cNvSpPr txBox="1"/>
          <p:nvPr/>
        </p:nvSpPr>
        <p:spPr>
          <a:xfrm>
            <a:off x="2834640" y="6428232"/>
            <a:ext cx="46177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protected</a:t>
            </a:r>
            <a:endParaRPr lang="en-US" sz="650" dirty="0"/>
          </a:p>
        </p:txBody>
      </p:sp>
      <p:sp>
        <p:nvSpPr>
          <p:cNvPr id="215" name="Shape 213"/>
          <p:cNvSpPr/>
          <p:nvPr/>
        </p:nvSpPr>
        <p:spPr>
          <a:xfrm>
            <a:off x="3369564" y="6496812"/>
            <a:ext cx="201168" cy="9144"/>
          </a:xfrm>
          <a:custGeom>
            <a:avLst/>
            <a:gdLst/>
            <a:ahLst/>
            <a:cxnLst/>
            <a:rect l="l" t="t" r="r" b="b"/>
            <a:pathLst>
              <a:path w="201168" h="9144">
                <a:moveTo>
                  <a:pt x="0" y="4572"/>
                </a:moveTo>
                <a:lnTo>
                  <a:pt x="201168" y="4572"/>
                </a:lnTo>
              </a:path>
            </a:pathLst>
          </a:custGeom>
          <a:ln w="25400">
            <a:solidFill>
              <a:srgbClr val="C4262E"/>
            </a:solidFill>
            <a:prstDash val="solid"/>
          </a:ln>
        </p:spPr>
      </p:sp>
      <p:sp>
        <p:nvSpPr>
          <p:cNvPr id="216" name="Text 214"/>
          <p:cNvSpPr txBox="1"/>
          <p:nvPr/>
        </p:nvSpPr>
        <p:spPr>
          <a:xfrm>
            <a:off x="3616452" y="6428232"/>
            <a:ext cx="708660"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 movement</a:t>
            </a:r>
            <a:endParaRPr lang="en-US" sz="650" dirty="0"/>
          </a:p>
        </p:txBody>
      </p:sp>
      <p:sp>
        <p:nvSpPr>
          <p:cNvPr id="217" name="Shape 215"/>
          <p:cNvSpPr/>
          <p:nvPr/>
        </p:nvSpPr>
        <p:spPr>
          <a:xfrm>
            <a:off x="4398264" y="6496812"/>
            <a:ext cx="201168" cy="9144"/>
          </a:xfrm>
          <a:custGeom>
            <a:avLst/>
            <a:gdLst/>
            <a:ahLst/>
            <a:cxnLst/>
            <a:rect l="l" t="t" r="r" b="b"/>
            <a:pathLst>
              <a:path w="201168" h="9144">
                <a:moveTo>
                  <a:pt x="0" y="4572"/>
                </a:moveTo>
                <a:lnTo>
                  <a:pt x="201168" y="4572"/>
                </a:lnTo>
              </a:path>
            </a:pathLst>
          </a:custGeom>
          <a:ln w="25400">
            <a:solidFill>
              <a:srgbClr val="1B1B1B"/>
            </a:solidFill>
            <a:prstDash val="solid"/>
          </a:ln>
        </p:spPr>
      </p:sp>
      <p:sp>
        <p:nvSpPr>
          <p:cNvPr id="218" name="Text 216"/>
          <p:cNvSpPr txBox="1"/>
          <p:nvPr/>
        </p:nvSpPr>
        <p:spPr>
          <a:xfrm>
            <a:off x="4645152" y="6428232"/>
            <a:ext cx="74980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 movement</a:t>
            </a:r>
            <a:endParaRPr lang="en-US" sz="650" dirty="0"/>
          </a:p>
        </p:txBody>
      </p:sp>
      <p:sp>
        <p:nvSpPr>
          <p:cNvPr id="219" name="Shape 217"/>
          <p:cNvSpPr/>
          <p:nvPr/>
        </p:nvSpPr>
        <p:spPr>
          <a:xfrm>
            <a:off x="5468112" y="6496812"/>
            <a:ext cx="201168" cy="9144"/>
          </a:xfrm>
          <a:custGeom>
            <a:avLst/>
            <a:gdLst/>
            <a:ahLst/>
            <a:cxnLst/>
            <a:rect l="l" t="t" r="r" b="b"/>
            <a:pathLst>
              <a:path w="201168" h="9144">
                <a:moveTo>
                  <a:pt x="0" y="4572"/>
                </a:moveTo>
                <a:lnTo>
                  <a:pt x="201168" y="4572"/>
                </a:lnTo>
              </a:path>
            </a:pathLst>
          </a:custGeom>
          <a:ln w="15875">
            <a:solidFill>
              <a:srgbClr val="4F7A43"/>
            </a:solidFill>
            <a:prstDash val="dash"/>
          </a:ln>
        </p:spPr>
      </p:sp>
      <p:sp>
        <p:nvSpPr>
          <p:cNvPr id="220" name="Text 218"/>
          <p:cNvSpPr txBox="1"/>
          <p:nvPr/>
        </p:nvSpPr>
        <p:spPr>
          <a:xfrm>
            <a:off x="5715000" y="6428232"/>
            <a:ext cx="832104"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indicative contour</a:t>
            </a:r>
            <a:endParaRPr lang="en-US" sz="650" dirty="0"/>
          </a:p>
        </p:txBody>
      </p:sp>
      <p:sp>
        <p:nvSpPr>
          <p:cNvPr id="221" name="Shape 219"/>
          <p:cNvSpPr/>
          <p:nvPr/>
        </p:nvSpPr>
        <p:spPr>
          <a:xfrm>
            <a:off x="6638544" y="6455664"/>
            <a:ext cx="91440" cy="91440"/>
          </a:xfrm>
          <a:prstGeom prst="ellipse">
            <a:avLst/>
          </a:prstGeom>
          <a:ln w="9525">
            <a:solidFill>
              <a:srgbClr val="4F7A43"/>
            </a:solidFill>
            <a:prstDash val="solid"/>
          </a:ln>
        </p:spPr>
      </p:sp>
      <p:sp>
        <p:nvSpPr>
          <p:cNvPr id="222" name="Text 220"/>
          <p:cNvSpPr txBox="1"/>
          <p:nvPr/>
        </p:nvSpPr>
        <p:spPr>
          <a:xfrm>
            <a:off x="6867144" y="6428232"/>
            <a:ext cx="66751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existing trees</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DIRECTION D — THE OPEN PRESS</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production around one public room</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06</a:t>
            </a:r>
            <a:endParaRPr lang="en-US" sz="3400" dirty="0"/>
          </a:p>
        </p:txBody>
      </p:sp>
      <p:sp>
        <p:nvSpPr>
          <p:cNvPr id="6" name="Shape 4"/>
          <p:cNvSpPr/>
          <p:nvPr/>
        </p:nvSpPr>
        <p:spPr>
          <a:xfrm>
            <a:off x="10241280" y="896112"/>
            <a:ext cx="1554480" cy="182880"/>
          </a:xfrm>
          <a:prstGeom prst="roundRect">
            <a:avLst>
              <a:gd name="adj" fmla="val 20000"/>
            </a:avLst>
          </a:prstGeom>
          <a:solidFill>
            <a:srgbClr val="C4262E"/>
          </a:solidFill>
          <a:ln w="9525">
            <a:solidFill>
              <a:srgbClr val="C4262E"/>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sp>
        <p:nvSpPr>
          <p:cNvPr id="8" name="Text 6"/>
          <p:cNvSpPr txBox="1"/>
          <p:nvPr/>
        </p:nvSpPr>
        <p:spPr>
          <a:xfrm>
            <a:off x="365760" y="1097280"/>
            <a:ext cx="11430000" cy="411480"/>
          </a:xfrm>
          <a:prstGeom prst="rect">
            <a:avLst/>
          </a:prstGeom>
          <a:noFill/>
          <a:ln/>
        </p:spPr>
        <p:txBody>
          <a:bodyPr wrap="square" lIns="0" tIns="0" rIns="0" bIns="0" rtlCol="0" anchor="t"/>
          <a:lstStyle/>
          <a:p>
            <a:pPr indent="0" marL="0">
              <a:buNone/>
            </a:pPr>
            <a:r>
              <a:rPr lang="en-US" sz="1050" b="1" dirty="0">
                <a:solidFill>
                  <a:srgbClr val="1B1B1B"/>
                </a:solidFill>
                <a:latin typeface="Arial" pitchFamily="34" charset="0"/>
                <a:ea typeface="Arial" pitchFamily="34" charset="-122"/>
                <a:cs typeface="Arial" pitchFamily="34" charset="-120"/>
              </a:rPr>
              <a:t>Gather all production around one public room: a compact building on ground that is already built on, with a central void that shows research, recording, publishing and the archive at work.</a:t>
            </a:r>
            <a:endParaRPr lang="en-US" sz="1050" dirty="0"/>
          </a:p>
        </p:txBody>
      </p:sp>
      <p:sp>
        <p:nvSpPr>
          <p:cNvPr id="9" name="Shape 7"/>
          <p:cNvSpPr/>
          <p:nvPr/>
        </p:nvSpPr>
        <p:spPr>
          <a:xfrm>
            <a:off x="365760" y="1627632"/>
            <a:ext cx="1828800" cy="1920240"/>
          </a:xfrm>
          <a:prstGeom prst="rect">
            <a:avLst/>
          </a:prstGeom>
          <a:solidFill>
            <a:srgbClr val="FFFFFF"/>
          </a:solidFill>
          <a:ln w="6350">
            <a:solidFill>
              <a:srgbClr val="D9D9D9"/>
            </a:solidFill>
            <a:prstDash val="solid"/>
          </a:ln>
        </p:spPr>
      </p:sp>
      <p:sp>
        <p:nvSpPr>
          <p:cNvPr id="10" name="Text 8"/>
          <p:cNvSpPr txBox="1"/>
          <p:nvPr/>
        </p:nvSpPr>
        <p:spPr>
          <a:xfrm>
            <a:off x="43891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01  </a:t>
            </a:r>
            <a:pPr indent="0" marL="0">
              <a:buNone/>
            </a:pPr>
            <a:r>
              <a:rPr lang="en-US" sz="750" b="1" spc="50" kern="0" dirty="0">
                <a:solidFill>
                  <a:srgbClr val="1B1B1B"/>
                </a:solidFill>
                <a:latin typeface="Arial" pitchFamily="34" charset="0"/>
                <a:ea typeface="Arial" pitchFamily="34" charset="-122"/>
                <a:cs typeface="Arial" pitchFamily="34" charset="-120"/>
              </a:rPr>
              <a:t>SITE</a:t>
            </a:r>
            <a:endParaRPr lang="en-US" sz="750" dirty="0"/>
          </a:p>
        </p:txBody>
      </p:sp>
      <p:sp>
        <p:nvSpPr>
          <p:cNvPr id="11" name="Shape 9"/>
          <p:cNvSpPr/>
          <p:nvPr/>
        </p:nvSpPr>
        <p:spPr>
          <a:xfrm>
            <a:off x="55576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12" name="Shape 10"/>
          <p:cNvSpPr/>
          <p:nvPr/>
        </p:nvSpPr>
        <p:spPr>
          <a:xfrm>
            <a:off x="42062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13" name="Shape 11"/>
          <p:cNvSpPr/>
          <p:nvPr/>
        </p:nvSpPr>
        <p:spPr>
          <a:xfrm>
            <a:off x="198984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14" name="Shape 12"/>
          <p:cNvSpPr/>
          <p:nvPr/>
        </p:nvSpPr>
        <p:spPr>
          <a:xfrm>
            <a:off x="67649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15" name="Shape 13"/>
          <p:cNvSpPr/>
          <p:nvPr/>
        </p:nvSpPr>
        <p:spPr>
          <a:xfrm>
            <a:off x="910718" y="2433218"/>
            <a:ext cx="869276" cy="544837"/>
          </a:xfrm>
          <a:custGeom>
            <a:avLst/>
            <a:gdLst/>
            <a:ahLst/>
            <a:cxnLst/>
            <a:rect l="l" t="t" r="r" b="b"/>
            <a:pathLst>
              <a:path w="869276" h="544837">
                <a:moveTo>
                  <a:pt x="860450" y="462002"/>
                </a:moveTo>
                <a:lnTo>
                  <a:pt x="849001" y="481438"/>
                </a:lnTo>
                <a:lnTo>
                  <a:pt x="833013" y="498583"/>
                </a:lnTo>
                <a:lnTo>
                  <a:pt x="812660" y="513251"/>
                </a:lnTo>
                <a:lnTo>
                  <a:pt x="788166" y="525280"/>
                </a:lnTo>
                <a:lnTo>
                  <a:pt x="759798" y="534539"/>
                </a:lnTo>
                <a:lnTo>
                  <a:pt x="727867" y="540926"/>
                </a:lnTo>
                <a:lnTo>
                  <a:pt x="692724" y="544371"/>
                </a:lnTo>
                <a:lnTo>
                  <a:pt x="654753" y="544837"/>
                </a:lnTo>
                <a:lnTo>
                  <a:pt x="614371" y="542318"/>
                </a:lnTo>
                <a:lnTo>
                  <a:pt x="572019" y="536841"/>
                </a:lnTo>
                <a:lnTo>
                  <a:pt x="528162" y="528468"/>
                </a:lnTo>
                <a:lnTo>
                  <a:pt x="483281" y="517289"/>
                </a:lnTo>
                <a:lnTo>
                  <a:pt x="437867" y="503428"/>
                </a:lnTo>
                <a:lnTo>
                  <a:pt x="392417" y="487036"/>
                </a:lnTo>
                <a:lnTo>
                  <a:pt x="347430" y="468292"/>
                </a:lnTo>
                <a:lnTo>
                  <a:pt x="303398" y="447402"/>
                </a:lnTo>
                <a:lnTo>
                  <a:pt x="260804" y="424595"/>
                </a:lnTo>
                <a:lnTo>
                  <a:pt x="220115" y="400120"/>
                </a:lnTo>
                <a:lnTo>
                  <a:pt x="181776" y="374247"/>
                </a:lnTo>
                <a:lnTo>
                  <a:pt x="146208" y="347258"/>
                </a:lnTo>
                <a:lnTo>
                  <a:pt x="113799" y="319449"/>
                </a:lnTo>
                <a:lnTo>
                  <a:pt x="84906" y="291124"/>
                </a:lnTo>
                <a:lnTo>
                  <a:pt x="59845" y="262595"/>
                </a:lnTo>
                <a:lnTo>
                  <a:pt x="38890" y="234174"/>
                </a:lnTo>
                <a:lnTo>
                  <a:pt x="22270" y="206171"/>
                </a:lnTo>
                <a:lnTo>
                  <a:pt x="10169" y="178894"/>
                </a:lnTo>
                <a:lnTo>
                  <a:pt x="2718" y="152642"/>
                </a:lnTo>
                <a:lnTo>
                  <a:pt x="0" y="127702"/>
                </a:lnTo>
                <a:lnTo>
                  <a:pt x="2044" y="104348"/>
                </a:lnTo>
                <a:lnTo>
                  <a:pt x="8827" y="82835"/>
                </a:lnTo>
                <a:lnTo>
                  <a:pt x="20275" y="63399"/>
                </a:lnTo>
                <a:lnTo>
                  <a:pt x="36263" y="46253"/>
                </a:lnTo>
                <a:lnTo>
                  <a:pt x="56616" y="31586"/>
                </a:lnTo>
                <a:lnTo>
                  <a:pt x="81111" y="19556"/>
                </a:lnTo>
                <a:lnTo>
                  <a:pt x="109479" y="10298"/>
                </a:lnTo>
                <a:lnTo>
                  <a:pt x="141409" y="3911"/>
                </a:lnTo>
                <a:lnTo>
                  <a:pt x="176552" y="466"/>
                </a:lnTo>
                <a:lnTo>
                  <a:pt x="214523" y="0"/>
                </a:lnTo>
                <a:lnTo>
                  <a:pt x="254906" y="2519"/>
                </a:lnTo>
                <a:lnTo>
                  <a:pt x="297257" y="7995"/>
                </a:lnTo>
                <a:lnTo>
                  <a:pt x="341114" y="16369"/>
                </a:lnTo>
                <a:lnTo>
                  <a:pt x="385995" y="27547"/>
                </a:lnTo>
                <a:lnTo>
                  <a:pt x="431410" y="41409"/>
                </a:lnTo>
                <a:lnTo>
                  <a:pt x="476859" y="57801"/>
                </a:lnTo>
                <a:lnTo>
                  <a:pt x="521847" y="76545"/>
                </a:lnTo>
                <a:lnTo>
                  <a:pt x="565878" y="97435"/>
                </a:lnTo>
                <a:lnTo>
                  <a:pt x="608472" y="120242"/>
                </a:lnTo>
                <a:lnTo>
                  <a:pt x="649161" y="144716"/>
                </a:lnTo>
                <a:lnTo>
                  <a:pt x="687500" y="170590"/>
                </a:lnTo>
                <a:lnTo>
                  <a:pt x="723069" y="197579"/>
                </a:lnTo>
                <a:lnTo>
                  <a:pt x="755477" y="225388"/>
                </a:lnTo>
                <a:lnTo>
                  <a:pt x="784370" y="253712"/>
                </a:lnTo>
                <a:lnTo>
                  <a:pt x="809432" y="282242"/>
                </a:lnTo>
                <a:lnTo>
                  <a:pt x="830387" y="310663"/>
                </a:lnTo>
                <a:lnTo>
                  <a:pt x="847006" y="338666"/>
                </a:lnTo>
                <a:lnTo>
                  <a:pt x="859107" y="365943"/>
                </a:lnTo>
                <a:lnTo>
                  <a:pt x="866558" y="392195"/>
                </a:lnTo>
                <a:lnTo>
                  <a:pt x="869276" y="417135"/>
                </a:lnTo>
                <a:lnTo>
                  <a:pt x="867233" y="440489"/>
                </a:lnTo>
                <a:close/>
              </a:path>
            </a:pathLst>
          </a:custGeom>
          <a:ln w="6350">
            <a:solidFill>
              <a:srgbClr val="4F7A43"/>
            </a:solidFill>
            <a:prstDash val="dash"/>
          </a:ln>
        </p:spPr>
      </p:sp>
      <p:sp>
        <p:nvSpPr>
          <p:cNvPr id="16" name="Shape 14"/>
          <p:cNvSpPr/>
          <p:nvPr/>
        </p:nvSpPr>
        <p:spPr>
          <a:xfrm>
            <a:off x="1067671" y="2531592"/>
            <a:ext cx="555371" cy="348090"/>
          </a:xfrm>
          <a:custGeom>
            <a:avLst/>
            <a:gdLst/>
            <a:ahLst/>
            <a:cxnLst/>
            <a:rect l="l" t="t" r="r" b="b"/>
            <a:pathLst>
              <a:path w="555371" h="348090">
                <a:moveTo>
                  <a:pt x="549732" y="295168"/>
                </a:moveTo>
                <a:lnTo>
                  <a:pt x="542417" y="307585"/>
                </a:lnTo>
                <a:lnTo>
                  <a:pt x="532203" y="318539"/>
                </a:lnTo>
                <a:lnTo>
                  <a:pt x="519200" y="327910"/>
                </a:lnTo>
                <a:lnTo>
                  <a:pt x="503550" y="335596"/>
                </a:lnTo>
                <a:lnTo>
                  <a:pt x="485426" y="341511"/>
                </a:lnTo>
                <a:lnTo>
                  <a:pt x="465026" y="345592"/>
                </a:lnTo>
                <a:lnTo>
                  <a:pt x="442574" y="347793"/>
                </a:lnTo>
                <a:lnTo>
                  <a:pt x="418315" y="348090"/>
                </a:lnTo>
                <a:lnTo>
                  <a:pt x="392515" y="346481"/>
                </a:lnTo>
                <a:lnTo>
                  <a:pt x="365457" y="342982"/>
                </a:lnTo>
                <a:lnTo>
                  <a:pt x="337437" y="337632"/>
                </a:lnTo>
                <a:lnTo>
                  <a:pt x="308763" y="330490"/>
                </a:lnTo>
                <a:lnTo>
                  <a:pt x="279748" y="321635"/>
                </a:lnTo>
                <a:lnTo>
                  <a:pt x="250711" y="311162"/>
                </a:lnTo>
                <a:lnTo>
                  <a:pt x="221969" y="299186"/>
                </a:lnTo>
                <a:lnTo>
                  <a:pt x="193838" y="285840"/>
                </a:lnTo>
                <a:lnTo>
                  <a:pt x="166625" y="271269"/>
                </a:lnTo>
                <a:lnTo>
                  <a:pt x="140629" y="255632"/>
                </a:lnTo>
                <a:lnTo>
                  <a:pt x="116135" y="239102"/>
                </a:lnTo>
                <a:lnTo>
                  <a:pt x="93410" y="221859"/>
                </a:lnTo>
                <a:lnTo>
                  <a:pt x="72705" y="204092"/>
                </a:lnTo>
                <a:lnTo>
                  <a:pt x="54246" y="185996"/>
                </a:lnTo>
                <a:lnTo>
                  <a:pt x="38234" y="167769"/>
                </a:lnTo>
                <a:lnTo>
                  <a:pt x="24846" y="149611"/>
                </a:lnTo>
                <a:lnTo>
                  <a:pt x="14228" y="131720"/>
                </a:lnTo>
                <a:lnTo>
                  <a:pt x="6497" y="114293"/>
                </a:lnTo>
                <a:lnTo>
                  <a:pt x="1737" y="97521"/>
                </a:lnTo>
                <a:lnTo>
                  <a:pt x="0" y="81587"/>
                </a:lnTo>
                <a:lnTo>
                  <a:pt x="1306" y="66667"/>
                </a:lnTo>
                <a:lnTo>
                  <a:pt x="5639" y="52922"/>
                </a:lnTo>
                <a:lnTo>
                  <a:pt x="12954" y="40505"/>
                </a:lnTo>
                <a:lnTo>
                  <a:pt x="23168" y="29551"/>
                </a:lnTo>
                <a:lnTo>
                  <a:pt x="36171" y="20180"/>
                </a:lnTo>
                <a:lnTo>
                  <a:pt x="51821" y="12494"/>
                </a:lnTo>
                <a:lnTo>
                  <a:pt x="69945" y="6579"/>
                </a:lnTo>
                <a:lnTo>
                  <a:pt x="90345" y="2498"/>
                </a:lnTo>
                <a:lnTo>
                  <a:pt x="112797" y="297"/>
                </a:lnTo>
                <a:lnTo>
                  <a:pt x="137056" y="0"/>
                </a:lnTo>
                <a:lnTo>
                  <a:pt x="162856" y="1609"/>
                </a:lnTo>
                <a:lnTo>
                  <a:pt x="189914" y="5108"/>
                </a:lnTo>
                <a:lnTo>
                  <a:pt x="217934" y="10458"/>
                </a:lnTo>
                <a:lnTo>
                  <a:pt x="246608" y="17600"/>
                </a:lnTo>
                <a:lnTo>
                  <a:pt x="275623" y="26456"/>
                </a:lnTo>
                <a:lnTo>
                  <a:pt x="304660" y="36929"/>
                </a:lnTo>
                <a:lnTo>
                  <a:pt x="333402" y="48904"/>
                </a:lnTo>
                <a:lnTo>
                  <a:pt x="361533" y="62250"/>
                </a:lnTo>
                <a:lnTo>
                  <a:pt x="388746" y="76821"/>
                </a:lnTo>
                <a:lnTo>
                  <a:pt x="414742" y="92458"/>
                </a:lnTo>
                <a:lnTo>
                  <a:pt x="439236" y="108988"/>
                </a:lnTo>
                <a:lnTo>
                  <a:pt x="461961" y="126231"/>
                </a:lnTo>
                <a:lnTo>
                  <a:pt x="482666" y="143998"/>
                </a:lnTo>
                <a:lnTo>
                  <a:pt x="501125" y="162094"/>
                </a:lnTo>
                <a:lnTo>
                  <a:pt x="517137" y="180321"/>
                </a:lnTo>
                <a:lnTo>
                  <a:pt x="530525" y="198479"/>
                </a:lnTo>
                <a:lnTo>
                  <a:pt x="541143" y="216370"/>
                </a:lnTo>
                <a:lnTo>
                  <a:pt x="548874" y="233797"/>
                </a:lnTo>
                <a:lnTo>
                  <a:pt x="553634" y="250569"/>
                </a:lnTo>
                <a:lnTo>
                  <a:pt x="555371" y="266503"/>
                </a:lnTo>
                <a:lnTo>
                  <a:pt x="554065" y="281424"/>
                </a:lnTo>
                <a:close/>
              </a:path>
            </a:pathLst>
          </a:custGeom>
          <a:ln w="6350">
            <a:solidFill>
              <a:srgbClr val="4F7A43"/>
            </a:solidFill>
            <a:prstDash val="dash"/>
          </a:ln>
        </p:spPr>
      </p:sp>
      <p:sp>
        <p:nvSpPr>
          <p:cNvPr id="17" name="Shape 15"/>
          <p:cNvSpPr/>
          <p:nvPr/>
        </p:nvSpPr>
        <p:spPr>
          <a:xfrm>
            <a:off x="1212551" y="2622398"/>
            <a:ext cx="265612" cy="166478"/>
          </a:xfrm>
          <a:custGeom>
            <a:avLst/>
            <a:gdLst/>
            <a:ahLst/>
            <a:cxnLst/>
            <a:rect l="l" t="t" r="r" b="b"/>
            <a:pathLst>
              <a:path w="265612" h="166478">
                <a:moveTo>
                  <a:pt x="262915" y="141167"/>
                </a:moveTo>
                <a:lnTo>
                  <a:pt x="259417" y="147106"/>
                </a:lnTo>
                <a:lnTo>
                  <a:pt x="254532" y="152345"/>
                </a:lnTo>
                <a:lnTo>
                  <a:pt x="248313" y="156827"/>
                </a:lnTo>
                <a:lnTo>
                  <a:pt x="240828" y="160502"/>
                </a:lnTo>
                <a:lnTo>
                  <a:pt x="232160" y="163331"/>
                </a:lnTo>
                <a:lnTo>
                  <a:pt x="222404" y="165283"/>
                </a:lnTo>
                <a:lnTo>
                  <a:pt x="211666" y="166336"/>
                </a:lnTo>
                <a:lnTo>
                  <a:pt x="200063" y="166478"/>
                </a:lnTo>
                <a:lnTo>
                  <a:pt x="187724" y="165708"/>
                </a:lnTo>
                <a:lnTo>
                  <a:pt x="174784" y="164035"/>
                </a:lnTo>
                <a:lnTo>
                  <a:pt x="161383" y="161476"/>
                </a:lnTo>
                <a:lnTo>
                  <a:pt x="147669" y="158061"/>
                </a:lnTo>
                <a:lnTo>
                  <a:pt x="133793" y="153825"/>
                </a:lnTo>
                <a:lnTo>
                  <a:pt x="119905" y="148816"/>
                </a:lnTo>
                <a:lnTo>
                  <a:pt x="106159" y="143089"/>
                </a:lnTo>
                <a:lnTo>
                  <a:pt x="92705" y="136706"/>
                </a:lnTo>
                <a:lnTo>
                  <a:pt x="79690" y="129737"/>
                </a:lnTo>
                <a:lnTo>
                  <a:pt x="67257" y="122259"/>
                </a:lnTo>
                <a:lnTo>
                  <a:pt x="55543" y="114353"/>
                </a:lnTo>
                <a:lnTo>
                  <a:pt x="44675" y="106107"/>
                </a:lnTo>
                <a:lnTo>
                  <a:pt x="34772" y="97609"/>
                </a:lnTo>
                <a:lnTo>
                  <a:pt x="25944" y="88955"/>
                </a:lnTo>
                <a:lnTo>
                  <a:pt x="18286" y="80237"/>
                </a:lnTo>
                <a:lnTo>
                  <a:pt x="11883" y="71553"/>
                </a:lnTo>
                <a:lnTo>
                  <a:pt x="6805" y="62997"/>
                </a:lnTo>
                <a:lnTo>
                  <a:pt x="3107" y="54662"/>
                </a:lnTo>
                <a:lnTo>
                  <a:pt x="831" y="46641"/>
                </a:lnTo>
                <a:lnTo>
                  <a:pt x="0" y="39020"/>
                </a:lnTo>
                <a:lnTo>
                  <a:pt x="624" y="31884"/>
                </a:lnTo>
                <a:lnTo>
                  <a:pt x="2697" y="25311"/>
                </a:lnTo>
                <a:lnTo>
                  <a:pt x="6195" y="19372"/>
                </a:lnTo>
                <a:lnTo>
                  <a:pt x="11080" y="14133"/>
                </a:lnTo>
                <a:lnTo>
                  <a:pt x="17299" y="9651"/>
                </a:lnTo>
                <a:lnTo>
                  <a:pt x="24784" y="5976"/>
                </a:lnTo>
                <a:lnTo>
                  <a:pt x="33452" y="3146"/>
                </a:lnTo>
                <a:lnTo>
                  <a:pt x="43208" y="1195"/>
                </a:lnTo>
                <a:lnTo>
                  <a:pt x="53947" y="142"/>
                </a:lnTo>
                <a:lnTo>
                  <a:pt x="65549" y="0"/>
                </a:lnTo>
                <a:lnTo>
                  <a:pt x="77888" y="770"/>
                </a:lnTo>
                <a:lnTo>
                  <a:pt x="90829" y="2443"/>
                </a:lnTo>
                <a:lnTo>
                  <a:pt x="104229" y="5002"/>
                </a:lnTo>
                <a:lnTo>
                  <a:pt x="117943" y="8417"/>
                </a:lnTo>
                <a:lnTo>
                  <a:pt x="131820" y="12653"/>
                </a:lnTo>
                <a:lnTo>
                  <a:pt x="145707" y="17661"/>
                </a:lnTo>
                <a:lnTo>
                  <a:pt x="159453" y="23389"/>
                </a:lnTo>
                <a:lnTo>
                  <a:pt x="172907" y="29772"/>
                </a:lnTo>
                <a:lnTo>
                  <a:pt x="185922" y="36741"/>
                </a:lnTo>
                <a:lnTo>
                  <a:pt x="198355" y="44219"/>
                </a:lnTo>
                <a:lnTo>
                  <a:pt x="210069" y="52125"/>
                </a:lnTo>
                <a:lnTo>
                  <a:pt x="220938" y="60371"/>
                </a:lnTo>
                <a:lnTo>
                  <a:pt x="230840" y="68869"/>
                </a:lnTo>
                <a:lnTo>
                  <a:pt x="239669" y="77523"/>
                </a:lnTo>
                <a:lnTo>
                  <a:pt x="247326" y="86240"/>
                </a:lnTo>
                <a:lnTo>
                  <a:pt x="253729" y="94925"/>
                </a:lnTo>
                <a:lnTo>
                  <a:pt x="258807" y="103481"/>
                </a:lnTo>
                <a:lnTo>
                  <a:pt x="262505" y="111816"/>
                </a:lnTo>
                <a:lnTo>
                  <a:pt x="264782" y="119837"/>
                </a:lnTo>
                <a:lnTo>
                  <a:pt x="265612" y="127458"/>
                </a:lnTo>
                <a:lnTo>
                  <a:pt x="264988" y="134594"/>
                </a:lnTo>
                <a:close/>
              </a:path>
            </a:pathLst>
          </a:custGeom>
          <a:ln w="6350">
            <a:solidFill>
              <a:srgbClr val="4F7A43"/>
            </a:solidFill>
            <a:prstDash val="dash"/>
          </a:ln>
        </p:spPr>
      </p:sp>
      <p:sp>
        <p:nvSpPr>
          <p:cNvPr id="18" name="Shape 16"/>
          <p:cNvSpPr/>
          <p:nvPr/>
        </p:nvSpPr>
        <p:spPr>
          <a:xfrm>
            <a:off x="1780022" y="2904047"/>
            <a:ext cx="41148" cy="41148"/>
          </a:xfrm>
          <a:prstGeom prst="ellipse">
            <a:avLst/>
          </a:prstGeom>
          <a:solidFill>
            <a:srgbClr val="FFFFFF"/>
          </a:solidFill>
          <a:ln w="7620">
            <a:solidFill>
              <a:srgbClr val="4F7A43"/>
            </a:solidFill>
            <a:prstDash val="solid"/>
          </a:ln>
        </p:spPr>
      </p:sp>
      <p:sp>
        <p:nvSpPr>
          <p:cNvPr id="19" name="Shape 17"/>
          <p:cNvSpPr/>
          <p:nvPr/>
        </p:nvSpPr>
        <p:spPr>
          <a:xfrm>
            <a:off x="1726118" y="2963916"/>
            <a:ext cx="41148" cy="41148"/>
          </a:xfrm>
          <a:prstGeom prst="ellipse">
            <a:avLst/>
          </a:prstGeom>
          <a:solidFill>
            <a:srgbClr val="FFFFFF"/>
          </a:solidFill>
          <a:ln w="7620">
            <a:solidFill>
              <a:srgbClr val="4F7A43"/>
            </a:solidFill>
            <a:prstDash val="solid"/>
          </a:ln>
        </p:spPr>
      </p:sp>
      <p:sp>
        <p:nvSpPr>
          <p:cNvPr id="20" name="Shape 18"/>
          <p:cNvSpPr/>
          <p:nvPr/>
        </p:nvSpPr>
        <p:spPr>
          <a:xfrm>
            <a:off x="1631444" y="2998304"/>
            <a:ext cx="41148" cy="41148"/>
          </a:xfrm>
          <a:prstGeom prst="ellipse">
            <a:avLst/>
          </a:prstGeom>
          <a:solidFill>
            <a:srgbClr val="FFFFFF"/>
          </a:solidFill>
          <a:ln w="7620">
            <a:solidFill>
              <a:srgbClr val="4F7A43"/>
            </a:solidFill>
            <a:prstDash val="solid"/>
          </a:ln>
        </p:spPr>
      </p:sp>
      <p:sp>
        <p:nvSpPr>
          <p:cNvPr id="21" name="Shape 19"/>
          <p:cNvSpPr/>
          <p:nvPr/>
        </p:nvSpPr>
        <p:spPr>
          <a:xfrm>
            <a:off x="1504273" y="3004205"/>
            <a:ext cx="41148" cy="41148"/>
          </a:xfrm>
          <a:prstGeom prst="ellipse">
            <a:avLst/>
          </a:prstGeom>
          <a:solidFill>
            <a:srgbClr val="FFFFFF"/>
          </a:solidFill>
          <a:ln w="7620">
            <a:solidFill>
              <a:srgbClr val="4F7A43"/>
            </a:solidFill>
            <a:prstDash val="solid"/>
          </a:ln>
        </p:spPr>
      </p:sp>
      <p:sp>
        <p:nvSpPr>
          <p:cNvPr id="22" name="Shape 20"/>
          <p:cNvSpPr/>
          <p:nvPr/>
        </p:nvSpPr>
        <p:spPr>
          <a:xfrm>
            <a:off x="1355718" y="2981104"/>
            <a:ext cx="41148" cy="41148"/>
          </a:xfrm>
          <a:prstGeom prst="ellipse">
            <a:avLst/>
          </a:prstGeom>
          <a:solidFill>
            <a:srgbClr val="FFFFFF"/>
          </a:solidFill>
          <a:ln w="7620">
            <a:solidFill>
              <a:srgbClr val="4F7A43"/>
            </a:solidFill>
            <a:prstDash val="solid"/>
          </a:ln>
        </p:spPr>
      </p:sp>
      <p:sp>
        <p:nvSpPr>
          <p:cNvPr id="23" name="Shape 21"/>
          <p:cNvSpPr/>
          <p:nvPr/>
        </p:nvSpPr>
        <p:spPr>
          <a:xfrm>
            <a:off x="1198763" y="2931019"/>
            <a:ext cx="41148" cy="41148"/>
          </a:xfrm>
          <a:prstGeom prst="ellipse">
            <a:avLst/>
          </a:prstGeom>
          <a:solidFill>
            <a:srgbClr val="FFFFFF"/>
          </a:solidFill>
          <a:ln w="7620">
            <a:solidFill>
              <a:srgbClr val="4F7A43"/>
            </a:solidFill>
            <a:prstDash val="solid"/>
          </a:ln>
        </p:spPr>
      </p:sp>
      <p:sp>
        <p:nvSpPr>
          <p:cNvPr id="24" name="Shape 22"/>
          <p:cNvSpPr/>
          <p:nvPr/>
        </p:nvSpPr>
        <p:spPr>
          <a:xfrm>
            <a:off x="1047122" y="2858327"/>
            <a:ext cx="41148" cy="41148"/>
          </a:xfrm>
          <a:prstGeom prst="ellipse">
            <a:avLst/>
          </a:prstGeom>
          <a:solidFill>
            <a:srgbClr val="FFFFFF"/>
          </a:solidFill>
          <a:ln w="7620">
            <a:solidFill>
              <a:srgbClr val="4F7A43"/>
            </a:solidFill>
            <a:prstDash val="solid"/>
          </a:ln>
        </p:spPr>
      </p:sp>
      <p:sp>
        <p:nvSpPr>
          <p:cNvPr id="25" name="Shape 23"/>
          <p:cNvSpPr/>
          <p:nvPr/>
        </p:nvSpPr>
        <p:spPr>
          <a:xfrm>
            <a:off x="914049" y="2769382"/>
            <a:ext cx="41148" cy="41148"/>
          </a:xfrm>
          <a:prstGeom prst="ellipse">
            <a:avLst/>
          </a:prstGeom>
          <a:solidFill>
            <a:srgbClr val="FFFFFF"/>
          </a:solidFill>
          <a:ln w="7620">
            <a:solidFill>
              <a:srgbClr val="4F7A43"/>
            </a:solidFill>
            <a:prstDash val="solid"/>
          </a:ln>
        </p:spPr>
      </p:sp>
      <p:sp>
        <p:nvSpPr>
          <p:cNvPr id="26" name="Shape 24"/>
          <p:cNvSpPr/>
          <p:nvPr/>
        </p:nvSpPr>
        <p:spPr>
          <a:xfrm>
            <a:off x="811173" y="2671955"/>
            <a:ext cx="41148" cy="41148"/>
          </a:xfrm>
          <a:prstGeom prst="ellipse">
            <a:avLst/>
          </a:prstGeom>
          <a:solidFill>
            <a:srgbClr val="FFFFFF"/>
          </a:solidFill>
          <a:ln w="7620">
            <a:solidFill>
              <a:srgbClr val="4F7A43"/>
            </a:solidFill>
            <a:prstDash val="solid"/>
          </a:ln>
        </p:spPr>
      </p:sp>
      <p:sp>
        <p:nvSpPr>
          <p:cNvPr id="27" name="Shape 25"/>
          <p:cNvSpPr/>
          <p:nvPr/>
        </p:nvSpPr>
        <p:spPr>
          <a:xfrm>
            <a:off x="747484" y="2574562"/>
            <a:ext cx="41148" cy="41148"/>
          </a:xfrm>
          <a:prstGeom prst="ellipse">
            <a:avLst/>
          </a:prstGeom>
          <a:solidFill>
            <a:srgbClr val="FFFFFF"/>
          </a:solidFill>
          <a:ln w="7620">
            <a:solidFill>
              <a:srgbClr val="4F7A43"/>
            </a:solidFill>
            <a:prstDash val="solid"/>
          </a:ln>
        </p:spPr>
      </p:sp>
      <p:sp>
        <p:nvSpPr>
          <p:cNvPr id="28" name="Shape 26"/>
          <p:cNvSpPr/>
          <p:nvPr/>
        </p:nvSpPr>
        <p:spPr>
          <a:xfrm>
            <a:off x="728547" y="2485713"/>
            <a:ext cx="41148" cy="41148"/>
          </a:xfrm>
          <a:prstGeom prst="ellipse">
            <a:avLst/>
          </a:prstGeom>
          <a:solidFill>
            <a:srgbClr val="FFFFFF"/>
          </a:solidFill>
          <a:ln w="7620">
            <a:solidFill>
              <a:srgbClr val="4F7A43"/>
            </a:solidFill>
            <a:prstDash val="solid"/>
          </a:ln>
        </p:spPr>
      </p:sp>
      <p:sp>
        <p:nvSpPr>
          <p:cNvPr id="29" name="Shape 27"/>
          <p:cNvSpPr/>
          <p:nvPr/>
        </p:nvSpPr>
        <p:spPr>
          <a:xfrm>
            <a:off x="756019" y="2413172"/>
            <a:ext cx="41148" cy="41148"/>
          </a:xfrm>
          <a:prstGeom prst="ellipse">
            <a:avLst/>
          </a:prstGeom>
          <a:solidFill>
            <a:srgbClr val="FFFFFF"/>
          </a:solidFill>
          <a:ln w="7620">
            <a:solidFill>
              <a:srgbClr val="4F7A43"/>
            </a:solidFill>
            <a:prstDash val="solid"/>
          </a:ln>
        </p:spPr>
      </p:sp>
      <p:sp>
        <p:nvSpPr>
          <p:cNvPr id="30" name="Shape 28"/>
          <p:cNvSpPr/>
          <p:nvPr/>
        </p:nvSpPr>
        <p:spPr>
          <a:xfrm>
            <a:off x="827497" y="2363280"/>
            <a:ext cx="41148" cy="41148"/>
          </a:xfrm>
          <a:prstGeom prst="ellipse">
            <a:avLst/>
          </a:prstGeom>
          <a:solidFill>
            <a:srgbClr val="FFFFFF"/>
          </a:solidFill>
          <a:ln w="7620">
            <a:solidFill>
              <a:srgbClr val="4F7A43"/>
            </a:solidFill>
            <a:prstDash val="solid"/>
          </a:ln>
        </p:spPr>
      </p:sp>
      <p:sp>
        <p:nvSpPr>
          <p:cNvPr id="31" name="Shape 29"/>
          <p:cNvSpPr/>
          <p:nvPr/>
        </p:nvSpPr>
        <p:spPr>
          <a:xfrm>
            <a:off x="936736" y="2340397"/>
            <a:ext cx="41148" cy="41148"/>
          </a:xfrm>
          <a:prstGeom prst="ellipse">
            <a:avLst/>
          </a:prstGeom>
          <a:solidFill>
            <a:srgbClr val="FFFFFF"/>
          </a:solidFill>
          <a:ln w="7620">
            <a:solidFill>
              <a:srgbClr val="4F7A43"/>
            </a:solidFill>
            <a:prstDash val="solid"/>
          </a:ln>
        </p:spPr>
      </p:sp>
      <p:sp>
        <p:nvSpPr>
          <p:cNvPr id="32" name="Shape 30"/>
          <p:cNvSpPr/>
          <p:nvPr/>
        </p:nvSpPr>
        <p:spPr>
          <a:xfrm>
            <a:off x="1074189" y="2346521"/>
            <a:ext cx="41148" cy="41148"/>
          </a:xfrm>
          <a:prstGeom prst="ellipse">
            <a:avLst/>
          </a:prstGeom>
          <a:solidFill>
            <a:srgbClr val="FFFFFF"/>
          </a:solidFill>
          <a:ln w="7620">
            <a:solidFill>
              <a:srgbClr val="4F7A43"/>
            </a:solidFill>
            <a:prstDash val="solid"/>
          </a:ln>
        </p:spPr>
      </p:sp>
      <p:sp>
        <p:nvSpPr>
          <p:cNvPr id="33" name="Shape 31"/>
          <p:cNvSpPr/>
          <p:nvPr/>
        </p:nvSpPr>
        <p:spPr>
          <a:xfrm>
            <a:off x="1227843" y="2381119"/>
            <a:ext cx="41148" cy="41148"/>
          </a:xfrm>
          <a:prstGeom prst="ellipse">
            <a:avLst/>
          </a:prstGeom>
          <a:solidFill>
            <a:srgbClr val="FFFFFF"/>
          </a:solidFill>
          <a:ln w="7620">
            <a:solidFill>
              <a:srgbClr val="4F7A43"/>
            </a:solidFill>
            <a:prstDash val="solid"/>
          </a:ln>
        </p:spPr>
      </p:sp>
      <p:sp>
        <p:nvSpPr>
          <p:cNvPr id="34" name="Shape 32"/>
          <p:cNvSpPr/>
          <p:nvPr/>
        </p:nvSpPr>
        <p:spPr>
          <a:xfrm>
            <a:off x="1384272" y="2441166"/>
            <a:ext cx="41148" cy="41148"/>
          </a:xfrm>
          <a:prstGeom prst="ellipse">
            <a:avLst/>
          </a:prstGeom>
          <a:solidFill>
            <a:srgbClr val="FFFFFF"/>
          </a:solidFill>
          <a:ln w="7620">
            <a:solidFill>
              <a:srgbClr val="4F7A43"/>
            </a:solidFill>
            <a:prstDash val="solid"/>
          </a:ln>
        </p:spPr>
      </p:sp>
      <p:sp>
        <p:nvSpPr>
          <p:cNvPr id="35" name="Shape 33"/>
          <p:cNvSpPr/>
          <p:nvPr/>
        </p:nvSpPr>
        <p:spPr>
          <a:xfrm>
            <a:off x="1529804" y="2521415"/>
            <a:ext cx="41148" cy="41148"/>
          </a:xfrm>
          <a:prstGeom prst="ellipse">
            <a:avLst/>
          </a:prstGeom>
          <a:solidFill>
            <a:srgbClr val="FFFFFF"/>
          </a:solidFill>
          <a:ln w="7620">
            <a:solidFill>
              <a:srgbClr val="4F7A43"/>
            </a:solidFill>
            <a:prstDash val="solid"/>
          </a:ln>
        </p:spPr>
      </p:sp>
      <p:sp>
        <p:nvSpPr>
          <p:cNvPr id="36" name="Shape 34"/>
          <p:cNvSpPr/>
          <p:nvPr/>
        </p:nvSpPr>
        <p:spPr>
          <a:xfrm>
            <a:off x="1651722" y="2614852"/>
            <a:ext cx="41148" cy="41148"/>
          </a:xfrm>
          <a:prstGeom prst="ellipse">
            <a:avLst/>
          </a:prstGeom>
          <a:solidFill>
            <a:srgbClr val="FFFFFF"/>
          </a:solidFill>
          <a:ln w="7620">
            <a:solidFill>
              <a:srgbClr val="4F7A43"/>
            </a:solidFill>
            <a:prstDash val="solid"/>
          </a:ln>
        </p:spPr>
      </p:sp>
      <p:sp>
        <p:nvSpPr>
          <p:cNvPr id="37" name="Shape 35"/>
          <p:cNvSpPr/>
          <p:nvPr/>
        </p:nvSpPr>
        <p:spPr>
          <a:xfrm>
            <a:off x="1739371" y="2713313"/>
            <a:ext cx="41148" cy="41148"/>
          </a:xfrm>
          <a:prstGeom prst="ellipse">
            <a:avLst/>
          </a:prstGeom>
          <a:solidFill>
            <a:srgbClr val="FFFFFF"/>
          </a:solidFill>
          <a:ln w="7620">
            <a:solidFill>
              <a:srgbClr val="4F7A43"/>
            </a:solidFill>
            <a:prstDash val="solid"/>
          </a:ln>
        </p:spPr>
      </p:sp>
      <p:sp>
        <p:nvSpPr>
          <p:cNvPr id="38" name="Shape 36"/>
          <p:cNvSpPr/>
          <p:nvPr/>
        </p:nvSpPr>
        <p:spPr>
          <a:xfrm>
            <a:off x="1785091" y="2808193"/>
            <a:ext cx="41148" cy="41148"/>
          </a:xfrm>
          <a:prstGeom prst="ellipse">
            <a:avLst/>
          </a:prstGeom>
          <a:solidFill>
            <a:srgbClr val="FFFFFF"/>
          </a:solidFill>
          <a:ln w="7620">
            <a:solidFill>
              <a:srgbClr val="4F7A43"/>
            </a:solidFill>
            <a:prstDash val="solid"/>
          </a:ln>
        </p:spPr>
      </p:sp>
      <p:sp>
        <p:nvSpPr>
          <p:cNvPr id="39" name="Shape 37"/>
          <p:cNvSpPr/>
          <p:nvPr/>
        </p:nvSpPr>
        <p:spPr>
          <a:xfrm>
            <a:off x="1784887" y="2891200"/>
            <a:ext cx="41148" cy="41148"/>
          </a:xfrm>
          <a:prstGeom prst="ellipse">
            <a:avLst/>
          </a:prstGeom>
          <a:solidFill>
            <a:srgbClr val="FFFFFF"/>
          </a:solidFill>
          <a:ln w="7620">
            <a:solidFill>
              <a:srgbClr val="4F7A43"/>
            </a:solidFill>
            <a:prstDash val="solid"/>
          </a:ln>
        </p:spPr>
      </p:sp>
      <p:sp>
        <p:nvSpPr>
          <p:cNvPr id="40" name="Shape 38"/>
          <p:cNvSpPr/>
          <p:nvPr/>
        </p:nvSpPr>
        <p:spPr>
          <a:xfrm>
            <a:off x="438912" y="1874520"/>
            <a:ext cx="731520" cy="146304"/>
          </a:xfrm>
          <a:prstGeom prst="rect">
            <a:avLst/>
          </a:prstGeom>
          <a:solidFill>
            <a:srgbClr val="FFFFFF"/>
          </a:solidFill>
          <a:ln/>
        </p:spPr>
      </p:sp>
      <p:sp>
        <p:nvSpPr>
          <p:cNvPr id="41" name="Text 39"/>
          <p:cNvSpPr txBox="1"/>
          <p:nvPr/>
        </p:nvSpPr>
        <p:spPr>
          <a:xfrm>
            <a:off x="438912" y="1874520"/>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Egerton / Abbot jn.</a:t>
            </a:r>
            <a:endParaRPr lang="en-US" sz="550" dirty="0"/>
          </a:p>
        </p:txBody>
      </p:sp>
      <p:sp>
        <p:nvSpPr>
          <p:cNvPr id="42" name="Shape 40"/>
          <p:cNvSpPr/>
          <p:nvPr/>
        </p:nvSpPr>
        <p:spPr>
          <a:xfrm>
            <a:off x="1389888" y="3364992"/>
            <a:ext cx="731520" cy="146304"/>
          </a:xfrm>
          <a:prstGeom prst="rect">
            <a:avLst/>
          </a:prstGeom>
          <a:solidFill>
            <a:srgbClr val="FFFFFF"/>
          </a:solidFill>
          <a:ln/>
        </p:spPr>
      </p:sp>
      <p:sp>
        <p:nvSpPr>
          <p:cNvPr id="43" name="Text 41"/>
          <p:cNvSpPr txBox="1"/>
          <p:nvPr/>
        </p:nvSpPr>
        <p:spPr>
          <a:xfrm>
            <a:off x="1389888" y="3364992"/>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Davis / Durand jn.</a:t>
            </a:r>
            <a:endParaRPr lang="en-US" sz="550" dirty="0"/>
          </a:p>
        </p:txBody>
      </p:sp>
      <p:sp>
        <p:nvSpPr>
          <p:cNvPr id="44" name="Shape 42"/>
          <p:cNvSpPr/>
          <p:nvPr/>
        </p:nvSpPr>
        <p:spPr>
          <a:xfrm rot="1440000">
            <a:off x="1309249" y="2702044"/>
            <a:ext cx="208454" cy="178675"/>
          </a:xfrm>
          <a:prstGeom prst="rect">
            <a:avLst/>
          </a:prstGeom>
          <a:solidFill>
            <a:srgbClr val="D9D9D9"/>
          </a:solidFill>
          <a:ln w="9525">
            <a:solidFill>
              <a:srgbClr val="1B1B1B"/>
            </a:solidFill>
            <a:prstDash val="dash"/>
          </a:ln>
        </p:spPr>
      </p:sp>
      <p:sp>
        <p:nvSpPr>
          <p:cNvPr id="45" name="Shape 43"/>
          <p:cNvSpPr/>
          <p:nvPr/>
        </p:nvSpPr>
        <p:spPr>
          <a:xfrm>
            <a:off x="910556" y="2852235"/>
            <a:ext cx="1005840" cy="146304"/>
          </a:xfrm>
          <a:prstGeom prst="rect">
            <a:avLst/>
          </a:prstGeom>
          <a:solidFill>
            <a:srgbClr val="FFFFFF"/>
          </a:solidFill>
          <a:ln/>
        </p:spPr>
      </p:sp>
      <p:sp>
        <p:nvSpPr>
          <p:cNvPr id="46" name="Text 44"/>
          <p:cNvSpPr txBox="1"/>
          <p:nvPr/>
        </p:nvSpPr>
        <p:spPr>
          <a:xfrm>
            <a:off x="910556" y="2852235"/>
            <a:ext cx="1005840"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existing Press Club (locate)</a:t>
            </a:r>
            <a:endParaRPr lang="en-US" sz="550" dirty="0"/>
          </a:p>
        </p:txBody>
      </p:sp>
      <p:sp>
        <p:nvSpPr>
          <p:cNvPr id="47" name="Shape 45"/>
          <p:cNvSpPr/>
          <p:nvPr/>
        </p:nvSpPr>
        <p:spPr>
          <a:xfrm>
            <a:off x="218541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48" name="Shape 46"/>
          <p:cNvSpPr/>
          <p:nvPr/>
        </p:nvSpPr>
        <p:spPr>
          <a:xfrm>
            <a:off x="2286000" y="1627632"/>
            <a:ext cx="1828800" cy="1920240"/>
          </a:xfrm>
          <a:prstGeom prst="rect">
            <a:avLst/>
          </a:prstGeom>
          <a:solidFill>
            <a:srgbClr val="FFFFFF"/>
          </a:solidFill>
          <a:ln w="6350">
            <a:solidFill>
              <a:srgbClr val="D9D9D9"/>
            </a:solidFill>
            <a:prstDash val="solid"/>
          </a:ln>
        </p:spPr>
      </p:sp>
      <p:sp>
        <p:nvSpPr>
          <p:cNvPr id="49" name="Text 47"/>
          <p:cNvSpPr txBox="1"/>
          <p:nvPr/>
        </p:nvSpPr>
        <p:spPr>
          <a:xfrm>
            <a:off x="235915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02  </a:t>
            </a:r>
            <a:pPr indent="0" marL="0">
              <a:buNone/>
            </a:pPr>
            <a:r>
              <a:rPr lang="en-US" sz="750" b="1" spc="50" kern="0" dirty="0">
                <a:solidFill>
                  <a:srgbClr val="1B1B1B"/>
                </a:solidFill>
                <a:latin typeface="Arial" pitchFamily="34" charset="0"/>
                <a:ea typeface="Arial" pitchFamily="34" charset="-122"/>
                <a:cs typeface="Arial" pitchFamily="34" charset="-120"/>
              </a:rPr>
              <a:t>IDEA</a:t>
            </a:r>
            <a:endParaRPr lang="en-US" sz="750" dirty="0"/>
          </a:p>
        </p:txBody>
      </p:sp>
      <p:sp>
        <p:nvSpPr>
          <p:cNvPr id="50" name="Shape 48"/>
          <p:cNvSpPr/>
          <p:nvPr/>
        </p:nvSpPr>
        <p:spPr>
          <a:xfrm>
            <a:off x="247600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51" name="Shape 49"/>
          <p:cNvSpPr/>
          <p:nvPr/>
        </p:nvSpPr>
        <p:spPr>
          <a:xfrm>
            <a:off x="234086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52" name="Shape 50"/>
          <p:cNvSpPr/>
          <p:nvPr/>
        </p:nvSpPr>
        <p:spPr>
          <a:xfrm>
            <a:off x="391008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53" name="Shape 51"/>
          <p:cNvSpPr/>
          <p:nvPr/>
        </p:nvSpPr>
        <p:spPr>
          <a:xfrm>
            <a:off x="259673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54" name="Shape 52"/>
          <p:cNvSpPr/>
          <p:nvPr/>
        </p:nvSpPr>
        <p:spPr>
          <a:xfrm>
            <a:off x="2830958" y="2433218"/>
            <a:ext cx="869276" cy="544837"/>
          </a:xfrm>
          <a:custGeom>
            <a:avLst/>
            <a:gdLst/>
            <a:ahLst/>
            <a:cxnLst/>
            <a:rect l="l" t="t" r="r" b="b"/>
            <a:pathLst>
              <a:path w="869276" h="544837">
                <a:moveTo>
                  <a:pt x="860450" y="462002"/>
                </a:moveTo>
                <a:lnTo>
                  <a:pt x="849001" y="481438"/>
                </a:lnTo>
                <a:lnTo>
                  <a:pt x="833013" y="498583"/>
                </a:lnTo>
                <a:lnTo>
                  <a:pt x="812660" y="513251"/>
                </a:lnTo>
                <a:lnTo>
                  <a:pt x="788166" y="525280"/>
                </a:lnTo>
                <a:lnTo>
                  <a:pt x="759798" y="534539"/>
                </a:lnTo>
                <a:lnTo>
                  <a:pt x="727867" y="540926"/>
                </a:lnTo>
                <a:lnTo>
                  <a:pt x="692724" y="544371"/>
                </a:lnTo>
                <a:lnTo>
                  <a:pt x="654753" y="544837"/>
                </a:lnTo>
                <a:lnTo>
                  <a:pt x="614371" y="542318"/>
                </a:lnTo>
                <a:lnTo>
                  <a:pt x="572019" y="536841"/>
                </a:lnTo>
                <a:lnTo>
                  <a:pt x="528162" y="528468"/>
                </a:lnTo>
                <a:lnTo>
                  <a:pt x="483281" y="517289"/>
                </a:lnTo>
                <a:lnTo>
                  <a:pt x="437867" y="503428"/>
                </a:lnTo>
                <a:lnTo>
                  <a:pt x="392417" y="487036"/>
                </a:lnTo>
                <a:lnTo>
                  <a:pt x="347430" y="468292"/>
                </a:lnTo>
                <a:lnTo>
                  <a:pt x="303398" y="447402"/>
                </a:lnTo>
                <a:lnTo>
                  <a:pt x="260804" y="424595"/>
                </a:lnTo>
                <a:lnTo>
                  <a:pt x="220115" y="400120"/>
                </a:lnTo>
                <a:lnTo>
                  <a:pt x="181776" y="374247"/>
                </a:lnTo>
                <a:lnTo>
                  <a:pt x="146208" y="347258"/>
                </a:lnTo>
                <a:lnTo>
                  <a:pt x="113799" y="319449"/>
                </a:lnTo>
                <a:lnTo>
                  <a:pt x="84906" y="291124"/>
                </a:lnTo>
                <a:lnTo>
                  <a:pt x="59845" y="262595"/>
                </a:lnTo>
                <a:lnTo>
                  <a:pt x="38890" y="234174"/>
                </a:lnTo>
                <a:lnTo>
                  <a:pt x="22270" y="206171"/>
                </a:lnTo>
                <a:lnTo>
                  <a:pt x="10169" y="178894"/>
                </a:lnTo>
                <a:lnTo>
                  <a:pt x="2718" y="152642"/>
                </a:lnTo>
                <a:lnTo>
                  <a:pt x="0" y="127702"/>
                </a:lnTo>
                <a:lnTo>
                  <a:pt x="2044" y="104348"/>
                </a:lnTo>
                <a:lnTo>
                  <a:pt x="8827" y="82835"/>
                </a:lnTo>
                <a:lnTo>
                  <a:pt x="20275" y="63399"/>
                </a:lnTo>
                <a:lnTo>
                  <a:pt x="36263" y="46253"/>
                </a:lnTo>
                <a:lnTo>
                  <a:pt x="56616" y="31586"/>
                </a:lnTo>
                <a:lnTo>
                  <a:pt x="81111" y="19556"/>
                </a:lnTo>
                <a:lnTo>
                  <a:pt x="109479" y="10298"/>
                </a:lnTo>
                <a:lnTo>
                  <a:pt x="141409" y="3911"/>
                </a:lnTo>
                <a:lnTo>
                  <a:pt x="176552" y="466"/>
                </a:lnTo>
                <a:lnTo>
                  <a:pt x="214523" y="0"/>
                </a:lnTo>
                <a:lnTo>
                  <a:pt x="254906" y="2519"/>
                </a:lnTo>
                <a:lnTo>
                  <a:pt x="297257" y="7995"/>
                </a:lnTo>
                <a:lnTo>
                  <a:pt x="341114" y="16369"/>
                </a:lnTo>
                <a:lnTo>
                  <a:pt x="385995" y="27547"/>
                </a:lnTo>
                <a:lnTo>
                  <a:pt x="431410" y="41409"/>
                </a:lnTo>
                <a:lnTo>
                  <a:pt x="476859" y="57801"/>
                </a:lnTo>
                <a:lnTo>
                  <a:pt x="521847" y="76545"/>
                </a:lnTo>
                <a:lnTo>
                  <a:pt x="565878" y="97435"/>
                </a:lnTo>
                <a:lnTo>
                  <a:pt x="608472" y="120242"/>
                </a:lnTo>
                <a:lnTo>
                  <a:pt x="649161" y="144716"/>
                </a:lnTo>
                <a:lnTo>
                  <a:pt x="687500" y="170590"/>
                </a:lnTo>
                <a:lnTo>
                  <a:pt x="723069" y="197579"/>
                </a:lnTo>
                <a:lnTo>
                  <a:pt x="755477" y="225388"/>
                </a:lnTo>
                <a:lnTo>
                  <a:pt x="784370" y="253712"/>
                </a:lnTo>
                <a:lnTo>
                  <a:pt x="809432" y="282242"/>
                </a:lnTo>
                <a:lnTo>
                  <a:pt x="830387" y="310663"/>
                </a:lnTo>
                <a:lnTo>
                  <a:pt x="847006" y="338666"/>
                </a:lnTo>
                <a:lnTo>
                  <a:pt x="859107" y="365943"/>
                </a:lnTo>
                <a:lnTo>
                  <a:pt x="866558" y="392195"/>
                </a:lnTo>
                <a:lnTo>
                  <a:pt x="869276" y="417135"/>
                </a:lnTo>
                <a:lnTo>
                  <a:pt x="867233" y="440489"/>
                </a:lnTo>
                <a:close/>
              </a:path>
            </a:pathLst>
          </a:custGeom>
          <a:ln w="6350">
            <a:solidFill>
              <a:srgbClr val="4F7A43"/>
            </a:solidFill>
            <a:prstDash val="dash"/>
          </a:ln>
        </p:spPr>
      </p:sp>
      <p:sp>
        <p:nvSpPr>
          <p:cNvPr id="55" name="Shape 53"/>
          <p:cNvSpPr/>
          <p:nvPr/>
        </p:nvSpPr>
        <p:spPr>
          <a:xfrm>
            <a:off x="2987911" y="2531592"/>
            <a:ext cx="555371" cy="348090"/>
          </a:xfrm>
          <a:custGeom>
            <a:avLst/>
            <a:gdLst/>
            <a:ahLst/>
            <a:cxnLst/>
            <a:rect l="l" t="t" r="r" b="b"/>
            <a:pathLst>
              <a:path w="555371" h="348090">
                <a:moveTo>
                  <a:pt x="549732" y="295168"/>
                </a:moveTo>
                <a:lnTo>
                  <a:pt x="542417" y="307585"/>
                </a:lnTo>
                <a:lnTo>
                  <a:pt x="532203" y="318539"/>
                </a:lnTo>
                <a:lnTo>
                  <a:pt x="519200" y="327910"/>
                </a:lnTo>
                <a:lnTo>
                  <a:pt x="503550" y="335596"/>
                </a:lnTo>
                <a:lnTo>
                  <a:pt x="485426" y="341511"/>
                </a:lnTo>
                <a:lnTo>
                  <a:pt x="465026" y="345592"/>
                </a:lnTo>
                <a:lnTo>
                  <a:pt x="442574" y="347793"/>
                </a:lnTo>
                <a:lnTo>
                  <a:pt x="418315" y="348090"/>
                </a:lnTo>
                <a:lnTo>
                  <a:pt x="392515" y="346481"/>
                </a:lnTo>
                <a:lnTo>
                  <a:pt x="365457" y="342982"/>
                </a:lnTo>
                <a:lnTo>
                  <a:pt x="337437" y="337632"/>
                </a:lnTo>
                <a:lnTo>
                  <a:pt x="308763" y="330490"/>
                </a:lnTo>
                <a:lnTo>
                  <a:pt x="279748" y="321635"/>
                </a:lnTo>
                <a:lnTo>
                  <a:pt x="250711" y="311162"/>
                </a:lnTo>
                <a:lnTo>
                  <a:pt x="221969" y="299186"/>
                </a:lnTo>
                <a:lnTo>
                  <a:pt x="193838" y="285840"/>
                </a:lnTo>
                <a:lnTo>
                  <a:pt x="166625" y="271269"/>
                </a:lnTo>
                <a:lnTo>
                  <a:pt x="140629" y="255632"/>
                </a:lnTo>
                <a:lnTo>
                  <a:pt x="116135" y="239102"/>
                </a:lnTo>
                <a:lnTo>
                  <a:pt x="93410" y="221859"/>
                </a:lnTo>
                <a:lnTo>
                  <a:pt x="72705" y="204092"/>
                </a:lnTo>
                <a:lnTo>
                  <a:pt x="54246" y="185996"/>
                </a:lnTo>
                <a:lnTo>
                  <a:pt x="38234" y="167769"/>
                </a:lnTo>
                <a:lnTo>
                  <a:pt x="24846" y="149611"/>
                </a:lnTo>
                <a:lnTo>
                  <a:pt x="14228" y="131720"/>
                </a:lnTo>
                <a:lnTo>
                  <a:pt x="6497" y="114293"/>
                </a:lnTo>
                <a:lnTo>
                  <a:pt x="1737" y="97521"/>
                </a:lnTo>
                <a:lnTo>
                  <a:pt x="0" y="81587"/>
                </a:lnTo>
                <a:lnTo>
                  <a:pt x="1306" y="66667"/>
                </a:lnTo>
                <a:lnTo>
                  <a:pt x="5639" y="52922"/>
                </a:lnTo>
                <a:lnTo>
                  <a:pt x="12954" y="40505"/>
                </a:lnTo>
                <a:lnTo>
                  <a:pt x="23168" y="29551"/>
                </a:lnTo>
                <a:lnTo>
                  <a:pt x="36171" y="20180"/>
                </a:lnTo>
                <a:lnTo>
                  <a:pt x="51821" y="12494"/>
                </a:lnTo>
                <a:lnTo>
                  <a:pt x="69945" y="6579"/>
                </a:lnTo>
                <a:lnTo>
                  <a:pt x="90345" y="2498"/>
                </a:lnTo>
                <a:lnTo>
                  <a:pt x="112797" y="297"/>
                </a:lnTo>
                <a:lnTo>
                  <a:pt x="137056" y="0"/>
                </a:lnTo>
                <a:lnTo>
                  <a:pt x="162856" y="1609"/>
                </a:lnTo>
                <a:lnTo>
                  <a:pt x="189914" y="5108"/>
                </a:lnTo>
                <a:lnTo>
                  <a:pt x="217934" y="10458"/>
                </a:lnTo>
                <a:lnTo>
                  <a:pt x="246608" y="17600"/>
                </a:lnTo>
                <a:lnTo>
                  <a:pt x="275623" y="26456"/>
                </a:lnTo>
                <a:lnTo>
                  <a:pt x="304660" y="36929"/>
                </a:lnTo>
                <a:lnTo>
                  <a:pt x="333402" y="48904"/>
                </a:lnTo>
                <a:lnTo>
                  <a:pt x="361533" y="62250"/>
                </a:lnTo>
                <a:lnTo>
                  <a:pt x="388746" y="76821"/>
                </a:lnTo>
                <a:lnTo>
                  <a:pt x="414742" y="92458"/>
                </a:lnTo>
                <a:lnTo>
                  <a:pt x="439236" y="108988"/>
                </a:lnTo>
                <a:lnTo>
                  <a:pt x="461961" y="126231"/>
                </a:lnTo>
                <a:lnTo>
                  <a:pt x="482666" y="143998"/>
                </a:lnTo>
                <a:lnTo>
                  <a:pt x="501125" y="162094"/>
                </a:lnTo>
                <a:lnTo>
                  <a:pt x="517137" y="180321"/>
                </a:lnTo>
                <a:lnTo>
                  <a:pt x="530525" y="198479"/>
                </a:lnTo>
                <a:lnTo>
                  <a:pt x="541143" y="216370"/>
                </a:lnTo>
                <a:lnTo>
                  <a:pt x="548874" y="233797"/>
                </a:lnTo>
                <a:lnTo>
                  <a:pt x="553634" y="250569"/>
                </a:lnTo>
                <a:lnTo>
                  <a:pt x="555371" y="266503"/>
                </a:lnTo>
                <a:lnTo>
                  <a:pt x="554065" y="281424"/>
                </a:lnTo>
                <a:close/>
              </a:path>
            </a:pathLst>
          </a:custGeom>
          <a:ln w="6350">
            <a:solidFill>
              <a:srgbClr val="4F7A43"/>
            </a:solidFill>
            <a:prstDash val="dash"/>
          </a:ln>
        </p:spPr>
      </p:sp>
      <p:sp>
        <p:nvSpPr>
          <p:cNvPr id="56" name="Shape 54"/>
          <p:cNvSpPr/>
          <p:nvPr/>
        </p:nvSpPr>
        <p:spPr>
          <a:xfrm>
            <a:off x="3132791" y="2622398"/>
            <a:ext cx="265612" cy="166478"/>
          </a:xfrm>
          <a:custGeom>
            <a:avLst/>
            <a:gdLst/>
            <a:ahLst/>
            <a:cxnLst/>
            <a:rect l="l" t="t" r="r" b="b"/>
            <a:pathLst>
              <a:path w="265612" h="166478">
                <a:moveTo>
                  <a:pt x="262915" y="141167"/>
                </a:moveTo>
                <a:lnTo>
                  <a:pt x="259417" y="147106"/>
                </a:lnTo>
                <a:lnTo>
                  <a:pt x="254532" y="152345"/>
                </a:lnTo>
                <a:lnTo>
                  <a:pt x="248313" y="156827"/>
                </a:lnTo>
                <a:lnTo>
                  <a:pt x="240828" y="160502"/>
                </a:lnTo>
                <a:lnTo>
                  <a:pt x="232160" y="163331"/>
                </a:lnTo>
                <a:lnTo>
                  <a:pt x="222404" y="165283"/>
                </a:lnTo>
                <a:lnTo>
                  <a:pt x="211666" y="166336"/>
                </a:lnTo>
                <a:lnTo>
                  <a:pt x="200063" y="166478"/>
                </a:lnTo>
                <a:lnTo>
                  <a:pt x="187724" y="165708"/>
                </a:lnTo>
                <a:lnTo>
                  <a:pt x="174784" y="164035"/>
                </a:lnTo>
                <a:lnTo>
                  <a:pt x="161383" y="161476"/>
                </a:lnTo>
                <a:lnTo>
                  <a:pt x="147669" y="158061"/>
                </a:lnTo>
                <a:lnTo>
                  <a:pt x="133793" y="153825"/>
                </a:lnTo>
                <a:lnTo>
                  <a:pt x="119905" y="148816"/>
                </a:lnTo>
                <a:lnTo>
                  <a:pt x="106159" y="143089"/>
                </a:lnTo>
                <a:lnTo>
                  <a:pt x="92705" y="136706"/>
                </a:lnTo>
                <a:lnTo>
                  <a:pt x="79690" y="129737"/>
                </a:lnTo>
                <a:lnTo>
                  <a:pt x="67257" y="122259"/>
                </a:lnTo>
                <a:lnTo>
                  <a:pt x="55543" y="114353"/>
                </a:lnTo>
                <a:lnTo>
                  <a:pt x="44675" y="106107"/>
                </a:lnTo>
                <a:lnTo>
                  <a:pt x="34772" y="97609"/>
                </a:lnTo>
                <a:lnTo>
                  <a:pt x="25944" y="88955"/>
                </a:lnTo>
                <a:lnTo>
                  <a:pt x="18286" y="80237"/>
                </a:lnTo>
                <a:lnTo>
                  <a:pt x="11883" y="71553"/>
                </a:lnTo>
                <a:lnTo>
                  <a:pt x="6805" y="62997"/>
                </a:lnTo>
                <a:lnTo>
                  <a:pt x="3107" y="54662"/>
                </a:lnTo>
                <a:lnTo>
                  <a:pt x="831" y="46641"/>
                </a:lnTo>
                <a:lnTo>
                  <a:pt x="0" y="39020"/>
                </a:lnTo>
                <a:lnTo>
                  <a:pt x="624" y="31884"/>
                </a:lnTo>
                <a:lnTo>
                  <a:pt x="2697" y="25311"/>
                </a:lnTo>
                <a:lnTo>
                  <a:pt x="6195" y="19372"/>
                </a:lnTo>
                <a:lnTo>
                  <a:pt x="11080" y="14133"/>
                </a:lnTo>
                <a:lnTo>
                  <a:pt x="17299" y="9651"/>
                </a:lnTo>
                <a:lnTo>
                  <a:pt x="24784" y="5976"/>
                </a:lnTo>
                <a:lnTo>
                  <a:pt x="33452" y="3146"/>
                </a:lnTo>
                <a:lnTo>
                  <a:pt x="43208" y="1195"/>
                </a:lnTo>
                <a:lnTo>
                  <a:pt x="53947" y="142"/>
                </a:lnTo>
                <a:lnTo>
                  <a:pt x="65549" y="0"/>
                </a:lnTo>
                <a:lnTo>
                  <a:pt x="77888" y="770"/>
                </a:lnTo>
                <a:lnTo>
                  <a:pt x="90829" y="2443"/>
                </a:lnTo>
                <a:lnTo>
                  <a:pt x="104229" y="5002"/>
                </a:lnTo>
                <a:lnTo>
                  <a:pt x="117943" y="8417"/>
                </a:lnTo>
                <a:lnTo>
                  <a:pt x="131820" y="12653"/>
                </a:lnTo>
                <a:lnTo>
                  <a:pt x="145707" y="17661"/>
                </a:lnTo>
                <a:lnTo>
                  <a:pt x="159453" y="23389"/>
                </a:lnTo>
                <a:lnTo>
                  <a:pt x="172907" y="29772"/>
                </a:lnTo>
                <a:lnTo>
                  <a:pt x="185922" y="36741"/>
                </a:lnTo>
                <a:lnTo>
                  <a:pt x="198355" y="44219"/>
                </a:lnTo>
                <a:lnTo>
                  <a:pt x="210069" y="52125"/>
                </a:lnTo>
                <a:lnTo>
                  <a:pt x="220938" y="60371"/>
                </a:lnTo>
                <a:lnTo>
                  <a:pt x="230840" y="68869"/>
                </a:lnTo>
                <a:lnTo>
                  <a:pt x="239669" y="77523"/>
                </a:lnTo>
                <a:lnTo>
                  <a:pt x="247326" y="86240"/>
                </a:lnTo>
                <a:lnTo>
                  <a:pt x="253729" y="94925"/>
                </a:lnTo>
                <a:lnTo>
                  <a:pt x="258807" y="103481"/>
                </a:lnTo>
                <a:lnTo>
                  <a:pt x="262505" y="111816"/>
                </a:lnTo>
                <a:lnTo>
                  <a:pt x="264782" y="119837"/>
                </a:lnTo>
                <a:lnTo>
                  <a:pt x="265612" y="127458"/>
                </a:lnTo>
                <a:lnTo>
                  <a:pt x="264988" y="134594"/>
                </a:lnTo>
                <a:close/>
              </a:path>
            </a:pathLst>
          </a:custGeom>
          <a:ln w="6350">
            <a:solidFill>
              <a:srgbClr val="4F7A43"/>
            </a:solidFill>
            <a:prstDash val="dash"/>
          </a:ln>
        </p:spPr>
      </p:sp>
      <p:sp>
        <p:nvSpPr>
          <p:cNvPr id="57" name="Shape 55"/>
          <p:cNvSpPr/>
          <p:nvPr/>
        </p:nvSpPr>
        <p:spPr>
          <a:xfrm>
            <a:off x="3700262" y="2904047"/>
            <a:ext cx="41148" cy="41148"/>
          </a:xfrm>
          <a:prstGeom prst="ellipse">
            <a:avLst/>
          </a:prstGeom>
          <a:solidFill>
            <a:srgbClr val="FFFFFF"/>
          </a:solidFill>
          <a:ln w="7620">
            <a:solidFill>
              <a:srgbClr val="4F7A43"/>
            </a:solidFill>
            <a:prstDash val="solid"/>
          </a:ln>
        </p:spPr>
      </p:sp>
      <p:sp>
        <p:nvSpPr>
          <p:cNvPr id="58" name="Shape 56"/>
          <p:cNvSpPr/>
          <p:nvPr/>
        </p:nvSpPr>
        <p:spPr>
          <a:xfrm>
            <a:off x="3646358" y="2963916"/>
            <a:ext cx="41148" cy="41148"/>
          </a:xfrm>
          <a:prstGeom prst="ellipse">
            <a:avLst/>
          </a:prstGeom>
          <a:solidFill>
            <a:srgbClr val="FFFFFF"/>
          </a:solidFill>
          <a:ln w="7620">
            <a:solidFill>
              <a:srgbClr val="4F7A43"/>
            </a:solidFill>
            <a:prstDash val="solid"/>
          </a:ln>
        </p:spPr>
      </p:sp>
      <p:sp>
        <p:nvSpPr>
          <p:cNvPr id="59" name="Shape 57"/>
          <p:cNvSpPr/>
          <p:nvPr/>
        </p:nvSpPr>
        <p:spPr>
          <a:xfrm>
            <a:off x="3551684" y="2998304"/>
            <a:ext cx="41148" cy="41148"/>
          </a:xfrm>
          <a:prstGeom prst="ellipse">
            <a:avLst/>
          </a:prstGeom>
          <a:solidFill>
            <a:srgbClr val="FFFFFF"/>
          </a:solidFill>
          <a:ln w="7620">
            <a:solidFill>
              <a:srgbClr val="4F7A43"/>
            </a:solidFill>
            <a:prstDash val="solid"/>
          </a:ln>
        </p:spPr>
      </p:sp>
      <p:sp>
        <p:nvSpPr>
          <p:cNvPr id="60" name="Shape 58"/>
          <p:cNvSpPr/>
          <p:nvPr/>
        </p:nvSpPr>
        <p:spPr>
          <a:xfrm>
            <a:off x="3424513" y="3004205"/>
            <a:ext cx="41148" cy="41148"/>
          </a:xfrm>
          <a:prstGeom prst="ellipse">
            <a:avLst/>
          </a:prstGeom>
          <a:solidFill>
            <a:srgbClr val="FFFFFF"/>
          </a:solidFill>
          <a:ln w="7620">
            <a:solidFill>
              <a:srgbClr val="4F7A43"/>
            </a:solidFill>
            <a:prstDash val="solid"/>
          </a:ln>
        </p:spPr>
      </p:sp>
      <p:sp>
        <p:nvSpPr>
          <p:cNvPr id="61" name="Shape 59"/>
          <p:cNvSpPr/>
          <p:nvPr/>
        </p:nvSpPr>
        <p:spPr>
          <a:xfrm>
            <a:off x="3275958" y="2981104"/>
            <a:ext cx="41148" cy="41148"/>
          </a:xfrm>
          <a:prstGeom prst="ellipse">
            <a:avLst/>
          </a:prstGeom>
          <a:solidFill>
            <a:srgbClr val="FFFFFF"/>
          </a:solidFill>
          <a:ln w="7620">
            <a:solidFill>
              <a:srgbClr val="4F7A43"/>
            </a:solidFill>
            <a:prstDash val="solid"/>
          </a:ln>
        </p:spPr>
      </p:sp>
      <p:sp>
        <p:nvSpPr>
          <p:cNvPr id="62" name="Shape 60"/>
          <p:cNvSpPr/>
          <p:nvPr/>
        </p:nvSpPr>
        <p:spPr>
          <a:xfrm>
            <a:off x="3119003" y="2931019"/>
            <a:ext cx="41148" cy="41148"/>
          </a:xfrm>
          <a:prstGeom prst="ellipse">
            <a:avLst/>
          </a:prstGeom>
          <a:solidFill>
            <a:srgbClr val="FFFFFF"/>
          </a:solidFill>
          <a:ln w="7620">
            <a:solidFill>
              <a:srgbClr val="4F7A43"/>
            </a:solidFill>
            <a:prstDash val="solid"/>
          </a:ln>
        </p:spPr>
      </p:sp>
      <p:sp>
        <p:nvSpPr>
          <p:cNvPr id="63" name="Shape 61"/>
          <p:cNvSpPr/>
          <p:nvPr/>
        </p:nvSpPr>
        <p:spPr>
          <a:xfrm>
            <a:off x="2967362" y="2858327"/>
            <a:ext cx="41148" cy="41148"/>
          </a:xfrm>
          <a:prstGeom prst="ellipse">
            <a:avLst/>
          </a:prstGeom>
          <a:solidFill>
            <a:srgbClr val="FFFFFF"/>
          </a:solidFill>
          <a:ln w="7620">
            <a:solidFill>
              <a:srgbClr val="4F7A43"/>
            </a:solidFill>
            <a:prstDash val="solid"/>
          </a:ln>
        </p:spPr>
      </p:sp>
      <p:sp>
        <p:nvSpPr>
          <p:cNvPr id="64" name="Shape 62"/>
          <p:cNvSpPr/>
          <p:nvPr/>
        </p:nvSpPr>
        <p:spPr>
          <a:xfrm>
            <a:off x="2834289" y="2769382"/>
            <a:ext cx="41148" cy="41148"/>
          </a:xfrm>
          <a:prstGeom prst="ellipse">
            <a:avLst/>
          </a:prstGeom>
          <a:solidFill>
            <a:srgbClr val="FFFFFF"/>
          </a:solidFill>
          <a:ln w="7620">
            <a:solidFill>
              <a:srgbClr val="4F7A43"/>
            </a:solidFill>
            <a:prstDash val="solid"/>
          </a:ln>
        </p:spPr>
      </p:sp>
      <p:sp>
        <p:nvSpPr>
          <p:cNvPr id="65" name="Shape 63"/>
          <p:cNvSpPr/>
          <p:nvPr/>
        </p:nvSpPr>
        <p:spPr>
          <a:xfrm>
            <a:off x="2731413" y="2671955"/>
            <a:ext cx="41148" cy="41148"/>
          </a:xfrm>
          <a:prstGeom prst="ellipse">
            <a:avLst/>
          </a:prstGeom>
          <a:solidFill>
            <a:srgbClr val="FFFFFF"/>
          </a:solidFill>
          <a:ln w="7620">
            <a:solidFill>
              <a:srgbClr val="4F7A43"/>
            </a:solidFill>
            <a:prstDash val="solid"/>
          </a:ln>
        </p:spPr>
      </p:sp>
      <p:sp>
        <p:nvSpPr>
          <p:cNvPr id="66" name="Shape 64"/>
          <p:cNvSpPr/>
          <p:nvPr/>
        </p:nvSpPr>
        <p:spPr>
          <a:xfrm>
            <a:off x="2667724" y="2574562"/>
            <a:ext cx="41148" cy="41148"/>
          </a:xfrm>
          <a:prstGeom prst="ellipse">
            <a:avLst/>
          </a:prstGeom>
          <a:solidFill>
            <a:srgbClr val="FFFFFF"/>
          </a:solidFill>
          <a:ln w="7620">
            <a:solidFill>
              <a:srgbClr val="4F7A43"/>
            </a:solidFill>
            <a:prstDash val="solid"/>
          </a:ln>
        </p:spPr>
      </p:sp>
      <p:sp>
        <p:nvSpPr>
          <p:cNvPr id="67" name="Shape 65"/>
          <p:cNvSpPr/>
          <p:nvPr/>
        </p:nvSpPr>
        <p:spPr>
          <a:xfrm>
            <a:off x="2648787" y="2485713"/>
            <a:ext cx="41148" cy="41148"/>
          </a:xfrm>
          <a:prstGeom prst="ellipse">
            <a:avLst/>
          </a:prstGeom>
          <a:solidFill>
            <a:srgbClr val="FFFFFF"/>
          </a:solidFill>
          <a:ln w="7620">
            <a:solidFill>
              <a:srgbClr val="4F7A43"/>
            </a:solidFill>
            <a:prstDash val="solid"/>
          </a:ln>
        </p:spPr>
      </p:sp>
      <p:sp>
        <p:nvSpPr>
          <p:cNvPr id="68" name="Shape 66"/>
          <p:cNvSpPr/>
          <p:nvPr/>
        </p:nvSpPr>
        <p:spPr>
          <a:xfrm>
            <a:off x="2676259" y="2413172"/>
            <a:ext cx="41148" cy="41148"/>
          </a:xfrm>
          <a:prstGeom prst="ellipse">
            <a:avLst/>
          </a:prstGeom>
          <a:solidFill>
            <a:srgbClr val="FFFFFF"/>
          </a:solidFill>
          <a:ln w="7620">
            <a:solidFill>
              <a:srgbClr val="4F7A43"/>
            </a:solidFill>
            <a:prstDash val="solid"/>
          </a:ln>
        </p:spPr>
      </p:sp>
      <p:sp>
        <p:nvSpPr>
          <p:cNvPr id="69" name="Shape 67"/>
          <p:cNvSpPr/>
          <p:nvPr/>
        </p:nvSpPr>
        <p:spPr>
          <a:xfrm>
            <a:off x="2747737" y="2363280"/>
            <a:ext cx="41148" cy="41148"/>
          </a:xfrm>
          <a:prstGeom prst="ellipse">
            <a:avLst/>
          </a:prstGeom>
          <a:solidFill>
            <a:srgbClr val="FFFFFF"/>
          </a:solidFill>
          <a:ln w="7620">
            <a:solidFill>
              <a:srgbClr val="4F7A43"/>
            </a:solidFill>
            <a:prstDash val="solid"/>
          </a:ln>
        </p:spPr>
      </p:sp>
      <p:sp>
        <p:nvSpPr>
          <p:cNvPr id="70" name="Shape 68"/>
          <p:cNvSpPr/>
          <p:nvPr/>
        </p:nvSpPr>
        <p:spPr>
          <a:xfrm>
            <a:off x="2856976" y="2340397"/>
            <a:ext cx="41148" cy="41148"/>
          </a:xfrm>
          <a:prstGeom prst="ellipse">
            <a:avLst/>
          </a:prstGeom>
          <a:solidFill>
            <a:srgbClr val="FFFFFF"/>
          </a:solidFill>
          <a:ln w="7620">
            <a:solidFill>
              <a:srgbClr val="4F7A43"/>
            </a:solidFill>
            <a:prstDash val="solid"/>
          </a:ln>
        </p:spPr>
      </p:sp>
      <p:sp>
        <p:nvSpPr>
          <p:cNvPr id="71" name="Shape 69"/>
          <p:cNvSpPr/>
          <p:nvPr/>
        </p:nvSpPr>
        <p:spPr>
          <a:xfrm>
            <a:off x="2994429" y="2346521"/>
            <a:ext cx="41148" cy="41148"/>
          </a:xfrm>
          <a:prstGeom prst="ellipse">
            <a:avLst/>
          </a:prstGeom>
          <a:solidFill>
            <a:srgbClr val="FFFFFF"/>
          </a:solidFill>
          <a:ln w="7620">
            <a:solidFill>
              <a:srgbClr val="4F7A43"/>
            </a:solidFill>
            <a:prstDash val="solid"/>
          </a:ln>
        </p:spPr>
      </p:sp>
      <p:sp>
        <p:nvSpPr>
          <p:cNvPr id="72" name="Shape 70"/>
          <p:cNvSpPr/>
          <p:nvPr/>
        </p:nvSpPr>
        <p:spPr>
          <a:xfrm>
            <a:off x="3148083" y="2381119"/>
            <a:ext cx="41148" cy="41148"/>
          </a:xfrm>
          <a:prstGeom prst="ellipse">
            <a:avLst/>
          </a:prstGeom>
          <a:solidFill>
            <a:srgbClr val="FFFFFF"/>
          </a:solidFill>
          <a:ln w="7620">
            <a:solidFill>
              <a:srgbClr val="4F7A43"/>
            </a:solidFill>
            <a:prstDash val="solid"/>
          </a:ln>
        </p:spPr>
      </p:sp>
      <p:sp>
        <p:nvSpPr>
          <p:cNvPr id="73" name="Shape 71"/>
          <p:cNvSpPr/>
          <p:nvPr/>
        </p:nvSpPr>
        <p:spPr>
          <a:xfrm>
            <a:off x="3304512" y="2441166"/>
            <a:ext cx="41148" cy="41148"/>
          </a:xfrm>
          <a:prstGeom prst="ellipse">
            <a:avLst/>
          </a:prstGeom>
          <a:solidFill>
            <a:srgbClr val="FFFFFF"/>
          </a:solidFill>
          <a:ln w="7620">
            <a:solidFill>
              <a:srgbClr val="4F7A43"/>
            </a:solidFill>
            <a:prstDash val="solid"/>
          </a:ln>
        </p:spPr>
      </p:sp>
      <p:sp>
        <p:nvSpPr>
          <p:cNvPr id="74" name="Shape 72"/>
          <p:cNvSpPr/>
          <p:nvPr/>
        </p:nvSpPr>
        <p:spPr>
          <a:xfrm>
            <a:off x="3450044" y="2521415"/>
            <a:ext cx="41148" cy="41148"/>
          </a:xfrm>
          <a:prstGeom prst="ellipse">
            <a:avLst/>
          </a:prstGeom>
          <a:solidFill>
            <a:srgbClr val="FFFFFF"/>
          </a:solidFill>
          <a:ln w="7620">
            <a:solidFill>
              <a:srgbClr val="4F7A43"/>
            </a:solidFill>
            <a:prstDash val="solid"/>
          </a:ln>
        </p:spPr>
      </p:sp>
      <p:sp>
        <p:nvSpPr>
          <p:cNvPr id="75" name="Shape 73"/>
          <p:cNvSpPr/>
          <p:nvPr/>
        </p:nvSpPr>
        <p:spPr>
          <a:xfrm>
            <a:off x="3571962" y="2614852"/>
            <a:ext cx="41148" cy="41148"/>
          </a:xfrm>
          <a:prstGeom prst="ellipse">
            <a:avLst/>
          </a:prstGeom>
          <a:solidFill>
            <a:srgbClr val="FFFFFF"/>
          </a:solidFill>
          <a:ln w="7620">
            <a:solidFill>
              <a:srgbClr val="4F7A43"/>
            </a:solidFill>
            <a:prstDash val="solid"/>
          </a:ln>
        </p:spPr>
      </p:sp>
      <p:sp>
        <p:nvSpPr>
          <p:cNvPr id="76" name="Shape 74"/>
          <p:cNvSpPr/>
          <p:nvPr/>
        </p:nvSpPr>
        <p:spPr>
          <a:xfrm>
            <a:off x="3659611" y="2713313"/>
            <a:ext cx="41148" cy="41148"/>
          </a:xfrm>
          <a:prstGeom prst="ellipse">
            <a:avLst/>
          </a:prstGeom>
          <a:solidFill>
            <a:srgbClr val="FFFFFF"/>
          </a:solidFill>
          <a:ln w="7620">
            <a:solidFill>
              <a:srgbClr val="4F7A43"/>
            </a:solidFill>
            <a:prstDash val="solid"/>
          </a:ln>
        </p:spPr>
      </p:sp>
      <p:sp>
        <p:nvSpPr>
          <p:cNvPr id="77" name="Shape 75"/>
          <p:cNvSpPr/>
          <p:nvPr/>
        </p:nvSpPr>
        <p:spPr>
          <a:xfrm>
            <a:off x="3705331" y="2808193"/>
            <a:ext cx="41148" cy="41148"/>
          </a:xfrm>
          <a:prstGeom prst="ellipse">
            <a:avLst/>
          </a:prstGeom>
          <a:solidFill>
            <a:srgbClr val="FFFFFF"/>
          </a:solidFill>
          <a:ln w="7620">
            <a:solidFill>
              <a:srgbClr val="4F7A43"/>
            </a:solidFill>
            <a:prstDash val="solid"/>
          </a:ln>
        </p:spPr>
      </p:sp>
      <p:sp>
        <p:nvSpPr>
          <p:cNvPr id="78" name="Shape 76"/>
          <p:cNvSpPr/>
          <p:nvPr/>
        </p:nvSpPr>
        <p:spPr>
          <a:xfrm>
            <a:off x="3705127" y="2891200"/>
            <a:ext cx="41148" cy="41148"/>
          </a:xfrm>
          <a:prstGeom prst="ellipse">
            <a:avLst/>
          </a:prstGeom>
          <a:solidFill>
            <a:srgbClr val="FFFFFF"/>
          </a:solidFill>
          <a:ln w="7620">
            <a:solidFill>
              <a:srgbClr val="4F7A43"/>
            </a:solidFill>
            <a:prstDash val="solid"/>
          </a:ln>
        </p:spPr>
      </p:sp>
      <p:sp>
        <p:nvSpPr>
          <p:cNvPr id="79" name="Shape 77"/>
          <p:cNvSpPr/>
          <p:nvPr/>
        </p:nvSpPr>
        <p:spPr>
          <a:xfrm rot="1440000">
            <a:off x="3184821" y="2642485"/>
            <a:ext cx="297792" cy="297792"/>
          </a:xfrm>
          <a:prstGeom prst="rect">
            <a:avLst/>
          </a:prstGeom>
          <a:solidFill>
            <a:srgbClr val="1B1B1B"/>
          </a:solidFill>
          <a:ln/>
        </p:spPr>
      </p:sp>
      <p:sp>
        <p:nvSpPr>
          <p:cNvPr id="80" name="Shape 78"/>
          <p:cNvSpPr/>
          <p:nvPr/>
        </p:nvSpPr>
        <p:spPr>
          <a:xfrm rot="1440000">
            <a:off x="3274158" y="2731823"/>
            <a:ext cx="119117" cy="119117"/>
          </a:xfrm>
          <a:prstGeom prst="rect">
            <a:avLst/>
          </a:prstGeom>
          <a:solidFill>
            <a:srgbClr val="C4262E"/>
          </a:solidFill>
          <a:ln/>
        </p:spPr>
      </p:sp>
      <p:sp>
        <p:nvSpPr>
          <p:cNvPr id="81" name="Shape 79"/>
          <p:cNvSpPr/>
          <p:nvPr/>
        </p:nvSpPr>
        <p:spPr>
          <a:xfrm>
            <a:off x="2490714" y="2376935"/>
            <a:ext cx="590102" cy="290112"/>
          </a:xfrm>
          <a:custGeom>
            <a:avLst/>
            <a:gdLst/>
            <a:ahLst/>
            <a:cxnLst/>
            <a:rect l="l" t="t" r="r" b="b"/>
            <a:pathLst>
              <a:path w="590102" h="290112">
                <a:moveTo>
                  <a:pt x="0" y="0"/>
                </a:moveTo>
                <a:lnTo>
                  <a:pt x="590102" y="290112"/>
                </a:lnTo>
              </a:path>
            </a:pathLst>
          </a:custGeom>
          <a:ln w="15875">
            <a:solidFill>
              <a:srgbClr val="C4262E"/>
            </a:solidFill>
            <a:prstDash val="solid"/>
            <a:tailEnd type="triangle"/>
          </a:ln>
        </p:spPr>
      </p:sp>
      <p:sp>
        <p:nvSpPr>
          <p:cNvPr id="82" name="Shape 80"/>
          <p:cNvSpPr/>
          <p:nvPr/>
        </p:nvSpPr>
        <p:spPr>
          <a:xfrm>
            <a:off x="3504597" y="2885065"/>
            <a:ext cx="398722" cy="218595"/>
          </a:xfrm>
          <a:custGeom>
            <a:avLst/>
            <a:gdLst/>
            <a:ahLst/>
            <a:cxnLst/>
            <a:rect l="l" t="t" r="r" b="b"/>
            <a:pathLst>
              <a:path w="398722" h="218595">
                <a:moveTo>
                  <a:pt x="398722" y="218595"/>
                </a:moveTo>
                <a:lnTo>
                  <a:pt x="0" y="0"/>
                </a:lnTo>
              </a:path>
            </a:pathLst>
          </a:custGeom>
          <a:ln w="15875">
            <a:solidFill>
              <a:srgbClr val="C4262E"/>
            </a:solidFill>
            <a:prstDash val="solid"/>
            <a:tailEnd type="triangle"/>
          </a:ln>
        </p:spPr>
      </p:sp>
      <p:sp>
        <p:nvSpPr>
          <p:cNvPr id="83" name="Shape 81"/>
          <p:cNvSpPr/>
          <p:nvPr/>
        </p:nvSpPr>
        <p:spPr>
          <a:xfrm>
            <a:off x="3370993" y="2432717"/>
            <a:ext cx="86979" cy="251065"/>
          </a:xfrm>
          <a:custGeom>
            <a:avLst/>
            <a:gdLst/>
            <a:ahLst/>
            <a:cxnLst/>
            <a:rect l="l" t="t" r="r" b="b"/>
            <a:pathLst>
              <a:path w="86979" h="251065">
                <a:moveTo>
                  <a:pt x="86979" y="0"/>
                </a:moveTo>
                <a:lnTo>
                  <a:pt x="0" y="251065"/>
                </a:lnTo>
              </a:path>
            </a:pathLst>
          </a:custGeom>
          <a:ln w="15875">
            <a:solidFill>
              <a:srgbClr val="C4262E"/>
            </a:solidFill>
            <a:prstDash val="solid"/>
            <a:tailEnd type="triangle"/>
          </a:ln>
        </p:spPr>
      </p:sp>
      <p:sp>
        <p:nvSpPr>
          <p:cNvPr id="84" name="Shape 82"/>
          <p:cNvSpPr/>
          <p:nvPr/>
        </p:nvSpPr>
        <p:spPr>
          <a:xfrm>
            <a:off x="3232474" y="2883474"/>
            <a:ext cx="70870" cy="214883"/>
          </a:xfrm>
          <a:custGeom>
            <a:avLst/>
            <a:gdLst/>
            <a:ahLst/>
            <a:cxnLst/>
            <a:rect l="l" t="t" r="r" b="b"/>
            <a:pathLst>
              <a:path w="70870" h="214883">
                <a:moveTo>
                  <a:pt x="0" y="214883"/>
                </a:moveTo>
                <a:lnTo>
                  <a:pt x="70870" y="0"/>
                </a:lnTo>
              </a:path>
            </a:pathLst>
          </a:custGeom>
          <a:ln w="15875">
            <a:solidFill>
              <a:srgbClr val="C4262E"/>
            </a:solidFill>
            <a:prstDash val="solid"/>
            <a:tailEnd type="triangle"/>
          </a:ln>
        </p:spPr>
      </p:sp>
      <p:sp>
        <p:nvSpPr>
          <p:cNvPr id="85" name="Shape 83"/>
          <p:cNvSpPr/>
          <p:nvPr/>
        </p:nvSpPr>
        <p:spPr>
          <a:xfrm>
            <a:off x="410565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86" name="Shape 84"/>
          <p:cNvSpPr/>
          <p:nvPr/>
        </p:nvSpPr>
        <p:spPr>
          <a:xfrm>
            <a:off x="4206240" y="1627632"/>
            <a:ext cx="1828800" cy="1920240"/>
          </a:xfrm>
          <a:prstGeom prst="rect">
            <a:avLst/>
          </a:prstGeom>
          <a:solidFill>
            <a:srgbClr val="FFFFFF"/>
          </a:solidFill>
          <a:ln w="6350">
            <a:solidFill>
              <a:srgbClr val="D9D9D9"/>
            </a:solidFill>
            <a:prstDash val="solid"/>
          </a:ln>
        </p:spPr>
      </p:sp>
      <p:sp>
        <p:nvSpPr>
          <p:cNvPr id="87" name="Text 85"/>
          <p:cNvSpPr txBox="1"/>
          <p:nvPr/>
        </p:nvSpPr>
        <p:spPr>
          <a:xfrm>
            <a:off x="427939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03  </a:t>
            </a:r>
            <a:pPr indent="0" marL="0">
              <a:buNone/>
            </a:pPr>
            <a:r>
              <a:rPr lang="en-US" sz="750" b="1" spc="50" kern="0" dirty="0">
                <a:solidFill>
                  <a:srgbClr val="1B1B1B"/>
                </a:solidFill>
                <a:latin typeface="Arial" pitchFamily="34" charset="0"/>
                <a:ea typeface="Arial" pitchFamily="34" charset="-122"/>
                <a:cs typeface="Arial" pitchFamily="34" charset="-120"/>
              </a:rPr>
              <a:t>PROGRAM</a:t>
            </a:r>
            <a:endParaRPr lang="en-US" sz="750" dirty="0"/>
          </a:p>
        </p:txBody>
      </p:sp>
      <p:sp>
        <p:nvSpPr>
          <p:cNvPr id="88" name="Shape 86"/>
          <p:cNvSpPr/>
          <p:nvPr/>
        </p:nvSpPr>
        <p:spPr>
          <a:xfrm>
            <a:off x="4367723" y="1939991"/>
            <a:ext cx="1505834" cy="1505834"/>
          </a:xfrm>
          <a:prstGeom prst="rect">
            <a:avLst/>
          </a:prstGeom>
          <a:solidFill>
            <a:srgbClr val="9A9A9A"/>
          </a:solidFill>
          <a:ln/>
        </p:spPr>
      </p:sp>
      <p:sp>
        <p:nvSpPr>
          <p:cNvPr id="89" name="Shape 87"/>
          <p:cNvSpPr/>
          <p:nvPr/>
        </p:nvSpPr>
        <p:spPr>
          <a:xfrm>
            <a:off x="4781827" y="2354095"/>
            <a:ext cx="677625" cy="677625"/>
          </a:xfrm>
          <a:prstGeom prst="rect">
            <a:avLst/>
          </a:prstGeom>
          <a:solidFill>
            <a:srgbClr val="C4262E"/>
          </a:solidFill>
          <a:ln/>
        </p:spPr>
      </p:sp>
      <p:sp>
        <p:nvSpPr>
          <p:cNvPr id="90" name="Text 88"/>
          <p:cNvSpPr txBox="1"/>
          <p:nvPr/>
        </p:nvSpPr>
        <p:spPr>
          <a:xfrm>
            <a:off x="4781827" y="2354095"/>
            <a:ext cx="677625" cy="677625"/>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PUBLIC HALL</a:t>
            </a:r>
            <a:endParaRPr lang="en-US" sz="500" dirty="0"/>
          </a:p>
          <a:p>
            <a:pPr algn="ctr" indent="0" marL="0">
              <a:buNone/>
            </a:pPr>
            <a:r>
              <a:rPr lang="en-US" sz="500" b="1" dirty="0">
                <a:solidFill>
                  <a:srgbClr val="FFFFFF"/>
                </a:solidFill>
                <a:latin typeface="Arial" pitchFamily="34" charset="0"/>
                <a:ea typeface="Arial" pitchFamily="34" charset="-122"/>
                <a:cs typeface="Arial" pitchFamily="34" charset="-120"/>
              </a:rPr>
              <a:t>forum · exhibition</a:t>
            </a:r>
            <a:endParaRPr lang="en-US" sz="500" dirty="0"/>
          </a:p>
        </p:txBody>
      </p:sp>
      <p:sp>
        <p:nvSpPr>
          <p:cNvPr id="91" name="Text 89"/>
          <p:cNvSpPr txBox="1"/>
          <p:nvPr/>
        </p:nvSpPr>
        <p:spPr>
          <a:xfrm>
            <a:off x="4754880" y="2070127"/>
            <a:ext cx="731520" cy="146304"/>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NEWSROOM</a:t>
            </a:r>
            <a:endParaRPr lang="en-US" sz="500" dirty="0"/>
          </a:p>
        </p:txBody>
      </p:sp>
      <p:sp>
        <p:nvSpPr>
          <p:cNvPr id="92" name="Text 90"/>
          <p:cNvSpPr txBox="1"/>
          <p:nvPr/>
        </p:nvSpPr>
        <p:spPr>
          <a:xfrm>
            <a:off x="5304509" y="2619756"/>
            <a:ext cx="731520" cy="146304"/>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RECORDING</a:t>
            </a:r>
            <a:endParaRPr lang="en-US" sz="500" dirty="0"/>
          </a:p>
        </p:txBody>
      </p:sp>
      <p:sp>
        <p:nvSpPr>
          <p:cNvPr id="93" name="Text 91"/>
          <p:cNvSpPr txBox="1"/>
          <p:nvPr/>
        </p:nvSpPr>
        <p:spPr>
          <a:xfrm>
            <a:off x="4754880" y="3169385"/>
            <a:ext cx="731520" cy="146304"/>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PUBLISHING</a:t>
            </a:r>
            <a:endParaRPr lang="en-US" sz="500" dirty="0"/>
          </a:p>
        </p:txBody>
      </p:sp>
      <p:sp>
        <p:nvSpPr>
          <p:cNvPr id="94" name="Text 92"/>
          <p:cNvSpPr txBox="1"/>
          <p:nvPr/>
        </p:nvSpPr>
        <p:spPr>
          <a:xfrm>
            <a:off x="4205251" y="2619756"/>
            <a:ext cx="731520" cy="146304"/>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LIBRARY</a:t>
            </a:r>
            <a:endParaRPr lang="en-US" sz="500" dirty="0"/>
          </a:p>
        </p:txBody>
      </p:sp>
      <p:sp>
        <p:nvSpPr>
          <p:cNvPr id="95" name="Shape 93"/>
          <p:cNvSpPr/>
          <p:nvPr/>
        </p:nvSpPr>
        <p:spPr>
          <a:xfrm>
            <a:off x="4427956" y="2000224"/>
            <a:ext cx="150583" cy="150583"/>
          </a:xfrm>
          <a:prstGeom prst="rect">
            <a:avLst/>
          </a:prstGeom>
          <a:solidFill>
            <a:srgbClr val="1B1B1B"/>
          </a:solidFill>
          <a:ln/>
        </p:spPr>
      </p:sp>
      <p:sp>
        <p:nvSpPr>
          <p:cNvPr id="96" name="Shape 94"/>
          <p:cNvSpPr/>
          <p:nvPr/>
        </p:nvSpPr>
        <p:spPr>
          <a:xfrm>
            <a:off x="5662740" y="2000224"/>
            <a:ext cx="150583" cy="150583"/>
          </a:xfrm>
          <a:prstGeom prst="rect">
            <a:avLst/>
          </a:prstGeom>
          <a:solidFill>
            <a:srgbClr val="1B1B1B"/>
          </a:solidFill>
          <a:ln/>
        </p:spPr>
      </p:sp>
      <p:sp>
        <p:nvSpPr>
          <p:cNvPr id="97" name="Shape 95"/>
          <p:cNvSpPr/>
          <p:nvPr/>
        </p:nvSpPr>
        <p:spPr>
          <a:xfrm>
            <a:off x="5662740" y="3235008"/>
            <a:ext cx="150583" cy="150583"/>
          </a:xfrm>
          <a:prstGeom prst="rect">
            <a:avLst/>
          </a:prstGeom>
          <a:solidFill>
            <a:srgbClr val="1B1B1B"/>
          </a:solidFill>
          <a:ln/>
        </p:spPr>
      </p:sp>
      <p:sp>
        <p:nvSpPr>
          <p:cNvPr id="98" name="Shape 96"/>
          <p:cNvSpPr/>
          <p:nvPr/>
        </p:nvSpPr>
        <p:spPr>
          <a:xfrm>
            <a:off x="4427956" y="3235008"/>
            <a:ext cx="150583" cy="150583"/>
          </a:xfrm>
          <a:prstGeom prst="rect">
            <a:avLst/>
          </a:prstGeom>
          <a:solidFill>
            <a:srgbClr val="1B1B1B"/>
          </a:solidFill>
          <a:ln/>
        </p:spPr>
      </p:sp>
      <p:sp>
        <p:nvSpPr>
          <p:cNvPr id="99" name="Shape 97"/>
          <p:cNvSpPr/>
          <p:nvPr/>
        </p:nvSpPr>
        <p:spPr>
          <a:xfrm>
            <a:off x="602589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00" name="Shape 98"/>
          <p:cNvSpPr/>
          <p:nvPr/>
        </p:nvSpPr>
        <p:spPr>
          <a:xfrm>
            <a:off x="6126480" y="1627632"/>
            <a:ext cx="1828800" cy="1920240"/>
          </a:xfrm>
          <a:prstGeom prst="rect">
            <a:avLst/>
          </a:prstGeom>
          <a:solidFill>
            <a:srgbClr val="FFFFFF"/>
          </a:solidFill>
          <a:ln w="6350">
            <a:solidFill>
              <a:srgbClr val="D9D9D9"/>
            </a:solidFill>
            <a:prstDash val="solid"/>
          </a:ln>
        </p:spPr>
      </p:sp>
      <p:sp>
        <p:nvSpPr>
          <p:cNvPr id="101" name="Text 99"/>
          <p:cNvSpPr txBox="1"/>
          <p:nvPr/>
        </p:nvSpPr>
        <p:spPr>
          <a:xfrm>
            <a:off x="619963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04  </a:t>
            </a:r>
            <a:pPr indent="0" marL="0">
              <a:buNone/>
            </a:pPr>
            <a:r>
              <a:rPr lang="en-US" sz="750" b="1" spc="50" kern="0" dirty="0">
                <a:solidFill>
                  <a:srgbClr val="1B1B1B"/>
                </a:solidFill>
                <a:latin typeface="Arial" pitchFamily="34" charset="0"/>
                <a:ea typeface="Arial" pitchFamily="34" charset="-122"/>
                <a:cs typeface="Arial" pitchFamily="34" charset="-120"/>
              </a:rPr>
              <a:t>ZONING</a:t>
            </a:r>
            <a:endParaRPr lang="en-US" sz="750" dirty="0"/>
          </a:p>
        </p:txBody>
      </p:sp>
      <p:sp>
        <p:nvSpPr>
          <p:cNvPr id="102" name="Shape 100"/>
          <p:cNvSpPr/>
          <p:nvPr/>
        </p:nvSpPr>
        <p:spPr>
          <a:xfrm>
            <a:off x="6181344" y="3314883"/>
            <a:ext cx="1719072" cy="196413"/>
          </a:xfrm>
          <a:custGeom>
            <a:avLst/>
            <a:gdLst/>
            <a:ahLst/>
            <a:cxnLst/>
            <a:rect l="l" t="t" r="r" b="b"/>
            <a:pathLst>
              <a:path w="1719072" h="196413">
                <a:moveTo>
                  <a:pt x="0" y="0"/>
                </a:moveTo>
                <a:lnTo>
                  <a:pt x="1719072" y="0"/>
                </a:lnTo>
                <a:lnTo>
                  <a:pt x="1719072" y="196413"/>
                </a:lnTo>
                <a:lnTo>
                  <a:pt x="0" y="196413"/>
                </a:lnTo>
                <a:close/>
              </a:path>
            </a:pathLst>
          </a:custGeom>
          <a:solidFill>
            <a:srgbClr val="E3ECDC"/>
          </a:solidFill>
          <a:ln w="12700"/>
        </p:spPr>
      </p:sp>
      <p:sp>
        <p:nvSpPr>
          <p:cNvPr id="103" name="Shape 101"/>
          <p:cNvSpPr/>
          <p:nvPr/>
        </p:nvSpPr>
        <p:spPr>
          <a:xfrm>
            <a:off x="6181344" y="3310311"/>
            <a:ext cx="1719072" cy="9144"/>
          </a:xfrm>
          <a:custGeom>
            <a:avLst/>
            <a:gdLst/>
            <a:ahLst/>
            <a:cxnLst/>
            <a:rect l="l" t="t" r="r" b="b"/>
            <a:pathLst>
              <a:path w="1719072" h="9144">
                <a:moveTo>
                  <a:pt x="0" y="4572"/>
                </a:moveTo>
                <a:lnTo>
                  <a:pt x="1719072" y="4572"/>
                </a:lnTo>
              </a:path>
            </a:pathLst>
          </a:custGeom>
          <a:ln w="15875">
            <a:solidFill>
              <a:srgbClr val="1B1B1B"/>
            </a:solidFill>
            <a:prstDash val="solid"/>
          </a:ln>
        </p:spPr>
      </p:sp>
      <p:sp>
        <p:nvSpPr>
          <p:cNvPr id="104" name="Shape 102"/>
          <p:cNvSpPr/>
          <p:nvPr/>
        </p:nvSpPr>
        <p:spPr>
          <a:xfrm>
            <a:off x="6824277" y="2087301"/>
            <a:ext cx="433206" cy="1227582"/>
          </a:xfrm>
          <a:prstGeom prst="rect">
            <a:avLst/>
          </a:prstGeom>
          <a:solidFill>
            <a:srgbClr val="C4262E">
              <a:alpha val="30000"/>
            </a:srgbClr>
          </a:solidFill>
          <a:ln/>
        </p:spPr>
      </p:sp>
      <p:sp>
        <p:nvSpPr>
          <p:cNvPr id="105" name="Shape 103"/>
          <p:cNvSpPr/>
          <p:nvPr/>
        </p:nvSpPr>
        <p:spPr>
          <a:xfrm>
            <a:off x="6439205" y="3069366"/>
            <a:ext cx="385072" cy="245516"/>
          </a:xfrm>
          <a:prstGeom prst="rect">
            <a:avLst/>
          </a:prstGeom>
          <a:solidFill>
            <a:srgbClr val="F0B9BC"/>
          </a:solidFill>
          <a:ln w="12700">
            <a:solidFill>
              <a:srgbClr val="FFFFFF"/>
            </a:solidFill>
            <a:prstDash val="solid"/>
          </a:ln>
        </p:spPr>
      </p:sp>
      <p:sp>
        <p:nvSpPr>
          <p:cNvPr id="106" name="Shape 104"/>
          <p:cNvSpPr/>
          <p:nvPr/>
        </p:nvSpPr>
        <p:spPr>
          <a:xfrm>
            <a:off x="6819705" y="3069366"/>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07" name="Shape 105"/>
          <p:cNvSpPr/>
          <p:nvPr/>
        </p:nvSpPr>
        <p:spPr>
          <a:xfrm>
            <a:off x="7257483" y="3069366"/>
            <a:ext cx="385072" cy="245516"/>
          </a:xfrm>
          <a:prstGeom prst="rect">
            <a:avLst/>
          </a:prstGeom>
          <a:solidFill>
            <a:srgbClr val="F0B9BC"/>
          </a:solidFill>
          <a:ln w="12700">
            <a:solidFill>
              <a:srgbClr val="FFFFFF"/>
            </a:solidFill>
            <a:prstDash val="solid"/>
          </a:ln>
        </p:spPr>
      </p:sp>
      <p:sp>
        <p:nvSpPr>
          <p:cNvPr id="108" name="Shape 106"/>
          <p:cNvSpPr/>
          <p:nvPr/>
        </p:nvSpPr>
        <p:spPr>
          <a:xfrm>
            <a:off x="7252911" y="3069366"/>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09" name="Shape 107"/>
          <p:cNvSpPr/>
          <p:nvPr/>
        </p:nvSpPr>
        <p:spPr>
          <a:xfrm>
            <a:off x="6439205" y="2823850"/>
            <a:ext cx="385072" cy="245516"/>
          </a:xfrm>
          <a:prstGeom prst="rect">
            <a:avLst/>
          </a:prstGeom>
          <a:solidFill>
            <a:srgbClr val="9A9A9A"/>
          </a:solidFill>
          <a:ln w="12700">
            <a:solidFill>
              <a:srgbClr val="FFFFFF"/>
            </a:solidFill>
            <a:prstDash val="solid"/>
          </a:ln>
        </p:spPr>
      </p:sp>
      <p:sp>
        <p:nvSpPr>
          <p:cNvPr id="110" name="Shape 108"/>
          <p:cNvSpPr/>
          <p:nvPr/>
        </p:nvSpPr>
        <p:spPr>
          <a:xfrm>
            <a:off x="6819705" y="2823850"/>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11" name="Shape 109"/>
          <p:cNvSpPr/>
          <p:nvPr/>
        </p:nvSpPr>
        <p:spPr>
          <a:xfrm>
            <a:off x="7257483" y="2823850"/>
            <a:ext cx="385072" cy="245516"/>
          </a:xfrm>
          <a:prstGeom prst="rect">
            <a:avLst/>
          </a:prstGeom>
          <a:solidFill>
            <a:srgbClr val="9A9A9A"/>
          </a:solidFill>
          <a:ln w="12700">
            <a:solidFill>
              <a:srgbClr val="FFFFFF"/>
            </a:solidFill>
            <a:prstDash val="solid"/>
          </a:ln>
        </p:spPr>
      </p:sp>
      <p:sp>
        <p:nvSpPr>
          <p:cNvPr id="112" name="Shape 110"/>
          <p:cNvSpPr/>
          <p:nvPr/>
        </p:nvSpPr>
        <p:spPr>
          <a:xfrm>
            <a:off x="7252911" y="2823850"/>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13" name="Shape 111"/>
          <p:cNvSpPr/>
          <p:nvPr/>
        </p:nvSpPr>
        <p:spPr>
          <a:xfrm>
            <a:off x="6439205" y="2578334"/>
            <a:ext cx="385072" cy="245516"/>
          </a:xfrm>
          <a:prstGeom prst="rect">
            <a:avLst/>
          </a:prstGeom>
          <a:solidFill>
            <a:srgbClr val="9A9A9A"/>
          </a:solidFill>
          <a:ln w="12700">
            <a:solidFill>
              <a:srgbClr val="FFFFFF"/>
            </a:solidFill>
            <a:prstDash val="solid"/>
          </a:ln>
        </p:spPr>
      </p:sp>
      <p:sp>
        <p:nvSpPr>
          <p:cNvPr id="114" name="Shape 112"/>
          <p:cNvSpPr/>
          <p:nvPr/>
        </p:nvSpPr>
        <p:spPr>
          <a:xfrm>
            <a:off x="6819705" y="2578334"/>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15" name="Shape 113"/>
          <p:cNvSpPr/>
          <p:nvPr/>
        </p:nvSpPr>
        <p:spPr>
          <a:xfrm>
            <a:off x="7257483" y="2578334"/>
            <a:ext cx="385072" cy="245516"/>
          </a:xfrm>
          <a:prstGeom prst="rect">
            <a:avLst/>
          </a:prstGeom>
          <a:solidFill>
            <a:srgbClr val="9A9A9A"/>
          </a:solidFill>
          <a:ln w="12700">
            <a:solidFill>
              <a:srgbClr val="FFFFFF"/>
            </a:solidFill>
            <a:prstDash val="solid"/>
          </a:ln>
        </p:spPr>
      </p:sp>
      <p:sp>
        <p:nvSpPr>
          <p:cNvPr id="116" name="Shape 114"/>
          <p:cNvSpPr/>
          <p:nvPr/>
        </p:nvSpPr>
        <p:spPr>
          <a:xfrm>
            <a:off x="7252911" y="2578334"/>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17" name="Shape 115"/>
          <p:cNvSpPr/>
          <p:nvPr/>
        </p:nvSpPr>
        <p:spPr>
          <a:xfrm>
            <a:off x="6439205" y="2332817"/>
            <a:ext cx="385072" cy="245516"/>
          </a:xfrm>
          <a:prstGeom prst="rect">
            <a:avLst/>
          </a:prstGeom>
          <a:solidFill>
            <a:srgbClr val="1B1B1B"/>
          </a:solidFill>
          <a:ln w="12700">
            <a:solidFill>
              <a:srgbClr val="FFFFFF"/>
            </a:solidFill>
            <a:prstDash val="solid"/>
          </a:ln>
        </p:spPr>
      </p:sp>
      <p:sp>
        <p:nvSpPr>
          <p:cNvPr id="118" name="Shape 116"/>
          <p:cNvSpPr/>
          <p:nvPr/>
        </p:nvSpPr>
        <p:spPr>
          <a:xfrm>
            <a:off x="6819705" y="2332817"/>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19" name="Shape 117"/>
          <p:cNvSpPr/>
          <p:nvPr/>
        </p:nvSpPr>
        <p:spPr>
          <a:xfrm>
            <a:off x="7257483" y="2332817"/>
            <a:ext cx="385072" cy="245516"/>
          </a:xfrm>
          <a:prstGeom prst="rect">
            <a:avLst/>
          </a:prstGeom>
          <a:solidFill>
            <a:srgbClr val="1B1B1B"/>
          </a:solidFill>
          <a:ln w="12700">
            <a:solidFill>
              <a:srgbClr val="FFFFFF"/>
            </a:solidFill>
            <a:prstDash val="solid"/>
          </a:ln>
        </p:spPr>
      </p:sp>
      <p:sp>
        <p:nvSpPr>
          <p:cNvPr id="120" name="Shape 118"/>
          <p:cNvSpPr/>
          <p:nvPr/>
        </p:nvSpPr>
        <p:spPr>
          <a:xfrm>
            <a:off x="7252911" y="2332817"/>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21" name="Text 119"/>
          <p:cNvSpPr txBox="1"/>
          <p:nvPr/>
        </p:nvSpPr>
        <p:spPr>
          <a:xfrm>
            <a:off x="6439205" y="2332817"/>
            <a:ext cx="385072" cy="245516"/>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ARCHIVE</a:t>
            </a:r>
            <a:endParaRPr lang="en-US" sz="500" dirty="0"/>
          </a:p>
        </p:txBody>
      </p:sp>
      <p:sp>
        <p:nvSpPr>
          <p:cNvPr id="122" name="Text 120"/>
          <p:cNvSpPr txBox="1"/>
          <p:nvPr/>
        </p:nvSpPr>
        <p:spPr>
          <a:xfrm>
            <a:off x="6824277" y="3069366"/>
            <a:ext cx="433206" cy="245516"/>
          </a:xfrm>
          <a:prstGeom prst="rect">
            <a:avLst/>
          </a:prstGeom>
          <a:noFill/>
          <a:ln/>
        </p:spPr>
        <p:txBody>
          <a:bodyPr wrap="square" lIns="0" tIns="0" rIns="0" bIns="0" rtlCol="0" anchor="ctr"/>
          <a:lstStyle/>
          <a:p>
            <a:pPr algn="ctr" indent="0" marL="0">
              <a:buNone/>
            </a:pPr>
            <a:r>
              <a:rPr lang="en-US" sz="550" b="1" dirty="0">
                <a:solidFill>
                  <a:srgbClr val="C4262E"/>
                </a:solidFill>
                <a:latin typeface="Arial" pitchFamily="34" charset="0"/>
                <a:ea typeface="Arial" pitchFamily="34" charset="-122"/>
                <a:cs typeface="Arial" pitchFamily="34" charset="-120"/>
              </a:rPr>
              <a:t>HALL</a:t>
            </a:r>
            <a:endParaRPr lang="en-US" sz="550" dirty="0"/>
          </a:p>
        </p:txBody>
      </p:sp>
      <p:sp>
        <p:nvSpPr>
          <p:cNvPr id="123" name="Shape 121"/>
          <p:cNvSpPr/>
          <p:nvPr/>
        </p:nvSpPr>
        <p:spPr>
          <a:xfrm>
            <a:off x="794613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24" name="Shape 122"/>
          <p:cNvSpPr/>
          <p:nvPr/>
        </p:nvSpPr>
        <p:spPr>
          <a:xfrm>
            <a:off x="8046720" y="1627632"/>
            <a:ext cx="1828800" cy="1920240"/>
          </a:xfrm>
          <a:prstGeom prst="rect">
            <a:avLst/>
          </a:prstGeom>
          <a:solidFill>
            <a:srgbClr val="FFFFFF"/>
          </a:solidFill>
          <a:ln w="6350">
            <a:solidFill>
              <a:srgbClr val="D9D9D9"/>
            </a:solidFill>
            <a:prstDash val="solid"/>
          </a:ln>
        </p:spPr>
      </p:sp>
      <p:sp>
        <p:nvSpPr>
          <p:cNvPr id="125" name="Text 123"/>
          <p:cNvSpPr txBox="1"/>
          <p:nvPr/>
        </p:nvSpPr>
        <p:spPr>
          <a:xfrm>
            <a:off x="811987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05  </a:t>
            </a:r>
            <a:pPr indent="0" marL="0">
              <a:buNone/>
            </a:pPr>
            <a:r>
              <a:rPr lang="en-US" sz="750" b="1" spc="50" kern="0" dirty="0">
                <a:solidFill>
                  <a:srgbClr val="1B1B1B"/>
                </a:solidFill>
                <a:latin typeface="Arial" pitchFamily="34" charset="0"/>
                <a:ea typeface="Arial" pitchFamily="34" charset="-122"/>
                <a:cs typeface="Arial" pitchFamily="34" charset="-120"/>
              </a:rPr>
              <a:t>MASSING</a:t>
            </a:r>
            <a:endParaRPr lang="en-US" sz="750" dirty="0"/>
          </a:p>
        </p:txBody>
      </p:sp>
      <p:sp>
        <p:nvSpPr>
          <p:cNvPr id="126" name="Shape 124"/>
          <p:cNvSpPr/>
          <p:nvPr/>
        </p:nvSpPr>
        <p:spPr>
          <a:xfrm>
            <a:off x="8101584" y="3277575"/>
            <a:ext cx="1719072" cy="9144"/>
          </a:xfrm>
          <a:custGeom>
            <a:avLst/>
            <a:gdLst/>
            <a:ahLst/>
            <a:cxnLst/>
            <a:rect l="l" t="t" r="r" b="b"/>
            <a:pathLst>
              <a:path w="1719072" h="9144">
                <a:moveTo>
                  <a:pt x="0" y="4572"/>
                </a:moveTo>
                <a:lnTo>
                  <a:pt x="1719072" y="4572"/>
                </a:lnTo>
              </a:path>
            </a:pathLst>
          </a:custGeom>
          <a:ln w="15875">
            <a:solidFill>
              <a:srgbClr val="1B1B1B"/>
            </a:solidFill>
            <a:prstDash val="solid"/>
          </a:ln>
        </p:spPr>
      </p:sp>
      <p:sp>
        <p:nvSpPr>
          <p:cNvPr id="127" name="Shape 125"/>
          <p:cNvSpPr/>
          <p:nvPr/>
        </p:nvSpPr>
        <p:spPr>
          <a:xfrm>
            <a:off x="8531352" y="2169140"/>
            <a:ext cx="859536" cy="1113008"/>
          </a:xfrm>
          <a:prstGeom prst="rect">
            <a:avLst/>
          </a:prstGeom>
          <a:solidFill>
            <a:srgbClr val="FFFFFF"/>
          </a:solidFill>
          <a:ln w="12700">
            <a:solidFill>
              <a:srgbClr val="1B1B1B"/>
            </a:solidFill>
            <a:prstDash val="solid"/>
          </a:ln>
        </p:spPr>
      </p:sp>
      <p:sp>
        <p:nvSpPr>
          <p:cNvPr id="128" name="Shape 126"/>
          <p:cNvSpPr/>
          <p:nvPr/>
        </p:nvSpPr>
        <p:spPr>
          <a:xfrm>
            <a:off x="8531352" y="3054974"/>
            <a:ext cx="859536" cy="9144"/>
          </a:xfrm>
          <a:custGeom>
            <a:avLst/>
            <a:gdLst/>
            <a:ahLst/>
            <a:cxnLst/>
            <a:rect l="l" t="t" r="r" b="b"/>
            <a:pathLst>
              <a:path w="859536" h="9144">
                <a:moveTo>
                  <a:pt x="0" y="4572"/>
                </a:moveTo>
                <a:lnTo>
                  <a:pt x="859536" y="4572"/>
                </a:lnTo>
              </a:path>
            </a:pathLst>
          </a:custGeom>
          <a:ln w="6350">
            <a:solidFill>
              <a:srgbClr val="D9D9D9"/>
            </a:solidFill>
            <a:prstDash val="solid"/>
          </a:ln>
        </p:spPr>
      </p:sp>
      <p:sp>
        <p:nvSpPr>
          <p:cNvPr id="129" name="Shape 127"/>
          <p:cNvSpPr/>
          <p:nvPr/>
        </p:nvSpPr>
        <p:spPr>
          <a:xfrm>
            <a:off x="8531352" y="2832372"/>
            <a:ext cx="859536" cy="9144"/>
          </a:xfrm>
          <a:custGeom>
            <a:avLst/>
            <a:gdLst/>
            <a:ahLst/>
            <a:cxnLst/>
            <a:rect l="l" t="t" r="r" b="b"/>
            <a:pathLst>
              <a:path w="859536" h="9144">
                <a:moveTo>
                  <a:pt x="0" y="4572"/>
                </a:moveTo>
                <a:lnTo>
                  <a:pt x="859536" y="4572"/>
                </a:lnTo>
              </a:path>
            </a:pathLst>
          </a:custGeom>
          <a:ln w="6350">
            <a:solidFill>
              <a:srgbClr val="D9D9D9"/>
            </a:solidFill>
            <a:prstDash val="solid"/>
          </a:ln>
        </p:spPr>
      </p:sp>
      <p:sp>
        <p:nvSpPr>
          <p:cNvPr id="130" name="Shape 128"/>
          <p:cNvSpPr/>
          <p:nvPr/>
        </p:nvSpPr>
        <p:spPr>
          <a:xfrm>
            <a:off x="8531352" y="2609771"/>
            <a:ext cx="859536" cy="9144"/>
          </a:xfrm>
          <a:custGeom>
            <a:avLst/>
            <a:gdLst/>
            <a:ahLst/>
            <a:cxnLst/>
            <a:rect l="l" t="t" r="r" b="b"/>
            <a:pathLst>
              <a:path w="859536" h="9144">
                <a:moveTo>
                  <a:pt x="0" y="4572"/>
                </a:moveTo>
                <a:lnTo>
                  <a:pt x="859536" y="4572"/>
                </a:lnTo>
              </a:path>
            </a:pathLst>
          </a:custGeom>
          <a:ln w="6350">
            <a:solidFill>
              <a:srgbClr val="D9D9D9"/>
            </a:solidFill>
            <a:prstDash val="solid"/>
          </a:ln>
        </p:spPr>
      </p:sp>
      <p:sp>
        <p:nvSpPr>
          <p:cNvPr id="131" name="Shape 129"/>
          <p:cNvSpPr/>
          <p:nvPr/>
        </p:nvSpPr>
        <p:spPr>
          <a:xfrm>
            <a:off x="8531352" y="2387169"/>
            <a:ext cx="859536" cy="9144"/>
          </a:xfrm>
          <a:custGeom>
            <a:avLst/>
            <a:gdLst/>
            <a:ahLst/>
            <a:cxnLst/>
            <a:rect l="l" t="t" r="r" b="b"/>
            <a:pathLst>
              <a:path w="859536" h="9144">
                <a:moveTo>
                  <a:pt x="0" y="4572"/>
                </a:moveTo>
                <a:lnTo>
                  <a:pt x="859536" y="4572"/>
                </a:lnTo>
              </a:path>
            </a:pathLst>
          </a:custGeom>
          <a:ln w="6350">
            <a:solidFill>
              <a:srgbClr val="D9D9D9"/>
            </a:solidFill>
            <a:prstDash val="solid"/>
          </a:ln>
        </p:spPr>
      </p:sp>
      <p:sp>
        <p:nvSpPr>
          <p:cNvPr id="132" name="Shape 130"/>
          <p:cNvSpPr/>
          <p:nvPr/>
        </p:nvSpPr>
        <p:spPr>
          <a:xfrm>
            <a:off x="8789213" y="2169140"/>
            <a:ext cx="343814" cy="1113008"/>
          </a:xfrm>
          <a:prstGeom prst="rect">
            <a:avLst/>
          </a:prstGeom>
          <a:solidFill>
            <a:srgbClr val="FFFFFF"/>
          </a:solidFill>
          <a:ln w="12700">
            <a:solidFill>
              <a:srgbClr val="C4262E"/>
            </a:solidFill>
            <a:prstDash val="dash"/>
          </a:ln>
        </p:spPr>
      </p:sp>
      <p:sp>
        <p:nvSpPr>
          <p:cNvPr id="133" name="Text 131"/>
          <p:cNvSpPr txBox="1"/>
          <p:nvPr/>
        </p:nvSpPr>
        <p:spPr>
          <a:xfrm>
            <a:off x="8595360" y="2013692"/>
            <a:ext cx="731520" cy="146304"/>
          </a:xfrm>
          <a:prstGeom prst="rect">
            <a:avLst/>
          </a:prstGeom>
          <a:noFill/>
          <a:ln/>
        </p:spPr>
        <p:txBody>
          <a:bodyPr wrap="square" lIns="0" tIns="0" rIns="0" bIns="0" rtlCol="0" anchor="ctr"/>
          <a:lstStyle/>
          <a:p>
            <a:pPr algn="ctr" indent="0" marL="0">
              <a:buNone/>
            </a:pPr>
            <a:r>
              <a:rPr lang="en-US" sz="550" dirty="0">
                <a:solidFill>
                  <a:srgbClr val="C4262E"/>
                </a:solidFill>
                <a:latin typeface="Arial" pitchFamily="34" charset="0"/>
                <a:ea typeface="Arial" pitchFamily="34" charset="-122"/>
                <a:cs typeface="Arial" pitchFamily="34" charset="-120"/>
              </a:rPr>
              <a:t>carved void</a:t>
            </a:r>
            <a:endParaRPr lang="en-US" sz="550" dirty="0"/>
          </a:p>
        </p:txBody>
      </p:sp>
      <p:sp>
        <p:nvSpPr>
          <p:cNvPr id="134" name="Text 132"/>
          <p:cNvSpPr txBox="1"/>
          <p:nvPr/>
        </p:nvSpPr>
        <p:spPr>
          <a:xfrm>
            <a:off x="9390888" y="2661636"/>
            <a:ext cx="54864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4–5 floors</a:t>
            </a:r>
            <a:endParaRPr lang="en-US" sz="550" dirty="0"/>
          </a:p>
        </p:txBody>
      </p:sp>
      <p:sp>
        <p:nvSpPr>
          <p:cNvPr id="135" name="Shape 133"/>
          <p:cNvSpPr/>
          <p:nvPr/>
        </p:nvSpPr>
        <p:spPr>
          <a:xfrm>
            <a:off x="986637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36" name="Shape 134"/>
          <p:cNvSpPr/>
          <p:nvPr/>
        </p:nvSpPr>
        <p:spPr>
          <a:xfrm>
            <a:off x="9966960" y="1627632"/>
            <a:ext cx="1828800" cy="1920240"/>
          </a:xfrm>
          <a:prstGeom prst="rect">
            <a:avLst/>
          </a:prstGeom>
          <a:solidFill>
            <a:srgbClr val="FFFFFF"/>
          </a:solidFill>
          <a:ln w="6350">
            <a:solidFill>
              <a:srgbClr val="D9D9D9"/>
            </a:solidFill>
            <a:prstDash val="solid"/>
          </a:ln>
        </p:spPr>
      </p:sp>
      <p:sp>
        <p:nvSpPr>
          <p:cNvPr id="137" name="Text 135"/>
          <p:cNvSpPr txBox="1"/>
          <p:nvPr/>
        </p:nvSpPr>
        <p:spPr>
          <a:xfrm>
            <a:off x="1004011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06  </a:t>
            </a:r>
            <a:pPr indent="0" marL="0">
              <a:buNone/>
            </a:pPr>
            <a:r>
              <a:rPr lang="en-US" sz="750" b="1" spc="50" kern="0" dirty="0">
                <a:solidFill>
                  <a:srgbClr val="1B1B1B"/>
                </a:solidFill>
                <a:latin typeface="Arial" pitchFamily="34" charset="0"/>
                <a:ea typeface="Arial" pitchFamily="34" charset="-122"/>
                <a:cs typeface="Arial" pitchFamily="34" charset="-120"/>
              </a:rPr>
              <a:t>EXPERIENCE</a:t>
            </a:r>
            <a:endParaRPr lang="en-US" sz="750" dirty="0"/>
          </a:p>
        </p:txBody>
      </p:sp>
      <p:sp>
        <p:nvSpPr>
          <p:cNvPr id="138" name="Shape 136"/>
          <p:cNvSpPr/>
          <p:nvPr/>
        </p:nvSpPr>
        <p:spPr>
          <a:xfrm>
            <a:off x="10021824" y="3314883"/>
            <a:ext cx="1719072" cy="196413"/>
          </a:xfrm>
          <a:custGeom>
            <a:avLst/>
            <a:gdLst/>
            <a:ahLst/>
            <a:cxnLst/>
            <a:rect l="l" t="t" r="r" b="b"/>
            <a:pathLst>
              <a:path w="1719072" h="196413">
                <a:moveTo>
                  <a:pt x="0" y="0"/>
                </a:moveTo>
                <a:lnTo>
                  <a:pt x="1719072" y="0"/>
                </a:lnTo>
                <a:lnTo>
                  <a:pt x="1719072" y="196413"/>
                </a:lnTo>
                <a:lnTo>
                  <a:pt x="0" y="196413"/>
                </a:lnTo>
                <a:close/>
              </a:path>
            </a:pathLst>
          </a:custGeom>
          <a:solidFill>
            <a:srgbClr val="E3ECDC"/>
          </a:solidFill>
          <a:ln w="12700"/>
        </p:spPr>
      </p:sp>
      <p:sp>
        <p:nvSpPr>
          <p:cNvPr id="139" name="Shape 137"/>
          <p:cNvSpPr/>
          <p:nvPr/>
        </p:nvSpPr>
        <p:spPr>
          <a:xfrm>
            <a:off x="10021824" y="3310311"/>
            <a:ext cx="1719072" cy="9144"/>
          </a:xfrm>
          <a:custGeom>
            <a:avLst/>
            <a:gdLst/>
            <a:ahLst/>
            <a:cxnLst/>
            <a:rect l="l" t="t" r="r" b="b"/>
            <a:pathLst>
              <a:path w="1719072" h="9144">
                <a:moveTo>
                  <a:pt x="0" y="4572"/>
                </a:moveTo>
                <a:lnTo>
                  <a:pt x="1719072" y="4572"/>
                </a:lnTo>
              </a:path>
            </a:pathLst>
          </a:custGeom>
          <a:ln w="15875">
            <a:solidFill>
              <a:srgbClr val="1B1B1B"/>
            </a:solidFill>
            <a:prstDash val="solid"/>
          </a:ln>
        </p:spPr>
      </p:sp>
      <p:sp>
        <p:nvSpPr>
          <p:cNvPr id="140" name="Shape 138"/>
          <p:cNvSpPr/>
          <p:nvPr/>
        </p:nvSpPr>
        <p:spPr>
          <a:xfrm>
            <a:off x="10664757" y="2087301"/>
            <a:ext cx="433206" cy="1227582"/>
          </a:xfrm>
          <a:prstGeom prst="rect">
            <a:avLst/>
          </a:prstGeom>
          <a:solidFill>
            <a:srgbClr val="C4262E">
              <a:alpha val="30000"/>
            </a:srgbClr>
          </a:solidFill>
          <a:ln/>
        </p:spPr>
      </p:sp>
      <p:sp>
        <p:nvSpPr>
          <p:cNvPr id="141" name="Shape 139"/>
          <p:cNvSpPr/>
          <p:nvPr/>
        </p:nvSpPr>
        <p:spPr>
          <a:xfrm>
            <a:off x="10279685" y="3069366"/>
            <a:ext cx="385072" cy="245516"/>
          </a:xfrm>
          <a:prstGeom prst="rect">
            <a:avLst/>
          </a:prstGeom>
          <a:solidFill>
            <a:srgbClr val="F0B9BC"/>
          </a:solidFill>
          <a:ln w="12700">
            <a:solidFill>
              <a:srgbClr val="FFFFFF"/>
            </a:solidFill>
            <a:prstDash val="solid"/>
          </a:ln>
        </p:spPr>
      </p:sp>
      <p:sp>
        <p:nvSpPr>
          <p:cNvPr id="142" name="Shape 140"/>
          <p:cNvSpPr/>
          <p:nvPr/>
        </p:nvSpPr>
        <p:spPr>
          <a:xfrm>
            <a:off x="10660185" y="3069366"/>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43" name="Shape 141"/>
          <p:cNvSpPr/>
          <p:nvPr/>
        </p:nvSpPr>
        <p:spPr>
          <a:xfrm>
            <a:off x="11097963" y="3069366"/>
            <a:ext cx="385072" cy="245516"/>
          </a:xfrm>
          <a:prstGeom prst="rect">
            <a:avLst/>
          </a:prstGeom>
          <a:solidFill>
            <a:srgbClr val="F0B9BC"/>
          </a:solidFill>
          <a:ln w="12700">
            <a:solidFill>
              <a:srgbClr val="FFFFFF"/>
            </a:solidFill>
            <a:prstDash val="solid"/>
          </a:ln>
        </p:spPr>
      </p:sp>
      <p:sp>
        <p:nvSpPr>
          <p:cNvPr id="144" name="Shape 142"/>
          <p:cNvSpPr/>
          <p:nvPr/>
        </p:nvSpPr>
        <p:spPr>
          <a:xfrm>
            <a:off x="11093391" y="3069366"/>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45" name="Shape 143"/>
          <p:cNvSpPr/>
          <p:nvPr/>
        </p:nvSpPr>
        <p:spPr>
          <a:xfrm>
            <a:off x="10279685" y="2823850"/>
            <a:ext cx="385072" cy="245516"/>
          </a:xfrm>
          <a:prstGeom prst="rect">
            <a:avLst/>
          </a:prstGeom>
          <a:solidFill>
            <a:srgbClr val="9A9A9A"/>
          </a:solidFill>
          <a:ln w="12700">
            <a:solidFill>
              <a:srgbClr val="FFFFFF"/>
            </a:solidFill>
            <a:prstDash val="solid"/>
          </a:ln>
        </p:spPr>
      </p:sp>
      <p:sp>
        <p:nvSpPr>
          <p:cNvPr id="146" name="Shape 144"/>
          <p:cNvSpPr/>
          <p:nvPr/>
        </p:nvSpPr>
        <p:spPr>
          <a:xfrm>
            <a:off x="10660185" y="2823850"/>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47" name="Shape 145"/>
          <p:cNvSpPr/>
          <p:nvPr/>
        </p:nvSpPr>
        <p:spPr>
          <a:xfrm>
            <a:off x="11097963" y="2823850"/>
            <a:ext cx="385072" cy="245516"/>
          </a:xfrm>
          <a:prstGeom prst="rect">
            <a:avLst/>
          </a:prstGeom>
          <a:solidFill>
            <a:srgbClr val="9A9A9A"/>
          </a:solidFill>
          <a:ln w="12700">
            <a:solidFill>
              <a:srgbClr val="FFFFFF"/>
            </a:solidFill>
            <a:prstDash val="solid"/>
          </a:ln>
        </p:spPr>
      </p:sp>
      <p:sp>
        <p:nvSpPr>
          <p:cNvPr id="148" name="Shape 146"/>
          <p:cNvSpPr/>
          <p:nvPr/>
        </p:nvSpPr>
        <p:spPr>
          <a:xfrm>
            <a:off x="11093391" y="2823850"/>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49" name="Shape 147"/>
          <p:cNvSpPr/>
          <p:nvPr/>
        </p:nvSpPr>
        <p:spPr>
          <a:xfrm>
            <a:off x="10279685" y="2578334"/>
            <a:ext cx="385072" cy="245516"/>
          </a:xfrm>
          <a:prstGeom prst="rect">
            <a:avLst/>
          </a:prstGeom>
          <a:solidFill>
            <a:srgbClr val="9A9A9A"/>
          </a:solidFill>
          <a:ln w="12700">
            <a:solidFill>
              <a:srgbClr val="FFFFFF"/>
            </a:solidFill>
            <a:prstDash val="solid"/>
          </a:ln>
        </p:spPr>
      </p:sp>
      <p:sp>
        <p:nvSpPr>
          <p:cNvPr id="150" name="Shape 148"/>
          <p:cNvSpPr/>
          <p:nvPr/>
        </p:nvSpPr>
        <p:spPr>
          <a:xfrm>
            <a:off x="10660185" y="2578334"/>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51" name="Shape 149"/>
          <p:cNvSpPr/>
          <p:nvPr/>
        </p:nvSpPr>
        <p:spPr>
          <a:xfrm>
            <a:off x="11097963" y="2578334"/>
            <a:ext cx="385072" cy="245516"/>
          </a:xfrm>
          <a:prstGeom prst="rect">
            <a:avLst/>
          </a:prstGeom>
          <a:solidFill>
            <a:srgbClr val="9A9A9A"/>
          </a:solidFill>
          <a:ln w="12700">
            <a:solidFill>
              <a:srgbClr val="FFFFFF"/>
            </a:solidFill>
            <a:prstDash val="solid"/>
          </a:ln>
        </p:spPr>
      </p:sp>
      <p:sp>
        <p:nvSpPr>
          <p:cNvPr id="152" name="Shape 150"/>
          <p:cNvSpPr/>
          <p:nvPr/>
        </p:nvSpPr>
        <p:spPr>
          <a:xfrm>
            <a:off x="11093391" y="2578334"/>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53" name="Shape 151"/>
          <p:cNvSpPr/>
          <p:nvPr/>
        </p:nvSpPr>
        <p:spPr>
          <a:xfrm>
            <a:off x="10279685" y="2332817"/>
            <a:ext cx="385072" cy="245516"/>
          </a:xfrm>
          <a:prstGeom prst="rect">
            <a:avLst/>
          </a:prstGeom>
          <a:solidFill>
            <a:srgbClr val="1B1B1B"/>
          </a:solidFill>
          <a:ln w="12700">
            <a:solidFill>
              <a:srgbClr val="FFFFFF"/>
            </a:solidFill>
            <a:prstDash val="solid"/>
          </a:ln>
        </p:spPr>
      </p:sp>
      <p:sp>
        <p:nvSpPr>
          <p:cNvPr id="154" name="Shape 152"/>
          <p:cNvSpPr/>
          <p:nvPr/>
        </p:nvSpPr>
        <p:spPr>
          <a:xfrm>
            <a:off x="10660185" y="2332817"/>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55" name="Shape 153"/>
          <p:cNvSpPr/>
          <p:nvPr/>
        </p:nvSpPr>
        <p:spPr>
          <a:xfrm>
            <a:off x="11097963" y="2332817"/>
            <a:ext cx="385072" cy="245516"/>
          </a:xfrm>
          <a:prstGeom prst="rect">
            <a:avLst/>
          </a:prstGeom>
          <a:solidFill>
            <a:srgbClr val="1B1B1B"/>
          </a:solidFill>
          <a:ln w="12700">
            <a:solidFill>
              <a:srgbClr val="FFFFFF"/>
            </a:solidFill>
            <a:prstDash val="solid"/>
          </a:ln>
        </p:spPr>
      </p:sp>
      <p:sp>
        <p:nvSpPr>
          <p:cNvPr id="156" name="Shape 154"/>
          <p:cNvSpPr/>
          <p:nvPr/>
        </p:nvSpPr>
        <p:spPr>
          <a:xfrm>
            <a:off x="11093391" y="2332817"/>
            <a:ext cx="9144" cy="245516"/>
          </a:xfrm>
          <a:custGeom>
            <a:avLst/>
            <a:gdLst/>
            <a:ahLst/>
            <a:cxnLst/>
            <a:rect l="l" t="t" r="r" b="b"/>
            <a:pathLst>
              <a:path w="9144" h="245516">
                <a:moveTo>
                  <a:pt x="4572" y="0"/>
                </a:moveTo>
                <a:lnTo>
                  <a:pt x="4572" y="245516"/>
                </a:lnTo>
              </a:path>
            </a:pathLst>
          </a:custGeom>
          <a:ln w="19050">
            <a:solidFill>
              <a:srgbClr val="C4262E"/>
            </a:solidFill>
            <a:prstDash val="solid"/>
          </a:ln>
        </p:spPr>
      </p:sp>
      <p:sp>
        <p:nvSpPr>
          <p:cNvPr id="157" name="Text 155"/>
          <p:cNvSpPr txBox="1"/>
          <p:nvPr/>
        </p:nvSpPr>
        <p:spPr>
          <a:xfrm>
            <a:off x="10279685" y="2332817"/>
            <a:ext cx="385072" cy="245516"/>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ARCHIVE</a:t>
            </a:r>
            <a:endParaRPr lang="en-US" sz="500" dirty="0"/>
          </a:p>
        </p:txBody>
      </p:sp>
      <p:sp>
        <p:nvSpPr>
          <p:cNvPr id="158" name="Text 156"/>
          <p:cNvSpPr txBox="1"/>
          <p:nvPr/>
        </p:nvSpPr>
        <p:spPr>
          <a:xfrm>
            <a:off x="10664757" y="3069366"/>
            <a:ext cx="433206" cy="245516"/>
          </a:xfrm>
          <a:prstGeom prst="rect">
            <a:avLst/>
          </a:prstGeom>
          <a:noFill/>
          <a:ln/>
        </p:spPr>
        <p:txBody>
          <a:bodyPr wrap="square" lIns="0" tIns="0" rIns="0" bIns="0" rtlCol="0" anchor="ctr"/>
          <a:lstStyle/>
          <a:p>
            <a:pPr algn="ctr" indent="0" marL="0">
              <a:buNone/>
            </a:pPr>
            <a:r>
              <a:rPr lang="en-US" sz="550" b="1" dirty="0">
                <a:solidFill>
                  <a:srgbClr val="C4262E"/>
                </a:solidFill>
                <a:latin typeface="Arial" pitchFamily="34" charset="0"/>
                <a:ea typeface="Arial" pitchFamily="34" charset="-122"/>
                <a:cs typeface="Arial" pitchFamily="34" charset="-120"/>
              </a:rPr>
              <a:t>HALL</a:t>
            </a:r>
            <a:endParaRPr lang="en-US" sz="550" dirty="0"/>
          </a:p>
        </p:txBody>
      </p:sp>
      <p:sp>
        <p:nvSpPr>
          <p:cNvPr id="159" name="Shape 157"/>
          <p:cNvSpPr/>
          <p:nvPr/>
        </p:nvSpPr>
        <p:spPr>
          <a:xfrm>
            <a:off x="10767974" y="3168579"/>
            <a:ext cx="43891" cy="43891"/>
          </a:xfrm>
          <a:prstGeom prst="ellipse">
            <a:avLst/>
          </a:prstGeom>
          <a:solidFill>
            <a:srgbClr val="C4262E"/>
          </a:solidFill>
          <a:ln/>
        </p:spPr>
      </p:sp>
      <p:sp>
        <p:nvSpPr>
          <p:cNvPr id="160" name="Shape 158"/>
          <p:cNvSpPr/>
          <p:nvPr/>
        </p:nvSpPr>
        <p:spPr>
          <a:xfrm>
            <a:off x="10770900" y="3215396"/>
            <a:ext cx="38039" cy="99487"/>
          </a:xfrm>
          <a:prstGeom prst="roundRect">
            <a:avLst>
              <a:gd name="adj" fmla="val 48077"/>
            </a:avLst>
          </a:prstGeom>
          <a:solidFill>
            <a:srgbClr val="C4262E"/>
          </a:solidFill>
          <a:ln/>
        </p:spPr>
      </p:sp>
      <p:sp>
        <p:nvSpPr>
          <p:cNvPr id="161" name="Shape 159"/>
          <p:cNvSpPr/>
          <p:nvPr/>
        </p:nvSpPr>
        <p:spPr>
          <a:xfrm>
            <a:off x="10969142" y="3168579"/>
            <a:ext cx="43891" cy="43891"/>
          </a:xfrm>
          <a:prstGeom prst="ellipse">
            <a:avLst/>
          </a:prstGeom>
          <a:solidFill>
            <a:srgbClr val="C4262E"/>
          </a:solidFill>
          <a:ln/>
        </p:spPr>
      </p:sp>
      <p:sp>
        <p:nvSpPr>
          <p:cNvPr id="162" name="Shape 160"/>
          <p:cNvSpPr/>
          <p:nvPr/>
        </p:nvSpPr>
        <p:spPr>
          <a:xfrm>
            <a:off x="10972068" y="3215396"/>
            <a:ext cx="38039" cy="99487"/>
          </a:xfrm>
          <a:prstGeom prst="roundRect">
            <a:avLst>
              <a:gd name="adj" fmla="val 48077"/>
            </a:avLst>
          </a:prstGeom>
          <a:solidFill>
            <a:srgbClr val="C4262E"/>
          </a:solidFill>
          <a:ln/>
        </p:spPr>
      </p:sp>
      <p:sp>
        <p:nvSpPr>
          <p:cNvPr id="163" name="Shape 161"/>
          <p:cNvSpPr/>
          <p:nvPr/>
        </p:nvSpPr>
        <p:spPr>
          <a:xfrm>
            <a:off x="10520355" y="2701092"/>
            <a:ext cx="361005" cy="476631"/>
          </a:xfrm>
          <a:custGeom>
            <a:avLst/>
            <a:gdLst/>
            <a:ahLst/>
            <a:cxnLst/>
            <a:rect l="l" t="t" r="r" b="b"/>
            <a:pathLst>
              <a:path w="361005" h="476631">
                <a:moveTo>
                  <a:pt x="361005" y="476631"/>
                </a:moveTo>
                <a:lnTo>
                  <a:pt x="0" y="0"/>
                </a:lnTo>
              </a:path>
            </a:pathLst>
          </a:custGeom>
          <a:ln w="9525">
            <a:solidFill>
              <a:srgbClr val="C4262E"/>
            </a:solidFill>
            <a:prstDash val="sysDot"/>
            <a:tailEnd type="arrow"/>
          </a:ln>
        </p:spPr>
      </p:sp>
      <p:sp>
        <p:nvSpPr>
          <p:cNvPr id="164" name="Shape 162"/>
          <p:cNvSpPr/>
          <p:nvPr/>
        </p:nvSpPr>
        <p:spPr>
          <a:xfrm>
            <a:off x="10881360" y="2946608"/>
            <a:ext cx="361005" cy="231115"/>
          </a:xfrm>
          <a:custGeom>
            <a:avLst/>
            <a:gdLst/>
            <a:ahLst/>
            <a:cxnLst/>
            <a:rect l="l" t="t" r="r" b="b"/>
            <a:pathLst>
              <a:path w="361005" h="231115">
                <a:moveTo>
                  <a:pt x="0" y="231115"/>
                </a:moveTo>
                <a:lnTo>
                  <a:pt x="361005" y="0"/>
                </a:lnTo>
              </a:path>
            </a:pathLst>
          </a:custGeom>
          <a:ln w="9525">
            <a:solidFill>
              <a:srgbClr val="C4262E"/>
            </a:solidFill>
            <a:prstDash val="sysDot"/>
            <a:tailEnd type="arrow"/>
          </a:ln>
        </p:spPr>
      </p:sp>
      <p:sp>
        <p:nvSpPr>
          <p:cNvPr id="165" name="Shape 163"/>
          <p:cNvSpPr/>
          <p:nvPr/>
        </p:nvSpPr>
        <p:spPr>
          <a:xfrm>
            <a:off x="10881360" y="2455575"/>
            <a:ext cx="361005" cy="722147"/>
          </a:xfrm>
          <a:custGeom>
            <a:avLst/>
            <a:gdLst/>
            <a:ahLst/>
            <a:cxnLst/>
            <a:rect l="l" t="t" r="r" b="b"/>
            <a:pathLst>
              <a:path w="361005" h="722147">
                <a:moveTo>
                  <a:pt x="0" y="722147"/>
                </a:moveTo>
                <a:lnTo>
                  <a:pt x="361005" y="0"/>
                </a:lnTo>
              </a:path>
            </a:pathLst>
          </a:custGeom>
          <a:ln w="9525">
            <a:solidFill>
              <a:srgbClr val="C4262E"/>
            </a:solidFill>
            <a:prstDash val="sysDot"/>
            <a:tailEnd type="arrow"/>
          </a:ln>
        </p:spPr>
      </p:sp>
      <p:sp>
        <p:nvSpPr>
          <p:cNvPr id="166" name="Text 164"/>
          <p:cNvSpPr txBox="1"/>
          <p:nvPr/>
        </p:nvSpPr>
        <p:spPr>
          <a:xfrm>
            <a:off x="36576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WHY — FROM THE BRIEF</a:t>
            </a:r>
            <a:endParaRPr lang="en-US" sz="850" dirty="0"/>
          </a:p>
        </p:txBody>
      </p:sp>
      <p:sp>
        <p:nvSpPr>
          <p:cNvPr id="167" name="Text 165"/>
          <p:cNvSpPr txBox="1"/>
          <p:nvPr/>
        </p:nvSpPr>
        <p:spPr>
          <a:xfrm>
            <a:off x="36576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ISSUE   </a:t>
            </a:r>
            <a:pPr indent="0" marL="0">
              <a:spcAft>
                <a:spcPts val="500"/>
              </a:spcAft>
              <a:buNone/>
            </a:pPr>
            <a:r>
              <a:rPr lang="en-US" sz="750" dirty="0">
                <a:solidFill>
                  <a:srgbClr val="1B1B1B"/>
                </a:solidFill>
                <a:latin typeface="Arial" pitchFamily="34" charset="0"/>
                <a:ea typeface="Arial" pitchFamily="34" charset="-122"/>
                <a:cs typeface="Arial" pitchFamily="34" charset="-120"/>
              </a:rPr>
              <a:t>What is visible and what is hidden? Here the making of information is put on view.</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VISION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An institution open about how its knowledge is made.</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SITE   </a:t>
            </a:r>
            <a:pPr indent="0" marL="0">
              <a:spcAft>
                <a:spcPts val="500"/>
              </a:spcAft>
              <a:buNone/>
            </a:pPr>
            <a:r>
              <a:rPr lang="en-US" sz="750" dirty="0">
                <a:solidFill>
                  <a:srgbClr val="1B1B1B"/>
                </a:solidFill>
                <a:latin typeface="Arial" pitchFamily="34" charset="0"/>
                <a:ea typeface="Arial" pitchFamily="34" charset="-122"/>
                <a:cs typeface="Arial" pitchFamily="34" charset="-120"/>
              </a:rPr>
              <a:t>Builds on the existing Press Club footprint (verify), leaving the rest of the hill as park.</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USERS   </a:t>
            </a:r>
            <a:pPr indent="0" marL="0">
              <a:spcAft>
                <a:spcPts val="500"/>
              </a:spcAft>
              <a:buNone/>
            </a:pPr>
            <a:r>
              <a:rPr lang="en-US" sz="750" dirty="0">
                <a:solidFill>
                  <a:srgbClr val="1B1B1B"/>
                </a:solidFill>
                <a:latin typeface="Arial" pitchFamily="34" charset="0"/>
                <a:ea typeface="Arial" pitchFamily="34" charset="-122"/>
                <a:cs typeface="Arial" pitchFamily="34" charset="-120"/>
              </a:rPr>
              <a:t>Public in the hall; professionals on the galleries around it; eye contact across the void.</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PROGRAM   </a:t>
            </a:r>
            <a:pPr indent="0" marL="0">
              <a:spcAft>
                <a:spcPts val="500"/>
              </a:spcAft>
              <a:buNone/>
            </a:pPr>
            <a:r>
              <a:rPr lang="en-US" sz="750" dirty="0">
                <a:solidFill>
                  <a:srgbClr val="1B1B1B"/>
                </a:solidFill>
                <a:latin typeface="Arial" pitchFamily="34" charset="0"/>
                <a:ea typeface="Arial" pitchFamily="34" charset="-122"/>
                <a:cs typeface="Arial" pitchFamily="34" charset="-120"/>
              </a:rPr>
              <a:t>Hall = forum + exhibition; galleries: newsroom, recording, publishing, library, research; archive protected on top.</a:t>
            </a:r>
            <a:endParaRPr lang="en-US" sz="900" dirty="0"/>
          </a:p>
        </p:txBody>
      </p:sp>
      <p:sp>
        <p:nvSpPr>
          <p:cNvPr id="168" name="Text 166"/>
          <p:cNvSpPr txBox="1"/>
          <p:nvPr/>
        </p:nvSpPr>
        <p:spPr>
          <a:xfrm>
            <a:off x="420624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SPACE — WHAT IT BECOMES</a:t>
            </a:r>
            <a:endParaRPr lang="en-US" sz="850" dirty="0"/>
          </a:p>
        </p:txBody>
      </p:sp>
      <p:sp>
        <p:nvSpPr>
          <p:cNvPr id="169" name="Text 167"/>
          <p:cNvSpPr txBox="1"/>
          <p:nvPr/>
        </p:nvSpPr>
        <p:spPr>
          <a:xfrm>
            <a:off x="420624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SPATIAL IDEA   </a:t>
            </a:r>
            <a:pPr indent="0" marL="0">
              <a:spcAft>
                <a:spcPts val="500"/>
              </a:spcAft>
              <a:buNone/>
            </a:pPr>
            <a:r>
              <a:rPr lang="en-US" sz="750" dirty="0">
                <a:solidFill>
                  <a:srgbClr val="1B1B1B"/>
                </a:solidFill>
                <a:latin typeface="Arial" pitchFamily="34" charset="0"/>
                <a:ea typeface="Arial" pitchFamily="34" charset="-122"/>
                <a:cs typeface="Arial" pitchFamily="34" charset="-120"/>
              </a:rPr>
              <a:t>One compact block around a full-height public void.</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CIRCULATION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Public at hall level and on a ramp round the void; working cores in the corners.</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PUBLIC / PRIVATE   </a:t>
            </a:r>
            <a:pPr indent="0" marL="0">
              <a:spcAft>
                <a:spcPts val="500"/>
              </a:spcAft>
              <a:buNone/>
            </a:pPr>
            <a:r>
              <a:rPr lang="en-US" sz="750" dirty="0">
                <a:solidFill>
                  <a:srgbClr val="1B1B1B"/>
                </a:solidFill>
                <a:latin typeface="Arial" pitchFamily="34" charset="0"/>
                <a:ea typeface="Arial" pitchFamily="34" charset="-122"/>
                <a:cs typeface="Arial" pitchFamily="34" charset="-120"/>
              </a:rPr>
              <a:t>Vertical: public hall → semi-public galleries → working floors → protected archive.</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MASSING / FORM   </a:t>
            </a:r>
            <a:pPr indent="0" marL="0">
              <a:spcAft>
                <a:spcPts val="500"/>
              </a:spcAft>
              <a:buNone/>
            </a:pPr>
            <a:r>
              <a:rPr lang="en-US" sz="750" dirty="0">
                <a:solidFill>
                  <a:srgbClr val="1B1B1B"/>
                </a:solidFill>
                <a:latin typeface="Arial" pitchFamily="34" charset="0"/>
                <a:ea typeface="Arial" pitchFamily="34" charset="-122"/>
                <a:cs typeface="Arial" pitchFamily="34" charset="-120"/>
              </a:rPr>
              <a:t>Compact block, 4–5 floors, carved centre.</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SECTION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Full-height void; glazed working floors stacked around it.</a:t>
            </a:r>
            <a:endParaRPr lang="en-US" sz="900" dirty="0"/>
          </a:p>
        </p:txBody>
      </p:sp>
      <p:sp>
        <p:nvSpPr>
          <p:cNvPr id="170" name="Text 168"/>
          <p:cNvSpPr txBox="1"/>
          <p:nvPr/>
        </p:nvSpPr>
        <p:spPr>
          <a:xfrm>
            <a:off x="804672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GROUND + EXPERIENCE</a:t>
            </a:r>
            <a:endParaRPr lang="en-US" sz="850" dirty="0"/>
          </a:p>
        </p:txBody>
      </p:sp>
      <p:sp>
        <p:nvSpPr>
          <p:cNvPr id="171" name="Text 169"/>
          <p:cNvSpPr txBox="1"/>
          <p:nvPr/>
        </p:nvSpPr>
        <p:spPr>
          <a:xfrm>
            <a:off x="804672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WHAT I ACTUALLY DO   </a:t>
            </a:r>
            <a:pPr indent="0" marL="0">
              <a:spcAft>
                <a:spcPts val="500"/>
              </a:spcAft>
              <a:buNone/>
            </a:pPr>
            <a:r>
              <a:rPr lang="en-US" sz="750" dirty="0">
                <a:solidFill>
                  <a:srgbClr val="1B1B1B"/>
                </a:solidFill>
                <a:latin typeface="Arial" pitchFamily="34" charset="0"/>
                <a:ea typeface="Arial" pitchFamily="34" charset="-122"/>
                <a:cs typeface="Arial" pitchFamily="34" charset="-120"/>
              </a:rPr>
              <a:t>① place block on the existing footprint  ② carve a central void  ③ glaze the work towards it</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LANDSCAPE / TOPOGRAPHY   </a:t>
            </a:r>
            <a:pPr indent="0" marL="0">
              <a:spcAft>
                <a:spcPts val="500"/>
              </a:spcAft>
              <a:buNone/>
            </a:pPr>
            <a:r>
              <a:rPr lang="en-US" sz="750" dirty="0">
                <a:solidFill>
                  <a:srgbClr val="1B1B1B"/>
                </a:solidFill>
                <a:latin typeface="Arial" pitchFamily="34" charset="0"/>
                <a:ea typeface="Arial" pitchFamily="34" charset="-122"/>
                <a:cs typeface="Arial" pitchFamily="34" charset="-120"/>
              </a:rPr>
              <a:t>Smallest disturbance: reuses already-built ground.</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EXPERIENCE   </a:t>
            </a:r>
            <a:pPr indent="0" marL="0">
              <a:spcAft>
                <a:spcPts val="500"/>
              </a:spcAft>
              <a:buNone/>
            </a:pPr>
            <a:r>
              <a:rPr lang="en-US" sz="750" dirty="0">
                <a:solidFill>
                  <a:srgbClr val="1B1B1B"/>
                </a:solidFill>
                <a:latin typeface="Arial" pitchFamily="34" charset="0"/>
                <a:ea typeface="Arial" pitchFamily="34" charset="-122"/>
                <a:cs typeface="Arial" pitchFamily="34" charset="-120"/>
              </a:rPr>
              <a:t>Entering a tall room where all the institution's work is visible above you.</a:t>
            </a:r>
            <a:endParaRPr lang="en-US" sz="900" dirty="0"/>
          </a:p>
        </p:txBody>
      </p:sp>
      <p:sp>
        <p:nvSpPr>
          <p:cNvPr id="172" name="Shape 170"/>
          <p:cNvSpPr/>
          <p:nvPr/>
        </p:nvSpPr>
        <p:spPr>
          <a:xfrm>
            <a:off x="365760" y="6446520"/>
            <a:ext cx="146304" cy="109728"/>
          </a:xfrm>
          <a:prstGeom prst="rect">
            <a:avLst/>
          </a:prstGeom>
          <a:solidFill>
            <a:srgbClr val="C4262E"/>
          </a:solidFill>
          <a:ln/>
        </p:spPr>
      </p:sp>
      <p:sp>
        <p:nvSpPr>
          <p:cNvPr id="173" name="Text 171"/>
          <p:cNvSpPr txBox="1"/>
          <p:nvPr/>
        </p:nvSpPr>
        <p:spPr>
          <a:xfrm>
            <a:off x="612648" y="6428232"/>
            <a:ext cx="33832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a:t>
            </a:r>
            <a:endParaRPr lang="en-US" sz="650" dirty="0"/>
          </a:p>
        </p:txBody>
      </p:sp>
      <p:sp>
        <p:nvSpPr>
          <p:cNvPr id="174" name="Shape 172"/>
          <p:cNvSpPr/>
          <p:nvPr/>
        </p:nvSpPr>
        <p:spPr>
          <a:xfrm>
            <a:off x="1024128" y="6446520"/>
            <a:ext cx="146304" cy="109728"/>
          </a:xfrm>
          <a:prstGeom prst="rect">
            <a:avLst/>
          </a:prstGeom>
          <a:solidFill>
            <a:srgbClr val="F0B9BC"/>
          </a:solidFill>
          <a:ln/>
        </p:spPr>
      </p:sp>
      <p:sp>
        <p:nvSpPr>
          <p:cNvPr id="175" name="Text 173"/>
          <p:cNvSpPr txBox="1"/>
          <p:nvPr/>
        </p:nvSpPr>
        <p:spPr>
          <a:xfrm>
            <a:off x="1271016" y="6428232"/>
            <a:ext cx="54406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semi-public</a:t>
            </a:r>
            <a:endParaRPr lang="en-US" sz="650" dirty="0"/>
          </a:p>
        </p:txBody>
      </p:sp>
      <p:sp>
        <p:nvSpPr>
          <p:cNvPr id="176" name="Shape 174"/>
          <p:cNvSpPr/>
          <p:nvPr/>
        </p:nvSpPr>
        <p:spPr>
          <a:xfrm>
            <a:off x="1888236" y="6446520"/>
            <a:ext cx="146304" cy="109728"/>
          </a:xfrm>
          <a:prstGeom prst="rect">
            <a:avLst/>
          </a:prstGeom>
          <a:solidFill>
            <a:srgbClr val="9A9A9A"/>
          </a:solidFill>
          <a:ln/>
        </p:spPr>
      </p:sp>
      <p:sp>
        <p:nvSpPr>
          <p:cNvPr id="177" name="Text 175"/>
          <p:cNvSpPr txBox="1"/>
          <p:nvPr/>
        </p:nvSpPr>
        <p:spPr>
          <a:xfrm>
            <a:off x="2135124" y="6428232"/>
            <a:ext cx="379476"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a:t>
            </a:r>
            <a:endParaRPr lang="en-US" sz="650" dirty="0"/>
          </a:p>
        </p:txBody>
      </p:sp>
      <p:sp>
        <p:nvSpPr>
          <p:cNvPr id="178" name="Shape 176"/>
          <p:cNvSpPr/>
          <p:nvPr/>
        </p:nvSpPr>
        <p:spPr>
          <a:xfrm>
            <a:off x="2587752" y="6446520"/>
            <a:ext cx="146304" cy="109728"/>
          </a:xfrm>
          <a:prstGeom prst="rect">
            <a:avLst/>
          </a:prstGeom>
          <a:solidFill>
            <a:srgbClr val="1B1B1B"/>
          </a:solidFill>
          <a:ln/>
        </p:spPr>
      </p:sp>
      <p:sp>
        <p:nvSpPr>
          <p:cNvPr id="179" name="Text 177"/>
          <p:cNvSpPr txBox="1"/>
          <p:nvPr/>
        </p:nvSpPr>
        <p:spPr>
          <a:xfrm>
            <a:off x="2834640" y="6428232"/>
            <a:ext cx="46177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protected</a:t>
            </a:r>
            <a:endParaRPr lang="en-US" sz="650" dirty="0"/>
          </a:p>
        </p:txBody>
      </p:sp>
      <p:sp>
        <p:nvSpPr>
          <p:cNvPr id="180" name="Shape 178"/>
          <p:cNvSpPr/>
          <p:nvPr/>
        </p:nvSpPr>
        <p:spPr>
          <a:xfrm>
            <a:off x="3369564" y="6496812"/>
            <a:ext cx="201168" cy="9144"/>
          </a:xfrm>
          <a:custGeom>
            <a:avLst/>
            <a:gdLst/>
            <a:ahLst/>
            <a:cxnLst/>
            <a:rect l="l" t="t" r="r" b="b"/>
            <a:pathLst>
              <a:path w="201168" h="9144">
                <a:moveTo>
                  <a:pt x="0" y="4572"/>
                </a:moveTo>
                <a:lnTo>
                  <a:pt x="201168" y="4572"/>
                </a:lnTo>
              </a:path>
            </a:pathLst>
          </a:custGeom>
          <a:ln w="25400">
            <a:solidFill>
              <a:srgbClr val="C4262E"/>
            </a:solidFill>
            <a:prstDash val="solid"/>
          </a:ln>
        </p:spPr>
      </p:sp>
      <p:sp>
        <p:nvSpPr>
          <p:cNvPr id="181" name="Text 179"/>
          <p:cNvSpPr txBox="1"/>
          <p:nvPr/>
        </p:nvSpPr>
        <p:spPr>
          <a:xfrm>
            <a:off x="3616452" y="6428232"/>
            <a:ext cx="708660"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 movement</a:t>
            </a:r>
            <a:endParaRPr lang="en-US" sz="650" dirty="0"/>
          </a:p>
        </p:txBody>
      </p:sp>
      <p:sp>
        <p:nvSpPr>
          <p:cNvPr id="182" name="Shape 180"/>
          <p:cNvSpPr/>
          <p:nvPr/>
        </p:nvSpPr>
        <p:spPr>
          <a:xfrm>
            <a:off x="4398264" y="6496812"/>
            <a:ext cx="201168" cy="9144"/>
          </a:xfrm>
          <a:custGeom>
            <a:avLst/>
            <a:gdLst/>
            <a:ahLst/>
            <a:cxnLst/>
            <a:rect l="l" t="t" r="r" b="b"/>
            <a:pathLst>
              <a:path w="201168" h="9144">
                <a:moveTo>
                  <a:pt x="0" y="4572"/>
                </a:moveTo>
                <a:lnTo>
                  <a:pt x="201168" y="4572"/>
                </a:lnTo>
              </a:path>
            </a:pathLst>
          </a:custGeom>
          <a:ln w="25400">
            <a:solidFill>
              <a:srgbClr val="1B1B1B"/>
            </a:solidFill>
            <a:prstDash val="solid"/>
          </a:ln>
        </p:spPr>
      </p:sp>
      <p:sp>
        <p:nvSpPr>
          <p:cNvPr id="183" name="Text 181"/>
          <p:cNvSpPr txBox="1"/>
          <p:nvPr/>
        </p:nvSpPr>
        <p:spPr>
          <a:xfrm>
            <a:off x="4645152" y="6428232"/>
            <a:ext cx="74980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 movement</a:t>
            </a:r>
            <a:endParaRPr lang="en-US" sz="650" dirty="0"/>
          </a:p>
        </p:txBody>
      </p:sp>
      <p:sp>
        <p:nvSpPr>
          <p:cNvPr id="184" name="Shape 182"/>
          <p:cNvSpPr/>
          <p:nvPr/>
        </p:nvSpPr>
        <p:spPr>
          <a:xfrm>
            <a:off x="5468112" y="6496812"/>
            <a:ext cx="201168" cy="9144"/>
          </a:xfrm>
          <a:custGeom>
            <a:avLst/>
            <a:gdLst/>
            <a:ahLst/>
            <a:cxnLst/>
            <a:rect l="l" t="t" r="r" b="b"/>
            <a:pathLst>
              <a:path w="201168" h="9144">
                <a:moveTo>
                  <a:pt x="0" y="4572"/>
                </a:moveTo>
                <a:lnTo>
                  <a:pt x="201168" y="4572"/>
                </a:lnTo>
              </a:path>
            </a:pathLst>
          </a:custGeom>
          <a:ln w="15875">
            <a:solidFill>
              <a:srgbClr val="4F7A43"/>
            </a:solidFill>
            <a:prstDash val="dash"/>
          </a:ln>
        </p:spPr>
      </p:sp>
      <p:sp>
        <p:nvSpPr>
          <p:cNvPr id="185" name="Text 183"/>
          <p:cNvSpPr txBox="1"/>
          <p:nvPr/>
        </p:nvSpPr>
        <p:spPr>
          <a:xfrm>
            <a:off x="5715000" y="6428232"/>
            <a:ext cx="832104"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indicative contour</a:t>
            </a:r>
            <a:endParaRPr lang="en-US" sz="650" dirty="0"/>
          </a:p>
        </p:txBody>
      </p:sp>
      <p:sp>
        <p:nvSpPr>
          <p:cNvPr id="186" name="Shape 184"/>
          <p:cNvSpPr/>
          <p:nvPr/>
        </p:nvSpPr>
        <p:spPr>
          <a:xfrm>
            <a:off x="6638544" y="6455664"/>
            <a:ext cx="91440" cy="91440"/>
          </a:xfrm>
          <a:prstGeom prst="ellipse">
            <a:avLst/>
          </a:prstGeom>
          <a:ln w="9525">
            <a:solidFill>
              <a:srgbClr val="4F7A43"/>
            </a:solidFill>
            <a:prstDash val="solid"/>
          </a:ln>
        </p:spPr>
      </p:sp>
      <p:sp>
        <p:nvSpPr>
          <p:cNvPr id="187" name="Text 185"/>
          <p:cNvSpPr txBox="1"/>
          <p:nvPr/>
        </p:nvSpPr>
        <p:spPr>
          <a:xfrm>
            <a:off x="6867144" y="6428232"/>
            <a:ext cx="66751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existing trees</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DIRECTION E — CROSSING PATHS</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two routes, shared rooms where they meet</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07</a:t>
            </a:r>
            <a:endParaRPr lang="en-US" sz="3400" dirty="0"/>
          </a:p>
        </p:txBody>
      </p:sp>
      <p:sp>
        <p:nvSpPr>
          <p:cNvPr id="6" name="Shape 4"/>
          <p:cNvSpPr/>
          <p:nvPr/>
        </p:nvSpPr>
        <p:spPr>
          <a:xfrm>
            <a:off x="10241280" y="896112"/>
            <a:ext cx="1554480" cy="182880"/>
          </a:xfrm>
          <a:prstGeom prst="roundRect">
            <a:avLst>
              <a:gd name="adj" fmla="val 20000"/>
            </a:avLst>
          </a:prstGeom>
          <a:solidFill>
            <a:srgbClr val="C4262E"/>
          </a:solidFill>
          <a:ln w="9525">
            <a:solidFill>
              <a:srgbClr val="C4262E"/>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sp>
        <p:nvSpPr>
          <p:cNvPr id="8" name="Text 6"/>
          <p:cNvSpPr txBox="1"/>
          <p:nvPr/>
        </p:nvSpPr>
        <p:spPr>
          <a:xfrm>
            <a:off x="365760" y="1097280"/>
            <a:ext cx="11430000" cy="411480"/>
          </a:xfrm>
          <a:prstGeom prst="rect">
            <a:avLst/>
          </a:prstGeom>
          <a:noFill/>
          <a:ln/>
        </p:spPr>
        <p:txBody>
          <a:bodyPr wrap="square" lIns="0" tIns="0" rIns="0" bIns="0" rtlCol="0" anchor="t"/>
          <a:lstStyle/>
          <a:p>
            <a:pPr indent="0" marL="0">
              <a:buNone/>
            </a:pPr>
            <a:r>
              <a:rPr lang="en-US" sz="1050" b="1" dirty="0">
                <a:solidFill>
                  <a:srgbClr val="1B1B1B"/>
                </a:solidFill>
                <a:latin typeface="Arial" pitchFamily="34" charset="0"/>
                <a:ea typeface="Arial" pitchFamily="34" charset="-122"/>
                <a:cs typeface="Arial" pitchFamily="34" charset="-120"/>
              </a:rPr>
              <a:t>Separate the public route from the working route, then make them cross: every crossing becomes a shared room where citizens and professionals meet.</a:t>
            </a:r>
            <a:endParaRPr lang="en-US" sz="1050" dirty="0"/>
          </a:p>
        </p:txBody>
      </p:sp>
      <p:sp>
        <p:nvSpPr>
          <p:cNvPr id="9" name="Shape 7"/>
          <p:cNvSpPr/>
          <p:nvPr/>
        </p:nvSpPr>
        <p:spPr>
          <a:xfrm>
            <a:off x="365760" y="1627632"/>
            <a:ext cx="1828800" cy="1920240"/>
          </a:xfrm>
          <a:prstGeom prst="rect">
            <a:avLst/>
          </a:prstGeom>
          <a:solidFill>
            <a:srgbClr val="FFFFFF"/>
          </a:solidFill>
          <a:ln w="6350">
            <a:solidFill>
              <a:srgbClr val="D9D9D9"/>
            </a:solidFill>
            <a:prstDash val="solid"/>
          </a:ln>
        </p:spPr>
      </p:sp>
      <p:sp>
        <p:nvSpPr>
          <p:cNvPr id="10" name="Text 8"/>
          <p:cNvSpPr txBox="1"/>
          <p:nvPr/>
        </p:nvSpPr>
        <p:spPr>
          <a:xfrm>
            <a:off x="43891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01  </a:t>
            </a:r>
            <a:pPr indent="0" marL="0">
              <a:buNone/>
            </a:pPr>
            <a:r>
              <a:rPr lang="en-US" sz="750" b="1" spc="50" kern="0" dirty="0">
                <a:solidFill>
                  <a:srgbClr val="1B1B1B"/>
                </a:solidFill>
                <a:latin typeface="Arial" pitchFamily="34" charset="0"/>
                <a:ea typeface="Arial" pitchFamily="34" charset="-122"/>
                <a:cs typeface="Arial" pitchFamily="34" charset="-120"/>
              </a:rPr>
              <a:t>SITE</a:t>
            </a:r>
            <a:endParaRPr lang="en-US" sz="750" dirty="0"/>
          </a:p>
        </p:txBody>
      </p:sp>
      <p:sp>
        <p:nvSpPr>
          <p:cNvPr id="11" name="Shape 9"/>
          <p:cNvSpPr/>
          <p:nvPr/>
        </p:nvSpPr>
        <p:spPr>
          <a:xfrm>
            <a:off x="55576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12" name="Shape 10"/>
          <p:cNvSpPr/>
          <p:nvPr/>
        </p:nvSpPr>
        <p:spPr>
          <a:xfrm>
            <a:off x="42062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13" name="Shape 11"/>
          <p:cNvSpPr/>
          <p:nvPr/>
        </p:nvSpPr>
        <p:spPr>
          <a:xfrm>
            <a:off x="198984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14" name="Shape 12"/>
          <p:cNvSpPr/>
          <p:nvPr/>
        </p:nvSpPr>
        <p:spPr>
          <a:xfrm>
            <a:off x="67649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15" name="Shape 13"/>
          <p:cNvSpPr/>
          <p:nvPr/>
        </p:nvSpPr>
        <p:spPr>
          <a:xfrm>
            <a:off x="910718" y="2433218"/>
            <a:ext cx="869276" cy="544837"/>
          </a:xfrm>
          <a:custGeom>
            <a:avLst/>
            <a:gdLst/>
            <a:ahLst/>
            <a:cxnLst/>
            <a:rect l="l" t="t" r="r" b="b"/>
            <a:pathLst>
              <a:path w="869276" h="544837">
                <a:moveTo>
                  <a:pt x="860450" y="462002"/>
                </a:moveTo>
                <a:lnTo>
                  <a:pt x="849001" y="481438"/>
                </a:lnTo>
                <a:lnTo>
                  <a:pt x="833013" y="498583"/>
                </a:lnTo>
                <a:lnTo>
                  <a:pt x="812660" y="513251"/>
                </a:lnTo>
                <a:lnTo>
                  <a:pt x="788166" y="525280"/>
                </a:lnTo>
                <a:lnTo>
                  <a:pt x="759798" y="534539"/>
                </a:lnTo>
                <a:lnTo>
                  <a:pt x="727867" y="540926"/>
                </a:lnTo>
                <a:lnTo>
                  <a:pt x="692724" y="544371"/>
                </a:lnTo>
                <a:lnTo>
                  <a:pt x="654753" y="544837"/>
                </a:lnTo>
                <a:lnTo>
                  <a:pt x="614371" y="542318"/>
                </a:lnTo>
                <a:lnTo>
                  <a:pt x="572019" y="536841"/>
                </a:lnTo>
                <a:lnTo>
                  <a:pt x="528162" y="528468"/>
                </a:lnTo>
                <a:lnTo>
                  <a:pt x="483281" y="517289"/>
                </a:lnTo>
                <a:lnTo>
                  <a:pt x="437867" y="503428"/>
                </a:lnTo>
                <a:lnTo>
                  <a:pt x="392417" y="487036"/>
                </a:lnTo>
                <a:lnTo>
                  <a:pt x="347430" y="468292"/>
                </a:lnTo>
                <a:lnTo>
                  <a:pt x="303398" y="447402"/>
                </a:lnTo>
                <a:lnTo>
                  <a:pt x="260804" y="424595"/>
                </a:lnTo>
                <a:lnTo>
                  <a:pt x="220115" y="400120"/>
                </a:lnTo>
                <a:lnTo>
                  <a:pt x="181776" y="374247"/>
                </a:lnTo>
                <a:lnTo>
                  <a:pt x="146208" y="347258"/>
                </a:lnTo>
                <a:lnTo>
                  <a:pt x="113799" y="319449"/>
                </a:lnTo>
                <a:lnTo>
                  <a:pt x="84906" y="291124"/>
                </a:lnTo>
                <a:lnTo>
                  <a:pt x="59845" y="262595"/>
                </a:lnTo>
                <a:lnTo>
                  <a:pt x="38890" y="234174"/>
                </a:lnTo>
                <a:lnTo>
                  <a:pt x="22270" y="206171"/>
                </a:lnTo>
                <a:lnTo>
                  <a:pt x="10169" y="178894"/>
                </a:lnTo>
                <a:lnTo>
                  <a:pt x="2718" y="152642"/>
                </a:lnTo>
                <a:lnTo>
                  <a:pt x="0" y="127702"/>
                </a:lnTo>
                <a:lnTo>
                  <a:pt x="2044" y="104348"/>
                </a:lnTo>
                <a:lnTo>
                  <a:pt x="8827" y="82835"/>
                </a:lnTo>
                <a:lnTo>
                  <a:pt x="20275" y="63399"/>
                </a:lnTo>
                <a:lnTo>
                  <a:pt x="36263" y="46253"/>
                </a:lnTo>
                <a:lnTo>
                  <a:pt x="56616" y="31586"/>
                </a:lnTo>
                <a:lnTo>
                  <a:pt x="81111" y="19556"/>
                </a:lnTo>
                <a:lnTo>
                  <a:pt x="109479" y="10298"/>
                </a:lnTo>
                <a:lnTo>
                  <a:pt x="141409" y="3911"/>
                </a:lnTo>
                <a:lnTo>
                  <a:pt x="176552" y="466"/>
                </a:lnTo>
                <a:lnTo>
                  <a:pt x="214523" y="0"/>
                </a:lnTo>
                <a:lnTo>
                  <a:pt x="254906" y="2519"/>
                </a:lnTo>
                <a:lnTo>
                  <a:pt x="297257" y="7995"/>
                </a:lnTo>
                <a:lnTo>
                  <a:pt x="341114" y="16369"/>
                </a:lnTo>
                <a:lnTo>
                  <a:pt x="385995" y="27547"/>
                </a:lnTo>
                <a:lnTo>
                  <a:pt x="431410" y="41409"/>
                </a:lnTo>
                <a:lnTo>
                  <a:pt x="476859" y="57801"/>
                </a:lnTo>
                <a:lnTo>
                  <a:pt x="521847" y="76545"/>
                </a:lnTo>
                <a:lnTo>
                  <a:pt x="565878" y="97435"/>
                </a:lnTo>
                <a:lnTo>
                  <a:pt x="608472" y="120242"/>
                </a:lnTo>
                <a:lnTo>
                  <a:pt x="649161" y="144716"/>
                </a:lnTo>
                <a:lnTo>
                  <a:pt x="687500" y="170590"/>
                </a:lnTo>
                <a:lnTo>
                  <a:pt x="723069" y="197579"/>
                </a:lnTo>
                <a:lnTo>
                  <a:pt x="755477" y="225388"/>
                </a:lnTo>
                <a:lnTo>
                  <a:pt x="784370" y="253712"/>
                </a:lnTo>
                <a:lnTo>
                  <a:pt x="809432" y="282242"/>
                </a:lnTo>
                <a:lnTo>
                  <a:pt x="830387" y="310663"/>
                </a:lnTo>
                <a:lnTo>
                  <a:pt x="847006" y="338666"/>
                </a:lnTo>
                <a:lnTo>
                  <a:pt x="859107" y="365943"/>
                </a:lnTo>
                <a:lnTo>
                  <a:pt x="866558" y="392195"/>
                </a:lnTo>
                <a:lnTo>
                  <a:pt x="869276" y="417135"/>
                </a:lnTo>
                <a:lnTo>
                  <a:pt x="867233" y="440489"/>
                </a:lnTo>
                <a:close/>
              </a:path>
            </a:pathLst>
          </a:custGeom>
          <a:ln w="6350">
            <a:solidFill>
              <a:srgbClr val="4F7A43"/>
            </a:solidFill>
            <a:prstDash val="dash"/>
          </a:ln>
        </p:spPr>
      </p:sp>
      <p:sp>
        <p:nvSpPr>
          <p:cNvPr id="16" name="Shape 14"/>
          <p:cNvSpPr/>
          <p:nvPr/>
        </p:nvSpPr>
        <p:spPr>
          <a:xfrm>
            <a:off x="1067671" y="2531592"/>
            <a:ext cx="555371" cy="348090"/>
          </a:xfrm>
          <a:custGeom>
            <a:avLst/>
            <a:gdLst/>
            <a:ahLst/>
            <a:cxnLst/>
            <a:rect l="l" t="t" r="r" b="b"/>
            <a:pathLst>
              <a:path w="555371" h="348090">
                <a:moveTo>
                  <a:pt x="549732" y="295168"/>
                </a:moveTo>
                <a:lnTo>
                  <a:pt x="542417" y="307585"/>
                </a:lnTo>
                <a:lnTo>
                  <a:pt x="532203" y="318539"/>
                </a:lnTo>
                <a:lnTo>
                  <a:pt x="519200" y="327910"/>
                </a:lnTo>
                <a:lnTo>
                  <a:pt x="503550" y="335596"/>
                </a:lnTo>
                <a:lnTo>
                  <a:pt x="485426" y="341511"/>
                </a:lnTo>
                <a:lnTo>
                  <a:pt x="465026" y="345592"/>
                </a:lnTo>
                <a:lnTo>
                  <a:pt x="442574" y="347793"/>
                </a:lnTo>
                <a:lnTo>
                  <a:pt x="418315" y="348090"/>
                </a:lnTo>
                <a:lnTo>
                  <a:pt x="392515" y="346481"/>
                </a:lnTo>
                <a:lnTo>
                  <a:pt x="365457" y="342982"/>
                </a:lnTo>
                <a:lnTo>
                  <a:pt x="337437" y="337632"/>
                </a:lnTo>
                <a:lnTo>
                  <a:pt x="308763" y="330490"/>
                </a:lnTo>
                <a:lnTo>
                  <a:pt x="279748" y="321635"/>
                </a:lnTo>
                <a:lnTo>
                  <a:pt x="250711" y="311162"/>
                </a:lnTo>
                <a:lnTo>
                  <a:pt x="221969" y="299186"/>
                </a:lnTo>
                <a:lnTo>
                  <a:pt x="193838" y="285840"/>
                </a:lnTo>
                <a:lnTo>
                  <a:pt x="166625" y="271269"/>
                </a:lnTo>
                <a:lnTo>
                  <a:pt x="140629" y="255632"/>
                </a:lnTo>
                <a:lnTo>
                  <a:pt x="116135" y="239102"/>
                </a:lnTo>
                <a:lnTo>
                  <a:pt x="93410" y="221859"/>
                </a:lnTo>
                <a:lnTo>
                  <a:pt x="72705" y="204092"/>
                </a:lnTo>
                <a:lnTo>
                  <a:pt x="54246" y="185996"/>
                </a:lnTo>
                <a:lnTo>
                  <a:pt x="38234" y="167769"/>
                </a:lnTo>
                <a:lnTo>
                  <a:pt x="24846" y="149611"/>
                </a:lnTo>
                <a:lnTo>
                  <a:pt x="14228" y="131720"/>
                </a:lnTo>
                <a:lnTo>
                  <a:pt x="6497" y="114293"/>
                </a:lnTo>
                <a:lnTo>
                  <a:pt x="1737" y="97521"/>
                </a:lnTo>
                <a:lnTo>
                  <a:pt x="0" y="81587"/>
                </a:lnTo>
                <a:lnTo>
                  <a:pt x="1306" y="66667"/>
                </a:lnTo>
                <a:lnTo>
                  <a:pt x="5639" y="52922"/>
                </a:lnTo>
                <a:lnTo>
                  <a:pt x="12954" y="40505"/>
                </a:lnTo>
                <a:lnTo>
                  <a:pt x="23168" y="29551"/>
                </a:lnTo>
                <a:lnTo>
                  <a:pt x="36171" y="20180"/>
                </a:lnTo>
                <a:lnTo>
                  <a:pt x="51821" y="12494"/>
                </a:lnTo>
                <a:lnTo>
                  <a:pt x="69945" y="6579"/>
                </a:lnTo>
                <a:lnTo>
                  <a:pt x="90345" y="2498"/>
                </a:lnTo>
                <a:lnTo>
                  <a:pt x="112797" y="297"/>
                </a:lnTo>
                <a:lnTo>
                  <a:pt x="137056" y="0"/>
                </a:lnTo>
                <a:lnTo>
                  <a:pt x="162856" y="1609"/>
                </a:lnTo>
                <a:lnTo>
                  <a:pt x="189914" y="5108"/>
                </a:lnTo>
                <a:lnTo>
                  <a:pt x="217934" y="10458"/>
                </a:lnTo>
                <a:lnTo>
                  <a:pt x="246608" y="17600"/>
                </a:lnTo>
                <a:lnTo>
                  <a:pt x="275623" y="26456"/>
                </a:lnTo>
                <a:lnTo>
                  <a:pt x="304660" y="36929"/>
                </a:lnTo>
                <a:lnTo>
                  <a:pt x="333402" y="48904"/>
                </a:lnTo>
                <a:lnTo>
                  <a:pt x="361533" y="62250"/>
                </a:lnTo>
                <a:lnTo>
                  <a:pt x="388746" y="76821"/>
                </a:lnTo>
                <a:lnTo>
                  <a:pt x="414742" y="92458"/>
                </a:lnTo>
                <a:lnTo>
                  <a:pt x="439236" y="108988"/>
                </a:lnTo>
                <a:lnTo>
                  <a:pt x="461961" y="126231"/>
                </a:lnTo>
                <a:lnTo>
                  <a:pt x="482666" y="143998"/>
                </a:lnTo>
                <a:lnTo>
                  <a:pt x="501125" y="162094"/>
                </a:lnTo>
                <a:lnTo>
                  <a:pt x="517137" y="180321"/>
                </a:lnTo>
                <a:lnTo>
                  <a:pt x="530525" y="198479"/>
                </a:lnTo>
                <a:lnTo>
                  <a:pt x="541143" y="216370"/>
                </a:lnTo>
                <a:lnTo>
                  <a:pt x="548874" y="233797"/>
                </a:lnTo>
                <a:lnTo>
                  <a:pt x="553634" y="250569"/>
                </a:lnTo>
                <a:lnTo>
                  <a:pt x="555371" y="266503"/>
                </a:lnTo>
                <a:lnTo>
                  <a:pt x="554065" y="281424"/>
                </a:lnTo>
                <a:close/>
              </a:path>
            </a:pathLst>
          </a:custGeom>
          <a:ln w="6350">
            <a:solidFill>
              <a:srgbClr val="4F7A43"/>
            </a:solidFill>
            <a:prstDash val="dash"/>
          </a:ln>
        </p:spPr>
      </p:sp>
      <p:sp>
        <p:nvSpPr>
          <p:cNvPr id="17" name="Shape 15"/>
          <p:cNvSpPr/>
          <p:nvPr/>
        </p:nvSpPr>
        <p:spPr>
          <a:xfrm>
            <a:off x="1212551" y="2622398"/>
            <a:ext cx="265612" cy="166478"/>
          </a:xfrm>
          <a:custGeom>
            <a:avLst/>
            <a:gdLst/>
            <a:ahLst/>
            <a:cxnLst/>
            <a:rect l="l" t="t" r="r" b="b"/>
            <a:pathLst>
              <a:path w="265612" h="166478">
                <a:moveTo>
                  <a:pt x="262915" y="141167"/>
                </a:moveTo>
                <a:lnTo>
                  <a:pt x="259417" y="147106"/>
                </a:lnTo>
                <a:lnTo>
                  <a:pt x="254532" y="152345"/>
                </a:lnTo>
                <a:lnTo>
                  <a:pt x="248313" y="156827"/>
                </a:lnTo>
                <a:lnTo>
                  <a:pt x="240828" y="160502"/>
                </a:lnTo>
                <a:lnTo>
                  <a:pt x="232160" y="163331"/>
                </a:lnTo>
                <a:lnTo>
                  <a:pt x="222404" y="165283"/>
                </a:lnTo>
                <a:lnTo>
                  <a:pt x="211666" y="166336"/>
                </a:lnTo>
                <a:lnTo>
                  <a:pt x="200063" y="166478"/>
                </a:lnTo>
                <a:lnTo>
                  <a:pt x="187724" y="165708"/>
                </a:lnTo>
                <a:lnTo>
                  <a:pt x="174784" y="164035"/>
                </a:lnTo>
                <a:lnTo>
                  <a:pt x="161383" y="161476"/>
                </a:lnTo>
                <a:lnTo>
                  <a:pt x="147669" y="158061"/>
                </a:lnTo>
                <a:lnTo>
                  <a:pt x="133793" y="153825"/>
                </a:lnTo>
                <a:lnTo>
                  <a:pt x="119905" y="148816"/>
                </a:lnTo>
                <a:lnTo>
                  <a:pt x="106159" y="143089"/>
                </a:lnTo>
                <a:lnTo>
                  <a:pt x="92705" y="136706"/>
                </a:lnTo>
                <a:lnTo>
                  <a:pt x="79690" y="129737"/>
                </a:lnTo>
                <a:lnTo>
                  <a:pt x="67257" y="122259"/>
                </a:lnTo>
                <a:lnTo>
                  <a:pt x="55543" y="114353"/>
                </a:lnTo>
                <a:lnTo>
                  <a:pt x="44675" y="106107"/>
                </a:lnTo>
                <a:lnTo>
                  <a:pt x="34772" y="97609"/>
                </a:lnTo>
                <a:lnTo>
                  <a:pt x="25944" y="88955"/>
                </a:lnTo>
                <a:lnTo>
                  <a:pt x="18286" y="80237"/>
                </a:lnTo>
                <a:lnTo>
                  <a:pt x="11883" y="71553"/>
                </a:lnTo>
                <a:lnTo>
                  <a:pt x="6805" y="62997"/>
                </a:lnTo>
                <a:lnTo>
                  <a:pt x="3107" y="54662"/>
                </a:lnTo>
                <a:lnTo>
                  <a:pt x="831" y="46641"/>
                </a:lnTo>
                <a:lnTo>
                  <a:pt x="0" y="39020"/>
                </a:lnTo>
                <a:lnTo>
                  <a:pt x="624" y="31884"/>
                </a:lnTo>
                <a:lnTo>
                  <a:pt x="2697" y="25311"/>
                </a:lnTo>
                <a:lnTo>
                  <a:pt x="6195" y="19372"/>
                </a:lnTo>
                <a:lnTo>
                  <a:pt x="11080" y="14133"/>
                </a:lnTo>
                <a:lnTo>
                  <a:pt x="17299" y="9651"/>
                </a:lnTo>
                <a:lnTo>
                  <a:pt x="24784" y="5976"/>
                </a:lnTo>
                <a:lnTo>
                  <a:pt x="33452" y="3146"/>
                </a:lnTo>
                <a:lnTo>
                  <a:pt x="43208" y="1195"/>
                </a:lnTo>
                <a:lnTo>
                  <a:pt x="53947" y="142"/>
                </a:lnTo>
                <a:lnTo>
                  <a:pt x="65549" y="0"/>
                </a:lnTo>
                <a:lnTo>
                  <a:pt x="77888" y="770"/>
                </a:lnTo>
                <a:lnTo>
                  <a:pt x="90829" y="2443"/>
                </a:lnTo>
                <a:lnTo>
                  <a:pt x="104229" y="5002"/>
                </a:lnTo>
                <a:lnTo>
                  <a:pt x="117943" y="8417"/>
                </a:lnTo>
                <a:lnTo>
                  <a:pt x="131820" y="12653"/>
                </a:lnTo>
                <a:lnTo>
                  <a:pt x="145707" y="17661"/>
                </a:lnTo>
                <a:lnTo>
                  <a:pt x="159453" y="23389"/>
                </a:lnTo>
                <a:lnTo>
                  <a:pt x="172907" y="29772"/>
                </a:lnTo>
                <a:lnTo>
                  <a:pt x="185922" y="36741"/>
                </a:lnTo>
                <a:lnTo>
                  <a:pt x="198355" y="44219"/>
                </a:lnTo>
                <a:lnTo>
                  <a:pt x="210069" y="52125"/>
                </a:lnTo>
                <a:lnTo>
                  <a:pt x="220938" y="60371"/>
                </a:lnTo>
                <a:lnTo>
                  <a:pt x="230840" y="68869"/>
                </a:lnTo>
                <a:lnTo>
                  <a:pt x="239669" y="77523"/>
                </a:lnTo>
                <a:lnTo>
                  <a:pt x="247326" y="86240"/>
                </a:lnTo>
                <a:lnTo>
                  <a:pt x="253729" y="94925"/>
                </a:lnTo>
                <a:lnTo>
                  <a:pt x="258807" y="103481"/>
                </a:lnTo>
                <a:lnTo>
                  <a:pt x="262505" y="111816"/>
                </a:lnTo>
                <a:lnTo>
                  <a:pt x="264782" y="119837"/>
                </a:lnTo>
                <a:lnTo>
                  <a:pt x="265612" y="127458"/>
                </a:lnTo>
                <a:lnTo>
                  <a:pt x="264988" y="134594"/>
                </a:lnTo>
                <a:close/>
              </a:path>
            </a:pathLst>
          </a:custGeom>
          <a:ln w="6350">
            <a:solidFill>
              <a:srgbClr val="4F7A43"/>
            </a:solidFill>
            <a:prstDash val="dash"/>
          </a:ln>
        </p:spPr>
      </p:sp>
      <p:sp>
        <p:nvSpPr>
          <p:cNvPr id="18" name="Shape 16"/>
          <p:cNvSpPr/>
          <p:nvPr/>
        </p:nvSpPr>
        <p:spPr>
          <a:xfrm>
            <a:off x="1780022" y="2904047"/>
            <a:ext cx="41148" cy="41148"/>
          </a:xfrm>
          <a:prstGeom prst="ellipse">
            <a:avLst/>
          </a:prstGeom>
          <a:solidFill>
            <a:srgbClr val="FFFFFF"/>
          </a:solidFill>
          <a:ln w="7620">
            <a:solidFill>
              <a:srgbClr val="4F7A43"/>
            </a:solidFill>
            <a:prstDash val="solid"/>
          </a:ln>
        </p:spPr>
      </p:sp>
      <p:sp>
        <p:nvSpPr>
          <p:cNvPr id="19" name="Shape 17"/>
          <p:cNvSpPr/>
          <p:nvPr/>
        </p:nvSpPr>
        <p:spPr>
          <a:xfrm>
            <a:off x="1726118" y="2963916"/>
            <a:ext cx="41148" cy="41148"/>
          </a:xfrm>
          <a:prstGeom prst="ellipse">
            <a:avLst/>
          </a:prstGeom>
          <a:solidFill>
            <a:srgbClr val="FFFFFF"/>
          </a:solidFill>
          <a:ln w="7620">
            <a:solidFill>
              <a:srgbClr val="4F7A43"/>
            </a:solidFill>
            <a:prstDash val="solid"/>
          </a:ln>
        </p:spPr>
      </p:sp>
      <p:sp>
        <p:nvSpPr>
          <p:cNvPr id="20" name="Shape 18"/>
          <p:cNvSpPr/>
          <p:nvPr/>
        </p:nvSpPr>
        <p:spPr>
          <a:xfrm>
            <a:off x="1631444" y="2998304"/>
            <a:ext cx="41148" cy="41148"/>
          </a:xfrm>
          <a:prstGeom prst="ellipse">
            <a:avLst/>
          </a:prstGeom>
          <a:solidFill>
            <a:srgbClr val="FFFFFF"/>
          </a:solidFill>
          <a:ln w="7620">
            <a:solidFill>
              <a:srgbClr val="4F7A43"/>
            </a:solidFill>
            <a:prstDash val="solid"/>
          </a:ln>
        </p:spPr>
      </p:sp>
      <p:sp>
        <p:nvSpPr>
          <p:cNvPr id="21" name="Shape 19"/>
          <p:cNvSpPr/>
          <p:nvPr/>
        </p:nvSpPr>
        <p:spPr>
          <a:xfrm>
            <a:off x="1504273" y="3004205"/>
            <a:ext cx="41148" cy="41148"/>
          </a:xfrm>
          <a:prstGeom prst="ellipse">
            <a:avLst/>
          </a:prstGeom>
          <a:solidFill>
            <a:srgbClr val="FFFFFF"/>
          </a:solidFill>
          <a:ln w="7620">
            <a:solidFill>
              <a:srgbClr val="4F7A43"/>
            </a:solidFill>
            <a:prstDash val="solid"/>
          </a:ln>
        </p:spPr>
      </p:sp>
      <p:sp>
        <p:nvSpPr>
          <p:cNvPr id="22" name="Shape 20"/>
          <p:cNvSpPr/>
          <p:nvPr/>
        </p:nvSpPr>
        <p:spPr>
          <a:xfrm>
            <a:off x="1355718" y="2981104"/>
            <a:ext cx="41148" cy="41148"/>
          </a:xfrm>
          <a:prstGeom prst="ellipse">
            <a:avLst/>
          </a:prstGeom>
          <a:solidFill>
            <a:srgbClr val="FFFFFF"/>
          </a:solidFill>
          <a:ln w="7620">
            <a:solidFill>
              <a:srgbClr val="4F7A43"/>
            </a:solidFill>
            <a:prstDash val="solid"/>
          </a:ln>
        </p:spPr>
      </p:sp>
      <p:sp>
        <p:nvSpPr>
          <p:cNvPr id="23" name="Shape 21"/>
          <p:cNvSpPr/>
          <p:nvPr/>
        </p:nvSpPr>
        <p:spPr>
          <a:xfrm>
            <a:off x="1198763" y="2931019"/>
            <a:ext cx="41148" cy="41148"/>
          </a:xfrm>
          <a:prstGeom prst="ellipse">
            <a:avLst/>
          </a:prstGeom>
          <a:solidFill>
            <a:srgbClr val="FFFFFF"/>
          </a:solidFill>
          <a:ln w="7620">
            <a:solidFill>
              <a:srgbClr val="4F7A43"/>
            </a:solidFill>
            <a:prstDash val="solid"/>
          </a:ln>
        </p:spPr>
      </p:sp>
      <p:sp>
        <p:nvSpPr>
          <p:cNvPr id="24" name="Shape 22"/>
          <p:cNvSpPr/>
          <p:nvPr/>
        </p:nvSpPr>
        <p:spPr>
          <a:xfrm>
            <a:off x="1047122" y="2858327"/>
            <a:ext cx="41148" cy="41148"/>
          </a:xfrm>
          <a:prstGeom prst="ellipse">
            <a:avLst/>
          </a:prstGeom>
          <a:solidFill>
            <a:srgbClr val="FFFFFF"/>
          </a:solidFill>
          <a:ln w="7620">
            <a:solidFill>
              <a:srgbClr val="4F7A43"/>
            </a:solidFill>
            <a:prstDash val="solid"/>
          </a:ln>
        </p:spPr>
      </p:sp>
      <p:sp>
        <p:nvSpPr>
          <p:cNvPr id="25" name="Shape 23"/>
          <p:cNvSpPr/>
          <p:nvPr/>
        </p:nvSpPr>
        <p:spPr>
          <a:xfrm>
            <a:off x="914049" y="2769382"/>
            <a:ext cx="41148" cy="41148"/>
          </a:xfrm>
          <a:prstGeom prst="ellipse">
            <a:avLst/>
          </a:prstGeom>
          <a:solidFill>
            <a:srgbClr val="FFFFFF"/>
          </a:solidFill>
          <a:ln w="7620">
            <a:solidFill>
              <a:srgbClr val="4F7A43"/>
            </a:solidFill>
            <a:prstDash val="solid"/>
          </a:ln>
        </p:spPr>
      </p:sp>
      <p:sp>
        <p:nvSpPr>
          <p:cNvPr id="26" name="Shape 24"/>
          <p:cNvSpPr/>
          <p:nvPr/>
        </p:nvSpPr>
        <p:spPr>
          <a:xfrm>
            <a:off x="811173" y="2671955"/>
            <a:ext cx="41148" cy="41148"/>
          </a:xfrm>
          <a:prstGeom prst="ellipse">
            <a:avLst/>
          </a:prstGeom>
          <a:solidFill>
            <a:srgbClr val="FFFFFF"/>
          </a:solidFill>
          <a:ln w="7620">
            <a:solidFill>
              <a:srgbClr val="4F7A43"/>
            </a:solidFill>
            <a:prstDash val="solid"/>
          </a:ln>
        </p:spPr>
      </p:sp>
      <p:sp>
        <p:nvSpPr>
          <p:cNvPr id="27" name="Shape 25"/>
          <p:cNvSpPr/>
          <p:nvPr/>
        </p:nvSpPr>
        <p:spPr>
          <a:xfrm>
            <a:off x="747484" y="2574562"/>
            <a:ext cx="41148" cy="41148"/>
          </a:xfrm>
          <a:prstGeom prst="ellipse">
            <a:avLst/>
          </a:prstGeom>
          <a:solidFill>
            <a:srgbClr val="FFFFFF"/>
          </a:solidFill>
          <a:ln w="7620">
            <a:solidFill>
              <a:srgbClr val="4F7A43"/>
            </a:solidFill>
            <a:prstDash val="solid"/>
          </a:ln>
        </p:spPr>
      </p:sp>
      <p:sp>
        <p:nvSpPr>
          <p:cNvPr id="28" name="Shape 26"/>
          <p:cNvSpPr/>
          <p:nvPr/>
        </p:nvSpPr>
        <p:spPr>
          <a:xfrm>
            <a:off x="728547" y="2485713"/>
            <a:ext cx="41148" cy="41148"/>
          </a:xfrm>
          <a:prstGeom prst="ellipse">
            <a:avLst/>
          </a:prstGeom>
          <a:solidFill>
            <a:srgbClr val="FFFFFF"/>
          </a:solidFill>
          <a:ln w="7620">
            <a:solidFill>
              <a:srgbClr val="4F7A43"/>
            </a:solidFill>
            <a:prstDash val="solid"/>
          </a:ln>
        </p:spPr>
      </p:sp>
      <p:sp>
        <p:nvSpPr>
          <p:cNvPr id="29" name="Shape 27"/>
          <p:cNvSpPr/>
          <p:nvPr/>
        </p:nvSpPr>
        <p:spPr>
          <a:xfrm>
            <a:off x="756019" y="2413172"/>
            <a:ext cx="41148" cy="41148"/>
          </a:xfrm>
          <a:prstGeom prst="ellipse">
            <a:avLst/>
          </a:prstGeom>
          <a:solidFill>
            <a:srgbClr val="FFFFFF"/>
          </a:solidFill>
          <a:ln w="7620">
            <a:solidFill>
              <a:srgbClr val="4F7A43"/>
            </a:solidFill>
            <a:prstDash val="solid"/>
          </a:ln>
        </p:spPr>
      </p:sp>
      <p:sp>
        <p:nvSpPr>
          <p:cNvPr id="30" name="Shape 28"/>
          <p:cNvSpPr/>
          <p:nvPr/>
        </p:nvSpPr>
        <p:spPr>
          <a:xfrm>
            <a:off x="827497" y="2363280"/>
            <a:ext cx="41148" cy="41148"/>
          </a:xfrm>
          <a:prstGeom prst="ellipse">
            <a:avLst/>
          </a:prstGeom>
          <a:solidFill>
            <a:srgbClr val="FFFFFF"/>
          </a:solidFill>
          <a:ln w="7620">
            <a:solidFill>
              <a:srgbClr val="4F7A43"/>
            </a:solidFill>
            <a:prstDash val="solid"/>
          </a:ln>
        </p:spPr>
      </p:sp>
      <p:sp>
        <p:nvSpPr>
          <p:cNvPr id="31" name="Shape 29"/>
          <p:cNvSpPr/>
          <p:nvPr/>
        </p:nvSpPr>
        <p:spPr>
          <a:xfrm>
            <a:off x="936736" y="2340397"/>
            <a:ext cx="41148" cy="41148"/>
          </a:xfrm>
          <a:prstGeom prst="ellipse">
            <a:avLst/>
          </a:prstGeom>
          <a:solidFill>
            <a:srgbClr val="FFFFFF"/>
          </a:solidFill>
          <a:ln w="7620">
            <a:solidFill>
              <a:srgbClr val="4F7A43"/>
            </a:solidFill>
            <a:prstDash val="solid"/>
          </a:ln>
        </p:spPr>
      </p:sp>
      <p:sp>
        <p:nvSpPr>
          <p:cNvPr id="32" name="Shape 30"/>
          <p:cNvSpPr/>
          <p:nvPr/>
        </p:nvSpPr>
        <p:spPr>
          <a:xfrm>
            <a:off x="1074189" y="2346521"/>
            <a:ext cx="41148" cy="41148"/>
          </a:xfrm>
          <a:prstGeom prst="ellipse">
            <a:avLst/>
          </a:prstGeom>
          <a:solidFill>
            <a:srgbClr val="FFFFFF"/>
          </a:solidFill>
          <a:ln w="7620">
            <a:solidFill>
              <a:srgbClr val="4F7A43"/>
            </a:solidFill>
            <a:prstDash val="solid"/>
          </a:ln>
        </p:spPr>
      </p:sp>
      <p:sp>
        <p:nvSpPr>
          <p:cNvPr id="33" name="Shape 31"/>
          <p:cNvSpPr/>
          <p:nvPr/>
        </p:nvSpPr>
        <p:spPr>
          <a:xfrm>
            <a:off x="1227843" y="2381119"/>
            <a:ext cx="41148" cy="41148"/>
          </a:xfrm>
          <a:prstGeom prst="ellipse">
            <a:avLst/>
          </a:prstGeom>
          <a:solidFill>
            <a:srgbClr val="FFFFFF"/>
          </a:solidFill>
          <a:ln w="7620">
            <a:solidFill>
              <a:srgbClr val="4F7A43"/>
            </a:solidFill>
            <a:prstDash val="solid"/>
          </a:ln>
        </p:spPr>
      </p:sp>
      <p:sp>
        <p:nvSpPr>
          <p:cNvPr id="34" name="Shape 32"/>
          <p:cNvSpPr/>
          <p:nvPr/>
        </p:nvSpPr>
        <p:spPr>
          <a:xfrm>
            <a:off x="1384272" y="2441166"/>
            <a:ext cx="41148" cy="41148"/>
          </a:xfrm>
          <a:prstGeom prst="ellipse">
            <a:avLst/>
          </a:prstGeom>
          <a:solidFill>
            <a:srgbClr val="FFFFFF"/>
          </a:solidFill>
          <a:ln w="7620">
            <a:solidFill>
              <a:srgbClr val="4F7A43"/>
            </a:solidFill>
            <a:prstDash val="solid"/>
          </a:ln>
        </p:spPr>
      </p:sp>
      <p:sp>
        <p:nvSpPr>
          <p:cNvPr id="35" name="Shape 33"/>
          <p:cNvSpPr/>
          <p:nvPr/>
        </p:nvSpPr>
        <p:spPr>
          <a:xfrm>
            <a:off x="1529804" y="2521415"/>
            <a:ext cx="41148" cy="41148"/>
          </a:xfrm>
          <a:prstGeom prst="ellipse">
            <a:avLst/>
          </a:prstGeom>
          <a:solidFill>
            <a:srgbClr val="FFFFFF"/>
          </a:solidFill>
          <a:ln w="7620">
            <a:solidFill>
              <a:srgbClr val="4F7A43"/>
            </a:solidFill>
            <a:prstDash val="solid"/>
          </a:ln>
        </p:spPr>
      </p:sp>
      <p:sp>
        <p:nvSpPr>
          <p:cNvPr id="36" name="Shape 34"/>
          <p:cNvSpPr/>
          <p:nvPr/>
        </p:nvSpPr>
        <p:spPr>
          <a:xfrm>
            <a:off x="1651722" y="2614852"/>
            <a:ext cx="41148" cy="41148"/>
          </a:xfrm>
          <a:prstGeom prst="ellipse">
            <a:avLst/>
          </a:prstGeom>
          <a:solidFill>
            <a:srgbClr val="FFFFFF"/>
          </a:solidFill>
          <a:ln w="7620">
            <a:solidFill>
              <a:srgbClr val="4F7A43"/>
            </a:solidFill>
            <a:prstDash val="solid"/>
          </a:ln>
        </p:spPr>
      </p:sp>
      <p:sp>
        <p:nvSpPr>
          <p:cNvPr id="37" name="Shape 35"/>
          <p:cNvSpPr/>
          <p:nvPr/>
        </p:nvSpPr>
        <p:spPr>
          <a:xfrm>
            <a:off x="1739371" y="2713313"/>
            <a:ext cx="41148" cy="41148"/>
          </a:xfrm>
          <a:prstGeom prst="ellipse">
            <a:avLst/>
          </a:prstGeom>
          <a:solidFill>
            <a:srgbClr val="FFFFFF"/>
          </a:solidFill>
          <a:ln w="7620">
            <a:solidFill>
              <a:srgbClr val="4F7A43"/>
            </a:solidFill>
            <a:prstDash val="solid"/>
          </a:ln>
        </p:spPr>
      </p:sp>
      <p:sp>
        <p:nvSpPr>
          <p:cNvPr id="38" name="Shape 36"/>
          <p:cNvSpPr/>
          <p:nvPr/>
        </p:nvSpPr>
        <p:spPr>
          <a:xfrm>
            <a:off x="1785091" y="2808193"/>
            <a:ext cx="41148" cy="41148"/>
          </a:xfrm>
          <a:prstGeom prst="ellipse">
            <a:avLst/>
          </a:prstGeom>
          <a:solidFill>
            <a:srgbClr val="FFFFFF"/>
          </a:solidFill>
          <a:ln w="7620">
            <a:solidFill>
              <a:srgbClr val="4F7A43"/>
            </a:solidFill>
            <a:prstDash val="solid"/>
          </a:ln>
        </p:spPr>
      </p:sp>
      <p:sp>
        <p:nvSpPr>
          <p:cNvPr id="39" name="Shape 37"/>
          <p:cNvSpPr/>
          <p:nvPr/>
        </p:nvSpPr>
        <p:spPr>
          <a:xfrm>
            <a:off x="1784887" y="2891200"/>
            <a:ext cx="41148" cy="41148"/>
          </a:xfrm>
          <a:prstGeom prst="ellipse">
            <a:avLst/>
          </a:prstGeom>
          <a:solidFill>
            <a:srgbClr val="FFFFFF"/>
          </a:solidFill>
          <a:ln w="7620">
            <a:solidFill>
              <a:srgbClr val="4F7A43"/>
            </a:solidFill>
            <a:prstDash val="solid"/>
          </a:ln>
        </p:spPr>
      </p:sp>
      <p:sp>
        <p:nvSpPr>
          <p:cNvPr id="40" name="Shape 38"/>
          <p:cNvSpPr/>
          <p:nvPr/>
        </p:nvSpPr>
        <p:spPr>
          <a:xfrm>
            <a:off x="438912" y="1874520"/>
            <a:ext cx="731520" cy="146304"/>
          </a:xfrm>
          <a:prstGeom prst="rect">
            <a:avLst/>
          </a:prstGeom>
          <a:solidFill>
            <a:srgbClr val="FFFFFF"/>
          </a:solidFill>
          <a:ln/>
        </p:spPr>
      </p:sp>
      <p:sp>
        <p:nvSpPr>
          <p:cNvPr id="41" name="Text 39"/>
          <p:cNvSpPr txBox="1"/>
          <p:nvPr/>
        </p:nvSpPr>
        <p:spPr>
          <a:xfrm>
            <a:off x="438912" y="1874520"/>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Egerton / Abbot jn.</a:t>
            </a:r>
            <a:endParaRPr lang="en-US" sz="550" dirty="0"/>
          </a:p>
        </p:txBody>
      </p:sp>
      <p:sp>
        <p:nvSpPr>
          <p:cNvPr id="42" name="Shape 40"/>
          <p:cNvSpPr/>
          <p:nvPr/>
        </p:nvSpPr>
        <p:spPr>
          <a:xfrm>
            <a:off x="1389888" y="3364992"/>
            <a:ext cx="731520" cy="146304"/>
          </a:xfrm>
          <a:prstGeom prst="rect">
            <a:avLst/>
          </a:prstGeom>
          <a:solidFill>
            <a:srgbClr val="FFFFFF"/>
          </a:solidFill>
          <a:ln/>
        </p:spPr>
      </p:sp>
      <p:sp>
        <p:nvSpPr>
          <p:cNvPr id="43" name="Text 41"/>
          <p:cNvSpPr txBox="1"/>
          <p:nvPr/>
        </p:nvSpPr>
        <p:spPr>
          <a:xfrm>
            <a:off x="1389888" y="3364992"/>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Davis / Durand jn.</a:t>
            </a:r>
            <a:endParaRPr lang="en-US" sz="550" dirty="0"/>
          </a:p>
        </p:txBody>
      </p:sp>
      <p:sp>
        <p:nvSpPr>
          <p:cNvPr id="44" name="Shape 42"/>
          <p:cNvSpPr/>
          <p:nvPr/>
        </p:nvSpPr>
        <p:spPr>
          <a:xfrm>
            <a:off x="797346" y="2177186"/>
            <a:ext cx="822960" cy="146304"/>
          </a:xfrm>
          <a:prstGeom prst="rect">
            <a:avLst/>
          </a:prstGeom>
          <a:solidFill>
            <a:srgbClr val="FFFFFF"/>
          </a:solidFill>
          <a:ln/>
        </p:spPr>
      </p:sp>
      <p:sp>
        <p:nvSpPr>
          <p:cNvPr id="45" name="Text 43"/>
          <p:cNvSpPr txBox="1"/>
          <p:nvPr/>
        </p:nvSpPr>
        <p:spPr>
          <a:xfrm>
            <a:off x="797346" y="2177186"/>
            <a:ext cx="822960" cy="146304"/>
          </a:xfrm>
          <a:prstGeom prst="rect">
            <a:avLst/>
          </a:prstGeom>
          <a:noFill/>
          <a:ln/>
        </p:spPr>
        <p:txBody>
          <a:bodyPr wrap="square" lIns="0" tIns="0" rIns="0" bIns="0" rtlCol="0" anchor="ctr"/>
          <a:lstStyle/>
          <a:p>
            <a:pPr algn="ctr" indent="0" marL="0">
              <a:buNone/>
            </a:pPr>
            <a:r>
              <a:rPr lang="en-US" sz="550" b="1" dirty="0">
                <a:solidFill>
                  <a:srgbClr val="6B6B6B"/>
                </a:solidFill>
                <a:latin typeface="Arial" pitchFamily="34" charset="0"/>
                <a:ea typeface="Arial" pitchFamily="34" charset="-122"/>
                <a:cs typeface="Arial" pitchFamily="34" charset="-120"/>
              </a:rPr>
              <a:t>service side (assumed)</a:t>
            </a:r>
            <a:endParaRPr lang="en-US" sz="550" dirty="0"/>
          </a:p>
        </p:txBody>
      </p:sp>
      <p:sp>
        <p:nvSpPr>
          <p:cNvPr id="46" name="Shape 44"/>
          <p:cNvSpPr/>
          <p:nvPr/>
        </p:nvSpPr>
        <p:spPr>
          <a:xfrm>
            <a:off x="218541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47" name="Shape 45"/>
          <p:cNvSpPr/>
          <p:nvPr/>
        </p:nvSpPr>
        <p:spPr>
          <a:xfrm>
            <a:off x="2286000" y="1627632"/>
            <a:ext cx="1828800" cy="1920240"/>
          </a:xfrm>
          <a:prstGeom prst="rect">
            <a:avLst/>
          </a:prstGeom>
          <a:solidFill>
            <a:srgbClr val="FFFFFF"/>
          </a:solidFill>
          <a:ln w="6350">
            <a:solidFill>
              <a:srgbClr val="D9D9D9"/>
            </a:solidFill>
            <a:prstDash val="solid"/>
          </a:ln>
        </p:spPr>
      </p:sp>
      <p:sp>
        <p:nvSpPr>
          <p:cNvPr id="48" name="Text 46"/>
          <p:cNvSpPr txBox="1"/>
          <p:nvPr/>
        </p:nvSpPr>
        <p:spPr>
          <a:xfrm>
            <a:off x="235915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02  </a:t>
            </a:r>
            <a:pPr indent="0" marL="0">
              <a:buNone/>
            </a:pPr>
            <a:r>
              <a:rPr lang="en-US" sz="750" b="1" spc="50" kern="0" dirty="0">
                <a:solidFill>
                  <a:srgbClr val="1B1B1B"/>
                </a:solidFill>
                <a:latin typeface="Arial" pitchFamily="34" charset="0"/>
                <a:ea typeface="Arial" pitchFamily="34" charset="-122"/>
                <a:cs typeface="Arial" pitchFamily="34" charset="-120"/>
              </a:rPr>
              <a:t>IDEA</a:t>
            </a:r>
            <a:endParaRPr lang="en-US" sz="750" dirty="0"/>
          </a:p>
        </p:txBody>
      </p:sp>
      <p:sp>
        <p:nvSpPr>
          <p:cNvPr id="49" name="Shape 47"/>
          <p:cNvSpPr/>
          <p:nvPr/>
        </p:nvSpPr>
        <p:spPr>
          <a:xfrm>
            <a:off x="247600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50" name="Shape 48"/>
          <p:cNvSpPr/>
          <p:nvPr/>
        </p:nvSpPr>
        <p:spPr>
          <a:xfrm>
            <a:off x="234086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51" name="Shape 49"/>
          <p:cNvSpPr/>
          <p:nvPr/>
        </p:nvSpPr>
        <p:spPr>
          <a:xfrm>
            <a:off x="391008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52" name="Shape 50"/>
          <p:cNvSpPr/>
          <p:nvPr/>
        </p:nvSpPr>
        <p:spPr>
          <a:xfrm>
            <a:off x="259673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53" name="Shape 51"/>
          <p:cNvSpPr/>
          <p:nvPr/>
        </p:nvSpPr>
        <p:spPr>
          <a:xfrm>
            <a:off x="2830958" y="2433218"/>
            <a:ext cx="869276" cy="544837"/>
          </a:xfrm>
          <a:custGeom>
            <a:avLst/>
            <a:gdLst/>
            <a:ahLst/>
            <a:cxnLst/>
            <a:rect l="l" t="t" r="r" b="b"/>
            <a:pathLst>
              <a:path w="869276" h="544837">
                <a:moveTo>
                  <a:pt x="860450" y="462002"/>
                </a:moveTo>
                <a:lnTo>
                  <a:pt x="849001" y="481438"/>
                </a:lnTo>
                <a:lnTo>
                  <a:pt x="833013" y="498583"/>
                </a:lnTo>
                <a:lnTo>
                  <a:pt x="812660" y="513251"/>
                </a:lnTo>
                <a:lnTo>
                  <a:pt x="788166" y="525280"/>
                </a:lnTo>
                <a:lnTo>
                  <a:pt x="759798" y="534539"/>
                </a:lnTo>
                <a:lnTo>
                  <a:pt x="727867" y="540926"/>
                </a:lnTo>
                <a:lnTo>
                  <a:pt x="692724" y="544371"/>
                </a:lnTo>
                <a:lnTo>
                  <a:pt x="654753" y="544837"/>
                </a:lnTo>
                <a:lnTo>
                  <a:pt x="614371" y="542318"/>
                </a:lnTo>
                <a:lnTo>
                  <a:pt x="572019" y="536841"/>
                </a:lnTo>
                <a:lnTo>
                  <a:pt x="528162" y="528468"/>
                </a:lnTo>
                <a:lnTo>
                  <a:pt x="483281" y="517289"/>
                </a:lnTo>
                <a:lnTo>
                  <a:pt x="437867" y="503428"/>
                </a:lnTo>
                <a:lnTo>
                  <a:pt x="392417" y="487036"/>
                </a:lnTo>
                <a:lnTo>
                  <a:pt x="347430" y="468292"/>
                </a:lnTo>
                <a:lnTo>
                  <a:pt x="303398" y="447402"/>
                </a:lnTo>
                <a:lnTo>
                  <a:pt x="260804" y="424595"/>
                </a:lnTo>
                <a:lnTo>
                  <a:pt x="220115" y="400120"/>
                </a:lnTo>
                <a:lnTo>
                  <a:pt x="181776" y="374247"/>
                </a:lnTo>
                <a:lnTo>
                  <a:pt x="146208" y="347258"/>
                </a:lnTo>
                <a:lnTo>
                  <a:pt x="113799" y="319449"/>
                </a:lnTo>
                <a:lnTo>
                  <a:pt x="84906" y="291124"/>
                </a:lnTo>
                <a:lnTo>
                  <a:pt x="59845" y="262595"/>
                </a:lnTo>
                <a:lnTo>
                  <a:pt x="38890" y="234174"/>
                </a:lnTo>
                <a:lnTo>
                  <a:pt x="22270" y="206171"/>
                </a:lnTo>
                <a:lnTo>
                  <a:pt x="10169" y="178894"/>
                </a:lnTo>
                <a:lnTo>
                  <a:pt x="2718" y="152642"/>
                </a:lnTo>
                <a:lnTo>
                  <a:pt x="0" y="127702"/>
                </a:lnTo>
                <a:lnTo>
                  <a:pt x="2044" y="104348"/>
                </a:lnTo>
                <a:lnTo>
                  <a:pt x="8827" y="82835"/>
                </a:lnTo>
                <a:lnTo>
                  <a:pt x="20275" y="63399"/>
                </a:lnTo>
                <a:lnTo>
                  <a:pt x="36263" y="46253"/>
                </a:lnTo>
                <a:lnTo>
                  <a:pt x="56616" y="31586"/>
                </a:lnTo>
                <a:lnTo>
                  <a:pt x="81111" y="19556"/>
                </a:lnTo>
                <a:lnTo>
                  <a:pt x="109479" y="10298"/>
                </a:lnTo>
                <a:lnTo>
                  <a:pt x="141409" y="3911"/>
                </a:lnTo>
                <a:lnTo>
                  <a:pt x="176552" y="466"/>
                </a:lnTo>
                <a:lnTo>
                  <a:pt x="214523" y="0"/>
                </a:lnTo>
                <a:lnTo>
                  <a:pt x="254906" y="2519"/>
                </a:lnTo>
                <a:lnTo>
                  <a:pt x="297257" y="7995"/>
                </a:lnTo>
                <a:lnTo>
                  <a:pt x="341114" y="16369"/>
                </a:lnTo>
                <a:lnTo>
                  <a:pt x="385995" y="27547"/>
                </a:lnTo>
                <a:lnTo>
                  <a:pt x="431410" y="41409"/>
                </a:lnTo>
                <a:lnTo>
                  <a:pt x="476859" y="57801"/>
                </a:lnTo>
                <a:lnTo>
                  <a:pt x="521847" y="76545"/>
                </a:lnTo>
                <a:lnTo>
                  <a:pt x="565878" y="97435"/>
                </a:lnTo>
                <a:lnTo>
                  <a:pt x="608472" y="120242"/>
                </a:lnTo>
                <a:lnTo>
                  <a:pt x="649161" y="144716"/>
                </a:lnTo>
                <a:lnTo>
                  <a:pt x="687500" y="170590"/>
                </a:lnTo>
                <a:lnTo>
                  <a:pt x="723069" y="197579"/>
                </a:lnTo>
                <a:lnTo>
                  <a:pt x="755477" y="225388"/>
                </a:lnTo>
                <a:lnTo>
                  <a:pt x="784370" y="253712"/>
                </a:lnTo>
                <a:lnTo>
                  <a:pt x="809432" y="282242"/>
                </a:lnTo>
                <a:lnTo>
                  <a:pt x="830387" y="310663"/>
                </a:lnTo>
                <a:lnTo>
                  <a:pt x="847006" y="338666"/>
                </a:lnTo>
                <a:lnTo>
                  <a:pt x="859107" y="365943"/>
                </a:lnTo>
                <a:lnTo>
                  <a:pt x="866558" y="392195"/>
                </a:lnTo>
                <a:lnTo>
                  <a:pt x="869276" y="417135"/>
                </a:lnTo>
                <a:lnTo>
                  <a:pt x="867233" y="440489"/>
                </a:lnTo>
                <a:close/>
              </a:path>
            </a:pathLst>
          </a:custGeom>
          <a:ln w="6350">
            <a:solidFill>
              <a:srgbClr val="4F7A43"/>
            </a:solidFill>
            <a:prstDash val="dash"/>
          </a:ln>
        </p:spPr>
      </p:sp>
      <p:sp>
        <p:nvSpPr>
          <p:cNvPr id="54" name="Shape 52"/>
          <p:cNvSpPr/>
          <p:nvPr/>
        </p:nvSpPr>
        <p:spPr>
          <a:xfrm>
            <a:off x="2987911" y="2531592"/>
            <a:ext cx="555371" cy="348090"/>
          </a:xfrm>
          <a:custGeom>
            <a:avLst/>
            <a:gdLst/>
            <a:ahLst/>
            <a:cxnLst/>
            <a:rect l="l" t="t" r="r" b="b"/>
            <a:pathLst>
              <a:path w="555371" h="348090">
                <a:moveTo>
                  <a:pt x="549732" y="295168"/>
                </a:moveTo>
                <a:lnTo>
                  <a:pt x="542417" y="307585"/>
                </a:lnTo>
                <a:lnTo>
                  <a:pt x="532203" y="318539"/>
                </a:lnTo>
                <a:lnTo>
                  <a:pt x="519200" y="327910"/>
                </a:lnTo>
                <a:lnTo>
                  <a:pt x="503550" y="335596"/>
                </a:lnTo>
                <a:lnTo>
                  <a:pt x="485426" y="341511"/>
                </a:lnTo>
                <a:lnTo>
                  <a:pt x="465026" y="345592"/>
                </a:lnTo>
                <a:lnTo>
                  <a:pt x="442574" y="347793"/>
                </a:lnTo>
                <a:lnTo>
                  <a:pt x="418315" y="348090"/>
                </a:lnTo>
                <a:lnTo>
                  <a:pt x="392515" y="346481"/>
                </a:lnTo>
                <a:lnTo>
                  <a:pt x="365457" y="342982"/>
                </a:lnTo>
                <a:lnTo>
                  <a:pt x="337437" y="337632"/>
                </a:lnTo>
                <a:lnTo>
                  <a:pt x="308763" y="330490"/>
                </a:lnTo>
                <a:lnTo>
                  <a:pt x="279748" y="321635"/>
                </a:lnTo>
                <a:lnTo>
                  <a:pt x="250711" y="311162"/>
                </a:lnTo>
                <a:lnTo>
                  <a:pt x="221969" y="299186"/>
                </a:lnTo>
                <a:lnTo>
                  <a:pt x="193838" y="285840"/>
                </a:lnTo>
                <a:lnTo>
                  <a:pt x="166625" y="271269"/>
                </a:lnTo>
                <a:lnTo>
                  <a:pt x="140629" y="255632"/>
                </a:lnTo>
                <a:lnTo>
                  <a:pt x="116135" y="239102"/>
                </a:lnTo>
                <a:lnTo>
                  <a:pt x="93410" y="221859"/>
                </a:lnTo>
                <a:lnTo>
                  <a:pt x="72705" y="204092"/>
                </a:lnTo>
                <a:lnTo>
                  <a:pt x="54246" y="185996"/>
                </a:lnTo>
                <a:lnTo>
                  <a:pt x="38234" y="167769"/>
                </a:lnTo>
                <a:lnTo>
                  <a:pt x="24846" y="149611"/>
                </a:lnTo>
                <a:lnTo>
                  <a:pt x="14228" y="131720"/>
                </a:lnTo>
                <a:lnTo>
                  <a:pt x="6497" y="114293"/>
                </a:lnTo>
                <a:lnTo>
                  <a:pt x="1737" y="97521"/>
                </a:lnTo>
                <a:lnTo>
                  <a:pt x="0" y="81587"/>
                </a:lnTo>
                <a:lnTo>
                  <a:pt x="1306" y="66667"/>
                </a:lnTo>
                <a:lnTo>
                  <a:pt x="5639" y="52922"/>
                </a:lnTo>
                <a:lnTo>
                  <a:pt x="12954" y="40505"/>
                </a:lnTo>
                <a:lnTo>
                  <a:pt x="23168" y="29551"/>
                </a:lnTo>
                <a:lnTo>
                  <a:pt x="36171" y="20180"/>
                </a:lnTo>
                <a:lnTo>
                  <a:pt x="51821" y="12494"/>
                </a:lnTo>
                <a:lnTo>
                  <a:pt x="69945" y="6579"/>
                </a:lnTo>
                <a:lnTo>
                  <a:pt x="90345" y="2498"/>
                </a:lnTo>
                <a:lnTo>
                  <a:pt x="112797" y="297"/>
                </a:lnTo>
                <a:lnTo>
                  <a:pt x="137056" y="0"/>
                </a:lnTo>
                <a:lnTo>
                  <a:pt x="162856" y="1609"/>
                </a:lnTo>
                <a:lnTo>
                  <a:pt x="189914" y="5108"/>
                </a:lnTo>
                <a:lnTo>
                  <a:pt x="217934" y="10458"/>
                </a:lnTo>
                <a:lnTo>
                  <a:pt x="246608" y="17600"/>
                </a:lnTo>
                <a:lnTo>
                  <a:pt x="275623" y="26456"/>
                </a:lnTo>
                <a:lnTo>
                  <a:pt x="304660" y="36929"/>
                </a:lnTo>
                <a:lnTo>
                  <a:pt x="333402" y="48904"/>
                </a:lnTo>
                <a:lnTo>
                  <a:pt x="361533" y="62250"/>
                </a:lnTo>
                <a:lnTo>
                  <a:pt x="388746" y="76821"/>
                </a:lnTo>
                <a:lnTo>
                  <a:pt x="414742" y="92458"/>
                </a:lnTo>
                <a:lnTo>
                  <a:pt x="439236" y="108988"/>
                </a:lnTo>
                <a:lnTo>
                  <a:pt x="461961" y="126231"/>
                </a:lnTo>
                <a:lnTo>
                  <a:pt x="482666" y="143998"/>
                </a:lnTo>
                <a:lnTo>
                  <a:pt x="501125" y="162094"/>
                </a:lnTo>
                <a:lnTo>
                  <a:pt x="517137" y="180321"/>
                </a:lnTo>
                <a:lnTo>
                  <a:pt x="530525" y="198479"/>
                </a:lnTo>
                <a:lnTo>
                  <a:pt x="541143" y="216370"/>
                </a:lnTo>
                <a:lnTo>
                  <a:pt x="548874" y="233797"/>
                </a:lnTo>
                <a:lnTo>
                  <a:pt x="553634" y="250569"/>
                </a:lnTo>
                <a:lnTo>
                  <a:pt x="555371" y="266503"/>
                </a:lnTo>
                <a:lnTo>
                  <a:pt x="554065" y="281424"/>
                </a:lnTo>
                <a:close/>
              </a:path>
            </a:pathLst>
          </a:custGeom>
          <a:ln w="6350">
            <a:solidFill>
              <a:srgbClr val="4F7A43"/>
            </a:solidFill>
            <a:prstDash val="dash"/>
          </a:ln>
        </p:spPr>
      </p:sp>
      <p:sp>
        <p:nvSpPr>
          <p:cNvPr id="55" name="Shape 53"/>
          <p:cNvSpPr/>
          <p:nvPr/>
        </p:nvSpPr>
        <p:spPr>
          <a:xfrm>
            <a:off x="3132791" y="2622398"/>
            <a:ext cx="265612" cy="166478"/>
          </a:xfrm>
          <a:custGeom>
            <a:avLst/>
            <a:gdLst/>
            <a:ahLst/>
            <a:cxnLst/>
            <a:rect l="l" t="t" r="r" b="b"/>
            <a:pathLst>
              <a:path w="265612" h="166478">
                <a:moveTo>
                  <a:pt x="262915" y="141167"/>
                </a:moveTo>
                <a:lnTo>
                  <a:pt x="259417" y="147106"/>
                </a:lnTo>
                <a:lnTo>
                  <a:pt x="254532" y="152345"/>
                </a:lnTo>
                <a:lnTo>
                  <a:pt x="248313" y="156827"/>
                </a:lnTo>
                <a:lnTo>
                  <a:pt x="240828" y="160502"/>
                </a:lnTo>
                <a:lnTo>
                  <a:pt x="232160" y="163331"/>
                </a:lnTo>
                <a:lnTo>
                  <a:pt x="222404" y="165283"/>
                </a:lnTo>
                <a:lnTo>
                  <a:pt x="211666" y="166336"/>
                </a:lnTo>
                <a:lnTo>
                  <a:pt x="200063" y="166478"/>
                </a:lnTo>
                <a:lnTo>
                  <a:pt x="187724" y="165708"/>
                </a:lnTo>
                <a:lnTo>
                  <a:pt x="174784" y="164035"/>
                </a:lnTo>
                <a:lnTo>
                  <a:pt x="161383" y="161476"/>
                </a:lnTo>
                <a:lnTo>
                  <a:pt x="147669" y="158061"/>
                </a:lnTo>
                <a:lnTo>
                  <a:pt x="133793" y="153825"/>
                </a:lnTo>
                <a:lnTo>
                  <a:pt x="119905" y="148816"/>
                </a:lnTo>
                <a:lnTo>
                  <a:pt x="106159" y="143089"/>
                </a:lnTo>
                <a:lnTo>
                  <a:pt x="92705" y="136706"/>
                </a:lnTo>
                <a:lnTo>
                  <a:pt x="79690" y="129737"/>
                </a:lnTo>
                <a:lnTo>
                  <a:pt x="67257" y="122259"/>
                </a:lnTo>
                <a:lnTo>
                  <a:pt x="55543" y="114353"/>
                </a:lnTo>
                <a:lnTo>
                  <a:pt x="44675" y="106107"/>
                </a:lnTo>
                <a:lnTo>
                  <a:pt x="34772" y="97609"/>
                </a:lnTo>
                <a:lnTo>
                  <a:pt x="25944" y="88955"/>
                </a:lnTo>
                <a:lnTo>
                  <a:pt x="18286" y="80237"/>
                </a:lnTo>
                <a:lnTo>
                  <a:pt x="11883" y="71553"/>
                </a:lnTo>
                <a:lnTo>
                  <a:pt x="6805" y="62997"/>
                </a:lnTo>
                <a:lnTo>
                  <a:pt x="3107" y="54662"/>
                </a:lnTo>
                <a:lnTo>
                  <a:pt x="831" y="46641"/>
                </a:lnTo>
                <a:lnTo>
                  <a:pt x="0" y="39020"/>
                </a:lnTo>
                <a:lnTo>
                  <a:pt x="624" y="31884"/>
                </a:lnTo>
                <a:lnTo>
                  <a:pt x="2697" y="25311"/>
                </a:lnTo>
                <a:lnTo>
                  <a:pt x="6195" y="19372"/>
                </a:lnTo>
                <a:lnTo>
                  <a:pt x="11080" y="14133"/>
                </a:lnTo>
                <a:lnTo>
                  <a:pt x="17299" y="9651"/>
                </a:lnTo>
                <a:lnTo>
                  <a:pt x="24784" y="5976"/>
                </a:lnTo>
                <a:lnTo>
                  <a:pt x="33452" y="3146"/>
                </a:lnTo>
                <a:lnTo>
                  <a:pt x="43208" y="1195"/>
                </a:lnTo>
                <a:lnTo>
                  <a:pt x="53947" y="142"/>
                </a:lnTo>
                <a:lnTo>
                  <a:pt x="65549" y="0"/>
                </a:lnTo>
                <a:lnTo>
                  <a:pt x="77888" y="770"/>
                </a:lnTo>
                <a:lnTo>
                  <a:pt x="90829" y="2443"/>
                </a:lnTo>
                <a:lnTo>
                  <a:pt x="104229" y="5002"/>
                </a:lnTo>
                <a:lnTo>
                  <a:pt x="117943" y="8417"/>
                </a:lnTo>
                <a:lnTo>
                  <a:pt x="131820" y="12653"/>
                </a:lnTo>
                <a:lnTo>
                  <a:pt x="145707" y="17661"/>
                </a:lnTo>
                <a:lnTo>
                  <a:pt x="159453" y="23389"/>
                </a:lnTo>
                <a:lnTo>
                  <a:pt x="172907" y="29772"/>
                </a:lnTo>
                <a:lnTo>
                  <a:pt x="185922" y="36741"/>
                </a:lnTo>
                <a:lnTo>
                  <a:pt x="198355" y="44219"/>
                </a:lnTo>
                <a:lnTo>
                  <a:pt x="210069" y="52125"/>
                </a:lnTo>
                <a:lnTo>
                  <a:pt x="220938" y="60371"/>
                </a:lnTo>
                <a:lnTo>
                  <a:pt x="230840" y="68869"/>
                </a:lnTo>
                <a:lnTo>
                  <a:pt x="239669" y="77523"/>
                </a:lnTo>
                <a:lnTo>
                  <a:pt x="247326" y="86240"/>
                </a:lnTo>
                <a:lnTo>
                  <a:pt x="253729" y="94925"/>
                </a:lnTo>
                <a:lnTo>
                  <a:pt x="258807" y="103481"/>
                </a:lnTo>
                <a:lnTo>
                  <a:pt x="262505" y="111816"/>
                </a:lnTo>
                <a:lnTo>
                  <a:pt x="264782" y="119837"/>
                </a:lnTo>
                <a:lnTo>
                  <a:pt x="265612" y="127458"/>
                </a:lnTo>
                <a:lnTo>
                  <a:pt x="264988" y="134594"/>
                </a:lnTo>
                <a:close/>
              </a:path>
            </a:pathLst>
          </a:custGeom>
          <a:ln w="6350">
            <a:solidFill>
              <a:srgbClr val="4F7A43"/>
            </a:solidFill>
            <a:prstDash val="dash"/>
          </a:ln>
        </p:spPr>
      </p:sp>
      <p:sp>
        <p:nvSpPr>
          <p:cNvPr id="56" name="Shape 54"/>
          <p:cNvSpPr/>
          <p:nvPr/>
        </p:nvSpPr>
        <p:spPr>
          <a:xfrm>
            <a:off x="2431574" y="2350604"/>
            <a:ext cx="1537653" cy="684607"/>
          </a:xfrm>
          <a:custGeom>
            <a:avLst/>
            <a:gdLst/>
            <a:ahLst/>
            <a:cxnLst/>
            <a:rect l="l" t="t" r="r" b="b"/>
            <a:pathLst>
              <a:path w="1537653" h="684607">
                <a:moveTo>
                  <a:pt x="0" y="0"/>
                </a:moveTo>
                <a:lnTo>
                  <a:pt x="1537653" y="684607"/>
                </a:lnTo>
              </a:path>
            </a:pathLst>
          </a:custGeom>
          <a:ln w="31750">
            <a:solidFill>
              <a:srgbClr val="C4262E"/>
            </a:solidFill>
            <a:prstDash val="solid"/>
            <a:headEnd type="triangle"/>
            <a:tailEnd type="triangle"/>
          </a:ln>
        </p:spPr>
      </p:sp>
      <p:sp>
        <p:nvSpPr>
          <p:cNvPr id="57" name="Shape 55"/>
          <p:cNvSpPr/>
          <p:nvPr/>
        </p:nvSpPr>
        <p:spPr>
          <a:xfrm>
            <a:off x="3017633" y="2260692"/>
            <a:ext cx="401161" cy="877598"/>
          </a:xfrm>
          <a:custGeom>
            <a:avLst/>
            <a:gdLst/>
            <a:ahLst/>
            <a:cxnLst/>
            <a:rect l="l" t="t" r="r" b="b"/>
            <a:pathLst>
              <a:path w="401161" h="877598">
                <a:moveTo>
                  <a:pt x="127179" y="0"/>
                </a:moveTo>
                <a:lnTo>
                  <a:pt x="0" y="285649"/>
                </a:lnTo>
                <a:lnTo>
                  <a:pt x="401161" y="578348"/>
                </a:lnTo>
                <a:lnTo>
                  <a:pt x="267926" y="877598"/>
                </a:lnTo>
              </a:path>
            </a:pathLst>
          </a:custGeom>
          <a:ln w="31750">
            <a:solidFill>
              <a:srgbClr val="1B1B1B"/>
            </a:solidFill>
            <a:prstDash val="solid"/>
            <a:tailEnd type="triangle"/>
          </a:ln>
        </p:spPr>
      </p:sp>
      <p:sp>
        <p:nvSpPr>
          <p:cNvPr id="58" name="Shape 56"/>
          <p:cNvSpPr/>
          <p:nvPr/>
        </p:nvSpPr>
        <p:spPr>
          <a:xfrm>
            <a:off x="2901968" y="2509309"/>
            <a:ext cx="182880" cy="182880"/>
          </a:xfrm>
          <a:prstGeom prst="ellipse">
            <a:avLst/>
          </a:prstGeom>
          <a:solidFill>
            <a:srgbClr val="FFFFFF"/>
          </a:solidFill>
          <a:ln w="19050">
            <a:solidFill>
              <a:srgbClr val="1B1B1B"/>
            </a:solidFill>
            <a:prstDash val="solid"/>
          </a:ln>
        </p:spPr>
      </p:sp>
      <p:sp>
        <p:nvSpPr>
          <p:cNvPr id="59" name="Shape 57"/>
          <p:cNvSpPr/>
          <p:nvPr/>
        </p:nvSpPr>
        <p:spPr>
          <a:xfrm>
            <a:off x="3345522" y="2706792"/>
            <a:ext cx="182880" cy="182880"/>
          </a:xfrm>
          <a:prstGeom prst="ellipse">
            <a:avLst/>
          </a:prstGeom>
          <a:solidFill>
            <a:srgbClr val="FFFFFF"/>
          </a:solidFill>
          <a:ln w="19050">
            <a:solidFill>
              <a:srgbClr val="1B1B1B"/>
            </a:solidFill>
            <a:prstDash val="solid"/>
          </a:ln>
        </p:spPr>
      </p:sp>
      <p:sp>
        <p:nvSpPr>
          <p:cNvPr id="60" name="Shape 58"/>
          <p:cNvSpPr/>
          <p:nvPr/>
        </p:nvSpPr>
        <p:spPr>
          <a:xfrm>
            <a:off x="410565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61" name="Shape 59"/>
          <p:cNvSpPr/>
          <p:nvPr/>
        </p:nvSpPr>
        <p:spPr>
          <a:xfrm>
            <a:off x="4206240" y="1627632"/>
            <a:ext cx="1828800" cy="1920240"/>
          </a:xfrm>
          <a:prstGeom prst="rect">
            <a:avLst/>
          </a:prstGeom>
          <a:solidFill>
            <a:srgbClr val="FFFFFF"/>
          </a:solidFill>
          <a:ln w="6350">
            <a:solidFill>
              <a:srgbClr val="D9D9D9"/>
            </a:solidFill>
            <a:prstDash val="solid"/>
          </a:ln>
        </p:spPr>
      </p:sp>
      <p:sp>
        <p:nvSpPr>
          <p:cNvPr id="62" name="Text 60"/>
          <p:cNvSpPr txBox="1"/>
          <p:nvPr/>
        </p:nvSpPr>
        <p:spPr>
          <a:xfrm>
            <a:off x="427939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03  </a:t>
            </a:r>
            <a:pPr indent="0" marL="0">
              <a:buNone/>
            </a:pPr>
            <a:r>
              <a:rPr lang="en-US" sz="750" b="1" spc="50" kern="0" dirty="0">
                <a:solidFill>
                  <a:srgbClr val="1B1B1B"/>
                </a:solidFill>
                <a:latin typeface="Arial" pitchFamily="34" charset="0"/>
                <a:ea typeface="Arial" pitchFamily="34" charset="-122"/>
                <a:cs typeface="Arial" pitchFamily="34" charset="-120"/>
              </a:rPr>
              <a:t>PROGRAM</a:t>
            </a:r>
            <a:endParaRPr lang="en-US" sz="750" dirty="0"/>
          </a:p>
        </p:txBody>
      </p:sp>
      <p:sp>
        <p:nvSpPr>
          <p:cNvPr id="63" name="Shape 61"/>
          <p:cNvSpPr/>
          <p:nvPr/>
        </p:nvSpPr>
        <p:spPr>
          <a:xfrm>
            <a:off x="439624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64" name="Shape 62"/>
          <p:cNvSpPr/>
          <p:nvPr/>
        </p:nvSpPr>
        <p:spPr>
          <a:xfrm>
            <a:off x="426110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65" name="Shape 63"/>
          <p:cNvSpPr/>
          <p:nvPr/>
        </p:nvSpPr>
        <p:spPr>
          <a:xfrm>
            <a:off x="583032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66" name="Shape 64"/>
          <p:cNvSpPr/>
          <p:nvPr/>
        </p:nvSpPr>
        <p:spPr>
          <a:xfrm>
            <a:off x="451697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67" name="Shape 65"/>
          <p:cNvSpPr/>
          <p:nvPr/>
        </p:nvSpPr>
        <p:spPr>
          <a:xfrm>
            <a:off x="4410954" y="2376935"/>
            <a:ext cx="1419372" cy="631945"/>
          </a:xfrm>
          <a:custGeom>
            <a:avLst/>
            <a:gdLst/>
            <a:ahLst/>
            <a:cxnLst/>
            <a:rect l="l" t="t" r="r" b="b"/>
            <a:pathLst>
              <a:path w="1419372" h="631945">
                <a:moveTo>
                  <a:pt x="0" y="0"/>
                </a:moveTo>
                <a:lnTo>
                  <a:pt x="1419372" y="631945"/>
                </a:lnTo>
              </a:path>
            </a:pathLst>
          </a:custGeom>
          <a:ln w="63500">
            <a:solidFill>
              <a:srgbClr val="C4262E"/>
            </a:solidFill>
            <a:prstDash val="solid"/>
          </a:ln>
        </p:spPr>
      </p:sp>
      <p:sp>
        <p:nvSpPr>
          <p:cNvPr id="68" name="Shape 66"/>
          <p:cNvSpPr/>
          <p:nvPr/>
        </p:nvSpPr>
        <p:spPr>
          <a:xfrm>
            <a:off x="4937873" y="2260692"/>
            <a:ext cx="401161" cy="877598"/>
          </a:xfrm>
          <a:custGeom>
            <a:avLst/>
            <a:gdLst/>
            <a:ahLst/>
            <a:cxnLst/>
            <a:rect l="l" t="t" r="r" b="b"/>
            <a:pathLst>
              <a:path w="401161" h="877598">
                <a:moveTo>
                  <a:pt x="127179" y="0"/>
                </a:moveTo>
                <a:lnTo>
                  <a:pt x="0" y="285649"/>
                </a:lnTo>
                <a:lnTo>
                  <a:pt x="401161" y="578348"/>
                </a:lnTo>
                <a:lnTo>
                  <a:pt x="267926" y="877598"/>
                </a:lnTo>
              </a:path>
            </a:pathLst>
          </a:custGeom>
          <a:ln w="63500">
            <a:solidFill>
              <a:srgbClr val="1B1B1B"/>
            </a:solidFill>
            <a:prstDash val="solid"/>
          </a:ln>
        </p:spPr>
      </p:sp>
      <p:sp>
        <p:nvSpPr>
          <p:cNvPr id="69" name="Shape 67"/>
          <p:cNvSpPr/>
          <p:nvPr/>
        </p:nvSpPr>
        <p:spPr>
          <a:xfrm>
            <a:off x="4813064" y="2500165"/>
            <a:ext cx="201168" cy="201168"/>
          </a:xfrm>
          <a:prstGeom prst="ellipse">
            <a:avLst/>
          </a:prstGeom>
          <a:solidFill>
            <a:srgbClr val="F0B9BC"/>
          </a:solidFill>
          <a:ln w="9525">
            <a:solidFill>
              <a:srgbClr val="1B1B1B"/>
            </a:solidFill>
            <a:prstDash val="solid"/>
          </a:ln>
        </p:spPr>
      </p:sp>
      <p:sp>
        <p:nvSpPr>
          <p:cNvPr id="70" name="Shape 68"/>
          <p:cNvSpPr/>
          <p:nvPr/>
        </p:nvSpPr>
        <p:spPr>
          <a:xfrm>
            <a:off x="4639328" y="2710477"/>
            <a:ext cx="548640" cy="146304"/>
          </a:xfrm>
          <a:prstGeom prst="rect">
            <a:avLst/>
          </a:prstGeom>
          <a:solidFill>
            <a:srgbClr val="FFFFFF"/>
          </a:solidFill>
          <a:ln/>
        </p:spPr>
      </p:sp>
      <p:sp>
        <p:nvSpPr>
          <p:cNvPr id="71" name="Text 69"/>
          <p:cNvSpPr txBox="1"/>
          <p:nvPr/>
        </p:nvSpPr>
        <p:spPr>
          <a:xfrm>
            <a:off x="4639328" y="2710477"/>
            <a:ext cx="548640"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FORUM</a:t>
            </a:r>
            <a:endParaRPr lang="en-US" sz="550" dirty="0"/>
          </a:p>
        </p:txBody>
      </p:sp>
      <p:sp>
        <p:nvSpPr>
          <p:cNvPr id="72" name="Shape 70"/>
          <p:cNvSpPr/>
          <p:nvPr/>
        </p:nvSpPr>
        <p:spPr>
          <a:xfrm>
            <a:off x="5256618" y="2697648"/>
            <a:ext cx="201168" cy="201168"/>
          </a:xfrm>
          <a:prstGeom prst="ellipse">
            <a:avLst/>
          </a:prstGeom>
          <a:solidFill>
            <a:srgbClr val="F0B9BC"/>
          </a:solidFill>
          <a:ln w="9525">
            <a:solidFill>
              <a:srgbClr val="1B1B1B"/>
            </a:solidFill>
            <a:prstDash val="solid"/>
          </a:ln>
        </p:spPr>
      </p:sp>
      <p:sp>
        <p:nvSpPr>
          <p:cNvPr id="73" name="Shape 71"/>
          <p:cNvSpPr/>
          <p:nvPr/>
        </p:nvSpPr>
        <p:spPr>
          <a:xfrm>
            <a:off x="5082882" y="2907960"/>
            <a:ext cx="548640" cy="146304"/>
          </a:xfrm>
          <a:prstGeom prst="rect">
            <a:avLst/>
          </a:prstGeom>
          <a:solidFill>
            <a:srgbClr val="FFFFFF"/>
          </a:solidFill>
          <a:ln/>
        </p:spPr>
      </p:sp>
      <p:sp>
        <p:nvSpPr>
          <p:cNvPr id="74" name="Text 72"/>
          <p:cNvSpPr txBox="1"/>
          <p:nvPr/>
        </p:nvSpPr>
        <p:spPr>
          <a:xfrm>
            <a:off x="5082882" y="2907960"/>
            <a:ext cx="548640"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READING RM</a:t>
            </a:r>
            <a:endParaRPr lang="en-US" sz="550" dirty="0"/>
          </a:p>
        </p:txBody>
      </p:sp>
      <p:sp>
        <p:nvSpPr>
          <p:cNvPr id="75" name="Shape 73"/>
          <p:cNvSpPr/>
          <p:nvPr/>
        </p:nvSpPr>
        <p:spPr>
          <a:xfrm>
            <a:off x="4364052" y="2290236"/>
            <a:ext cx="566928" cy="146304"/>
          </a:xfrm>
          <a:prstGeom prst="rect">
            <a:avLst/>
          </a:prstGeom>
          <a:solidFill>
            <a:srgbClr val="FFFFFF"/>
          </a:solidFill>
          <a:ln/>
        </p:spPr>
      </p:sp>
      <p:sp>
        <p:nvSpPr>
          <p:cNvPr id="76" name="Text 74"/>
          <p:cNvSpPr txBox="1"/>
          <p:nvPr/>
        </p:nvSpPr>
        <p:spPr>
          <a:xfrm>
            <a:off x="4364052" y="2290236"/>
            <a:ext cx="566928" cy="146304"/>
          </a:xfrm>
          <a:prstGeom prst="rect">
            <a:avLst/>
          </a:prstGeom>
          <a:noFill/>
          <a:ln/>
        </p:spPr>
        <p:txBody>
          <a:bodyPr wrap="square" lIns="0" tIns="0" rIns="0" bIns="0" rtlCol="0" anchor="ctr"/>
          <a:lstStyle/>
          <a:p>
            <a:pPr algn="ctr" indent="0" marL="0">
              <a:buNone/>
            </a:pPr>
            <a:r>
              <a:rPr lang="en-US" sz="550" b="1" dirty="0">
                <a:solidFill>
                  <a:srgbClr val="C4262E"/>
                </a:solidFill>
                <a:latin typeface="Arial" pitchFamily="34" charset="0"/>
                <a:ea typeface="Arial" pitchFamily="34" charset="-122"/>
                <a:cs typeface="Arial" pitchFamily="34" charset="-120"/>
              </a:rPr>
              <a:t>EXHIBITION</a:t>
            </a:r>
            <a:endParaRPr lang="en-US" sz="550" dirty="0"/>
          </a:p>
        </p:txBody>
      </p:sp>
      <p:sp>
        <p:nvSpPr>
          <p:cNvPr id="77" name="Shape 75"/>
          <p:cNvSpPr/>
          <p:nvPr/>
        </p:nvSpPr>
        <p:spPr>
          <a:xfrm>
            <a:off x="5476735" y="2751029"/>
            <a:ext cx="411480" cy="146304"/>
          </a:xfrm>
          <a:prstGeom prst="rect">
            <a:avLst/>
          </a:prstGeom>
          <a:solidFill>
            <a:srgbClr val="FFFFFF"/>
          </a:solidFill>
          <a:ln/>
        </p:spPr>
      </p:sp>
      <p:sp>
        <p:nvSpPr>
          <p:cNvPr id="78" name="Text 76"/>
          <p:cNvSpPr txBox="1"/>
          <p:nvPr/>
        </p:nvSpPr>
        <p:spPr>
          <a:xfrm>
            <a:off x="5476735" y="2751029"/>
            <a:ext cx="411480" cy="146304"/>
          </a:xfrm>
          <a:prstGeom prst="rect">
            <a:avLst/>
          </a:prstGeom>
          <a:noFill/>
          <a:ln/>
        </p:spPr>
        <p:txBody>
          <a:bodyPr wrap="square" lIns="0" tIns="0" rIns="0" bIns="0" rtlCol="0" anchor="ctr"/>
          <a:lstStyle/>
          <a:p>
            <a:pPr algn="ctr" indent="0" marL="0">
              <a:buNone/>
            </a:pPr>
            <a:r>
              <a:rPr lang="en-US" sz="550" b="1" dirty="0">
                <a:solidFill>
                  <a:srgbClr val="C4262E"/>
                </a:solidFill>
                <a:latin typeface="Arial" pitchFamily="34" charset="0"/>
                <a:ea typeface="Arial" pitchFamily="34" charset="-122"/>
                <a:cs typeface="Arial" pitchFamily="34" charset="-120"/>
              </a:rPr>
              <a:t>LIBRARY</a:t>
            </a:r>
            <a:endParaRPr lang="en-US" sz="550" dirty="0"/>
          </a:p>
        </p:txBody>
      </p:sp>
      <p:sp>
        <p:nvSpPr>
          <p:cNvPr id="79" name="Shape 77"/>
          <p:cNvSpPr/>
          <p:nvPr/>
        </p:nvSpPr>
        <p:spPr>
          <a:xfrm>
            <a:off x="4798750" y="2323563"/>
            <a:ext cx="411480" cy="146304"/>
          </a:xfrm>
          <a:prstGeom prst="rect">
            <a:avLst/>
          </a:prstGeom>
          <a:solidFill>
            <a:srgbClr val="FFFFFF"/>
          </a:solidFill>
          <a:ln/>
        </p:spPr>
      </p:sp>
      <p:sp>
        <p:nvSpPr>
          <p:cNvPr id="80" name="Text 78"/>
          <p:cNvSpPr txBox="1"/>
          <p:nvPr/>
        </p:nvSpPr>
        <p:spPr>
          <a:xfrm>
            <a:off x="4798750" y="2323563"/>
            <a:ext cx="411480"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STUDIOS</a:t>
            </a:r>
            <a:endParaRPr lang="en-US" sz="550" dirty="0"/>
          </a:p>
        </p:txBody>
      </p:sp>
      <p:sp>
        <p:nvSpPr>
          <p:cNvPr id="81" name="Shape 79"/>
          <p:cNvSpPr/>
          <p:nvPr/>
        </p:nvSpPr>
        <p:spPr>
          <a:xfrm>
            <a:off x="4917404" y="2942717"/>
            <a:ext cx="685800" cy="146304"/>
          </a:xfrm>
          <a:prstGeom prst="rect">
            <a:avLst/>
          </a:prstGeom>
          <a:solidFill>
            <a:srgbClr val="FFFFFF"/>
          </a:solidFill>
          <a:ln/>
        </p:spPr>
      </p:sp>
      <p:sp>
        <p:nvSpPr>
          <p:cNvPr id="82" name="Text 80"/>
          <p:cNvSpPr txBox="1"/>
          <p:nvPr/>
        </p:nvSpPr>
        <p:spPr>
          <a:xfrm>
            <a:off x="4917404" y="2942717"/>
            <a:ext cx="685800"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MEDIA · ARCHIVE</a:t>
            </a:r>
            <a:endParaRPr lang="en-US" sz="550" dirty="0"/>
          </a:p>
        </p:txBody>
      </p:sp>
      <p:sp>
        <p:nvSpPr>
          <p:cNvPr id="83" name="Shape 81"/>
          <p:cNvSpPr/>
          <p:nvPr/>
        </p:nvSpPr>
        <p:spPr>
          <a:xfrm>
            <a:off x="602589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84" name="Shape 82"/>
          <p:cNvSpPr/>
          <p:nvPr/>
        </p:nvSpPr>
        <p:spPr>
          <a:xfrm>
            <a:off x="6126480" y="1627632"/>
            <a:ext cx="1828800" cy="1920240"/>
          </a:xfrm>
          <a:prstGeom prst="rect">
            <a:avLst/>
          </a:prstGeom>
          <a:solidFill>
            <a:srgbClr val="FFFFFF"/>
          </a:solidFill>
          <a:ln w="6350">
            <a:solidFill>
              <a:srgbClr val="D9D9D9"/>
            </a:solidFill>
            <a:prstDash val="solid"/>
          </a:ln>
        </p:spPr>
      </p:sp>
      <p:sp>
        <p:nvSpPr>
          <p:cNvPr id="85" name="Text 83"/>
          <p:cNvSpPr txBox="1"/>
          <p:nvPr/>
        </p:nvSpPr>
        <p:spPr>
          <a:xfrm>
            <a:off x="619963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04  </a:t>
            </a:r>
            <a:pPr indent="0" marL="0">
              <a:buNone/>
            </a:pPr>
            <a:r>
              <a:rPr lang="en-US" sz="750" b="1" spc="50" kern="0" dirty="0">
                <a:solidFill>
                  <a:srgbClr val="1B1B1B"/>
                </a:solidFill>
                <a:latin typeface="Arial" pitchFamily="34" charset="0"/>
                <a:ea typeface="Arial" pitchFamily="34" charset="-122"/>
                <a:cs typeface="Arial" pitchFamily="34" charset="-120"/>
              </a:rPr>
              <a:t>ZONING</a:t>
            </a:r>
            <a:endParaRPr lang="en-US" sz="750" dirty="0"/>
          </a:p>
        </p:txBody>
      </p:sp>
      <p:sp>
        <p:nvSpPr>
          <p:cNvPr id="86" name="Shape 84"/>
          <p:cNvSpPr/>
          <p:nvPr/>
        </p:nvSpPr>
        <p:spPr>
          <a:xfrm>
            <a:off x="6227064" y="2583180"/>
            <a:ext cx="1627632" cy="219456"/>
          </a:xfrm>
          <a:prstGeom prst="rect">
            <a:avLst/>
          </a:prstGeom>
          <a:solidFill>
            <a:srgbClr val="C4262E"/>
          </a:solidFill>
          <a:ln/>
        </p:spPr>
      </p:sp>
      <p:sp>
        <p:nvSpPr>
          <p:cNvPr id="87" name="Text 85"/>
          <p:cNvSpPr txBox="1"/>
          <p:nvPr/>
        </p:nvSpPr>
        <p:spPr>
          <a:xfrm>
            <a:off x="6056620" y="2427732"/>
            <a:ext cx="731520" cy="146304"/>
          </a:xfrm>
          <a:prstGeom prst="rect">
            <a:avLst/>
          </a:prstGeom>
          <a:noFill/>
          <a:ln/>
        </p:spPr>
        <p:txBody>
          <a:bodyPr wrap="square" lIns="0" tIns="0" rIns="0" bIns="0" rtlCol="0" anchor="ctr"/>
          <a:lstStyle/>
          <a:p>
            <a:pPr algn="ctr" indent="0" marL="0">
              <a:buNone/>
            </a:pPr>
            <a:r>
              <a:rPr lang="en-US" sz="550" b="1" dirty="0">
                <a:solidFill>
                  <a:srgbClr val="C4262E"/>
                </a:solidFill>
                <a:latin typeface="Arial" pitchFamily="34" charset="0"/>
                <a:ea typeface="Arial" pitchFamily="34" charset="-122"/>
                <a:cs typeface="Arial" pitchFamily="34" charset="-120"/>
              </a:rPr>
              <a:t>PUBLIC LINE</a:t>
            </a:r>
            <a:endParaRPr lang="en-US" sz="550" dirty="0"/>
          </a:p>
        </p:txBody>
      </p:sp>
      <p:sp>
        <p:nvSpPr>
          <p:cNvPr id="88" name="Shape 86"/>
          <p:cNvSpPr/>
          <p:nvPr/>
        </p:nvSpPr>
        <p:spPr>
          <a:xfrm>
            <a:off x="6687007" y="1920240"/>
            <a:ext cx="219456" cy="1545336"/>
          </a:xfrm>
          <a:prstGeom prst="rect">
            <a:avLst/>
          </a:prstGeom>
          <a:solidFill>
            <a:srgbClr val="9A9A9A"/>
          </a:solidFill>
          <a:ln/>
        </p:spPr>
      </p:sp>
      <p:sp>
        <p:nvSpPr>
          <p:cNvPr id="89" name="Shape 87"/>
          <p:cNvSpPr/>
          <p:nvPr/>
        </p:nvSpPr>
        <p:spPr>
          <a:xfrm>
            <a:off x="6613855" y="2510028"/>
            <a:ext cx="365760" cy="365760"/>
          </a:xfrm>
          <a:prstGeom prst="rect">
            <a:avLst/>
          </a:prstGeom>
          <a:solidFill>
            <a:srgbClr val="F0B9BC"/>
          </a:solidFill>
          <a:ln w="9525">
            <a:solidFill>
              <a:srgbClr val="1B1B1B"/>
            </a:solidFill>
            <a:prstDash val="solid"/>
          </a:ln>
        </p:spPr>
      </p:sp>
      <p:sp>
        <p:nvSpPr>
          <p:cNvPr id="90" name="Shape 88"/>
          <p:cNvSpPr/>
          <p:nvPr/>
        </p:nvSpPr>
        <p:spPr>
          <a:xfrm>
            <a:off x="7224126" y="1920240"/>
            <a:ext cx="219456" cy="1545336"/>
          </a:xfrm>
          <a:prstGeom prst="rect">
            <a:avLst/>
          </a:prstGeom>
          <a:solidFill>
            <a:srgbClr val="9A9A9A"/>
          </a:solidFill>
          <a:ln/>
        </p:spPr>
      </p:sp>
      <p:sp>
        <p:nvSpPr>
          <p:cNvPr id="91" name="Shape 89"/>
          <p:cNvSpPr/>
          <p:nvPr/>
        </p:nvSpPr>
        <p:spPr>
          <a:xfrm>
            <a:off x="7150974" y="2510028"/>
            <a:ext cx="365760" cy="365760"/>
          </a:xfrm>
          <a:prstGeom prst="rect">
            <a:avLst/>
          </a:prstGeom>
          <a:solidFill>
            <a:srgbClr val="F0B9BC"/>
          </a:solidFill>
          <a:ln w="9525">
            <a:solidFill>
              <a:srgbClr val="1B1B1B"/>
            </a:solidFill>
            <a:prstDash val="solid"/>
          </a:ln>
        </p:spPr>
      </p:sp>
      <p:sp>
        <p:nvSpPr>
          <p:cNvPr id="92" name="Text 90"/>
          <p:cNvSpPr txBox="1"/>
          <p:nvPr/>
        </p:nvSpPr>
        <p:spPr>
          <a:xfrm>
            <a:off x="6613855" y="2628900"/>
            <a:ext cx="365760" cy="146304"/>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SHARED</a:t>
            </a:r>
            <a:endParaRPr lang="en-US" sz="500" dirty="0"/>
          </a:p>
        </p:txBody>
      </p:sp>
      <p:sp>
        <p:nvSpPr>
          <p:cNvPr id="93" name="Text 91"/>
          <p:cNvSpPr txBox="1"/>
          <p:nvPr/>
        </p:nvSpPr>
        <p:spPr>
          <a:xfrm>
            <a:off x="7150974" y="2628900"/>
            <a:ext cx="365760" cy="146304"/>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SHARED</a:t>
            </a:r>
            <a:endParaRPr lang="en-US" sz="500" dirty="0"/>
          </a:p>
        </p:txBody>
      </p:sp>
      <p:sp>
        <p:nvSpPr>
          <p:cNvPr id="94" name="Text 92"/>
          <p:cNvSpPr txBox="1"/>
          <p:nvPr/>
        </p:nvSpPr>
        <p:spPr>
          <a:xfrm>
            <a:off x="6707673" y="1947672"/>
            <a:ext cx="731520" cy="146304"/>
          </a:xfrm>
          <a:prstGeom prst="rect">
            <a:avLst/>
          </a:prstGeom>
          <a:noFill/>
          <a:ln/>
        </p:spPr>
        <p:txBody>
          <a:bodyPr wrap="square" lIns="0" tIns="0" rIns="0" bIns="0" rtlCol="0" anchor="ctr"/>
          <a:lstStyle/>
          <a:p>
            <a:pPr algn="ctr" indent="0" marL="0">
              <a:buNone/>
            </a:pPr>
            <a:r>
              <a:rPr lang="en-US" sz="550" b="1" dirty="0">
                <a:solidFill>
                  <a:srgbClr val="6B6B6B"/>
                </a:solidFill>
                <a:latin typeface="Arial" pitchFamily="34" charset="0"/>
                <a:ea typeface="Arial" pitchFamily="34" charset="-122"/>
                <a:cs typeface="Arial" pitchFamily="34" charset="-120"/>
              </a:rPr>
              <a:t>WORKING LINE</a:t>
            </a:r>
            <a:endParaRPr lang="en-US" sz="550" dirty="0"/>
          </a:p>
        </p:txBody>
      </p:sp>
      <p:sp>
        <p:nvSpPr>
          <p:cNvPr id="95" name="Shape 93"/>
          <p:cNvSpPr/>
          <p:nvPr/>
        </p:nvSpPr>
        <p:spPr>
          <a:xfrm>
            <a:off x="794613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96" name="Shape 94"/>
          <p:cNvSpPr/>
          <p:nvPr/>
        </p:nvSpPr>
        <p:spPr>
          <a:xfrm>
            <a:off x="8046720" y="1627632"/>
            <a:ext cx="1828800" cy="1920240"/>
          </a:xfrm>
          <a:prstGeom prst="rect">
            <a:avLst/>
          </a:prstGeom>
          <a:solidFill>
            <a:srgbClr val="FFFFFF"/>
          </a:solidFill>
          <a:ln w="6350">
            <a:solidFill>
              <a:srgbClr val="D9D9D9"/>
            </a:solidFill>
            <a:prstDash val="solid"/>
          </a:ln>
        </p:spPr>
      </p:sp>
      <p:sp>
        <p:nvSpPr>
          <p:cNvPr id="97" name="Text 95"/>
          <p:cNvSpPr txBox="1"/>
          <p:nvPr/>
        </p:nvSpPr>
        <p:spPr>
          <a:xfrm>
            <a:off x="811987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05  </a:t>
            </a:r>
            <a:pPr indent="0" marL="0">
              <a:buNone/>
            </a:pPr>
            <a:r>
              <a:rPr lang="en-US" sz="750" b="1" spc="50" kern="0" dirty="0">
                <a:solidFill>
                  <a:srgbClr val="1B1B1B"/>
                </a:solidFill>
                <a:latin typeface="Arial" pitchFamily="34" charset="0"/>
                <a:ea typeface="Arial" pitchFamily="34" charset="-122"/>
                <a:cs typeface="Arial" pitchFamily="34" charset="-120"/>
              </a:rPr>
              <a:t>MASSING</a:t>
            </a:r>
            <a:endParaRPr lang="en-US" sz="750" dirty="0"/>
          </a:p>
        </p:txBody>
      </p:sp>
      <p:sp>
        <p:nvSpPr>
          <p:cNvPr id="98" name="Shape 96"/>
          <p:cNvSpPr/>
          <p:nvPr/>
        </p:nvSpPr>
        <p:spPr>
          <a:xfrm>
            <a:off x="8236723" y="2238877"/>
            <a:ext cx="1448794" cy="908061"/>
          </a:xfrm>
          <a:custGeom>
            <a:avLst/>
            <a:gdLst/>
            <a:ahLst/>
            <a:cxnLst/>
            <a:rect l="l" t="t" r="r" b="b"/>
            <a:pathLst>
              <a:path w="1448794" h="908061">
                <a:moveTo>
                  <a:pt x="1434083" y="770003"/>
                </a:moveTo>
                <a:lnTo>
                  <a:pt x="1415002" y="802396"/>
                </a:lnTo>
                <a:lnTo>
                  <a:pt x="1388355" y="830972"/>
                </a:lnTo>
                <a:lnTo>
                  <a:pt x="1354434" y="855419"/>
                </a:lnTo>
                <a:lnTo>
                  <a:pt x="1313609" y="875467"/>
                </a:lnTo>
                <a:lnTo>
                  <a:pt x="1266329" y="890899"/>
                </a:lnTo>
                <a:lnTo>
                  <a:pt x="1213112" y="901543"/>
                </a:lnTo>
                <a:lnTo>
                  <a:pt x="1154540" y="907285"/>
                </a:lnTo>
                <a:lnTo>
                  <a:pt x="1091255" y="908061"/>
                </a:lnTo>
                <a:lnTo>
                  <a:pt x="1023951" y="903863"/>
                </a:lnTo>
                <a:lnTo>
                  <a:pt x="953365" y="894736"/>
                </a:lnTo>
                <a:lnTo>
                  <a:pt x="880271" y="880780"/>
                </a:lnTo>
                <a:lnTo>
                  <a:pt x="805468" y="862149"/>
                </a:lnTo>
                <a:lnTo>
                  <a:pt x="729778" y="839047"/>
                </a:lnTo>
                <a:lnTo>
                  <a:pt x="654028" y="811726"/>
                </a:lnTo>
                <a:lnTo>
                  <a:pt x="579050" y="780486"/>
                </a:lnTo>
                <a:lnTo>
                  <a:pt x="505663" y="745670"/>
                </a:lnTo>
                <a:lnTo>
                  <a:pt x="434674" y="707658"/>
                </a:lnTo>
                <a:lnTo>
                  <a:pt x="366858" y="666867"/>
                </a:lnTo>
                <a:lnTo>
                  <a:pt x="302960" y="623745"/>
                </a:lnTo>
                <a:lnTo>
                  <a:pt x="243680" y="578763"/>
                </a:lnTo>
                <a:lnTo>
                  <a:pt x="189666" y="532415"/>
                </a:lnTo>
                <a:lnTo>
                  <a:pt x="141510" y="485207"/>
                </a:lnTo>
                <a:lnTo>
                  <a:pt x="99741" y="437659"/>
                </a:lnTo>
                <a:lnTo>
                  <a:pt x="64816" y="390289"/>
                </a:lnTo>
                <a:lnTo>
                  <a:pt x="37117" y="343618"/>
                </a:lnTo>
                <a:lnTo>
                  <a:pt x="16949" y="298157"/>
                </a:lnTo>
                <a:lnTo>
                  <a:pt x="4531" y="254403"/>
                </a:lnTo>
                <a:lnTo>
                  <a:pt x="0" y="212837"/>
                </a:lnTo>
                <a:lnTo>
                  <a:pt x="3406" y="173913"/>
                </a:lnTo>
                <a:lnTo>
                  <a:pt x="14711" y="138058"/>
                </a:lnTo>
                <a:lnTo>
                  <a:pt x="33792" y="105665"/>
                </a:lnTo>
                <a:lnTo>
                  <a:pt x="60439" y="77089"/>
                </a:lnTo>
                <a:lnTo>
                  <a:pt x="94360" y="52643"/>
                </a:lnTo>
                <a:lnTo>
                  <a:pt x="135185" y="32594"/>
                </a:lnTo>
                <a:lnTo>
                  <a:pt x="182465" y="17163"/>
                </a:lnTo>
                <a:lnTo>
                  <a:pt x="235682" y="6518"/>
                </a:lnTo>
                <a:lnTo>
                  <a:pt x="294254" y="776"/>
                </a:lnTo>
                <a:lnTo>
                  <a:pt x="357539" y="0"/>
                </a:lnTo>
                <a:lnTo>
                  <a:pt x="424843" y="4199"/>
                </a:lnTo>
                <a:lnTo>
                  <a:pt x="495429" y="13326"/>
                </a:lnTo>
                <a:lnTo>
                  <a:pt x="568523" y="27281"/>
                </a:lnTo>
                <a:lnTo>
                  <a:pt x="643326" y="45912"/>
                </a:lnTo>
                <a:lnTo>
                  <a:pt x="719016" y="69015"/>
                </a:lnTo>
                <a:lnTo>
                  <a:pt x="794766" y="96335"/>
                </a:lnTo>
                <a:lnTo>
                  <a:pt x="869744" y="127575"/>
                </a:lnTo>
                <a:lnTo>
                  <a:pt x="943130" y="162392"/>
                </a:lnTo>
                <a:lnTo>
                  <a:pt x="1014120" y="200403"/>
                </a:lnTo>
                <a:lnTo>
                  <a:pt x="1081936" y="241194"/>
                </a:lnTo>
                <a:lnTo>
                  <a:pt x="1145834" y="284316"/>
                </a:lnTo>
                <a:lnTo>
                  <a:pt x="1205114" y="329298"/>
                </a:lnTo>
                <a:lnTo>
                  <a:pt x="1259128" y="375647"/>
                </a:lnTo>
                <a:lnTo>
                  <a:pt x="1307284" y="422854"/>
                </a:lnTo>
                <a:lnTo>
                  <a:pt x="1349053" y="470403"/>
                </a:lnTo>
                <a:lnTo>
                  <a:pt x="1383978" y="517772"/>
                </a:lnTo>
                <a:lnTo>
                  <a:pt x="1411677" y="564443"/>
                </a:lnTo>
                <a:lnTo>
                  <a:pt x="1431845" y="609904"/>
                </a:lnTo>
                <a:lnTo>
                  <a:pt x="1444263" y="653658"/>
                </a:lnTo>
                <a:lnTo>
                  <a:pt x="1448794" y="695224"/>
                </a:lnTo>
                <a:lnTo>
                  <a:pt x="1445388" y="734148"/>
                </a:lnTo>
                <a:close/>
              </a:path>
            </a:pathLst>
          </a:custGeom>
          <a:solidFill>
            <a:srgbClr val="E4E4E4"/>
          </a:solidFill>
          <a:ln w="12700"/>
        </p:spPr>
      </p:sp>
      <p:sp>
        <p:nvSpPr>
          <p:cNvPr id="99" name="Shape 97"/>
          <p:cNvSpPr/>
          <p:nvPr/>
        </p:nvSpPr>
        <p:spPr>
          <a:xfrm>
            <a:off x="8101584" y="2331215"/>
            <a:ext cx="149850" cy="45720"/>
          </a:xfrm>
          <a:custGeom>
            <a:avLst/>
            <a:gdLst/>
            <a:ahLst/>
            <a:cxnLst/>
            <a:rect l="l" t="t" r="r" b="b"/>
            <a:pathLst>
              <a:path w="149850" h="45720">
                <a:moveTo>
                  <a:pt x="149850" y="45720"/>
                </a:moveTo>
                <a:lnTo>
                  <a:pt x="0" y="0"/>
                </a:lnTo>
              </a:path>
            </a:pathLst>
          </a:custGeom>
          <a:ln w="76200">
            <a:solidFill>
              <a:srgbClr val="E4E4E4"/>
            </a:solidFill>
            <a:prstDash val="solid"/>
          </a:ln>
        </p:spPr>
      </p:sp>
      <p:sp>
        <p:nvSpPr>
          <p:cNvPr id="100" name="Shape 98"/>
          <p:cNvSpPr/>
          <p:nvPr/>
        </p:nvSpPr>
        <p:spPr>
          <a:xfrm>
            <a:off x="9670806" y="3008881"/>
            <a:ext cx="149850" cy="45720"/>
          </a:xfrm>
          <a:custGeom>
            <a:avLst/>
            <a:gdLst/>
            <a:ahLst/>
            <a:cxnLst/>
            <a:rect l="l" t="t" r="r" b="b"/>
            <a:pathLst>
              <a:path w="149850" h="45720">
                <a:moveTo>
                  <a:pt x="0" y="0"/>
                </a:moveTo>
                <a:lnTo>
                  <a:pt x="149850" y="45720"/>
                </a:lnTo>
              </a:path>
            </a:pathLst>
          </a:custGeom>
          <a:ln w="76200">
            <a:solidFill>
              <a:srgbClr val="E4E4E4"/>
            </a:solidFill>
            <a:prstDash val="solid"/>
          </a:ln>
        </p:spPr>
      </p:sp>
      <p:sp>
        <p:nvSpPr>
          <p:cNvPr id="101" name="Shape 99"/>
          <p:cNvSpPr/>
          <p:nvPr/>
        </p:nvSpPr>
        <p:spPr>
          <a:xfrm>
            <a:off x="8357456" y="2314549"/>
            <a:ext cx="1207328" cy="756718"/>
          </a:xfrm>
          <a:custGeom>
            <a:avLst/>
            <a:gdLst/>
            <a:ahLst/>
            <a:cxnLst/>
            <a:rect l="l" t="t" r="r" b="b"/>
            <a:pathLst>
              <a:path w="1207328" h="756718">
                <a:moveTo>
                  <a:pt x="1195069" y="641669"/>
                </a:moveTo>
                <a:lnTo>
                  <a:pt x="1179168" y="668663"/>
                </a:lnTo>
                <a:lnTo>
                  <a:pt x="1156963" y="692477"/>
                </a:lnTo>
                <a:lnTo>
                  <a:pt x="1128695" y="712849"/>
                </a:lnTo>
                <a:lnTo>
                  <a:pt x="1094674" y="729556"/>
                </a:lnTo>
                <a:lnTo>
                  <a:pt x="1055274" y="742415"/>
                </a:lnTo>
                <a:lnTo>
                  <a:pt x="1010927" y="751286"/>
                </a:lnTo>
                <a:lnTo>
                  <a:pt x="962117" y="756071"/>
                </a:lnTo>
                <a:lnTo>
                  <a:pt x="909379" y="756718"/>
                </a:lnTo>
                <a:lnTo>
                  <a:pt x="853293" y="753219"/>
                </a:lnTo>
                <a:lnTo>
                  <a:pt x="794471" y="745613"/>
                </a:lnTo>
                <a:lnTo>
                  <a:pt x="733559" y="733983"/>
                </a:lnTo>
                <a:lnTo>
                  <a:pt x="671224" y="718458"/>
                </a:lnTo>
                <a:lnTo>
                  <a:pt x="608148" y="699206"/>
                </a:lnTo>
                <a:lnTo>
                  <a:pt x="545024" y="676438"/>
                </a:lnTo>
                <a:lnTo>
                  <a:pt x="482541" y="650405"/>
                </a:lnTo>
                <a:lnTo>
                  <a:pt x="421386" y="621391"/>
                </a:lnTo>
                <a:lnTo>
                  <a:pt x="362228" y="589715"/>
                </a:lnTo>
                <a:lnTo>
                  <a:pt x="305715" y="555723"/>
                </a:lnTo>
                <a:lnTo>
                  <a:pt x="252467" y="519787"/>
                </a:lnTo>
                <a:lnTo>
                  <a:pt x="203066" y="482303"/>
                </a:lnTo>
                <a:lnTo>
                  <a:pt x="158055" y="443679"/>
                </a:lnTo>
                <a:lnTo>
                  <a:pt x="117925" y="404340"/>
                </a:lnTo>
                <a:lnTo>
                  <a:pt x="83118" y="364716"/>
                </a:lnTo>
                <a:lnTo>
                  <a:pt x="54013" y="325241"/>
                </a:lnTo>
                <a:lnTo>
                  <a:pt x="30931" y="286348"/>
                </a:lnTo>
                <a:lnTo>
                  <a:pt x="14124" y="248464"/>
                </a:lnTo>
                <a:lnTo>
                  <a:pt x="3776" y="212003"/>
                </a:lnTo>
                <a:lnTo>
                  <a:pt x="0" y="177364"/>
                </a:lnTo>
                <a:lnTo>
                  <a:pt x="2838" y="144927"/>
                </a:lnTo>
                <a:lnTo>
                  <a:pt x="12259" y="115048"/>
                </a:lnTo>
                <a:lnTo>
                  <a:pt x="28160" y="88054"/>
                </a:lnTo>
                <a:lnTo>
                  <a:pt x="50366" y="64241"/>
                </a:lnTo>
                <a:lnTo>
                  <a:pt x="78634" y="43869"/>
                </a:lnTo>
                <a:lnTo>
                  <a:pt x="112654" y="27162"/>
                </a:lnTo>
                <a:lnTo>
                  <a:pt x="152054" y="14302"/>
                </a:lnTo>
                <a:lnTo>
                  <a:pt x="196402" y="5431"/>
                </a:lnTo>
                <a:lnTo>
                  <a:pt x="245212" y="647"/>
                </a:lnTo>
                <a:lnTo>
                  <a:pt x="297949" y="0"/>
                </a:lnTo>
                <a:lnTo>
                  <a:pt x="354035" y="3499"/>
                </a:lnTo>
                <a:lnTo>
                  <a:pt x="412857" y="11105"/>
                </a:lnTo>
                <a:lnTo>
                  <a:pt x="473769" y="22734"/>
                </a:lnTo>
                <a:lnTo>
                  <a:pt x="536105" y="38260"/>
                </a:lnTo>
                <a:lnTo>
                  <a:pt x="599180" y="57512"/>
                </a:lnTo>
                <a:lnTo>
                  <a:pt x="662305" y="80279"/>
                </a:lnTo>
                <a:lnTo>
                  <a:pt x="724787" y="106313"/>
                </a:lnTo>
                <a:lnTo>
                  <a:pt x="785942" y="135326"/>
                </a:lnTo>
                <a:lnTo>
                  <a:pt x="845100" y="167003"/>
                </a:lnTo>
                <a:lnTo>
                  <a:pt x="901613" y="200995"/>
                </a:lnTo>
                <a:lnTo>
                  <a:pt x="954861" y="236930"/>
                </a:lnTo>
                <a:lnTo>
                  <a:pt x="1004262" y="274415"/>
                </a:lnTo>
                <a:lnTo>
                  <a:pt x="1049274" y="313039"/>
                </a:lnTo>
                <a:lnTo>
                  <a:pt x="1089403" y="352378"/>
                </a:lnTo>
                <a:lnTo>
                  <a:pt x="1124211" y="392002"/>
                </a:lnTo>
                <a:lnTo>
                  <a:pt x="1153315" y="431477"/>
                </a:lnTo>
                <a:lnTo>
                  <a:pt x="1176397" y="470369"/>
                </a:lnTo>
                <a:lnTo>
                  <a:pt x="1193204" y="508254"/>
                </a:lnTo>
                <a:lnTo>
                  <a:pt x="1203553" y="544715"/>
                </a:lnTo>
                <a:lnTo>
                  <a:pt x="1207328" y="579354"/>
                </a:lnTo>
                <a:lnTo>
                  <a:pt x="1204490" y="611790"/>
                </a:lnTo>
                <a:close/>
              </a:path>
            </a:pathLst>
          </a:custGeom>
          <a:solidFill>
            <a:srgbClr val="FFFFFF"/>
          </a:solidFill>
          <a:ln w="19050">
            <a:solidFill>
              <a:srgbClr val="1B1B1B"/>
            </a:solidFill>
            <a:prstDash val="solid"/>
          </a:ln>
        </p:spPr>
      </p:sp>
      <p:sp>
        <p:nvSpPr>
          <p:cNvPr id="102" name="Shape 100"/>
          <p:cNvSpPr/>
          <p:nvPr/>
        </p:nvSpPr>
        <p:spPr>
          <a:xfrm rot="1440000">
            <a:off x="8346115" y="2657173"/>
            <a:ext cx="1230009" cy="71470"/>
          </a:xfrm>
          <a:prstGeom prst="rect">
            <a:avLst/>
          </a:prstGeom>
          <a:solidFill>
            <a:srgbClr val="FFFFFF"/>
          </a:solidFill>
          <a:ln w="19050">
            <a:solidFill>
              <a:srgbClr val="C4262E"/>
            </a:solidFill>
            <a:prstDash val="solid"/>
          </a:ln>
        </p:spPr>
      </p:sp>
      <p:sp>
        <p:nvSpPr>
          <p:cNvPr id="103" name="Shape 101"/>
          <p:cNvSpPr/>
          <p:nvPr/>
        </p:nvSpPr>
        <p:spPr>
          <a:xfrm rot="1440000">
            <a:off x="8718393" y="2332737"/>
            <a:ext cx="71470" cy="536025"/>
          </a:xfrm>
          <a:prstGeom prst="rect">
            <a:avLst/>
          </a:prstGeom>
          <a:solidFill>
            <a:srgbClr val="FFFFFF"/>
          </a:solidFill>
          <a:ln w="19050">
            <a:solidFill>
              <a:srgbClr val="1B1B1B"/>
            </a:solidFill>
            <a:prstDash val="solid"/>
          </a:ln>
        </p:spPr>
      </p:sp>
      <p:sp>
        <p:nvSpPr>
          <p:cNvPr id="104" name="Shape 102"/>
          <p:cNvSpPr/>
          <p:nvPr/>
        </p:nvSpPr>
        <p:spPr>
          <a:xfrm rot="1440000">
            <a:off x="8694570" y="2541191"/>
            <a:ext cx="119117" cy="119117"/>
          </a:xfrm>
          <a:prstGeom prst="rect">
            <a:avLst/>
          </a:prstGeom>
          <a:solidFill>
            <a:srgbClr val="1B1B1B"/>
          </a:solidFill>
          <a:ln/>
        </p:spPr>
      </p:sp>
      <p:sp>
        <p:nvSpPr>
          <p:cNvPr id="105" name="Shape 103"/>
          <p:cNvSpPr/>
          <p:nvPr/>
        </p:nvSpPr>
        <p:spPr>
          <a:xfrm>
            <a:off x="8662688" y="2438260"/>
            <a:ext cx="182880" cy="146304"/>
          </a:xfrm>
          <a:prstGeom prst="rect">
            <a:avLst/>
          </a:prstGeom>
          <a:solidFill>
            <a:srgbClr val="FFFFFF"/>
          </a:solidFill>
          <a:ln/>
        </p:spPr>
      </p:sp>
      <p:sp>
        <p:nvSpPr>
          <p:cNvPr id="106" name="Text 104"/>
          <p:cNvSpPr txBox="1"/>
          <p:nvPr/>
        </p:nvSpPr>
        <p:spPr>
          <a:xfrm>
            <a:off x="8662688" y="2438260"/>
            <a:ext cx="182880"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2F</a:t>
            </a:r>
            <a:endParaRPr lang="en-US" sz="550" dirty="0"/>
          </a:p>
        </p:txBody>
      </p:sp>
      <p:sp>
        <p:nvSpPr>
          <p:cNvPr id="107" name="Shape 105"/>
          <p:cNvSpPr/>
          <p:nvPr/>
        </p:nvSpPr>
        <p:spPr>
          <a:xfrm rot="1440000">
            <a:off x="9161947" y="2530220"/>
            <a:ext cx="71470" cy="536025"/>
          </a:xfrm>
          <a:prstGeom prst="rect">
            <a:avLst/>
          </a:prstGeom>
          <a:solidFill>
            <a:srgbClr val="FFFFFF"/>
          </a:solidFill>
          <a:ln w="19050">
            <a:solidFill>
              <a:srgbClr val="1B1B1B"/>
            </a:solidFill>
            <a:prstDash val="solid"/>
          </a:ln>
        </p:spPr>
      </p:sp>
      <p:sp>
        <p:nvSpPr>
          <p:cNvPr id="108" name="Shape 106"/>
          <p:cNvSpPr/>
          <p:nvPr/>
        </p:nvSpPr>
        <p:spPr>
          <a:xfrm rot="1440000">
            <a:off x="9138124" y="2738674"/>
            <a:ext cx="119117" cy="119117"/>
          </a:xfrm>
          <a:prstGeom prst="rect">
            <a:avLst/>
          </a:prstGeom>
          <a:solidFill>
            <a:srgbClr val="1B1B1B"/>
          </a:solidFill>
          <a:ln/>
        </p:spPr>
      </p:sp>
      <p:sp>
        <p:nvSpPr>
          <p:cNvPr id="109" name="Shape 107"/>
          <p:cNvSpPr/>
          <p:nvPr/>
        </p:nvSpPr>
        <p:spPr>
          <a:xfrm>
            <a:off x="9106242" y="2635743"/>
            <a:ext cx="182880" cy="146304"/>
          </a:xfrm>
          <a:prstGeom prst="rect">
            <a:avLst/>
          </a:prstGeom>
          <a:solidFill>
            <a:srgbClr val="FFFFFF"/>
          </a:solidFill>
          <a:ln/>
        </p:spPr>
      </p:sp>
      <p:sp>
        <p:nvSpPr>
          <p:cNvPr id="110" name="Text 108"/>
          <p:cNvSpPr txBox="1"/>
          <p:nvPr/>
        </p:nvSpPr>
        <p:spPr>
          <a:xfrm>
            <a:off x="9106242" y="2635743"/>
            <a:ext cx="182880"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2F</a:t>
            </a:r>
            <a:endParaRPr lang="en-US" sz="550" dirty="0"/>
          </a:p>
        </p:txBody>
      </p:sp>
      <p:sp>
        <p:nvSpPr>
          <p:cNvPr id="111" name="Shape 109"/>
          <p:cNvSpPr/>
          <p:nvPr/>
        </p:nvSpPr>
        <p:spPr>
          <a:xfrm>
            <a:off x="9866376" y="2583180"/>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12" name="Shape 110"/>
          <p:cNvSpPr/>
          <p:nvPr/>
        </p:nvSpPr>
        <p:spPr>
          <a:xfrm>
            <a:off x="9966960" y="1627632"/>
            <a:ext cx="1828800" cy="1920240"/>
          </a:xfrm>
          <a:prstGeom prst="rect">
            <a:avLst/>
          </a:prstGeom>
          <a:solidFill>
            <a:srgbClr val="FFFFFF"/>
          </a:solidFill>
          <a:ln w="6350">
            <a:solidFill>
              <a:srgbClr val="D9D9D9"/>
            </a:solidFill>
            <a:prstDash val="solid"/>
          </a:ln>
        </p:spPr>
      </p:sp>
      <p:sp>
        <p:nvSpPr>
          <p:cNvPr id="113" name="Text 111"/>
          <p:cNvSpPr txBox="1"/>
          <p:nvPr/>
        </p:nvSpPr>
        <p:spPr>
          <a:xfrm>
            <a:off x="10040112" y="1682496"/>
            <a:ext cx="168249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06  </a:t>
            </a:r>
            <a:pPr indent="0" marL="0">
              <a:buNone/>
            </a:pPr>
            <a:r>
              <a:rPr lang="en-US" sz="750" b="1" spc="50" kern="0" dirty="0">
                <a:solidFill>
                  <a:srgbClr val="1B1B1B"/>
                </a:solidFill>
                <a:latin typeface="Arial" pitchFamily="34" charset="0"/>
                <a:ea typeface="Arial" pitchFamily="34" charset="-122"/>
                <a:cs typeface="Arial" pitchFamily="34" charset="-120"/>
              </a:rPr>
              <a:t>EXPERIENCE</a:t>
            </a:r>
            <a:endParaRPr lang="en-US" sz="750" dirty="0"/>
          </a:p>
        </p:txBody>
      </p:sp>
      <p:sp>
        <p:nvSpPr>
          <p:cNvPr id="114" name="Shape 112"/>
          <p:cNvSpPr/>
          <p:nvPr/>
        </p:nvSpPr>
        <p:spPr>
          <a:xfrm>
            <a:off x="10607040" y="2418588"/>
            <a:ext cx="548640" cy="548640"/>
          </a:xfrm>
          <a:prstGeom prst="rect">
            <a:avLst/>
          </a:prstGeom>
          <a:solidFill>
            <a:srgbClr val="F0B9BC"/>
          </a:solidFill>
          <a:ln w="9525">
            <a:solidFill>
              <a:srgbClr val="1B1B1B"/>
            </a:solidFill>
            <a:prstDash val="solid"/>
          </a:ln>
        </p:spPr>
      </p:sp>
      <p:sp>
        <p:nvSpPr>
          <p:cNvPr id="115" name="Shape 113"/>
          <p:cNvSpPr/>
          <p:nvPr/>
        </p:nvSpPr>
        <p:spPr>
          <a:xfrm>
            <a:off x="10113264" y="2779776"/>
            <a:ext cx="658368" cy="9144"/>
          </a:xfrm>
          <a:custGeom>
            <a:avLst/>
            <a:gdLst/>
            <a:ahLst/>
            <a:cxnLst/>
            <a:rect l="l" t="t" r="r" b="b"/>
            <a:pathLst>
              <a:path w="658368" h="9144">
                <a:moveTo>
                  <a:pt x="0" y="4572"/>
                </a:moveTo>
                <a:lnTo>
                  <a:pt x="658368" y="4572"/>
                </a:lnTo>
              </a:path>
            </a:pathLst>
          </a:custGeom>
          <a:ln w="19050">
            <a:solidFill>
              <a:srgbClr val="C4262E"/>
            </a:solidFill>
            <a:prstDash val="solid"/>
            <a:tailEnd type="triangle"/>
          </a:ln>
        </p:spPr>
      </p:sp>
      <p:sp>
        <p:nvSpPr>
          <p:cNvPr id="116" name="Shape 114"/>
          <p:cNvSpPr/>
          <p:nvPr/>
        </p:nvSpPr>
        <p:spPr>
          <a:xfrm>
            <a:off x="10968228" y="1920240"/>
            <a:ext cx="9144" cy="662940"/>
          </a:xfrm>
          <a:custGeom>
            <a:avLst/>
            <a:gdLst/>
            <a:ahLst/>
            <a:cxnLst/>
            <a:rect l="l" t="t" r="r" b="b"/>
            <a:pathLst>
              <a:path w="9144" h="662940">
                <a:moveTo>
                  <a:pt x="4572" y="0"/>
                </a:moveTo>
                <a:lnTo>
                  <a:pt x="4572" y="662940"/>
                </a:lnTo>
              </a:path>
            </a:pathLst>
          </a:custGeom>
          <a:ln w="19050">
            <a:solidFill>
              <a:srgbClr val="1B1B1B"/>
            </a:solidFill>
            <a:prstDash val="solid"/>
            <a:tailEnd type="triangle"/>
          </a:ln>
        </p:spPr>
      </p:sp>
      <p:sp>
        <p:nvSpPr>
          <p:cNvPr id="117" name="Shape 115"/>
          <p:cNvSpPr/>
          <p:nvPr/>
        </p:nvSpPr>
        <p:spPr>
          <a:xfrm>
            <a:off x="10786262" y="2729484"/>
            <a:ext cx="43891" cy="43891"/>
          </a:xfrm>
          <a:prstGeom prst="ellipse">
            <a:avLst/>
          </a:prstGeom>
          <a:solidFill>
            <a:srgbClr val="C4262E"/>
          </a:solidFill>
          <a:ln/>
        </p:spPr>
      </p:sp>
      <p:sp>
        <p:nvSpPr>
          <p:cNvPr id="118" name="Shape 116"/>
          <p:cNvSpPr/>
          <p:nvPr/>
        </p:nvSpPr>
        <p:spPr>
          <a:xfrm>
            <a:off x="10789188" y="2776301"/>
            <a:ext cx="38039" cy="99487"/>
          </a:xfrm>
          <a:prstGeom prst="roundRect">
            <a:avLst>
              <a:gd name="adj" fmla="val 48077"/>
            </a:avLst>
          </a:prstGeom>
          <a:solidFill>
            <a:srgbClr val="C4262E"/>
          </a:solidFill>
          <a:ln/>
        </p:spPr>
      </p:sp>
      <p:sp>
        <p:nvSpPr>
          <p:cNvPr id="119" name="Shape 117"/>
          <p:cNvSpPr/>
          <p:nvPr/>
        </p:nvSpPr>
        <p:spPr>
          <a:xfrm>
            <a:off x="10969142" y="2729484"/>
            <a:ext cx="43891" cy="43891"/>
          </a:xfrm>
          <a:prstGeom prst="ellipse">
            <a:avLst/>
          </a:prstGeom>
          <a:solidFill>
            <a:srgbClr val="1B1B1B"/>
          </a:solidFill>
          <a:ln/>
        </p:spPr>
      </p:sp>
      <p:sp>
        <p:nvSpPr>
          <p:cNvPr id="120" name="Shape 118"/>
          <p:cNvSpPr/>
          <p:nvPr/>
        </p:nvSpPr>
        <p:spPr>
          <a:xfrm>
            <a:off x="10972068" y="2776301"/>
            <a:ext cx="38039" cy="99487"/>
          </a:xfrm>
          <a:prstGeom prst="roundRect">
            <a:avLst>
              <a:gd name="adj" fmla="val 48077"/>
            </a:avLst>
          </a:prstGeom>
          <a:solidFill>
            <a:srgbClr val="1B1B1B"/>
          </a:solidFill>
          <a:ln/>
        </p:spPr>
      </p:sp>
      <p:sp>
        <p:nvSpPr>
          <p:cNvPr id="121" name="Text 119"/>
          <p:cNvSpPr txBox="1"/>
          <p:nvPr/>
        </p:nvSpPr>
        <p:spPr>
          <a:xfrm>
            <a:off x="10113264" y="2647188"/>
            <a:ext cx="457200" cy="146304"/>
          </a:xfrm>
          <a:prstGeom prst="rect">
            <a:avLst/>
          </a:prstGeom>
          <a:noFill/>
          <a:ln/>
        </p:spPr>
        <p:txBody>
          <a:bodyPr wrap="square" lIns="0" tIns="0" rIns="0" bIns="0" rtlCol="0" anchor="ctr"/>
          <a:lstStyle/>
          <a:p>
            <a:pPr algn="ctr" indent="0" marL="0">
              <a:buNone/>
            </a:pPr>
            <a:r>
              <a:rPr lang="en-US" sz="550" dirty="0">
                <a:solidFill>
                  <a:srgbClr val="C4262E"/>
                </a:solidFill>
                <a:latin typeface="Arial" pitchFamily="34" charset="0"/>
                <a:ea typeface="Arial" pitchFamily="34" charset="-122"/>
                <a:cs typeface="Arial" pitchFamily="34" charset="-120"/>
              </a:rPr>
              <a:t>public</a:t>
            </a:r>
            <a:endParaRPr lang="en-US" sz="550" dirty="0"/>
          </a:p>
        </p:txBody>
      </p:sp>
      <p:sp>
        <p:nvSpPr>
          <p:cNvPr id="122" name="Text 120"/>
          <p:cNvSpPr txBox="1"/>
          <p:nvPr/>
        </p:nvSpPr>
        <p:spPr>
          <a:xfrm>
            <a:off x="10469880" y="1828800"/>
            <a:ext cx="1005840" cy="146304"/>
          </a:xfrm>
          <a:prstGeom prst="rect">
            <a:avLst/>
          </a:prstGeom>
          <a:noFill/>
          <a:ln/>
        </p:spPr>
        <p:txBody>
          <a:bodyPr wrap="square" lIns="0" tIns="0" rIns="0" bIns="0" rtlCol="0" anchor="ctr"/>
          <a:lstStyle/>
          <a:p>
            <a:pPr algn="ctr" indent="0" marL="0">
              <a:buNone/>
            </a:pPr>
            <a:r>
              <a:rPr lang="en-US" sz="550" dirty="0">
                <a:solidFill>
                  <a:srgbClr val="1B1B1B"/>
                </a:solidFill>
                <a:latin typeface="Arial" pitchFamily="34" charset="0"/>
                <a:ea typeface="Arial" pitchFamily="34" charset="-122"/>
                <a:cs typeface="Arial" pitchFamily="34" charset="-120"/>
              </a:rPr>
              <a:t>journalist / researcher</a:t>
            </a:r>
            <a:endParaRPr lang="en-US" sz="550" dirty="0"/>
          </a:p>
        </p:txBody>
      </p:sp>
      <p:sp>
        <p:nvSpPr>
          <p:cNvPr id="123" name="Text 121"/>
          <p:cNvSpPr txBox="1"/>
          <p:nvPr/>
        </p:nvSpPr>
        <p:spPr>
          <a:xfrm>
            <a:off x="10515600" y="3012948"/>
            <a:ext cx="731520"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shared room</a:t>
            </a:r>
            <a:endParaRPr lang="en-US" sz="550" dirty="0"/>
          </a:p>
        </p:txBody>
      </p:sp>
      <p:sp>
        <p:nvSpPr>
          <p:cNvPr id="124" name="Text 122"/>
          <p:cNvSpPr txBox="1"/>
          <p:nvPr/>
        </p:nvSpPr>
        <p:spPr>
          <a:xfrm>
            <a:off x="36576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WHY — FROM THE BRIEF</a:t>
            </a:r>
            <a:endParaRPr lang="en-US" sz="850" dirty="0"/>
          </a:p>
        </p:txBody>
      </p:sp>
      <p:sp>
        <p:nvSpPr>
          <p:cNvPr id="125" name="Text 123"/>
          <p:cNvSpPr txBox="1"/>
          <p:nvPr/>
        </p:nvSpPr>
        <p:spPr>
          <a:xfrm>
            <a:off x="36576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ISSUE   </a:t>
            </a:r>
            <a:pPr indent="0" marL="0">
              <a:spcAft>
                <a:spcPts val="500"/>
              </a:spcAft>
              <a:buNone/>
            </a:pPr>
            <a:r>
              <a:rPr lang="en-US" sz="750" dirty="0">
                <a:solidFill>
                  <a:srgbClr val="1B1B1B"/>
                </a:solidFill>
                <a:latin typeface="Arial" pitchFamily="34" charset="0"/>
                <a:ea typeface="Arial" pitchFamily="34" charset="-122"/>
                <a:cs typeface="Arial" pitchFamily="34" charset="-120"/>
              </a:rPr>
              <a:t>The brief asks for negotiation between groups that normally do not meet.</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VISION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Meeting is designed, not left to chance.</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SITE   </a:t>
            </a:r>
            <a:pPr indent="0" marL="0">
              <a:spcAft>
                <a:spcPts val="500"/>
              </a:spcAft>
              <a:buNone/>
            </a:pPr>
            <a:r>
              <a:rPr lang="en-US" sz="750" dirty="0">
                <a:solidFill>
                  <a:srgbClr val="1B1B1B"/>
                </a:solidFill>
                <a:latin typeface="Arial" pitchFamily="34" charset="0"/>
                <a:ea typeface="Arial" pitchFamily="34" charset="-122"/>
                <a:cs typeface="Arial" pitchFamily="34" charset="-120"/>
              </a:rPr>
              <a:t>Public line runs between the two junctions; working line crosses it from the service side.</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USERS   </a:t>
            </a:r>
            <a:pPr indent="0" marL="0">
              <a:spcAft>
                <a:spcPts val="500"/>
              </a:spcAft>
              <a:buNone/>
            </a:pPr>
            <a:r>
              <a:rPr lang="en-US" sz="750" dirty="0">
                <a:solidFill>
                  <a:srgbClr val="1B1B1B"/>
                </a:solidFill>
                <a:latin typeface="Arial" pitchFamily="34" charset="0"/>
                <a:ea typeface="Arial" pitchFamily="34" charset="-122"/>
                <a:cs typeface="Arial" pitchFamily="34" charset="-120"/>
              </a:rPr>
              <a:t>Public on one line, professionals on the other; crossings = forum, reading room, press room.</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PROGRAM   </a:t>
            </a:r>
            <a:pPr indent="0" marL="0">
              <a:spcAft>
                <a:spcPts val="500"/>
              </a:spcAft>
              <a:buNone/>
            </a:pPr>
            <a:r>
              <a:rPr lang="en-US" sz="750" dirty="0">
                <a:solidFill>
                  <a:srgbClr val="1B1B1B"/>
                </a:solidFill>
                <a:latin typeface="Arial" pitchFamily="34" charset="0"/>
                <a:ea typeface="Arial" pitchFamily="34" charset="-122"/>
                <a:cs typeface="Arial" pitchFamily="34" charset="-120"/>
              </a:rPr>
              <a:t>Public line: exhibition, library, auditorium. Working line: studios, media, publishing, archive. Crossings: shared rooms.</a:t>
            </a:r>
            <a:endParaRPr lang="en-US" sz="900" dirty="0"/>
          </a:p>
        </p:txBody>
      </p:sp>
      <p:sp>
        <p:nvSpPr>
          <p:cNvPr id="126" name="Text 124"/>
          <p:cNvSpPr txBox="1"/>
          <p:nvPr/>
        </p:nvSpPr>
        <p:spPr>
          <a:xfrm>
            <a:off x="420624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SPACE — WHAT IT BECOMES</a:t>
            </a:r>
            <a:endParaRPr lang="en-US" sz="850" dirty="0"/>
          </a:p>
        </p:txBody>
      </p:sp>
      <p:sp>
        <p:nvSpPr>
          <p:cNvPr id="127" name="Text 125"/>
          <p:cNvSpPr txBox="1"/>
          <p:nvPr/>
        </p:nvSpPr>
        <p:spPr>
          <a:xfrm>
            <a:off x="420624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SPATIAL IDEA   </a:t>
            </a:r>
            <a:pPr indent="0" marL="0">
              <a:spcAft>
                <a:spcPts val="500"/>
              </a:spcAft>
              <a:buNone/>
            </a:pPr>
            <a:r>
              <a:rPr lang="en-US" sz="750" dirty="0">
                <a:solidFill>
                  <a:srgbClr val="1B1B1B"/>
                </a:solidFill>
                <a:latin typeface="Arial" pitchFamily="34" charset="0"/>
                <a:ea typeface="Arial" pitchFamily="34" charset="-122"/>
                <a:cs typeface="Arial" pitchFamily="34" charset="-120"/>
              </a:rPr>
              <a:t>Two interlocking linear systems with meeting nodes.</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CIRCULATION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Two clear circulation systems; nodes double-height.</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PUBLIC / PRIVATE   </a:t>
            </a:r>
            <a:pPr indent="0" marL="0">
              <a:spcAft>
                <a:spcPts val="500"/>
              </a:spcAft>
              <a:buNone/>
            </a:pPr>
            <a:r>
              <a:rPr lang="en-US" sz="750" dirty="0">
                <a:solidFill>
                  <a:srgbClr val="1B1B1B"/>
                </a:solidFill>
                <a:latin typeface="Arial" pitchFamily="34" charset="0"/>
                <a:ea typeface="Arial" pitchFamily="34" charset="-122"/>
                <a:cs typeface="Arial" pitchFamily="34" charset="-120"/>
              </a:rPr>
              <a:t>Public line vs working line; nodes are shared semi-public ground.</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MASSING / FORM   </a:t>
            </a:r>
            <a:pPr indent="0" marL="0">
              <a:spcAft>
                <a:spcPts val="500"/>
              </a:spcAft>
              <a:buNone/>
            </a:pPr>
            <a:r>
              <a:rPr lang="en-US" sz="750" dirty="0">
                <a:solidFill>
                  <a:srgbClr val="1B1B1B"/>
                </a:solidFill>
                <a:latin typeface="Arial" pitchFamily="34" charset="0"/>
                <a:ea typeface="Arial" pitchFamily="34" charset="-122"/>
                <a:cs typeface="Arial" pitchFamily="34" charset="-120"/>
              </a:rPr>
              <a:t>Two sets of bars at an angle; taller volumes at the crossings.</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SECTION   </a:t>
            </a:r>
            <a:pPr indent="0" marL="0">
              <a:spcAft>
                <a:spcPts val="500"/>
              </a:spcAft>
              <a:buNone/>
            </a:pPr>
            <a:r>
              <a:rPr lang="en-US" sz="750" dirty="0">
                <a:solidFill>
                  <a:srgbClr val="1B1B1B"/>
                </a:solidFill>
                <a:latin typeface="Arial" pitchFamily="34" charset="0"/>
                <a:ea typeface="Arial" pitchFamily="34" charset="-122"/>
                <a:cs typeface="Arial" pitchFamily="34" charset="-120"/>
              </a:rPr>
              <a:t>Bars bridge the slope on piers; nodes rise as double-height rooms.</a:t>
            </a:r>
            <a:endParaRPr lang="en-US" sz="900" dirty="0"/>
          </a:p>
        </p:txBody>
      </p:sp>
      <p:sp>
        <p:nvSpPr>
          <p:cNvPr id="128" name="Text 126"/>
          <p:cNvSpPr txBox="1"/>
          <p:nvPr/>
        </p:nvSpPr>
        <p:spPr>
          <a:xfrm>
            <a:off x="8046720" y="3703320"/>
            <a:ext cx="365760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GROUND + EXPERIENCE</a:t>
            </a:r>
            <a:endParaRPr lang="en-US" sz="850" dirty="0"/>
          </a:p>
        </p:txBody>
      </p:sp>
      <p:sp>
        <p:nvSpPr>
          <p:cNvPr id="129" name="Text 127"/>
          <p:cNvSpPr txBox="1"/>
          <p:nvPr/>
        </p:nvSpPr>
        <p:spPr>
          <a:xfrm>
            <a:off x="8046720" y="3950208"/>
            <a:ext cx="3657600" cy="2377440"/>
          </a:xfrm>
          <a:prstGeom prst="rect">
            <a:avLst/>
          </a:prstGeom>
          <a:noFill/>
          <a:ln/>
        </p:spPr>
        <p:txBody>
          <a:bodyPr wrap="square" lIns="0" tIns="0" rIns="0" bIns="0" rtlCol="0" anchor="t"/>
          <a:lstStyle/>
          <a:p>
            <a:pPr indent="0" marL="0">
              <a:spcAft>
                <a:spcPts val="500"/>
              </a:spcAft>
              <a:buNone/>
            </a:pPr>
            <a:r>
              <a:rPr lang="en-US" sz="700" b="1" dirty="0">
                <a:solidFill>
                  <a:srgbClr val="1B1B1B"/>
                </a:solidFill>
                <a:latin typeface="Arial" pitchFamily="34" charset="0"/>
                <a:ea typeface="Arial" pitchFamily="34" charset="-122"/>
                <a:cs typeface="Arial" pitchFamily="34" charset="-120"/>
              </a:rPr>
              <a:t>WHAT I ACTUALLY DO   </a:t>
            </a:r>
            <a:pPr indent="0" marL="0">
              <a:spcAft>
                <a:spcPts val="500"/>
              </a:spcAft>
              <a:buNone/>
            </a:pPr>
            <a:r>
              <a:rPr lang="en-US" sz="750" dirty="0">
                <a:solidFill>
                  <a:srgbClr val="1B1B1B"/>
                </a:solidFill>
                <a:latin typeface="Arial" pitchFamily="34" charset="0"/>
                <a:ea typeface="Arial" pitchFamily="34" charset="-122"/>
                <a:cs typeface="Arial" pitchFamily="34" charset="-120"/>
              </a:rPr>
              <a:t>① draw the public line  ② draw the working line  ③ inflate the crossings into rooms</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LANDSCAPE / TOPOGRAPHY   </a:t>
            </a:r>
            <a:pPr indent="0" marL="0">
              <a:spcAft>
                <a:spcPts val="500"/>
              </a:spcAft>
              <a:buNone/>
            </a:pPr>
            <a:r>
              <a:rPr lang="en-US" sz="750" dirty="0">
                <a:solidFill>
                  <a:srgbClr val="1B1B1B"/>
                </a:solidFill>
                <a:latin typeface="Arial" pitchFamily="34" charset="0"/>
                <a:ea typeface="Arial" pitchFamily="34" charset="-122"/>
                <a:cs typeface="Arial" pitchFamily="34" charset="-120"/>
              </a:rPr>
              <a:t>Bars span across the slope on piers: ground kept, more structure needed.</a:t>
            </a:r>
            <a:endParaRPr lang="en-US" sz="900" dirty="0"/>
          </a:p>
          <a:p>
            <a:pPr indent="0" marL="0">
              <a:spcAft>
                <a:spcPts val="500"/>
              </a:spcAft>
              <a:buNone/>
            </a:pPr>
            <a:r>
              <a:rPr lang="en-US" sz="700" b="1" dirty="0">
                <a:solidFill>
                  <a:srgbClr val="1B1B1B"/>
                </a:solidFill>
                <a:latin typeface="Arial" pitchFamily="34" charset="0"/>
                <a:ea typeface="Arial" pitchFamily="34" charset="-122"/>
                <a:cs typeface="Arial" pitchFamily="34" charset="-120"/>
              </a:rPr>
              <a:t>EXPERIENCE   </a:t>
            </a:r>
            <a:pPr indent="0" marL="0">
              <a:spcAft>
                <a:spcPts val="500"/>
              </a:spcAft>
              <a:buNone/>
            </a:pPr>
            <a:r>
              <a:rPr lang="en-US" sz="750" dirty="0">
                <a:solidFill>
                  <a:srgbClr val="1B1B1B"/>
                </a:solidFill>
                <a:latin typeface="Arial" pitchFamily="34" charset="0"/>
                <a:ea typeface="Arial" pitchFamily="34" charset="-122"/>
                <a:cs typeface="Arial" pitchFamily="34" charset="-120"/>
              </a:rPr>
              <a:t>Moving along your own route you arrive in a room where the other route also arrives.</a:t>
            </a:r>
            <a:endParaRPr lang="en-US" sz="900" dirty="0"/>
          </a:p>
        </p:txBody>
      </p:sp>
      <p:sp>
        <p:nvSpPr>
          <p:cNvPr id="130" name="Shape 128"/>
          <p:cNvSpPr/>
          <p:nvPr/>
        </p:nvSpPr>
        <p:spPr>
          <a:xfrm>
            <a:off x="365760" y="6446520"/>
            <a:ext cx="146304" cy="109728"/>
          </a:xfrm>
          <a:prstGeom prst="rect">
            <a:avLst/>
          </a:prstGeom>
          <a:solidFill>
            <a:srgbClr val="C4262E"/>
          </a:solidFill>
          <a:ln/>
        </p:spPr>
      </p:sp>
      <p:sp>
        <p:nvSpPr>
          <p:cNvPr id="131" name="Text 129"/>
          <p:cNvSpPr txBox="1"/>
          <p:nvPr/>
        </p:nvSpPr>
        <p:spPr>
          <a:xfrm>
            <a:off x="612648" y="6428232"/>
            <a:ext cx="33832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a:t>
            </a:r>
            <a:endParaRPr lang="en-US" sz="650" dirty="0"/>
          </a:p>
        </p:txBody>
      </p:sp>
      <p:sp>
        <p:nvSpPr>
          <p:cNvPr id="132" name="Shape 130"/>
          <p:cNvSpPr/>
          <p:nvPr/>
        </p:nvSpPr>
        <p:spPr>
          <a:xfrm>
            <a:off x="1024128" y="6446520"/>
            <a:ext cx="146304" cy="109728"/>
          </a:xfrm>
          <a:prstGeom prst="rect">
            <a:avLst/>
          </a:prstGeom>
          <a:solidFill>
            <a:srgbClr val="F0B9BC"/>
          </a:solidFill>
          <a:ln/>
        </p:spPr>
      </p:sp>
      <p:sp>
        <p:nvSpPr>
          <p:cNvPr id="133" name="Text 131"/>
          <p:cNvSpPr txBox="1"/>
          <p:nvPr/>
        </p:nvSpPr>
        <p:spPr>
          <a:xfrm>
            <a:off x="1271016" y="6428232"/>
            <a:ext cx="54406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semi-public</a:t>
            </a:r>
            <a:endParaRPr lang="en-US" sz="650" dirty="0"/>
          </a:p>
        </p:txBody>
      </p:sp>
      <p:sp>
        <p:nvSpPr>
          <p:cNvPr id="134" name="Shape 132"/>
          <p:cNvSpPr/>
          <p:nvPr/>
        </p:nvSpPr>
        <p:spPr>
          <a:xfrm>
            <a:off x="1888236" y="6446520"/>
            <a:ext cx="146304" cy="109728"/>
          </a:xfrm>
          <a:prstGeom prst="rect">
            <a:avLst/>
          </a:prstGeom>
          <a:solidFill>
            <a:srgbClr val="9A9A9A"/>
          </a:solidFill>
          <a:ln/>
        </p:spPr>
      </p:sp>
      <p:sp>
        <p:nvSpPr>
          <p:cNvPr id="135" name="Text 133"/>
          <p:cNvSpPr txBox="1"/>
          <p:nvPr/>
        </p:nvSpPr>
        <p:spPr>
          <a:xfrm>
            <a:off x="2135124" y="6428232"/>
            <a:ext cx="379476"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a:t>
            </a:r>
            <a:endParaRPr lang="en-US" sz="650" dirty="0"/>
          </a:p>
        </p:txBody>
      </p:sp>
      <p:sp>
        <p:nvSpPr>
          <p:cNvPr id="136" name="Shape 134"/>
          <p:cNvSpPr/>
          <p:nvPr/>
        </p:nvSpPr>
        <p:spPr>
          <a:xfrm>
            <a:off x="2587752" y="6446520"/>
            <a:ext cx="146304" cy="109728"/>
          </a:xfrm>
          <a:prstGeom prst="rect">
            <a:avLst/>
          </a:prstGeom>
          <a:solidFill>
            <a:srgbClr val="1B1B1B"/>
          </a:solidFill>
          <a:ln/>
        </p:spPr>
      </p:sp>
      <p:sp>
        <p:nvSpPr>
          <p:cNvPr id="137" name="Text 135"/>
          <p:cNvSpPr txBox="1"/>
          <p:nvPr/>
        </p:nvSpPr>
        <p:spPr>
          <a:xfrm>
            <a:off x="2834640" y="6428232"/>
            <a:ext cx="46177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protected</a:t>
            </a:r>
            <a:endParaRPr lang="en-US" sz="650" dirty="0"/>
          </a:p>
        </p:txBody>
      </p:sp>
      <p:sp>
        <p:nvSpPr>
          <p:cNvPr id="138" name="Shape 136"/>
          <p:cNvSpPr/>
          <p:nvPr/>
        </p:nvSpPr>
        <p:spPr>
          <a:xfrm>
            <a:off x="3369564" y="6496812"/>
            <a:ext cx="201168" cy="9144"/>
          </a:xfrm>
          <a:custGeom>
            <a:avLst/>
            <a:gdLst/>
            <a:ahLst/>
            <a:cxnLst/>
            <a:rect l="l" t="t" r="r" b="b"/>
            <a:pathLst>
              <a:path w="201168" h="9144">
                <a:moveTo>
                  <a:pt x="0" y="4572"/>
                </a:moveTo>
                <a:lnTo>
                  <a:pt x="201168" y="4572"/>
                </a:lnTo>
              </a:path>
            </a:pathLst>
          </a:custGeom>
          <a:ln w="25400">
            <a:solidFill>
              <a:srgbClr val="C4262E"/>
            </a:solidFill>
            <a:prstDash val="solid"/>
          </a:ln>
        </p:spPr>
      </p:sp>
      <p:sp>
        <p:nvSpPr>
          <p:cNvPr id="139" name="Text 137"/>
          <p:cNvSpPr txBox="1"/>
          <p:nvPr/>
        </p:nvSpPr>
        <p:spPr>
          <a:xfrm>
            <a:off x="3616452" y="6428232"/>
            <a:ext cx="708660"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 movement</a:t>
            </a:r>
            <a:endParaRPr lang="en-US" sz="650" dirty="0"/>
          </a:p>
        </p:txBody>
      </p:sp>
      <p:sp>
        <p:nvSpPr>
          <p:cNvPr id="140" name="Shape 138"/>
          <p:cNvSpPr/>
          <p:nvPr/>
        </p:nvSpPr>
        <p:spPr>
          <a:xfrm>
            <a:off x="4398264" y="6496812"/>
            <a:ext cx="201168" cy="9144"/>
          </a:xfrm>
          <a:custGeom>
            <a:avLst/>
            <a:gdLst/>
            <a:ahLst/>
            <a:cxnLst/>
            <a:rect l="l" t="t" r="r" b="b"/>
            <a:pathLst>
              <a:path w="201168" h="9144">
                <a:moveTo>
                  <a:pt x="0" y="4572"/>
                </a:moveTo>
                <a:lnTo>
                  <a:pt x="201168" y="4572"/>
                </a:lnTo>
              </a:path>
            </a:pathLst>
          </a:custGeom>
          <a:ln w="25400">
            <a:solidFill>
              <a:srgbClr val="1B1B1B"/>
            </a:solidFill>
            <a:prstDash val="solid"/>
          </a:ln>
        </p:spPr>
      </p:sp>
      <p:sp>
        <p:nvSpPr>
          <p:cNvPr id="141" name="Text 139"/>
          <p:cNvSpPr txBox="1"/>
          <p:nvPr/>
        </p:nvSpPr>
        <p:spPr>
          <a:xfrm>
            <a:off x="4645152" y="6428232"/>
            <a:ext cx="74980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 movement</a:t>
            </a:r>
            <a:endParaRPr lang="en-US" sz="650" dirty="0"/>
          </a:p>
        </p:txBody>
      </p:sp>
      <p:sp>
        <p:nvSpPr>
          <p:cNvPr id="142" name="Shape 140"/>
          <p:cNvSpPr/>
          <p:nvPr/>
        </p:nvSpPr>
        <p:spPr>
          <a:xfrm>
            <a:off x="5468112" y="6496812"/>
            <a:ext cx="201168" cy="9144"/>
          </a:xfrm>
          <a:custGeom>
            <a:avLst/>
            <a:gdLst/>
            <a:ahLst/>
            <a:cxnLst/>
            <a:rect l="l" t="t" r="r" b="b"/>
            <a:pathLst>
              <a:path w="201168" h="9144">
                <a:moveTo>
                  <a:pt x="0" y="4572"/>
                </a:moveTo>
                <a:lnTo>
                  <a:pt x="201168" y="4572"/>
                </a:lnTo>
              </a:path>
            </a:pathLst>
          </a:custGeom>
          <a:ln w="15875">
            <a:solidFill>
              <a:srgbClr val="4F7A43"/>
            </a:solidFill>
            <a:prstDash val="dash"/>
          </a:ln>
        </p:spPr>
      </p:sp>
      <p:sp>
        <p:nvSpPr>
          <p:cNvPr id="143" name="Text 141"/>
          <p:cNvSpPr txBox="1"/>
          <p:nvPr/>
        </p:nvSpPr>
        <p:spPr>
          <a:xfrm>
            <a:off x="5715000" y="6428232"/>
            <a:ext cx="832104"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indicative contour</a:t>
            </a:r>
            <a:endParaRPr lang="en-US" sz="650" dirty="0"/>
          </a:p>
        </p:txBody>
      </p:sp>
      <p:sp>
        <p:nvSpPr>
          <p:cNvPr id="144" name="Shape 142"/>
          <p:cNvSpPr/>
          <p:nvPr/>
        </p:nvSpPr>
        <p:spPr>
          <a:xfrm>
            <a:off x="6638544" y="6455664"/>
            <a:ext cx="91440" cy="91440"/>
          </a:xfrm>
          <a:prstGeom prst="ellipse">
            <a:avLst/>
          </a:prstGeom>
          <a:ln w="9525">
            <a:solidFill>
              <a:srgbClr val="4F7A43"/>
            </a:solidFill>
            <a:prstDash val="solid"/>
          </a:ln>
        </p:spPr>
      </p:sp>
      <p:sp>
        <p:nvSpPr>
          <p:cNvPr id="145" name="Text 143"/>
          <p:cNvSpPr txBox="1"/>
          <p:nvPr/>
        </p:nvSpPr>
        <p:spPr>
          <a:xfrm>
            <a:off x="6867144" y="6428232"/>
            <a:ext cx="66751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existing trees</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COMPARING THE DIRECTIONS</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No scores, no ranking — strengths, limits and what each would commit me to.</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08</a:t>
            </a:r>
            <a:endParaRPr lang="en-US" sz="3400" dirty="0"/>
          </a:p>
        </p:txBody>
      </p:sp>
      <p:sp>
        <p:nvSpPr>
          <p:cNvPr id="6" name="Shape 4"/>
          <p:cNvSpPr/>
          <p:nvPr/>
        </p:nvSpPr>
        <p:spPr>
          <a:xfrm>
            <a:off x="10241280" y="896112"/>
            <a:ext cx="1554480" cy="182880"/>
          </a:xfrm>
          <a:prstGeom prst="roundRect">
            <a:avLst>
              <a:gd name="adj" fmla="val 20000"/>
            </a:avLst>
          </a:prstGeom>
          <a:solidFill>
            <a:srgbClr val="FFFFFF"/>
          </a:solidFill>
          <a:ln w="9525">
            <a:solidFill>
              <a:srgbClr val="1B1B1B"/>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1B1B1B"/>
                </a:solidFill>
                <a:latin typeface="Arial" pitchFamily="34" charset="0"/>
                <a:ea typeface="Arial" pitchFamily="34" charset="-122"/>
                <a:cs typeface="Arial" pitchFamily="34" charset="-120"/>
              </a:rPr>
              <a:t>INTERPRETATION</a:t>
            </a:r>
            <a:endParaRPr lang="en-US" sz="6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463040"/>
                <a:gridCol w="1993392"/>
                <a:gridCol w="1993392"/>
                <a:gridCol w="1993392"/>
                <a:gridCol w="1993392"/>
                <a:gridCol w="1993392"/>
              </a:tblGrid>
              <a:tr h="566928">
                <a:tc>
                  <a:txBody>
                    <a:bodyPr/>
                    <a:lstStyle/>
                    <a:p>
                      <a:pPr indent="0" marL="0">
                        <a:buNone/>
                      </a:pPr>
                      <a:endParaRPr lang="en-US" sz="12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A  WRAP THE HILL</a:t>
                      </a:r>
                      <a:endParaRPr lang="en-US" sz="8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1B1B"/>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B  THE THICK EDGE</a:t>
                      </a:r>
                      <a:endParaRPr lang="en-US" sz="8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1B1B"/>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C  THE PUBLIC ASCENT</a:t>
                      </a:r>
                      <a:endParaRPr lang="en-US" sz="8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262E"/>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D  THE OPEN PRESS</a:t>
                      </a:r>
                      <a:endParaRPr lang="en-US" sz="8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1B1B"/>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E  CROSSING PATHS</a:t>
                      </a:r>
                      <a:endParaRPr lang="en-US" sz="8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1B1B"/>
                    </a:solidFill>
                  </a:tcPr>
                </a:tc>
              </a:tr>
              <a:tr h="566928">
                <a:tc>
                  <a:txBody>
                    <a:bodyPr/>
                    <a:lstStyle/>
                    <a:p>
                      <a:pPr indent="0" marL="0">
                        <a:buNone/>
                      </a:pPr>
                      <a:r>
                        <a:rPr lang="en-US" sz="700" b="1" dirty="0">
                          <a:solidFill>
                            <a:srgbClr val="1B1B1B"/>
                          </a:solidFill>
                          <a:latin typeface="Arial" pitchFamily="34" charset="0"/>
                          <a:ea typeface="Arial" pitchFamily="34" charset="-122"/>
                          <a:cs typeface="Arial" pitchFamily="34" charset="-120"/>
                        </a:rPr>
                        <a:t>RELATIONSHIP TO BRIEF</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Keeps the landmark public; weaker on visible production.</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Answers the protest interface directly.</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Ties access, visibility and meeting to one route.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Strong on visible/hidden; weaker on the protest edge.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Designs the meeting of groups directly.</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566928">
                <a:tc>
                  <a:txBody>
                    <a:bodyPr/>
                    <a:lstStyle/>
                    <a:p>
                      <a:pPr indent="0" marL="0">
                        <a:buNone/>
                      </a:pPr>
                      <a:r>
                        <a:rPr lang="en-US" sz="700" b="1" dirty="0">
                          <a:solidFill>
                            <a:srgbClr val="1B1B1B"/>
                          </a:solidFill>
                          <a:latin typeface="Arial" pitchFamily="34" charset="0"/>
                          <a:ea typeface="Arial" pitchFamily="34" charset="-122"/>
                          <a:cs typeface="Arial" pitchFamily="34" charset="-120"/>
                        </a:rPr>
                        <a:t>SITE RESPONSE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Uses the toe; trees + mound kept.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Concentrated on the edge; hill left free.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Follows contours; claims the summit for the public.</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Smallest footprint; relies on existing footprint (unknown).</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Lines cut across the mound — imposed on site.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566928">
                <a:tc>
                  <a:txBody>
                    <a:bodyPr/>
                    <a:lstStyle/>
                    <a:p>
                      <a:pPr indent="0" marL="0">
                        <a:buNone/>
                      </a:pPr>
                      <a:r>
                        <a:rPr lang="en-US" sz="700" b="1" dirty="0">
                          <a:solidFill>
                            <a:srgbClr val="1B1B1B"/>
                          </a:solidFill>
                          <a:latin typeface="Arial" pitchFamily="34" charset="0"/>
                          <a:ea typeface="Arial" pitchFamily="34" charset="-122"/>
                          <a:cs typeface="Arial" pitchFamily="34" charset="-120"/>
                        </a:rPr>
                        <a:t>SPATIAL POTENTIAL</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Long continuous edge; gates as events.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One big civic room + stacked floors.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Sequence of rooms and landings, changing views.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One powerful vertical room.</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Nodes as rich shared rooms.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566928">
                <a:tc>
                  <a:txBody>
                    <a:bodyPr/>
                    <a:lstStyle/>
                    <a:p>
                      <a:pPr indent="0" marL="0">
                        <a:buNone/>
                      </a:pPr>
                      <a:r>
                        <a:rPr lang="en-US" sz="700" b="1" dirty="0">
                          <a:solidFill>
                            <a:srgbClr val="1B1B1B"/>
                          </a:solidFill>
                          <a:latin typeface="Arial" pitchFamily="34" charset="0"/>
                          <a:ea typeface="Arial" pitchFamily="34" charset="-122"/>
                          <a:cs typeface="Arial" pitchFamily="34" charset="-120"/>
                        </a:rPr>
                        <a:t>PROGRAM POTENTIAL</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Linear chain fits; archive in thick part.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Everything fits in one bar; hill unused.</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Program ordered by height and access.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Compact adjacencies; good for services.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Clear split public / working.</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566928">
                <a:tc>
                  <a:txBody>
                    <a:bodyPr/>
                    <a:lstStyle/>
                    <a:p>
                      <a:pPr indent="0" marL="0">
                        <a:buNone/>
                      </a:pPr>
                      <a:r>
                        <a:rPr lang="en-US" sz="700" b="1" dirty="0">
                          <a:solidFill>
                            <a:srgbClr val="1B1B1B"/>
                          </a:solidFill>
                          <a:latin typeface="Arial" pitchFamily="34" charset="0"/>
                          <a:ea typeface="Arial" pitchFamily="34" charset="-122"/>
                          <a:cs typeface="Arial" pitchFamily="34" charset="-120"/>
                        </a:rPr>
                        <a:t>PUBLIC ENGAGEMENT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Strong at the road; hill above is open.</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Very strong at the street; weak on the hill.</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Public passes every function on the way up.</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Hall is public; hill becomes backdrop.</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Meeting only at nodes.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566928">
                <a:tc>
                  <a:txBody>
                    <a:bodyPr/>
                    <a:lstStyle/>
                    <a:p>
                      <a:pPr indent="0" marL="0">
                        <a:buNone/>
                      </a:pPr>
                      <a:r>
                        <a:rPr lang="en-US" sz="700" b="1" dirty="0">
                          <a:solidFill>
                            <a:srgbClr val="1B1B1B"/>
                          </a:solidFill>
                          <a:latin typeface="Arial" pitchFamily="34" charset="0"/>
                          <a:ea typeface="Arial" pitchFamily="34" charset="-122"/>
                          <a:cs typeface="Arial" pitchFamily="34" charset="-120"/>
                        </a:rPr>
                        <a:t>ABILITY TO GENERATE FORM</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Clear ring; risk of monotony.</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Easy to generate; may read as a monument.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Bars + route generate plan and form together.</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Clear but risks a generic atrium block.</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Diagram strong, form arbitrary on a hill.</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566928">
                <a:tc>
                  <a:txBody>
                    <a:bodyPr/>
                    <a:lstStyle/>
                    <a:p>
                      <a:pPr indent="0" marL="0">
                        <a:buNone/>
                      </a:pPr>
                      <a:r>
                        <a:rPr lang="en-US" sz="700" b="1" dirty="0">
                          <a:solidFill>
                            <a:srgbClr val="1B1B1B"/>
                          </a:solidFill>
                          <a:latin typeface="Arial" pitchFamily="34" charset="0"/>
                          <a:ea typeface="Arial" pitchFamily="34" charset="-122"/>
                          <a:cs typeface="Arial" pitchFamily="34" charset="-120"/>
                        </a:rPr>
                        <a:t>SECTIONAL POTENTIAL</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Roof-to-slope link is the key section.</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Clear layered section, arcade void.</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Stepped section is the concept itself.</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Void section is strong and simple.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Bridging bars on piers.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566928">
                <a:tc>
                  <a:txBody>
                    <a:bodyPr/>
                    <a:lstStyle/>
                    <a:p>
                      <a:pPr indent="0" marL="0">
                        <a:buNone/>
                      </a:pPr>
                      <a:r>
                        <a:rPr lang="en-US" sz="700" b="1" dirty="0">
                          <a:solidFill>
                            <a:srgbClr val="1B1B1B"/>
                          </a:solidFill>
                          <a:latin typeface="Arial" pitchFamily="34" charset="0"/>
                          <a:ea typeface="Arial" pitchFamily="34" charset="-122"/>
                          <a:cs typeface="Arial" pitchFamily="34" charset="-120"/>
                        </a:rPr>
                        <a:t>TOPOGRAPHY</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Extends the slope, no cuts — but ring may wall off the hill.</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Flat edge only — hill untouched but unused.</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Works with levels; needs care with slope access + trees.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Least disturbance, least engagement with the hill.</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Spans the slope: more structure, awkward levels.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9" name="Text 6"/>
          <p:cNvSpPr txBox="1"/>
          <p:nvPr/>
        </p:nvSpPr>
        <p:spPr>
          <a:xfrm>
            <a:off x="365760" y="6400800"/>
            <a:ext cx="11430000" cy="228600"/>
          </a:xfrm>
          <a:prstGeom prst="rect">
            <a:avLst/>
          </a:prstGeom>
          <a:noFill/>
          <a:ln/>
        </p:spPr>
        <p:txBody>
          <a:bodyPr wrap="square" lIns="0" tIns="0" rIns="0" bIns="0" rtlCol="0" anchor="t"/>
          <a:lstStyle/>
          <a:p>
            <a:pPr indent="0" marL="0">
              <a:buNone/>
            </a:pPr>
            <a:r>
              <a:rPr lang="en-US" sz="800" i="1" dirty="0">
                <a:solidFill>
                  <a:srgbClr val="6B6B6B"/>
                </a:solidFill>
                <a:latin typeface="Arial" pitchFamily="34" charset="0"/>
                <a:ea typeface="Arial" pitchFamily="34" charset="-122"/>
                <a:cs typeface="Arial" pitchFamily="34" charset="-120"/>
              </a:rPr>
              <a:t>Key limitation to resolve in C: slope accessibility (ramps + lifts), security of working rooms along a public route, and footings between existing trees.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DEVELOPING DIRECTION C — THE PUBLIC ASCENT</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Not declared “the best” — it is the direction where the most drivers turn into the same physical move. The final choice is mine.</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09</a:t>
            </a:r>
            <a:endParaRPr lang="en-US" sz="3400" dirty="0"/>
          </a:p>
        </p:txBody>
      </p:sp>
      <p:sp>
        <p:nvSpPr>
          <p:cNvPr id="6" name="Shape 4"/>
          <p:cNvSpPr/>
          <p:nvPr/>
        </p:nvSpPr>
        <p:spPr>
          <a:xfrm>
            <a:off x="10241280" y="896112"/>
            <a:ext cx="1554480" cy="182880"/>
          </a:xfrm>
          <a:prstGeom prst="roundRect">
            <a:avLst>
              <a:gd name="adj" fmla="val 20000"/>
            </a:avLst>
          </a:prstGeom>
          <a:solidFill>
            <a:srgbClr val="C4262E"/>
          </a:solidFill>
          <a:ln w="9525">
            <a:solidFill>
              <a:srgbClr val="C4262E"/>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sp>
        <p:nvSpPr>
          <p:cNvPr id="8" name="Shape 6"/>
          <p:cNvSpPr/>
          <p:nvPr/>
        </p:nvSpPr>
        <p:spPr>
          <a:xfrm>
            <a:off x="365760" y="1234440"/>
            <a:ext cx="3931920" cy="3291840"/>
          </a:xfrm>
          <a:prstGeom prst="rect">
            <a:avLst/>
          </a:prstGeom>
          <a:solidFill>
            <a:srgbClr val="FFFFFF"/>
          </a:solidFill>
          <a:ln w="6350">
            <a:solidFill>
              <a:srgbClr val="D9D9D9"/>
            </a:solidFill>
            <a:prstDash val="solid"/>
          </a:ln>
        </p:spPr>
      </p:sp>
      <p:sp>
        <p:nvSpPr>
          <p:cNvPr id="9" name="Text 7"/>
          <p:cNvSpPr txBox="1"/>
          <p:nvPr/>
        </p:nvSpPr>
        <p:spPr>
          <a:xfrm>
            <a:off x="438912" y="1289304"/>
            <a:ext cx="378561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01  </a:t>
            </a:r>
            <a:pPr indent="0" marL="0">
              <a:buNone/>
            </a:pPr>
            <a:r>
              <a:rPr lang="en-US" sz="750" b="1" spc="50" kern="0" dirty="0">
                <a:solidFill>
                  <a:srgbClr val="1B1B1B"/>
                </a:solidFill>
                <a:latin typeface="Arial" pitchFamily="34" charset="0"/>
                <a:ea typeface="Arial" pitchFamily="34" charset="-122"/>
                <a:cs typeface="Arial" pitchFamily="34" charset="-120"/>
              </a:rPr>
              <a:t>CONCEPT DIAGRAM</a:t>
            </a:r>
            <a:endParaRPr lang="en-US" sz="750" dirty="0"/>
          </a:p>
        </p:txBody>
      </p:sp>
      <p:sp>
        <p:nvSpPr>
          <p:cNvPr id="10" name="Text 8"/>
          <p:cNvSpPr txBox="1"/>
          <p:nvPr/>
        </p:nvSpPr>
        <p:spPr>
          <a:xfrm>
            <a:off x="438912" y="4215384"/>
            <a:ext cx="3785616" cy="274320"/>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Route from protest edge to summit · rooms on the contours · working spine crosses the route</a:t>
            </a:r>
            <a:endParaRPr lang="en-US" sz="650" dirty="0"/>
          </a:p>
        </p:txBody>
      </p:sp>
      <p:sp>
        <p:nvSpPr>
          <p:cNvPr id="11" name="Shape 9"/>
          <p:cNvSpPr/>
          <p:nvPr/>
        </p:nvSpPr>
        <p:spPr>
          <a:xfrm>
            <a:off x="721093" y="1838862"/>
            <a:ext cx="3221255" cy="2018987"/>
          </a:xfrm>
          <a:custGeom>
            <a:avLst/>
            <a:gdLst/>
            <a:ahLst/>
            <a:cxnLst/>
            <a:rect l="l" t="t" r="r" b="b"/>
            <a:pathLst>
              <a:path w="3221255" h="2018987">
                <a:moveTo>
                  <a:pt x="3188546" y="1712028"/>
                </a:moveTo>
                <a:lnTo>
                  <a:pt x="3146122" y="1784051"/>
                </a:lnTo>
                <a:lnTo>
                  <a:pt x="3086875" y="1847587"/>
                </a:lnTo>
                <a:lnTo>
                  <a:pt x="3011453" y="1901941"/>
                </a:lnTo>
                <a:lnTo>
                  <a:pt x="2920684" y="1946518"/>
                </a:lnTo>
                <a:lnTo>
                  <a:pt x="2815562" y="1980828"/>
                </a:lnTo>
                <a:lnTo>
                  <a:pt x="2697238" y="2004496"/>
                </a:lnTo>
                <a:lnTo>
                  <a:pt x="2567009" y="2017262"/>
                </a:lnTo>
                <a:lnTo>
                  <a:pt x="2426302" y="2018987"/>
                </a:lnTo>
                <a:lnTo>
                  <a:pt x="2276658" y="2009652"/>
                </a:lnTo>
                <a:lnTo>
                  <a:pt x="2119717" y="1989359"/>
                </a:lnTo>
                <a:lnTo>
                  <a:pt x="1957198" y="1958330"/>
                </a:lnTo>
                <a:lnTo>
                  <a:pt x="1790882" y="1916906"/>
                </a:lnTo>
                <a:lnTo>
                  <a:pt x="1622591" y="1865540"/>
                </a:lnTo>
                <a:lnTo>
                  <a:pt x="1454169" y="1804795"/>
                </a:lnTo>
                <a:lnTo>
                  <a:pt x="1287461" y="1735336"/>
                </a:lnTo>
                <a:lnTo>
                  <a:pt x="1124294" y="1657925"/>
                </a:lnTo>
                <a:lnTo>
                  <a:pt x="966456" y="1573410"/>
                </a:lnTo>
                <a:lnTo>
                  <a:pt x="815675" y="1482716"/>
                </a:lnTo>
                <a:lnTo>
                  <a:pt x="673603" y="1386837"/>
                </a:lnTo>
                <a:lnTo>
                  <a:pt x="541798" y="1286824"/>
                </a:lnTo>
                <a:lnTo>
                  <a:pt x="421703" y="1183773"/>
                </a:lnTo>
                <a:lnTo>
                  <a:pt x="314635" y="1078812"/>
                </a:lnTo>
                <a:lnTo>
                  <a:pt x="221765" y="973092"/>
                </a:lnTo>
                <a:lnTo>
                  <a:pt x="144112" y="867771"/>
                </a:lnTo>
                <a:lnTo>
                  <a:pt x="82527" y="764002"/>
                </a:lnTo>
                <a:lnTo>
                  <a:pt x="37683" y="662923"/>
                </a:lnTo>
                <a:lnTo>
                  <a:pt x="10074" y="565641"/>
                </a:lnTo>
                <a:lnTo>
                  <a:pt x="0" y="473222"/>
                </a:lnTo>
                <a:lnTo>
                  <a:pt x="7573" y="386679"/>
                </a:lnTo>
                <a:lnTo>
                  <a:pt x="32709" y="306959"/>
                </a:lnTo>
                <a:lnTo>
                  <a:pt x="75133" y="234936"/>
                </a:lnTo>
                <a:lnTo>
                  <a:pt x="134380" y="171400"/>
                </a:lnTo>
                <a:lnTo>
                  <a:pt x="209801" y="117046"/>
                </a:lnTo>
                <a:lnTo>
                  <a:pt x="300570" y="72469"/>
                </a:lnTo>
                <a:lnTo>
                  <a:pt x="405693" y="38159"/>
                </a:lnTo>
                <a:lnTo>
                  <a:pt x="524016" y="14492"/>
                </a:lnTo>
                <a:lnTo>
                  <a:pt x="654245" y="1725"/>
                </a:lnTo>
                <a:lnTo>
                  <a:pt x="794953" y="0"/>
                </a:lnTo>
                <a:lnTo>
                  <a:pt x="944597" y="9335"/>
                </a:lnTo>
                <a:lnTo>
                  <a:pt x="1101538" y="29628"/>
                </a:lnTo>
                <a:lnTo>
                  <a:pt x="1264057" y="60657"/>
                </a:lnTo>
                <a:lnTo>
                  <a:pt x="1430373" y="102081"/>
                </a:lnTo>
                <a:lnTo>
                  <a:pt x="1598664" y="153447"/>
                </a:lnTo>
                <a:lnTo>
                  <a:pt x="1767085" y="214192"/>
                </a:lnTo>
                <a:lnTo>
                  <a:pt x="1933793" y="283651"/>
                </a:lnTo>
                <a:lnTo>
                  <a:pt x="2096960" y="361062"/>
                </a:lnTo>
                <a:lnTo>
                  <a:pt x="2254799" y="445578"/>
                </a:lnTo>
                <a:lnTo>
                  <a:pt x="2405580" y="536271"/>
                </a:lnTo>
                <a:lnTo>
                  <a:pt x="2547651" y="632150"/>
                </a:lnTo>
                <a:lnTo>
                  <a:pt x="2679456" y="732163"/>
                </a:lnTo>
                <a:lnTo>
                  <a:pt x="2799551" y="835214"/>
                </a:lnTo>
                <a:lnTo>
                  <a:pt x="2906620" y="940175"/>
                </a:lnTo>
                <a:lnTo>
                  <a:pt x="2999490" y="1045895"/>
                </a:lnTo>
                <a:lnTo>
                  <a:pt x="3077142" y="1151216"/>
                </a:lnTo>
                <a:lnTo>
                  <a:pt x="3138728" y="1254985"/>
                </a:lnTo>
                <a:lnTo>
                  <a:pt x="3183571" y="1356064"/>
                </a:lnTo>
                <a:lnTo>
                  <a:pt x="3211181" y="1453346"/>
                </a:lnTo>
                <a:lnTo>
                  <a:pt x="3221255" y="1545765"/>
                </a:lnTo>
                <a:lnTo>
                  <a:pt x="3213682" y="1632308"/>
                </a:lnTo>
                <a:close/>
              </a:path>
            </a:pathLst>
          </a:custGeom>
          <a:solidFill>
            <a:srgbClr val="E4E4E4"/>
          </a:solidFill>
          <a:ln w="12700"/>
        </p:spPr>
      </p:sp>
      <p:sp>
        <p:nvSpPr>
          <p:cNvPr id="12" name="Shape 10"/>
          <p:cNvSpPr/>
          <p:nvPr/>
        </p:nvSpPr>
        <p:spPr>
          <a:xfrm>
            <a:off x="433761" y="2100101"/>
            <a:ext cx="320040" cy="45720"/>
          </a:xfrm>
          <a:custGeom>
            <a:avLst/>
            <a:gdLst/>
            <a:ahLst/>
            <a:cxnLst/>
            <a:rect l="l" t="t" r="r" b="b"/>
            <a:pathLst>
              <a:path w="320040" h="45720">
                <a:moveTo>
                  <a:pt x="320040" y="45720"/>
                </a:moveTo>
                <a:lnTo>
                  <a:pt x="0" y="0"/>
                </a:lnTo>
              </a:path>
            </a:pathLst>
          </a:custGeom>
          <a:ln w="76200">
            <a:solidFill>
              <a:srgbClr val="E4E4E4"/>
            </a:solidFill>
            <a:prstDash val="solid"/>
          </a:ln>
        </p:spPr>
      </p:sp>
      <p:sp>
        <p:nvSpPr>
          <p:cNvPr id="13" name="Shape 11"/>
          <p:cNvSpPr/>
          <p:nvPr/>
        </p:nvSpPr>
        <p:spPr>
          <a:xfrm>
            <a:off x="3909639" y="3550891"/>
            <a:ext cx="320040" cy="45720"/>
          </a:xfrm>
          <a:custGeom>
            <a:avLst/>
            <a:gdLst/>
            <a:ahLst/>
            <a:cxnLst/>
            <a:rect l="l" t="t" r="r" b="b"/>
            <a:pathLst>
              <a:path w="320040" h="45720">
                <a:moveTo>
                  <a:pt x="0" y="0"/>
                </a:moveTo>
                <a:lnTo>
                  <a:pt x="320040" y="45720"/>
                </a:lnTo>
              </a:path>
            </a:pathLst>
          </a:custGeom>
          <a:ln w="76200">
            <a:solidFill>
              <a:srgbClr val="E4E4E4"/>
            </a:solidFill>
            <a:prstDash val="solid"/>
          </a:ln>
        </p:spPr>
      </p:sp>
      <p:sp>
        <p:nvSpPr>
          <p:cNvPr id="14" name="Shape 12"/>
          <p:cNvSpPr/>
          <p:nvPr/>
        </p:nvSpPr>
        <p:spPr>
          <a:xfrm>
            <a:off x="989531" y="2007111"/>
            <a:ext cx="2684379" cy="1682489"/>
          </a:xfrm>
          <a:custGeom>
            <a:avLst/>
            <a:gdLst/>
            <a:ahLst/>
            <a:cxnLst/>
            <a:rect l="l" t="t" r="r" b="b"/>
            <a:pathLst>
              <a:path w="2684379" h="1682489">
                <a:moveTo>
                  <a:pt x="2657122" y="1426690"/>
                </a:moveTo>
                <a:lnTo>
                  <a:pt x="2621768" y="1486709"/>
                </a:lnTo>
                <a:lnTo>
                  <a:pt x="2572396" y="1539656"/>
                </a:lnTo>
                <a:lnTo>
                  <a:pt x="2509544" y="1584951"/>
                </a:lnTo>
                <a:lnTo>
                  <a:pt x="2433904" y="1622098"/>
                </a:lnTo>
                <a:lnTo>
                  <a:pt x="2346302" y="1650690"/>
                </a:lnTo>
                <a:lnTo>
                  <a:pt x="2247698" y="1670413"/>
                </a:lnTo>
                <a:lnTo>
                  <a:pt x="2139174" y="1681052"/>
                </a:lnTo>
                <a:lnTo>
                  <a:pt x="2021918" y="1682489"/>
                </a:lnTo>
                <a:lnTo>
                  <a:pt x="1897215" y="1674710"/>
                </a:lnTo>
                <a:lnTo>
                  <a:pt x="1766431" y="1657799"/>
                </a:lnTo>
                <a:lnTo>
                  <a:pt x="1630998" y="1631942"/>
                </a:lnTo>
                <a:lnTo>
                  <a:pt x="1492402" y="1597422"/>
                </a:lnTo>
                <a:lnTo>
                  <a:pt x="1352159" y="1554617"/>
                </a:lnTo>
                <a:lnTo>
                  <a:pt x="1211808" y="1503996"/>
                </a:lnTo>
                <a:lnTo>
                  <a:pt x="1072884" y="1446113"/>
                </a:lnTo>
                <a:lnTo>
                  <a:pt x="936912" y="1381604"/>
                </a:lnTo>
                <a:lnTo>
                  <a:pt x="805380" y="1311175"/>
                </a:lnTo>
                <a:lnTo>
                  <a:pt x="679729" y="1235596"/>
                </a:lnTo>
                <a:lnTo>
                  <a:pt x="561336" y="1155698"/>
                </a:lnTo>
                <a:lnTo>
                  <a:pt x="451498" y="1072354"/>
                </a:lnTo>
                <a:lnTo>
                  <a:pt x="351419" y="986478"/>
                </a:lnTo>
                <a:lnTo>
                  <a:pt x="262195" y="899010"/>
                </a:lnTo>
                <a:lnTo>
                  <a:pt x="184804" y="810910"/>
                </a:lnTo>
                <a:lnTo>
                  <a:pt x="120093" y="723142"/>
                </a:lnTo>
                <a:lnTo>
                  <a:pt x="68772" y="636668"/>
                </a:lnTo>
                <a:lnTo>
                  <a:pt x="31403" y="552436"/>
                </a:lnTo>
                <a:lnTo>
                  <a:pt x="8395" y="471368"/>
                </a:lnTo>
                <a:lnTo>
                  <a:pt x="0" y="394352"/>
                </a:lnTo>
                <a:lnTo>
                  <a:pt x="6311" y="322232"/>
                </a:lnTo>
                <a:lnTo>
                  <a:pt x="27257" y="255799"/>
                </a:lnTo>
                <a:lnTo>
                  <a:pt x="62611" y="195780"/>
                </a:lnTo>
                <a:lnTo>
                  <a:pt x="111983" y="142833"/>
                </a:lnTo>
                <a:lnTo>
                  <a:pt x="174834" y="97538"/>
                </a:lnTo>
                <a:lnTo>
                  <a:pt x="250475" y="60391"/>
                </a:lnTo>
                <a:lnTo>
                  <a:pt x="338077" y="31800"/>
                </a:lnTo>
                <a:lnTo>
                  <a:pt x="436680" y="12076"/>
                </a:lnTo>
                <a:lnTo>
                  <a:pt x="545205" y="1438"/>
                </a:lnTo>
                <a:lnTo>
                  <a:pt x="662461" y="0"/>
                </a:lnTo>
                <a:lnTo>
                  <a:pt x="787164" y="7779"/>
                </a:lnTo>
                <a:lnTo>
                  <a:pt x="917948" y="24690"/>
                </a:lnTo>
                <a:lnTo>
                  <a:pt x="1053381" y="50547"/>
                </a:lnTo>
                <a:lnTo>
                  <a:pt x="1191977" y="85068"/>
                </a:lnTo>
                <a:lnTo>
                  <a:pt x="1332220" y="127873"/>
                </a:lnTo>
                <a:lnTo>
                  <a:pt x="1472571" y="178494"/>
                </a:lnTo>
                <a:lnTo>
                  <a:pt x="1611494" y="236376"/>
                </a:lnTo>
                <a:lnTo>
                  <a:pt x="1747467" y="300885"/>
                </a:lnTo>
                <a:lnTo>
                  <a:pt x="1878999" y="371315"/>
                </a:lnTo>
                <a:lnTo>
                  <a:pt x="2004650" y="446893"/>
                </a:lnTo>
                <a:lnTo>
                  <a:pt x="2123043" y="526792"/>
                </a:lnTo>
                <a:lnTo>
                  <a:pt x="2232880" y="610136"/>
                </a:lnTo>
                <a:lnTo>
                  <a:pt x="2332959" y="696012"/>
                </a:lnTo>
                <a:lnTo>
                  <a:pt x="2422183" y="783479"/>
                </a:lnTo>
                <a:lnTo>
                  <a:pt x="2499575" y="871579"/>
                </a:lnTo>
                <a:lnTo>
                  <a:pt x="2564285" y="959347"/>
                </a:lnTo>
                <a:lnTo>
                  <a:pt x="2615607" y="1045821"/>
                </a:lnTo>
                <a:lnTo>
                  <a:pt x="2652976" y="1130053"/>
                </a:lnTo>
                <a:lnTo>
                  <a:pt x="2675984" y="1211122"/>
                </a:lnTo>
                <a:lnTo>
                  <a:pt x="2684379" y="1288137"/>
                </a:lnTo>
                <a:lnTo>
                  <a:pt x="2678068" y="1360257"/>
                </a:lnTo>
                <a:close/>
              </a:path>
            </a:pathLst>
          </a:custGeom>
          <a:solidFill>
            <a:srgbClr val="FFFFFF"/>
          </a:solidFill>
          <a:ln w="19050">
            <a:solidFill>
              <a:srgbClr val="1B1B1B"/>
            </a:solidFill>
            <a:prstDash val="solid"/>
          </a:ln>
        </p:spPr>
      </p:sp>
      <p:sp>
        <p:nvSpPr>
          <p:cNvPr id="15" name="Shape 13"/>
          <p:cNvSpPr/>
          <p:nvPr/>
        </p:nvSpPr>
        <p:spPr>
          <a:xfrm>
            <a:off x="1510302" y="2270961"/>
            <a:ext cx="1932753" cy="1211392"/>
          </a:xfrm>
          <a:custGeom>
            <a:avLst/>
            <a:gdLst/>
            <a:ahLst/>
            <a:cxnLst/>
            <a:rect l="l" t="t" r="r" b="b"/>
            <a:pathLst>
              <a:path w="1932753" h="1211392">
                <a:moveTo>
                  <a:pt x="1913128" y="1027217"/>
                </a:moveTo>
                <a:lnTo>
                  <a:pt x="1887673" y="1070431"/>
                </a:lnTo>
                <a:lnTo>
                  <a:pt x="1852125" y="1108552"/>
                </a:lnTo>
                <a:lnTo>
                  <a:pt x="1806872" y="1141165"/>
                </a:lnTo>
                <a:lnTo>
                  <a:pt x="1752411" y="1167911"/>
                </a:lnTo>
                <a:lnTo>
                  <a:pt x="1689337" y="1188497"/>
                </a:lnTo>
                <a:lnTo>
                  <a:pt x="1618343" y="1202697"/>
                </a:lnTo>
                <a:lnTo>
                  <a:pt x="1540205" y="1210357"/>
                </a:lnTo>
                <a:lnTo>
                  <a:pt x="1455781" y="1211392"/>
                </a:lnTo>
                <a:lnTo>
                  <a:pt x="1365995" y="1205791"/>
                </a:lnTo>
                <a:lnTo>
                  <a:pt x="1271830" y="1193615"/>
                </a:lnTo>
                <a:lnTo>
                  <a:pt x="1174319" y="1174998"/>
                </a:lnTo>
                <a:lnTo>
                  <a:pt x="1074529" y="1150144"/>
                </a:lnTo>
                <a:lnTo>
                  <a:pt x="973555" y="1119324"/>
                </a:lnTo>
                <a:lnTo>
                  <a:pt x="872501" y="1082877"/>
                </a:lnTo>
                <a:lnTo>
                  <a:pt x="772477" y="1041202"/>
                </a:lnTo>
                <a:lnTo>
                  <a:pt x="674577" y="994755"/>
                </a:lnTo>
                <a:lnTo>
                  <a:pt x="579873" y="944046"/>
                </a:lnTo>
                <a:lnTo>
                  <a:pt x="489405" y="889629"/>
                </a:lnTo>
                <a:lnTo>
                  <a:pt x="404162" y="832102"/>
                </a:lnTo>
                <a:lnTo>
                  <a:pt x="325079" y="772095"/>
                </a:lnTo>
                <a:lnTo>
                  <a:pt x="253022" y="710264"/>
                </a:lnTo>
                <a:lnTo>
                  <a:pt x="188781" y="647287"/>
                </a:lnTo>
                <a:lnTo>
                  <a:pt x="133059" y="583855"/>
                </a:lnTo>
                <a:lnTo>
                  <a:pt x="86467" y="520662"/>
                </a:lnTo>
                <a:lnTo>
                  <a:pt x="49516" y="458401"/>
                </a:lnTo>
                <a:lnTo>
                  <a:pt x="22610" y="397754"/>
                </a:lnTo>
                <a:lnTo>
                  <a:pt x="6044" y="339385"/>
                </a:lnTo>
                <a:lnTo>
                  <a:pt x="0" y="283933"/>
                </a:lnTo>
                <a:lnTo>
                  <a:pt x="4544" y="232007"/>
                </a:lnTo>
                <a:lnTo>
                  <a:pt x="19625" y="184175"/>
                </a:lnTo>
                <a:lnTo>
                  <a:pt x="45080" y="140962"/>
                </a:lnTo>
                <a:lnTo>
                  <a:pt x="80628" y="102840"/>
                </a:lnTo>
                <a:lnTo>
                  <a:pt x="125881" y="70227"/>
                </a:lnTo>
                <a:lnTo>
                  <a:pt x="180342" y="43482"/>
                </a:lnTo>
                <a:lnTo>
                  <a:pt x="243416" y="22896"/>
                </a:lnTo>
                <a:lnTo>
                  <a:pt x="314410" y="8695"/>
                </a:lnTo>
                <a:lnTo>
                  <a:pt x="392547" y="1035"/>
                </a:lnTo>
                <a:lnTo>
                  <a:pt x="476972" y="0"/>
                </a:lnTo>
                <a:lnTo>
                  <a:pt x="566758" y="5601"/>
                </a:lnTo>
                <a:lnTo>
                  <a:pt x="660923" y="17777"/>
                </a:lnTo>
                <a:lnTo>
                  <a:pt x="758434" y="36394"/>
                </a:lnTo>
                <a:lnTo>
                  <a:pt x="858224" y="61249"/>
                </a:lnTo>
                <a:lnTo>
                  <a:pt x="959198" y="92068"/>
                </a:lnTo>
                <a:lnTo>
                  <a:pt x="1060251" y="128515"/>
                </a:lnTo>
                <a:lnTo>
                  <a:pt x="1160276" y="170191"/>
                </a:lnTo>
                <a:lnTo>
                  <a:pt x="1258176" y="216637"/>
                </a:lnTo>
                <a:lnTo>
                  <a:pt x="1352879" y="267347"/>
                </a:lnTo>
                <a:lnTo>
                  <a:pt x="1443348" y="321763"/>
                </a:lnTo>
                <a:lnTo>
                  <a:pt x="1528591" y="379290"/>
                </a:lnTo>
                <a:lnTo>
                  <a:pt x="1607674" y="439298"/>
                </a:lnTo>
                <a:lnTo>
                  <a:pt x="1679731" y="501128"/>
                </a:lnTo>
                <a:lnTo>
                  <a:pt x="1743972" y="564105"/>
                </a:lnTo>
                <a:lnTo>
                  <a:pt x="1799694" y="627537"/>
                </a:lnTo>
                <a:lnTo>
                  <a:pt x="1846285" y="690730"/>
                </a:lnTo>
                <a:lnTo>
                  <a:pt x="1883237" y="752991"/>
                </a:lnTo>
                <a:lnTo>
                  <a:pt x="1910143" y="813638"/>
                </a:lnTo>
                <a:lnTo>
                  <a:pt x="1926708" y="872008"/>
                </a:lnTo>
                <a:lnTo>
                  <a:pt x="1932753" y="927459"/>
                </a:lnTo>
                <a:lnTo>
                  <a:pt x="1928209" y="979385"/>
                </a:lnTo>
                <a:close/>
              </a:path>
            </a:pathLst>
          </a:custGeom>
          <a:ln w="6350">
            <a:solidFill>
              <a:srgbClr val="4F7A43"/>
            </a:solidFill>
            <a:prstDash val="dash"/>
          </a:ln>
        </p:spPr>
      </p:sp>
      <p:sp>
        <p:nvSpPr>
          <p:cNvPr id="16" name="Shape 14"/>
          <p:cNvSpPr/>
          <p:nvPr/>
        </p:nvSpPr>
        <p:spPr>
          <a:xfrm>
            <a:off x="1859271" y="2489685"/>
            <a:ext cx="1234814" cy="773945"/>
          </a:xfrm>
          <a:custGeom>
            <a:avLst/>
            <a:gdLst/>
            <a:ahLst/>
            <a:cxnLst/>
            <a:rect l="l" t="t" r="r" b="b"/>
            <a:pathLst>
              <a:path w="1234814" h="773945">
                <a:moveTo>
                  <a:pt x="1222276" y="656277"/>
                </a:moveTo>
                <a:lnTo>
                  <a:pt x="1206013" y="683886"/>
                </a:lnTo>
                <a:lnTo>
                  <a:pt x="1183302" y="708242"/>
                </a:lnTo>
                <a:lnTo>
                  <a:pt x="1154390" y="729078"/>
                </a:lnTo>
                <a:lnTo>
                  <a:pt x="1119596" y="746165"/>
                </a:lnTo>
                <a:lnTo>
                  <a:pt x="1079299" y="759317"/>
                </a:lnTo>
                <a:lnTo>
                  <a:pt x="1033941" y="768390"/>
                </a:lnTo>
                <a:lnTo>
                  <a:pt x="984020" y="773284"/>
                </a:lnTo>
                <a:lnTo>
                  <a:pt x="930082" y="773945"/>
                </a:lnTo>
                <a:lnTo>
                  <a:pt x="872719" y="770367"/>
                </a:lnTo>
                <a:lnTo>
                  <a:pt x="812558" y="762588"/>
                </a:lnTo>
                <a:lnTo>
                  <a:pt x="750259" y="750693"/>
                </a:lnTo>
                <a:lnTo>
                  <a:pt x="686505" y="734814"/>
                </a:lnTo>
                <a:lnTo>
                  <a:pt x="621993" y="715124"/>
                </a:lnTo>
                <a:lnTo>
                  <a:pt x="557431" y="691838"/>
                </a:lnTo>
                <a:lnTo>
                  <a:pt x="493527" y="665212"/>
                </a:lnTo>
                <a:lnTo>
                  <a:pt x="430979" y="635538"/>
                </a:lnTo>
                <a:lnTo>
                  <a:pt x="370475" y="603140"/>
                </a:lnTo>
                <a:lnTo>
                  <a:pt x="312675" y="568374"/>
                </a:lnTo>
                <a:lnTo>
                  <a:pt x="258215" y="531621"/>
                </a:lnTo>
                <a:lnTo>
                  <a:pt x="207689" y="493283"/>
                </a:lnTo>
                <a:lnTo>
                  <a:pt x="161653" y="453780"/>
                </a:lnTo>
                <a:lnTo>
                  <a:pt x="120610" y="413545"/>
                </a:lnTo>
                <a:lnTo>
                  <a:pt x="85010" y="373019"/>
                </a:lnTo>
                <a:lnTo>
                  <a:pt x="55243" y="332645"/>
                </a:lnTo>
                <a:lnTo>
                  <a:pt x="31635" y="292867"/>
                </a:lnTo>
                <a:lnTo>
                  <a:pt x="14445" y="254120"/>
                </a:lnTo>
                <a:lnTo>
                  <a:pt x="3862" y="216829"/>
                </a:lnTo>
                <a:lnTo>
                  <a:pt x="0" y="181402"/>
                </a:lnTo>
                <a:lnTo>
                  <a:pt x="2903" y="148227"/>
                </a:lnTo>
                <a:lnTo>
                  <a:pt x="12538" y="117668"/>
                </a:lnTo>
                <a:lnTo>
                  <a:pt x="28801" y="90059"/>
                </a:lnTo>
                <a:lnTo>
                  <a:pt x="51512" y="65703"/>
                </a:lnTo>
                <a:lnTo>
                  <a:pt x="80424" y="44868"/>
                </a:lnTo>
                <a:lnTo>
                  <a:pt x="115219" y="27780"/>
                </a:lnTo>
                <a:lnTo>
                  <a:pt x="155516" y="14628"/>
                </a:lnTo>
                <a:lnTo>
                  <a:pt x="200873" y="5555"/>
                </a:lnTo>
                <a:lnTo>
                  <a:pt x="250794" y="661"/>
                </a:lnTo>
                <a:lnTo>
                  <a:pt x="304732" y="0"/>
                </a:lnTo>
                <a:lnTo>
                  <a:pt x="362095" y="3578"/>
                </a:lnTo>
                <a:lnTo>
                  <a:pt x="422256" y="11357"/>
                </a:lnTo>
                <a:lnTo>
                  <a:pt x="484555" y="23252"/>
                </a:lnTo>
                <a:lnTo>
                  <a:pt x="548310" y="39131"/>
                </a:lnTo>
                <a:lnTo>
                  <a:pt x="612821" y="58821"/>
                </a:lnTo>
                <a:lnTo>
                  <a:pt x="677383" y="82107"/>
                </a:lnTo>
                <a:lnTo>
                  <a:pt x="741287" y="108733"/>
                </a:lnTo>
                <a:lnTo>
                  <a:pt x="803835" y="138407"/>
                </a:lnTo>
                <a:lnTo>
                  <a:pt x="864340" y="170805"/>
                </a:lnTo>
                <a:lnTo>
                  <a:pt x="922139" y="205571"/>
                </a:lnTo>
                <a:lnTo>
                  <a:pt x="976600" y="242324"/>
                </a:lnTo>
                <a:lnTo>
                  <a:pt x="1027125" y="280662"/>
                </a:lnTo>
                <a:lnTo>
                  <a:pt x="1073161" y="320165"/>
                </a:lnTo>
                <a:lnTo>
                  <a:pt x="1114204" y="360400"/>
                </a:lnTo>
                <a:lnTo>
                  <a:pt x="1149804" y="400926"/>
                </a:lnTo>
                <a:lnTo>
                  <a:pt x="1179571" y="441300"/>
                </a:lnTo>
                <a:lnTo>
                  <a:pt x="1203179" y="481078"/>
                </a:lnTo>
                <a:lnTo>
                  <a:pt x="1220369" y="519825"/>
                </a:lnTo>
                <a:lnTo>
                  <a:pt x="1230953" y="557116"/>
                </a:lnTo>
                <a:lnTo>
                  <a:pt x="1234814" y="592543"/>
                </a:lnTo>
                <a:lnTo>
                  <a:pt x="1231911" y="625718"/>
                </a:lnTo>
                <a:close/>
              </a:path>
            </a:pathLst>
          </a:custGeom>
          <a:ln w="6350">
            <a:solidFill>
              <a:srgbClr val="4F7A43"/>
            </a:solidFill>
            <a:prstDash val="dash"/>
          </a:ln>
        </p:spPr>
      </p:sp>
      <p:sp>
        <p:nvSpPr>
          <p:cNvPr id="17" name="Shape 15"/>
          <p:cNvSpPr/>
          <p:nvPr/>
        </p:nvSpPr>
        <p:spPr>
          <a:xfrm>
            <a:off x="2181397" y="2691583"/>
            <a:ext cx="590563" cy="370148"/>
          </a:xfrm>
          <a:custGeom>
            <a:avLst/>
            <a:gdLst/>
            <a:ahLst/>
            <a:cxnLst/>
            <a:rect l="l" t="t" r="r" b="b"/>
            <a:pathLst>
              <a:path w="590563" h="370148">
                <a:moveTo>
                  <a:pt x="584567" y="313872"/>
                </a:moveTo>
                <a:lnTo>
                  <a:pt x="576789" y="327076"/>
                </a:lnTo>
                <a:lnTo>
                  <a:pt x="565927" y="338724"/>
                </a:lnTo>
                <a:lnTo>
                  <a:pt x="552100" y="348689"/>
                </a:lnTo>
                <a:lnTo>
                  <a:pt x="535459" y="356862"/>
                </a:lnTo>
                <a:lnTo>
                  <a:pt x="516186" y="363152"/>
                </a:lnTo>
                <a:lnTo>
                  <a:pt x="494494" y="367491"/>
                </a:lnTo>
                <a:lnTo>
                  <a:pt x="470618" y="369831"/>
                </a:lnTo>
                <a:lnTo>
                  <a:pt x="444822" y="370148"/>
                </a:lnTo>
                <a:lnTo>
                  <a:pt x="417387" y="368436"/>
                </a:lnTo>
                <a:lnTo>
                  <a:pt x="388615" y="364716"/>
                </a:lnTo>
                <a:lnTo>
                  <a:pt x="358820" y="359027"/>
                </a:lnTo>
                <a:lnTo>
                  <a:pt x="328328" y="351433"/>
                </a:lnTo>
                <a:lnTo>
                  <a:pt x="297475" y="342016"/>
                </a:lnTo>
                <a:lnTo>
                  <a:pt x="266598" y="330879"/>
                </a:lnTo>
                <a:lnTo>
                  <a:pt x="236035" y="318145"/>
                </a:lnTo>
                <a:lnTo>
                  <a:pt x="206121" y="303953"/>
                </a:lnTo>
                <a:lnTo>
                  <a:pt x="177184" y="288458"/>
                </a:lnTo>
                <a:lnTo>
                  <a:pt x="149540" y="271831"/>
                </a:lnTo>
                <a:lnTo>
                  <a:pt x="123494" y="254253"/>
                </a:lnTo>
                <a:lnTo>
                  <a:pt x="99330" y="235918"/>
                </a:lnTo>
                <a:lnTo>
                  <a:pt x="77312" y="217025"/>
                </a:lnTo>
                <a:lnTo>
                  <a:pt x="57683" y="197782"/>
                </a:lnTo>
                <a:lnTo>
                  <a:pt x="40657" y="178400"/>
                </a:lnTo>
                <a:lnTo>
                  <a:pt x="26421" y="159091"/>
                </a:lnTo>
                <a:lnTo>
                  <a:pt x="15130" y="140067"/>
                </a:lnTo>
                <a:lnTo>
                  <a:pt x="6909" y="121536"/>
                </a:lnTo>
                <a:lnTo>
                  <a:pt x="1847" y="103701"/>
                </a:lnTo>
                <a:lnTo>
                  <a:pt x="0" y="86757"/>
                </a:lnTo>
                <a:lnTo>
                  <a:pt x="1388" y="70891"/>
                </a:lnTo>
                <a:lnTo>
                  <a:pt x="5997" y="56276"/>
                </a:lnTo>
                <a:lnTo>
                  <a:pt x="13774" y="43072"/>
                </a:lnTo>
                <a:lnTo>
                  <a:pt x="24636" y="31423"/>
                </a:lnTo>
                <a:lnTo>
                  <a:pt x="38464" y="21458"/>
                </a:lnTo>
                <a:lnTo>
                  <a:pt x="55105" y="13286"/>
                </a:lnTo>
                <a:lnTo>
                  <a:pt x="74377" y="6996"/>
                </a:lnTo>
                <a:lnTo>
                  <a:pt x="96070" y="2657"/>
                </a:lnTo>
                <a:lnTo>
                  <a:pt x="119945" y="316"/>
                </a:lnTo>
                <a:lnTo>
                  <a:pt x="145741" y="0"/>
                </a:lnTo>
                <a:lnTo>
                  <a:pt x="173176" y="1711"/>
                </a:lnTo>
                <a:lnTo>
                  <a:pt x="201949" y="5432"/>
                </a:lnTo>
                <a:lnTo>
                  <a:pt x="231744" y="11120"/>
                </a:lnTo>
                <a:lnTo>
                  <a:pt x="262235" y="18715"/>
                </a:lnTo>
                <a:lnTo>
                  <a:pt x="293088" y="28132"/>
                </a:lnTo>
                <a:lnTo>
                  <a:pt x="323966" y="39269"/>
                </a:lnTo>
                <a:lnTo>
                  <a:pt x="354529" y="52003"/>
                </a:lnTo>
                <a:lnTo>
                  <a:pt x="384443" y="66195"/>
                </a:lnTo>
                <a:lnTo>
                  <a:pt x="413380" y="81689"/>
                </a:lnTo>
                <a:lnTo>
                  <a:pt x="441023" y="98316"/>
                </a:lnTo>
                <a:lnTo>
                  <a:pt x="467069" y="115894"/>
                </a:lnTo>
                <a:lnTo>
                  <a:pt x="491234" y="134230"/>
                </a:lnTo>
                <a:lnTo>
                  <a:pt x="513251" y="153123"/>
                </a:lnTo>
                <a:lnTo>
                  <a:pt x="532880" y="172365"/>
                </a:lnTo>
                <a:lnTo>
                  <a:pt x="549906" y="191747"/>
                </a:lnTo>
                <a:lnTo>
                  <a:pt x="564143" y="211056"/>
                </a:lnTo>
                <a:lnTo>
                  <a:pt x="575433" y="230081"/>
                </a:lnTo>
                <a:lnTo>
                  <a:pt x="583655" y="248612"/>
                </a:lnTo>
                <a:lnTo>
                  <a:pt x="588716" y="266447"/>
                </a:lnTo>
                <a:lnTo>
                  <a:pt x="590563" y="283390"/>
                </a:lnTo>
                <a:lnTo>
                  <a:pt x="589175" y="299257"/>
                </a:lnTo>
                <a:close/>
              </a:path>
            </a:pathLst>
          </a:custGeom>
          <a:ln w="6350">
            <a:solidFill>
              <a:srgbClr val="4F7A43"/>
            </a:solidFill>
            <a:prstDash val="dash"/>
          </a:ln>
        </p:spPr>
      </p:sp>
      <p:sp>
        <p:nvSpPr>
          <p:cNvPr id="18" name="Shape 16"/>
          <p:cNvSpPr/>
          <p:nvPr/>
        </p:nvSpPr>
        <p:spPr>
          <a:xfrm>
            <a:off x="3445823" y="3320511"/>
            <a:ext cx="86074" cy="86074"/>
          </a:xfrm>
          <a:prstGeom prst="ellipse">
            <a:avLst/>
          </a:prstGeom>
          <a:solidFill>
            <a:srgbClr val="FFFFFF"/>
          </a:solidFill>
          <a:ln w="7620">
            <a:solidFill>
              <a:srgbClr val="4F7A43"/>
            </a:solidFill>
            <a:prstDash val="solid"/>
          </a:ln>
        </p:spPr>
      </p:sp>
      <p:sp>
        <p:nvSpPr>
          <p:cNvPr id="19" name="Shape 17"/>
          <p:cNvSpPr/>
          <p:nvPr/>
        </p:nvSpPr>
        <p:spPr>
          <a:xfrm>
            <a:off x="3325973" y="3453624"/>
            <a:ext cx="86074" cy="86074"/>
          </a:xfrm>
          <a:prstGeom prst="ellipse">
            <a:avLst/>
          </a:prstGeom>
          <a:solidFill>
            <a:srgbClr val="FFFFFF"/>
          </a:solidFill>
          <a:ln w="7620">
            <a:solidFill>
              <a:srgbClr val="4F7A43"/>
            </a:solidFill>
            <a:prstDash val="solid"/>
          </a:ln>
        </p:spPr>
      </p:sp>
      <p:sp>
        <p:nvSpPr>
          <p:cNvPr id="20" name="Shape 18"/>
          <p:cNvSpPr/>
          <p:nvPr/>
        </p:nvSpPr>
        <p:spPr>
          <a:xfrm>
            <a:off x="3115473" y="3530082"/>
            <a:ext cx="86074" cy="86074"/>
          </a:xfrm>
          <a:prstGeom prst="ellipse">
            <a:avLst/>
          </a:prstGeom>
          <a:solidFill>
            <a:srgbClr val="FFFFFF"/>
          </a:solidFill>
          <a:ln w="7620">
            <a:solidFill>
              <a:srgbClr val="4F7A43"/>
            </a:solidFill>
            <a:prstDash val="solid"/>
          </a:ln>
        </p:spPr>
      </p:sp>
      <p:sp>
        <p:nvSpPr>
          <p:cNvPr id="21" name="Shape 19"/>
          <p:cNvSpPr/>
          <p:nvPr/>
        </p:nvSpPr>
        <p:spPr>
          <a:xfrm>
            <a:off x="2832720" y="3543202"/>
            <a:ext cx="86074" cy="86074"/>
          </a:xfrm>
          <a:prstGeom prst="ellipse">
            <a:avLst/>
          </a:prstGeom>
          <a:solidFill>
            <a:srgbClr val="FFFFFF"/>
          </a:solidFill>
          <a:ln w="7620">
            <a:solidFill>
              <a:srgbClr val="4F7A43"/>
            </a:solidFill>
            <a:prstDash val="solid"/>
          </a:ln>
        </p:spPr>
      </p:sp>
      <p:sp>
        <p:nvSpPr>
          <p:cNvPr id="22" name="Shape 20"/>
          <p:cNvSpPr/>
          <p:nvPr/>
        </p:nvSpPr>
        <p:spPr>
          <a:xfrm>
            <a:off x="2502423" y="3491839"/>
            <a:ext cx="86074" cy="86074"/>
          </a:xfrm>
          <a:prstGeom prst="ellipse">
            <a:avLst/>
          </a:prstGeom>
          <a:solidFill>
            <a:srgbClr val="FFFFFF"/>
          </a:solidFill>
          <a:ln w="7620">
            <a:solidFill>
              <a:srgbClr val="4F7A43"/>
            </a:solidFill>
            <a:prstDash val="solid"/>
          </a:ln>
        </p:spPr>
      </p:sp>
      <p:sp>
        <p:nvSpPr>
          <p:cNvPr id="23" name="Shape 21"/>
          <p:cNvSpPr/>
          <p:nvPr/>
        </p:nvSpPr>
        <p:spPr>
          <a:xfrm>
            <a:off x="2153448" y="3380480"/>
            <a:ext cx="86074" cy="86074"/>
          </a:xfrm>
          <a:prstGeom prst="ellipse">
            <a:avLst/>
          </a:prstGeom>
          <a:solidFill>
            <a:srgbClr val="FFFFFF"/>
          </a:solidFill>
          <a:ln w="7620">
            <a:solidFill>
              <a:srgbClr val="4F7A43"/>
            </a:solidFill>
            <a:prstDash val="solid"/>
          </a:ln>
        </p:spPr>
      </p:sp>
      <p:sp>
        <p:nvSpPr>
          <p:cNvPr id="24" name="Shape 22"/>
          <p:cNvSpPr/>
          <p:nvPr/>
        </p:nvSpPr>
        <p:spPr>
          <a:xfrm>
            <a:off x="1816290" y="3218857"/>
            <a:ext cx="86074" cy="86074"/>
          </a:xfrm>
          <a:prstGeom prst="ellipse">
            <a:avLst/>
          </a:prstGeom>
          <a:solidFill>
            <a:srgbClr val="FFFFFF"/>
          </a:solidFill>
          <a:ln w="7620">
            <a:solidFill>
              <a:srgbClr val="4F7A43"/>
            </a:solidFill>
            <a:prstDash val="solid"/>
          </a:ln>
        </p:spPr>
      </p:sp>
      <p:sp>
        <p:nvSpPr>
          <p:cNvPr id="25" name="Shape 23"/>
          <p:cNvSpPr/>
          <p:nvPr/>
        </p:nvSpPr>
        <p:spPr>
          <a:xfrm>
            <a:off x="1520415" y="3021095"/>
            <a:ext cx="86074" cy="86074"/>
          </a:xfrm>
          <a:prstGeom prst="ellipse">
            <a:avLst/>
          </a:prstGeom>
          <a:solidFill>
            <a:srgbClr val="FFFFFF"/>
          </a:solidFill>
          <a:ln w="7620">
            <a:solidFill>
              <a:srgbClr val="4F7A43"/>
            </a:solidFill>
            <a:prstDash val="solid"/>
          </a:ln>
        </p:spPr>
      </p:sp>
      <p:sp>
        <p:nvSpPr>
          <p:cNvPr id="26" name="Shape 24"/>
          <p:cNvSpPr/>
          <p:nvPr/>
        </p:nvSpPr>
        <p:spPr>
          <a:xfrm>
            <a:off x="1291680" y="2804477"/>
            <a:ext cx="86074" cy="86074"/>
          </a:xfrm>
          <a:prstGeom prst="ellipse">
            <a:avLst/>
          </a:prstGeom>
          <a:solidFill>
            <a:srgbClr val="FFFFFF"/>
          </a:solidFill>
          <a:ln w="7620">
            <a:solidFill>
              <a:srgbClr val="4F7A43"/>
            </a:solidFill>
            <a:prstDash val="solid"/>
          </a:ln>
        </p:spPr>
      </p:sp>
      <p:sp>
        <p:nvSpPr>
          <p:cNvPr id="27" name="Shape 25"/>
          <p:cNvSpPr/>
          <p:nvPr/>
        </p:nvSpPr>
        <p:spPr>
          <a:xfrm>
            <a:off x="1150073" y="2587931"/>
            <a:ext cx="86074" cy="86074"/>
          </a:xfrm>
          <a:prstGeom prst="ellipse">
            <a:avLst/>
          </a:prstGeom>
          <a:solidFill>
            <a:srgbClr val="FFFFFF"/>
          </a:solidFill>
          <a:ln w="7620">
            <a:solidFill>
              <a:srgbClr val="4F7A43"/>
            </a:solidFill>
            <a:prstDash val="solid"/>
          </a:ln>
        </p:spPr>
      </p:sp>
      <p:sp>
        <p:nvSpPr>
          <p:cNvPr id="28" name="Shape 26"/>
          <p:cNvSpPr/>
          <p:nvPr/>
        </p:nvSpPr>
        <p:spPr>
          <a:xfrm>
            <a:off x="1107969" y="2390384"/>
            <a:ext cx="86074" cy="86074"/>
          </a:xfrm>
          <a:prstGeom prst="ellipse">
            <a:avLst/>
          </a:prstGeom>
          <a:solidFill>
            <a:srgbClr val="FFFFFF"/>
          </a:solidFill>
          <a:ln w="7620">
            <a:solidFill>
              <a:srgbClr val="4F7A43"/>
            </a:solidFill>
            <a:prstDash val="solid"/>
          </a:ln>
        </p:spPr>
      </p:sp>
      <p:sp>
        <p:nvSpPr>
          <p:cNvPr id="29" name="Shape 27"/>
          <p:cNvSpPr/>
          <p:nvPr/>
        </p:nvSpPr>
        <p:spPr>
          <a:xfrm>
            <a:off x="1169049" y="2229098"/>
            <a:ext cx="86074" cy="86074"/>
          </a:xfrm>
          <a:prstGeom prst="ellipse">
            <a:avLst/>
          </a:prstGeom>
          <a:solidFill>
            <a:srgbClr val="FFFFFF"/>
          </a:solidFill>
          <a:ln w="7620">
            <a:solidFill>
              <a:srgbClr val="4F7A43"/>
            </a:solidFill>
            <a:prstDash val="solid"/>
          </a:ln>
        </p:spPr>
      </p:sp>
      <p:sp>
        <p:nvSpPr>
          <p:cNvPr id="30" name="Shape 28"/>
          <p:cNvSpPr/>
          <p:nvPr/>
        </p:nvSpPr>
        <p:spPr>
          <a:xfrm>
            <a:off x="1327974" y="2118168"/>
            <a:ext cx="86074" cy="86074"/>
          </a:xfrm>
          <a:prstGeom prst="ellipse">
            <a:avLst/>
          </a:prstGeom>
          <a:solidFill>
            <a:srgbClr val="FFFFFF"/>
          </a:solidFill>
          <a:ln w="7620">
            <a:solidFill>
              <a:srgbClr val="4F7A43"/>
            </a:solidFill>
            <a:prstDash val="solid"/>
          </a:ln>
        </p:spPr>
      </p:sp>
      <p:sp>
        <p:nvSpPr>
          <p:cNvPr id="31" name="Shape 29"/>
          <p:cNvSpPr/>
          <p:nvPr/>
        </p:nvSpPr>
        <p:spPr>
          <a:xfrm>
            <a:off x="1570856" y="2067288"/>
            <a:ext cx="86074" cy="86074"/>
          </a:xfrm>
          <a:prstGeom prst="ellipse">
            <a:avLst/>
          </a:prstGeom>
          <a:solidFill>
            <a:srgbClr val="FFFFFF"/>
          </a:solidFill>
          <a:ln w="7620">
            <a:solidFill>
              <a:srgbClr val="4F7A43"/>
            </a:solidFill>
            <a:prstDash val="solid"/>
          </a:ln>
        </p:spPr>
      </p:sp>
      <p:sp>
        <p:nvSpPr>
          <p:cNvPr id="32" name="Shape 30"/>
          <p:cNvSpPr/>
          <p:nvPr/>
        </p:nvSpPr>
        <p:spPr>
          <a:xfrm>
            <a:off x="1876469" y="2080906"/>
            <a:ext cx="86074" cy="86074"/>
          </a:xfrm>
          <a:prstGeom prst="ellipse">
            <a:avLst/>
          </a:prstGeom>
          <a:solidFill>
            <a:srgbClr val="FFFFFF"/>
          </a:solidFill>
          <a:ln w="7620">
            <a:solidFill>
              <a:srgbClr val="4F7A43"/>
            </a:solidFill>
            <a:prstDash val="solid"/>
          </a:ln>
        </p:spPr>
      </p:sp>
      <p:sp>
        <p:nvSpPr>
          <p:cNvPr id="33" name="Shape 31"/>
          <p:cNvSpPr/>
          <p:nvPr/>
        </p:nvSpPr>
        <p:spPr>
          <a:xfrm>
            <a:off x="2218106" y="2157830"/>
            <a:ext cx="86074" cy="86074"/>
          </a:xfrm>
          <a:prstGeom prst="ellipse">
            <a:avLst/>
          </a:prstGeom>
          <a:solidFill>
            <a:srgbClr val="FFFFFF"/>
          </a:solidFill>
          <a:ln w="7620">
            <a:solidFill>
              <a:srgbClr val="4F7A43"/>
            </a:solidFill>
            <a:prstDash val="solid"/>
          </a:ln>
        </p:spPr>
      </p:sp>
      <p:sp>
        <p:nvSpPr>
          <p:cNvPr id="34" name="Shape 32"/>
          <p:cNvSpPr/>
          <p:nvPr/>
        </p:nvSpPr>
        <p:spPr>
          <a:xfrm>
            <a:off x="2565910" y="2291338"/>
            <a:ext cx="86074" cy="86074"/>
          </a:xfrm>
          <a:prstGeom prst="ellipse">
            <a:avLst/>
          </a:prstGeom>
          <a:solidFill>
            <a:srgbClr val="FFFFFF"/>
          </a:solidFill>
          <a:ln w="7620">
            <a:solidFill>
              <a:srgbClr val="4F7A43"/>
            </a:solidFill>
            <a:prstDash val="solid"/>
          </a:ln>
        </p:spPr>
      </p:sp>
      <p:sp>
        <p:nvSpPr>
          <p:cNvPr id="35" name="Shape 33"/>
          <p:cNvSpPr/>
          <p:nvPr/>
        </p:nvSpPr>
        <p:spPr>
          <a:xfrm>
            <a:off x="2889488" y="2469764"/>
            <a:ext cx="86074" cy="86074"/>
          </a:xfrm>
          <a:prstGeom prst="ellipse">
            <a:avLst/>
          </a:prstGeom>
          <a:solidFill>
            <a:srgbClr val="FFFFFF"/>
          </a:solidFill>
          <a:ln w="7620">
            <a:solidFill>
              <a:srgbClr val="4F7A43"/>
            </a:solidFill>
            <a:prstDash val="solid"/>
          </a:ln>
        </p:spPr>
      </p:sp>
      <p:sp>
        <p:nvSpPr>
          <p:cNvPr id="36" name="Shape 34"/>
          <p:cNvSpPr/>
          <p:nvPr/>
        </p:nvSpPr>
        <p:spPr>
          <a:xfrm>
            <a:off x="3160560" y="2677514"/>
            <a:ext cx="86074" cy="86074"/>
          </a:xfrm>
          <a:prstGeom prst="ellipse">
            <a:avLst/>
          </a:prstGeom>
          <a:solidFill>
            <a:srgbClr val="FFFFFF"/>
          </a:solidFill>
          <a:ln w="7620">
            <a:solidFill>
              <a:srgbClr val="4F7A43"/>
            </a:solidFill>
            <a:prstDash val="solid"/>
          </a:ln>
        </p:spPr>
      </p:sp>
      <p:sp>
        <p:nvSpPr>
          <p:cNvPr id="37" name="Shape 35"/>
          <p:cNvSpPr/>
          <p:nvPr/>
        </p:nvSpPr>
        <p:spPr>
          <a:xfrm>
            <a:off x="3355439" y="2896433"/>
            <a:ext cx="86074" cy="86074"/>
          </a:xfrm>
          <a:prstGeom prst="ellipse">
            <a:avLst/>
          </a:prstGeom>
          <a:solidFill>
            <a:srgbClr val="FFFFFF"/>
          </a:solidFill>
          <a:ln w="7620">
            <a:solidFill>
              <a:srgbClr val="4F7A43"/>
            </a:solidFill>
            <a:prstDash val="solid"/>
          </a:ln>
        </p:spPr>
      </p:sp>
      <p:sp>
        <p:nvSpPr>
          <p:cNvPr id="38" name="Shape 36"/>
          <p:cNvSpPr/>
          <p:nvPr/>
        </p:nvSpPr>
        <p:spPr>
          <a:xfrm>
            <a:off x="3457094" y="3107389"/>
            <a:ext cx="86074" cy="86074"/>
          </a:xfrm>
          <a:prstGeom prst="ellipse">
            <a:avLst/>
          </a:prstGeom>
          <a:solidFill>
            <a:srgbClr val="FFFFFF"/>
          </a:solidFill>
          <a:ln w="7620">
            <a:solidFill>
              <a:srgbClr val="4F7A43"/>
            </a:solidFill>
            <a:prstDash val="solid"/>
          </a:ln>
        </p:spPr>
      </p:sp>
      <p:sp>
        <p:nvSpPr>
          <p:cNvPr id="39" name="Shape 37"/>
          <p:cNvSpPr/>
          <p:nvPr/>
        </p:nvSpPr>
        <p:spPr>
          <a:xfrm>
            <a:off x="3456640" y="3291947"/>
            <a:ext cx="86074" cy="86074"/>
          </a:xfrm>
          <a:prstGeom prst="ellipse">
            <a:avLst/>
          </a:prstGeom>
          <a:solidFill>
            <a:srgbClr val="FFFFFF"/>
          </a:solidFill>
          <a:ln w="7620">
            <a:solidFill>
              <a:srgbClr val="4F7A43"/>
            </a:solidFill>
            <a:prstDash val="solid"/>
          </a:ln>
        </p:spPr>
      </p:sp>
      <p:sp>
        <p:nvSpPr>
          <p:cNvPr id="40" name="Shape 38"/>
          <p:cNvSpPr/>
          <p:nvPr/>
        </p:nvSpPr>
        <p:spPr>
          <a:xfrm>
            <a:off x="2416733" y="3348164"/>
            <a:ext cx="1337210" cy="392427"/>
          </a:xfrm>
          <a:custGeom>
            <a:avLst/>
            <a:gdLst/>
            <a:ahLst/>
            <a:cxnLst/>
            <a:rect l="l" t="t" r="r" b="b"/>
            <a:pathLst>
              <a:path w="1337210" h="392427">
                <a:moveTo>
                  <a:pt x="1337210" y="0"/>
                </a:moveTo>
                <a:lnTo>
                  <a:pt x="1330402" y="53405"/>
                </a:lnTo>
                <a:lnTo>
                  <a:pt x="1315810" y="103768"/>
                </a:lnTo>
                <a:lnTo>
                  <a:pt x="1293514" y="150811"/>
                </a:lnTo>
                <a:lnTo>
                  <a:pt x="1263637" y="194277"/>
                </a:lnTo>
                <a:lnTo>
                  <a:pt x="1226342" y="233924"/>
                </a:lnTo>
                <a:lnTo>
                  <a:pt x="1181836" y="269537"/>
                </a:lnTo>
                <a:lnTo>
                  <a:pt x="1130362" y="300919"/>
                </a:lnTo>
                <a:lnTo>
                  <a:pt x="1072204" y="327897"/>
                </a:lnTo>
                <a:lnTo>
                  <a:pt x="1007682" y="350322"/>
                </a:lnTo>
                <a:lnTo>
                  <a:pt x="937150" y="368073"/>
                </a:lnTo>
                <a:lnTo>
                  <a:pt x="860997" y="381050"/>
                </a:lnTo>
                <a:lnTo>
                  <a:pt x="779642" y="389183"/>
                </a:lnTo>
                <a:lnTo>
                  <a:pt x="693531" y="392427"/>
                </a:lnTo>
                <a:lnTo>
                  <a:pt x="603138" y="390764"/>
                </a:lnTo>
                <a:lnTo>
                  <a:pt x="508961" y="384203"/>
                </a:lnTo>
                <a:lnTo>
                  <a:pt x="411517" y="372781"/>
                </a:lnTo>
                <a:lnTo>
                  <a:pt x="311342" y="356559"/>
                </a:lnTo>
                <a:lnTo>
                  <a:pt x="208988" y="335628"/>
                </a:lnTo>
                <a:lnTo>
                  <a:pt x="105016" y="310102"/>
                </a:lnTo>
                <a:lnTo>
                  <a:pt x="0" y="280122"/>
                </a:lnTo>
              </a:path>
            </a:pathLst>
          </a:custGeom>
          <a:ln w="44450">
            <a:solidFill>
              <a:srgbClr val="C4262E"/>
            </a:solidFill>
            <a:prstDash val="solid"/>
          </a:ln>
        </p:spPr>
      </p:sp>
      <p:sp>
        <p:nvSpPr>
          <p:cNvPr id="41" name="Shape 39"/>
          <p:cNvSpPr/>
          <p:nvPr/>
        </p:nvSpPr>
        <p:spPr>
          <a:xfrm>
            <a:off x="438912" y="1481328"/>
            <a:ext cx="731520" cy="146304"/>
          </a:xfrm>
          <a:prstGeom prst="rect">
            <a:avLst/>
          </a:prstGeom>
          <a:solidFill>
            <a:srgbClr val="FFFFFF"/>
          </a:solidFill>
          <a:ln/>
        </p:spPr>
      </p:sp>
      <p:sp>
        <p:nvSpPr>
          <p:cNvPr id="42" name="Text 40"/>
          <p:cNvSpPr txBox="1"/>
          <p:nvPr/>
        </p:nvSpPr>
        <p:spPr>
          <a:xfrm>
            <a:off x="438912" y="1481328"/>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Egerton / Abbot jn.</a:t>
            </a:r>
            <a:endParaRPr lang="en-US" sz="550" dirty="0"/>
          </a:p>
        </p:txBody>
      </p:sp>
      <p:sp>
        <p:nvSpPr>
          <p:cNvPr id="43" name="Shape 41"/>
          <p:cNvSpPr/>
          <p:nvPr/>
        </p:nvSpPr>
        <p:spPr>
          <a:xfrm>
            <a:off x="3493008" y="4069080"/>
            <a:ext cx="731520" cy="146304"/>
          </a:xfrm>
          <a:prstGeom prst="rect">
            <a:avLst/>
          </a:prstGeom>
          <a:solidFill>
            <a:srgbClr val="FFFFFF"/>
          </a:solidFill>
          <a:ln/>
        </p:spPr>
      </p:sp>
      <p:sp>
        <p:nvSpPr>
          <p:cNvPr id="44" name="Text 42"/>
          <p:cNvSpPr txBox="1"/>
          <p:nvPr/>
        </p:nvSpPr>
        <p:spPr>
          <a:xfrm>
            <a:off x="3493008" y="4069080"/>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Davis / Durand jn.</a:t>
            </a:r>
            <a:endParaRPr lang="en-US" sz="550" dirty="0"/>
          </a:p>
        </p:txBody>
      </p:sp>
      <p:sp>
        <p:nvSpPr>
          <p:cNvPr id="45" name="Shape 43"/>
          <p:cNvSpPr/>
          <p:nvPr/>
        </p:nvSpPr>
        <p:spPr>
          <a:xfrm>
            <a:off x="1460163" y="2413582"/>
            <a:ext cx="1722431" cy="1288799"/>
          </a:xfrm>
          <a:custGeom>
            <a:avLst/>
            <a:gdLst/>
            <a:ahLst/>
            <a:cxnLst/>
            <a:rect l="l" t="t" r="r" b="b"/>
            <a:pathLst>
              <a:path w="1722431" h="1288799">
                <a:moveTo>
                  <a:pt x="1722431" y="1288799"/>
                </a:moveTo>
                <a:lnTo>
                  <a:pt x="1548167" y="1274483"/>
                </a:lnTo>
                <a:lnTo>
                  <a:pt x="1367465" y="1243021"/>
                </a:lnTo>
                <a:lnTo>
                  <a:pt x="1184690" y="1195857"/>
                </a:lnTo>
                <a:lnTo>
                  <a:pt x="1004080" y="1134738"/>
                </a:lnTo>
                <a:lnTo>
                  <a:pt x="829656" y="1061663"/>
                </a:lnTo>
                <a:lnTo>
                  <a:pt x="665130" y="978829"/>
                </a:lnTo>
                <a:lnTo>
                  <a:pt x="513833" y="888568"/>
                </a:lnTo>
                <a:lnTo>
                  <a:pt x="378642" y="793290"/>
                </a:lnTo>
                <a:lnTo>
                  <a:pt x="261937" y="695419"/>
                </a:lnTo>
                <a:lnTo>
                  <a:pt x="165551" y="597336"/>
                </a:lnTo>
                <a:lnTo>
                  <a:pt x="90755" y="501322"/>
                </a:lnTo>
                <a:lnTo>
                  <a:pt x="38241" y="409505"/>
                </a:lnTo>
                <a:lnTo>
                  <a:pt x="8132" y="323815"/>
                </a:lnTo>
                <a:lnTo>
                  <a:pt x="0" y="245941"/>
                </a:lnTo>
                <a:lnTo>
                  <a:pt x="12895" y="177303"/>
                </a:lnTo>
                <a:lnTo>
                  <a:pt x="45394" y="119020"/>
                </a:lnTo>
                <a:lnTo>
                  <a:pt x="95652" y="71901"/>
                </a:lnTo>
                <a:lnTo>
                  <a:pt x="161468" y="36431"/>
                </a:lnTo>
                <a:lnTo>
                  <a:pt x="240357" y="12773"/>
                </a:lnTo>
                <a:lnTo>
                  <a:pt x="329622" y="778"/>
                </a:lnTo>
                <a:lnTo>
                  <a:pt x="426439" y="0"/>
                </a:lnTo>
                <a:lnTo>
                  <a:pt x="527935" y="9722"/>
                </a:lnTo>
                <a:lnTo>
                  <a:pt x="631265" y="28984"/>
                </a:lnTo>
                <a:lnTo>
                  <a:pt x="733688" y="56620"/>
                </a:lnTo>
                <a:lnTo>
                  <a:pt x="832644" y="91298"/>
                </a:lnTo>
                <a:lnTo>
                  <a:pt x="925808" y="131564"/>
                </a:lnTo>
                <a:lnTo>
                  <a:pt x="1011153" y="175887"/>
                </a:lnTo>
                <a:lnTo>
                  <a:pt x="1086991" y="222706"/>
                </a:lnTo>
                <a:lnTo>
                  <a:pt x="1152011" y="270477"/>
                </a:lnTo>
                <a:lnTo>
                  <a:pt x="1205302" y="317714"/>
                </a:lnTo>
                <a:lnTo>
                  <a:pt x="1246360" y="363034"/>
                </a:lnTo>
                <a:lnTo>
                  <a:pt x="1275093" y="405190"/>
                </a:lnTo>
                <a:lnTo>
                  <a:pt x="1291808" y="443109"/>
                </a:lnTo>
                <a:lnTo>
                  <a:pt x="1297185" y="475915"/>
                </a:lnTo>
                <a:lnTo>
                  <a:pt x="1292243" y="502948"/>
                </a:lnTo>
                <a:lnTo>
                  <a:pt x="1278301" y="523783"/>
                </a:lnTo>
                <a:lnTo>
                  <a:pt x="1256925" y="538231"/>
                </a:lnTo>
                <a:lnTo>
                  <a:pt x="1229867" y="546339"/>
                </a:lnTo>
                <a:lnTo>
                  <a:pt x="1199010" y="548387"/>
                </a:lnTo>
                <a:lnTo>
                  <a:pt x="1166298" y="544865"/>
                </a:lnTo>
              </a:path>
            </a:pathLst>
          </a:custGeom>
          <a:ln w="25400">
            <a:solidFill>
              <a:srgbClr val="C4262E"/>
            </a:solidFill>
            <a:prstDash val="solid"/>
            <a:tailEnd type="triangle"/>
          </a:ln>
        </p:spPr>
      </p:sp>
      <p:sp>
        <p:nvSpPr>
          <p:cNvPr id="46" name="Shape 44"/>
          <p:cNvSpPr/>
          <p:nvPr/>
        </p:nvSpPr>
        <p:spPr>
          <a:xfrm rot="169550">
            <a:off x="2590456" y="3700869"/>
            <a:ext cx="892411" cy="132422"/>
          </a:xfrm>
          <a:prstGeom prst="rect">
            <a:avLst/>
          </a:prstGeom>
          <a:solidFill>
            <a:srgbClr val="C4262E"/>
          </a:solidFill>
          <a:ln/>
        </p:spPr>
      </p:sp>
      <p:sp>
        <p:nvSpPr>
          <p:cNvPr id="47" name="Shape 45"/>
          <p:cNvSpPr/>
          <p:nvPr/>
        </p:nvSpPr>
        <p:spPr>
          <a:xfrm>
            <a:off x="2958938" y="3689357"/>
            <a:ext cx="155448" cy="155448"/>
          </a:xfrm>
          <a:prstGeom prst="ellipse">
            <a:avLst/>
          </a:prstGeom>
          <a:solidFill>
            <a:srgbClr val="FFFFFF"/>
          </a:solidFill>
          <a:ln w="9525">
            <a:solidFill>
              <a:srgbClr val="1B1B1B"/>
            </a:solidFill>
            <a:prstDash val="solid"/>
          </a:ln>
        </p:spPr>
      </p:sp>
      <p:sp>
        <p:nvSpPr>
          <p:cNvPr id="48" name="Text 46"/>
          <p:cNvSpPr txBox="1"/>
          <p:nvPr/>
        </p:nvSpPr>
        <p:spPr>
          <a:xfrm>
            <a:off x="2958938" y="3689357"/>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1</a:t>
            </a:r>
            <a:endParaRPr lang="en-US" sz="600" dirty="0"/>
          </a:p>
        </p:txBody>
      </p:sp>
      <p:sp>
        <p:nvSpPr>
          <p:cNvPr id="49" name="Shape 47"/>
          <p:cNvSpPr/>
          <p:nvPr/>
        </p:nvSpPr>
        <p:spPr>
          <a:xfrm rot="2669841">
            <a:off x="1064452" y="2877644"/>
            <a:ext cx="791655" cy="132422"/>
          </a:xfrm>
          <a:prstGeom prst="rect">
            <a:avLst/>
          </a:prstGeom>
          <a:solidFill>
            <a:srgbClr val="F0B9BC"/>
          </a:solidFill>
          <a:ln w="6350">
            <a:solidFill>
              <a:srgbClr val="1B1B1B"/>
            </a:solidFill>
            <a:prstDash val="solid"/>
          </a:ln>
        </p:spPr>
      </p:sp>
      <p:sp>
        <p:nvSpPr>
          <p:cNvPr id="50" name="Shape 48"/>
          <p:cNvSpPr/>
          <p:nvPr/>
        </p:nvSpPr>
        <p:spPr>
          <a:xfrm>
            <a:off x="1382555" y="2866131"/>
            <a:ext cx="155448" cy="155448"/>
          </a:xfrm>
          <a:prstGeom prst="ellipse">
            <a:avLst/>
          </a:prstGeom>
          <a:solidFill>
            <a:srgbClr val="FFFFFF"/>
          </a:solidFill>
          <a:ln w="9525">
            <a:solidFill>
              <a:srgbClr val="1B1B1B"/>
            </a:solidFill>
            <a:prstDash val="solid"/>
          </a:ln>
        </p:spPr>
      </p:sp>
      <p:sp>
        <p:nvSpPr>
          <p:cNvPr id="51" name="Text 49"/>
          <p:cNvSpPr txBox="1"/>
          <p:nvPr/>
        </p:nvSpPr>
        <p:spPr>
          <a:xfrm>
            <a:off x="1382555" y="2866131"/>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2</a:t>
            </a:r>
            <a:endParaRPr lang="en-US" sz="600" dirty="0"/>
          </a:p>
        </p:txBody>
      </p:sp>
      <p:sp>
        <p:nvSpPr>
          <p:cNvPr id="52" name="Shape 50"/>
          <p:cNvSpPr/>
          <p:nvPr/>
        </p:nvSpPr>
        <p:spPr>
          <a:xfrm rot="-1236591">
            <a:off x="1350937" y="2269526"/>
            <a:ext cx="662111" cy="132422"/>
          </a:xfrm>
          <a:prstGeom prst="rect">
            <a:avLst/>
          </a:prstGeom>
          <a:solidFill>
            <a:srgbClr val="1B1B1B"/>
          </a:solidFill>
          <a:ln/>
        </p:spPr>
      </p:sp>
      <p:sp>
        <p:nvSpPr>
          <p:cNvPr id="53" name="Shape 51"/>
          <p:cNvSpPr/>
          <p:nvPr/>
        </p:nvSpPr>
        <p:spPr>
          <a:xfrm>
            <a:off x="1604269" y="2258014"/>
            <a:ext cx="155448" cy="155448"/>
          </a:xfrm>
          <a:prstGeom prst="ellipse">
            <a:avLst/>
          </a:prstGeom>
          <a:solidFill>
            <a:srgbClr val="FFFFFF"/>
          </a:solidFill>
          <a:ln w="9525">
            <a:solidFill>
              <a:srgbClr val="1B1B1B"/>
            </a:solidFill>
            <a:prstDash val="solid"/>
          </a:ln>
        </p:spPr>
      </p:sp>
      <p:sp>
        <p:nvSpPr>
          <p:cNvPr id="54" name="Text 52"/>
          <p:cNvSpPr txBox="1"/>
          <p:nvPr/>
        </p:nvSpPr>
        <p:spPr>
          <a:xfrm>
            <a:off x="1604269" y="2258014"/>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3</a:t>
            </a:r>
            <a:endParaRPr lang="en-US" sz="600" dirty="0"/>
          </a:p>
        </p:txBody>
      </p:sp>
      <p:sp>
        <p:nvSpPr>
          <p:cNvPr id="55" name="Shape 53"/>
          <p:cNvSpPr/>
          <p:nvPr/>
        </p:nvSpPr>
        <p:spPr>
          <a:xfrm rot="1650735">
            <a:off x="2385083" y="2556078"/>
            <a:ext cx="518174" cy="132422"/>
          </a:xfrm>
          <a:prstGeom prst="rect">
            <a:avLst/>
          </a:prstGeom>
          <a:solidFill>
            <a:srgbClr val="9A9A9A"/>
          </a:solidFill>
          <a:ln/>
        </p:spPr>
      </p:sp>
      <p:sp>
        <p:nvSpPr>
          <p:cNvPr id="56" name="Shape 54"/>
          <p:cNvSpPr/>
          <p:nvPr/>
        </p:nvSpPr>
        <p:spPr>
          <a:xfrm>
            <a:off x="2566446" y="2544565"/>
            <a:ext cx="155448" cy="155448"/>
          </a:xfrm>
          <a:prstGeom prst="ellipse">
            <a:avLst/>
          </a:prstGeom>
          <a:solidFill>
            <a:srgbClr val="FFFFFF"/>
          </a:solidFill>
          <a:ln w="9525">
            <a:solidFill>
              <a:srgbClr val="1B1B1B"/>
            </a:solidFill>
            <a:prstDash val="solid"/>
          </a:ln>
        </p:spPr>
      </p:sp>
      <p:sp>
        <p:nvSpPr>
          <p:cNvPr id="57" name="Text 55"/>
          <p:cNvSpPr txBox="1"/>
          <p:nvPr/>
        </p:nvSpPr>
        <p:spPr>
          <a:xfrm>
            <a:off x="2566446" y="2544565"/>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4</a:t>
            </a:r>
            <a:endParaRPr lang="en-US" sz="600" dirty="0"/>
          </a:p>
        </p:txBody>
      </p:sp>
      <p:sp>
        <p:nvSpPr>
          <p:cNvPr id="58" name="Shape 56"/>
          <p:cNvSpPr/>
          <p:nvPr/>
        </p:nvSpPr>
        <p:spPr>
          <a:xfrm rot="173647">
            <a:off x="1511996" y="2039681"/>
            <a:ext cx="489387" cy="105938"/>
          </a:xfrm>
          <a:prstGeom prst="rect">
            <a:avLst/>
          </a:prstGeom>
          <a:solidFill>
            <a:srgbClr val="9A9A9A"/>
          </a:solidFill>
          <a:ln/>
        </p:spPr>
      </p:sp>
      <p:sp>
        <p:nvSpPr>
          <p:cNvPr id="59" name="Shape 57"/>
          <p:cNvSpPr/>
          <p:nvPr/>
        </p:nvSpPr>
        <p:spPr>
          <a:xfrm>
            <a:off x="1678966" y="2014926"/>
            <a:ext cx="155448" cy="155448"/>
          </a:xfrm>
          <a:prstGeom prst="ellipse">
            <a:avLst/>
          </a:prstGeom>
          <a:solidFill>
            <a:srgbClr val="FFFFFF"/>
          </a:solidFill>
          <a:ln w="9525">
            <a:solidFill>
              <a:srgbClr val="1B1B1B"/>
            </a:solidFill>
            <a:prstDash val="solid"/>
          </a:ln>
        </p:spPr>
      </p:sp>
      <p:sp>
        <p:nvSpPr>
          <p:cNvPr id="60" name="Text 58"/>
          <p:cNvSpPr txBox="1"/>
          <p:nvPr/>
        </p:nvSpPr>
        <p:spPr>
          <a:xfrm>
            <a:off x="1678966" y="2014926"/>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5</a:t>
            </a:r>
            <a:endParaRPr lang="en-US" sz="600" dirty="0"/>
          </a:p>
        </p:txBody>
      </p:sp>
      <p:sp>
        <p:nvSpPr>
          <p:cNvPr id="61" name="Shape 59"/>
          <p:cNvSpPr/>
          <p:nvPr/>
        </p:nvSpPr>
        <p:spPr>
          <a:xfrm>
            <a:off x="2611600" y="2958447"/>
            <a:ext cx="99661" cy="698826"/>
          </a:xfrm>
          <a:custGeom>
            <a:avLst/>
            <a:gdLst/>
            <a:ahLst/>
            <a:cxnLst/>
            <a:rect l="l" t="t" r="r" b="b"/>
            <a:pathLst>
              <a:path w="99661" h="698826">
                <a:moveTo>
                  <a:pt x="99661" y="698826"/>
                </a:moveTo>
                <a:lnTo>
                  <a:pt x="0" y="351988"/>
                </a:lnTo>
                <a:lnTo>
                  <a:pt x="14861" y="0"/>
                </a:lnTo>
              </a:path>
            </a:pathLst>
          </a:custGeom>
          <a:ln w="19050">
            <a:solidFill>
              <a:srgbClr val="1B1B1B"/>
            </a:solidFill>
            <a:prstDash val="solid"/>
            <a:tailEnd type="triangle"/>
          </a:ln>
        </p:spPr>
      </p:sp>
      <p:sp>
        <p:nvSpPr>
          <p:cNvPr id="62" name="Shape 60"/>
          <p:cNvSpPr/>
          <p:nvPr/>
        </p:nvSpPr>
        <p:spPr>
          <a:xfrm>
            <a:off x="2520524" y="2852510"/>
            <a:ext cx="211876" cy="211876"/>
          </a:xfrm>
          <a:prstGeom prst="ellipse">
            <a:avLst/>
          </a:prstGeom>
          <a:solidFill>
            <a:srgbClr val="FFFFFF"/>
          </a:solidFill>
          <a:ln w="19050">
            <a:solidFill>
              <a:srgbClr val="C4262E"/>
            </a:solidFill>
            <a:prstDash val="solid"/>
          </a:ln>
        </p:spPr>
      </p:sp>
      <p:sp>
        <p:nvSpPr>
          <p:cNvPr id="63" name="Shape 61"/>
          <p:cNvSpPr/>
          <p:nvPr/>
        </p:nvSpPr>
        <p:spPr>
          <a:xfrm>
            <a:off x="2352141" y="2687918"/>
            <a:ext cx="548640" cy="146304"/>
          </a:xfrm>
          <a:prstGeom prst="rect">
            <a:avLst/>
          </a:prstGeom>
          <a:solidFill>
            <a:srgbClr val="FFFFFF"/>
          </a:solidFill>
          <a:ln/>
        </p:spPr>
      </p:sp>
      <p:sp>
        <p:nvSpPr>
          <p:cNvPr id="64" name="Text 62"/>
          <p:cNvSpPr txBox="1"/>
          <p:nvPr/>
        </p:nvSpPr>
        <p:spPr>
          <a:xfrm>
            <a:off x="2352141" y="2687918"/>
            <a:ext cx="548640" cy="146304"/>
          </a:xfrm>
          <a:prstGeom prst="rect">
            <a:avLst/>
          </a:prstGeom>
          <a:noFill/>
          <a:ln/>
        </p:spPr>
        <p:txBody>
          <a:bodyPr wrap="square" lIns="0" tIns="0" rIns="0" bIns="0" rtlCol="0" anchor="ctr"/>
          <a:lstStyle/>
          <a:p>
            <a:pPr algn="ctr" indent="0" marL="0">
              <a:buNone/>
            </a:pPr>
            <a:r>
              <a:rPr lang="en-US" sz="550" b="1" dirty="0">
                <a:solidFill>
                  <a:srgbClr val="C4262E"/>
                </a:solidFill>
                <a:latin typeface="Arial" pitchFamily="34" charset="0"/>
                <a:ea typeface="Arial" pitchFamily="34" charset="-122"/>
                <a:cs typeface="Arial" pitchFamily="34" charset="-120"/>
              </a:rPr>
              <a:t>OPEN FORUM</a:t>
            </a:r>
            <a:endParaRPr lang="en-US" sz="550" dirty="0"/>
          </a:p>
        </p:txBody>
      </p:sp>
      <p:sp>
        <p:nvSpPr>
          <p:cNvPr id="65" name="Shape 63"/>
          <p:cNvSpPr/>
          <p:nvPr/>
        </p:nvSpPr>
        <p:spPr>
          <a:xfrm>
            <a:off x="3162020" y="3565221"/>
            <a:ext cx="41148" cy="41148"/>
          </a:xfrm>
          <a:prstGeom prst="ellipse">
            <a:avLst/>
          </a:prstGeom>
          <a:solidFill>
            <a:srgbClr val="C4262E"/>
          </a:solidFill>
          <a:ln/>
        </p:spPr>
      </p:sp>
      <p:sp>
        <p:nvSpPr>
          <p:cNvPr id="66" name="Shape 64"/>
          <p:cNvSpPr/>
          <p:nvPr/>
        </p:nvSpPr>
        <p:spPr>
          <a:xfrm>
            <a:off x="3164764" y="3609112"/>
            <a:ext cx="35662" cy="93269"/>
          </a:xfrm>
          <a:prstGeom prst="roundRect">
            <a:avLst>
              <a:gd name="adj" fmla="val 51281"/>
            </a:avLst>
          </a:prstGeom>
          <a:solidFill>
            <a:srgbClr val="C4262E"/>
          </a:solidFill>
          <a:ln/>
        </p:spPr>
      </p:sp>
      <p:sp>
        <p:nvSpPr>
          <p:cNvPr id="67" name="Text 65"/>
          <p:cNvSpPr txBox="1"/>
          <p:nvPr/>
        </p:nvSpPr>
        <p:spPr>
          <a:xfrm>
            <a:off x="438912" y="3630168"/>
            <a:ext cx="1737360" cy="566928"/>
          </a:xfrm>
          <a:prstGeom prst="rect">
            <a:avLst/>
          </a:prstGeom>
          <a:noFill/>
          <a:ln/>
        </p:spPr>
        <p:txBody>
          <a:bodyPr wrap="square" lIns="0" tIns="0" rIns="0" bIns="0" rtlCol="0" anchor="t"/>
          <a:lstStyle/>
          <a:p>
            <a:pPr indent="0" marL="0">
              <a:buNone/>
            </a:pPr>
            <a:r>
              <a:rPr lang="en-US" sz="550" dirty="0">
                <a:solidFill>
                  <a:srgbClr val="6B6B6B"/>
                </a:solidFill>
                <a:latin typeface="Arial" pitchFamily="34" charset="0"/>
                <a:ea typeface="Arial" pitchFamily="34" charset="-122"/>
                <a:cs typeface="Arial" pitchFamily="34" charset="-120"/>
              </a:rPr>
              <a:t>1  forum · press · exhibition · auditorium</a:t>
            </a:r>
            <a:endParaRPr lang="en-US" sz="550" dirty="0"/>
          </a:p>
          <a:p>
            <a:pPr indent="0" marL="0">
              <a:buNone/>
            </a:pPr>
            <a:r>
              <a:rPr lang="en-US" sz="550" dirty="0">
                <a:solidFill>
                  <a:srgbClr val="6B6B6B"/>
                </a:solidFill>
                <a:latin typeface="Arial" pitchFamily="34" charset="0"/>
                <a:ea typeface="Arial" pitchFamily="34" charset="-122"/>
                <a:cs typeface="Arial" pitchFamily="34" charset="-120"/>
              </a:rPr>
              <a:t>2  library · workshops · education</a:t>
            </a:r>
            <a:endParaRPr lang="en-US" sz="550" dirty="0"/>
          </a:p>
          <a:p>
            <a:pPr indent="0" marL="0">
              <a:buNone/>
            </a:pPr>
            <a:r>
              <a:rPr lang="en-US" sz="550" dirty="0">
                <a:solidFill>
                  <a:srgbClr val="6B6B6B"/>
                </a:solidFill>
                <a:latin typeface="Arial" pitchFamily="34" charset="0"/>
                <a:ea typeface="Arial" pitchFamily="34" charset="-122"/>
                <a:cs typeface="Arial" pitchFamily="34" charset="-120"/>
              </a:rPr>
              <a:t>3  archive · research</a:t>
            </a:r>
            <a:endParaRPr lang="en-US" sz="550" dirty="0"/>
          </a:p>
          <a:p>
            <a:pPr indent="0" marL="0">
              <a:buNone/>
            </a:pPr>
            <a:r>
              <a:rPr lang="en-US" sz="550" dirty="0">
                <a:solidFill>
                  <a:srgbClr val="6B6B6B"/>
                </a:solidFill>
                <a:latin typeface="Arial" pitchFamily="34" charset="0"/>
                <a:ea typeface="Arial" pitchFamily="34" charset="-122"/>
                <a:cs typeface="Arial" pitchFamily="34" charset="-120"/>
              </a:rPr>
              <a:t>4  media · publishing</a:t>
            </a:r>
            <a:endParaRPr lang="en-US" sz="550" dirty="0"/>
          </a:p>
          <a:p>
            <a:pPr indent="0" marL="0">
              <a:buNone/>
            </a:pPr>
            <a:r>
              <a:rPr lang="en-US" sz="550" dirty="0">
                <a:solidFill>
                  <a:srgbClr val="6B6B6B"/>
                </a:solidFill>
                <a:latin typeface="Arial" pitchFamily="34" charset="0"/>
                <a:ea typeface="Arial" pitchFamily="34" charset="-122"/>
                <a:cs typeface="Arial" pitchFamily="34" charset="-120"/>
              </a:rPr>
              <a:t>5  print · dispatch (service side)</a:t>
            </a:r>
            <a:endParaRPr lang="en-US" sz="550" dirty="0"/>
          </a:p>
        </p:txBody>
      </p:sp>
      <p:sp>
        <p:nvSpPr>
          <p:cNvPr id="68" name="Text 66"/>
          <p:cNvSpPr txBox="1"/>
          <p:nvPr/>
        </p:nvSpPr>
        <p:spPr>
          <a:xfrm>
            <a:off x="365760" y="4663440"/>
            <a:ext cx="3931920" cy="182880"/>
          </a:xfrm>
          <a:prstGeom prst="rect">
            <a:avLst/>
          </a:prstGeom>
          <a:noFill/>
          <a:ln/>
        </p:spPr>
        <p:txBody>
          <a:bodyPr wrap="square" lIns="0" tIns="0" rIns="0" bIns="0" rtlCol="0" anchor="t"/>
          <a:lstStyle/>
          <a:p>
            <a:pPr indent="0" marL="0">
              <a:buNone/>
            </a:pPr>
            <a:r>
              <a:rPr lang="en-US" sz="850" b="1" spc="100" kern="0" dirty="0">
                <a:solidFill>
                  <a:srgbClr val="C4262E"/>
                </a:solidFill>
                <a:latin typeface="Arial" pitchFamily="34" charset="0"/>
                <a:ea typeface="Arial" pitchFamily="34" charset="-122"/>
                <a:cs typeface="Arial" pitchFamily="34" charset="-120"/>
              </a:rPr>
              <a:t>WHY IT HAS ENOUGH LOGIC TO CONTINUE</a:t>
            </a:r>
            <a:endParaRPr lang="en-US" sz="850" dirty="0"/>
          </a:p>
        </p:txBody>
      </p:sp>
      <p:sp>
        <p:nvSpPr>
          <p:cNvPr id="69" name="Text 67"/>
          <p:cNvSpPr txBox="1"/>
          <p:nvPr/>
        </p:nvSpPr>
        <p:spPr>
          <a:xfrm>
            <a:off x="365760" y="4892040"/>
            <a:ext cx="3931920" cy="1463040"/>
          </a:xfrm>
          <a:prstGeom prst="rect">
            <a:avLst/>
          </a:prstGeom>
          <a:noFill/>
          <a:ln/>
        </p:spPr>
        <p:txBody>
          <a:bodyPr wrap="square" lIns="0" tIns="0" rIns="0" bIns="0" rtlCol="0" anchor="t"/>
          <a:lstStyle/>
          <a:p>
            <a:pPr indent="0" marL="0">
              <a:spcAft>
                <a:spcPts val="400"/>
              </a:spcAft>
              <a:buNone/>
            </a:pPr>
            <a:r>
              <a:rPr lang="en-US" sz="750" b="1" dirty="0">
                <a:solidFill>
                  <a:srgbClr val="1B1B1B"/>
                </a:solidFill>
                <a:latin typeface="Arial" pitchFamily="34" charset="0"/>
                <a:ea typeface="Arial" pitchFamily="34" charset="-122"/>
                <a:cs typeface="Arial" pitchFamily="34" charset="-120"/>
              </a:rPr>
              <a:t>One move answers several drivers: </a:t>
            </a:r>
            <a:pPr indent="0" marL="0">
              <a:spcAft>
                <a:spcPts val="400"/>
              </a:spcAft>
              <a:buNone/>
            </a:pPr>
            <a:r>
              <a:rPr lang="en-US" sz="750" dirty="0">
                <a:solidFill>
                  <a:srgbClr val="1B1B1B"/>
                </a:solidFill>
                <a:latin typeface="Arial" pitchFamily="34" charset="0"/>
                <a:ea typeface="Arial" pitchFamily="34" charset="-122"/>
                <a:cs typeface="Arial" pitchFamily="34" charset="-120"/>
              </a:rPr>
              <a:t>unaltered ground (bars follow contours), protest edge (route starts there), visible/hidden (rooms open to the path), access (gradient along and across), meeting (shared path + crossings), city (summit view).</a:t>
            </a:r>
            <a:endParaRPr lang="en-US" sz="750" dirty="0"/>
          </a:p>
          <a:p>
            <a:pPr indent="0" marL="0">
              <a:spcAft>
                <a:spcPts val="400"/>
              </a:spcAft>
              <a:buNone/>
            </a:pPr>
            <a:r>
              <a:rPr lang="en-US" sz="750" b="1" dirty="0">
                <a:solidFill>
                  <a:srgbClr val="1B1B1B"/>
                </a:solidFill>
                <a:latin typeface="Arial" pitchFamily="34" charset="0"/>
                <a:ea typeface="Arial" pitchFamily="34" charset="-122"/>
                <a:cs typeface="Arial" pitchFamily="34" charset="-120"/>
              </a:rPr>
              <a:t>It generates plan, section and form together, </a:t>
            </a:r>
            <a:pPr indent="0" marL="0">
              <a:spcAft>
                <a:spcPts val="400"/>
              </a:spcAft>
              <a:buNone/>
            </a:pPr>
            <a:r>
              <a:rPr lang="en-US" sz="750" dirty="0">
                <a:solidFill>
                  <a:srgbClr val="1B1B1B"/>
                </a:solidFill>
                <a:latin typeface="Arial" pitchFamily="34" charset="0"/>
                <a:ea typeface="Arial" pitchFamily="34" charset="-122"/>
                <a:cs typeface="Arial" pitchFamily="34" charset="-120"/>
              </a:rPr>
              <a:t>so the jury can trace every decision back to the brief.</a:t>
            </a:r>
            <a:endParaRPr lang="en-US" sz="750" dirty="0"/>
          </a:p>
        </p:txBody>
      </p:sp>
      <p:sp>
        <p:nvSpPr>
          <p:cNvPr id="70" name="Shape 68"/>
          <p:cNvSpPr/>
          <p:nvPr/>
        </p:nvSpPr>
        <p:spPr>
          <a:xfrm>
            <a:off x="4526280" y="1234440"/>
            <a:ext cx="3657600" cy="804672"/>
          </a:xfrm>
          <a:prstGeom prst="rect">
            <a:avLst/>
          </a:prstGeom>
          <a:solidFill>
            <a:srgbClr val="1B1B1B"/>
          </a:solidFill>
          <a:ln/>
        </p:spPr>
      </p:sp>
      <p:sp>
        <p:nvSpPr>
          <p:cNvPr id="71" name="Text 69"/>
          <p:cNvSpPr txBox="1"/>
          <p:nvPr/>
        </p:nvSpPr>
        <p:spPr>
          <a:xfrm>
            <a:off x="4617720" y="1289304"/>
            <a:ext cx="3474720" cy="731520"/>
          </a:xfrm>
          <a:prstGeom prst="rect">
            <a:avLst/>
          </a:prstGeom>
          <a:noFill/>
          <a:ln/>
        </p:spPr>
        <p:txBody>
          <a:bodyPr wrap="square" lIns="0" tIns="0" rIns="0" bIns="0" rtlCol="0" anchor="t"/>
          <a:lstStyle/>
          <a:p>
            <a:pPr indent="0" marL="0">
              <a:buNone/>
            </a:pPr>
            <a:r>
              <a:rPr lang="en-US" sz="750" b="1" dirty="0">
                <a:solidFill>
                  <a:srgbClr val="FFFFFF"/>
                </a:solidFill>
                <a:latin typeface="Arial" pitchFamily="34" charset="0"/>
                <a:ea typeface="Arial" pitchFamily="34" charset="-122"/>
                <a:cs typeface="Arial" pitchFamily="34" charset="-120"/>
              </a:rPr>
              <a:t>01  STATEMENT</a:t>
            </a:r>
            <a:endParaRPr lang="en-US" sz="900" dirty="0"/>
          </a:p>
          <a:p>
            <a:pPr indent="0" marL="0">
              <a:buNone/>
            </a:pPr>
            <a:r>
              <a:rPr lang="en-US" sz="750" dirty="0">
                <a:solidFill>
                  <a:srgbClr val="FFFFFF"/>
                </a:solidFill>
                <a:latin typeface="Arial" pitchFamily="34" charset="0"/>
                <a:ea typeface="Arial" pitchFamily="34" charset="-122"/>
                <a:cs typeface="Arial" pitchFamily="34" charset="-120"/>
              </a:rPr>
              <a:t>A public route climbs Shimla Pahari from the protest edge to the summit; the rooms of knowledge sit along it on the contours; the top of the landmark stays public.</a:t>
            </a:r>
            <a:endParaRPr lang="en-US" sz="900" dirty="0"/>
          </a:p>
        </p:txBody>
      </p:sp>
      <p:sp>
        <p:nvSpPr>
          <p:cNvPr id="72" name="Shape 70"/>
          <p:cNvSpPr/>
          <p:nvPr/>
        </p:nvSpPr>
        <p:spPr>
          <a:xfrm>
            <a:off x="4526280" y="2103120"/>
            <a:ext cx="3657600" cy="804672"/>
          </a:xfrm>
          <a:prstGeom prst="rect">
            <a:avLst/>
          </a:prstGeom>
          <a:solidFill>
            <a:srgbClr val="F2F2F2"/>
          </a:solidFill>
          <a:ln/>
        </p:spPr>
      </p:sp>
      <p:sp>
        <p:nvSpPr>
          <p:cNvPr id="73" name="Text 71"/>
          <p:cNvSpPr txBox="1"/>
          <p:nvPr/>
        </p:nvSpPr>
        <p:spPr>
          <a:xfrm>
            <a:off x="4617720" y="2157984"/>
            <a:ext cx="3474720" cy="731520"/>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02  SITE</a:t>
            </a:r>
            <a:endParaRPr lang="en-US" sz="900" dirty="0"/>
          </a:p>
          <a:p>
            <a:pPr indent="0" marL="0">
              <a:buNone/>
            </a:pPr>
            <a:r>
              <a:rPr lang="en-US" sz="750" dirty="0">
                <a:solidFill>
                  <a:srgbClr val="1B1B1B"/>
                </a:solidFill>
                <a:latin typeface="Arial" pitchFamily="34" charset="0"/>
                <a:ea typeface="Arial" pitchFamily="34" charset="-122"/>
                <a:cs typeface="Arial" pitchFamily="34" charset="-120"/>
              </a:rPr>
              <a:t>No regrading. Bars run parallel to contours, raised on piers between trees. Existing Press Club surveyed; option to keep it as the first stop on the route.</a:t>
            </a:r>
            <a:endParaRPr lang="en-US" sz="900" dirty="0"/>
          </a:p>
        </p:txBody>
      </p:sp>
      <p:sp>
        <p:nvSpPr>
          <p:cNvPr id="74" name="Shape 72"/>
          <p:cNvSpPr/>
          <p:nvPr/>
        </p:nvSpPr>
        <p:spPr>
          <a:xfrm>
            <a:off x="4526280" y="2971800"/>
            <a:ext cx="3657600" cy="804672"/>
          </a:xfrm>
          <a:prstGeom prst="rect">
            <a:avLst/>
          </a:prstGeom>
          <a:solidFill>
            <a:srgbClr val="F2F2F2"/>
          </a:solidFill>
          <a:ln/>
        </p:spPr>
      </p:sp>
      <p:sp>
        <p:nvSpPr>
          <p:cNvPr id="75" name="Text 73"/>
          <p:cNvSpPr txBox="1"/>
          <p:nvPr/>
        </p:nvSpPr>
        <p:spPr>
          <a:xfrm>
            <a:off x="4617720" y="3026664"/>
            <a:ext cx="3474720" cy="731520"/>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03  PROGRAM</a:t>
            </a:r>
            <a:endParaRPr lang="en-US" sz="900" dirty="0"/>
          </a:p>
          <a:p>
            <a:pPr indent="0" marL="0">
              <a:buNone/>
            </a:pPr>
            <a:r>
              <a:rPr lang="en-US" sz="750" dirty="0">
                <a:solidFill>
                  <a:srgbClr val="1B1B1B"/>
                </a:solidFill>
                <a:latin typeface="Arial" pitchFamily="34" charset="0"/>
                <a:ea typeface="Arial" pitchFamily="34" charset="-122"/>
                <a:cs typeface="Arial" pitchFamily="34" charset="-120"/>
              </a:rPr>
              <a:t>Ordered by height: edge = forum, press, exhibition, auditorium · lower = library, workshops · middle = archive, research · upper = media, publishing · summit = open forum.</a:t>
            </a:r>
            <a:endParaRPr lang="en-US" sz="900" dirty="0"/>
          </a:p>
        </p:txBody>
      </p:sp>
      <p:sp>
        <p:nvSpPr>
          <p:cNvPr id="76" name="Shape 74"/>
          <p:cNvSpPr/>
          <p:nvPr/>
        </p:nvSpPr>
        <p:spPr>
          <a:xfrm>
            <a:off x="4526280" y="3840480"/>
            <a:ext cx="3657600" cy="804672"/>
          </a:xfrm>
          <a:prstGeom prst="rect">
            <a:avLst/>
          </a:prstGeom>
          <a:solidFill>
            <a:srgbClr val="F2F2F2"/>
          </a:solidFill>
          <a:ln/>
        </p:spPr>
      </p:sp>
      <p:sp>
        <p:nvSpPr>
          <p:cNvPr id="77" name="Text 75"/>
          <p:cNvSpPr txBox="1"/>
          <p:nvPr/>
        </p:nvSpPr>
        <p:spPr>
          <a:xfrm>
            <a:off x="4617720" y="3895344"/>
            <a:ext cx="3474720" cy="731520"/>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04  ZONING</a:t>
            </a:r>
            <a:endParaRPr lang="en-US" sz="900" dirty="0"/>
          </a:p>
          <a:p>
            <a:pPr indent="0" marL="0">
              <a:buNone/>
            </a:pPr>
            <a:r>
              <a:rPr lang="en-US" sz="750" dirty="0">
                <a:solidFill>
                  <a:srgbClr val="1B1B1B"/>
                </a:solidFill>
                <a:latin typeface="Arial" pitchFamily="34" charset="0"/>
                <a:ea typeface="Arial" pitchFamily="34" charset="-122"/>
                <a:cs typeface="Arial" pitchFamily="34" charset="-120"/>
              </a:rPr>
              <a:t>Two directions: UP the hill (public → working) and ACROSS each bar (route side open, hill side working / protected).</a:t>
            </a:r>
            <a:endParaRPr lang="en-US" sz="900" dirty="0"/>
          </a:p>
        </p:txBody>
      </p:sp>
      <p:sp>
        <p:nvSpPr>
          <p:cNvPr id="78" name="Shape 76"/>
          <p:cNvSpPr/>
          <p:nvPr/>
        </p:nvSpPr>
        <p:spPr>
          <a:xfrm>
            <a:off x="4526280" y="4709160"/>
            <a:ext cx="3657600" cy="804672"/>
          </a:xfrm>
          <a:prstGeom prst="rect">
            <a:avLst/>
          </a:prstGeom>
          <a:solidFill>
            <a:srgbClr val="F2F2F2"/>
          </a:solidFill>
          <a:ln/>
        </p:spPr>
      </p:sp>
      <p:sp>
        <p:nvSpPr>
          <p:cNvPr id="79" name="Text 77"/>
          <p:cNvSpPr txBox="1"/>
          <p:nvPr/>
        </p:nvSpPr>
        <p:spPr>
          <a:xfrm>
            <a:off x="4617720" y="4764024"/>
            <a:ext cx="3474720" cy="731520"/>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05  CIRCULATION</a:t>
            </a:r>
            <a:endParaRPr lang="en-US" sz="900" dirty="0"/>
          </a:p>
          <a:p>
            <a:pPr indent="0" marL="0">
              <a:buNone/>
            </a:pPr>
            <a:r>
              <a:rPr lang="en-US" sz="750" dirty="0">
                <a:solidFill>
                  <a:srgbClr val="1B1B1B"/>
                </a:solidFill>
                <a:latin typeface="Arial" pitchFamily="34" charset="0"/>
                <a:ea typeface="Arial" pitchFamily="34" charset="-122"/>
                <a:cs typeface="Arial" pitchFamily="34" charset="-120"/>
              </a:rPr>
              <a:t>① public switchback route (slow, open)  ② working spine: straight stair + lift (fast, controlled)  ③ service loop at base for print, dispatch, archive intake.</a:t>
            </a:r>
            <a:endParaRPr lang="en-US" sz="900" dirty="0"/>
          </a:p>
        </p:txBody>
      </p:sp>
      <p:sp>
        <p:nvSpPr>
          <p:cNvPr id="80" name="Shape 78"/>
          <p:cNvSpPr/>
          <p:nvPr/>
        </p:nvSpPr>
        <p:spPr>
          <a:xfrm>
            <a:off x="4526280" y="5577840"/>
            <a:ext cx="3657600" cy="804672"/>
          </a:xfrm>
          <a:prstGeom prst="rect">
            <a:avLst/>
          </a:prstGeom>
          <a:solidFill>
            <a:srgbClr val="F2F2F2"/>
          </a:solidFill>
          <a:ln/>
        </p:spPr>
      </p:sp>
      <p:sp>
        <p:nvSpPr>
          <p:cNvPr id="81" name="Text 79"/>
          <p:cNvSpPr txBox="1"/>
          <p:nvPr/>
        </p:nvSpPr>
        <p:spPr>
          <a:xfrm>
            <a:off x="4617720" y="5632704"/>
            <a:ext cx="3474720" cy="731520"/>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06  HIERARCHY</a:t>
            </a:r>
            <a:endParaRPr lang="en-US" sz="900" dirty="0"/>
          </a:p>
          <a:p>
            <a:pPr indent="0" marL="0">
              <a:buNone/>
            </a:pPr>
            <a:r>
              <a:rPr lang="en-US" sz="750" dirty="0">
                <a:solidFill>
                  <a:srgbClr val="1B1B1B"/>
                </a:solidFill>
                <a:latin typeface="Arial" pitchFamily="34" charset="0"/>
                <a:ea typeface="Arial" pitchFamily="34" charset="-122"/>
                <a:cs typeface="Arial" pitchFamily="34" charset="-120"/>
              </a:rPr>
              <a:t>Open: edge, route, summit → semi-public: library, exhibition, auditorium, workshops, archive consultation → working: studios, newsroom, recording, editorial → protected: archive stores, print.</a:t>
            </a:r>
            <a:endParaRPr lang="en-US" sz="900" dirty="0"/>
          </a:p>
        </p:txBody>
      </p:sp>
      <p:sp>
        <p:nvSpPr>
          <p:cNvPr id="82" name="Shape 80"/>
          <p:cNvSpPr/>
          <p:nvPr/>
        </p:nvSpPr>
        <p:spPr>
          <a:xfrm>
            <a:off x="8275320" y="1234440"/>
            <a:ext cx="3657600" cy="804672"/>
          </a:xfrm>
          <a:prstGeom prst="rect">
            <a:avLst/>
          </a:prstGeom>
          <a:solidFill>
            <a:srgbClr val="F2F2F2"/>
          </a:solidFill>
          <a:ln/>
        </p:spPr>
      </p:sp>
      <p:sp>
        <p:nvSpPr>
          <p:cNvPr id="83" name="Text 81"/>
          <p:cNvSpPr txBox="1"/>
          <p:nvPr/>
        </p:nvSpPr>
        <p:spPr>
          <a:xfrm>
            <a:off x="8366760" y="1289304"/>
            <a:ext cx="3474720" cy="731520"/>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07  MASSING</a:t>
            </a:r>
            <a:endParaRPr lang="en-US" sz="900" dirty="0"/>
          </a:p>
          <a:p>
            <a:pPr indent="0" marL="0">
              <a:buNone/>
            </a:pPr>
            <a:r>
              <a:rPr lang="en-US" sz="750" dirty="0">
                <a:solidFill>
                  <a:srgbClr val="1B1B1B"/>
                </a:solidFill>
                <a:latin typeface="Arial" pitchFamily="34" charset="0"/>
                <a:ea typeface="Arial" pitchFamily="34" charset="-122"/>
                <a:cs typeface="Arial" pitchFamily="34" charset="-120"/>
              </a:rPr>
              <a:t>3–4 low bars, 1–2 floors each, stepping up with the hill; kept low so the hill and trees still read as the landmark; summit left unbuilt.</a:t>
            </a:r>
            <a:endParaRPr lang="en-US" sz="900" dirty="0"/>
          </a:p>
        </p:txBody>
      </p:sp>
      <p:sp>
        <p:nvSpPr>
          <p:cNvPr id="84" name="Shape 82"/>
          <p:cNvSpPr/>
          <p:nvPr/>
        </p:nvSpPr>
        <p:spPr>
          <a:xfrm>
            <a:off x="8275320" y="2103120"/>
            <a:ext cx="3657600" cy="804672"/>
          </a:xfrm>
          <a:prstGeom prst="rect">
            <a:avLst/>
          </a:prstGeom>
          <a:solidFill>
            <a:srgbClr val="F2F2F2"/>
          </a:solidFill>
          <a:ln/>
        </p:spPr>
      </p:sp>
      <p:sp>
        <p:nvSpPr>
          <p:cNvPr id="85" name="Text 83"/>
          <p:cNvSpPr txBox="1"/>
          <p:nvPr/>
        </p:nvSpPr>
        <p:spPr>
          <a:xfrm>
            <a:off x="8366760" y="2157984"/>
            <a:ext cx="3474720" cy="731520"/>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08  SECTION</a:t>
            </a:r>
            <a:endParaRPr lang="en-US" sz="900" dirty="0"/>
          </a:p>
          <a:p>
            <a:pPr indent="0" marL="0">
              <a:buNone/>
            </a:pPr>
            <a:r>
              <a:rPr lang="en-US" sz="750" dirty="0">
                <a:solidFill>
                  <a:srgbClr val="1B1B1B"/>
                </a:solidFill>
                <a:latin typeface="Arial" pitchFamily="34" charset="0"/>
                <a:ea typeface="Arial" pitchFamily="34" charset="-122"/>
                <a:cs typeface="Arial" pitchFamily="34" charset="-120"/>
              </a:rPr>
              <a:t>Stepped bars on piers; ground runs continuous beneath; each roof lands at the next turn of the route.</a:t>
            </a:r>
            <a:endParaRPr lang="en-US" sz="900" dirty="0"/>
          </a:p>
        </p:txBody>
      </p:sp>
      <p:sp>
        <p:nvSpPr>
          <p:cNvPr id="86" name="Shape 84"/>
          <p:cNvSpPr/>
          <p:nvPr/>
        </p:nvSpPr>
        <p:spPr>
          <a:xfrm>
            <a:off x="8275320" y="2971800"/>
            <a:ext cx="3657600" cy="804672"/>
          </a:xfrm>
          <a:prstGeom prst="rect">
            <a:avLst/>
          </a:prstGeom>
          <a:solidFill>
            <a:srgbClr val="F2F2F2"/>
          </a:solidFill>
          <a:ln/>
        </p:spPr>
      </p:sp>
      <p:sp>
        <p:nvSpPr>
          <p:cNvPr id="87" name="Text 85"/>
          <p:cNvSpPr txBox="1"/>
          <p:nvPr/>
        </p:nvSpPr>
        <p:spPr>
          <a:xfrm>
            <a:off x="8366760" y="3026664"/>
            <a:ext cx="3474720" cy="731520"/>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09  PUBLIC REALM</a:t>
            </a:r>
            <a:endParaRPr lang="en-US" sz="900" dirty="0"/>
          </a:p>
          <a:p>
            <a:pPr indent="0" marL="0">
              <a:buNone/>
            </a:pPr>
            <a:r>
              <a:rPr lang="en-US" sz="750" dirty="0">
                <a:solidFill>
                  <a:srgbClr val="1B1B1B"/>
                </a:solidFill>
                <a:latin typeface="Arial" pitchFamily="34" charset="0"/>
                <a:ea typeface="Arial" pitchFamily="34" charset="-122"/>
                <a:cs typeface="Arial" pitchFamily="34" charset="-120"/>
              </a:rPr>
              <a:t>Protest edge widened into a shaded forum under existing trees; route open by day as a park path; summit forum.</a:t>
            </a:r>
            <a:endParaRPr lang="en-US" sz="900" dirty="0"/>
          </a:p>
        </p:txBody>
      </p:sp>
      <p:sp>
        <p:nvSpPr>
          <p:cNvPr id="88" name="Shape 86"/>
          <p:cNvSpPr/>
          <p:nvPr/>
        </p:nvSpPr>
        <p:spPr>
          <a:xfrm>
            <a:off x="8275320" y="3840480"/>
            <a:ext cx="3657600" cy="804672"/>
          </a:xfrm>
          <a:prstGeom prst="rect">
            <a:avLst/>
          </a:prstGeom>
          <a:solidFill>
            <a:srgbClr val="F2F2F2"/>
          </a:solidFill>
          <a:ln/>
        </p:spPr>
      </p:sp>
      <p:sp>
        <p:nvSpPr>
          <p:cNvPr id="89" name="Text 87"/>
          <p:cNvSpPr txBox="1"/>
          <p:nvPr/>
        </p:nvSpPr>
        <p:spPr>
          <a:xfrm>
            <a:off x="8366760" y="3895344"/>
            <a:ext cx="3474720" cy="731520"/>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10  LANDSCAPE</a:t>
            </a:r>
            <a:endParaRPr lang="en-US" sz="900" dirty="0"/>
          </a:p>
          <a:p>
            <a:pPr indent="0" marL="0">
              <a:buNone/>
            </a:pPr>
            <a:r>
              <a:rPr lang="en-US" sz="750" dirty="0">
                <a:solidFill>
                  <a:srgbClr val="1B1B1B"/>
                </a:solidFill>
                <a:latin typeface="Arial" pitchFamily="34" charset="0"/>
                <a:ea typeface="Arial" pitchFamily="34" charset="-122"/>
                <a:cs typeface="Arial" pitchFamily="34" charset="-120"/>
              </a:rPr>
              <a:t>Trees kept as the frame; route bends around them; paving + walls in brick recall the mound's brick-kiln origin.</a:t>
            </a:r>
            <a:endParaRPr lang="en-US" sz="900" dirty="0"/>
          </a:p>
        </p:txBody>
      </p:sp>
      <p:sp>
        <p:nvSpPr>
          <p:cNvPr id="90" name="Shape 88"/>
          <p:cNvSpPr/>
          <p:nvPr/>
        </p:nvSpPr>
        <p:spPr>
          <a:xfrm>
            <a:off x="8275320" y="4709160"/>
            <a:ext cx="3657600" cy="804672"/>
          </a:xfrm>
          <a:prstGeom prst="rect">
            <a:avLst/>
          </a:prstGeom>
          <a:solidFill>
            <a:srgbClr val="F2F2F2"/>
          </a:solidFill>
          <a:ln/>
        </p:spPr>
      </p:sp>
      <p:sp>
        <p:nvSpPr>
          <p:cNvPr id="91" name="Text 89"/>
          <p:cNvSpPr txBox="1"/>
          <p:nvPr/>
        </p:nvSpPr>
        <p:spPr>
          <a:xfrm>
            <a:off x="8366760" y="4764024"/>
            <a:ext cx="3474720" cy="731520"/>
          </a:xfrm>
          <a:prstGeom prst="rect">
            <a:avLst/>
          </a:prstGeom>
          <a:noFill/>
          <a:ln/>
        </p:spPr>
        <p:txBody>
          <a:bodyPr wrap="square" lIns="0" tIns="0" rIns="0" bIns="0" rtlCol="0" anchor="t"/>
          <a:lstStyle/>
          <a:p>
            <a:pPr indent="0" marL="0">
              <a:buNone/>
            </a:pPr>
            <a:r>
              <a:rPr lang="en-US" sz="750" b="1" dirty="0">
                <a:solidFill>
                  <a:srgbClr val="C4262E"/>
                </a:solidFill>
                <a:latin typeface="Arial" pitchFamily="34" charset="0"/>
                <a:ea typeface="Arial" pitchFamily="34" charset="-122"/>
                <a:cs typeface="Arial" pitchFamily="34" charset="-120"/>
              </a:rPr>
              <a:t>11  MATERIAL / ATMOSPHERE</a:t>
            </a:r>
            <a:endParaRPr lang="en-US" sz="900" dirty="0"/>
          </a:p>
          <a:p>
            <a:pPr indent="0" marL="0">
              <a:buNone/>
            </a:pPr>
            <a:r>
              <a:rPr lang="en-US" sz="750" dirty="0">
                <a:solidFill>
                  <a:srgbClr val="1B1B1B"/>
                </a:solidFill>
                <a:latin typeface="Arial" pitchFamily="34" charset="0"/>
                <a:ea typeface="Arial" pitchFamily="34" charset="-122"/>
                <a:cs typeface="Arial" pitchFamily="34" charset="-120"/>
              </a:rPr>
              <a:t>Heavy brick for archive + back walls (protection, thermal mass); light frame + perforated brick screens on route side; shade, filtered light, glimpses in.</a:t>
            </a:r>
            <a:endParaRPr lang="en-US" sz="900" dirty="0"/>
          </a:p>
        </p:txBody>
      </p:sp>
      <p:sp>
        <p:nvSpPr>
          <p:cNvPr id="92" name="Text 90"/>
          <p:cNvSpPr txBox="1"/>
          <p:nvPr/>
        </p:nvSpPr>
        <p:spPr>
          <a:xfrm>
            <a:off x="8366760" y="5852160"/>
            <a:ext cx="3474720" cy="274320"/>
          </a:xfrm>
          <a:prstGeom prst="rect">
            <a:avLst/>
          </a:prstGeom>
          <a:noFill/>
          <a:ln/>
        </p:spPr>
        <p:txBody>
          <a:bodyPr wrap="square" lIns="0" tIns="0" rIns="0" bIns="0" rtlCol="0" anchor="t"/>
          <a:lstStyle/>
          <a:p>
            <a:pPr indent="0" marL="0">
              <a:buNone/>
            </a:pPr>
            <a:r>
              <a:rPr lang="en-US" sz="750" b="1" dirty="0">
                <a:solidFill>
                  <a:srgbClr val="6B6B6B"/>
                </a:solidFill>
                <a:latin typeface="Arial" pitchFamily="34" charset="0"/>
                <a:ea typeface="Arial" pitchFamily="34" charset="-122"/>
                <a:cs typeface="Arial" pitchFamily="34" charset="-120"/>
              </a:rPr>
              <a:t>12  CONCEPT DIAGRAM → left</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DIRECTION C — CONCEPT DIAGRAM SET</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Eight diagrams, one graphic language: black/white base, red = public, grey = working, black = protected, green = ground + trees.</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10</a:t>
            </a:r>
            <a:endParaRPr lang="en-US" sz="3400" dirty="0"/>
          </a:p>
        </p:txBody>
      </p:sp>
      <p:sp>
        <p:nvSpPr>
          <p:cNvPr id="6" name="Shape 4"/>
          <p:cNvSpPr/>
          <p:nvPr/>
        </p:nvSpPr>
        <p:spPr>
          <a:xfrm>
            <a:off x="10241280" y="896112"/>
            <a:ext cx="1554480" cy="182880"/>
          </a:xfrm>
          <a:prstGeom prst="roundRect">
            <a:avLst>
              <a:gd name="adj" fmla="val 20000"/>
            </a:avLst>
          </a:prstGeom>
          <a:solidFill>
            <a:srgbClr val="C4262E"/>
          </a:solidFill>
          <a:ln w="9525">
            <a:solidFill>
              <a:srgbClr val="C4262E"/>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sp>
        <p:nvSpPr>
          <p:cNvPr id="8" name="Shape 6"/>
          <p:cNvSpPr/>
          <p:nvPr/>
        </p:nvSpPr>
        <p:spPr>
          <a:xfrm>
            <a:off x="365760" y="1188720"/>
            <a:ext cx="2788920" cy="2514600"/>
          </a:xfrm>
          <a:prstGeom prst="rect">
            <a:avLst/>
          </a:prstGeom>
          <a:solidFill>
            <a:srgbClr val="FFFFFF"/>
          </a:solidFill>
          <a:ln w="6350">
            <a:solidFill>
              <a:srgbClr val="D9D9D9"/>
            </a:solidFill>
            <a:prstDash val="solid"/>
          </a:ln>
        </p:spPr>
      </p:sp>
      <p:sp>
        <p:nvSpPr>
          <p:cNvPr id="9" name="Text 7"/>
          <p:cNvSpPr txBox="1"/>
          <p:nvPr/>
        </p:nvSpPr>
        <p:spPr>
          <a:xfrm>
            <a:off x="438912" y="1243584"/>
            <a:ext cx="264261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01  </a:t>
            </a:r>
            <a:pPr indent="0" marL="0">
              <a:buNone/>
            </a:pPr>
            <a:r>
              <a:rPr lang="en-US" sz="750" b="1" spc="50" kern="0" dirty="0">
                <a:solidFill>
                  <a:srgbClr val="1B1B1B"/>
                </a:solidFill>
                <a:latin typeface="Arial" pitchFamily="34" charset="0"/>
                <a:ea typeface="Arial" pitchFamily="34" charset="-122"/>
                <a:cs typeface="Arial" pitchFamily="34" charset="-120"/>
              </a:rPr>
              <a:t>CONCEPT</a:t>
            </a:r>
            <a:endParaRPr lang="en-US" sz="750" dirty="0"/>
          </a:p>
        </p:txBody>
      </p:sp>
      <p:sp>
        <p:nvSpPr>
          <p:cNvPr id="10" name="Text 8"/>
          <p:cNvSpPr txBox="1"/>
          <p:nvPr/>
        </p:nvSpPr>
        <p:spPr>
          <a:xfrm>
            <a:off x="438912" y="3392424"/>
            <a:ext cx="2642616" cy="274320"/>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One public route, rooms on the contours, working spine across.</a:t>
            </a:r>
            <a:endParaRPr lang="en-US" sz="650" dirty="0"/>
          </a:p>
        </p:txBody>
      </p:sp>
      <p:sp>
        <p:nvSpPr>
          <p:cNvPr id="11" name="Shape 9"/>
          <p:cNvSpPr/>
          <p:nvPr/>
        </p:nvSpPr>
        <p:spPr>
          <a:xfrm>
            <a:off x="631240" y="1706404"/>
            <a:ext cx="2257961" cy="1415223"/>
          </a:xfrm>
          <a:custGeom>
            <a:avLst/>
            <a:gdLst/>
            <a:ahLst/>
            <a:cxnLst/>
            <a:rect l="l" t="t" r="r" b="b"/>
            <a:pathLst>
              <a:path w="2257961" h="1415223">
                <a:moveTo>
                  <a:pt x="2235033" y="1200058"/>
                </a:moveTo>
                <a:lnTo>
                  <a:pt x="2205296" y="1250543"/>
                </a:lnTo>
                <a:lnTo>
                  <a:pt x="2163766" y="1295079"/>
                </a:lnTo>
                <a:lnTo>
                  <a:pt x="2110899" y="1333179"/>
                </a:lnTo>
                <a:lnTo>
                  <a:pt x="2047274" y="1364425"/>
                </a:lnTo>
                <a:lnTo>
                  <a:pt x="1973588" y="1388475"/>
                </a:lnTo>
                <a:lnTo>
                  <a:pt x="1890648" y="1405065"/>
                </a:lnTo>
                <a:lnTo>
                  <a:pt x="1799363" y="1414014"/>
                </a:lnTo>
                <a:lnTo>
                  <a:pt x="1700733" y="1415223"/>
                </a:lnTo>
                <a:lnTo>
                  <a:pt x="1595839" y="1408680"/>
                </a:lnTo>
                <a:lnTo>
                  <a:pt x="1485830" y="1394455"/>
                </a:lnTo>
                <a:lnTo>
                  <a:pt x="1371911" y="1372705"/>
                </a:lnTo>
                <a:lnTo>
                  <a:pt x="1255331" y="1343669"/>
                </a:lnTo>
                <a:lnTo>
                  <a:pt x="1137366" y="1307663"/>
                </a:lnTo>
                <a:lnTo>
                  <a:pt x="1019310" y="1265083"/>
                </a:lnTo>
                <a:lnTo>
                  <a:pt x="902455" y="1216396"/>
                </a:lnTo>
                <a:lnTo>
                  <a:pt x="788082" y="1162134"/>
                </a:lnTo>
                <a:lnTo>
                  <a:pt x="677444" y="1102892"/>
                </a:lnTo>
                <a:lnTo>
                  <a:pt x="571753" y="1039320"/>
                </a:lnTo>
                <a:lnTo>
                  <a:pt x="472167" y="972113"/>
                </a:lnTo>
                <a:lnTo>
                  <a:pt x="379777" y="902008"/>
                </a:lnTo>
                <a:lnTo>
                  <a:pt x="295596" y="829774"/>
                </a:lnTo>
                <a:lnTo>
                  <a:pt x="220545" y="756201"/>
                </a:lnTo>
                <a:lnTo>
                  <a:pt x="155448" y="682096"/>
                </a:lnTo>
                <a:lnTo>
                  <a:pt x="101016" y="608270"/>
                </a:lnTo>
                <a:lnTo>
                  <a:pt x="57848" y="535533"/>
                </a:lnTo>
                <a:lnTo>
                  <a:pt x="26414" y="464680"/>
                </a:lnTo>
                <a:lnTo>
                  <a:pt x="7061" y="396490"/>
                </a:lnTo>
                <a:lnTo>
                  <a:pt x="0" y="331708"/>
                </a:lnTo>
                <a:lnTo>
                  <a:pt x="5308" y="271045"/>
                </a:lnTo>
                <a:lnTo>
                  <a:pt x="22927" y="215165"/>
                </a:lnTo>
                <a:lnTo>
                  <a:pt x="52665" y="164680"/>
                </a:lnTo>
                <a:lnTo>
                  <a:pt x="94195" y="120144"/>
                </a:lnTo>
                <a:lnTo>
                  <a:pt x="147062" y="82044"/>
                </a:lnTo>
                <a:lnTo>
                  <a:pt x="210687" y="50798"/>
                </a:lnTo>
                <a:lnTo>
                  <a:pt x="284373" y="26748"/>
                </a:lnTo>
                <a:lnTo>
                  <a:pt x="367313" y="10158"/>
                </a:lnTo>
                <a:lnTo>
                  <a:pt x="458598" y="1209"/>
                </a:lnTo>
                <a:lnTo>
                  <a:pt x="557228" y="0"/>
                </a:lnTo>
                <a:lnTo>
                  <a:pt x="662122" y="6544"/>
                </a:lnTo>
                <a:lnTo>
                  <a:pt x="772131" y="20768"/>
                </a:lnTo>
                <a:lnTo>
                  <a:pt x="886049" y="42518"/>
                </a:lnTo>
                <a:lnTo>
                  <a:pt x="1002630" y="71554"/>
                </a:lnTo>
                <a:lnTo>
                  <a:pt x="1120594" y="107560"/>
                </a:lnTo>
                <a:lnTo>
                  <a:pt x="1238651" y="150140"/>
                </a:lnTo>
                <a:lnTo>
                  <a:pt x="1355506" y="198827"/>
                </a:lnTo>
                <a:lnTo>
                  <a:pt x="1469879" y="253089"/>
                </a:lnTo>
                <a:lnTo>
                  <a:pt x="1580517" y="312331"/>
                </a:lnTo>
                <a:lnTo>
                  <a:pt x="1686208" y="375903"/>
                </a:lnTo>
                <a:lnTo>
                  <a:pt x="1785794" y="443110"/>
                </a:lnTo>
                <a:lnTo>
                  <a:pt x="1878184" y="513215"/>
                </a:lnTo>
                <a:lnTo>
                  <a:pt x="1962365" y="585449"/>
                </a:lnTo>
                <a:lnTo>
                  <a:pt x="2037415" y="659022"/>
                </a:lnTo>
                <a:lnTo>
                  <a:pt x="2102513" y="733127"/>
                </a:lnTo>
                <a:lnTo>
                  <a:pt x="2156944" y="806953"/>
                </a:lnTo>
                <a:lnTo>
                  <a:pt x="2200113" y="879691"/>
                </a:lnTo>
                <a:lnTo>
                  <a:pt x="2231546" y="950543"/>
                </a:lnTo>
                <a:lnTo>
                  <a:pt x="2250899" y="1018733"/>
                </a:lnTo>
                <a:lnTo>
                  <a:pt x="2257961" y="1083515"/>
                </a:lnTo>
                <a:lnTo>
                  <a:pt x="2252653" y="1144178"/>
                </a:lnTo>
                <a:close/>
              </a:path>
            </a:pathLst>
          </a:custGeom>
          <a:solidFill>
            <a:srgbClr val="E4E4E4"/>
          </a:solidFill>
          <a:ln w="12700"/>
        </p:spPr>
      </p:sp>
      <p:sp>
        <p:nvSpPr>
          <p:cNvPr id="12" name="Shape 10"/>
          <p:cNvSpPr/>
          <p:nvPr/>
        </p:nvSpPr>
        <p:spPr>
          <a:xfrm>
            <a:off x="420624" y="1875849"/>
            <a:ext cx="233543" cy="45720"/>
          </a:xfrm>
          <a:custGeom>
            <a:avLst/>
            <a:gdLst/>
            <a:ahLst/>
            <a:cxnLst/>
            <a:rect l="l" t="t" r="r" b="b"/>
            <a:pathLst>
              <a:path w="233543" h="45720">
                <a:moveTo>
                  <a:pt x="233543" y="45720"/>
                </a:moveTo>
                <a:lnTo>
                  <a:pt x="0" y="0"/>
                </a:lnTo>
              </a:path>
            </a:pathLst>
          </a:custGeom>
          <a:ln w="76200">
            <a:solidFill>
              <a:srgbClr val="E4E4E4"/>
            </a:solidFill>
            <a:prstDash val="solid"/>
          </a:ln>
        </p:spPr>
      </p:sp>
      <p:sp>
        <p:nvSpPr>
          <p:cNvPr id="13" name="Shape 11"/>
          <p:cNvSpPr/>
          <p:nvPr/>
        </p:nvSpPr>
        <p:spPr>
          <a:xfrm>
            <a:off x="2866273" y="2906463"/>
            <a:ext cx="233543" cy="45720"/>
          </a:xfrm>
          <a:custGeom>
            <a:avLst/>
            <a:gdLst/>
            <a:ahLst/>
            <a:cxnLst/>
            <a:rect l="l" t="t" r="r" b="b"/>
            <a:pathLst>
              <a:path w="233543" h="45720">
                <a:moveTo>
                  <a:pt x="0" y="0"/>
                </a:moveTo>
                <a:lnTo>
                  <a:pt x="233543" y="45720"/>
                </a:lnTo>
              </a:path>
            </a:pathLst>
          </a:custGeom>
          <a:ln w="76200">
            <a:solidFill>
              <a:srgbClr val="E4E4E4"/>
            </a:solidFill>
            <a:prstDash val="solid"/>
          </a:ln>
        </p:spPr>
      </p:sp>
      <p:sp>
        <p:nvSpPr>
          <p:cNvPr id="14" name="Shape 12"/>
          <p:cNvSpPr/>
          <p:nvPr/>
        </p:nvSpPr>
        <p:spPr>
          <a:xfrm>
            <a:off x="819403" y="1824340"/>
            <a:ext cx="1881634" cy="1179353"/>
          </a:xfrm>
          <a:custGeom>
            <a:avLst/>
            <a:gdLst/>
            <a:ahLst/>
            <a:cxnLst/>
            <a:rect l="l" t="t" r="r" b="b"/>
            <a:pathLst>
              <a:path w="1881634" h="1179353">
                <a:moveTo>
                  <a:pt x="1862528" y="1000048"/>
                </a:moveTo>
                <a:lnTo>
                  <a:pt x="1837747" y="1042119"/>
                </a:lnTo>
                <a:lnTo>
                  <a:pt x="1803138" y="1079233"/>
                </a:lnTo>
                <a:lnTo>
                  <a:pt x="1759083" y="1110983"/>
                </a:lnTo>
                <a:lnTo>
                  <a:pt x="1706062" y="1137021"/>
                </a:lnTo>
                <a:lnTo>
                  <a:pt x="1644656" y="1157062"/>
                </a:lnTo>
                <a:lnTo>
                  <a:pt x="1575540" y="1170888"/>
                </a:lnTo>
                <a:lnTo>
                  <a:pt x="1499469" y="1178345"/>
                </a:lnTo>
                <a:lnTo>
                  <a:pt x="1417278" y="1179353"/>
                </a:lnTo>
                <a:lnTo>
                  <a:pt x="1329866" y="1173900"/>
                </a:lnTo>
                <a:lnTo>
                  <a:pt x="1238192" y="1162046"/>
                </a:lnTo>
                <a:lnTo>
                  <a:pt x="1143259" y="1143921"/>
                </a:lnTo>
                <a:lnTo>
                  <a:pt x="1046109" y="1119724"/>
                </a:lnTo>
                <a:lnTo>
                  <a:pt x="947805" y="1089719"/>
                </a:lnTo>
                <a:lnTo>
                  <a:pt x="849425" y="1054236"/>
                </a:lnTo>
                <a:lnTo>
                  <a:pt x="752046" y="1013663"/>
                </a:lnTo>
                <a:lnTo>
                  <a:pt x="656735" y="968445"/>
                </a:lnTo>
                <a:lnTo>
                  <a:pt x="564536" y="919077"/>
                </a:lnTo>
                <a:lnTo>
                  <a:pt x="476461" y="866100"/>
                </a:lnTo>
                <a:lnTo>
                  <a:pt x="393472" y="810094"/>
                </a:lnTo>
                <a:lnTo>
                  <a:pt x="316481" y="751674"/>
                </a:lnTo>
                <a:lnTo>
                  <a:pt x="246330" y="691478"/>
                </a:lnTo>
                <a:lnTo>
                  <a:pt x="183788" y="630167"/>
                </a:lnTo>
                <a:lnTo>
                  <a:pt x="129540" y="568413"/>
                </a:lnTo>
                <a:lnTo>
                  <a:pt x="84180" y="506892"/>
                </a:lnTo>
                <a:lnTo>
                  <a:pt x="48206" y="446277"/>
                </a:lnTo>
                <a:lnTo>
                  <a:pt x="22012" y="387234"/>
                </a:lnTo>
                <a:lnTo>
                  <a:pt x="5884" y="330408"/>
                </a:lnTo>
                <a:lnTo>
                  <a:pt x="0" y="276424"/>
                </a:lnTo>
                <a:lnTo>
                  <a:pt x="4423" y="225871"/>
                </a:lnTo>
                <a:lnTo>
                  <a:pt x="19106" y="179304"/>
                </a:lnTo>
                <a:lnTo>
                  <a:pt x="43887" y="137234"/>
                </a:lnTo>
                <a:lnTo>
                  <a:pt x="78495" y="100120"/>
                </a:lnTo>
                <a:lnTo>
                  <a:pt x="122551" y="68370"/>
                </a:lnTo>
                <a:lnTo>
                  <a:pt x="175572" y="42332"/>
                </a:lnTo>
                <a:lnTo>
                  <a:pt x="236978" y="22290"/>
                </a:lnTo>
                <a:lnTo>
                  <a:pt x="306094" y="8465"/>
                </a:lnTo>
                <a:lnTo>
                  <a:pt x="382165" y="1008"/>
                </a:lnTo>
                <a:lnTo>
                  <a:pt x="464356" y="0"/>
                </a:lnTo>
                <a:lnTo>
                  <a:pt x="551768" y="5453"/>
                </a:lnTo>
                <a:lnTo>
                  <a:pt x="643442" y="17307"/>
                </a:lnTo>
                <a:lnTo>
                  <a:pt x="738374" y="35432"/>
                </a:lnTo>
                <a:lnTo>
                  <a:pt x="835525" y="59629"/>
                </a:lnTo>
                <a:lnTo>
                  <a:pt x="933829" y="89633"/>
                </a:lnTo>
                <a:lnTo>
                  <a:pt x="1032209" y="125116"/>
                </a:lnTo>
                <a:lnTo>
                  <a:pt x="1129588" y="165689"/>
                </a:lnTo>
                <a:lnTo>
                  <a:pt x="1224899" y="210907"/>
                </a:lnTo>
                <a:lnTo>
                  <a:pt x="1317097" y="260276"/>
                </a:lnTo>
                <a:lnTo>
                  <a:pt x="1405173" y="313253"/>
                </a:lnTo>
                <a:lnTo>
                  <a:pt x="1488162" y="369258"/>
                </a:lnTo>
                <a:lnTo>
                  <a:pt x="1565153" y="427679"/>
                </a:lnTo>
                <a:lnTo>
                  <a:pt x="1635304" y="487874"/>
                </a:lnTo>
                <a:lnTo>
                  <a:pt x="1697846" y="549185"/>
                </a:lnTo>
                <a:lnTo>
                  <a:pt x="1752094" y="610940"/>
                </a:lnTo>
                <a:lnTo>
                  <a:pt x="1797454" y="672461"/>
                </a:lnTo>
                <a:lnTo>
                  <a:pt x="1833428" y="733075"/>
                </a:lnTo>
                <a:lnTo>
                  <a:pt x="1859622" y="792119"/>
                </a:lnTo>
                <a:lnTo>
                  <a:pt x="1875750" y="848944"/>
                </a:lnTo>
                <a:lnTo>
                  <a:pt x="1881634" y="902929"/>
                </a:lnTo>
                <a:lnTo>
                  <a:pt x="1877211" y="953482"/>
                </a:lnTo>
                <a:close/>
              </a:path>
            </a:pathLst>
          </a:custGeom>
          <a:solidFill>
            <a:srgbClr val="FFFFFF"/>
          </a:solidFill>
          <a:ln w="19050">
            <a:solidFill>
              <a:srgbClr val="1B1B1B"/>
            </a:solidFill>
            <a:prstDash val="solid"/>
          </a:ln>
        </p:spPr>
      </p:sp>
      <p:sp>
        <p:nvSpPr>
          <p:cNvPr id="15" name="Shape 13"/>
          <p:cNvSpPr/>
          <p:nvPr/>
        </p:nvSpPr>
        <p:spPr>
          <a:xfrm>
            <a:off x="1184441" y="2009287"/>
            <a:ext cx="1354776" cy="849134"/>
          </a:xfrm>
          <a:custGeom>
            <a:avLst/>
            <a:gdLst/>
            <a:ahLst/>
            <a:cxnLst/>
            <a:rect l="l" t="t" r="r" b="b"/>
            <a:pathLst>
              <a:path w="1354776" h="849134">
                <a:moveTo>
                  <a:pt x="1341020" y="720035"/>
                </a:moveTo>
                <a:lnTo>
                  <a:pt x="1323178" y="750326"/>
                </a:lnTo>
                <a:lnTo>
                  <a:pt x="1298260" y="777047"/>
                </a:lnTo>
                <a:lnTo>
                  <a:pt x="1266539" y="799907"/>
                </a:lnTo>
                <a:lnTo>
                  <a:pt x="1228364" y="818655"/>
                </a:lnTo>
                <a:lnTo>
                  <a:pt x="1184153" y="833085"/>
                </a:lnTo>
                <a:lnTo>
                  <a:pt x="1134389" y="843039"/>
                </a:lnTo>
                <a:lnTo>
                  <a:pt x="1079618" y="848408"/>
                </a:lnTo>
                <a:lnTo>
                  <a:pt x="1020440" y="849134"/>
                </a:lnTo>
                <a:lnTo>
                  <a:pt x="957503" y="845208"/>
                </a:lnTo>
                <a:lnTo>
                  <a:pt x="891498" y="836673"/>
                </a:lnTo>
                <a:lnTo>
                  <a:pt x="823147" y="823623"/>
                </a:lnTo>
                <a:lnTo>
                  <a:pt x="753199" y="806201"/>
                </a:lnTo>
                <a:lnTo>
                  <a:pt x="682420" y="784598"/>
                </a:lnTo>
                <a:lnTo>
                  <a:pt x="611586" y="759050"/>
                </a:lnTo>
                <a:lnTo>
                  <a:pt x="541473" y="729838"/>
                </a:lnTo>
                <a:lnTo>
                  <a:pt x="472849" y="697280"/>
                </a:lnTo>
                <a:lnTo>
                  <a:pt x="406466" y="661735"/>
                </a:lnTo>
                <a:lnTo>
                  <a:pt x="343052" y="623592"/>
                </a:lnTo>
                <a:lnTo>
                  <a:pt x="283300" y="583268"/>
                </a:lnTo>
                <a:lnTo>
                  <a:pt x="227866" y="541205"/>
                </a:lnTo>
                <a:lnTo>
                  <a:pt x="177357" y="497864"/>
                </a:lnTo>
                <a:lnTo>
                  <a:pt x="132327" y="453721"/>
                </a:lnTo>
                <a:lnTo>
                  <a:pt x="93269" y="409257"/>
                </a:lnTo>
                <a:lnTo>
                  <a:pt x="60610" y="364962"/>
                </a:lnTo>
                <a:lnTo>
                  <a:pt x="34709" y="321320"/>
                </a:lnTo>
                <a:lnTo>
                  <a:pt x="15849" y="278808"/>
                </a:lnTo>
                <a:lnTo>
                  <a:pt x="4237" y="237894"/>
                </a:lnTo>
                <a:lnTo>
                  <a:pt x="0" y="199025"/>
                </a:lnTo>
                <a:lnTo>
                  <a:pt x="3185" y="162627"/>
                </a:lnTo>
                <a:lnTo>
                  <a:pt x="13756" y="129099"/>
                </a:lnTo>
                <a:lnTo>
                  <a:pt x="31599" y="98808"/>
                </a:lnTo>
                <a:lnTo>
                  <a:pt x="56517" y="72086"/>
                </a:lnTo>
                <a:lnTo>
                  <a:pt x="88237" y="49226"/>
                </a:lnTo>
                <a:lnTo>
                  <a:pt x="126412" y="30479"/>
                </a:lnTo>
                <a:lnTo>
                  <a:pt x="170624" y="16049"/>
                </a:lnTo>
                <a:lnTo>
                  <a:pt x="220388" y="6095"/>
                </a:lnTo>
                <a:lnTo>
                  <a:pt x="275159" y="726"/>
                </a:lnTo>
                <a:lnTo>
                  <a:pt x="334337" y="0"/>
                </a:lnTo>
                <a:lnTo>
                  <a:pt x="397273" y="3926"/>
                </a:lnTo>
                <a:lnTo>
                  <a:pt x="463278" y="12461"/>
                </a:lnTo>
                <a:lnTo>
                  <a:pt x="531630" y="25511"/>
                </a:lnTo>
                <a:lnTo>
                  <a:pt x="601578" y="42933"/>
                </a:lnTo>
                <a:lnTo>
                  <a:pt x="672357" y="64536"/>
                </a:lnTo>
                <a:lnTo>
                  <a:pt x="743190" y="90084"/>
                </a:lnTo>
                <a:lnTo>
                  <a:pt x="813303" y="119296"/>
                </a:lnTo>
                <a:lnTo>
                  <a:pt x="881927" y="151853"/>
                </a:lnTo>
                <a:lnTo>
                  <a:pt x="948310" y="187398"/>
                </a:lnTo>
                <a:lnTo>
                  <a:pt x="1011725" y="225542"/>
                </a:lnTo>
                <a:lnTo>
                  <a:pt x="1071476" y="265866"/>
                </a:lnTo>
                <a:lnTo>
                  <a:pt x="1126910" y="307929"/>
                </a:lnTo>
                <a:lnTo>
                  <a:pt x="1177419" y="351269"/>
                </a:lnTo>
                <a:lnTo>
                  <a:pt x="1222449" y="395413"/>
                </a:lnTo>
                <a:lnTo>
                  <a:pt x="1261508" y="439876"/>
                </a:lnTo>
                <a:lnTo>
                  <a:pt x="1294167" y="484172"/>
                </a:lnTo>
                <a:lnTo>
                  <a:pt x="1320068" y="527814"/>
                </a:lnTo>
                <a:lnTo>
                  <a:pt x="1338928" y="570326"/>
                </a:lnTo>
                <a:lnTo>
                  <a:pt x="1350540" y="611240"/>
                </a:lnTo>
                <a:lnTo>
                  <a:pt x="1354776" y="650109"/>
                </a:lnTo>
                <a:lnTo>
                  <a:pt x="1351592" y="686507"/>
                </a:lnTo>
                <a:close/>
              </a:path>
            </a:pathLst>
          </a:custGeom>
          <a:ln w="6350">
            <a:solidFill>
              <a:srgbClr val="4F7A43"/>
            </a:solidFill>
            <a:prstDash val="dash"/>
          </a:ln>
        </p:spPr>
      </p:sp>
      <p:sp>
        <p:nvSpPr>
          <p:cNvPr id="16" name="Shape 14"/>
          <p:cNvSpPr/>
          <p:nvPr/>
        </p:nvSpPr>
        <p:spPr>
          <a:xfrm>
            <a:off x="1429054" y="2162603"/>
            <a:ext cx="865552" cy="542502"/>
          </a:xfrm>
          <a:custGeom>
            <a:avLst/>
            <a:gdLst/>
            <a:ahLst/>
            <a:cxnLst/>
            <a:rect l="l" t="t" r="r" b="b"/>
            <a:pathLst>
              <a:path w="865552" h="542502">
                <a:moveTo>
                  <a:pt x="856763" y="460022"/>
                </a:moveTo>
                <a:lnTo>
                  <a:pt x="845363" y="479375"/>
                </a:lnTo>
                <a:lnTo>
                  <a:pt x="829444" y="496447"/>
                </a:lnTo>
                <a:lnTo>
                  <a:pt x="809178" y="511052"/>
                </a:lnTo>
                <a:lnTo>
                  <a:pt x="784788" y="523030"/>
                </a:lnTo>
                <a:lnTo>
                  <a:pt x="756542" y="532249"/>
                </a:lnTo>
                <a:lnTo>
                  <a:pt x="724748" y="538608"/>
                </a:lnTo>
                <a:lnTo>
                  <a:pt x="689756" y="542039"/>
                </a:lnTo>
                <a:lnTo>
                  <a:pt x="651948" y="542502"/>
                </a:lnTo>
                <a:lnTo>
                  <a:pt x="611738" y="539994"/>
                </a:lnTo>
                <a:lnTo>
                  <a:pt x="569568" y="534541"/>
                </a:lnTo>
                <a:lnTo>
                  <a:pt x="525899" y="526204"/>
                </a:lnTo>
                <a:lnTo>
                  <a:pt x="481210" y="515073"/>
                </a:lnTo>
                <a:lnTo>
                  <a:pt x="435990" y="501271"/>
                </a:lnTo>
                <a:lnTo>
                  <a:pt x="390735" y="484949"/>
                </a:lnTo>
                <a:lnTo>
                  <a:pt x="345941" y="466285"/>
                </a:lnTo>
                <a:lnTo>
                  <a:pt x="302098" y="445485"/>
                </a:lnTo>
                <a:lnTo>
                  <a:pt x="259687" y="422775"/>
                </a:lnTo>
                <a:lnTo>
                  <a:pt x="219172" y="398406"/>
                </a:lnTo>
                <a:lnTo>
                  <a:pt x="180997" y="372643"/>
                </a:lnTo>
                <a:lnTo>
                  <a:pt x="145581" y="345770"/>
                </a:lnTo>
                <a:lnTo>
                  <a:pt x="113312" y="318080"/>
                </a:lnTo>
                <a:lnTo>
                  <a:pt x="84542" y="289877"/>
                </a:lnTo>
                <a:lnTo>
                  <a:pt x="59588" y="261470"/>
                </a:lnTo>
                <a:lnTo>
                  <a:pt x="38723" y="233170"/>
                </a:lnTo>
                <a:lnTo>
                  <a:pt x="22175" y="205287"/>
                </a:lnTo>
                <a:lnTo>
                  <a:pt x="10126" y="178128"/>
                </a:lnTo>
                <a:lnTo>
                  <a:pt x="2707" y="151988"/>
                </a:lnTo>
                <a:lnTo>
                  <a:pt x="0" y="127155"/>
                </a:lnTo>
                <a:lnTo>
                  <a:pt x="2035" y="103901"/>
                </a:lnTo>
                <a:lnTo>
                  <a:pt x="8789" y="82480"/>
                </a:lnTo>
                <a:lnTo>
                  <a:pt x="20188" y="63127"/>
                </a:lnTo>
                <a:lnTo>
                  <a:pt x="36108" y="46055"/>
                </a:lnTo>
                <a:lnTo>
                  <a:pt x="56374" y="31450"/>
                </a:lnTo>
                <a:lnTo>
                  <a:pt x="80763" y="19473"/>
                </a:lnTo>
                <a:lnTo>
                  <a:pt x="109010" y="10253"/>
                </a:lnTo>
                <a:lnTo>
                  <a:pt x="140803" y="3894"/>
                </a:lnTo>
                <a:lnTo>
                  <a:pt x="175796" y="464"/>
                </a:lnTo>
                <a:lnTo>
                  <a:pt x="213604" y="0"/>
                </a:lnTo>
                <a:lnTo>
                  <a:pt x="253813" y="2508"/>
                </a:lnTo>
                <a:lnTo>
                  <a:pt x="295983" y="7961"/>
                </a:lnTo>
                <a:lnTo>
                  <a:pt x="339652" y="16298"/>
                </a:lnTo>
                <a:lnTo>
                  <a:pt x="384341" y="27429"/>
                </a:lnTo>
                <a:lnTo>
                  <a:pt x="429561" y="41231"/>
                </a:lnTo>
                <a:lnTo>
                  <a:pt x="474816" y="57554"/>
                </a:lnTo>
                <a:lnTo>
                  <a:pt x="519611" y="76217"/>
                </a:lnTo>
                <a:lnTo>
                  <a:pt x="563454" y="97017"/>
                </a:lnTo>
                <a:lnTo>
                  <a:pt x="605865" y="119727"/>
                </a:lnTo>
                <a:lnTo>
                  <a:pt x="646380" y="144096"/>
                </a:lnTo>
                <a:lnTo>
                  <a:pt x="684554" y="169859"/>
                </a:lnTo>
                <a:lnTo>
                  <a:pt x="719970" y="196732"/>
                </a:lnTo>
                <a:lnTo>
                  <a:pt x="752240" y="224422"/>
                </a:lnTo>
                <a:lnTo>
                  <a:pt x="781009" y="252625"/>
                </a:lnTo>
                <a:lnTo>
                  <a:pt x="805963" y="281032"/>
                </a:lnTo>
                <a:lnTo>
                  <a:pt x="826829" y="309332"/>
                </a:lnTo>
                <a:lnTo>
                  <a:pt x="843377" y="337215"/>
                </a:lnTo>
                <a:lnTo>
                  <a:pt x="855426" y="364375"/>
                </a:lnTo>
                <a:lnTo>
                  <a:pt x="862845" y="390514"/>
                </a:lnTo>
                <a:lnTo>
                  <a:pt x="865552" y="415347"/>
                </a:lnTo>
                <a:lnTo>
                  <a:pt x="863517" y="438602"/>
                </a:lnTo>
                <a:close/>
              </a:path>
            </a:pathLst>
          </a:custGeom>
          <a:ln w="6350">
            <a:solidFill>
              <a:srgbClr val="4F7A43"/>
            </a:solidFill>
            <a:prstDash val="dash"/>
          </a:ln>
        </p:spPr>
      </p:sp>
      <p:sp>
        <p:nvSpPr>
          <p:cNvPr id="17" name="Shape 15"/>
          <p:cNvSpPr/>
          <p:nvPr/>
        </p:nvSpPr>
        <p:spPr>
          <a:xfrm>
            <a:off x="1654850" y="2304125"/>
            <a:ext cx="413959" cy="259458"/>
          </a:xfrm>
          <a:custGeom>
            <a:avLst/>
            <a:gdLst/>
            <a:ahLst/>
            <a:cxnLst/>
            <a:rect l="l" t="t" r="r" b="b"/>
            <a:pathLst>
              <a:path w="413959" h="259458">
                <a:moveTo>
                  <a:pt x="409756" y="220011"/>
                </a:moveTo>
                <a:lnTo>
                  <a:pt x="404304" y="229266"/>
                </a:lnTo>
                <a:lnTo>
                  <a:pt x="396690" y="237431"/>
                </a:lnTo>
                <a:lnTo>
                  <a:pt x="386998" y="244416"/>
                </a:lnTo>
                <a:lnTo>
                  <a:pt x="375334" y="250145"/>
                </a:lnTo>
                <a:lnTo>
                  <a:pt x="361824" y="254554"/>
                </a:lnTo>
                <a:lnTo>
                  <a:pt x="346619" y="257595"/>
                </a:lnTo>
                <a:lnTo>
                  <a:pt x="329883" y="259236"/>
                </a:lnTo>
                <a:lnTo>
                  <a:pt x="311801" y="259458"/>
                </a:lnTo>
                <a:lnTo>
                  <a:pt x="292571" y="258258"/>
                </a:lnTo>
                <a:lnTo>
                  <a:pt x="272402" y="255650"/>
                </a:lnTo>
                <a:lnTo>
                  <a:pt x="251517" y="251663"/>
                </a:lnTo>
                <a:lnTo>
                  <a:pt x="230144" y="246339"/>
                </a:lnTo>
                <a:lnTo>
                  <a:pt x="208517" y="239738"/>
                </a:lnTo>
                <a:lnTo>
                  <a:pt x="186873" y="231932"/>
                </a:lnTo>
                <a:lnTo>
                  <a:pt x="165450" y="223006"/>
                </a:lnTo>
                <a:lnTo>
                  <a:pt x="144482" y="213058"/>
                </a:lnTo>
                <a:lnTo>
                  <a:pt x="124198" y="202197"/>
                </a:lnTo>
                <a:lnTo>
                  <a:pt x="104821" y="190542"/>
                </a:lnTo>
                <a:lnTo>
                  <a:pt x="86564" y="178221"/>
                </a:lnTo>
                <a:lnTo>
                  <a:pt x="69626" y="165368"/>
                </a:lnTo>
                <a:lnTo>
                  <a:pt x="54193" y="152125"/>
                </a:lnTo>
                <a:lnTo>
                  <a:pt x="40433" y="138637"/>
                </a:lnTo>
                <a:lnTo>
                  <a:pt x="28499" y="125051"/>
                </a:lnTo>
                <a:lnTo>
                  <a:pt x="18520" y="111516"/>
                </a:lnTo>
                <a:lnTo>
                  <a:pt x="10605" y="98181"/>
                </a:lnTo>
                <a:lnTo>
                  <a:pt x="4843" y="85191"/>
                </a:lnTo>
                <a:lnTo>
                  <a:pt x="1295" y="72690"/>
                </a:lnTo>
                <a:lnTo>
                  <a:pt x="0" y="60813"/>
                </a:lnTo>
                <a:lnTo>
                  <a:pt x="973" y="49692"/>
                </a:lnTo>
                <a:lnTo>
                  <a:pt x="4203" y="39447"/>
                </a:lnTo>
                <a:lnTo>
                  <a:pt x="9655" y="30191"/>
                </a:lnTo>
                <a:lnTo>
                  <a:pt x="17269" y="22026"/>
                </a:lnTo>
                <a:lnTo>
                  <a:pt x="26961" y="15041"/>
                </a:lnTo>
                <a:lnTo>
                  <a:pt x="38626" y="9313"/>
                </a:lnTo>
                <a:lnTo>
                  <a:pt x="52135" y="4904"/>
                </a:lnTo>
                <a:lnTo>
                  <a:pt x="67341" y="1862"/>
                </a:lnTo>
                <a:lnTo>
                  <a:pt x="84076" y="222"/>
                </a:lnTo>
                <a:lnTo>
                  <a:pt x="102158" y="0"/>
                </a:lnTo>
                <a:lnTo>
                  <a:pt x="121389" y="1200"/>
                </a:lnTo>
                <a:lnTo>
                  <a:pt x="141557" y="3807"/>
                </a:lnTo>
                <a:lnTo>
                  <a:pt x="162442" y="7795"/>
                </a:lnTo>
                <a:lnTo>
                  <a:pt x="183815" y="13118"/>
                </a:lnTo>
                <a:lnTo>
                  <a:pt x="205442" y="19719"/>
                </a:lnTo>
                <a:lnTo>
                  <a:pt x="227086" y="27526"/>
                </a:lnTo>
                <a:lnTo>
                  <a:pt x="248509" y="36452"/>
                </a:lnTo>
                <a:lnTo>
                  <a:pt x="269478" y="46400"/>
                </a:lnTo>
                <a:lnTo>
                  <a:pt x="289761" y="57261"/>
                </a:lnTo>
                <a:lnTo>
                  <a:pt x="309138" y="68916"/>
                </a:lnTo>
                <a:lnTo>
                  <a:pt x="327396" y="81237"/>
                </a:lnTo>
                <a:lnTo>
                  <a:pt x="344334" y="94089"/>
                </a:lnTo>
                <a:lnTo>
                  <a:pt x="359767" y="107332"/>
                </a:lnTo>
                <a:lnTo>
                  <a:pt x="373526" y="120821"/>
                </a:lnTo>
                <a:lnTo>
                  <a:pt x="385461" y="134407"/>
                </a:lnTo>
                <a:lnTo>
                  <a:pt x="395440" y="147941"/>
                </a:lnTo>
                <a:lnTo>
                  <a:pt x="403354" y="161277"/>
                </a:lnTo>
                <a:lnTo>
                  <a:pt x="409117" y="174266"/>
                </a:lnTo>
                <a:lnTo>
                  <a:pt x="412665" y="186768"/>
                </a:lnTo>
                <a:lnTo>
                  <a:pt x="413959" y="198644"/>
                </a:lnTo>
                <a:lnTo>
                  <a:pt x="412986" y="209766"/>
                </a:lnTo>
                <a:close/>
              </a:path>
            </a:pathLst>
          </a:custGeom>
          <a:ln w="6350">
            <a:solidFill>
              <a:srgbClr val="4F7A43"/>
            </a:solidFill>
            <a:prstDash val="dash"/>
          </a:ln>
        </p:spPr>
      </p:sp>
      <p:sp>
        <p:nvSpPr>
          <p:cNvPr id="18" name="Shape 16"/>
          <p:cNvSpPr/>
          <p:nvPr/>
        </p:nvSpPr>
        <p:spPr>
          <a:xfrm>
            <a:off x="2541158" y="2744976"/>
            <a:ext cx="60334" cy="60334"/>
          </a:xfrm>
          <a:prstGeom prst="ellipse">
            <a:avLst/>
          </a:prstGeom>
          <a:solidFill>
            <a:srgbClr val="FFFFFF"/>
          </a:solidFill>
          <a:ln w="7620">
            <a:solidFill>
              <a:srgbClr val="4F7A43"/>
            </a:solidFill>
            <a:prstDash val="solid"/>
          </a:ln>
        </p:spPr>
      </p:sp>
      <p:sp>
        <p:nvSpPr>
          <p:cNvPr id="19" name="Shape 17"/>
          <p:cNvSpPr/>
          <p:nvPr/>
        </p:nvSpPr>
        <p:spPr>
          <a:xfrm>
            <a:off x="2457148" y="2838283"/>
            <a:ext cx="60334" cy="60334"/>
          </a:xfrm>
          <a:prstGeom prst="ellipse">
            <a:avLst/>
          </a:prstGeom>
          <a:solidFill>
            <a:srgbClr val="FFFFFF"/>
          </a:solidFill>
          <a:ln w="7620">
            <a:solidFill>
              <a:srgbClr val="4F7A43"/>
            </a:solidFill>
            <a:prstDash val="solid"/>
          </a:ln>
        </p:spPr>
      </p:sp>
      <p:sp>
        <p:nvSpPr>
          <p:cNvPr id="20" name="Shape 18"/>
          <p:cNvSpPr/>
          <p:nvPr/>
        </p:nvSpPr>
        <p:spPr>
          <a:xfrm>
            <a:off x="2309597" y="2891877"/>
            <a:ext cx="60334" cy="60334"/>
          </a:xfrm>
          <a:prstGeom prst="ellipse">
            <a:avLst/>
          </a:prstGeom>
          <a:solidFill>
            <a:srgbClr val="FFFFFF"/>
          </a:solidFill>
          <a:ln w="7620">
            <a:solidFill>
              <a:srgbClr val="4F7A43"/>
            </a:solidFill>
            <a:prstDash val="solid"/>
          </a:ln>
        </p:spPr>
      </p:sp>
      <p:sp>
        <p:nvSpPr>
          <p:cNvPr id="21" name="Shape 19"/>
          <p:cNvSpPr/>
          <p:nvPr/>
        </p:nvSpPr>
        <p:spPr>
          <a:xfrm>
            <a:off x="2111400" y="2901073"/>
            <a:ext cx="60334" cy="60334"/>
          </a:xfrm>
          <a:prstGeom prst="ellipse">
            <a:avLst/>
          </a:prstGeom>
          <a:solidFill>
            <a:srgbClr val="FFFFFF"/>
          </a:solidFill>
          <a:ln w="7620">
            <a:solidFill>
              <a:srgbClr val="4F7A43"/>
            </a:solidFill>
            <a:prstDash val="solid"/>
          </a:ln>
        </p:spPr>
      </p:sp>
      <p:sp>
        <p:nvSpPr>
          <p:cNvPr id="22" name="Shape 20"/>
          <p:cNvSpPr/>
          <p:nvPr/>
        </p:nvSpPr>
        <p:spPr>
          <a:xfrm>
            <a:off x="1879876" y="2865070"/>
            <a:ext cx="60334" cy="60334"/>
          </a:xfrm>
          <a:prstGeom prst="ellipse">
            <a:avLst/>
          </a:prstGeom>
          <a:solidFill>
            <a:srgbClr val="FFFFFF"/>
          </a:solidFill>
          <a:ln w="7620">
            <a:solidFill>
              <a:srgbClr val="4F7A43"/>
            </a:solidFill>
            <a:prstDash val="solid"/>
          </a:ln>
        </p:spPr>
      </p:sp>
      <p:sp>
        <p:nvSpPr>
          <p:cNvPr id="23" name="Shape 21"/>
          <p:cNvSpPr/>
          <p:nvPr/>
        </p:nvSpPr>
        <p:spPr>
          <a:xfrm>
            <a:off x="1635259" y="2787012"/>
            <a:ext cx="60334" cy="60334"/>
          </a:xfrm>
          <a:prstGeom prst="ellipse">
            <a:avLst/>
          </a:prstGeom>
          <a:solidFill>
            <a:srgbClr val="FFFFFF"/>
          </a:solidFill>
          <a:ln w="7620">
            <a:solidFill>
              <a:srgbClr val="4F7A43"/>
            </a:solidFill>
            <a:prstDash val="solid"/>
          </a:ln>
        </p:spPr>
      </p:sp>
      <p:sp>
        <p:nvSpPr>
          <p:cNvPr id="24" name="Shape 22"/>
          <p:cNvSpPr/>
          <p:nvPr/>
        </p:nvSpPr>
        <p:spPr>
          <a:xfrm>
            <a:off x="1398926" y="2673721"/>
            <a:ext cx="60334" cy="60334"/>
          </a:xfrm>
          <a:prstGeom prst="ellipse">
            <a:avLst/>
          </a:prstGeom>
          <a:solidFill>
            <a:srgbClr val="FFFFFF"/>
          </a:solidFill>
          <a:ln w="7620">
            <a:solidFill>
              <a:srgbClr val="4F7A43"/>
            </a:solidFill>
            <a:prstDash val="solid"/>
          </a:ln>
        </p:spPr>
      </p:sp>
      <p:sp>
        <p:nvSpPr>
          <p:cNvPr id="25" name="Shape 23"/>
          <p:cNvSpPr/>
          <p:nvPr/>
        </p:nvSpPr>
        <p:spPr>
          <a:xfrm>
            <a:off x="1191530" y="2535099"/>
            <a:ext cx="60334" cy="60334"/>
          </a:xfrm>
          <a:prstGeom prst="ellipse">
            <a:avLst/>
          </a:prstGeom>
          <a:solidFill>
            <a:srgbClr val="FFFFFF"/>
          </a:solidFill>
          <a:ln w="7620">
            <a:solidFill>
              <a:srgbClr val="4F7A43"/>
            </a:solidFill>
            <a:prstDash val="solid"/>
          </a:ln>
        </p:spPr>
      </p:sp>
      <p:sp>
        <p:nvSpPr>
          <p:cNvPr id="26" name="Shape 24"/>
          <p:cNvSpPr/>
          <p:nvPr/>
        </p:nvSpPr>
        <p:spPr>
          <a:xfrm>
            <a:off x="1031197" y="2383258"/>
            <a:ext cx="60334" cy="60334"/>
          </a:xfrm>
          <a:prstGeom prst="ellipse">
            <a:avLst/>
          </a:prstGeom>
          <a:solidFill>
            <a:srgbClr val="FFFFFF"/>
          </a:solidFill>
          <a:ln w="7620">
            <a:solidFill>
              <a:srgbClr val="4F7A43"/>
            </a:solidFill>
            <a:prstDash val="solid"/>
          </a:ln>
        </p:spPr>
      </p:sp>
      <p:sp>
        <p:nvSpPr>
          <p:cNvPr id="27" name="Shape 25"/>
          <p:cNvSpPr/>
          <p:nvPr/>
        </p:nvSpPr>
        <p:spPr>
          <a:xfrm>
            <a:off x="931936" y="2231470"/>
            <a:ext cx="60334" cy="60334"/>
          </a:xfrm>
          <a:prstGeom prst="ellipse">
            <a:avLst/>
          </a:prstGeom>
          <a:solidFill>
            <a:srgbClr val="FFFFFF"/>
          </a:solidFill>
          <a:ln w="7620">
            <a:solidFill>
              <a:srgbClr val="4F7A43"/>
            </a:solidFill>
            <a:prstDash val="solid"/>
          </a:ln>
        </p:spPr>
      </p:sp>
      <p:sp>
        <p:nvSpPr>
          <p:cNvPr id="28" name="Shape 26"/>
          <p:cNvSpPr/>
          <p:nvPr/>
        </p:nvSpPr>
        <p:spPr>
          <a:xfrm>
            <a:off x="902424" y="2092997"/>
            <a:ext cx="60334" cy="60334"/>
          </a:xfrm>
          <a:prstGeom prst="ellipse">
            <a:avLst/>
          </a:prstGeom>
          <a:solidFill>
            <a:srgbClr val="FFFFFF"/>
          </a:solidFill>
          <a:ln w="7620">
            <a:solidFill>
              <a:srgbClr val="4F7A43"/>
            </a:solidFill>
            <a:prstDash val="solid"/>
          </a:ln>
        </p:spPr>
      </p:sp>
      <p:sp>
        <p:nvSpPr>
          <p:cNvPr id="29" name="Shape 27"/>
          <p:cNvSpPr/>
          <p:nvPr/>
        </p:nvSpPr>
        <p:spPr>
          <a:xfrm>
            <a:off x="945238" y="1979943"/>
            <a:ext cx="60334" cy="60334"/>
          </a:xfrm>
          <a:prstGeom prst="ellipse">
            <a:avLst/>
          </a:prstGeom>
          <a:solidFill>
            <a:srgbClr val="FFFFFF"/>
          </a:solidFill>
          <a:ln w="7620">
            <a:solidFill>
              <a:srgbClr val="4F7A43"/>
            </a:solidFill>
            <a:prstDash val="solid"/>
          </a:ln>
        </p:spPr>
      </p:sp>
      <p:sp>
        <p:nvSpPr>
          <p:cNvPr id="30" name="Shape 28"/>
          <p:cNvSpPr/>
          <p:nvPr/>
        </p:nvSpPr>
        <p:spPr>
          <a:xfrm>
            <a:off x="1056638" y="1902185"/>
            <a:ext cx="60334" cy="60334"/>
          </a:xfrm>
          <a:prstGeom prst="ellipse">
            <a:avLst/>
          </a:prstGeom>
          <a:solidFill>
            <a:srgbClr val="FFFFFF"/>
          </a:solidFill>
          <a:ln w="7620">
            <a:solidFill>
              <a:srgbClr val="4F7A43"/>
            </a:solidFill>
            <a:prstDash val="solid"/>
          </a:ln>
        </p:spPr>
      </p:sp>
      <p:sp>
        <p:nvSpPr>
          <p:cNvPr id="31" name="Shape 29"/>
          <p:cNvSpPr/>
          <p:nvPr/>
        </p:nvSpPr>
        <p:spPr>
          <a:xfrm>
            <a:off x="1226887" y="1866521"/>
            <a:ext cx="60334" cy="60334"/>
          </a:xfrm>
          <a:prstGeom prst="ellipse">
            <a:avLst/>
          </a:prstGeom>
          <a:solidFill>
            <a:srgbClr val="FFFFFF"/>
          </a:solidFill>
          <a:ln w="7620">
            <a:solidFill>
              <a:srgbClr val="4F7A43"/>
            </a:solidFill>
            <a:prstDash val="solid"/>
          </a:ln>
        </p:spPr>
      </p:sp>
      <p:sp>
        <p:nvSpPr>
          <p:cNvPr id="32" name="Shape 30"/>
          <p:cNvSpPr/>
          <p:nvPr/>
        </p:nvSpPr>
        <p:spPr>
          <a:xfrm>
            <a:off x="1441109" y="1876066"/>
            <a:ext cx="60334" cy="60334"/>
          </a:xfrm>
          <a:prstGeom prst="ellipse">
            <a:avLst/>
          </a:prstGeom>
          <a:solidFill>
            <a:srgbClr val="FFFFFF"/>
          </a:solidFill>
          <a:ln w="7620">
            <a:solidFill>
              <a:srgbClr val="4F7A43"/>
            </a:solidFill>
            <a:prstDash val="solid"/>
          </a:ln>
        </p:spPr>
      </p:sp>
      <p:sp>
        <p:nvSpPr>
          <p:cNvPr id="33" name="Shape 31"/>
          <p:cNvSpPr/>
          <p:nvPr/>
        </p:nvSpPr>
        <p:spPr>
          <a:xfrm>
            <a:off x="1680581" y="1929987"/>
            <a:ext cx="60334" cy="60334"/>
          </a:xfrm>
          <a:prstGeom prst="ellipse">
            <a:avLst/>
          </a:prstGeom>
          <a:solidFill>
            <a:srgbClr val="FFFFFF"/>
          </a:solidFill>
          <a:ln w="7620">
            <a:solidFill>
              <a:srgbClr val="4F7A43"/>
            </a:solidFill>
            <a:prstDash val="solid"/>
          </a:ln>
        </p:spPr>
      </p:sp>
      <p:sp>
        <p:nvSpPr>
          <p:cNvPr id="34" name="Shape 32"/>
          <p:cNvSpPr/>
          <p:nvPr/>
        </p:nvSpPr>
        <p:spPr>
          <a:xfrm>
            <a:off x="1924377" y="2023571"/>
            <a:ext cx="60334" cy="60334"/>
          </a:xfrm>
          <a:prstGeom prst="ellipse">
            <a:avLst/>
          </a:prstGeom>
          <a:solidFill>
            <a:srgbClr val="FFFFFF"/>
          </a:solidFill>
          <a:ln w="7620">
            <a:solidFill>
              <a:srgbClr val="4F7A43"/>
            </a:solidFill>
            <a:prstDash val="solid"/>
          </a:ln>
        </p:spPr>
      </p:sp>
      <p:sp>
        <p:nvSpPr>
          <p:cNvPr id="35" name="Shape 33"/>
          <p:cNvSpPr/>
          <p:nvPr/>
        </p:nvSpPr>
        <p:spPr>
          <a:xfrm>
            <a:off x="2151191" y="2148639"/>
            <a:ext cx="60334" cy="60334"/>
          </a:xfrm>
          <a:prstGeom prst="ellipse">
            <a:avLst/>
          </a:prstGeom>
          <a:solidFill>
            <a:srgbClr val="FFFFFF"/>
          </a:solidFill>
          <a:ln w="7620">
            <a:solidFill>
              <a:srgbClr val="4F7A43"/>
            </a:solidFill>
            <a:prstDash val="solid"/>
          </a:ln>
        </p:spPr>
      </p:sp>
      <p:sp>
        <p:nvSpPr>
          <p:cNvPr id="36" name="Shape 34"/>
          <p:cNvSpPr/>
          <p:nvPr/>
        </p:nvSpPr>
        <p:spPr>
          <a:xfrm>
            <a:off x="2341201" y="2294263"/>
            <a:ext cx="60334" cy="60334"/>
          </a:xfrm>
          <a:prstGeom prst="ellipse">
            <a:avLst/>
          </a:prstGeom>
          <a:solidFill>
            <a:srgbClr val="FFFFFF"/>
          </a:solidFill>
          <a:ln w="7620">
            <a:solidFill>
              <a:srgbClr val="4F7A43"/>
            </a:solidFill>
            <a:prstDash val="solid"/>
          </a:ln>
        </p:spPr>
      </p:sp>
      <p:sp>
        <p:nvSpPr>
          <p:cNvPr id="37" name="Shape 35"/>
          <p:cNvSpPr/>
          <p:nvPr/>
        </p:nvSpPr>
        <p:spPr>
          <a:xfrm>
            <a:off x="2477803" y="2447716"/>
            <a:ext cx="60334" cy="60334"/>
          </a:xfrm>
          <a:prstGeom prst="ellipse">
            <a:avLst/>
          </a:prstGeom>
          <a:solidFill>
            <a:srgbClr val="FFFFFF"/>
          </a:solidFill>
          <a:ln w="7620">
            <a:solidFill>
              <a:srgbClr val="4F7A43"/>
            </a:solidFill>
            <a:prstDash val="solid"/>
          </a:ln>
        </p:spPr>
      </p:sp>
      <p:sp>
        <p:nvSpPr>
          <p:cNvPr id="38" name="Shape 36"/>
          <p:cNvSpPr/>
          <p:nvPr/>
        </p:nvSpPr>
        <p:spPr>
          <a:xfrm>
            <a:off x="2549059" y="2595587"/>
            <a:ext cx="60334" cy="60334"/>
          </a:xfrm>
          <a:prstGeom prst="ellipse">
            <a:avLst/>
          </a:prstGeom>
          <a:solidFill>
            <a:srgbClr val="FFFFFF"/>
          </a:solidFill>
          <a:ln w="7620">
            <a:solidFill>
              <a:srgbClr val="4F7A43"/>
            </a:solidFill>
            <a:prstDash val="solid"/>
          </a:ln>
        </p:spPr>
      </p:sp>
      <p:sp>
        <p:nvSpPr>
          <p:cNvPr id="39" name="Shape 37"/>
          <p:cNvSpPr/>
          <p:nvPr/>
        </p:nvSpPr>
        <p:spPr>
          <a:xfrm>
            <a:off x="2548741" y="2724954"/>
            <a:ext cx="60334" cy="60334"/>
          </a:xfrm>
          <a:prstGeom prst="ellipse">
            <a:avLst/>
          </a:prstGeom>
          <a:solidFill>
            <a:srgbClr val="FFFFFF"/>
          </a:solidFill>
          <a:ln w="7620">
            <a:solidFill>
              <a:srgbClr val="4F7A43"/>
            </a:solidFill>
            <a:prstDash val="solid"/>
          </a:ln>
        </p:spPr>
      </p:sp>
      <p:sp>
        <p:nvSpPr>
          <p:cNvPr id="40" name="Shape 38"/>
          <p:cNvSpPr/>
          <p:nvPr/>
        </p:nvSpPr>
        <p:spPr>
          <a:xfrm>
            <a:off x="1819810" y="2764360"/>
            <a:ext cx="937327" cy="275075"/>
          </a:xfrm>
          <a:custGeom>
            <a:avLst/>
            <a:gdLst/>
            <a:ahLst/>
            <a:cxnLst/>
            <a:rect l="l" t="t" r="r" b="b"/>
            <a:pathLst>
              <a:path w="937327" h="275075">
                <a:moveTo>
                  <a:pt x="937327" y="0"/>
                </a:moveTo>
                <a:lnTo>
                  <a:pt x="932555" y="37435"/>
                </a:lnTo>
                <a:lnTo>
                  <a:pt x="922326" y="72737"/>
                </a:lnTo>
                <a:lnTo>
                  <a:pt x="906698" y="105712"/>
                </a:lnTo>
                <a:lnTo>
                  <a:pt x="885755" y="136179"/>
                </a:lnTo>
                <a:lnTo>
                  <a:pt x="859613" y="163971"/>
                </a:lnTo>
                <a:lnTo>
                  <a:pt x="828416" y="188934"/>
                </a:lnTo>
                <a:lnTo>
                  <a:pt x="792335" y="210931"/>
                </a:lnTo>
                <a:lnTo>
                  <a:pt x="751569" y="229841"/>
                </a:lnTo>
                <a:lnTo>
                  <a:pt x="706342" y="245561"/>
                </a:lnTo>
                <a:lnTo>
                  <a:pt x="656902" y="258003"/>
                </a:lnTo>
                <a:lnTo>
                  <a:pt x="603522" y="267100"/>
                </a:lnTo>
                <a:lnTo>
                  <a:pt x="546495" y="272801"/>
                </a:lnTo>
                <a:lnTo>
                  <a:pt x="486135" y="275075"/>
                </a:lnTo>
                <a:lnTo>
                  <a:pt x="422774" y="273909"/>
                </a:lnTo>
                <a:lnTo>
                  <a:pt x="356760" y="269310"/>
                </a:lnTo>
                <a:lnTo>
                  <a:pt x="288456" y="261303"/>
                </a:lnTo>
                <a:lnTo>
                  <a:pt x="218237" y="249933"/>
                </a:lnTo>
                <a:lnTo>
                  <a:pt x="146491" y="235261"/>
                </a:lnTo>
                <a:lnTo>
                  <a:pt x="73612" y="217368"/>
                </a:lnTo>
                <a:lnTo>
                  <a:pt x="0" y="196353"/>
                </a:lnTo>
              </a:path>
            </a:pathLst>
          </a:custGeom>
          <a:ln w="44450">
            <a:solidFill>
              <a:srgbClr val="C4262E"/>
            </a:solidFill>
            <a:prstDash val="solid"/>
          </a:ln>
        </p:spPr>
      </p:sp>
      <p:sp>
        <p:nvSpPr>
          <p:cNvPr id="41" name="Shape 39"/>
          <p:cNvSpPr/>
          <p:nvPr/>
        </p:nvSpPr>
        <p:spPr>
          <a:xfrm>
            <a:off x="1149296" y="2109258"/>
            <a:ext cx="1207350" cy="903392"/>
          </a:xfrm>
          <a:custGeom>
            <a:avLst/>
            <a:gdLst/>
            <a:ahLst/>
            <a:cxnLst/>
            <a:rect l="l" t="t" r="r" b="b"/>
            <a:pathLst>
              <a:path w="1207350" h="903392">
                <a:moveTo>
                  <a:pt x="1207350" y="903392"/>
                </a:moveTo>
                <a:lnTo>
                  <a:pt x="1085198" y="893358"/>
                </a:lnTo>
                <a:lnTo>
                  <a:pt x="958534" y="871304"/>
                </a:lnTo>
                <a:lnTo>
                  <a:pt x="830417" y="838245"/>
                </a:lnTo>
                <a:lnTo>
                  <a:pt x="703817" y="795403"/>
                </a:lnTo>
                <a:lnTo>
                  <a:pt x="581553" y="744180"/>
                </a:lnTo>
                <a:lnTo>
                  <a:pt x="466228" y="686117"/>
                </a:lnTo>
                <a:lnTo>
                  <a:pt x="360174" y="622848"/>
                </a:lnTo>
                <a:lnTo>
                  <a:pt x="265412" y="556062"/>
                </a:lnTo>
                <a:lnTo>
                  <a:pt x="183607" y="487459"/>
                </a:lnTo>
                <a:lnTo>
                  <a:pt x="116044" y="418707"/>
                </a:lnTo>
                <a:lnTo>
                  <a:pt x="63615" y="351405"/>
                </a:lnTo>
                <a:lnTo>
                  <a:pt x="26805" y="287046"/>
                </a:lnTo>
                <a:lnTo>
                  <a:pt x="5700" y="226980"/>
                </a:lnTo>
                <a:lnTo>
                  <a:pt x="0" y="172394"/>
                </a:lnTo>
                <a:lnTo>
                  <a:pt x="9039" y="124282"/>
                </a:lnTo>
                <a:lnTo>
                  <a:pt x="31819" y="83428"/>
                </a:lnTo>
                <a:lnTo>
                  <a:pt x="67048" y="50400"/>
                </a:lnTo>
                <a:lnTo>
                  <a:pt x="113182" y="25536"/>
                </a:lnTo>
                <a:lnTo>
                  <a:pt x="168480" y="8953"/>
                </a:lnTo>
                <a:lnTo>
                  <a:pt x="231051" y="545"/>
                </a:lnTo>
                <a:lnTo>
                  <a:pt x="298916" y="0"/>
                </a:lnTo>
                <a:lnTo>
                  <a:pt x="370060" y="6815"/>
                </a:lnTo>
                <a:lnTo>
                  <a:pt x="442489" y="20317"/>
                </a:lnTo>
                <a:lnTo>
                  <a:pt x="514284" y="39688"/>
                </a:lnTo>
                <a:lnTo>
                  <a:pt x="583648" y="63996"/>
                </a:lnTo>
                <a:lnTo>
                  <a:pt x="648951" y="92221"/>
                </a:lnTo>
                <a:lnTo>
                  <a:pt x="708774" y="123289"/>
                </a:lnTo>
                <a:lnTo>
                  <a:pt x="761934" y="156108"/>
                </a:lnTo>
                <a:lnTo>
                  <a:pt x="807510" y="189593"/>
                </a:lnTo>
                <a:lnTo>
                  <a:pt x="844865" y="222704"/>
                </a:lnTo>
                <a:lnTo>
                  <a:pt x="873644" y="254471"/>
                </a:lnTo>
                <a:lnTo>
                  <a:pt x="893785" y="284021"/>
                </a:lnTo>
                <a:lnTo>
                  <a:pt x="905502" y="310601"/>
                </a:lnTo>
                <a:lnTo>
                  <a:pt x="909271" y="333596"/>
                </a:lnTo>
                <a:lnTo>
                  <a:pt x="905807" y="352545"/>
                </a:lnTo>
                <a:lnTo>
                  <a:pt x="896034" y="367150"/>
                </a:lnTo>
                <a:lnTo>
                  <a:pt x="881050" y="377277"/>
                </a:lnTo>
                <a:lnTo>
                  <a:pt x="862084" y="382960"/>
                </a:lnTo>
                <a:lnTo>
                  <a:pt x="840454" y="384395"/>
                </a:lnTo>
                <a:lnTo>
                  <a:pt x="817525" y="381927"/>
                </a:lnTo>
              </a:path>
            </a:pathLst>
          </a:custGeom>
          <a:ln w="25400">
            <a:solidFill>
              <a:srgbClr val="C4262E"/>
            </a:solidFill>
            <a:prstDash val="solid"/>
            <a:tailEnd type="triangle"/>
          </a:ln>
        </p:spPr>
      </p:sp>
      <p:sp>
        <p:nvSpPr>
          <p:cNvPr id="42" name="Shape 40"/>
          <p:cNvSpPr/>
          <p:nvPr/>
        </p:nvSpPr>
        <p:spPr>
          <a:xfrm rot="169550">
            <a:off x="1941583" y="3011591"/>
            <a:ext cx="625542" cy="92822"/>
          </a:xfrm>
          <a:prstGeom prst="rect">
            <a:avLst/>
          </a:prstGeom>
          <a:solidFill>
            <a:srgbClr val="C4262E"/>
          </a:solidFill>
          <a:ln/>
        </p:spPr>
      </p:sp>
      <p:sp>
        <p:nvSpPr>
          <p:cNvPr id="43" name="Shape 41"/>
          <p:cNvSpPr/>
          <p:nvPr/>
        </p:nvSpPr>
        <p:spPr>
          <a:xfrm rot="2669841">
            <a:off x="871920" y="2434546"/>
            <a:ext cx="554916" cy="92822"/>
          </a:xfrm>
          <a:prstGeom prst="rect">
            <a:avLst/>
          </a:prstGeom>
          <a:solidFill>
            <a:srgbClr val="F0B9BC"/>
          </a:solidFill>
          <a:ln w="6350">
            <a:solidFill>
              <a:srgbClr val="1B1B1B"/>
            </a:solidFill>
            <a:prstDash val="solid"/>
          </a:ln>
        </p:spPr>
      </p:sp>
      <p:sp>
        <p:nvSpPr>
          <p:cNvPr id="44" name="Shape 42"/>
          <p:cNvSpPr/>
          <p:nvPr/>
        </p:nvSpPr>
        <p:spPr>
          <a:xfrm rot="-1236591">
            <a:off x="1072733" y="2008281"/>
            <a:ext cx="464112" cy="92822"/>
          </a:xfrm>
          <a:prstGeom prst="rect">
            <a:avLst/>
          </a:prstGeom>
          <a:solidFill>
            <a:srgbClr val="1B1B1B"/>
          </a:solidFill>
          <a:ln/>
        </p:spPr>
      </p:sp>
      <p:sp>
        <p:nvSpPr>
          <p:cNvPr id="45" name="Shape 43"/>
          <p:cNvSpPr/>
          <p:nvPr/>
        </p:nvSpPr>
        <p:spPr>
          <a:xfrm rot="1650735">
            <a:off x="1797625" y="2209142"/>
            <a:ext cx="363218" cy="92822"/>
          </a:xfrm>
          <a:prstGeom prst="rect">
            <a:avLst/>
          </a:prstGeom>
          <a:solidFill>
            <a:srgbClr val="9A9A9A"/>
          </a:solidFill>
          <a:ln/>
        </p:spPr>
      </p:sp>
      <p:sp>
        <p:nvSpPr>
          <p:cNvPr id="46" name="Shape 44"/>
          <p:cNvSpPr/>
          <p:nvPr/>
        </p:nvSpPr>
        <p:spPr>
          <a:xfrm rot="173647">
            <a:off x="1185629" y="1847170"/>
            <a:ext cx="343039" cy="74258"/>
          </a:xfrm>
          <a:prstGeom prst="rect">
            <a:avLst/>
          </a:prstGeom>
          <a:solidFill>
            <a:srgbClr val="9A9A9A"/>
          </a:solidFill>
          <a:ln/>
        </p:spPr>
      </p:sp>
      <p:sp>
        <p:nvSpPr>
          <p:cNvPr id="47" name="Shape 45"/>
          <p:cNvSpPr/>
          <p:nvPr/>
        </p:nvSpPr>
        <p:spPr>
          <a:xfrm>
            <a:off x="1956404" y="2491185"/>
            <a:ext cx="69858" cy="489847"/>
          </a:xfrm>
          <a:custGeom>
            <a:avLst/>
            <a:gdLst/>
            <a:ahLst/>
            <a:cxnLst/>
            <a:rect l="l" t="t" r="r" b="b"/>
            <a:pathLst>
              <a:path w="69858" h="489847">
                <a:moveTo>
                  <a:pt x="69858" y="489847"/>
                </a:moveTo>
                <a:lnTo>
                  <a:pt x="0" y="246729"/>
                </a:lnTo>
                <a:lnTo>
                  <a:pt x="10417" y="0"/>
                </a:lnTo>
              </a:path>
            </a:pathLst>
          </a:custGeom>
          <a:ln w="19050">
            <a:solidFill>
              <a:srgbClr val="1B1B1B"/>
            </a:solidFill>
            <a:prstDash val="solid"/>
            <a:tailEnd type="triangle"/>
          </a:ln>
        </p:spPr>
      </p:sp>
      <p:sp>
        <p:nvSpPr>
          <p:cNvPr id="48" name="Shape 46"/>
          <p:cNvSpPr/>
          <p:nvPr/>
        </p:nvSpPr>
        <p:spPr>
          <a:xfrm>
            <a:off x="1892563" y="2416927"/>
            <a:ext cx="148516" cy="148516"/>
          </a:xfrm>
          <a:prstGeom prst="ellipse">
            <a:avLst/>
          </a:prstGeom>
          <a:solidFill>
            <a:srgbClr val="FFFFFF"/>
          </a:solidFill>
          <a:ln w="19050">
            <a:solidFill>
              <a:srgbClr val="C4262E"/>
            </a:solidFill>
            <a:prstDash val="solid"/>
          </a:ln>
        </p:spPr>
      </p:sp>
      <p:sp>
        <p:nvSpPr>
          <p:cNvPr id="49" name="Shape 47"/>
          <p:cNvSpPr/>
          <p:nvPr/>
        </p:nvSpPr>
        <p:spPr>
          <a:xfrm>
            <a:off x="2336072" y="2875491"/>
            <a:ext cx="41148" cy="41148"/>
          </a:xfrm>
          <a:prstGeom prst="ellipse">
            <a:avLst/>
          </a:prstGeom>
          <a:solidFill>
            <a:srgbClr val="C4262E"/>
          </a:solidFill>
          <a:ln/>
        </p:spPr>
      </p:sp>
      <p:sp>
        <p:nvSpPr>
          <p:cNvPr id="50" name="Shape 48"/>
          <p:cNvSpPr/>
          <p:nvPr/>
        </p:nvSpPr>
        <p:spPr>
          <a:xfrm>
            <a:off x="2338816" y="2919382"/>
            <a:ext cx="35662" cy="93269"/>
          </a:xfrm>
          <a:prstGeom prst="roundRect">
            <a:avLst>
              <a:gd name="adj" fmla="val 51281"/>
            </a:avLst>
          </a:prstGeom>
          <a:solidFill>
            <a:srgbClr val="C4262E"/>
          </a:solidFill>
          <a:ln/>
        </p:spPr>
      </p:sp>
      <p:sp>
        <p:nvSpPr>
          <p:cNvPr id="51" name="Shape 49"/>
          <p:cNvSpPr/>
          <p:nvPr/>
        </p:nvSpPr>
        <p:spPr>
          <a:xfrm>
            <a:off x="3227832" y="1188720"/>
            <a:ext cx="2788920" cy="2514600"/>
          </a:xfrm>
          <a:prstGeom prst="rect">
            <a:avLst/>
          </a:prstGeom>
          <a:solidFill>
            <a:srgbClr val="FFFFFF"/>
          </a:solidFill>
          <a:ln w="6350">
            <a:solidFill>
              <a:srgbClr val="D9D9D9"/>
            </a:solidFill>
            <a:prstDash val="solid"/>
          </a:ln>
        </p:spPr>
      </p:sp>
      <p:sp>
        <p:nvSpPr>
          <p:cNvPr id="52" name="Text 50"/>
          <p:cNvSpPr txBox="1"/>
          <p:nvPr/>
        </p:nvSpPr>
        <p:spPr>
          <a:xfrm>
            <a:off x="3300984" y="1243584"/>
            <a:ext cx="264261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02  </a:t>
            </a:r>
            <a:pPr indent="0" marL="0">
              <a:buNone/>
            </a:pPr>
            <a:r>
              <a:rPr lang="en-US" sz="750" b="1" spc="50" kern="0" dirty="0">
                <a:solidFill>
                  <a:srgbClr val="1B1B1B"/>
                </a:solidFill>
                <a:latin typeface="Arial" pitchFamily="34" charset="0"/>
                <a:ea typeface="Arial" pitchFamily="34" charset="-122"/>
                <a:cs typeface="Arial" pitchFamily="34" charset="-120"/>
              </a:rPr>
              <a:t>SITE RESPONSE</a:t>
            </a:r>
            <a:endParaRPr lang="en-US" sz="750" dirty="0"/>
          </a:p>
        </p:txBody>
      </p:sp>
      <p:sp>
        <p:nvSpPr>
          <p:cNvPr id="53" name="Text 51"/>
          <p:cNvSpPr txBox="1"/>
          <p:nvPr/>
        </p:nvSpPr>
        <p:spPr>
          <a:xfrm>
            <a:off x="3300984" y="3392424"/>
            <a:ext cx="2642616" cy="274320"/>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Bars parallel to contours; tree ring kept; no regrading.</a:t>
            </a:r>
            <a:endParaRPr lang="en-US" sz="650" dirty="0"/>
          </a:p>
        </p:txBody>
      </p:sp>
      <p:sp>
        <p:nvSpPr>
          <p:cNvPr id="54" name="Shape 52"/>
          <p:cNvSpPr/>
          <p:nvPr/>
        </p:nvSpPr>
        <p:spPr>
          <a:xfrm>
            <a:off x="3493312" y="1706404"/>
            <a:ext cx="2257961" cy="1415223"/>
          </a:xfrm>
          <a:custGeom>
            <a:avLst/>
            <a:gdLst/>
            <a:ahLst/>
            <a:cxnLst/>
            <a:rect l="l" t="t" r="r" b="b"/>
            <a:pathLst>
              <a:path w="2257961" h="1415223">
                <a:moveTo>
                  <a:pt x="2235033" y="1200058"/>
                </a:moveTo>
                <a:lnTo>
                  <a:pt x="2205296" y="1250543"/>
                </a:lnTo>
                <a:lnTo>
                  <a:pt x="2163766" y="1295079"/>
                </a:lnTo>
                <a:lnTo>
                  <a:pt x="2110899" y="1333179"/>
                </a:lnTo>
                <a:lnTo>
                  <a:pt x="2047274" y="1364425"/>
                </a:lnTo>
                <a:lnTo>
                  <a:pt x="1973588" y="1388475"/>
                </a:lnTo>
                <a:lnTo>
                  <a:pt x="1890648" y="1405065"/>
                </a:lnTo>
                <a:lnTo>
                  <a:pt x="1799363" y="1414014"/>
                </a:lnTo>
                <a:lnTo>
                  <a:pt x="1700733" y="1415223"/>
                </a:lnTo>
                <a:lnTo>
                  <a:pt x="1595839" y="1408680"/>
                </a:lnTo>
                <a:lnTo>
                  <a:pt x="1485830" y="1394455"/>
                </a:lnTo>
                <a:lnTo>
                  <a:pt x="1371911" y="1372705"/>
                </a:lnTo>
                <a:lnTo>
                  <a:pt x="1255331" y="1343669"/>
                </a:lnTo>
                <a:lnTo>
                  <a:pt x="1137366" y="1307663"/>
                </a:lnTo>
                <a:lnTo>
                  <a:pt x="1019310" y="1265083"/>
                </a:lnTo>
                <a:lnTo>
                  <a:pt x="902455" y="1216396"/>
                </a:lnTo>
                <a:lnTo>
                  <a:pt x="788082" y="1162134"/>
                </a:lnTo>
                <a:lnTo>
                  <a:pt x="677444" y="1102892"/>
                </a:lnTo>
                <a:lnTo>
                  <a:pt x="571753" y="1039320"/>
                </a:lnTo>
                <a:lnTo>
                  <a:pt x="472167" y="972113"/>
                </a:lnTo>
                <a:lnTo>
                  <a:pt x="379777" y="902008"/>
                </a:lnTo>
                <a:lnTo>
                  <a:pt x="295596" y="829774"/>
                </a:lnTo>
                <a:lnTo>
                  <a:pt x="220545" y="756201"/>
                </a:lnTo>
                <a:lnTo>
                  <a:pt x="155448" y="682096"/>
                </a:lnTo>
                <a:lnTo>
                  <a:pt x="101016" y="608270"/>
                </a:lnTo>
                <a:lnTo>
                  <a:pt x="57848" y="535533"/>
                </a:lnTo>
                <a:lnTo>
                  <a:pt x="26414" y="464680"/>
                </a:lnTo>
                <a:lnTo>
                  <a:pt x="7061" y="396490"/>
                </a:lnTo>
                <a:lnTo>
                  <a:pt x="0" y="331708"/>
                </a:lnTo>
                <a:lnTo>
                  <a:pt x="5308" y="271045"/>
                </a:lnTo>
                <a:lnTo>
                  <a:pt x="22927" y="215165"/>
                </a:lnTo>
                <a:lnTo>
                  <a:pt x="52665" y="164680"/>
                </a:lnTo>
                <a:lnTo>
                  <a:pt x="94195" y="120144"/>
                </a:lnTo>
                <a:lnTo>
                  <a:pt x="147062" y="82044"/>
                </a:lnTo>
                <a:lnTo>
                  <a:pt x="210687" y="50798"/>
                </a:lnTo>
                <a:lnTo>
                  <a:pt x="284373" y="26748"/>
                </a:lnTo>
                <a:lnTo>
                  <a:pt x="367313" y="10158"/>
                </a:lnTo>
                <a:lnTo>
                  <a:pt x="458598" y="1209"/>
                </a:lnTo>
                <a:lnTo>
                  <a:pt x="557228" y="0"/>
                </a:lnTo>
                <a:lnTo>
                  <a:pt x="662122" y="6544"/>
                </a:lnTo>
                <a:lnTo>
                  <a:pt x="772131" y="20768"/>
                </a:lnTo>
                <a:lnTo>
                  <a:pt x="886049" y="42518"/>
                </a:lnTo>
                <a:lnTo>
                  <a:pt x="1002630" y="71554"/>
                </a:lnTo>
                <a:lnTo>
                  <a:pt x="1120594" y="107560"/>
                </a:lnTo>
                <a:lnTo>
                  <a:pt x="1238651" y="150140"/>
                </a:lnTo>
                <a:lnTo>
                  <a:pt x="1355506" y="198827"/>
                </a:lnTo>
                <a:lnTo>
                  <a:pt x="1469879" y="253089"/>
                </a:lnTo>
                <a:lnTo>
                  <a:pt x="1580517" y="312331"/>
                </a:lnTo>
                <a:lnTo>
                  <a:pt x="1686208" y="375903"/>
                </a:lnTo>
                <a:lnTo>
                  <a:pt x="1785794" y="443110"/>
                </a:lnTo>
                <a:lnTo>
                  <a:pt x="1878184" y="513215"/>
                </a:lnTo>
                <a:lnTo>
                  <a:pt x="1962365" y="585449"/>
                </a:lnTo>
                <a:lnTo>
                  <a:pt x="2037415" y="659022"/>
                </a:lnTo>
                <a:lnTo>
                  <a:pt x="2102513" y="733127"/>
                </a:lnTo>
                <a:lnTo>
                  <a:pt x="2156944" y="806953"/>
                </a:lnTo>
                <a:lnTo>
                  <a:pt x="2200113" y="879691"/>
                </a:lnTo>
                <a:lnTo>
                  <a:pt x="2231546" y="950543"/>
                </a:lnTo>
                <a:lnTo>
                  <a:pt x="2250899" y="1018733"/>
                </a:lnTo>
                <a:lnTo>
                  <a:pt x="2257961" y="1083515"/>
                </a:lnTo>
                <a:lnTo>
                  <a:pt x="2252653" y="1144178"/>
                </a:lnTo>
                <a:close/>
              </a:path>
            </a:pathLst>
          </a:custGeom>
          <a:solidFill>
            <a:srgbClr val="E4E4E4"/>
          </a:solidFill>
          <a:ln w="12700"/>
        </p:spPr>
      </p:sp>
      <p:sp>
        <p:nvSpPr>
          <p:cNvPr id="55" name="Shape 53"/>
          <p:cNvSpPr/>
          <p:nvPr/>
        </p:nvSpPr>
        <p:spPr>
          <a:xfrm>
            <a:off x="3282696" y="1875849"/>
            <a:ext cx="233543" cy="45720"/>
          </a:xfrm>
          <a:custGeom>
            <a:avLst/>
            <a:gdLst/>
            <a:ahLst/>
            <a:cxnLst/>
            <a:rect l="l" t="t" r="r" b="b"/>
            <a:pathLst>
              <a:path w="233543" h="45720">
                <a:moveTo>
                  <a:pt x="233543" y="45720"/>
                </a:moveTo>
                <a:lnTo>
                  <a:pt x="0" y="0"/>
                </a:lnTo>
              </a:path>
            </a:pathLst>
          </a:custGeom>
          <a:ln w="76200">
            <a:solidFill>
              <a:srgbClr val="E4E4E4"/>
            </a:solidFill>
            <a:prstDash val="solid"/>
          </a:ln>
        </p:spPr>
      </p:sp>
      <p:sp>
        <p:nvSpPr>
          <p:cNvPr id="56" name="Shape 54"/>
          <p:cNvSpPr/>
          <p:nvPr/>
        </p:nvSpPr>
        <p:spPr>
          <a:xfrm>
            <a:off x="5728345" y="2906463"/>
            <a:ext cx="233543" cy="45720"/>
          </a:xfrm>
          <a:custGeom>
            <a:avLst/>
            <a:gdLst/>
            <a:ahLst/>
            <a:cxnLst/>
            <a:rect l="l" t="t" r="r" b="b"/>
            <a:pathLst>
              <a:path w="233543" h="45720">
                <a:moveTo>
                  <a:pt x="0" y="0"/>
                </a:moveTo>
                <a:lnTo>
                  <a:pt x="233543" y="45720"/>
                </a:lnTo>
              </a:path>
            </a:pathLst>
          </a:custGeom>
          <a:ln w="76200">
            <a:solidFill>
              <a:srgbClr val="E4E4E4"/>
            </a:solidFill>
            <a:prstDash val="solid"/>
          </a:ln>
        </p:spPr>
      </p:sp>
      <p:sp>
        <p:nvSpPr>
          <p:cNvPr id="57" name="Shape 55"/>
          <p:cNvSpPr/>
          <p:nvPr/>
        </p:nvSpPr>
        <p:spPr>
          <a:xfrm>
            <a:off x="3681475" y="1824340"/>
            <a:ext cx="1881634" cy="1179353"/>
          </a:xfrm>
          <a:custGeom>
            <a:avLst/>
            <a:gdLst/>
            <a:ahLst/>
            <a:cxnLst/>
            <a:rect l="l" t="t" r="r" b="b"/>
            <a:pathLst>
              <a:path w="1881634" h="1179353">
                <a:moveTo>
                  <a:pt x="1862528" y="1000048"/>
                </a:moveTo>
                <a:lnTo>
                  <a:pt x="1837747" y="1042119"/>
                </a:lnTo>
                <a:lnTo>
                  <a:pt x="1803138" y="1079233"/>
                </a:lnTo>
                <a:lnTo>
                  <a:pt x="1759083" y="1110983"/>
                </a:lnTo>
                <a:lnTo>
                  <a:pt x="1706062" y="1137021"/>
                </a:lnTo>
                <a:lnTo>
                  <a:pt x="1644656" y="1157062"/>
                </a:lnTo>
                <a:lnTo>
                  <a:pt x="1575540" y="1170888"/>
                </a:lnTo>
                <a:lnTo>
                  <a:pt x="1499469" y="1178345"/>
                </a:lnTo>
                <a:lnTo>
                  <a:pt x="1417278" y="1179353"/>
                </a:lnTo>
                <a:lnTo>
                  <a:pt x="1329866" y="1173900"/>
                </a:lnTo>
                <a:lnTo>
                  <a:pt x="1238192" y="1162046"/>
                </a:lnTo>
                <a:lnTo>
                  <a:pt x="1143259" y="1143921"/>
                </a:lnTo>
                <a:lnTo>
                  <a:pt x="1046109" y="1119724"/>
                </a:lnTo>
                <a:lnTo>
                  <a:pt x="947805" y="1089719"/>
                </a:lnTo>
                <a:lnTo>
                  <a:pt x="849425" y="1054236"/>
                </a:lnTo>
                <a:lnTo>
                  <a:pt x="752046" y="1013663"/>
                </a:lnTo>
                <a:lnTo>
                  <a:pt x="656735" y="968445"/>
                </a:lnTo>
                <a:lnTo>
                  <a:pt x="564536" y="919077"/>
                </a:lnTo>
                <a:lnTo>
                  <a:pt x="476461" y="866100"/>
                </a:lnTo>
                <a:lnTo>
                  <a:pt x="393472" y="810094"/>
                </a:lnTo>
                <a:lnTo>
                  <a:pt x="316481" y="751674"/>
                </a:lnTo>
                <a:lnTo>
                  <a:pt x="246330" y="691478"/>
                </a:lnTo>
                <a:lnTo>
                  <a:pt x="183788" y="630167"/>
                </a:lnTo>
                <a:lnTo>
                  <a:pt x="129540" y="568413"/>
                </a:lnTo>
                <a:lnTo>
                  <a:pt x="84180" y="506892"/>
                </a:lnTo>
                <a:lnTo>
                  <a:pt x="48206" y="446277"/>
                </a:lnTo>
                <a:lnTo>
                  <a:pt x="22012" y="387234"/>
                </a:lnTo>
                <a:lnTo>
                  <a:pt x="5884" y="330408"/>
                </a:lnTo>
                <a:lnTo>
                  <a:pt x="0" y="276424"/>
                </a:lnTo>
                <a:lnTo>
                  <a:pt x="4423" y="225871"/>
                </a:lnTo>
                <a:lnTo>
                  <a:pt x="19106" y="179304"/>
                </a:lnTo>
                <a:lnTo>
                  <a:pt x="43887" y="137234"/>
                </a:lnTo>
                <a:lnTo>
                  <a:pt x="78495" y="100120"/>
                </a:lnTo>
                <a:lnTo>
                  <a:pt x="122551" y="68370"/>
                </a:lnTo>
                <a:lnTo>
                  <a:pt x="175572" y="42332"/>
                </a:lnTo>
                <a:lnTo>
                  <a:pt x="236978" y="22290"/>
                </a:lnTo>
                <a:lnTo>
                  <a:pt x="306094" y="8465"/>
                </a:lnTo>
                <a:lnTo>
                  <a:pt x="382165" y="1008"/>
                </a:lnTo>
                <a:lnTo>
                  <a:pt x="464356" y="0"/>
                </a:lnTo>
                <a:lnTo>
                  <a:pt x="551768" y="5453"/>
                </a:lnTo>
                <a:lnTo>
                  <a:pt x="643442" y="17307"/>
                </a:lnTo>
                <a:lnTo>
                  <a:pt x="738374" y="35432"/>
                </a:lnTo>
                <a:lnTo>
                  <a:pt x="835525" y="59629"/>
                </a:lnTo>
                <a:lnTo>
                  <a:pt x="933829" y="89633"/>
                </a:lnTo>
                <a:lnTo>
                  <a:pt x="1032209" y="125116"/>
                </a:lnTo>
                <a:lnTo>
                  <a:pt x="1129588" y="165689"/>
                </a:lnTo>
                <a:lnTo>
                  <a:pt x="1224899" y="210907"/>
                </a:lnTo>
                <a:lnTo>
                  <a:pt x="1317097" y="260276"/>
                </a:lnTo>
                <a:lnTo>
                  <a:pt x="1405173" y="313253"/>
                </a:lnTo>
                <a:lnTo>
                  <a:pt x="1488162" y="369258"/>
                </a:lnTo>
                <a:lnTo>
                  <a:pt x="1565153" y="427679"/>
                </a:lnTo>
                <a:lnTo>
                  <a:pt x="1635304" y="487874"/>
                </a:lnTo>
                <a:lnTo>
                  <a:pt x="1697846" y="549185"/>
                </a:lnTo>
                <a:lnTo>
                  <a:pt x="1752094" y="610940"/>
                </a:lnTo>
                <a:lnTo>
                  <a:pt x="1797454" y="672461"/>
                </a:lnTo>
                <a:lnTo>
                  <a:pt x="1833428" y="733075"/>
                </a:lnTo>
                <a:lnTo>
                  <a:pt x="1859622" y="792119"/>
                </a:lnTo>
                <a:lnTo>
                  <a:pt x="1875750" y="848944"/>
                </a:lnTo>
                <a:lnTo>
                  <a:pt x="1881634" y="902929"/>
                </a:lnTo>
                <a:lnTo>
                  <a:pt x="1877211" y="953482"/>
                </a:lnTo>
                <a:close/>
              </a:path>
            </a:pathLst>
          </a:custGeom>
          <a:solidFill>
            <a:srgbClr val="FFFFFF"/>
          </a:solidFill>
          <a:ln w="19050">
            <a:solidFill>
              <a:srgbClr val="1B1B1B"/>
            </a:solidFill>
            <a:prstDash val="solid"/>
          </a:ln>
        </p:spPr>
      </p:sp>
      <p:sp>
        <p:nvSpPr>
          <p:cNvPr id="58" name="Shape 56"/>
          <p:cNvSpPr/>
          <p:nvPr/>
        </p:nvSpPr>
        <p:spPr>
          <a:xfrm>
            <a:off x="4046513" y="2009287"/>
            <a:ext cx="1354776" cy="849134"/>
          </a:xfrm>
          <a:custGeom>
            <a:avLst/>
            <a:gdLst/>
            <a:ahLst/>
            <a:cxnLst/>
            <a:rect l="l" t="t" r="r" b="b"/>
            <a:pathLst>
              <a:path w="1354776" h="849134">
                <a:moveTo>
                  <a:pt x="1341020" y="720035"/>
                </a:moveTo>
                <a:lnTo>
                  <a:pt x="1323178" y="750326"/>
                </a:lnTo>
                <a:lnTo>
                  <a:pt x="1298260" y="777047"/>
                </a:lnTo>
                <a:lnTo>
                  <a:pt x="1266539" y="799907"/>
                </a:lnTo>
                <a:lnTo>
                  <a:pt x="1228364" y="818655"/>
                </a:lnTo>
                <a:lnTo>
                  <a:pt x="1184153" y="833085"/>
                </a:lnTo>
                <a:lnTo>
                  <a:pt x="1134389" y="843039"/>
                </a:lnTo>
                <a:lnTo>
                  <a:pt x="1079618" y="848408"/>
                </a:lnTo>
                <a:lnTo>
                  <a:pt x="1020440" y="849134"/>
                </a:lnTo>
                <a:lnTo>
                  <a:pt x="957503" y="845208"/>
                </a:lnTo>
                <a:lnTo>
                  <a:pt x="891498" y="836673"/>
                </a:lnTo>
                <a:lnTo>
                  <a:pt x="823147" y="823623"/>
                </a:lnTo>
                <a:lnTo>
                  <a:pt x="753199" y="806201"/>
                </a:lnTo>
                <a:lnTo>
                  <a:pt x="682420" y="784598"/>
                </a:lnTo>
                <a:lnTo>
                  <a:pt x="611586" y="759050"/>
                </a:lnTo>
                <a:lnTo>
                  <a:pt x="541473" y="729838"/>
                </a:lnTo>
                <a:lnTo>
                  <a:pt x="472849" y="697280"/>
                </a:lnTo>
                <a:lnTo>
                  <a:pt x="406466" y="661735"/>
                </a:lnTo>
                <a:lnTo>
                  <a:pt x="343052" y="623592"/>
                </a:lnTo>
                <a:lnTo>
                  <a:pt x="283300" y="583268"/>
                </a:lnTo>
                <a:lnTo>
                  <a:pt x="227866" y="541205"/>
                </a:lnTo>
                <a:lnTo>
                  <a:pt x="177357" y="497864"/>
                </a:lnTo>
                <a:lnTo>
                  <a:pt x="132327" y="453721"/>
                </a:lnTo>
                <a:lnTo>
                  <a:pt x="93269" y="409257"/>
                </a:lnTo>
                <a:lnTo>
                  <a:pt x="60610" y="364962"/>
                </a:lnTo>
                <a:lnTo>
                  <a:pt x="34709" y="321320"/>
                </a:lnTo>
                <a:lnTo>
                  <a:pt x="15849" y="278808"/>
                </a:lnTo>
                <a:lnTo>
                  <a:pt x="4237" y="237894"/>
                </a:lnTo>
                <a:lnTo>
                  <a:pt x="0" y="199025"/>
                </a:lnTo>
                <a:lnTo>
                  <a:pt x="3185" y="162627"/>
                </a:lnTo>
                <a:lnTo>
                  <a:pt x="13756" y="129099"/>
                </a:lnTo>
                <a:lnTo>
                  <a:pt x="31599" y="98808"/>
                </a:lnTo>
                <a:lnTo>
                  <a:pt x="56517" y="72086"/>
                </a:lnTo>
                <a:lnTo>
                  <a:pt x="88237" y="49226"/>
                </a:lnTo>
                <a:lnTo>
                  <a:pt x="126412" y="30479"/>
                </a:lnTo>
                <a:lnTo>
                  <a:pt x="170624" y="16049"/>
                </a:lnTo>
                <a:lnTo>
                  <a:pt x="220388" y="6095"/>
                </a:lnTo>
                <a:lnTo>
                  <a:pt x="275159" y="726"/>
                </a:lnTo>
                <a:lnTo>
                  <a:pt x="334337" y="0"/>
                </a:lnTo>
                <a:lnTo>
                  <a:pt x="397273" y="3926"/>
                </a:lnTo>
                <a:lnTo>
                  <a:pt x="463278" y="12461"/>
                </a:lnTo>
                <a:lnTo>
                  <a:pt x="531630" y="25511"/>
                </a:lnTo>
                <a:lnTo>
                  <a:pt x="601578" y="42933"/>
                </a:lnTo>
                <a:lnTo>
                  <a:pt x="672357" y="64536"/>
                </a:lnTo>
                <a:lnTo>
                  <a:pt x="743190" y="90084"/>
                </a:lnTo>
                <a:lnTo>
                  <a:pt x="813303" y="119296"/>
                </a:lnTo>
                <a:lnTo>
                  <a:pt x="881927" y="151853"/>
                </a:lnTo>
                <a:lnTo>
                  <a:pt x="948310" y="187398"/>
                </a:lnTo>
                <a:lnTo>
                  <a:pt x="1011725" y="225542"/>
                </a:lnTo>
                <a:lnTo>
                  <a:pt x="1071476" y="265866"/>
                </a:lnTo>
                <a:lnTo>
                  <a:pt x="1126910" y="307929"/>
                </a:lnTo>
                <a:lnTo>
                  <a:pt x="1177419" y="351269"/>
                </a:lnTo>
                <a:lnTo>
                  <a:pt x="1222449" y="395413"/>
                </a:lnTo>
                <a:lnTo>
                  <a:pt x="1261508" y="439876"/>
                </a:lnTo>
                <a:lnTo>
                  <a:pt x="1294167" y="484172"/>
                </a:lnTo>
                <a:lnTo>
                  <a:pt x="1320068" y="527814"/>
                </a:lnTo>
                <a:lnTo>
                  <a:pt x="1338928" y="570326"/>
                </a:lnTo>
                <a:lnTo>
                  <a:pt x="1350540" y="611240"/>
                </a:lnTo>
                <a:lnTo>
                  <a:pt x="1354776" y="650109"/>
                </a:lnTo>
                <a:lnTo>
                  <a:pt x="1351592" y="686507"/>
                </a:lnTo>
                <a:close/>
              </a:path>
            </a:pathLst>
          </a:custGeom>
          <a:ln w="6350">
            <a:solidFill>
              <a:srgbClr val="4F7A43"/>
            </a:solidFill>
            <a:prstDash val="dash"/>
          </a:ln>
        </p:spPr>
      </p:sp>
      <p:sp>
        <p:nvSpPr>
          <p:cNvPr id="59" name="Shape 57"/>
          <p:cNvSpPr/>
          <p:nvPr/>
        </p:nvSpPr>
        <p:spPr>
          <a:xfrm>
            <a:off x="4291126" y="2162603"/>
            <a:ext cx="865552" cy="542502"/>
          </a:xfrm>
          <a:custGeom>
            <a:avLst/>
            <a:gdLst/>
            <a:ahLst/>
            <a:cxnLst/>
            <a:rect l="l" t="t" r="r" b="b"/>
            <a:pathLst>
              <a:path w="865552" h="542502">
                <a:moveTo>
                  <a:pt x="856763" y="460022"/>
                </a:moveTo>
                <a:lnTo>
                  <a:pt x="845363" y="479375"/>
                </a:lnTo>
                <a:lnTo>
                  <a:pt x="829444" y="496447"/>
                </a:lnTo>
                <a:lnTo>
                  <a:pt x="809178" y="511052"/>
                </a:lnTo>
                <a:lnTo>
                  <a:pt x="784788" y="523030"/>
                </a:lnTo>
                <a:lnTo>
                  <a:pt x="756542" y="532249"/>
                </a:lnTo>
                <a:lnTo>
                  <a:pt x="724748" y="538608"/>
                </a:lnTo>
                <a:lnTo>
                  <a:pt x="689756" y="542039"/>
                </a:lnTo>
                <a:lnTo>
                  <a:pt x="651948" y="542502"/>
                </a:lnTo>
                <a:lnTo>
                  <a:pt x="611738" y="539994"/>
                </a:lnTo>
                <a:lnTo>
                  <a:pt x="569568" y="534541"/>
                </a:lnTo>
                <a:lnTo>
                  <a:pt x="525899" y="526204"/>
                </a:lnTo>
                <a:lnTo>
                  <a:pt x="481210" y="515073"/>
                </a:lnTo>
                <a:lnTo>
                  <a:pt x="435990" y="501271"/>
                </a:lnTo>
                <a:lnTo>
                  <a:pt x="390735" y="484949"/>
                </a:lnTo>
                <a:lnTo>
                  <a:pt x="345941" y="466285"/>
                </a:lnTo>
                <a:lnTo>
                  <a:pt x="302098" y="445485"/>
                </a:lnTo>
                <a:lnTo>
                  <a:pt x="259687" y="422775"/>
                </a:lnTo>
                <a:lnTo>
                  <a:pt x="219172" y="398406"/>
                </a:lnTo>
                <a:lnTo>
                  <a:pt x="180997" y="372643"/>
                </a:lnTo>
                <a:lnTo>
                  <a:pt x="145581" y="345770"/>
                </a:lnTo>
                <a:lnTo>
                  <a:pt x="113312" y="318080"/>
                </a:lnTo>
                <a:lnTo>
                  <a:pt x="84542" y="289877"/>
                </a:lnTo>
                <a:lnTo>
                  <a:pt x="59588" y="261470"/>
                </a:lnTo>
                <a:lnTo>
                  <a:pt x="38723" y="233170"/>
                </a:lnTo>
                <a:lnTo>
                  <a:pt x="22175" y="205287"/>
                </a:lnTo>
                <a:lnTo>
                  <a:pt x="10126" y="178128"/>
                </a:lnTo>
                <a:lnTo>
                  <a:pt x="2707" y="151988"/>
                </a:lnTo>
                <a:lnTo>
                  <a:pt x="0" y="127155"/>
                </a:lnTo>
                <a:lnTo>
                  <a:pt x="2035" y="103901"/>
                </a:lnTo>
                <a:lnTo>
                  <a:pt x="8789" y="82480"/>
                </a:lnTo>
                <a:lnTo>
                  <a:pt x="20188" y="63127"/>
                </a:lnTo>
                <a:lnTo>
                  <a:pt x="36108" y="46055"/>
                </a:lnTo>
                <a:lnTo>
                  <a:pt x="56374" y="31450"/>
                </a:lnTo>
                <a:lnTo>
                  <a:pt x="80763" y="19473"/>
                </a:lnTo>
                <a:lnTo>
                  <a:pt x="109010" y="10253"/>
                </a:lnTo>
                <a:lnTo>
                  <a:pt x="140803" y="3894"/>
                </a:lnTo>
                <a:lnTo>
                  <a:pt x="175796" y="464"/>
                </a:lnTo>
                <a:lnTo>
                  <a:pt x="213604" y="0"/>
                </a:lnTo>
                <a:lnTo>
                  <a:pt x="253813" y="2508"/>
                </a:lnTo>
                <a:lnTo>
                  <a:pt x="295983" y="7961"/>
                </a:lnTo>
                <a:lnTo>
                  <a:pt x="339652" y="16298"/>
                </a:lnTo>
                <a:lnTo>
                  <a:pt x="384341" y="27429"/>
                </a:lnTo>
                <a:lnTo>
                  <a:pt x="429561" y="41231"/>
                </a:lnTo>
                <a:lnTo>
                  <a:pt x="474816" y="57554"/>
                </a:lnTo>
                <a:lnTo>
                  <a:pt x="519611" y="76217"/>
                </a:lnTo>
                <a:lnTo>
                  <a:pt x="563454" y="97017"/>
                </a:lnTo>
                <a:lnTo>
                  <a:pt x="605865" y="119727"/>
                </a:lnTo>
                <a:lnTo>
                  <a:pt x="646380" y="144096"/>
                </a:lnTo>
                <a:lnTo>
                  <a:pt x="684554" y="169859"/>
                </a:lnTo>
                <a:lnTo>
                  <a:pt x="719970" y="196732"/>
                </a:lnTo>
                <a:lnTo>
                  <a:pt x="752240" y="224422"/>
                </a:lnTo>
                <a:lnTo>
                  <a:pt x="781009" y="252625"/>
                </a:lnTo>
                <a:lnTo>
                  <a:pt x="805963" y="281032"/>
                </a:lnTo>
                <a:lnTo>
                  <a:pt x="826829" y="309332"/>
                </a:lnTo>
                <a:lnTo>
                  <a:pt x="843377" y="337215"/>
                </a:lnTo>
                <a:lnTo>
                  <a:pt x="855426" y="364375"/>
                </a:lnTo>
                <a:lnTo>
                  <a:pt x="862845" y="390514"/>
                </a:lnTo>
                <a:lnTo>
                  <a:pt x="865552" y="415347"/>
                </a:lnTo>
                <a:lnTo>
                  <a:pt x="863517" y="438602"/>
                </a:lnTo>
                <a:close/>
              </a:path>
            </a:pathLst>
          </a:custGeom>
          <a:ln w="6350">
            <a:solidFill>
              <a:srgbClr val="4F7A43"/>
            </a:solidFill>
            <a:prstDash val="dash"/>
          </a:ln>
        </p:spPr>
      </p:sp>
      <p:sp>
        <p:nvSpPr>
          <p:cNvPr id="60" name="Shape 58"/>
          <p:cNvSpPr/>
          <p:nvPr/>
        </p:nvSpPr>
        <p:spPr>
          <a:xfrm>
            <a:off x="4516922" y="2304125"/>
            <a:ext cx="413959" cy="259458"/>
          </a:xfrm>
          <a:custGeom>
            <a:avLst/>
            <a:gdLst/>
            <a:ahLst/>
            <a:cxnLst/>
            <a:rect l="l" t="t" r="r" b="b"/>
            <a:pathLst>
              <a:path w="413959" h="259458">
                <a:moveTo>
                  <a:pt x="409756" y="220011"/>
                </a:moveTo>
                <a:lnTo>
                  <a:pt x="404304" y="229266"/>
                </a:lnTo>
                <a:lnTo>
                  <a:pt x="396690" y="237431"/>
                </a:lnTo>
                <a:lnTo>
                  <a:pt x="386998" y="244416"/>
                </a:lnTo>
                <a:lnTo>
                  <a:pt x="375334" y="250145"/>
                </a:lnTo>
                <a:lnTo>
                  <a:pt x="361824" y="254554"/>
                </a:lnTo>
                <a:lnTo>
                  <a:pt x="346619" y="257595"/>
                </a:lnTo>
                <a:lnTo>
                  <a:pt x="329883" y="259236"/>
                </a:lnTo>
                <a:lnTo>
                  <a:pt x="311801" y="259458"/>
                </a:lnTo>
                <a:lnTo>
                  <a:pt x="292571" y="258258"/>
                </a:lnTo>
                <a:lnTo>
                  <a:pt x="272402" y="255650"/>
                </a:lnTo>
                <a:lnTo>
                  <a:pt x="251517" y="251663"/>
                </a:lnTo>
                <a:lnTo>
                  <a:pt x="230144" y="246339"/>
                </a:lnTo>
                <a:lnTo>
                  <a:pt x="208517" y="239738"/>
                </a:lnTo>
                <a:lnTo>
                  <a:pt x="186873" y="231932"/>
                </a:lnTo>
                <a:lnTo>
                  <a:pt x="165450" y="223006"/>
                </a:lnTo>
                <a:lnTo>
                  <a:pt x="144482" y="213058"/>
                </a:lnTo>
                <a:lnTo>
                  <a:pt x="124198" y="202197"/>
                </a:lnTo>
                <a:lnTo>
                  <a:pt x="104821" y="190542"/>
                </a:lnTo>
                <a:lnTo>
                  <a:pt x="86564" y="178221"/>
                </a:lnTo>
                <a:lnTo>
                  <a:pt x="69626" y="165368"/>
                </a:lnTo>
                <a:lnTo>
                  <a:pt x="54193" y="152125"/>
                </a:lnTo>
                <a:lnTo>
                  <a:pt x="40433" y="138637"/>
                </a:lnTo>
                <a:lnTo>
                  <a:pt x="28499" y="125051"/>
                </a:lnTo>
                <a:lnTo>
                  <a:pt x="18520" y="111516"/>
                </a:lnTo>
                <a:lnTo>
                  <a:pt x="10605" y="98181"/>
                </a:lnTo>
                <a:lnTo>
                  <a:pt x="4843" y="85191"/>
                </a:lnTo>
                <a:lnTo>
                  <a:pt x="1295" y="72690"/>
                </a:lnTo>
                <a:lnTo>
                  <a:pt x="0" y="60813"/>
                </a:lnTo>
                <a:lnTo>
                  <a:pt x="973" y="49692"/>
                </a:lnTo>
                <a:lnTo>
                  <a:pt x="4203" y="39447"/>
                </a:lnTo>
                <a:lnTo>
                  <a:pt x="9655" y="30191"/>
                </a:lnTo>
                <a:lnTo>
                  <a:pt x="17269" y="22026"/>
                </a:lnTo>
                <a:lnTo>
                  <a:pt x="26961" y="15041"/>
                </a:lnTo>
                <a:lnTo>
                  <a:pt x="38626" y="9313"/>
                </a:lnTo>
                <a:lnTo>
                  <a:pt x="52135" y="4904"/>
                </a:lnTo>
                <a:lnTo>
                  <a:pt x="67341" y="1862"/>
                </a:lnTo>
                <a:lnTo>
                  <a:pt x="84076" y="222"/>
                </a:lnTo>
                <a:lnTo>
                  <a:pt x="102158" y="0"/>
                </a:lnTo>
                <a:lnTo>
                  <a:pt x="121389" y="1200"/>
                </a:lnTo>
                <a:lnTo>
                  <a:pt x="141557" y="3807"/>
                </a:lnTo>
                <a:lnTo>
                  <a:pt x="162442" y="7795"/>
                </a:lnTo>
                <a:lnTo>
                  <a:pt x="183815" y="13118"/>
                </a:lnTo>
                <a:lnTo>
                  <a:pt x="205442" y="19719"/>
                </a:lnTo>
                <a:lnTo>
                  <a:pt x="227086" y="27526"/>
                </a:lnTo>
                <a:lnTo>
                  <a:pt x="248509" y="36452"/>
                </a:lnTo>
                <a:lnTo>
                  <a:pt x="269478" y="46400"/>
                </a:lnTo>
                <a:lnTo>
                  <a:pt x="289761" y="57261"/>
                </a:lnTo>
                <a:lnTo>
                  <a:pt x="309138" y="68916"/>
                </a:lnTo>
                <a:lnTo>
                  <a:pt x="327396" y="81237"/>
                </a:lnTo>
                <a:lnTo>
                  <a:pt x="344334" y="94089"/>
                </a:lnTo>
                <a:lnTo>
                  <a:pt x="359767" y="107332"/>
                </a:lnTo>
                <a:lnTo>
                  <a:pt x="373526" y="120821"/>
                </a:lnTo>
                <a:lnTo>
                  <a:pt x="385461" y="134407"/>
                </a:lnTo>
                <a:lnTo>
                  <a:pt x="395440" y="147941"/>
                </a:lnTo>
                <a:lnTo>
                  <a:pt x="403354" y="161277"/>
                </a:lnTo>
                <a:lnTo>
                  <a:pt x="409117" y="174266"/>
                </a:lnTo>
                <a:lnTo>
                  <a:pt x="412665" y="186768"/>
                </a:lnTo>
                <a:lnTo>
                  <a:pt x="413959" y="198644"/>
                </a:lnTo>
                <a:lnTo>
                  <a:pt x="412986" y="209766"/>
                </a:lnTo>
                <a:close/>
              </a:path>
            </a:pathLst>
          </a:custGeom>
          <a:ln w="6350">
            <a:solidFill>
              <a:srgbClr val="4F7A43"/>
            </a:solidFill>
            <a:prstDash val="dash"/>
          </a:ln>
        </p:spPr>
      </p:sp>
      <p:sp>
        <p:nvSpPr>
          <p:cNvPr id="61" name="Shape 59"/>
          <p:cNvSpPr/>
          <p:nvPr/>
        </p:nvSpPr>
        <p:spPr>
          <a:xfrm>
            <a:off x="5403230" y="2744976"/>
            <a:ext cx="60334" cy="60334"/>
          </a:xfrm>
          <a:prstGeom prst="ellipse">
            <a:avLst/>
          </a:prstGeom>
          <a:solidFill>
            <a:srgbClr val="FFFFFF"/>
          </a:solidFill>
          <a:ln w="7620">
            <a:solidFill>
              <a:srgbClr val="4F7A43"/>
            </a:solidFill>
            <a:prstDash val="solid"/>
          </a:ln>
        </p:spPr>
      </p:sp>
      <p:sp>
        <p:nvSpPr>
          <p:cNvPr id="62" name="Shape 60"/>
          <p:cNvSpPr/>
          <p:nvPr/>
        </p:nvSpPr>
        <p:spPr>
          <a:xfrm>
            <a:off x="5319220" y="2838283"/>
            <a:ext cx="60334" cy="60334"/>
          </a:xfrm>
          <a:prstGeom prst="ellipse">
            <a:avLst/>
          </a:prstGeom>
          <a:solidFill>
            <a:srgbClr val="FFFFFF"/>
          </a:solidFill>
          <a:ln w="7620">
            <a:solidFill>
              <a:srgbClr val="4F7A43"/>
            </a:solidFill>
            <a:prstDash val="solid"/>
          </a:ln>
        </p:spPr>
      </p:sp>
      <p:sp>
        <p:nvSpPr>
          <p:cNvPr id="63" name="Shape 61"/>
          <p:cNvSpPr/>
          <p:nvPr/>
        </p:nvSpPr>
        <p:spPr>
          <a:xfrm>
            <a:off x="5171669" y="2891877"/>
            <a:ext cx="60334" cy="60334"/>
          </a:xfrm>
          <a:prstGeom prst="ellipse">
            <a:avLst/>
          </a:prstGeom>
          <a:solidFill>
            <a:srgbClr val="FFFFFF"/>
          </a:solidFill>
          <a:ln w="7620">
            <a:solidFill>
              <a:srgbClr val="4F7A43"/>
            </a:solidFill>
            <a:prstDash val="solid"/>
          </a:ln>
        </p:spPr>
      </p:sp>
      <p:sp>
        <p:nvSpPr>
          <p:cNvPr id="64" name="Shape 62"/>
          <p:cNvSpPr/>
          <p:nvPr/>
        </p:nvSpPr>
        <p:spPr>
          <a:xfrm>
            <a:off x="4973472" y="2901073"/>
            <a:ext cx="60334" cy="60334"/>
          </a:xfrm>
          <a:prstGeom prst="ellipse">
            <a:avLst/>
          </a:prstGeom>
          <a:solidFill>
            <a:srgbClr val="FFFFFF"/>
          </a:solidFill>
          <a:ln w="7620">
            <a:solidFill>
              <a:srgbClr val="4F7A43"/>
            </a:solidFill>
            <a:prstDash val="solid"/>
          </a:ln>
        </p:spPr>
      </p:sp>
      <p:sp>
        <p:nvSpPr>
          <p:cNvPr id="65" name="Shape 63"/>
          <p:cNvSpPr/>
          <p:nvPr/>
        </p:nvSpPr>
        <p:spPr>
          <a:xfrm>
            <a:off x="4741948" y="2865070"/>
            <a:ext cx="60334" cy="60334"/>
          </a:xfrm>
          <a:prstGeom prst="ellipse">
            <a:avLst/>
          </a:prstGeom>
          <a:solidFill>
            <a:srgbClr val="FFFFFF"/>
          </a:solidFill>
          <a:ln w="7620">
            <a:solidFill>
              <a:srgbClr val="4F7A43"/>
            </a:solidFill>
            <a:prstDash val="solid"/>
          </a:ln>
        </p:spPr>
      </p:sp>
      <p:sp>
        <p:nvSpPr>
          <p:cNvPr id="66" name="Shape 64"/>
          <p:cNvSpPr/>
          <p:nvPr/>
        </p:nvSpPr>
        <p:spPr>
          <a:xfrm>
            <a:off x="4497331" y="2787012"/>
            <a:ext cx="60334" cy="60334"/>
          </a:xfrm>
          <a:prstGeom prst="ellipse">
            <a:avLst/>
          </a:prstGeom>
          <a:solidFill>
            <a:srgbClr val="FFFFFF"/>
          </a:solidFill>
          <a:ln w="7620">
            <a:solidFill>
              <a:srgbClr val="4F7A43"/>
            </a:solidFill>
            <a:prstDash val="solid"/>
          </a:ln>
        </p:spPr>
      </p:sp>
      <p:sp>
        <p:nvSpPr>
          <p:cNvPr id="67" name="Shape 65"/>
          <p:cNvSpPr/>
          <p:nvPr/>
        </p:nvSpPr>
        <p:spPr>
          <a:xfrm>
            <a:off x="4260998" y="2673721"/>
            <a:ext cx="60334" cy="60334"/>
          </a:xfrm>
          <a:prstGeom prst="ellipse">
            <a:avLst/>
          </a:prstGeom>
          <a:solidFill>
            <a:srgbClr val="FFFFFF"/>
          </a:solidFill>
          <a:ln w="7620">
            <a:solidFill>
              <a:srgbClr val="4F7A43"/>
            </a:solidFill>
            <a:prstDash val="solid"/>
          </a:ln>
        </p:spPr>
      </p:sp>
      <p:sp>
        <p:nvSpPr>
          <p:cNvPr id="68" name="Shape 66"/>
          <p:cNvSpPr/>
          <p:nvPr/>
        </p:nvSpPr>
        <p:spPr>
          <a:xfrm>
            <a:off x="4053602" y="2535099"/>
            <a:ext cx="60334" cy="60334"/>
          </a:xfrm>
          <a:prstGeom prst="ellipse">
            <a:avLst/>
          </a:prstGeom>
          <a:solidFill>
            <a:srgbClr val="FFFFFF"/>
          </a:solidFill>
          <a:ln w="7620">
            <a:solidFill>
              <a:srgbClr val="4F7A43"/>
            </a:solidFill>
            <a:prstDash val="solid"/>
          </a:ln>
        </p:spPr>
      </p:sp>
      <p:sp>
        <p:nvSpPr>
          <p:cNvPr id="69" name="Shape 67"/>
          <p:cNvSpPr/>
          <p:nvPr/>
        </p:nvSpPr>
        <p:spPr>
          <a:xfrm>
            <a:off x="3893269" y="2383258"/>
            <a:ext cx="60334" cy="60334"/>
          </a:xfrm>
          <a:prstGeom prst="ellipse">
            <a:avLst/>
          </a:prstGeom>
          <a:solidFill>
            <a:srgbClr val="FFFFFF"/>
          </a:solidFill>
          <a:ln w="7620">
            <a:solidFill>
              <a:srgbClr val="4F7A43"/>
            </a:solidFill>
            <a:prstDash val="solid"/>
          </a:ln>
        </p:spPr>
      </p:sp>
      <p:sp>
        <p:nvSpPr>
          <p:cNvPr id="70" name="Shape 68"/>
          <p:cNvSpPr/>
          <p:nvPr/>
        </p:nvSpPr>
        <p:spPr>
          <a:xfrm>
            <a:off x="3794008" y="2231470"/>
            <a:ext cx="60334" cy="60334"/>
          </a:xfrm>
          <a:prstGeom prst="ellipse">
            <a:avLst/>
          </a:prstGeom>
          <a:solidFill>
            <a:srgbClr val="FFFFFF"/>
          </a:solidFill>
          <a:ln w="7620">
            <a:solidFill>
              <a:srgbClr val="4F7A43"/>
            </a:solidFill>
            <a:prstDash val="solid"/>
          </a:ln>
        </p:spPr>
      </p:sp>
      <p:sp>
        <p:nvSpPr>
          <p:cNvPr id="71" name="Shape 69"/>
          <p:cNvSpPr/>
          <p:nvPr/>
        </p:nvSpPr>
        <p:spPr>
          <a:xfrm>
            <a:off x="3764496" y="2092997"/>
            <a:ext cx="60334" cy="60334"/>
          </a:xfrm>
          <a:prstGeom prst="ellipse">
            <a:avLst/>
          </a:prstGeom>
          <a:solidFill>
            <a:srgbClr val="FFFFFF"/>
          </a:solidFill>
          <a:ln w="7620">
            <a:solidFill>
              <a:srgbClr val="4F7A43"/>
            </a:solidFill>
            <a:prstDash val="solid"/>
          </a:ln>
        </p:spPr>
      </p:sp>
      <p:sp>
        <p:nvSpPr>
          <p:cNvPr id="72" name="Shape 70"/>
          <p:cNvSpPr/>
          <p:nvPr/>
        </p:nvSpPr>
        <p:spPr>
          <a:xfrm>
            <a:off x="3807310" y="1979943"/>
            <a:ext cx="60334" cy="60334"/>
          </a:xfrm>
          <a:prstGeom prst="ellipse">
            <a:avLst/>
          </a:prstGeom>
          <a:solidFill>
            <a:srgbClr val="FFFFFF"/>
          </a:solidFill>
          <a:ln w="7620">
            <a:solidFill>
              <a:srgbClr val="4F7A43"/>
            </a:solidFill>
            <a:prstDash val="solid"/>
          </a:ln>
        </p:spPr>
      </p:sp>
      <p:sp>
        <p:nvSpPr>
          <p:cNvPr id="73" name="Shape 71"/>
          <p:cNvSpPr/>
          <p:nvPr/>
        </p:nvSpPr>
        <p:spPr>
          <a:xfrm>
            <a:off x="3918710" y="1902185"/>
            <a:ext cx="60334" cy="60334"/>
          </a:xfrm>
          <a:prstGeom prst="ellipse">
            <a:avLst/>
          </a:prstGeom>
          <a:solidFill>
            <a:srgbClr val="FFFFFF"/>
          </a:solidFill>
          <a:ln w="7620">
            <a:solidFill>
              <a:srgbClr val="4F7A43"/>
            </a:solidFill>
            <a:prstDash val="solid"/>
          </a:ln>
        </p:spPr>
      </p:sp>
      <p:sp>
        <p:nvSpPr>
          <p:cNvPr id="74" name="Shape 72"/>
          <p:cNvSpPr/>
          <p:nvPr/>
        </p:nvSpPr>
        <p:spPr>
          <a:xfrm>
            <a:off x="4088959" y="1866521"/>
            <a:ext cx="60334" cy="60334"/>
          </a:xfrm>
          <a:prstGeom prst="ellipse">
            <a:avLst/>
          </a:prstGeom>
          <a:solidFill>
            <a:srgbClr val="FFFFFF"/>
          </a:solidFill>
          <a:ln w="7620">
            <a:solidFill>
              <a:srgbClr val="4F7A43"/>
            </a:solidFill>
            <a:prstDash val="solid"/>
          </a:ln>
        </p:spPr>
      </p:sp>
      <p:sp>
        <p:nvSpPr>
          <p:cNvPr id="75" name="Shape 73"/>
          <p:cNvSpPr/>
          <p:nvPr/>
        </p:nvSpPr>
        <p:spPr>
          <a:xfrm>
            <a:off x="4303181" y="1876066"/>
            <a:ext cx="60334" cy="60334"/>
          </a:xfrm>
          <a:prstGeom prst="ellipse">
            <a:avLst/>
          </a:prstGeom>
          <a:solidFill>
            <a:srgbClr val="FFFFFF"/>
          </a:solidFill>
          <a:ln w="7620">
            <a:solidFill>
              <a:srgbClr val="4F7A43"/>
            </a:solidFill>
            <a:prstDash val="solid"/>
          </a:ln>
        </p:spPr>
      </p:sp>
      <p:sp>
        <p:nvSpPr>
          <p:cNvPr id="76" name="Shape 74"/>
          <p:cNvSpPr/>
          <p:nvPr/>
        </p:nvSpPr>
        <p:spPr>
          <a:xfrm>
            <a:off x="4542653" y="1929987"/>
            <a:ext cx="60334" cy="60334"/>
          </a:xfrm>
          <a:prstGeom prst="ellipse">
            <a:avLst/>
          </a:prstGeom>
          <a:solidFill>
            <a:srgbClr val="FFFFFF"/>
          </a:solidFill>
          <a:ln w="7620">
            <a:solidFill>
              <a:srgbClr val="4F7A43"/>
            </a:solidFill>
            <a:prstDash val="solid"/>
          </a:ln>
        </p:spPr>
      </p:sp>
      <p:sp>
        <p:nvSpPr>
          <p:cNvPr id="77" name="Shape 75"/>
          <p:cNvSpPr/>
          <p:nvPr/>
        </p:nvSpPr>
        <p:spPr>
          <a:xfrm>
            <a:off x="4786449" y="2023571"/>
            <a:ext cx="60334" cy="60334"/>
          </a:xfrm>
          <a:prstGeom prst="ellipse">
            <a:avLst/>
          </a:prstGeom>
          <a:solidFill>
            <a:srgbClr val="FFFFFF"/>
          </a:solidFill>
          <a:ln w="7620">
            <a:solidFill>
              <a:srgbClr val="4F7A43"/>
            </a:solidFill>
            <a:prstDash val="solid"/>
          </a:ln>
        </p:spPr>
      </p:sp>
      <p:sp>
        <p:nvSpPr>
          <p:cNvPr id="78" name="Shape 76"/>
          <p:cNvSpPr/>
          <p:nvPr/>
        </p:nvSpPr>
        <p:spPr>
          <a:xfrm>
            <a:off x="5013263" y="2148639"/>
            <a:ext cx="60334" cy="60334"/>
          </a:xfrm>
          <a:prstGeom prst="ellipse">
            <a:avLst/>
          </a:prstGeom>
          <a:solidFill>
            <a:srgbClr val="FFFFFF"/>
          </a:solidFill>
          <a:ln w="7620">
            <a:solidFill>
              <a:srgbClr val="4F7A43"/>
            </a:solidFill>
            <a:prstDash val="solid"/>
          </a:ln>
        </p:spPr>
      </p:sp>
      <p:sp>
        <p:nvSpPr>
          <p:cNvPr id="79" name="Shape 77"/>
          <p:cNvSpPr/>
          <p:nvPr/>
        </p:nvSpPr>
        <p:spPr>
          <a:xfrm>
            <a:off x="5203273" y="2294263"/>
            <a:ext cx="60334" cy="60334"/>
          </a:xfrm>
          <a:prstGeom prst="ellipse">
            <a:avLst/>
          </a:prstGeom>
          <a:solidFill>
            <a:srgbClr val="FFFFFF"/>
          </a:solidFill>
          <a:ln w="7620">
            <a:solidFill>
              <a:srgbClr val="4F7A43"/>
            </a:solidFill>
            <a:prstDash val="solid"/>
          </a:ln>
        </p:spPr>
      </p:sp>
      <p:sp>
        <p:nvSpPr>
          <p:cNvPr id="80" name="Shape 78"/>
          <p:cNvSpPr/>
          <p:nvPr/>
        </p:nvSpPr>
        <p:spPr>
          <a:xfrm>
            <a:off x="5339875" y="2447716"/>
            <a:ext cx="60334" cy="60334"/>
          </a:xfrm>
          <a:prstGeom prst="ellipse">
            <a:avLst/>
          </a:prstGeom>
          <a:solidFill>
            <a:srgbClr val="FFFFFF"/>
          </a:solidFill>
          <a:ln w="7620">
            <a:solidFill>
              <a:srgbClr val="4F7A43"/>
            </a:solidFill>
            <a:prstDash val="solid"/>
          </a:ln>
        </p:spPr>
      </p:sp>
      <p:sp>
        <p:nvSpPr>
          <p:cNvPr id="81" name="Shape 79"/>
          <p:cNvSpPr/>
          <p:nvPr/>
        </p:nvSpPr>
        <p:spPr>
          <a:xfrm>
            <a:off x="5411131" y="2595587"/>
            <a:ext cx="60334" cy="60334"/>
          </a:xfrm>
          <a:prstGeom prst="ellipse">
            <a:avLst/>
          </a:prstGeom>
          <a:solidFill>
            <a:srgbClr val="FFFFFF"/>
          </a:solidFill>
          <a:ln w="7620">
            <a:solidFill>
              <a:srgbClr val="4F7A43"/>
            </a:solidFill>
            <a:prstDash val="solid"/>
          </a:ln>
        </p:spPr>
      </p:sp>
      <p:sp>
        <p:nvSpPr>
          <p:cNvPr id="82" name="Shape 80"/>
          <p:cNvSpPr/>
          <p:nvPr/>
        </p:nvSpPr>
        <p:spPr>
          <a:xfrm>
            <a:off x="5410813" y="2724954"/>
            <a:ext cx="60334" cy="60334"/>
          </a:xfrm>
          <a:prstGeom prst="ellipse">
            <a:avLst/>
          </a:prstGeom>
          <a:solidFill>
            <a:srgbClr val="FFFFFF"/>
          </a:solidFill>
          <a:ln w="7620">
            <a:solidFill>
              <a:srgbClr val="4F7A43"/>
            </a:solidFill>
            <a:prstDash val="solid"/>
          </a:ln>
        </p:spPr>
      </p:sp>
      <p:sp>
        <p:nvSpPr>
          <p:cNvPr id="83" name="Shape 81"/>
          <p:cNvSpPr/>
          <p:nvPr/>
        </p:nvSpPr>
        <p:spPr>
          <a:xfrm>
            <a:off x="4681882" y="2764360"/>
            <a:ext cx="937327" cy="275075"/>
          </a:xfrm>
          <a:custGeom>
            <a:avLst/>
            <a:gdLst/>
            <a:ahLst/>
            <a:cxnLst/>
            <a:rect l="l" t="t" r="r" b="b"/>
            <a:pathLst>
              <a:path w="937327" h="275075">
                <a:moveTo>
                  <a:pt x="937327" y="0"/>
                </a:moveTo>
                <a:lnTo>
                  <a:pt x="932555" y="37435"/>
                </a:lnTo>
                <a:lnTo>
                  <a:pt x="922326" y="72737"/>
                </a:lnTo>
                <a:lnTo>
                  <a:pt x="906698" y="105712"/>
                </a:lnTo>
                <a:lnTo>
                  <a:pt x="885755" y="136179"/>
                </a:lnTo>
                <a:lnTo>
                  <a:pt x="859613" y="163971"/>
                </a:lnTo>
                <a:lnTo>
                  <a:pt x="828416" y="188934"/>
                </a:lnTo>
                <a:lnTo>
                  <a:pt x="792335" y="210931"/>
                </a:lnTo>
                <a:lnTo>
                  <a:pt x="751569" y="229841"/>
                </a:lnTo>
                <a:lnTo>
                  <a:pt x="706342" y="245561"/>
                </a:lnTo>
                <a:lnTo>
                  <a:pt x="656902" y="258003"/>
                </a:lnTo>
                <a:lnTo>
                  <a:pt x="603522" y="267100"/>
                </a:lnTo>
                <a:lnTo>
                  <a:pt x="546495" y="272801"/>
                </a:lnTo>
                <a:lnTo>
                  <a:pt x="486135" y="275075"/>
                </a:lnTo>
                <a:lnTo>
                  <a:pt x="422774" y="273909"/>
                </a:lnTo>
                <a:lnTo>
                  <a:pt x="356760" y="269310"/>
                </a:lnTo>
                <a:lnTo>
                  <a:pt x="288456" y="261303"/>
                </a:lnTo>
                <a:lnTo>
                  <a:pt x="218237" y="249933"/>
                </a:lnTo>
                <a:lnTo>
                  <a:pt x="146491" y="235261"/>
                </a:lnTo>
                <a:lnTo>
                  <a:pt x="73612" y="217368"/>
                </a:lnTo>
                <a:lnTo>
                  <a:pt x="0" y="196353"/>
                </a:lnTo>
              </a:path>
            </a:pathLst>
          </a:custGeom>
          <a:ln w="44450">
            <a:solidFill>
              <a:srgbClr val="C4262E"/>
            </a:solidFill>
            <a:prstDash val="solid"/>
          </a:ln>
        </p:spPr>
      </p:sp>
      <p:sp>
        <p:nvSpPr>
          <p:cNvPr id="84" name="Shape 82"/>
          <p:cNvSpPr/>
          <p:nvPr/>
        </p:nvSpPr>
        <p:spPr>
          <a:xfrm rot="169550">
            <a:off x="4803655" y="3011591"/>
            <a:ext cx="625542" cy="92822"/>
          </a:xfrm>
          <a:prstGeom prst="rect">
            <a:avLst/>
          </a:prstGeom>
          <a:solidFill>
            <a:srgbClr val="1B1B1B"/>
          </a:solidFill>
          <a:ln/>
        </p:spPr>
      </p:sp>
      <p:sp>
        <p:nvSpPr>
          <p:cNvPr id="85" name="Shape 83"/>
          <p:cNvSpPr/>
          <p:nvPr/>
        </p:nvSpPr>
        <p:spPr>
          <a:xfrm rot="2669841">
            <a:off x="3733992" y="2434546"/>
            <a:ext cx="554916" cy="92822"/>
          </a:xfrm>
          <a:prstGeom prst="rect">
            <a:avLst/>
          </a:prstGeom>
          <a:solidFill>
            <a:srgbClr val="1B1B1B"/>
          </a:solidFill>
          <a:ln w="6350">
            <a:solidFill>
              <a:srgbClr val="1B1B1B"/>
            </a:solidFill>
            <a:prstDash val="solid"/>
          </a:ln>
        </p:spPr>
      </p:sp>
      <p:sp>
        <p:nvSpPr>
          <p:cNvPr id="86" name="Shape 84"/>
          <p:cNvSpPr/>
          <p:nvPr/>
        </p:nvSpPr>
        <p:spPr>
          <a:xfrm rot="-1236591">
            <a:off x="3934805" y="2008281"/>
            <a:ext cx="464112" cy="92822"/>
          </a:xfrm>
          <a:prstGeom prst="rect">
            <a:avLst/>
          </a:prstGeom>
          <a:solidFill>
            <a:srgbClr val="1B1B1B"/>
          </a:solidFill>
          <a:ln/>
        </p:spPr>
      </p:sp>
      <p:sp>
        <p:nvSpPr>
          <p:cNvPr id="87" name="Shape 85"/>
          <p:cNvSpPr/>
          <p:nvPr/>
        </p:nvSpPr>
        <p:spPr>
          <a:xfrm rot="1650735">
            <a:off x="4659697" y="2209142"/>
            <a:ext cx="363218" cy="92822"/>
          </a:xfrm>
          <a:prstGeom prst="rect">
            <a:avLst/>
          </a:prstGeom>
          <a:solidFill>
            <a:srgbClr val="1B1B1B"/>
          </a:solidFill>
          <a:ln/>
        </p:spPr>
      </p:sp>
      <p:sp>
        <p:nvSpPr>
          <p:cNvPr id="88" name="Shape 86"/>
          <p:cNvSpPr/>
          <p:nvPr/>
        </p:nvSpPr>
        <p:spPr>
          <a:xfrm rot="173647">
            <a:off x="4047701" y="1847170"/>
            <a:ext cx="343039" cy="74258"/>
          </a:xfrm>
          <a:prstGeom prst="rect">
            <a:avLst/>
          </a:prstGeom>
          <a:solidFill>
            <a:srgbClr val="9A9A9A"/>
          </a:solidFill>
          <a:ln/>
        </p:spPr>
      </p:sp>
      <p:sp>
        <p:nvSpPr>
          <p:cNvPr id="89" name="Shape 87"/>
          <p:cNvSpPr/>
          <p:nvPr/>
        </p:nvSpPr>
        <p:spPr>
          <a:xfrm>
            <a:off x="4046513" y="2009287"/>
            <a:ext cx="1354776" cy="849134"/>
          </a:xfrm>
          <a:custGeom>
            <a:avLst/>
            <a:gdLst/>
            <a:ahLst/>
            <a:cxnLst/>
            <a:rect l="l" t="t" r="r" b="b"/>
            <a:pathLst>
              <a:path w="1354776" h="849134">
                <a:moveTo>
                  <a:pt x="1341020" y="720035"/>
                </a:moveTo>
                <a:lnTo>
                  <a:pt x="1323178" y="750326"/>
                </a:lnTo>
                <a:lnTo>
                  <a:pt x="1298260" y="777047"/>
                </a:lnTo>
                <a:lnTo>
                  <a:pt x="1266539" y="799907"/>
                </a:lnTo>
                <a:lnTo>
                  <a:pt x="1228364" y="818655"/>
                </a:lnTo>
                <a:lnTo>
                  <a:pt x="1184153" y="833085"/>
                </a:lnTo>
                <a:lnTo>
                  <a:pt x="1134389" y="843039"/>
                </a:lnTo>
                <a:lnTo>
                  <a:pt x="1079618" y="848408"/>
                </a:lnTo>
                <a:lnTo>
                  <a:pt x="1020440" y="849134"/>
                </a:lnTo>
                <a:lnTo>
                  <a:pt x="957503" y="845208"/>
                </a:lnTo>
                <a:lnTo>
                  <a:pt x="891498" y="836673"/>
                </a:lnTo>
                <a:lnTo>
                  <a:pt x="823147" y="823623"/>
                </a:lnTo>
                <a:lnTo>
                  <a:pt x="753199" y="806201"/>
                </a:lnTo>
                <a:lnTo>
                  <a:pt x="682420" y="784598"/>
                </a:lnTo>
                <a:lnTo>
                  <a:pt x="611586" y="759050"/>
                </a:lnTo>
                <a:lnTo>
                  <a:pt x="541473" y="729838"/>
                </a:lnTo>
                <a:lnTo>
                  <a:pt x="472849" y="697280"/>
                </a:lnTo>
                <a:lnTo>
                  <a:pt x="406466" y="661735"/>
                </a:lnTo>
                <a:lnTo>
                  <a:pt x="343052" y="623592"/>
                </a:lnTo>
                <a:lnTo>
                  <a:pt x="283300" y="583268"/>
                </a:lnTo>
                <a:lnTo>
                  <a:pt x="227866" y="541205"/>
                </a:lnTo>
                <a:lnTo>
                  <a:pt x="177357" y="497864"/>
                </a:lnTo>
                <a:lnTo>
                  <a:pt x="132327" y="453721"/>
                </a:lnTo>
                <a:lnTo>
                  <a:pt x="93269" y="409257"/>
                </a:lnTo>
                <a:lnTo>
                  <a:pt x="60610" y="364962"/>
                </a:lnTo>
                <a:lnTo>
                  <a:pt x="34709" y="321320"/>
                </a:lnTo>
                <a:lnTo>
                  <a:pt x="15849" y="278808"/>
                </a:lnTo>
                <a:lnTo>
                  <a:pt x="4237" y="237894"/>
                </a:lnTo>
                <a:lnTo>
                  <a:pt x="0" y="199025"/>
                </a:lnTo>
                <a:lnTo>
                  <a:pt x="3185" y="162627"/>
                </a:lnTo>
                <a:lnTo>
                  <a:pt x="13756" y="129099"/>
                </a:lnTo>
                <a:lnTo>
                  <a:pt x="31599" y="98808"/>
                </a:lnTo>
                <a:lnTo>
                  <a:pt x="56517" y="72086"/>
                </a:lnTo>
                <a:lnTo>
                  <a:pt x="88237" y="49226"/>
                </a:lnTo>
                <a:lnTo>
                  <a:pt x="126412" y="30479"/>
                </a:lnTo>
                <a:lnTo>
                  <a:pt x="170624" y="16049"/>
                </a:lnTo>
                <a:lnTo>
                  <a:pt x="220388" y="6095"/>
                </a:lnTo>
                <a:lnTo>
                  <a:pt x="275159" y="726"/>
                </a:lnTo>
                <a:lnTo>
                  <a:pt x="334337" y="0"/>
                </a:lnTo>
                <a:lnTo>
                  <a:pt x="397273" y="3926"/>
                </a:lnTo>
                <a:lnTo>
                  <a:pt x="463278" y="12461"/>
                </a:lnTo>
                <a:lnTo>
                  <a:pt x="531630" y="25511"/>
                </a:lnTo>
                <a:lnTo>
                  <a:pt x="601578" y="42933"/>
                </a:lnTo>
                <a:lnTo>
                  <a:pt x="672357" y="64536"/>
                </a:lnTo>
                <a:lnTo>
                  <a:pt x="743190" y="90084"/>
                </a:lnTo>
                <a:lnTo>
                  <a:pt x="813303" y="119296"/>
                </a:lnTo>
                <a:lnTo>
                  <a:pt x="881927" y="151853"/>
                </a:lnTo>
                <a:lnTo>
                  <a:pt x="948310" y="187398"/>
                </a:lnTo>
                <a:lnTo>
                  <a:pt x="1011725" y="225542"/>
                </a:lnTo>
                <a:lnTo>
                  <a:pt x="1071476" y="265866"/>
                </a:lnTo>
                <a:lnTo>
                  <a:pt x="1126910" y="307929"/>
                </a:lnTo>
                <a:lnTo>
                  <a:pt x="1177419" y="351269"/>
                </a:lnTo>
                <a:lnTo>
                  <a:pt x="1222449" y="395413"/>
                </a:lnTo>
                <a:lnTo>
                  <a:pt x="1261508" y="439876"/>
                </a:lnTo>
                <a:lnTo>
                  <a:pt x="1294167" y="484172"/>
                </a:lnTo>
                <a:lnTo>
                  <a:pt x="1320068" y="527814"/>
                </a:lnTo>
                <a:lnTo>
                  <a:pt x="1338928" y="570326"/>
                </a:lnTo>
                <a:lnTo>
                  <a:pt x="1350540" y="611240"/>
                </a:lnTo>
                <a:lnTo>
                  <a:pt x="1354776" y="650109"/>
                </a:lnTo>
                <a:lnTo>
                  <a:pt x="1351592" y="686507"/>
                </a:lnTo>
                <a:close/>
              </a:path>
            </a:pathLst>
          </a:custGeom>
          <a:ln w="15875">
            <a:solidFill>
              <a:srgbClr val="4F7A43"/>
            </a:solidFill>
            <a:prstDash val="dash"/>
          </a:ln>
        </p:spPr>
      </p:sp>
      <p:sp>
        <p:nvSpPr>
          <p:cNvPr id="90" name="Shape 88"/>
          <p:cNvSpPr/>
          <p:nvPr/>
        </p:nvSpPr>
        <p:spPr>
          <a:xfrm>
            <a:off x="3783373" y="1799892"/>
            <a:ext cx="502920" cy="146304"/>
          </a:xfrm>
          <a:prstGeom prst="rect">
            <a:avLst/>
          </a:prstGeom>
          <a:solidFill>
            <a:srgbClr val="FFFFFF"/>
          </a:solidFill>
          <a:ln/>
        </p:spPr>
      </p:sp>
      <p:sp>
        <p:nvSpPr>
          <p:cNvPr id="91" name="Text 89"/>
          <p:cNvSpPr txBox="1"/>
          <p:nvPr/>
        </p:nvSpPr>
        <p:spPr>
          <a:xfrm>
            <a:off x="3783373" y="1799892"/>
            <a:ext cx="502920" cy="146304"/>
          </a:xfrm>
          <a:prstGeom prst="rect">
            <a:avLst/>
          </a:prstGeom>
          <a:noFill/>
          <a:ln/>
        </p:spPr>
        <p:txBody>
          <a:bodyPr wrap="square" lIns="0" tIns="0" rIns="0" bIns="0" rtlCol="0" anchor="ctr"/>
          <a:lstStyle/>
          <a:p>
            <a:pPr algn="ctr" indent="0" marL="0">
              <a:buNone/>
            </a:pPr>
            <a:r>
              <a:rPr lang="en-US" sz="550" b="1" dirty="0">
                <a:solidFill>
                  <a:srgbClr val="4F7A43"/>
                </a:solidFill>
                <a:latin typeface="Arial" pitchFamily="34" charset="0"/>
                <a:ea typeface="Arial" pitchFamily="34" charset="-122"/>
                <a:cs typeface="Arial" pitchFamily="34" charset="-120"/>
              </a:rPr>
              <a:t>trees kept</a:t>
            </a:r>
            <a:endParaRPr lang="en-US" sz="550" dirty="0"/>
          </a:p>
        </p:txBody>
      </p:sp>
      <p:sp>
        <p:nvSpPr>
          <p:cNvPr id="92" name="Shape 90"/>
          <p:cNvSpPr/>
          <p:nvPr/>
        </p:nvSpPr>
        <p:spPr>
          <a:xfrm>
            <a:off x="5132671" y="2994951"/>
            <a:ext cx="274320" cy="146304"/>
          </a:xfrm>
          <a:prstGeom prst="rect">
            <a:avLst/>
          </a:prstGeom>
          <a:solidFill>
            <a:srgbClr val="FFFFFF"/>
          </a:solidFill>
          <a:ln/>
        </p:spPr>
      </p:sp>
      <p:sp>
        <p:nvSpPr>
          <p:cNvPr id="93" name="Text 91"/>
          <p:cNvSpPr txBox="1"/>
          <p:nvPr/>
        </p:nvSpPr>
        <p:spPr>
          <a:xfrm>
            <a:off x="5132671" y="2994951"/>
            <a:ext cx="274320" cy="146304"/>
          </a:xfrm>
          <a:prstGeom prst="rect">
            <a:avLst/>
          </a:prstGeom>
          <a:noFill/>
          <a:ln/>
        </p:spPr>
        <p:txBody>
          <a:bodyPr wrap="square" lIns="0" tIns="0" rIns="0" bIns="0" rtlCol="0" anchor="ctr"/>
          <a:lstStyle/>
          <a:p>
            <a:pPr algn="ctr" indent="0" marL="0">
              <a:buNone/>
            </a:pPr>
            <a:r>
              <a:rPr lang="en-US" sz="550" b="1" dirty="0">
                <a:solidFill>
                  <a:srgbClr val="C4262E"/>
                </a:solidFill>
                <a:latin typeface="Arial" pitchFamily="34" charset="0"/>
                <a:ea typeface="Arial" pitchFamily="34" charset="-122"/>
                <a:cs typeface="Arial" pitchFamily="34" charset="-120"/>
              </a:rPr>
              <a:t>edge</a:t>
            </a:r>
            <a:endParaRPr lang="en-US" sz="550" dirty="0"/>
          </a:p>
        </p:txBody>
      </p:sp>
      <p:sp>
        <p:nvSpPr>
          <p:cNvPr id="94" name="Shape 92"/>
          <p:cNvSpPr/>
          <p:nvPr/>
        </p:nvSpPr>
        <p:spPr>
          <a:xfrm>
            <a:off x="3885268" y="2409227"/>
            <a:ext cx="640080" cy="146304"/>
          </a:xfrm>
          <a:prstGeom prst="rect">
            <a:avLst/>
          </a:prstGeom>
          <a:solidFill>
            <a:srgbClr val="FFFFFF"/>
          </a:solidFill>
          <a:ln/>
        </p:spPr>
      </p:sp>
      <p:sp>
        <p:nvSpPr>
          <p:cNvPr id="95" name="Text 93"/>
          <p:cNvSpPr txBox="1"/>
          <p:nvPr/>
        </p:nvSpPr>
        <p:spPr>
          <a:xfrm>
            <a:off x="3885268" y="2409227"/>
            <a:ext cx="640080"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bars ∥ contours</a:t>
            </a:r>
            <a:endParaRPr lang="en-US" sz="550" dirty="0"/>
          </a:p>
        </p:txBody>
      </p:sp>
      <p:sp>
        <p:nvSpPr>
          <p:cNvPr id="96" name="Shape 94"/>
          <p:cNvSpPr/>
          <p:nvPr/>
        </p:nvSpPr>
        <p:spPr>
          <a:xfrm>
            <a:off x="6089904" y="1188720"/>
            <a:ext cx="2788920" cy="2514600"/>
          </a:xfrm>
          <a:prstGeom prst="rect">
            <a:avLst/>
          </a:prstGeom>
          <a:solidFill>
            <a:srgbClr val="FFFFFF"/>
          </a:solidFill>
          <a:ln w="6350">
            <a:solidFill>
              <a:srgbClr val="D9D9D9"/>
            </a:solidFill>
            <a:prstDash val="solid"/>
          </a:ln>
        </p:spPr>
      </p:sp>
      <p:sp>
        <p:nvSpPr>
          <p:cNvPr id="97" name="Text 95"/>
          <p:cNvSpPr txBox="1"/>
          <p:nvPr/>
        </p:nvSpPr>
        <p:spPr>
          <a:xfrm>
            <a:off x="6163056" y="1243584"/>
            <a:ext cx="264261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03  </a:t>
            </a:r>
            <a:pPr indent="0" marL="0">
              <a:buNone/>
            </a:pPr>
            <a:r>
              <a:rPr lang="en-US" sz="750" b="1" spc="50" kern="0" dirty="0">
                <a:solidFill>
                  <a:srgbClr val="1B1B1B"/>
                </a:solidFill>
                <a:latin typeface="Arial" pitchFamily="34" charset="0"/>
                <a:ea typeface="Arial" pitchFamily="34" charset="-122"/>
                <a:cs typeface="Arial" pitchFamily="34" charset="-120"/>
              </a:rPr>
              <a:t>PUBLIC / PRIVATE</a:t>
            </a:r>
            <a:endParaRPr lang="en-US" sz="750" dirty="0"/>
          </a:p>
        </p:txBody>
      </p:sp>
      <p:sp>
        <p:nvSpPr>
          <p:cNvPr id="98" name="Text 96"/>
          <p:cNvSpPr txBox="1"/>
          <p:nvPr/>
        </p:nvSpPr>
        <p:spPr>
          <a:xfrm>
            <a:off x="6163056" y="3392424"/>
            <a:ext cx="2642616" cy="274320"/>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Up the hill: public → working. Across each bar: route side open.</a:t>
            </a:r>
            <a:endParaRPr lang="en-US" sz="650" dirty="0"/>
          </a:p>
        </p:txBody>
      </p:sp>
      <p:sp>
        <p:nvSpPr>
          <p:cNvPr id="99" name="Shape 97"/>
          <p:cNvSpPr/>
          <p:nvPr/>
        </p:nvSpPr>
        <p:spPr>
          <a:xfrm>
            <a:off x="6144768" y="2042308"/>
            <a:ext cx="2679192" cy="606526"/>
          </a:xfrm>
          <a:custGeom>
            <a:avLst/>
            <a:gdLst/>
            <a:ahLst/>
            <a:cxnLst/>
            <a:rect l="l" t="t" r="r" b="b"/>
            <a:pathLst>
              <a:path w="2679192" h="606526">
                <a:moveTo>
                  <a:pt x="0" y="412410"/>
                </a:moveTo>
                <a:lnTo>
                  <a:pt x="44653" y="412410"/>
                </a:lnTo>
                <a:lnTo>
                  <a:pt x="89306" y="412410"/>
                </a:lnTo>
                <a:lnTo>
                  <a:pt x="133960" y="412410"/>
                </a:lnTo>
                <a:lnTo>
                  <a:pt x="178613" y="412410"/>
                </a:lnTo>
                <a:lnTo>
                  <a:pt x="223266" y="412410"/>
                </a:lnTo>
                <a:lnTo>
                  <a:pt x="267919" y="412410"/>
                </a:lnTo>
                <a:lnTo>
                  <a:pt x="312572" y="412061"/>
                </a:lnTo>
                <a:lnTo>
                  <a:pt x="357226" y="408149"/>
                </a:lnTo>
                <a:lnTo>
                  <a:pt x="401879" y="399971"/>
                </a:lnTo>
                <a:lnTo>
                  <a:pt x="446532" y="387701"/>
                </a:lnTo>
                <a:lnTo>
                  <a:pt x="491185" y="371598"/>
                </a:lnTo>
                <a:lnTo>
                  <a:pt x="535838" y="352001"/>
                </a:lnTo>
                <a:lnTo>
                  <a:pt x="580492" y="329324"/>
                </a:lnTo>
                <a:lnTo>
                  <a:pt x="625145" y="304047"/>
                </a:lnTo>
                <a:lnTo>
                  <a:pt x="669798" y="276702"/>
                </a:lnTo>
                <a:lnTo>
                  <a:pt x="714451" y="247868"/>
                </a:lnTo>
                <a:lnTo>
                  <a:pt x="759104" y="218153"/>
                </a:lnTo>
                <a:lnTo>
                  <a:pt x="803758" y="188185"/>
                </a:lnTo>
                <a:lnTo>
                  <a:pt x="848411" y="158597"/>
                </a:lnTo>
                <a:lnTo>
                  <a:pt x="893064" y="130013"/>
                </a:lnTo>
                <a:lnTo>
                  <a:pt x="937717" y="103037"/>
                </a:lnTo>
                <a:lnTo>
                  <a:pt x="982370" y="78239"/>
                </a:lnTo>
                <a:lnTo>
                  <a:pt x="1027024" y="56141"/>
                </a:lnTo>
                <a:lnTo>
                  <a:pt x="1071677" y="37212"/>
                </a:lnTo>
                <a:lnTo>
                  <a:pt x="1116330" y="21851"/>
                </a:lnTo>
                <a:lnTo>
                  <a:pt x="1160983" y="10381"/>
                </a:lnTo>
                <a:lnTo>
                  <a:pt x="1205636" y="3046"/>
                </a:lnTo>
                <a:lnTo>
                  <a:pt x="1250290" y="0"/>
                </a:lnTo>
                <a:lnTo>
                  <a:pt x="1294943" y="1307"/>
                </a:lnTo>
                <a:lnTo>
                  <a:pt x="1339596" y="6940"/>
                </a:lnTo>
                <a:lnTo>
                  <a:pt x="1384249" y="16781"/>
                </a:lnTo>
                <a:lnTo>
                  <a:pt x="1428902" y="30620"/>
                </a:lnTo>
                <a:lnTo>
                  <a:pt x="1473556" y="48166"/>
                </a:lnTo>
                <a:lnTo>
                  <a:pt x="1518209" y="69048"/>
                </a:lnTo>
                <a:lnTo>
                  <a:pt x="1562862" y="92826"/>
                </a:lnTo>
                <a:lnTo>
                  <a:pt x="1607515" y="118997"/>
                </a:lnTo>
                <a:lnTo>
                  <a:pt x="1652168" y="147008"/>
                </a:lnTo>
                <a:lnTo>
                  <a:pt x="1696822" y="176269"/>
                </a:lnTo>
                <a:lnTo>
                  <a:pt x="1741475" y="206161"/>
                </a:lnTo>
                <a:lnTo>
                  <a:pt x="1786128" y="236053"/>
                </a:lnTo>
                <a:lnTo>
                  <a:pt x="1830781" y="265314"/>
                </a:lnTo>
                <a:lnTo>
                  <a:pt x="1875434" y="293325"/>
                </a:lnTo>
                <a:lnTo>
                  <a:pt x="1920088" y="319497"/>
                </a:lnTo>
                <a:lnTo>
                  <a:pt x="1964741" y="343274"/>
                </a:lnTo>
                <a:lnTo>
                  <a:pt x="2009394" y="364157"/>
                </a:lnTo>
                <a:lnTo>
                  <a:pt x="2054047" y="381703"/>
                </a:lnTo>
                <a:lnTo>
                  <a:pt x="2098700" y="395542"/>
                </a:lnTo>
                <a:lnTo>
                  <a:pt x="2143354" y="405382"/>
                </a:lnTo>
                <a:lnTo>
                  <a:pt x="2188007" y="411015"/>
                </a:lnTo>
                <a:lnTo>
                  <a:pt x="2232660" y="412410"/>
                </a:lnTo>
                <a:lnTo>
                  <a:pt x="2277313" y="412410"/>
                </a:lnTo>
                <a:lnTo>
                  <a:pt x="2321966" y="412410"/>
                </a:lnTo>
                <a:lnTo>
                  <a:pt x="2366620" y="412410"/>
                </a:lnTo>
                <a:lnTo>
                  <a:pt x="2411273" y="412410"/>
                </a:lnTo>
                <a:lnTo>
                  <a:pt x="2455926" y="412410"/>
                </a:lnTo>
                <a:lnTo>
                  <a:pt x="2500579" y="412410"/>
                </a:lnTo>
                <a:lnTo>
                  <a:pt x="2545232" y="412410"/>
                </a:lnTo>
                <a:lnTo>
                  <a:pt x="2589886" y="412410"/>
                </a:lnTo>
                <a:lnTo>
                  <a:pt x="2634539" y="412410"/>
                </a:lnTo>
                <a:lnTo>
                  <a:pt x="2679192" y="412410"/>
                </a:lnTo>
                <a:lnTo>
                  <a:pt x="2679192" y="606526"/>
                </a:lnTo>
                <a:lnTo>
                  <a:pt x="0" y="606526"/>
                </a:lnTo>
                <a:close/>
              </a:path>
            </a:pathLst>
          </a:custGeom>
          <a:solidFill>
            <a:srgbClr val="E3ECDC"/>
          </a:solidFill>
          <a:ln w="12700"/>
        </p:spPr>
      </p:sp>
      <p:sp>
        <p:nvSpPr>
          <p:cNvPr id="100" name="Shape 98"/>
          <p:cNvSpPr/>
          <p:nvPr/>
        </p:nvSpPr>
        <p:spPr>
          <a:xfrm>
            <a:off x="6144768" y="2042308"/>
            <a:ext cx="2679192" cy="412410"/>
          </a:xfrm>
          <a:custGeom>
            <a:avLst/>
            <a:gdLst/>
            <a:ahLst/>
            <a:cxnLst/>
            <a:rect l="l" t="t" r="r" b="b"/>
            <a:pathLst>
              <a:path w="2679192" h="412410">
                <a:moveTo>
                  <a:pt x="0" y="412410"/>
                </a:moveTo>
                <a:lnTo>
                  <a:pt x="44653" y="412410"/>
                </a:lnTo>
                <a:lnTo>
                  <a:pt x="89306" y="412410"/>
                </a:lnTo>
                <a:lnTo>
                  <a:pt x="133960" y="412410"/>
                </a:lnTo>
                <a:lnTo>
                  <a:pt x="178613" y="412410"/>
                </a:lnTo>
                <a:lnTo>
                  <a:pt x="223266" y="412410"/>
                </a:lnTo>
                <a:lnTo>
                  <a:pt x="267919" y="412410"/>
                </a:lnTo>
                <a:lnTo>
                  <a:pt x="312572" y="412061"/>
                </a:lnTo>
                <a:lnTo>
                  <a:pt x="357226" y="408149"/>
                </a:lnTo>
                <a:lnTo>
                  <a:pt x="401879" y="399971"/>
                </a:lnTo>
                <a:lnTo>
                  <a:pt x="446532" y="387701"/>
                </a:lnTo>
                <a:lnTo>
                  <a:pt x="491185" y="371598"/>
                </a:lnTo>
                <a:lnTo>
                  <a:pt x="535838" y="352001"/>
                </a:lnTo>
                <a:lnTo>
                  <a:pt x="580492" y="329324"/>
                </a:lnTo>
                <a:lnTo>
                  <a:pt x="625145" y="304047"/>
                </a:lnTo>
                <a:lnTo>
                  <a:pt x="669798" y="276702"/>
                </a:lnTo>
                <a:lnTo>
                  <a:pt x="714451" y="247868"/>
                </a:lnTo>
                <a:lnTo>
                  <a:pt x="759104" y="218153"/>
                </a:lnTo>
                <a:lnTo>
                  <a:pt x="803758" y="188185"/>
                </a:lnTo>
                <a:lnTo>
                  <a:pt x="848411" y="158597"/>
                </a:lnTo>
                <a:lnTo>
                  <a:pt x="893064" y="130013"/>
                </a:lnTo>
                <a:lnTo>
                  <a:pt x="937717" y="103037"/>
                </a:lnTo>
                <a:lnTo>
                  <a:pt x="982370" y="78239"/>
                </a:lnTo>
                <a:lnTo>
                  <a:pt x="1027024" y="56141"/>
                </a:lnTo>
                <a:lnTo>
                  <a:pt x="1071677" y="37212"/>
                </a:lnTo>
                <a:lnTo>
                  <a:pt x="1116330" y="21851"/>
                </a:lnTo>
                <a:lnTo>
                  <a:pt x="1160983" y="10381"/>
                </a:lnTo>
                <a:lnTo>
                  <a:pt x="1205636" y="3046"/>
                </a:lnTo>
                <a:lnTo>
                  <a:pt x="1250290" y="0"/>
                </a:lnTo>
                <a:lnTo>
                  <a:pt x="1294943" y="1307"/>
                </a:lnTo>
                <a:lnTo>
                  <a:pt x="1339596" y="6940"/>
                </a:lnTo>
                <a:lnTo>
                  <a:pt x="1384249" y="16781"/>
                </a:lnTo>
                <a:lnTo>
                  <a:pt x="1428902" y="30620"/>
                </a:lnTo>
                <a:lnTo>
                  <a:pt x="1473556" y="48166"/>
                </a:lnTo>
                <a:lnTo>
                  <a:pt x="1518209" y="69048"/>
                </a:lnTo>
                <a:lnTo>
                  <a:pt x="1562862" y="92826"/>
                </a:lnTo>
                <a:lnTo>
                  <a:pt x="1607515" y="118997"/>
                </a:lnTo>
                <a:lnTo>
                  <a:pt x="1652168" y="147008"/>
                </a:lnTo>
                <a:lnTo>
                  <a:pt x="1696822" y="176269"/>
                </a:lnTo>
                <a:lnTo>
                  <a:pt x="1741475" y="206161"/>
                </a:lnTo>
                <a:lnTo>
                  <a:pt x="1786128" y="236053"/>
                </a:lnTo>
                <a:lnTo>
                  <a:pt x="1830781" y="265314"/>
                </a:lnTo>
                <a:lnTo>
                  <a:pt x="1875434" y="293325"/>
                </a:lnTo>
                <a:lnTo>
                  <a:pt x="1920088" y="319497"/>
                </a:lnTo>
                <a:lnTo>
                  <a:pt x="1964741" y="343274"/>
                </a:lnTo>
                <a:lnTo>
                  <a:pt x="2009394" y="364157"/>
                </a:lnTo>
                <a:lnTo>
                  <a:pt x="2054047" y="381703"/>
                </a:lnTo>
                <a:lnTo>
                  <a:pt x="2098700" y="395542"/>
                </a:lnTo>
                <a:lnTo>
                  <a:pt x="2143354" y="405382"/>
                </a:lnTo>
                <a:lnTo>
                  <a:pt x="2188007" y="411015"/>
                </a:lnTo>
                <a:lnTo>
                  <a:pt x="2232660" y="412410"/>
                </a:lnTo>
                <a:lnTo>
                  <a:pt x="2277313" y="412410"/>
                </a:lnTo>
                <a:lnTo>
                  <a:pt x="2321966" y="412410"/>
                </a:lnTo>
                <a:lnTo>
                  <a:pt x="2366620" y="412410"/>
                </a:lnTo>
                <a:lnTo>
                  <a:pt x="2411273" y="412410"/>
                </a:lnTo>
                <a:lnTo>
                  <a:pt x="2455926" y="412410"/>
                </a:lnTo>
                <a:lnTo>
                  <a:pt x="2500579" y="412410"/>
                </a:lnTo>
                <a:lnTo>
                  <a:pt x="2545232" y="412410"/>
                </a:lnTo>
                <a:lnTo>
                  <a:pt x="2589886" y="412410"/>
                </a:lnTo>
                <a:lnTo>
                  <a:pt x="2634539" y="412410"/>
                </a:lnTo>
                <a:lnTo>
                  <a:pt x="2679192" y="412410"/>
                </a:lnTo>
              </a:path>
            </a:pathLst>
          </a:custGeom>
          <a:ln w="15875">
            <a:solidFill>
              <a:srgbClr val="1B1B1B"/>
            </a:solidFill>
            <a:prstDash val="solid"/>
          </a:ln>
        </p:spPr>
      </p:sp>
      <p:sp>
        <p:nvSpPr>
          <p:cNvPr id="101" name="Shape 99"/>
          <p:cNvSpPr/>
          <p:nvPr/>
        </p:nvSpPr>
        <p:spPr>
          <a:xfrm>
            <a:off x="6431442" y="2315045"/>
            <a:ext cx="176827" cy="90992"/>
          </a:xfrm>
          <a:prstGeom prst="rect">
            <a:avLst/>
          </a:prstGeom>
          <a:solidFill>
            <a:srgbClr val="C4262E"/>
          </a:solidFill>
          <a:ln/>
        </p:spPr>
      </p:sp>
      <p:sp>
        <p:nvSpPr>
          <p:cNvPr id="102" name="Shape 100"/>
          <p:cNvSpPr/>
          <p:nvPr/>
        </p:nvSpPr>
        <p:spPr>
          <a:xfrm>
            <a:off x="6767412" y="2074583"/>
            <a:ext cx="114937" cy="181984"/>
          </a:xfrm>
          <a:prstGeom prst="rect">
            <a:avLst/>
          </a:prstGeom>
          <a:solidFill>
            <a:srgbClr val="F0B9BC"/>
          </a:solidFill>
          <a:ln w="6350">
            <a:solidFill>
              <a:srgbClr val="1B1B1B"/>
            </a:solidFill>
            <a:prstDash val="solid"/>
          </a:ln>
        </p:spPr>
      </p:sp>
      <p:sp>
        <p:nvSpPr>
          <p:cNvPr id="103" name="Shape 101"/>
          <p:cNvSpPr/>
          <p:nvPr/>
        </p:nvSpPr>
        <p:spPr>
          <a:xfrm>
            <a:off x="6780081" y="2256567"/>
            <a:ext cx="9144" cy="80963"/>
          </a:xfrm>
          <a:custGeom>
            <a:avLst/>
            <a:gdLst/>
            <a:ahLst/>
            <a:cxnLst/>
            <a:rect l="l" t="t" r="r" b="b"/>
            <a:pathLst>
              <a:path w="9144" h="80963">
                <a:moveTo>
                  <a:pt x="4572" y="0"/>
                </a:moveTo>
                <a:lnTo>
                  <a:pt x="4572" y="80963"/>
                </a:lnTo>
              </a:path>
            </a:pathLst>
          </a:custGeom>
          <a:ln w="9525">
            <a:solidFill>
              <a:srgbClr val="1B1B1B"/>
            </a:solidFill>
            <a:prstDash val="solid"/>
          </a:ln>
        </p:spPr>
      </p:sp>
      <p:sp>
        <p:nvSpPr>
          <p:cNvPr id="104" name="Shape 102"/>
          <p:cNvSpPr/>
          <p:nvPr/>
        </p:nvSpPr>
        <p:spPr>
          <a:xfrm>
            <a:off x="6820309" y="2256567"/>
            <a:ext cx="9144" cy="55894"/>
          </a:xfrm>
          <a:custGeom>
            <a:avLst/>
            <a:gdLst/>
            <a:ahLst/>
            <a:cxnLst/>
            <a:rect l="l" t="t" r="r" b="b"/>
            <a:pathLst>
              <a:path w="9144" h="55894">
                <a:moveTo>
                  <a:pt x="4572" y="0"/>
                </a:moveTo>
                <a:lnTo>
                  <a:pt x="4572" y="55894"/>
                </a:lnTo>
              </a:path>
            </a:pathLst>
          </a:custGeom>
          <a:ln w="9525">
            <a:solidFill>
              <a:srgbClr val="1B1B1B"/>
            </a:solidFill>
            <a:prstDash val="solid"/>
          </a:ln>
        </p:spPr>
      </p:sp>
      <p:sp>
        <p:nvSpPr>
          <p:cNvPr id="105" name="Shape 103"/>
          <p:cNvSpPr/>
          <p:nvPr/>
        </p:nvSpPr>
        <p:spPr>
          <a:xfrm>
            <a:off x="6860537" y="2256567"/>
            <a:ext cx="9144" cy="29727"/>
          </a:xfrm>
          <a:custGeom>
            <a:avLst/>
            <a:gdLst/>
            <a:ahLst/>
            <a:cxnLst/>
            <a:rect l="l" t="t" r="r" b="b"/>
            <a:pathLst>
              <a:path w="9144" h="29727">
                <a:moveTo>
                  <a:pt x="4572" y="0"/>
                </a:moveTo>
                <a:lnTo>
                  <a:pt x="4572" y="29727"/>
                </a:lnTo>
              </a:path>
            </a:pathLst>
          </a:custGeom>
          <a:ln w="9525">
            <a:solidFill>
              <a:srgbClr val="1B1B1B"/>
            </a:solidFill>
            <a:prstDash val="solid"/>
          </a:ln>
        </p:spPr>
      </p:sp>
      <p:sp>
        <p:nvSpPr>
          <p:cNvPr id="106" name="Shape 104"/>
          <p:cNvSpPr/>
          <p:nvPr/>
        </p:nvSpPr>
        <p:spPr>
          <a:xfrm>
            <a:off x="6961922" y="1953602"/>
            <a:ext cx="106096" cy="181984"/>
          </a:xfrm>
          <a:prstGeom prst="rect">
            <a:avLst/>
          </a:prstGeom>
          <a:solidFill>
            <a:srgbClr val="1B1B1B"/>
          </a:solidFill>
          <a:ln/>
        </p:spPr>
      </p:sp>
      <p:sp>
        <p:nvSpPr>
          <p:cNvPr id="107" name="Shape 105"/>
          <p:cNvSpPr/>
          <p:nvPr/>
        </p:nvSpPr>
        <p:spPr>
          <a:xfrm>
            <a:off x="6973264" y="2135586"/>
            <a:ext cx="9144" cy="75404"/>
          </a:xfrm>
          <a:custGeom>
            <a:avLst/>
            <a:gdLst/>
            <a:ahLst/>
            <a:cxnLst/>
            <a:rect l="l" t="t" r="r" b="b"/>
            <a:pathLst>
              <a:path w="9144" h="75404">
                <a:moveTo>
                  <a:pt x="4572" y="0"/>
                </a:moveTo>
                <a:lnTo>
                  <a:pt x="4572" y="75404"/>
                </a:lnTo>
              </a:path>
            </a:pathLst>
          </a:custGeom>
          <a:ln w="9525">
            <a:solidFill>
              <a:srgbClr val="1B1B1B"/>
            </a:solidFill>
            <a:prstDash val="solid"/>
          </a:ln>
        </p:spPr>
      </p:sp>
      <p:sp>
        <p:nvSpPr>
          <p:cNvPr id="108" name="Shape 106"/>
          <p:cNvSpPr/>
          <p:nvPr/>
        </p:nvSpPr>
        <p:spPr>
          <a:xfrm>
            <a:off x="7010398" y="2135586"/>
            <a:ext cx="9144" cy="51207"/>
          </a:xfrm>
          <a:custGeom>
            <a:avLst/>
            <a:gdLst/>
            <a:ahLst/>
            <a:cxnLst/>
            <a:rect l="l" t="t" r="r" b="b"/>
            <a:pathLst>
              <a:path w="9144" h="51207">
                <a:moveTo>
                  <a:pt x="4572" y="0"/>
                </a:moveTo>
                <a:lnTo>
                  <a:pt x="4572" y="51207"/>
                </a:lnTo>
              </a:path>
            </a:pathLst>
          </a:custGeom>
          <a:ln w="9525">
            <a:solidFill>
              <a:srgbClr val="1B1B1B"/>
            </a:solidFill>
            <a:prstDash val="solid"/>
          </a:ln>
        </p:spPr>
      </p:sp>
      <p:sp>
        <p:nvSpPr>
          <p:cNvPr id="109" name="Shape 107"/>
          <p:cNvSpPr/>
          <p:nvPr/>
        </p:nvSpPr>
        <p:spPr>
          <a:xfrm>
            <a:off x="7047531" y="2135586"/>
            <a:ext cx="9144" cy="27911"/>
          </a:xfrm>
          <a:custGeom>
            <a:avLst/>
            <a:gdLst/>
            <a:ahLst/>
            <a:cxnLst/>
            <a:rect l="l" t="t" r="r" b="b"/>
            <a:pathLst>
              <a:path w="9144" h="27911">
                <a:moveTo>
                  <a:pt x="4572" y="0"/>
                </a:moveTo>
                <a:lnTo>
                  <a:pt x="4572" y="27911"/>
                </a:lnTo>
              </a:path>
            </a:pathLst>
          </a:custGeom>
          <a:ln w="9525">
            <a:solidFill>
              <a:srgbClr val="1B1B1B"/>
            </a:solidFill>
            <a:prstDash val="solid"/>
          </a:ln>
        </p:spPr>
      </p:sp>
      <p:sp>
        <p:nvSpPr>
          <p:cNvPr id="110" name="Shape 108"/>
          <p:cNvSpPr/>
          <p:nvPr/>
        </p:nvSpPr>
        <p:spPr>
          <a:xfrm>
            <a:off x="7138748" y="1872060"/>
            <a:ext cx="97255" cy="181984"/>
          </a:xfrm>
          <a:prstGeom prst="rect">
            <a:avLst/>
          </a:prstGeom>
          <a:solidFill>
            <a:srgbClr val="9A9A9A"/>
          </a:solidFill>
          <a:ln/>
        </p:spPr>
      </p:sp>
      <p:sp>
        <p:nvSpPr>
          <p:cNvPr id="111" name="Shape 109"/>
          <p:cNvSpPr/>
          <p:nvPr/>
        </p:nvSpPr>
        <p:spPr>
          <a:xfrm>
            <a:off x="7148764" y="2054044"/>
            <a:ext cx="9144" cy="53179"/>
          </a:xfrm>
          <a:custGeom>
            <a:avLst/>
            <a:gdLst/>
            <a:ahLst/>
            <a:cxnLst/>
            <a:rect l="l" t="t" r="r" b="b"/>
            <a:pathLst>
              <a:path w="9144" h="53179">
                <a:moveTo>
                  <a:pt x="4572" y="0"/>
                </a:moveTo>
                <a:lnTo>
                  <a:pt x="4572" y="53179"/>
                </a:lnTo>
              </a:path>
            </a:pathLst>
          </a:custGeom>
          <a:ln w="9525">
            <a:solidFill>
              <a:srgbClr val="1B1B1B"/>
            </a:solidFill>
            <a:prstDash val="solid"/>
          </a:ln>
        </p:spPr>
      </p:sp>
      <p:sp>
        <p:nvSpPr>
          <p:cNvPr id="112" name="Shape 110"/>
          <p:cNvSpPr/>
          <p:nvPr/>
        </p:nvSpPr>
        <p:spPr>
          <a:xfrm>
            <a:off x="7182804" y="2054044"/>
            <a:ext cx="9144" cy="37417"/>
          </a:xfrm>
          <a:custGeom>
            <a:avLst/>
            <a:gdLst/>
            <a:ahLst/>
            <a:cxnLst/>
            <a:rect l="l" t="t" r="r" b="b"/>
            <a:pathLst>
              <a:path w="9144" h="37417">
                <a:moveTo>
                  <a:pt x="4572" y="0"/>
                </a:moveTo>
                <a:lnTo>
                  <a:pt x="4572" y="37417"/>
                </a:lnTo>
              </a:path>
            </a:pathLst>
          </a:custGeom>
          <a:ln w="9525">
            <a:solidFill>
              <a:srgbClr val="1B1B1B"/>
            </a:solidFill>
            <a:prstDash val="solid"/>
          </a:ln>
        </p:spPr>
      </p:sp>
      <p:sp>
        <p:nvSpPr>
          <p:cNvPr id="113" name="Shape 111"/>
          <p:cNvSpPr/>
          <p:nvPr/>
        </p:nvSpPr>
        <p:spPr>
          <a:xfrm>
            <a:off x="7216843" y="2054044"/>
            <a:ext cx="9144" cy="23584"/>
          </a:xfrm>
          <a:custGeom>
            <a:avLst/>
            <a:gdLst/>
            <a:ahLst/>
            <a:cxnLst/>
            <a:rect l="l" t="t" r="r" b="b"/>
            <a:pathLst>
              <a:path w="9144" h="23584">
                <a:moveTo>
                  <a:pt x="4572" y="0"/>
                </a:moveTo>
                <a:lnTo>
                  <a:pt x="4572" y="23584"/>
                </a:lnTo>
              </a:path>
            </a:pathLst>
          </a:custGeom>
          <a:ln w="9525">
            <a:solidFill>
              <a:srgbClr val="1B1B1B"/>
            </a:solidFill>
            <a:prstDash val="solid"/>
          </a:ln>
        </p:spPr>
      </p:sp>
      <p:sp>
        <p:nvSpPr>
          <p:cNvPr id="114" name="Shape 112"/>
          <p:cNvSpPr/>
          <p:nvPr/>
        </p:nvSpPr>
        <p:spPr>
          <a:xfrm>
            <a:off x="8378142" y="2327150"/>
            <a:ext cx="176827" cy="90992"/>
          </a:xfrm>
          <a:prstGeom prst="rect">
            <a:avLst/>
          </a:prstGeom>
          <a:solidFill>
            <a:srgbClr val="9A9A9A"/>
          </a:solidFill>
          <a:ln/>
        </p:spPr>
      </p:sp>
      <p:sp>
        <p:nvSpPr>
          <p:cNvPr id="115" name="Shape 113"/>
          <p:cNvSpPr/>
          <p:nvPr/>
        </p:nvSpPr>
        <p:spPr>
          <a:xfrm>
            <a:off x="7297892" y="2019361"/>
            <a:ext cx="212192" cy="9144"/>
          </a:xfrm>
          <a:custGeom>
            <a:avLst/>
            <a:gdLst/>
            <a:ahLst/>
            <a:cxnLst/>
            <a:rect l="l" t="t" r="r" b="b"/>
            <a:pathLst>
              <a:path w="212192" h="9144">
                <a:moveTo>
                  <a:pt x="0" y="4572"/>
                </a:moveTo>
                <a:lnTo>
                  <a:pt x="212192" y="4572"/>
                </a:lnTo>
              </a:path>
            </a:pathLst>
          </a:custGeom>
          <a:ln w="38100">
            <a:solidFill>
              <a:srgbClr val="C4262E"/>
            </a:solidFill>
            <a:prstDash val="solid"/>
          </a:ln>
        </p:spPr>
      </p:sp>
      <p:sp>
        <p:nvSpPr>
          <p:cNvPr id="116" name="Shape 114"/>
          <p:cNvSpPr/>
          <p:nvPr/>
        </p:nvSpPr>
        <p:spPr>
          <a:xfrm>
            <a:off x="6546647" y="2805379"/>
            <a:ext cx="937717" cy="430500"/>
          </a:xfrm>
          <a:prstGeom prst="rect">
            <a:avLst/>
          </a:prstGeom>
          <a:solidFill>
            <a:srgbClr val="F0B9BC"/>
          </a:solidFill>
          <a:ln/>
        </p:spPr>
      </p:sp>
      <p:sp>
        <p:nvSpPr>
          <p:cNvPr id="117" name="Shape 115"/>
          <p:cNvSpPr/>
          <p:nvPr/>
        </p:nvSpPr>
        <p:spPr>
          <a:xfrm>
            <a:off x="7484364" y="2805379"/>
            <a:ext cx="562630" cy="430500"/>
          </a:xfrm>
          <a:prstGeom prst="rect">
            <a:avLst/>
          </a:prstGeom>
          <a:solidFill>
            <a:srgbClr val="9A9A9A"/>
          </a:solidFill>
          <a:ln/>
        </p:spPr>
      </p:sp>
      <p:sp>
        <p:nvSpPr>
          <p:cNvPr id="118" name="Shape 116"/>
          <p:cNvSpPr/>
          <p:nvPr/>
        </p:nvSpPr>
        <p:spPr>
          <a:xfrm>
            <a:off x="8046994" y="2805379"/>
            <a:ext cx="375087" cy="430500"/>
          </a:xfrm>
          <a:prstGeom prst="rect">
            <a:avLst/>
          </a:prstGeom>
          <a:solidFill>
            <a:srgbClr val="1B1B1B"/>
          </a:solidFill>
          <a:ln/>
        </p:spPr>
      </p:sp>
      <p:sp>
        <p:nvSpPr>
          <p:cNvPr id="119" name="Shape 117"/>
          <p:cNvSpPr/>
          <p:nvPr/>
        </p:nvSpPr>
        <p:spPr>
          <a:xfrm>
            <a:off x="6318047" y="3016057"/>
            <a:ext cx="210312" cy="9144"/>
          </a:xfrm>
          <a:custGeom>
            <a:avLst/>
            <a:gdLst/>
            <a:ahLst/>
            <a:cxnLst/>
            <a:rect l="l" t="t" r="r" b="b"/>
            <a:pathLst>
              <a:path w="210312" h="9144">
                <a:moveTo>
                  <a:pt x="0" y="4572"/>
                </a:moveTo>
                <a:lnTo>
                  <a:pt x="210312" y="4572"/>
                </a:lnTo>
              </a:path>
            </a:pathLst>
          </a:custGeom>
          <a:ln w="15875">
            <a:solidFill>
              <a:srgbClr val="C4262E"/>
            </a:solidFill>
            <a:prstDash val="solid"/>
            <a:tailEnd type="triangle"/>
          </a:ln>
        </p:spPr>
      </p:sp>
      <p:sp>
        <p:nvSpPr>
          <p:cNvPr id="120" name="Text 118"/>
          <p:cNvSpPr txBox="1"/>
          <p:nvPr/>
        </p:nvSpPr>
        <p:spPr>
          <a:xfrm>
            <a:off x="6180887" y="2686507"/>
            <a:ext cx="365760" cy="146304"/>
          </a:xfrm>
          <a:prstGeom prst="rect">
            <a:avLst/>
          </a:prstGeom>
          <a:noFill/>
          <a:ln/>
        </p:spPr>
        <p:txBody>
          <a:bodyPr wrap="square" lIns="0" tIns="0" rIns="0" bIns="0" rtlCol="0" anchor="ctr"/>
          <a:lstStyle/>
          <a:p>
            <a:pPr algn="ctr" indent="0" marL="0">
              <a:buNone/>
            </a:pPr>
            <a:r>
              <a:rPr lang="en-US" sz="550" dirty="0">
                <a:solidFill>
                  <a:srgbClr val="C4262E"/>
                </a:solidFill>
                <a:latin typeface="Arial" pitchFamily="34" charset="0"/>
                <a:ea typeface="Arial" pitchFamily="34" charset="-122"/>
                <a:cs typeface="Arial" pitchFamily="34" charset="-120"/>
              </a:rPr>
              <a:t>route</a:t>
            </a:r>
            <a:endParaRPr lang="en-US" sz="550" dirty="0"/>
          </a:p>
        </p:txBody>
      </p:sp>
      <p:sp>
        <p:nvSpPr>
          <p:cNvPr id="121" name="Text 119"/>
          <p:cNvSpPr txBox="1"/>
          <p:nvPr/>
        </p:nvSpPr>
        <p:spPr>
          <a:xfrm>
            <a:off x="7027164" y="3263311"/>
            <a:ext cx="9144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one bar, across</a:t>
            </a:r>
            <a:endParaRPr lang="en-US" sz="550" dirty="0"/>
          </a:p>
        </p:txBody>
      </p:sp>
      <p:sp>
        <p:nvSpPr>
          <p:cNvPr id="122" name="Text 120"/>
          <p:cNvSpPr txBox="1"/>
          <p:nvPr/>
        </p:nvSpPr>
        <p:spPr>
          <a:xfrm>
            <a:off x="8422081" y="2956621"/>
            <a:ext cx="274320" cy="146304"/>
          </a:xfrm>
          <a:prstGeom prst="rect">
            <a:avLst/>
          </a:prstGeom>
          <a:noFill/>
          <a:ln/>
        </p:spPr>
        <p:txBody>
          <a:bodyPr wrap="square" lIns="0" tIns="0" rIns="0" bIns="0" rtlCol="0" anchor="ctr"/>
          <a:lstStyle/>
          <a:p>
            <a:pPr algn="ctr" indent="0" marL="0">
              <a:buNone/>
            </a:pPr>
            <a:r>
              <a:rPr lang="en-US" sz="550" dirty="0">
                <a:solidFill>
                  <a:srgbClr val="4F7A43"/>
                </a:solidFill>
                <a:latin typeface="Arial" pitchFamily="34" charset="0"/>
                <a:ea typeface="Arial" pitchFamily="34" charset="-122"/>
                <a:cs typeface="Arial" pitchFamily="34" charset="-120"/>
              </a:rPr>
              <a:t>hill</a:t>
            </a:r>
            <a:endParaRPr lang="en-US" sz="550" dirty="0"/>
          </a:p>
        </p:txBody>
      </p:sp>
      <p:sp>
        <p:nvSpPr>
          <p:cNvPr id="123" name="Shape 121"/>
          <p:cNvSpPr/>
          <p:nvPr/>
        </p:nvSpPr>
        <p:spPr>
          <a:xfrm>
            <a:off x="8951976" y="1188720"/>
            <a:ext cx="2788920" cy="2514600"/>
          </a:xfrm>
          <a:prstGeom prst="rect">
            <a:avLst/>
          </a:prstGeom>
          <a:solidFill>
            <a:srgbClr val="FFFFFF"/>
          </a:solidFill>
          <a:ln w="6350">
            <a:solidFill>
              <a:srgbClr val="D9D9D9"/>
            </a:solidFill>
            <a:prstDash val="solid"/>
          </a:ln>
        </p:spPr>
      </p:sp>
      <p:sp>
        <p:nvSpPr>
          <p:cNvPr id="124" name="Text 122"/>
          <p:cNvSpPr txBox="1"/>
          <p:nvPr/>
        </p:nvSpPr>
        <p:spPr>
          <a:xfrm>
            <a:off x="9025128" y="1243584"/>
            <a:ext cx="264261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04  </a:t>
            </a:r>
            <a:pPr indent="0" marL="0">
              <a:buNone/>
            </a:pPr>
            <a:r>
              <a:rPr lang="en-US" sz="750" b="1" spc="50" kern="0" dirty="0">
                <a:solidFill>
                  <a:srgbClr val="1B1B1B"/>
                </a:solidFill>
                <a:latin typeface="Arial" pitchFamily="34" charset="0"/>
                <a:ea typeface="Arial" pitchFamily="34" charset="-122"/>
                <a:cs typeface="Arial" pitchFamily="34" charset="-120"/>
              </a:rPr>
              <a:t>USER MOVEMENT</a:t>
            </a:r>
            <a:endParaRPr lang="en-US" sz="750" dirty="0"/>
          </a:p>
        </p:txBody>
      </p:sp>
      <p:sp>
        <p:nvSpPr>
          <p:cNvPr id="125" name="Text 123"/>
          <p:cNvSpPr txBox="1"/>
          <p:nvPr/>
        </p:nvSpPr>
        <p:spPr>
          <a:xfrm>
            <a:off x="9025128" y="3392424"/>
            <a:ext cx="2642616" cy="274320"/>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red public · black journalist · dashed researcher · dotted service</a:t>
            </a:r>
            <a:endParaRPr lang="en-US" sz="650" dirty="0"/>
          </a:p>
        </p:txBody>
      </p:sp>
      <p:sp>
        <p:nvSpPr>
          <p:cNvPr id="126" name="Shape 124"/>
          <p:cNvSpPr/>
          <p:nvPr/>
        </p:nvSpPr>
        <p:spPr>
          <a:xfrm>
            <a:off x="9217456" y="1706404"/>
            <a:ext cx="2257961" cy="1415223"/>
          </a:xfrm>
          <a:custGeom>
            <a:avLst/>
            <a:gdLst/>
            <a:ahLst/>
            <a:cxnLst/>
            <a:rect l="l" t="t" r="r" b="b"/>
            <a:pathLst>
              <a:path w="2257961" h="1415223">
                <a:moveTo>
                  <a:pt x="2235033" y="1200058"/>
                </a:moveTo>
                <a:lnTo>
                  <a:pt x="2205296" y="1250543"/>
                </a:lnTo>
                <a:lnTo>
                  <a:pt x="2163766" y="1295079"/>
                </a:lnTo>
                <a:lnTo>
                  <a:pt x="2110899" y="1333179"/>
                </a:lnTo>
                <a:lnTo>
                  <a:pt x="2047274" y="1364425"/>
                </a:lnTo>
                <a:lnTo>
                  <a:pt x="1973588" y="1388475"/>
                </a:lnTo>
                <a:lnTo>
                  <a:pt x="1890648" y="1405065"/>
                </a:lnTo>
                <a:lnTo>
                  <a:pt x="1799363" y="1414014"/>
                </a:lnTo>
                <a:lnTo>
                  <a:pt x="1700733" y="1415223"/>
                </a:lnTo>
                <a:lnTo>
                  <a:pt x="1595839" y="1408680"/>
                </a:lnTo>
                <a:lnTo>
                  <a:pt x="1485830" y="1394455"/>
                </a:lnTo>
                <a:lnTo>
                  <a:pt x="1371911" y="1372705"/>
                </a:lnTo>
                <a:lnTo>
                  <a:pt x="1255331" y="1343669"/>
                </a:lnTo>
                <a:lnTo>
                  <a:pt x="1137366" y="1307663"/>
                </a:lnTo>
                <a:lnTo>
                  <a:pt x="1019310" y="1265083"/>
                </a:lnTo>
                <a:lnTo>
                  <a:pt x="902455" y="1216396"/>
                </a:lnTo>
                <a:lnTo>
                  <a:pt x="788082" y="1162134"/>
                </a:lnTo>
                <a:lnTo>
                  <a:pt x="677444" y="1102892"/>
                </a:lnTo>
                <a:lnTo>
                  <a:pt x="571753" y="1039320"/>
                </a:lnTo>
                <a:lnTo>
                  <a:pt x="472167" y="972113"/>
                </a:lnTo>
                <a:lnTo>
                  <a:pt x="379777" y="902008"/>
                </a:lnTo>
                <a:lnTo>
                  <a:pt x="295596" y="829774"/>
                </a:lnTo>
                <a:lnTo>
                  <a:pt x="220545" y="756201"/>
                </a:lnTo>
                <a:lnTo>
                  <a:pt x="155448" y="682096"/>
                </a:lnTo>
                <a:lnTo>
                  <a:pt x="101016" y="608270"/>
                </a:lnTo>
                <a:lnTo>
                  <a:pt x="57848" y="535533"/>
                </a:lnTo>
                <a:lnTo>
                  <a:pt x="26414" y="464680"/>
                </a:lnTo>
                <a:lnTo>
                  <a:pt x="7061" y="396490"/>
                </a:lnTo>
                <a:lnTo>
                  <a:pt x="0" y="331708"/>
                </a:lnTo>
                <a:lnTo>
                  <a:pt x="5308" y="271045"/>
                </a:lnTo>
                <a:lnTo>
                  <a:pt x="22927" y="215165"/>
                </a:lnTo>
                <a:lnTo>
                  <a:pt x="52665" y="164680"/>
                </a:lnTo>
                <a:lnTo>
                  <a:pt x="94195" y="120144"/>
                </a:lnTo>
                <a:lnTo>
                  <a:pt x="147062" y="82044"/>
                </a:lnTo>
                <a:lnTo>
                  <a:pt x="210687" y="50798"/>
                </a:lnTo>
                <a:lnTo>
                  <a:pt x="284373" y="26748"/>
                </a:lnTo>
                <a:lnTo>
                  <a:pt x="367313" y="10158"/>
                </a:lnTo>
                <a:lnTo>
                  <a:pt x="458598" y="1209"/>
                </a:lnTo>
                <a:lnTo>
                  <a:pt x="557228" y="0"/>
                </a:lnTo>
                <a:lnTo>
                  <a:pt x="662122" y="6544"/>
                </a:lnTo>
                <a:lnTo>
                  <a:pt x="772131" y="20768"/>
                </a:lnTo>
                <a:lnTo>
                  <a:pt x="886049" y="42518"/>
                </a:lnTo>
                <a:lnTo>
                  <a:pt x="1002630" y="71554"/>
                </a:lnTo>
                <a:lnTo>
                  <a:pt x="1120594" y="107560"/>
                </a:lnTo>
                <a:lnTo>
                  <a:pt x="1238651" y="150140"/>
                </a:lnTo>
                <a:lnTo>
                  <a:pt x="1355506" y="198827"/>
                </a:lnTo>
                <a:lnTo>
                  <a:pt x="1469879" y="253089"/>
                </a:lnTo>
                <a:lnTo>
                  <a:pt x="1580517" y="312331"/>
                </a:lnTo>
                <a:lnTo>
                  <a:pt x="1686208" y="375903"/>
                </a:lnTo>
                <a:lnTo>
                  <a:pt x="1785794" y="443110"/>
                </a:lnTo>
                <a:lnTo>
                  <a:pt x="1878184" y="513215"/>
                </a:lnTo>
                <a:lnTo>
                  <a:pt x="1962365" y="585449"/>
                </a:lnTo>
                <a:lnTo>
                  <a:pt x="2037415" y="659022"/>
                </a:lnTo>
                <a:lnTo>
                  <a:pt x="2102513" y="733127"/>
                </a:lnTo>
                <a:lnTo>
                  <a:pt x="2156944" y="806953"/>
                </a:lnTo>
                <a:lnTo>
                  <a:pt x="2200113" y="879691"/>
                </a:lnTo>
                <a:lnTo>
                  <a:pt x="2231546" y="950543"/>
                </a:lnTo>
                <a:lnTo>
                  <a:pt x="2250899" y="1018733"/>
                </a:lnTo>
                <a:lnTo>
                  <a:pt x="2257961" y="1083515"/>
                </a:lnTo>
                <a:lnTo>
                  <a:pt x="2252653" y="1144178"/>
                </a:lnTo>
                <a:close/>
              </a:path>
            </a:pathLst>
          </a:custGeom>
          <a:solidFill>
            <a:srgbClr val="E4E4E4"/>
          </a:solidFill>
          <a:ln w="12700"/>
        </p:spPr>
      </p:sp>
      <p:sp>
        <p:nvSpPr>
          <p:cNvPr id="127" name="Shape 125"/>
          <p:cNvSpPr/>
          <p:nvPr/>
        </p:nvSpPr>
        <p:spPr>
          <a:xfrm>
            <a:off x="9006840" y="1875849"/>
            <a:ext cx="233543" cy="45720"/>
          </a:xfrm>
          <a:custGeom>
            <a:avLst/>
            <a:gdLst/>
            <a:ahLst/>
            <a:cxnLst/>
            <a:rect l="l" t="t" r="r" b="b"/>
            <a:pathLst>
              <a:path w="233543" h="45720">
                <a:moveTo>
                  <a:pt x="233543" y="45720"/>
                </a:moveTo>
                <a:lnTo>
                  <a:pt x="0" y="0"/>
                </a:lnTo>
              </a:path>
            </a:pathLst>
          </a:custGeom>
          <a:ln w="76200">
            <a:solidFill>
              <a:srgbClr val="E4E4E4"/>
            </a:solidFill>
            <a:prstDash val="solid"/>
          </a:ln>
        </p:spPr>
      </p:sp>
      <p:sp>
        <p:nvSpPr>
          <p:cNvPr id="128" name="Shape 126"/>
          <p:cNvSpPr/>
          <p:nvPr/>
        </p:nvSpPr>
        <p:spPr>
          <a:xfrm>
            <a:off x="11452489" y="2906463"/>
            <a:ext cx="233543" cy="45720"/>
          </a:xfrm>
          <a:custGeom>
            <a:avLst/>
            <a:gdLst/>
            <a:ahLst/>
            <a:cxnLst/>
            <a:rect l="l" t="t" r="r" b="b"/>
            <a:pathLst>
              <a:path w="233543" h="45720">
                <a:moveTo>
                  <a:pt x="0" y="0"/>
                </a:moveTo>
                <a:lnTo>
                  <a:pt x="233543" y="45720"/>
                </a:lnTo>
              </a:path>
            </a:pathLst>
          </a:custGeom>
          <a:ln w="76200">
            <a:solidFill>
              <a:srgbClr val="E4E4E4"/>
            </a:solidFill>
            <a:prstDash val="solid"/>
          </a:ln>
        </p:spPr>
      </p:sp>
      <p:sp>
        <p:nvSpPr>
          <p:cNvPr id="129" name="Shape 127"/>
          <p:cNvSpPr/>
          <p:nvPr/>
        </p:nvSpPr>
        <p:spPr>
          <a:xfrm>
            <a:off x="9405619" y="1824340"/>
            <a:ext cx="1881634" cy="1179353"/>
          </a:xfrm>
          <a:custGeom>
            <a:avLst/>
            <a:gdLst/>
            <a:ahLst/>
            <a:cxnLst/>
            <a:rect l="l" t="t" r="r" b="b"/>
            <a:pathLst>
              <a:path w="1881634" h="1179353">
                <a:moveTo>
                  <a:pt x="1862528" y="1000048"/>
                </a:moveTo>
                <a:lnTo>
                  <a:pt x="1837747" y="1042119"/>
                </a:lnTo>
                <a:lnTo>
                  <a:pt x="1803138" y="1079233"/>
                </a:lnTo>
                <a:lnTo>
                  <a:pt x="1759083" y="1110983"/>
                </a:lnTo>
                <a:lnTo>
                  <a:pt x="1706062" y="1137021"/>
                </a:lnTo>
                <a:lnTo>
                  <a:pt x="1644656" y="1157062"/>
                </a:lnTo>
                <a:lnTo>
                  <a:pt x="1575540" y="1170888"/>
                </a:lnTo>
                <a:lnTo>
                  <a:pt x="1499469" y="1178345"/>
                </a:lnTo>
                <a:lnTo>
                  <a:pt x="1417278" y="1179353"/>
                </a:lnTo>
                <a:lnTo>
                  <a:pt x="1329866" y="1173900"/>
                </a:lnTo>
                <a:lnTo>
                  <a:pt x="1238192" y="1162046"/>
                </a:lnTo>
                <a:lnTo>
                  <a:pt x="1143259" y="1143921"/>
                </a:lnTo>
                <a:lnTo>
                  <a:pt x="1046109" y="1119724"/>
                </a:lnTo>
                <a:lnTo>
                  <a:pt x="947805" y="1089719"/>
                </a:lnTo>
                <a:lnTo>
                  <a:pt x="849425" y="1054236"/>
                </a:lnTo>
                <a:lnTo>
                  <a:pt x="752046" y="1013663"/>
                </a:lnTo>
                <a:lnTo>
                  <a:pt x="656735" y="968445"/>
                </a:lnTo>
                <a:lnTo>
                  <a:pt x="564536" y="919077"/>
                </a:lnTo>
                <a:lnTo>
                  <a:pt x="476461" y="866100"/>
                </a:lnTo>
                <a:lnTo>
                  <a:pt x="393472" y="810094"/>
                </a:lnTo>
                <a:lnTo>
                  <a:pt x="316481" y="751674"/>
                </a:lnTo>
                <a:lnTo>
                  <a:pt x="246330" y="691478"/>
                </a:lnTo>
                <a:lnTo>
                  <a:pt x="183788" y="630167"/>
                </a:lnTo>
                <a:lnTo>
                  <a:pt x="129540" y="568413"/>
                </a:lnTo>
                <a:lnTo>
                  <a:pt x="84180" y="506892"/>
                </a:lnTo>
                <a:lnTo>
                  <a:pt x="48206" y="446277"/>
                </a:lnTo>
                <a:lnTo>
                  <a:pt x="22012" y="387234"/>
                </a:lnTo>
                <a:lnTo>
                  <a:pt x="5884" y="330408"/>
                </a:lnTo>
                <a:lnTo>
                  <a:pt x="0" y="276424"/>
                </a:lnTo>
                <a:lnTo>
                  <a:pt x="4423" y="225871"/>
                </a:lnTo>
                <a:lnTo>
                  <a:pt x="19106" y="179304"/>
                </a:lnTo>
                <a:lnTo>
                  <a:pt x="43887" y="137234"/>
                </a:lnTo>
                <a:lnTo>
                  <a:pt x="78495" y="100120"/>
                </a:lnTo>
                <a:lnTo>
                  <a:pt x="122551" y="68370"/>
                </a:lnTo>
                <a:lnTo>
                  <a:pt x="175572" y="42332"/>
                </a:lnTo>
                <a:lnTo>
                  <a:pt x="236978" y="22290"/>
                </a:lnTo>
                <a:lnTo>
                  <a:pt x="306094" y="8465"/>
                </a:lnTo>
                <a:lnTo>
                  <a:pt x="382165" y="1008"/>
                </a:lnTo>
                <a:lnTo>
                  <a:pt x="464356" y="0"/>
                </a:lnTo>
                <a:lnTo>
                  <a:pt x="551768" y="5453"/>
                </a:lnTo>
                <a:lnTo>
                  <a:pt x="643442" y="17307"/>
                </a:lnTo>
                <a:lnTo>
                  <a:pt x="738374" y="35432"/>
                </a:lnTo>
                <a:lnTo>
                  <a:pt x="835525" y="59629"/>
                </a:lnTo>
                <a:lnTo>
                  <a:pt x="933829" y="89633"/>
                </a:lnTo>
                <a:lnTo>
                  <a:pt x="1032209" y="125116"/>
                </a:lnTo>
                <a:lnTo>
                  <a:pt x="1129588" y="165689"/>
                </a:lnTo>
                <a:lnTo>
                  <a:pt x="1224899" y="210907"/>
                </a:lnTo>
                <a:lnTo>
                  <a:pt x="1317097" y="260276"/>
                </a:lnTo>
                <a:lnTo>
                  <a:pt x="1405173" y="313253"/>
                </a:lnTo>
                <a:lnTo>
                  <a:pt x="1488162" y="369258"/>
                </a:lnTo>
                <a:lnTo>
                  <a:pt x="1565153" y="427679"/>
                </a:lnTo>
                <a:lnTo>
                  <a:pt x="1635304" y="487874"/>
                </a:lnTo>
                <a:lnTo>
                  <a:pt x="1697846" y="549185"/>
                </a:lnTo>
                <a:lnTo>
                  <a:pt x="1752094" y="610940"/>
                </a:lnTo>
                <a:lnTo>
                  <a:pt x="1797454" y="672461"/>
                </a:lnTo>
                <a:lnTo>
                  <a:pt x="1833428" y="733075"/>
                </a:lnTo>
                <a:lnTo>
                  <a:pt x="1859622" y="792119"/>
                </a:lnTo>
                <a:lnTo>
                  <a:pt x="1875750" y="848944"/>
                </a:lnTo>
                <a:lnTo>
                  <a:pt x="1881634" y="902929"/>
                </a:lnTo>
                <a:lnTo>
                  <a:pt x="1877211" y="953482"/>
                </a:lnTo>
                <a:close/>
              </a:path>
            </a:pathLst>
          </a:custGeom>
          <a:solidFill>
            <a:srgbClr val="FFFFFF"/>
          </a:solidFill>
          <a:ln w="19050">
            <a:solidFill>
              <a:srgbClr val="1B1B1B"/>
            </a:solidFill>
            <a:prstDash val="solid"/>
          </a:ln>
        </p:spPr>
      </p:sp>
      <p:sp>
        <p:nvSpPr>
          <p:cNvPr id="130" name="Shape 128"/>
          <p:cNvSpPr/>
          <p:nvPr/>
        </p:nvSpPr>
        <p:spPr>
          <a:xfrm rot="169550">
            <a:off x="10527799" y="3011591"/>
            <a:ext cx="625542" cy="92822"/>
          </a:xfrm>
          <a:prstGeom prst="rect">
            <a:avLst/>
          </a:prstGeom>
          <a:solidFill>
            <a:srgbClr val="C4262E"/>
          </a:solidFill>
          <a:ln/>
        </p:spPr>
      </p:sp>
      <p:sp>
        <p:nvSpPr>
          <p:cNvPr id="131" name="Shape 129"/>
          <p:cNvSpPr/>
          <p:nvPr/>
        </p:nvSpPr>
        <p:spPr>
          <a:xfrm rot="2669841">
            <a:off x="9458136" y="2434546"/>
            <a:ext cx="554916" cy="92822"/>
          </a:xfrm>
          <a:prstGeom prst="rect">
            <a:avLst/>
          </a:prstGeom>
          <a:solidFill>
            <a:srgbClr val="F0B9BC"/>
          </a:solidFill>
          <a:ln w="6350">
            <a:solidFill>
              <a:srgbClr val="1B1B1B"/>
            </a:solidFill>
            <a:prstDash val="solid"/>
          </a:ln>
        </p:spPr>
      </p:sp>
      <p:sp>
        <p:nvSpPr>
          <p:cNvPr id="132" name="Shape 130"/>
          <p:cNvSpPr/>
          <p:nvPr/>
        </p:nvSpPr>
        <p:spPr>
          <a:xfrm rot="-1236591">
            <a:off x="9658949" y="2008281"/>
            <a:ext cx="464112" cy="92822"/>
          </a:xfrm>
          <a:prstGeom prst="rect">
            <a:avLst/>
          </a:prstGeom>
          <a:solidFill>
            <a:srgbClr val="1B1B1B"/>
          </a:solidFill>
          <a:ln/>
        </p:spPr>
      </p:sp>
      <p:sp>
        <p:nvSpPr>
          <p:cNvPr id="133" name="Shape 131"/>
          <p:cNvSpPr/>
          <p:nvPr/>
        </p:nvSpPr>
        <p:spPr>
          <a:xfrm rot="1650735">
            <a:off x="10383841" y="2209142"/>
            <a:ext cx="363218" cy="92822"/>
          </a:xfrm>
          <a:prstGeom prst="rect">
            <a:avLst/>
          </a:prstGeom>
          <a:solidFill>
            <a:srgbClr val="9A9A9A"/>
          </a:solidFill>
          <a:ln/>
        </p:spPr>
      </p:sp>
      <p:sp>
        <p:nvSpPr>
          <p:cNvPr id="134" name="Shape 132"/>
          <p:cNvSpPr/>
          <p:nvPr/>
        </p:nvSpPr>
        <p:spPr>
          <a:xfrm rot="173647">
            <a:off x="9771845" y="1847170"/>
            <a:ext cx="343039" cy="74258"/>
          </a:xfrm>
          <a:prstGeom prst="rect">
            <a:avLst/>
          </a:prstGeom>
          <a:solidFill>
            <a:srgbClr val="9A9A9A"/>
          </a:solidFill>
          <a:ln/>
        </p:spPr>
      </p:sp>
      <p:sp>
        <p:nvSpPr>
          <p:cNvPr id="135" name="Shape 133"/>
          <p:cNvSpPr/>
          <p:nvPr/>
        </p:nvSpPr>
        <p:spPr>
          <a:xfrm>
            <a:off x="9735512" y="2109258"/>
            <a:ext cx="1207350" cy="903392"/>
          </a:xfrm>
          <a:custGeom>
            <a:avLst/>
            <a:gdLst/>
            <a:ahLst/>
            <a:cxnLst/>
            <a:rect l="l" t="t" r="r" b="b"/>
            <a:pathLst>
              <a:path w="1207350" h="903392">
                <a:moveTo>
                  <a:pt x="1207350" y="903392"/>
                </a:moveTo>
                <a:lnTo>
                  <a:pt x="1085198" y="893358"/>
                </a:lnTo>
                <a:lnTo>
                  <a:pt x="958534" y="871304"/>
                </a:lnTo>
                <a:lnTo>
                  <a:pt x="830417" y="838245"/>
                </a:lnTo>
                <a:lnTo>
                  <a:pt x="703817" y="795403"/>
                </a:lnTo>
                <a:lnTo>
                  <a:pt x="581553" y="744180"/>
                </a:lnTo>
                <a:lnTo>
                  <a:pt x="466228" y="686117"/>
                </a:lnTo>
                <a:lnTo>
                  <a:pt x="360174" y="622848"/>
                </a:lnTo>
                <a:lnTo>
                  <a:pt x="265412" y="556062"/>
                </a:lnTo>
                <a:lnTo>
                  <a:pt x="183607" y="487459"/>
                </a:lnTo>
                <a:lnTo>
                  <a:pt x="116044" y="418707"/>
                </a:lnTo>
                <a:lnTo>
                  <a:pt x="63615" y="351405"/>
                </a:lnTo>
                <a:lnTo>
                  <a:pt x="26805" y="287046"/>
                </a:lnTo>
                <a:lnTo>
                  <a:pt x="5700" y="226980"/>
                </a:lnTo>
                <a:lnTo>
                  <a:pt x="0" y="172394"/>
                </a:lnTo>
                <a:lnTo>
                  <a:pt x="9039" y="124282"/>
                </a:lnTo>
                <a:lnTo>
                  <a:pt x="31819" y="83428"/>
                </a:lnTo>
                <a:lnTo>
                  <a:pt x="67048" y="50400"/>
                </a:lnTo>
                <a:lnTo>
                  <a:pt x="113182" y="25536"/>
                </a:lnTo>
                <a:lnTo>
                  <a:pt x="168480" y="8953"/>
                </a:lnTo>
                <a:lnTo>
                  <a:pt x="231051" y="545"/>
                </a:lnTo>
                <a:lnTo>
                  <a:pt x="298916" y="0"/>
                </a:lnTo>
                <a:lnTo>
                  <a:pt x="370060" y="6815"/>
                </a:lnTo>
                <a:lnTo>
                  <a:pt x="442489" y="20317"/>
                </a:lnTo>
                <a:lnTo>
                  <a:pt x="514284" y="39688"/>
                </a:lnTo>
                <a:lnTo>
                  <a:pt x="583648" y="63996"/>
                </a:lnTo>
                <a:lnTo>
                  <a:pt x="648951" y="92221"/>
                </a:lnTo>
                <a:lnTo>
                  <a:pt x="708774" y="123289"/>
                </a:lnTo>
                <a:lnTo>
                  <a:pt x="761934" y="156108"/>
                </a:lnTo>
                <a:lnTo>
                  <a:pt x="807510" y="189593"/>
                </a:lnTo>
                <a:lnTo>
                  <a:pt x="844865" y="222704"/>
                </a:lnTo>
                <a:lnTo>
                  <a:pt x="873644" y="254471"/>
                </a:lnTo>
                <a:lnTo>
                  <a:pt x="893785" y="284021"/>
                </a:lnTo>
                <a:lnTo>
                  <a:pt x="905502" y="310601"/>
                </a:lnTo>
                <a:lnTo>
                  <a:pt x="909271" y="333596"/>
                </a:lnTo>
                <a:lnTo>
                  <a:pt x="905807" y="352545"/>
                </a:lnTo>
                <a:lnTo>
                  <a:pt x="896034" y="367150"/>
                </a:lnTo>
                <a:lnTo>
                  <a:pt x="881050" y="377277"/>
                </a:lnTo>
                <a:lnTo>
                  <a:pt x="862084" y="382960"/>
                </a:lnTo>
                <a:lnTo>
                  <a:pt x="840454" y="384395"/>
                </a:lnTo>
                <a:lnTo>
                  <a:pt x="817525" y="381927"/>
                </a:lnTo>
              </a:path>
            </a:pathLst>
          </a:custGeom>
          <a:ln w="25400">
            <a:solidFill>
              <a:srgbClr val="C4262E"/>
            </a:solidFill>
            <a:prstDash val="solid"/>
            <a:tailEnd type="triangle"/>
          </a:ln>
        </p:spPr>
      </p:sp>
      <p:sp>
        <p:nvSpPr>
          <p:cNvPr id="136" name="Shape 134"/>
          <p:cNvSpPr/>
          <p:nvPr/>
        </p:nvSpPr>
        <p:spPr>
          <a:xfrm>
            <a:off x="10478779" y="2416927"/>
            <a:ext cx="148516" cy="148516"/>
          </a:xfrm>
          <a:prstGeom prst="ellipse">
            <a:avLst/>
          </a:prstGeom>
          <a:solidFill>
            <a:srgbClr val="FFFFFF"/>
          </a:solidFill>
          <a:ln w="19050">
            <a:solidFill>
              <a:srgbClr val="C4262E"/>
            </a:solidFill>
            <a:prstDash val="solid"/>
          </a:ln>
        </p:spPr>
      </p:sp>
      <p:sp>
        <p:nvSpPr>
          <p:cNvPr id="137" name="Shape 135"/>
          <p:cNvSpPr/>
          <p:nvPr/>
        </p:nvSpPr>
        <p:spPr>
          <a:xfrm>
            <a:off x="9818279" y="2331275"/>
            <a:ext cx="939600" cy="723699"/>
          </a:xfrm>
          <a:custGeom>
            <a:avLst/>
            <a:gdLst/>
            <a:ahLst/>
            <a:cxnLst/>
            <a:rect l="l" t="t" r="r" b="b"/>
            <a:pathLst>
              <a:path w="939600" h="723699">
                <a:moveTo>
                  <a:pt x="939600" y="723699"/>
                </a:moveTo>
                <a:lnTo>
                  <a:pt x="794199" y="649757"/>
                </a:lnTo>
                <a:lnTo>
                  <a:pt x="724341" y="406639"/>
                </a:lnTo>
                <a:lnTo>
                  <a:pt x="0" y="0"/>
                </a:lnTo>
              </a:path>
            </a:pathLst>
          </a:custGeom>
          <a:ln w="22225">
            <a:solidFill>
              <a:srgbClr val="1B1B1B"/>
            </a:solidFill>
            <a:prstDash val="solid"/>
            <a:tailEnd type="triangle"/>
          </a:ln>
        </p:spPr>
      </p:sp>
      <p:sp>
        <p:nvSpPr>
          <p:cNvPr id="138" name="Shape 136"/>
          <p:cNvSpPr/>
          <p:nvPr/>
        </p:nvSpPr>
        <p:spPr>
          <a:xfrm>
            <a:off x="9663867" y="2155106"/>
            <a:ext cx="878753" cy="851561"/>
          </a:xfrm>
          <a:custGeom>
            <a:avLst/>
            <a:gdLst/>
            <a:ahLst/>
            <a:cxnLst/>
            <a:rect l="l" t="t" r="r" b="b"/>
            <a:pathLst>
              <a:path w="878753" h="851561">
                <a:moveTo>
                  <a:pt x="834211" y="851561"/>
                </a:moveTo>
                <a:lnTo>
                  <a:pt x="878753" y="582808"/>
                </a:lnTo>
                <a:lnTo>
                  <a:pt x="0" y="0"/>
                </a:lnTo>
              </a:path>
            </a:pathLst>
          </a:custGeom>
          <a:ln w="19050">
            <a:solidFill>
              <a:srgbClr val="1B1B1B"/>
            </a:solidFill>
            <a:prstDash val="dash"/>
            <a:tailEnd type="triangle"/>
          </a:ln>
        </p:spPr>
      </p:sp>
      <p:sp>
        <p:nvSpPr>
          <p:cNvPr id="139" name="Shape 137"/>
          <p:cNvSpPr/>
          <p:nvPr/>
        </p:nvSpPr>
        <p:spPr>
          <a:xfrm>
            <a:off x="9920972" y="1698554"/>
            <a:ext cx="53746" cy="156316"/>
          </a:xfrm>
          <a:custGeom>
            <a:avLst/>
            <a:gdLst/>
            <a:ahLst/>
            <a:cxnLst/>
            <a:rect l="l" t="t" r="r" b="b"/>
            <a:pathLst>
              <a:path w="53746" h="156316">
                <a:moveTo>
                  <a:pt x="53746" y="0"/>
                </a:moveTo>
                <a:lnTo>
                  <a:pt x="0" y="156316"/>
                </a:lnTo>
              </a:path>
            </a:pathLst>
          </a:custGeom>
          <a:ln w="25400">
            <a:solidFill>
              <a:srgbClr val="9A9A9A"/>
            </a:solidFill>
            <a:prstDash val="sysDot"/>
            <a:tailEnd type="triangle"/>
          </a:ln>
        </p:spPr>
      </p:sp>
      <p:sp>
        <p:nvSpPr>
          <p:cNvPr id="140" name="Shape 138"/>
          <p:cNvSpPr/>
          <p:nvPr/>
        </p:nvSpPr>
        <p:spPr>
          <a:xfrm>
            <a:off x="365760" y="3794760"/>
            <a:ext cx="2788920" cy="2514600"/>
          </a:xfrm>
          <a:prstGeom prst="rect">
            <a:avLst/>
          </a:prstGeom>
          <a:solidFill>
            <a:srgbClr val="FFFFFF"/>
          </a:solidFill>
          <a:ln w="6350">
            <a:solidFill>
              <a:srgbClr val="D9D9D9"/>
            </a:solidFill>
            <a:prstDash val="solid"/>
          </a:ln>
        </p:spPr>
      </p:sp>
      <p:sp>
        <p:nvSpPr>
          <p:cNvPr id="141" name="Text 139"/>
          <p:cNvSpPr txBox="1"/>
          <p:nvPr/>
        </p:nvSpPr>
        <p:spPr>
          <a:xfrm>
            <a:off x="438912" y="3849624"/>
            <a:ext cx="264261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05  </a:t>
            </a:r>
            <a:pPr indent="0" marL="0">
              <a:buNone/>
            </a:pPr>
            <a:r>
              <a:rPr lang="en-US" sz="750" b="1" spc="50" kern="0" dirty="0">
                <a:solidFill>
                  <a:srgbClr val="1B1B1B"/>
                </a:solidFill>
                <a:latin typeface="Arial" pitchFamily="34" charset="0"/>
                <a:ea typeface="Arial" pitchFamily="34" charset="-122"/>
                <a:cs typeface="Arial" pitchFamily="34" charset="-120"/>
              </a:rPr>
              <a:t>PROGRAM</a:t>
            </a:r>
            <a:endParaRPr lang="en-US" sz="750" dirty="0"/>
          </a:p>
        </p:txBody>
      </p:sp>
      <p:sp>
        <p:nvSpPr>
          <p:cNvPr id="142" name="Text 140"/>
          <p:cNvSpPr txBox="1"/>
          <p:nvPr/>
        </p:nvSpPr>
        <p:spPr>
          <a:xfrm>
            <a:off x="438912" y="5998464"/>
            <a:ext cx="2642616" cy="274320"/>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Program ordered by height; access decreases upward, summit reopens.</a:t>
            </a:r>
            <a:endParaRPr lang="en-US" sz="650" dirty="0"/>
          </a:p>
        </p:txBody>
      </p:sp>
      <p:sp>
        <p:nvSpPr>
          <p:cNvPr id="143" name="Text 141"/>
          <p:cNvSpPr txBox="1"/>
          <p:nvPr/>
        </p:nvSpPr>
        <p:spPr>
          <a:xfrm>
            <a:off x="420624" y="4041648"/>
            <a:ext cx="411480" cy="382219"/>
          </a:xfrm>
          <a:prstGeom prst="rect">
            <a:avLst/>
          </a:prstGeom>
          <a:noFill/>
          <a:ln/>
        </p:spPr>
        <p:txBody>
          <a:bodyPr wrap="square" lIns="0" tIns="0" rIns="0" bIns="0" rtlCol="0" anchor="ctr"/>
          <a:lstStyle/>
          <a:p>
            <a:pPr indent="0" marL="0">
              <a:buNone/>
            </a:pPr>
            <a:r>
              <a:rPr lang="en-US" sz="500" b="1" dirty="0">
                <a:solidFill>
                  <a:srgbClr val="6B6B6B"/>
                </a:solidFill>
                <a:latin typeface="Arial" pitchFamily="34" charset="0"/>
                <a:ea typeface="Arial" pitchFamily="34" charset="-122"/>
                <a:cs typeface="Arial" pitchFamily="34" charset="-120"/>
              </a:rPr>
              <a:t>SUMMIT</a:t>
            </a:r>
            <a:endParaRPr lang="en-US" sz="500" dirty="0"/>
          </a:p>
        </p:txBody>
      </p:sp>
      <p:sp>
        <p:nvSpPr>
          <p:cNvPr id="144" name="Shape 142"/>
          <p:cNvSpPr/>
          <p:nvPr/>
        </p:nvSpPr>
        <p:spPr>
          <a:xfrm>
            <a:off x="905256" y="4078224"/>
            <a:ext cx="2121408" cy="309067"/>
          </a:xfrm>
          <a:prstGeom prst="roundRect">
            <a:avLst>
              <a:gd name="adj" fmla="val 11834"/>
            </a:avLst>
          </a:prstGeom>
          <a:solidFill>
            <a:srgbClr val="FFFFFF"/>
          </a:solidFill>
          <a:ln w="9525">
            <a:solidFill>
              <a:srgbClr val="C4262E"/>
            </a:solidFill>
            <a:prstDash val="solid"/>
          </a:ln>
        </p:spPr>
      </p:sp>
      <p:sp>
        <p:nvSpPr>
          <p:cNvPr id="145" name="Text 143"/>
          <p:cNvSpPr txBox="1"/>
          <p:nvPr/>
        </p:nvSpPr>
        <p:spPr>
          <a:xfrm>
            <a:off x="905256" y="4078224"/>
            <a:ext cx="2121408" cy="309067"/>
          </a:xfrm>
          <a:prstGeom prst="rect">
            <a:avLst/>
          </a:prstGeom>
          <a:noFill/>
          <a:ln/>
        </p:spPr>
        <p:txBody>
          <a:bodyPr wrap="square" lIns="0" tIns="0" rIns="0" bIns="0" rtlCol="0" anchor="ctr"/>
          <a:lstStyle/>
          <a:p>
            <a:pPr algn="ctr" indent="0" marL="0">
              <a:buNone/>
            </a:pPr>
            <a:r>
              <a:rPr lang="en-US" sz="500" b="1" dirty="0">
                <a:solidFill>
                  <a:srgbClr val="C4262E"/>
                </a:solidFill>
                <a:latin typeface="Arial" pitchFamily="34" charset="0"/>
                <a:ea typeface="Arial" pitchFamily="34" charset="-122"/>
                <a:cs typeface="Arial" pitchFamily="34" charset="-120"/>
              </a:rPr>
              <a:t>OPEN FORUM</a:t>
            </a:r>
            <a:endParaRPr lang="en-US" sz="500" dirty="0"/>
          </a:p>
        </p:txBody>
      </p:sp>
      <p:sp>
        <p:nvSpPr>
          <p:cNvPr id="146" name="Text 144"/>
          <p:cNvSpPr txBox="1"/>
          <p:nvPr/>
        </p:nvSpPr>
        <p:spPr>
          <a:xfrm>
            <a:off x="420624" y="4423867"/>
            <a:ext cx="411480" cy="382219"/>
          </a:xfrm>
          <a:prstGeom prst="rect">
            <a:avLst/>
          </a:prstGeom>
          <a:noFill/>
          <a:ln/>
        </p:spPr>
        <p:txBody>
          <a:bodyPr wrap="square" lIns="0" tIns="0" rIns="0" bIns="0" rtlCol="0" anchor="ctr"/>
          <a:lstStyle/>
          <a:p>
            <a:pPr indent="0" marL="0">
              <a:buNone/>
            </a:pPr>
            <a:r>
              <a:rPr lang="en-US" sz="500" b="1" dirty="0">
                <a:solidFill>
                  <a:srgbClr val="6B6B6B"/>
                </a:solidFill>
                <a:latin typeface="Arial" pitchFamily="34" charset="0"/>
                <a:ea typeface="Arial" pitchFamily="34" charset="-122"/>
                <a:cs typeface="Arial" pitchFamily="34" charset="-120"/>
              </a:rPr>
              <a:t>UPPER</a:t>
            </a:r>
            <a:endParaRPr lang="en-US" sz="500" dirty="0"/>
          </a:p>
        </p:txBody>
      </p:sp>
      <p:sp>
        <p:nvSpPr>
          <p:cNvPr id="147" name="Shape 145"/>
          <p:cNvSpPr/>
          <p:nvPr/>
        </p:nvSpPr>
        <p:spPr>
          <a:xfrm>
            <a:off x="905256" y="4460443"/>
            <a:ext cx="1033272" cy="309067"/>
          </a:xfrm>
          <a:prstGeom prst="roundRect">
            <a:avLst>
              <a:gd name="adj" fmla="val 11834"/>
            </a:avLst>
          </a:prstGeom>
          <a:solidFill>
            <a:srgbClr val="9A9A9A"/>
          </a:solidFill>
          <a:ln w="9525">
            <a:solidFill>
              <a:srgbClr val="9A9A9A"/>
            </a:solidFill>
            <a:prstDash val="solid"/>
          </a:ln>
        </p:spPr>
      </p:sp>
      <p:sp>
        <p:nvSpPr>
          <p:cNvPr id="148" name="Text 146"/>
          <p:cNvSpPr txBox="1"/>
          <p:nvPr/>
        </p:nvSpPr>
        <p:spPr>
          <a:xfrm>
            <a:off x="905256" y="4460443"/>
            <a:ext cx="1033272" cy="309067"/>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MEDIA + RECORDING</a:t>
            </a:r>
            <a:endParaRPr lang="en-US" sz="500" dirty="0"/>
          </a:p>
        </p:txBody>
      </p:sp>
      <p:sp>
        <p:nvSpPr>
          <p:cNvPr id="149" name="Shape 147"/>
          <p:cNvSpPr/>
          <p:nvPr/>
        </p:nvSpPr>
        <p:spPr>
          <a:xfrm>
            <a:off x="1993392" y="4460443"/>
            <a:ext cx="1033272" cy="309067"/>
          </a:xfrm>
          <a:prstGeom prst="roundRect">
            <a:avLst>
              <a:gd name="adj" fmla="val 11834"/>
            </a:avLst>
          </a:prstGeom>
          <a:solidFill>
            <a:srgbClr val="9A9A9A"/>
          </a:solidFill>
          <a:ln w="9525">
            <a:solidFill>
              <a:srgbClr val="9A9A9A"/>
            </a:solidFill>
            <a:prstDash val="solid"/>
          </a:ln>
        </p:spPr>
      </p:sp>
      <p:sp>
        <p:nvSpPr>
          <p:cNvPr id="150" name="Text 148"/>
          <p:cNvSpPr txBox="1"/>
          <p:nvPr/>
        </p:nvSpPr>
        <p:spPr>
          <a:xfrm>
            <a:off x="1993392" y="4460443"/>
            <a:ext cx="1033272" cy="309067"/>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EDITORIAL · PUBLISHING</a:t>
            </a:r>
            <a:endParaRPr lang="en-US" sz="500" dirty="0"/>
          </a:p>
        </p:txBody>
      </p:sp>
      <p:sp>
        <p:nvSpPr>
          <p:cNvPr id="151" name="Text 149"/>
          <p:cNvSpPr txBox="1"/>
          <p:nvPr/>
        </p:nvSpPr>
        <p:spPr>
          <a:xfrm>
            <a:off x="420624" y="4806086"/>
            <a:ext cx="411480" cy="382219"/>
          </a:xfrm>
          <a:prstGeom prst="rect">
            <a:avLst/>
          </a:prstGeom>
          <a:noFill/>
          <a:ln/>
        </p:spPr>
        <p:txBody>
          <a:bodyPr wrap="square" lIns="0" tIns="0" rIns="0" bIns="0" rtlCol="0" anchor="ctr"/>
          <a:lstStyle/>
          <a:p>
            <a:pPr indent="0" marL="0">
              <a:buNone/>
            </a:pPr>
            <a:r>
              <a:rPr lang="en-US" sz="500" b="1" dirty="0">
                <a:solidFill>
                  <a:srgbClr val="6B6B6B"/>
                </a:solidFill>
                <a:latin typeface="Arial" pitchFamily="34" charset="0"/>
                <a:ea typeface="Arial" pitchFamily="34" charset="-122"/>
                <a:cs typeface="Arial" pitchFamily="34" charset="-120"/>
              </a:rPr>
              <a:t>MIDDLE</a:t>
            </a:r>
            <a:endParaRPr lang="en-US" sz="500" dirty="0"/>
          </a:p>
        </p:txBody>
      </p:sp>
      <p:sp>
        <p:nvSpPr>
          <p:cNvPr id="152" name="Shape 150"/>
          <p:cNvSpPr/>
          <p:nvPr/>
        </p:nvSpPr>
        <p:spPr>
          <a:xfrm>
            <a:off x="905256" y="4842662"/>
            <a:ext cx="1033272" cy="309067"/>
          </a:xfrm>
          <a:prstGeom prst="roundRect">
            <a:avLst>
              <a:gd name="adj" fmla="val 11834"/>
            </a:avLst>
          </a:prstGeom>
          <a:solidFill>
            <a:srgbClr val="1B1B1B"/>
          </a:solidFill>
          <a:ln w="9525">
            <a:solidFill>
              <a:srgbClr val="1B1B1B"/>
            </a:solidFill>
            <a:prstDash val="solid"/>
          </a:ln>
        </p:spPr>
      </p:sp>
      <p:sp>
        <p:nvSpPr>
          <p:cNvPr id="153" name="Text 151"/>
          <p:cNvSpPr txBox="1"/>
          <p:nvPr/>
        </p:nvSpPr>
        <p:spPr>
          <a:xfrm>
            <a:off x="905256" y="4842662"/>
            <a:ext cx="1033272" cy="309067"/>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ARCHIVE</a:t>
            </a:r>
            <a:endParaRPr lang="en-US" sz="500" dirty="0"/>
          </a:p>
        </p:txBody>
      </p:sp>
      <p:sp>
        <p:nvSpPr>
          <p:cNvPr id="154" name="Shape 152"/>
          <p:cNvSpPr/>
          <p:nvPr/>
        </p:nvSpPr>
        <p:spPr>
          <a:xfrm>
            <a:off x="1993392" y="4842662"/>
            <a:ext cx="1033272" cy="309067"/>
          </a:xfrm>
          <a:prstGeom prst="roundRect">
            <a:avLst>
              <a:gd name="adj" fmla="val 11834"/>
            </a:avLst>
          </a:prstGeom>
          <a:solidFill>
            <a:srgbClr val="9A9A9A"/>
          </a:solidFill>
          <a:ln w="9525">
            <a:solidFill>
              <a:srgbClr val="9A9A9A"/>
            </a:solidFill>
            <a:prstDash val="solid"/>
          </a:ln>
        </p:spPr>
      </p:sp>
      <p:sp>
        <p:nvSpPr>
          <p:cNvPr id="155" name="Text 153"/>
          <p:cNvSpPr txBox="1"/>
          <p:nvPr/>
        </p:nvSpPr>
        <p:spPr>
          <a:xfrm>
            <a:off x="1993392" y="4842662"/>
            <a:ext cx="1033272" cy="309067"/>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RESEARCH STUDIOS</a:t>
            </a:r>
            <a:endParaRPr lang="en-US" sz="500" dirty="0"/>
          </a:p>
        </p:txBody>
      </p:sp>
      <p:sp>
        <p:nvSpPr>
          <p:cNvPr id="156" name="Text 154"/>
          <p:cNvSpPr txBox="1"/>
          <p:nvPr/>
        </p:nvSpPr>
        <p:spPr>
          <a:xfrm>
            <a:off x="420624" y="5188306"/>
            <a:ext cx="411480" cy="382219"/>
          </a:xfrm>
          <a:prstGeom prst="rect">
            <a:avLst/>
          </a:prstGeom>
          <a:noFill/>
          <a:ln/>
        </p:spPr>
        <p:txBody>
          <a:bodyPr wrap="square" lIns="0" tIns="0" rIns="0" bIns="0" rtlCol="0" anchor="ctr"/>
          <a:lstStyle/>
          <a:p>
            <a:pPr indent="0" marL="0">
              <a:buNone/>
            </a:pPr>
            <a:r>
              <a:rPr lang="en-US" sz="500" b="1" dirty="0">
                <a:solidFill>
                  <a:srgbClr val="6B6B6B"/>
                </a:solidFill>
                <a:latin typeface="Arial" pitchFamily="34" charset="0"/>
                <a:ea typeface="Arial" pitchFamily="34" charset="-122"/>
                <a:cs typeface="Arial" pitchFamily="34" charset="-120"/>
              </a:rPr>
              <a:t>LOWER</a:t>
            </a:r>
            <a:endParaRPr lang="en-US" sz="500" dirty="0"/>
          </a:p>
        </p:txBody>
      </p:sp>
      <p:sp>
        <p:nvSpPr>
          <p:cNvPr id="157" name="Shape 155"/>
          <p:cNvSpPr/>
          <p:nvPr/>
        </p:nvSpPr>
        <p:spPr>
          <a:xfrm>
            <a:off x="905256" y="5224882"/>
            <a:ext cx="1033272" cy="309067"/>
          </a:xfrm>
          <a:prstGeom prst="roundRect">
            <a:avLst>
              <a:gd name="adj" fmla="val 11834"/>
            </a:avLst>
          </a:prstGeom>
          <a:solidFill>
            <a:srgbClr val="F0B9BC"/>
          </a:solidFill>
          <a:ln w="9525">
            <a:solidFill>
              <a:srgbClr val="1B1B1B"/>
            </a:solidFill>
            <a:prstDash val="solid"/>
          </a:ln>
        </p:spPr>
      </p:sp>
      <p:sp>
        <p:nvSpPr>
          <p:cNvPr id="158" name="Text 156"/>
          <p:cNvSpPr txBox="1"/>
          <p:nvPr/>
        </p:nvSpPr>
        <p:spPr>
          <a:xfrm>
            <a:off x="905256" y="5224882"/>
            <a:ext cx="1033272" cy="309067"/>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LIBRARY + READING</a:t>
            </a:r>
            <a:endParaRPr lang="en-US" sz="500" dirty="0"/>
          </a:p>
        </p:txBody>
      </p:sp>
      <p:sp>
        <p:nvSpPr>
          <p:cNvPr id="159" name="Shape 157"/>
          <p:cNvSpPr/>
          <p:nvPr/>
        </p:nvSpPr>
        <p:spPr>
          <a:xfrm>
            <a:off x="1993392" y="5224882"/>
            <a:ext cx="1033272" cy="309067"/>
          </a:xfrm>
          <a:prstGeom prst="roundRect">
            <a:avLst>
              <a:gd name="adj" fmla="val 11834"/>
            </a:avLst>
          </a:prstGeom>
          <a:solidFill>
            <a:srgbClr val="F0B9BC"/>
          </a:solidFill>
          <a:ln w="9525">
            <a:solidFill>
              <a:srgbClr val="1B1B1B"/>
            </a:solidFill>
            <a:prstDash val="solid"/>
          </a:ln>
        </p:spPr>
      </p:sp>
      <p:sp>
        <p:nvSpPr>
          <p:cNvPr id="160" name="Text 158"/>
          <p:cNvSpPr txBox="1"/>
          <p:nvPr/>
        </p:nvSpPr>
        <p:spPr>
          <a:xfrm>
            <a:off x="1993392" y="5224882"/>
            <a:ext cx="1033272" cy="309067"/>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WORKSHOPS · EDUCATION</a:t>
            </a:r>
            <a:endParaRPr lang="en-US" sz="500" dirty="0"/>
          </a:p>
        </p:txBody>
      </p:sp>
      <p:sp>
        <p:nvSpPr>
          <p:cNvPr id="161" name="Text 159"/>
          <p:cNvSpPr txBox="1"/>
          <p:nvPr/>
        </p:nvSpPr>
        <p:spPr>
          <a:xfrm>
            <a:off x="420624" y="5570525"/>
            <a:ext cx="411480" cy="382219"/>
          </a:xfrm>
          <a:prstGeom prst="rect">
            <a:avLst/>
          </a:prstGeom>
          <a:noFill/>
          <a:ln/>
        </p:spPr>
        <p:txBody>
          <a:bodyPr wrap="square" lIns="0" tIns="0" rIns="0" bIns="0" rtlCol="0" anchor="ctr"/>
          <a:lstStyle/>
          <a:p>
            <a:pPr indent="0" marL="0">
              <a:buNone/>
            </a:pPr>
            <a:r>
              <a:rPr lang="en-US" sz="500" b="1" dirty="0">
                <a:solidFill>
                  <a:srgbClr val="6B6B6B"/>
                </a:solidFill>
                <a:latin typeface="Arial" pitchFamily="34" charset="0"/>
                <a:ea typeface="Arial" pitchFamily="34" charset="-122"/>
                <a:cs typeface="Arial" pitchFamily="34" charset="-120"/>
              </a:rPr>
              <a:t>EDGE</a:t>
            </a:r>
            <a:endParaRPr lang="en-US" sz="500" dirty="0"/>
          </a:p>
        </p:txBody>
      </p:sp>
      <p:sp>
        <p:nvSpPr>
          <p:cNvPr id="162" name="Shape 160"/>
          <p:cNvSpPr/>
          <p:nvPr/>
        </p:nvSpPr>
        <p:spPr>
          <a:xfrm>
            <a:off x="905256" y="5607101"/>
            <a:ext cx="670560" cy="309067"/>
          </a:xfrm>
          <a:prstGeom prst="roundRect">
            <a:avLst>
              <a:gd name="adj" fmla="val 11834"/>
            </a:avLst>
          </a:prstGeom>
          <a:solidFill>
            <a:srgbClr val="C4262E"/>
          </a:solidFill>
          <a:ln w="9525">
            <a:solidFill>
              <a:srgbClr val="C4262E"/>
            </a:solidFill>
            <a:prstDash val="solid"/>
          </a:ln>
        </p:spPr>
      </p:sp>
      <p:sp>
        <p:nvSpPr>
          <p:cNvPr id="163" name="Text 161"/>
          <p:cNvSpPr txBox="1"/>
          <p:nvPr/>
        </p:nvSpPr>
        <p:spPr>
          <a:xfrm>
            <a:off x="905256" y="5607101"/>
            <a:ext cx="670560" cy="309067"/>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FORUM · PRESS</a:t>
            </a:r>
            <a:endParaRPr lang="en-US" sz="500" dirty="0"/>
          </a:p>
        </p:txBody>
      </p:sp>
      <p:sp>
        <p:nvSpPr>
          <p:cNvPr id="164" name="Shape 162"/>
          <p:cNvSpPr/>
          <p:nvPr/>
        </p:nvSpPr>
        <p:spPr>
          <a:xfrm>
            <a:off x="1630680" y="5607101"/>
            <a:ext cx="670560" cy="309067"/>
          </a:xfrm>
          <a:prstGeom prst="roundRect">
            <a:avLst>
              <a:gd name="adj" fmla="val 11834"/>
            </a:avLst>
          </a:prstGeom>
          <a:solidFill>
            <a:srgbClr val="C4262E"/>
          </a:solidFill>
          <a:ln w="9525">
            <a:solidFill>
              <a:srgbClr val="C4262E"/>
            </a:solidFill>
            <a:prstDash val="solid"/>
          </a:ln>
        </p:spPr>
      </p:sp>
      <p:sp>
        <p:nvSpPr>
          <p:cNvPr id="165" name="Text 163"/>
          <p:cNvSpPr txBox="1"/>
          <p:nvPr/>
        </p:nvSpPr>
        <p:spPr>
          <a:xfrm>
            <a:off x="1630680" y="5607101"/>
            <a:ext cx="670560" cy="309067"/>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EXHIBITION · AUDITORIUM</a:t>
            </a:r>
            <a:endParaRPr lang="en-US" sz="500" dirty="0"/>
          </a:p>
        </p:txBody>
      </p:sp>
      <p:sp>
        <p:nvSpPr>
          <p:cNvPr id="166" name="Shape 164"/>
          <p:cNvSpPr/>
          <p:nvPr/>
        </p:nvSpPr>
        <p:spPr>
          <a:xfrm>
            <a:off x="2356104" y="5607101"/>
            <a:ext cx="670560" cy="309067"/>
          </a:xfrm>
          <a:prstGeom prst="roundRect">
            <a:avLst>
              <a:gd name="adj" fmla="val 11834"/>
            </a:avLst>
          </a:prstGeom>
          <a:solidFill>
            <a:srgbClr val="9A9A9A"/>
          </a:solidFill>
          <a:ln w="9525">
            <a:solidFill>
              <a:srgbClr val="9A9A9A"/>
            </a:solidFill>
            <a:prstDash val="solid"/>
          </a:ln>
        </p:spPr>
      </p:sp>
      <p:sp>
        <p:nvSpPr>
          <p:cNvPr id="167" name="Text 165"/>
          <p:cNvSpPr txBox="1"/>
          <p:nvPr/>
        </p:nvSpPr>
        <p:spPr>
          <a:xfrm>
            <a:off x="2356104" y="5607101"/>
            <a:ext cx="670560" cy="309067"/>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PRINT · DISPATCH</a:t>
            </a:r>
            <a:endParaRPr lang="en-US" sz="500" dirty="0"/>
          </a:p>
        </p:txBody>
      </p:sp>
      <p:sp>
        <p:nvSpPr>
          <p:cNvPr id="168" name="Shape 166"/>
          <p:cNvSpPr/>
          <p:nvPr/>
        </p:nvSpPr>
        <p:spPr>
          <a:xfrm>
            <a:off x="3076956" y="4087368"/>
            <a:ext cx="9144" cy="1865376"/>
          </a:xfrm>
          <a:custGeom>
            <a:avLst/>
            <a:gdLst/>
            <a:ahLst/>
            <a:cxnLst/>
            <a:rect l="l" t="t" r="r" b="b"/>
            <a:pathLst>
              <a:path w="9144" h="1865376">
                <a:moveTo>
                  <a:pt x="4572" y="1865376"/>
                </a:moveTo>
                <a:lnTo>
                  <a:pt x="4572" y="0"/>
                </a:lnTo>
              </a:path>
            </a:pathLst>
          </a:custGeom>
          <a:ln w="15875">
            <a:solidFill>
              <a:srgbClr val="C4262E"/>
            </a:solidFill>
            <a:prstDash val="solid"/>
            <a:tailEnd type="triangle"/>
          </a:ln>
        </p:spPr>
      </p:sp>
      <p:sp>
        <p:nvSpPr>
          <p:cNvPr id="169" name="Shape 167"/>
          <p:cNvSpPr/>
          <p:nvPr/>
        </p:nvSpPr>
        <p:spPr>
          <a:xfrm>
            <a:off x="3227832" y="3794760"/>
            <a:ext cx="2788920" cy="2514600"/>
          </a:xfrm>
          <a:prstGeom prst="rect">
            <a:avLst/>
          </a:prstGeom>
          <a:solidFill>
            <a:srgbClr val="FFFFFF"/>
          </a:solidFill>
          <a:ln w="6350">
            <a:solidFill>
              <a:srgbClr val="D9D9D9"/>
            </a:solidFill>
            <a:prstDash val="solid"/>
          </a:ln>
        </p:spPr>
      </p:sp>
      <p:sp>
        <p:nvSpPr>
          <p:cNvPr id="170" name="Text 168"/>
          <p:cNvSpPr txBox="1"/>
          <p:nvPr/>
        </p:nvSpPr>
        <p:spPr>
          <a:xfrm>
            <a:off x="3300984" y="3849624"/>
            <a:ext cx="264261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06  </a:t>
            </a:r>
            <a:pPr indent="0" marL="0">
              <a:buNone/>
            </a:pPr>
            <a:r>
              <a:rPr lang="en-US" sz="750" b="1" spc="50" kern="0" dirty="0">
                <a:solidFill>
                  <a:srgbClr val="1B1B1B"/>
                </a:solidFill>
                <a:latin typeface="Arial" pitchFamily="34" charset="0"/>
                <a:ea typeface="Arial" pitchFamily="34" charset="-122"/>
                <a:cs typeface="Arial" pitchFamily="34" charset="-120"/>
              </a:rPr>
              <a:t>MASSING</a:t>
            </a:r>
            <a:endParaRPr lang="en-US" sz="750" dirty="0"/>
          </a:p>
        </p:txBody>
      </p:sp>
      <p:sp>
        <p:nvSpPr>
          <p:cNvPr id="171" name="Text 169"/>
          <p:cNvSpPr txBox="1"/>
          <p:nvPr/>
        </p:nvSpPr>
        <p:spPr>
          <a:xfrm>
            <a:off x="3300984" y="5998464"/>
            <a:ext cx="2642616" cy="274320"/>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Low bars, 1–2 floors, stepping with the slope; summit unbuilt.</a:t>
            </a:r>
            <a:endParaRPr lang="en-US" sz="650" dirty="0"/>
          </a:p>
        </p:txBody>
      </p:sp>
      <p:sp>
        <p:nvSpPr>
          <p:cNvPr id="172" name="Shape 170"/>
          <p:cNvSpPr/>
          <p:nvPr/>
        </p:nvSpPr>
        <p:spPr>
          <a:xfrm>
            <a:off x="3282696" y="5020197"/>
            <a:ext cx="2679192" cy="978267"/>
          </a:xfrm>
          <a:custGeom>
            <a:avLst/>
            <a:gdLst/>
            <a:ahLst/>
            <a:cxnLst/>
            <a:rect l="l" t="t" r="r" b="b"/>
            <a:pathLst>
              <a:path w="2679192" h="978267">
                <a:moveTo>
                  <a:pt x="0" y="665177"/>
                </a:moveTo>
                <a:lnTo>
                  <a:pt x="44653" y="665177"/>
                </a:lnTo>
                <a:lnTo>
                  <a:pt x="89306" y="665177"/>
                </a:lnTo>
                <a:lnTo>
                  <a:pt x="133960" y="665177"/>
                </a:lnTo>
                <a:lnTo>
                  <a:pt x="178613" y="665177"/>
                </a:lnTo>
                <a:lnTo>
                  <a:pt x="223266" y="665177"/>
                </a:lnTo>
                <a:lnTo>
                  <a:pt x="267919" y="665177"/>
                </a:lnTo>
                <a:lnTo>
                  <a:pt x="312572" y="664614"/>
                </a:lnTo>
                <a:lnTo>
                  <a:pt x="357226" y="658304"/>
                </a:lnTo>
                <a:lnTo>
                  <a:pt x="401879" y="645115"/>
                </a:lnTo>
                <a:lnTo>
                  <a:pt x="446532" y="625325"/>
                </a:lnTo>
                <a:lnTo>
                  <a:pt x="491185" y="599351"/>
                </a:lnTo>
                <a:lnTo>
                  <a:pt x="535838" y="567743"/>
                </a:lnTo>
                <a:lnTo>
                  <a:pt x="580492" y="531168"/>
                </a:lnTo>
                <a:lnTo>
                  <a:pt x="625145" y="490398"/>
                </a:lnTo>
                <a:lnTo>
                  <a:pt x="669798" y="446294"/>
                </a:lnTo>
                <a:lnTo>
                  <a:pt x="714451" y="399787"/>
                </a:lnTo>
                <a:lnTo>
                  <a:pt x="759104" y="351860"/>
                </a:lnTo>
                <a:lnTo>
                  <a:pt x="803758" y="303525"/>
                </a:lnTo>
                <a:lnTo>
                  <a:pt x="848411" y="255802"/>
                </a:lnTo>
                <a:lnTo>
                  <a:pt x="893064" y="209698"/>
                </a:lnTo>
                <a:lnTo>
                  <a:pt x="937717" y="166189"/>
                </a:lnTo>
                <a:lnTo>
                  <a:pt x="982370" y="126191"/>
                </a:lnTo>
                <a:lnTo>
                  <a:pt x="1027024" y="90551"/>
                </a:lnTo>
                <a:lnTo>
                  <a:pt x="1071677" y="60020"/>
                </a:lnTo>
                <a:lnTo>
                  <a:pt x="1116330" y="35243"/>
                </a:lnTo>
                <a:lnTo>
                  <a:pt x="1160983" y="16744"/>
                </a:lnTo>
                <a:lnTo>
                  <a:pt x="1205636" y="4913"/>
                </a:lnTo>
                <a:lnTo>
                  <a:pt x="1250290" y="0"/>
                </a:lnTo>
                <a:lnTo>
                  <a:pt x="1294943" y="2109"/>
                </a:lnTo>
                <a:lnTo>
                  <a:pt x="1339596" y="11194"/>
                </a:lnTo>
                <a:lnTo>
                  <a:pt x="1384249" y="27065"/>
                </a:lnTo>
                <a:lnTo>
                  <a:pt x="1428902" y="49387"/>
                </a:lnTo>
                <a:lnTo>
                  <a:pt x="1473556" y="77687"/>
                </a:lnTo>
                <a:lnTo>
                  <a:pt x="1518209" y="111368"/>
                </a:lnTo>
                <a:lnTo>
                  <a:pt x="1562862" y="149719"/>
                </a:lnTo>
                <a:lnTo>
                  <a:pt x="1607515" y="191930"/>
                </a:lnTo>
                <a:lnTo>
                  <a:pt x="1652168" y="237110"/>
                </a:lnTo>
                <a:lnTo>
                  <a:pt x="1696822" y="284305"/>
                </a:lnTo>
                <a:lnTo>
                  <a:pt x="1741475" y="332518"/>
                </a:lnTo>
                <a:lnTo>
                  <a:pt x="1786128" y="380731"/>
                </a:lnTo>
                <a:lnTo>
                  <a:pt x="1830781" y="427926"/>
                </a:lnTo>
                <a:lnTo>
                  <a:pt x="1875434" y="473106"/>
                </a:lnTo>
                <a:lnTo>
                  <a:pt x="1920088" y="515317"/>
                </a:lnTo>
                <a:lnTo>
                  <a:pt x="1964741" y="553668"/>
                </a:lnTo>
                <a:lnTo>
                  <a:pt x="2009394" y="587349"/>
                </a:lnTo>
                <a:lnTo>
                  <a:pt x="2054047" y="615649"/>
                </a:lnTo>
                <a:lnTo>
                  <a:pt x="2098700" y="637971"/>
                </a:lnTo>
                <a:lnTo>
                  <a:pt x="2143354" y="653842"/>
                </a:lnTo>
                <a:lnTo>
                  <a:pt x="2188007" y="662927"/>
                </a:lnTo>
                <a:lnTo>
                  <a:pt x="2232660" y="665177"/>
                </a:lnTo>
                <a:lnTo>
                  <a:pt x="2277313" y="665177"/>
                </a:lnTo>
                <a:lnTo>
                  <a:pt x="2321966" y="665177"/>
                </a:lnTo>
                <a:lnTo>
                  <a:pt x="2366620" y="665177"/>
                </a:lnTo>
                <a:lnTo>
                  <a:pt x="2411273" y="665177"/>
                </a:lnTo>
                <a:lnTo>
                  <a:pt x="2455926" y="665177"/>
                </a:lnTo>
                <a:lnTo>
                  <a:pt x="2500579" y="665177"/>
                </a:lnTo>
                <a:lnTo>
                  <a:pt x="2545232" y="665177"/>
                </a:lnTo>
                <a:lnTo>
                  <a:pt x="2589886" y="665177"/>
                </a:lnTo>
                <a:lnTo>
                  <a:pt x="2634539" y="665177"/>
                </a:lnTo>
                <a:lnTo>
                  <a:pt x="2679192" y="665177"/>
                </a:lnTo>
                <a:lnTo>
                  <a:pt x="2679192" y="978267"/>
                </a:lnTo>
                <a:lnTo>
                  <a:pt x="0" y="978267"/>
                </a:lnTo>
                <a:close/>
              </a:path>
            </a:pathLst>
          </a:custGeom>
          <a:solidFill>
            <a:srgbClr val="E3ECDC"/>
          </a:solidFill>
          <a:ln w="12700"/>
        </p:spPr>
      </p:sp>
      <p:sp>
        <p:nvSpPr>
          <p:cNvPr id="173" name="Shape 171"/>
          <p:cNvSpPr/>
          <p:nvPr/>
        </p:nvSpPr>
        <p:spPr>
          <a:xfrm>
            <a:off x="3282696" y="5020197"/>
            <a:ext cx="2679192" cy="665177"/>
          </a:xfrm>
          <a:custGeom>
            <a:avLst/>
            <a:gdLst/>
            <a:ahLst/>
            <a:cxnLst/>
            <a:rect l="l" t="t" r="r" b="b"/>
            <a:pathLst>
              <a:path w="2679192" h="665177">
                <a:moveTo>
                  <a:pt x="0" y="665177"/>
                </a:moveTo>
                <a:lnTo>
                  <a:pt x="44653" y="665177"/>
                </a:lnTo>
                <a:lnTo>
                  <a:pt x="89306" y="665177"/>
                </a:lnTo>
                <a:lnTo>
                  <a:pt x="133960" y="665177"/>
                </a:lnTo>
                <a:lnTo>
                  <a:pt x="178613" y="665177"/>
                </a:lnTo>
                <a:lnTo>
                  <a:pt x="223266" y="665177"/>
                </a:lnTo>
                <a:lnTo>
                  <a:pt x="267919" y="665177"/>
                </a:lnTo>
                <a:lnTo>
                  <a:pt x="312572" y="664614"/>
                </a:lnTo>
                <a:lnTo>
                  <a:pt x="357226" y="658304"/>
                </a:lnTo>
                <a:lnTo>
                  <a:pt x="401879" y="645115"/>
                </a:lnTo>
                <a:lnTo>
                  <a:pt x="446532" y="625325"/>
                </a:lnTo>
                <a:lnTo>
                  <a:pt x="491185" y="599351"/>
                </a:lnTo>
                <a:lnTo>
                  <a:pt x="535838" y="567743"/>
                </a:lnTo>
                <a:lnTo>
                  <a:pt x="580492" y="531168"/>
                </a:lnTo>
                <a:lnTo>
                  <a:pt x="625145" y="490398"/>
                </a:lnTo>
                <a:lnTo>
                  <a:pt x="669798" y="446294"/>
                </a:lnTo>
                <a:lnTo>
                  <a:pt x="714451" y="399787"/>
                </a:lnTo>
                <a:lnTo>
                  <a:pt x="759104" y="351860"/>
                </a:lnTo>
                <a:lnTo>
                  <a:pt x="803758" y="303525"/>
                </a:lnTo>
                <a:lnTo>
                  <a:pt x="848411" y="255802"/>
                </a:lnTo>
                <a:lnTo>
                  <a:pt x="893064" y="209698"/>
                </a:lnTo>
                <a:lnTo>
                  <a:pt x="937717" y="166189"/>
                </a:lnTo>
                <a:lnTo>
                  <a:pt x="982370" y="126191"/>
                </a:lnTo>
                <a:lnTo>
                  <a:pt x="1027024" y="90551"/>
                </a:lnTo>
                <a:lnTo>
                  <a:pt x="1071677" y="60020"/>
                </a:lnTo>
                <a:lnTo>
                  <a:pt x="1116330" y="35243"/>
                </a:lnTo>
                <a:lnTo>
                  <a:pt x="1160983" y="16744"/>
                </a:lnTo>
                <a:lnTo>
                  <a:pt x="1205636" y="4913"/>
                </a:lnTo>
                <a:lnTo>
                  <a:pt x="1250290" y="0"/>
                </a:lnTo>
                <a:lnTo>
                  <a:pt x="1294943" y="2109"/>
                </a:lnTo>
                <a:lnTo>
                  <a:pt x="1339596" y="11194"/>
                </a:lnTo>
                <a:lnTo>
                  <a:pt x="1384249" y="27065"/>
                </a:lnTo>
                <a:lnTo>
                  <a:pt x="1428902" y="49387"/>
                </a:lnTo>
                <a:lnTo>
                  <a:pt x="1473556" y="77687"/>
                </a:lnTo>
                <a:lnTo>
                  <a:pt x="1518209" y="111368"/>
                </a:lnTo>
                <a:lnTo>
                  <a:pt x="1562862" y="149719"/>
                </a:lnTo>
                <a:lnTo>
                  <a:pt x="1607515" y="191930"/>
                </a:lnTo>
                <a:lnTo>
                  <a:pt x="1652168" y="237110"/>
                </a:lnTo>
                <a:lnTo>
                  <a:pt x="1696822" y="284305"/>
                </a:lnTo>
                <a:lnTo>
                  <a:pt x="1741475" y="332518"/>
                </a:lnTo>
                <a:lnTo>
                  <a:pt x="1786128" y="380731"/>
                </a:lnTo>
                <a:lnTo>
                  <a:pt x="1830781" y="427926"/>
                </a:lnTo>
                <a:lnTo>
                  <a:pt x="1875434" y="473106"/>
                </a:lnTo>
                <a:lnTo>
                  <a:pt x="1920088" y="515317"/>
                </a:lnTo>
                <a:lnTo>
                  <a:pt x="1964741" y="553668"/>
                </a:lnTo>
                <a:lnTo>
                  <a:pt x="2009394" y="587349"/>
                </a:lnTo>
                <a:lnTo>
                  <a:pt x="2054047" y="615649"/>
                </a:lnTo>
                <a:lnTo>
                  <a:pt x="2098700" y="637971"/>
                </a:lnTo>
                <a:lnTo>
                  <a:pt x="2143354" y="653842"/>
                </a:lnTo>
                <a:lnTo>
                  <a:pt x="2188007" y="662927"/>
                </a:lnTo>
                <a:lnTo>
                  <a:pt x="2232660" y="665177"/>
                </a:lnTo>
                <a:lnTo>
                  <a:pt x="2277313" y="665177"/>
                </a:lnTo>
                <a:lnTo>
                  <a:pt x="2321966" y="665177"/>
                </a:lnTo>
                <a:lnTo>
                  <a:pt x="2366620" y="665177"/>
                </a:lnTo>
                <a:lnTo>
                  <a:pt x="2411273" y="665177"/>
                </a:lnTo>
                <a:lnTo>
                  <a:pt x="2455926" y="665177"/>
                </a:lnTo>
                <a:lnTo>
                  <a:pt x="2500579" y="665177"/>
                </a:lnTo>
                <a:lnTo>
                  <a:pt x="2545232" y="665177"/>
                </a:lnTo>
                <a:lnTo>
                  <a:pt x="2589886" y="665177"/>
                </a:lnTo>
                <a:lnTo>
                  <a:pt x="2634539" y="665177"/>
                </a:lnTo>
                <a:lnTo>
                  <a:pt x="2679192" y="665177"/>
                </a:lnTo>
              </a:path>
            </a:pathLst>
          </a:custGeom>
          <a:ln w="15875">
            <a:solidFill>
              <a:srgbClr val="1B1B1B"/>
            </a:solidFill>
            <a:prstDash val="solid"/>
          </a:ln>
        </p:spPr>
      </p:sp>
      <p:sp>
        <p:nvSpPr>
          <p:cNvPr id="174" name="Text 172"/>
          <p:cNvSpPr txBox="1"/>
          <p:nvPr/>
        </p:nvSpPr>
        <p:spPr>
          <a:xfrm>
            <a:off x="3214848" y="5694517"/>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75" name="Text 173"/>
          <p:cNvSpPr txBox="1"/>
          <p:nvPr/>
        </p:nvSpPr>
        <p:spPr>
          <a:xfrm>
            <a:off x="5572536" y="5694517"/>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76" name="Shape 174"/>
          <p:cNvSpPr/>
          <p:nvPr/>
        </p:nvSpPr>
        <p:spPr>
          <a:xfrm>
            <a:off x="3569370" y="5471304"/>
            <a:ext cx="176827" cy="146761"/>
          </a:xfrm>
          <a:prstGeom prst="rect">
            <a:avLst/>
          </a:prstGeom>
          <a:solidFill>
            <a:srgbClr val="1B1B1B"/>
          </a:solidFill>
          <a:ln/>
        </p:spPr>
      </p:sp>
      <p:sp>
        <p:nvSpPr>
          <p:cNvPr id="177" name="Shape 175"/>
          <p:cNvSpPr/>
          <p:nvPr/>
        </p:nvSpPr>
        <p:spPr>
          <a:xfrm>
            <a:off x="3905340" y="5083461"/>
            <a:ext cx="114937" cy="293522"/>
          </a:xfrm>
          <a:prstGeom prst="rect">
            <a:avLst/>
          </a:prstGeom>
          <a:solidFill>
            <a:srgbClr val="1B1B1B"/>
          </a:solidFill>
          <a:ln/>
        </p:spPr>
      </p:sp>
      <p:sp>
        <p:nvSpPr>
          <p:cNvPr id="178" name="Shape 176"/>
          <p:cNvSpPr/>
          <p:nvPr/>
        </p:nvSpPr>
        <p:spPr>
          <a:xfrm>
            <a:off x="3918009" y="5376984"/>
            <a:ext cx="9144" cy="119376"/>
          </a:xfrm>
          <a:custGeom>
            <a:avLst/>
            <a:gdLst/>
            <a:ahLst/>
            <a:cxnLst/>
            <a:rect l="l" t="t" r="r" b="b"/>
            <a:pathLst>
              <a:path w="9144" h="119376">
                <a:moveTo>
                  <a:pt x="4572" y="0"/>
                </a:moveTo>
                <a:lnTo>
                  <a:pt x="4572" y="119376"/>
                </a:lnTo>
              </a:path>
            </a:pathLst>
          </a:custGeom>
          <a:ln w="9525">
            <a:solidFill>
              <a:srgbClr val="1B1B1B"/>
            </a:solidFill>
            <a:prstDash val="solid"/>
          </a:ln>
        </p:spPr>
      </p:sp>
      <p:sp>
        <p:nvSpPr>
          <p:cNvPr id="179" name="Shape 177"/>
          <p:cNvSpPr/>
          <p:nvPr/>
        </p:nvSpPr>
        <p:spPr>
          <a:xfrm>
            <a:off x="3958237" y="5376984"/>
            <a:ext cx="9144" cy="78942"/>
          </a:xfrm>
          <a:custGeom>
            <a:avLst/>
            <a:gdLst/>
            <a:ahLst/>
            <a:cxnLst/>
            <a:rect l="l" t="t" r="r" b="b"/>
            <a:pathLst>
              <a:path w="9144" h="78942">
                <a:moveTo>
                  <a:pt x="4572" y="0"/>
                </a:moveTo>
                <a:lnTo>
                  <a:pt x="4572" y="78942"/>
                </a:lnTo>
              </a:path>
            </a:pathLst>
          </a:custGeom>
          <a:ln w="9525">
            <a:solidFill>
              <a:srgbClr val="1B1B1B"/>
            </a:solidFill>
            <a:prstDash val="solid"/>
          </a:ln>
        </p:spPr>
      </p:sp>
      <p:sp>
        <p:nvSpPr>
          <p:cNvPr id="180" name="Shape 178"/>
          <p:cNvSpPr/>
          <p:nvPr/>
        </p:nvSpPr>
        <p:spPr>
          <a:xfrm>
            <a:off x="3998465" y="5376984"/>
            <a:ext cx="9144" cy="36738"/>
          </a:xfrm>
          <a:custGeom>
            <a:avLst/>
            <a:gdLst/>
            <a:ahLst/>
            <a:cxnLst/>
            <a:rect l="l" t="t" r="r" b="b"/>
            <a:pathLst>
              <a:path w="9144" h="36738">
                <a:moveTo>
                  <a:pt x="4572" y="0"/>
                </a:moveTo>
                <a:lnTo>
                  <a:pt x="4572" y="36738"/>
                </a:lnTo>
              </a:path>
            </a:pathLst>
          </a:custGeom>
          <a:ln w="9525">
            <a:solidFill>
              <a:srgbClr val="1B1B1B"/>
            </a:solidFill>
            <a:prstDash val="solid"/>
          </a:ln>
        </p:spPr>
      </p:sp>
      <p:sp>
        <p:nvSpPr>
          <p:cNvPr id="181" name="Shape 179"/>
          <p:cNvSpPr/>
          <p:nvPr/>
        </p:nvSpPr>
        <p:spPr>
          <a:xfrm>
            <a:off x="4099850" y="4888331"/>
            <a:ext cx="106096" cy="293522"/>
          </a:xfrm>
          <a:prstGeom prst="rect">
            <a:avLst/>
          </a:prstGeom>
          <a:solidFill>
            <a:srgbClr val="1B1B1B"/>
          </a:solidFill>
          <a:ln/>
        </p:spPr>
      </p:sp>
      <p:sp>
        <p:nvSpPr>
          <p:cNvPr id="182" name="Shape 180"/>
          <p:cNvSpPr/>
          <p:nvPr/>
        </p:nvSpPr>
        <p:spPr>
          <a:xfrm>
            <a:off x="4111192" y="5181853"/>
            <a:ext cx="9144" cy="110411"/>
          </a:xfrm>
          <a:custGeom>
            <a:avLst/>
            <a:gdLst/>
            <a:ahLst/>
            <a:cxnLst/>
            <a:rect l="l" t="t" r="r" b="b"/>
            <a:pathLst>
              <a:path w="9144" h="110411">
                <a:moveTo>
                  <a:pt x="4572" y="0"/>
                </a:moveTo>
                <a:lnTo>
                  <a:pt x="4572" y="110411"/>
                </a:lnTo>
              </a:path>
            </a:pathLst>
          </a:custGeom>
          <a:ln w="9525">
            <a:solidFill>
              <a:srgbClr val="1B1B1B"/>
            </a:solidFill>
            <a:prstDash val="solid"/>
          </a:ln>
        </p:spPr>
      </p:sp>
      <p:sp>
        <p:nvSpPr>
          <p:cNvPr id="183" name="Shape 181"/>
          <p:cNvSpPr/>
          <p:nvPr/>
        </p:nvSpPr>
        <p:spPr>
          <a:xfrm>
            <a:off x="4148326" y="5181853"/>
            <a:ext cx="9144" cy="71383"/>
          </a:xfrm>
          <a:custGeom>
            <a:avLst/>
            <a:gdLst/>
            <a:ahLst/>
            <a:cxnLst/>
            <a:rect l="l" t="t" r="r" b="b"/>
            <a:pathLst>
              <a:path w="9144" h="71383">
                <a:moveTo>
                  <a:pt x="4572" y="0"/>
                </a:moveTo>
                <a:lnTo>
                  <a:pt x="4572" y="71383"/>
                </a:lnTo>
              </a:path>
            </a:pathLst>
          </a:custGeom>
          <a:ln w="9525">
            <a:solidFill>
              <a:srgbClr val="1B1B1B"/>
            </a:solidFill>
            <a:prstDash val="solid"/>
          </a:ln>
        </p:spPr>
      </p:sp>
      <p:sp>
        <p:nvSpPr>
          <p:cNvPr id="184" name="Shape 182"/>
          <p:cNvSpPr/>
          <p:nvPr/>
        </p:nvSpPr>
        <p:spPr>
          <a:xfrm>
            <a:off x="4185459" y="5181853"/>
            <a:ext cx="9144" cy="33809"/>
          </a:xfrm>
          <a:custGeom>
            <a:avLst/>
            <a:gdLst/>
            <a:ahLst/>
            <a:cxnLst/>
            <a:rect l="l" t="t" r="r" b="b"/>
            <a:pathLst>
              <a:path w="9144" h="33809">
                <a:moveTo>
                  <a:pt x="4572" y="0"/>
                </a:moveTo>
                <a:lnTo>
                  <a:pt x="4572" y="33809"/>
                </a:lnTo>
              </a:path>
            </a:pathLst>
          </a:custGeom>
          <a:ln w="9525">
            <a:solidFill>
              <a:srgbClr val="1B1B1B"/>
            </a:solidFill>
            <a:prstDash val="solid"/>
          </a:ln>
        </p:spPr>
      </p:sp>
      <p:sp>
        <p:nvSpPr>
          <p:cNvPr id="185" name="Shape 183"/>
          <p:cNvSpPr/>
          <p:nvPr/>
        </p:nvSpPr>
        <p:spPr>
          <a:xfrm>
            <a:off x="4276676" y="4756812"/>
            <a:ext cx="97255" cy="293522"/>
          </a:xfrm>
          <a:prstGeom prst="rect">
            <a:avLst/>
          </a:prstGeom>
          <a:solidFill>
            <a:srgbClr val="1B1B1B"/>
          </a:solidFill>
          <a:ln/>
        </p:spPr>
      </p:sp>
      <p:sp>
        <p:nvSpPr>
          <p:cNvPr id="186" name="Shape 184"/>
          <p:cNvSpPr/>
          <p:nvPr/>
        </p:nvSpPr>
        <p:spPr>
          <a:xfrm>
            <a:off x="4286692" y="5050334"/>
            <a:ext cx="9144" cy="74564"/>
          </a:xfrm>
          <a:custGeom>
            <a:avLst/>
            <a:gdLst/>
            <a:ahLst/>
            <a:cxnLst/>
            <a:rect l="l" t="t" r="r" b="b"/>
            <a:pathLst>
              <a:path w="9144" h="74564">
                <a:moveTo>
                  <a:pt x="4572" y="0"/>
                </a:moveTo>
                <a:lnTo>
                  <a:pt x="4572" y="74564"/>
                </a:lnTo>
              </a:path>
            </a:pathLst>
          </a:custGeom>
          <a:ln w="9525">
            <a:solidFill>
              <a:srgbClr val="1B1B1B"/>
            </a:solidFill>
            <a:prstDash val="solid"/>
          </a:ln>
        </p:spPr>
      </p:sp>
      <p:sp>
        <p:nvSpPr>
          <p:cNvPr id="187" name="Shape 185"/>
          <p:cNvSpPr/>
          <p:nvPr/>
        </p:nvSpPr>
        <p:spPr>
          <a:xfrm>
            <a:off x="4320732" y="5050334"/>
            <a:ext cx="9144" cy="49142"/>
          </a:xfrm>
          <a:custGeom>
            <a:avLst/>
            <a:gdLst/>
            <a:ahLst/>
            <a:cxnLst/>
            <a:rect l="l" t="t" r="r" b="b"/>
            <a:pathLst>
              <a:path w="9144" h="49142">
                <a:moveTo>
                  <a:pt x="4572" y="0"/>
                </a:moveTo>
                <a:lnTo>
                  <a:pt x="4572" y="49142"/>
                </a:lnTo>
              </a:path>
            </a:pathLst>
          </a:custGeom>
          <a:ln w="9525">
            <a:solidFill>
              <a:srgbClr val="1B1B1B"/>
            </a:solidFill>
            <a:prstDash val="solid"/>
          </a:ln>
        </p:spPr>
      </p:sp>
      <p:sp>
        <p:nvSpPr>
          <p:cNvPr id="188" name="Shape 186"/>
          <p:cNvSpPr/>
          <p:nvPr/>
        </p:nvSpPr>
        <p:spPr>
          <a:xfrm>
            <a:off x="4354771" y="5050334"/>
            <a:ext cx="9144" cy="26829"/>
          </a:xfrm>
          <a:custGeom>
            <a:avLst/>
            <a:gdLst/>
            <a:ahLst/>
            <a:cxnLst/>
            <a:rect l="l" t="t" r="r" b="b"/>
            <a:pathLst>
              <a:path w="9144" h="26829">
                <a:moveTo>
                  <a:pt x="4572" y="0"/>
                </a:moveTo>
                <a:lnTo>
                  <a:pt x="4572" y="26829"/>
                </a:lnTo>
              </a:path>
            </a:pathLst>
          </a:custGeom>
          <a:ln w="9525">
            <a:solidFill>
              <a:srgbClr val="1B1B1B"/>
            </a:solidFill>
            <a:prstDash val="solid"/>
          </a:ln>
        </p:spPr>
      </p:sp>
      <p:sp>
        <p:nvSpPr>
          <p:cNvPr id="189" name="Shape 187"/>
          <p:cNvSpPr/>
          <p:nvPr/>
        </p:nvSpPr>
        <p:spPr>
          <a:xfrm>
            <a:off x="5516070" y="5502036"/>
            <a:ext cx="176827" cy="146761"/>
          </a:xfrm>
          <a:prstGeom prst="rect">
            <a:avLst/>
          </a:prstGeom>
          <a:solidFill>
            <a:srgbClr val="1B1B1B"/>
          </a:solidFill>
          <a:ln/>
        </p:spPr>
      </p:sp>
      <p:sp>
        <p:nvSpPr>
          <p:cNvPr id="190" name="Shape 188"/>
          <p:cNvSpPr/>
          <p:nvPr/>
        </p:nvSpPr>
        <p:spPr>
          <a:xfrm>
            <a:off x="4435820" y="4997196"/>
            <a:ext cx="212192" cy="9144"/>
          </a:xfrm>
          <a:custGeom>
            <a:avLst/>
            <a:gdLst/>
            <a:ahLst/>
            <a:cxnLst/>
            <a:rect l="l" t="t" r="r" b="b"/>
            <a:pathLst>
              <a:path w="212192" h="9144">
                <a:moveTo>
                  <a:pt x="0" y="4572"/>
                </a:moveTo>
                <a:lnTo>
                  <a:pt x="212192" y="4572"/>
                </a:lnTo>
              </a:path>
            </a:pathLst>
          </a:custGeom>
          <a:ln w="38100">
            <a:solidFill>
              <a:srgbClr val="C4262E"/>
            </a:solidFill>
            <a:prstDash val="solid"/>
          </a:ln>
        </p:spPr>
      </p:sp>
      <p:sp>
        <p:nvSpPr>
          <p:cNvPr id="191" name="Shape 189"/>
          <p:cNvSpPr/>
          <p:nvPr/>
        </p:nvSpPr>
        <p:spPr>
          <a:xfrm>
            <a:off x="4453503" y="4824694"/>
            <a:ext cx="176827" cy="9144"/>
          </a:xfrm>
          <a:custGeom>
            <a:avLst/>
            <a:gdLst/>
            <a:ahLst/>
            <a:cxnLst/>
            <a:rect l="l" t="t" r="r" b="b"/>
            <a:pathLst>
              <a:path w="176827" h="9144">
                <a:moveTo>
                  <a:pt x="0" y="4572"/>
                </a:moveTo>
                <a:lnTo>
                  <a:pt x="176827" y="4572"/>
                </a:lnTo>
              </a:path>
            </a:pathLst>
          </a:custGeom>
          <a:ln w="19050">
            <a:solidFill>
              <a:srgbClr val="1B1B1B"/>
            </a:solidFill>
            <a:prstDash val="solid"/>
          </a:ln>
        </p:spPr>
      </p:sp>
      <p:sp>
        <p:nvSpPr>
          <p:cNvPr id="192" name="Shape 190"/>
          <p:cNvSpPr/>
          <p:nvPr/>
        </p:nvSpPr>
        <p:spPr>
          <a:xfrm>
            <a:off x="4466614" y="4829266"/>
            <a:ext cx="9144" cy="172502"/>
          </a:xfrm>
          <a:custGeom>
            <a:avLst/>
            <a:gdLst/>
            <a:ahLst/>
            <a:cxnLst/>
            <a:rect l="l" t="t" r="r" b="b"/>
            <a:pathLst>
              <a:path w="9144" h="172502">
                <a:moveTo>
                  <a:pt x="4572" y="0"/>
                </a:moveTo>
                <a:lnTo>
                  <a:pt x="4572" y="172502"/>
                </a:lnTo>
              </a:path>
            </a:pathLst>
          </a:custGeom>
          <a:ln w="9525">
            <a:solidFill>
              <a:srgbClr val="1B1B1B"/>
            </a:solidFill>
            <a:prstDash val="solid"/>
          </a:ln>
        </p:spPr>
      </p:sp>
      <p:sp>
        <p:nvSpPr>
          <p:cNvPr id="193" name="Shape 191"/>
          <p:cNvSpPr/>
          <p:nvPr/>
        </p:nvSpPr>
        <p:spPr>
          <a:xfrm>
            <a:off x="4608075" y="4829266"/>
            <a:ext cx="9144" cy="172502"/>
          </a:xfrm>
          <a:custGeom>
            <a:avLst/>
            <a:gdLst/>
            <a:ahLst/>
            <a:cxnLst/>
            <a:rect l="l" t="t" r="r" b="b"/>
            <a:pathLst>
              <a:path w="9144" h="172502">
                <a:moveTo>
                  <a:pt x="4572" y="0"/>
                </a:moveTo>
                <a:lnTo>
                  <a:pt x="4572" y="172502"/>
                </a:lnTo>
              </a:path>
            </a:pathLst>
          </a:custGeom>
          <a:ln w="9525">
            <a:solidFill>
              <a:srgbClr val="1B1B1B"/>
            </a:solidFill>
            <a:prstDash val="solid"/>
          </a:ln>
        </p:spPr>
      </p:sp>
      <p:sp>
        <p:nvSpPr>
          <p:cNvPr id="194" name="Shape 192"/>
          <p:cNvSpPr/>
          <p:nvPr/>
        </p:nvSpPr>
        <p:spPr>
          <a:xfrm>
            <a:off x="3569370" y="5448444"/>
            <a:ext cx="176827" cy="9144"/>
          </a:xfrm>
          <a:custGeom>
            <a:avLst/>
            <a:gdLst/>
            <a:ahLst/>
            <a:cxnLst/>
            <a:rect l="l" t="t" r="r" b="b"/>
            <a:pathLst>
              <a:path w="176827" h="9144">
                <a:moveTo>
                  <a:pt x="0" y="4572"/>
                </a:moveTo>
                <a:lnTo>
                  <a:pt x="176827" y="4572"/>
                </a:lnTo>
              </a:path>
            </a:pathLst>
          </a:custGeom>
          <a:ln w="19050">
            <a:solidFill>
              <a:srgbClr val="C4262E"/>
            </a:solidFill>
            <a:prstDash val="solid"/>
          </a:ln>
        </p:spPr>
      </p:sp>
      <p:sp>
        <p:nvSpPr>
          <p:cNvPr id="195" name="Shape 193"/>
          <p:cNvSpPr/>
          <p:nvPr/>
        </p:nvSpPr>
        <p:spPr>
          <a:xfrm>
            <a:off x="3905340" y="5060601"/>
            <a:ext cx="114937" cy="9144"/>
          </a:xfrm>
          <a:custGeom>
            <a:avLst/>
            <a:gdLst/>
            <a:ahLst/>
            <a:cxnLst/>
            <a:rect l="l" t="t" r="r" b="b"/>
            <a:pathLst>
              <a:path w="114937" h="9144">
                <a:moveTo>
                  <a:pt x="0" y="4572"/>
                </a:moveTo>
                <a:lnTo>
                  <a:pt x="114937" y="4572"/>
                </a:lnTo>
              </a:path>
            </a:pathLst>
          </a:custGeom>
          <a:ln w="19050">
            <a:solidFill>
              <a:srgbClr val="C4262E"/>
            </a:solidFill>
            <a:prstDash val="solid"/>
          </a:ln>
        </p:spPr>
      </p:sp>
      <p:sp>
        <p:nvSpPr>
          <p:cNvPr id="196" name="Shape 194"/>
          <p:cNvSpPr/>
          <p:nvPr/>
        </p:nvSpPr>
        <p:spPr>
          <a:xfrm>
            <a:off x="4099850" y="4865471"/>
            <a:ext cx="106096" cy="9144"/>
          </a:xfrm>
          <a:custGeom>
            <a:avLst/>
            <a:gdLst/>
            <a:ahLst/>
            <a:cxnLst/>
            <a:rect l="l" t="t" r="r" b="b"/>
            <a:pathLst>
              <a:path w="106096" h="9144">
                <a:moveTo>
                  <a:pt x="0" y="4572"/>
                </a:moveTo>
                <a:lnTo>
                  <a:pt x="106096" y="4572"/>
                </a:lnTo>
              </a:path>
            </a:pathLst>
          </a:custGeom>
          <a:ln w="19050">
            <a:solidFill>
              <a:srgbClr val="C4262E"/>
            </a:solidFill>
            <a:prstDash val="solid"/>
          </a:ln>
        </p:spPr>
      </p:sp>
      <p:sp>
        <p:nvSpPr>
          <p:cNvPr id="197" name="Shape 195"/>
          <p:cNvSpPr/>
          <p:nvPr/>
        </p:nvSpPr>
        <p:spPr>
          <a:xfrm>
            <a:off x="4276676" y="4733952"/>
            <a:ext cx="97255" cy="9144"/>
          </a:xfrm>
          <a:custGeom>
            <a:avLst/>
            <a:gdLst/>
            <a:ahLst/>
            <a:cxnLst/>
            <a:rect l="l" t="t" r="r" b="b"/>
            <a:pathLst>
              <a:path w="97255" h="9144">
                <a:moveTo>
                  <a:pt x="0" y="4572"/>
                </a:moveTo>
                <a:lnTo>
                  <a:pt x="97255" y="4572"/>
                </a:lnTo>
              </a:path>
            </a:pathLst>
          </a:custGeom>
          <a:ln w="19050">
            <a:solidFill>
              <a:srgbClr val="C4262E"/>
            </a:solidFill>
            <a:prstDash val="solid"/>
          </a:ln>
        </p:spPr>
      </p:sp>
      <p:sp>
        <p:nvSpPr>
          <p:cNvPr id="198" name="Text 196"/>
          <p:cNvSpPr txBox="1"/>
          <p:nvPr/>
        </p:nvSpPr>
        <p:spPr>
          <a:xfrm>
            <a:off x="5129601" y="4956048"/>
            <a:ext cx="914400" cy="146304"/>
          </a:xfrm>
          <a:prstGeom prst="rect">
            <a:avLst/>
          </a:prstGeom>
          <a:noFill/>
          <a:ln/>
        </p:spPr>
        <p:txBody>
          <a:bodyPr wrap="square" lIns="0" tIns="0" rIns="0" bIns="0" rtlCol="0" anchor="ctr"/>
          <a:lstStyle/>
          <a:p>
            <a:pPr algn="ctr" indent="0" marL="0">
              <a:buNone/>
            </a:pPr>
            <a:r>
              <a:rPr lang="en-US" sz="550" dirty="0">
                <a:solidFill>
                  <a:srgbClr val="C4262E"/>
                </a:solidFill>
                <a:latin typeface="Arial" pitchFamily="34" charset="0"/>
                <a:ea typeface="Arial" pitchFamily="34" charset="-122"/>
                <a:cs typeface="Arial" pitchFamily="34" charset="-120"/>
              </a:rPr>
              <a:t>roofs = landings</a:t>
            </a:r>
            <a:endParaRPr lang="en-US" sz="550" dirty="0"/>
          </a:p>
        </p:txBody>
      </p:sp>
      <p:sp>
        <p:nvSpPr>
          <p:cNvPr id="199" name="Shape 197"/>
          <p:cNvSpPr/>
          <p:nvPr/>
        </p:nvSpPr>
        <p:spPr>
          <a:xfrm>
            <a:off x="6089904" y="3794760"/>
            <a:ext cx="2788920" cy="2514600"/>
          </a:xfrm>
          <a:prstGeom prst="rect">
            <a:avLst/>
          </a:prstGeom>
          <a:solidFill>
            <a:srgbClr val="FFFFFF"/>
          </a:solidFill>
          <a:ln w="6350">
            <a:solidFill>
              <a:srgbClr val="D9D9D9"/>
            </a:solidFill>
            <a:prstDash val="solid"/>
          </a:ln>
        </p:spPr>
      </p:sp>
      <p:sp>
        <p:nvSpPr>
          <p:cNvPr id="200" name="Text 198"/>
          <p:cNvSpPr txBox="1"/>
          <p:nvPr/>
        </p:nvSpPr>
        <p:spPr>
          <a:xfrm>
            <a:off x="6163056" y="3849624"/>
            <a:ext cx="264261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07  </a:t>
            </a:r>
            <a:pPr indent="0" marL="0">
              <a:buNone/>
            </a:pPr>
            <a:r>
              <a:rPr lang="en-US" sz="750" b="1" spc="50" kern="0" dirty="0">
                <a:solidFill>
                  <a:srgbClr val="1B1B1B"/>
                </a:solidFill>
                <a:latin typeface="Arial" pitchFamily="34" charset="0"/>
                <a:ea typeface="Arial" pitchFamily="34" charset="-122"/>
                <a:cs typeface="Arial" pitchFamily="34" charset="-120"/>
              </a:rPr>
              <a:t>SECTION</a:t>
            </a:r>
            <a:endParaRPr lang="en-US" sz="750" dirty="0"/>
          </a:p>
        </p:txBody>
      </p:sp>
      <p:sp>
        <p:nvSpPr>
          <p:cNvPr id="201" name="Text 199"/>
          <p:cNvSpPr txBox="1"/>
          <p:nvPr/>
        </p:nvSpPr>
        <p:spPr>
          <a:xfrm>
            <a:off x="6163056" y="5998464"/>
            <a:ext cx="2642616" cy="274320"/>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Route (red) + working spine (dashed) through a stepped section.</a:t>
            </a:r>
            <a:endParaRPr lang="en-US" sz="650" dirty="0"/>
          </a:p>
        </p:txBody>
      </p:sp>
      <p:sp>
        <p:nvSpPr>
          <p:cNvPr id="202" name="Shape 200"/>
          <p:cNvSpPr/>
          <p:nvPr/>
        </p:nvSpPr>
        <p:spPr>
          <a:xfrm>
            <a:off x="6144768" y="5020197"/>
            <a:ext cx="2679192" cy="978267"/>
          </a:xfrm>
          <a:custGeom>
            <a:avLst/>
            <a:gdLst/>
            <a:ahLst/>
            <a:cxnLst/>
            <a:rect l="l" t="t" r="r" b="b"/>
            <a:pathLst>
              <a:path w="2679192" h="978267">
                <a:moveTo>
                  <a:pt x="0" y="665177"/>
                </a:moveTo>
                <a:lnTo>
                  <a:pt x="44653" y="665177"/>
                </a:lnTo>
                <a:lnTo>
                  <a:pt x="89306" y="665177"/>
                </a:lnTo>
                <a:lnTo>
                  <a:pt x="133960" y="665177"/>
                </a:lnTo>
                <a:lnTo>
                  <a:pt x="178613" y="665177"/>
                </a:lnTo>
                <a:lnTo>
                  <a:pt x="223266" y="665177"/>
                </a:lnTo>
                <a:lnTo>
                  <a:pt x="267919" y="665177"/>
                </a:lnTo>
                <a:lnTo>
                  <a:pt x="312572" y="664614"/>
                </a:lnTo>
                <a:lnTo>
                  <a:pt x="357226" y="658304"/>
                </a:lnTo>
                <a:lnTo>
                  <a:pt x="401879" y="645115"/>
                </a:lnTo>
                <a:lnTo>
                  <a:pt x="446532" y="625325"/>
                </a:lnTo>
                <a:lnTo>
                  <a:pt x="491185" y="599351"/>
                </a:lnTo>
                <a:lnTo>
                  <a:pt x="535838" y="567743"/>
                </a:lnTo>
                <a:lnTo>
                  <a:pt x="580492" y="531168"/>
                </a:lnTo>
                <a:lnTo>
                  <a:pt x="625145" y="490398"/>
                </a:lnTo>
                <a:lnTo>
                  <a:pt x="669798" y="446294"/>
                </a:lnTo>
                <a:lnTo>
                  <a:pt x="714451" y="399787"/>
                </a:lnTo>
                <a:lnTo>
                  <a:pt x="759104" y="351860"/>
                </a:lnTo>
                <a:lnTo>
                  <a:pt x="803758" y="303525"/>
                </a:lnTo>
                <a:lnTo>
                  <a:pt x="848411" y="255802"/>
                </a:lnTo>
                <a:lnTo>
                  <a:pt x="893064" y="209698"/>
                </a:lnTo>
                <a:lnTo>
                  <a:pt x="937717" y="166189"/>
                </a:lnTo>
                <a:lnTo>
                  <a:pt x="982370" y="126191"/>
                </a:lnTo>
                <a:lnTo>
                  <a:pt x="1027024" y="90551"/>
                </a:lnTo>
                <a:lnTo>
                  <a:pt x="1071677" y="60020"/>
                </a:lnTo>
                <a:lnTo>
                  <a:pt x="1116330" y="35243"/>
                </a:lnTo>
                <a:lnTo>
                  <a:pt x="1160983" y="16744"/>
                </a:lnTo>
                <a:lnTo>
                  <a:pt x="1205636" y="4913"/>
                </a:lnTo>
                <a:lnTo>
                  <a:pt x="1250290" y="0"/>
                </a:lnTo>
                <a:lnTo>
                  <a:pt x="1294943" y="2109"/>
                </a:lnTo>
                <a:lnTo>
                  <a:pt x="1339596" y="11194"/>
                </a:lnTo>
                <a:lnTo>
                  <a:pt x="1384249" y="27065"/>
                </a:lnTo>
                <a:lnTo>
                  <a:pt x="1428902" y="49387"/>
                </a:lnTo>
                <a:lnTo>
                  <a:pt x="1473556" y="77687"/>
                </a:lnTo>
                <a:lnTo>
                  <a:pt x="1518209" y="111368"/>
                </a:lnTo>
                <a:lnTo>
                  <a:pt x="1562862" y="149719"/>
                </a:lnTo>
                <a:lnTo>
                  <a:pt x="1607515" y="191930"/>
                </a:lnTo>
                <a:lnTo>
                  <a:pt x="1652168" y="237110"/>
                </a:lnTo>
                <a:lnTo>
                  <a:pt x="1696822" y="284305"/>
                </a:lnTo>
                <a:lnTo>
                  <a:pt x="1741475" y="332518"/>
                </a:lnTo>
                <a:lnTo>
                  <a:pt x="1786128" y="380731"/>
                </a:lnTo>
                <a:lnTo>
                  <a:pt x="1830781" y="427926"/>
                </a:lnTo>
                <a:lnTo>
                  <a:pt x="1875434" y="473106"/>
                </a:lnTo>
                <a:lnTo>
                  <a:pt x="1920088" y="515317"/>
                </a:lnTo>
                <a:lnTo>
                  <a:pt x="1964741" y="553668"/>
                </a:lnTo>
                <a:lnTo>
                  <a:pt x="2009394" y="587349"/>
                </a:lnTo>
                <a:lnTo>
                  <a:pt x="2054047" y="615649"/>
                </a:lnTo>
                <a:lnTo>
                  <a:pt x="2098700" y="637971"/>
                </a:lnTo>
                <a:lnTo>
                  <a:pt x="2143354" y="653842"/>
                </a:lnTo>
                <a:lnTo>
                  <a:pt x="2188007" y="662927"/>
                </a:lnTo>
                <a:lnTo>
                  <a:pt x="2232660" y="665177"/>
                </a:lnTo>
                <a:lnTo>
                  <a:pt x="2277313" y="665177"/>
                </a:lnTo>
                <a:lnTo>
                  <a:pt x="2321966" y="665177"/>
                </a:lnTo>
                <a:lnTo>
                  <a:pt x="2366620" y="665177"/>
                </a:lnTo>
                <a:lnTo>
                  <a:pt x="2411273" y="665177"/>
                </a:lnTo>
                <a:lnTo>
                  <a:pt x="2455926" y="665177"/>
                </a:lnTo>
                <a:lnTo>
                  <a:pt x="2500579" y="665177"/>
                </a:lnTo>
                <a:lnTo>
                  <a:pt x="2545232" y="665177"/>
                </a:lnTo>
                <a:lnTo>
                  <a:pt x="2589886" y="665177"/>
                </a:lnTo>
                <a:lnTo>
                  <a:pt x="2634539" y="665177"/>
                </a:lnTo>
                <a:lnTo>
                  <a:pt x="2679192" y="665177"/>
                </a:lnTo>
                <a:lnTo>
                  <a:pt x="2679192" y="978267"/>
                </a:lnTo>
                <a:lnTo>
                  <a:pt x="0" y="978267"/>
                </a:lnTo>
                <a:close/>
              </a:path>
            </a:pathLst>
          </a:custGeom>
          <a:solidFill>
            <a:srgbClr val="E3ECDC"/>
          </a:solidFill>
          <a:ln w="12700"/>
        </p:spPr>
      </p:sp>
      <p:sp>
        <p:nvSpPr>
          <p:cNvPr id="203" name="Shape 201"/>
          <p:cNvSpPr/>
          <p:nvPr/>
        </p:nvSpPr>
        <p:spPr>
          <a:xfrm>
            <a:off x="6144768" y="5020197"/>
            <a:ext cx="2679192" cy="665177"/>
          </a:xfrm>
          <a:custGeom>
            <a:avLst/>
            <a:gdLst/>
            <a:ahLst/>
            <a:cxnLst/>
            <a:rect l="l" t="t" r="r" b="b"/>
            <a:pathLst>
              <a:path w="2679192" h="665177">
                <a:moveTo>
                  <a:pt x="0" y="665177"/>
                </a:moveTo>
                <a:lnTo>
                  <a:pt x="44653" y="665177"/>
                </a:lnTo>
                <a:lnTo>
                  <a:pt x="89306" y="665177"/>
                </a:lnTo>
                <a:lnTo>
                  <a:pt x="133960" y="665177"/>
                </a:lnTo>
                <a:lnTo>
                  <a:pt x="178613" y="665177"/>
                </a:lnTo>
                <a:lnTo>
                  <a:pt x="223266" y="665177"/>
                </a:lnTo>
                <a:lnTo>
                  <a:pt x="267919" y="665177"/>
                </a:lnTo>
                <a:lnTo>
                  <a:pt x="312572" y="664614"/>
                </a:lnTo>
                <a:lnTo>
                  <a:pt x="357226" y="658304"/>
                </a:lnTo>
                <a:lnTo>
                  <a:pt x="401879" y="645115"/>
                </a:lnTo>
                <a:lnTo>
                  <a:pt x="446532" y="625325"/>
                </a:lnTo>
                <a:lnTo>
                  <a:pt x="491185" y="599351"/>
                </a:lnTo>
                <a:lnTo>
                  <a:pt x="535838" y="567743"/>
                </a:lnTo>
                <a:lnTo>
                  <a:pt x="580492" y="531168"/>
                </a:lnTo>
                <a:lnTo>
                  <a:pt x="625145" y="490398"/>
                </a:lnTo>
                <a:lnTo>
                  <a:pt x="669798" y="446294"/>
                </a:lnTo>
                <a:lnTo>
                  <a:pt x="714451" y="399787"/>
                </a:lnTo>
                <a:lnTo>
                  <a:pt x="759104" y="351860"/>
                </a:lnTo>
                <a:lnTo>
                  <a:pt x="803758" y="303525"/>
                </a:lnTo>
                <a:lnTo>
                  <a:pt x="848411" y="255802"/>
                </a:lnTo>
                <a:lnTo>
                  <a:pt x="893064" y="209698"/>
                </a:lnTo>
                <a:lnTo>
                  <a:pt x="937717" y="166189"/>
                </a:lnTo>
                <a:lnTo>
                  <a:pt x="982370" y="126191"/>
                </a:lnTo>
                <a:lnTo>
                  <a:pt x="1027024" y="90551"/>
                </a:lnTo>
                <a:lnTo>
                  <a:pt x="1071677" y="60020"/>
                </a:lnTo>
                <a:lnTo>
                  <a:pt x="1116330" y="35243"/>
                </a:lnTo>
                <a:lnTo>
                  <a:pt x="1160983" y="16744"/>
                </a:lnTo>
                <a:lnTo>
                  <a:pt x="1205636" y="4913"/>
                </a:lnTo>
                <a:lnTo>
                  <a:pt x="1250290" y="0"/>
                </a:lnTo>
                <a:lnTo>
                  <a:pt x="1294943" y="2109"/>
                </a:lnTo>
                <a:lnTo>
                  <a:pt x="1339596" y="11194"/>
                </a:lnTo>
                <a:lnTo>
                  <a:pt x="1384249" y="27065"/>
                </a:lnTo>
                <a:lnTo>
                  <a:pt x="1428902" y="49387"/>
                </a:lnTo>
                <a:lnTo>
                  <a:pt x="1473556" y="77687"/>
                </a:lnTo>
                <a:lnTo>
                  <a:pt x="1518209" y="111368"/>
                </a:lnTo>
                <a:lnTo>
                  <a:pt x="1562862" y="149719"/>
                </a:lnTo>
                <a:lnTo>
                  <a:pt x="1607515" y="191930"/>
                </a:lnTo>
                <a:lnTo>
                  <a:pt x="1652168" y="237110"/>
                </a:lnTo>
                <a:lnTo>
                  <a:pt x="1696822" y="284305"/>
                </a:lnTo>
                <a:lnTo>
                  <a:pt x="1741475" y="332518"/>
                </a:lnTo>
                <a:lnTo>
                  <a:pt x="1786128" y="380731"/>
                </a:lnTo>
                <a:lnTo>
                  <a:pt x="1830781" y="427926"/>
                </a:lnTo>
                <a:lnTo>
                  <a:pt x="1875434" y="473106"/>
                </a:lnTo>
                <a:lnTo>
                  <a:pt x="1920088" y="515317"/>
                </a:lnTo>
                <a:lnTo>
                  <a:pt x="1964741" y="553668"/>
                </a:lnTo>
                <a:lnTo>
                  <a:pt x="2009394" y="587349"/>
                </a:lnTo>
                <a:lnTo>
                  <a:pt x="2054047" y="615649"/>
                </a:lnTo>
                <a:lnTo>
                  <a:pt x="2098700" y="637971"/>
                </a:lnTo>
                <a:lnTo>
                  <a:pt x="2143354" y="653842"/>
                </a:lnTo>
                <a:lnTo>
                  <a:pt x="2188007" y="662927"/>
                </a:lnTo>
                <a:lnTo>
                  <a:pt x="2232660" y="665177"/>
                </a:lnTo>
                <a:lnTo>
                  <a:pt x="2277313" y="665177"/>
                </a:lnTo>
                <a:lnTo>
                  <a:pt x="2321966" y="665177"/>
                </a:lnTo>
                <a:lnTo>
                  <a:pt x="2366620" y="665177"/>
                </a:lnTo>
                <a:lnTo>
                  <a:pt x="2411273" y="665177"/>
                </a:lnTo>
                <a:lnTo>
                  <a:pt x="2455926" y="665177"/>
                </a:lnTo>
                <a:lnTo>
                  <a:pt x="2500579" y="665177"/>
                </a:lnTo>
                <a:lnTo>
                  <a:pt x="2545232" y="665177"/>
                </a:lnTo>
                <a:lnTo>
                  <a:pt x="2589886" y="665177"/>
                </a:lnTo>
                <a:lnTo>
                  <a:pt x="2634539" y="665177"/>
                </a:lnTo>
                <a:lnTo>
                  <a:pt x="2679192" y="665177"/>
                </a:lnTo>
              </a:path>
            </a:pathLst>
          </a:custGeom>
          <a:ln w="15875">
            <a:solidFill>
              <a:srgbClr val="1B1B1B"/>
            </a:solidFill>
            <a:prstDash val="solid"/>
          </a:ln>
        </p:spPr>
      </p:sp>
      <p:sp>
        <p:nvSpPr>
          <p:cNvPr id="204" name="Text 202"/>
          <p:cNvSpPr txBox="1"/>
          <p:nvPr/>
        </p:nvSpPr>
        <p:spPr>
          <a:xfrm>
            <a:off x="6076920" y="5694517"/>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205" name="Text 203"/>
          <p:cNvSpPr txBox="1"/>
          <p:nvPr/>
        </p:nvSpPr>
        <p:spPr>
          <a:xfrm>
            <a:off x="8434608" y="5694517"/>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206" name="Shape 204"/>
          <p:cNvSpPr/>
          <p:nvPr/>
        </p:nvSpPr>
        <p:spPr>
          <a:xfrm>
            <a:off x="6676034" y="5423348"/>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207" name="Shape 205"/>
          <p:cNvSpPr/>
          <p:nvPr/>
        </p:nvSpPr>
        <p:spPr>
          <a:xfrm>
            <a:off x="6625742" y="5331908"/>
            <a:ext cx="109728" cy="109728"/>
          </a:xfrm>
          <a:prstGeom prst="ellipse">
            <a:avLst/>
          </a:prstGeom>
          <a:solidFill>
            <a:srgbClr val="FFFFFF"/>
          </a:solidFill>
          <a:ln w="7620">
            <a:solidFill>
              <a:srgbClr val="4F7A43"/>
            </a:solidFill>
            <a:prstDash val="solid"/>
          </a:ln>
        </p:spPr>
      </p:sp>
      <p:sp>
        <p:nvSpPr>
          <p:cNvPr id="208" name="Shape 206"/>
          <p:cNvSpPr/>
          <p:nvPr/>
        </p:nvSpPr>
        <p:spPr>
          <a:xfrm>
            <a:off x="6890370" y="5217116"/>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209" name="Shape 207"/>
          <p:cNvSpPr/>
          <p:nvPr/>
        </p:nvSpPr>
        <p:spPr>
          <a:xfrm>
            <a:off x="6840078" y="5125676"/>
            <a:ext cx="109728" cy="109728"/>
          </a:xfrm>
          <a:prstGeom prst="ellipse">
            <a:avLst/>
          </a:prstGeom>
          <a:solidFill>
            <a:srgbClr val="FFFFFF"/>
          </a:solidFill>
          <a:ln w="7620">
            <a:solidFill>
              <a:srgbClr val="4F7A43"/>
            </a:solidFill>
            <a:prstDash val="solid"/>
          </a:ln>
        </p:spPr>
      </p:sp>
      <p:sp>
        <p:nvSpPr>
          <p:cNvPr id="210" name="Shape 208"/>
          <p:cNvSpPr/>
          <p:nvPr/>
        </p:nvSpPr>
        <p:spPr>
          <a:xfrm>
            <a:off x="8069214" y="5378928"/>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211" name="Shape 209"/>
          <p:cNvSpPr/>
          <p:nvPr/>
        </p:nvSpPr>
        <p:spPr>
          <a:xfrm>
            <a:off x="8018922" y="5287488"/>
            <a:ext cx="109728" cy="109728"/>
          </a:xfrm>
          <a:prstGeom prst="ellipse">
            <a:avLst/>
          </a:prstGeom>
          <a:solidFill>
            <a:srgbClr val="FFFFFF"/>
          </a:solidFill>
          <a:ln w="7620">
            <a:solidFill>
              <a:srgbClr val="4F7A43"/>
            </a:solidFill>
            <a:prstDash val="solid"/>
          </a:ln>
        </p:spPr>
      </p:sp>
      <p:sp>
        <p:nvSpPr>
          <p:cNvPr id="212" name="Shape 210"/>
          <p:cNvSpPr/>
          <p:nvPr/>
        </p:nvSpPr>
        <p:spPr>
          <a:xfrm>
            <a:off x="8283550" y="5509446"/>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213" name="Shape 211"/>
          <p:cNvSpPr/>
          <p:nvPr/>
        </p:nvSpPr>
        <p:spPr>
          <a:xfrm>
            <a:off x="8233258" y="5418006"/>
            <a:ext cx="109728" cy="109728"/>
          </a:xfrm>
          <a:prstGeom prst="ellipse">
            <a:avLst/>
          </a:prstGeom>
          <a:solidFill>
            <a:srgbClr val="FFFFFF"/>
          </a:solidFill>
          <a:ln w="7620">
            <a:solidFill>
              <a:srgbClr val="4F7A43"/>
            </a:solidFill>
            <a:prstDash val="solid"/>
          </a:ln>
        </p:spPr>
      </p:sp>
      <p:sp>
        <p:nvSpPr>
          <p:cNvPr id="214" name="Shape 212"/>
          <p:cNvSpPr/>
          <p:nvPr/>
        </p:nvSpPr>
        <p:spPr>
          <a:xfrm>
            <a:off x="6431442" y="5500656"/>
            <a:ext cx="176827" cy="117409"/>
          </a:xfrm>
          <a:prstGeom prst="rect">
            <a:avLst/>
          </a:prstGeom>
          <a:solidFill>
            <a:srgbClr val="C4262E"/>
          </a:solidFill>
          <a:ln/>
        </p:spPr>
      </p:sp>
      <p:sp>
        <p:nvSpPr>
          <p:cNvPr id="215" name="Shape 213"/>
          <p:cNvSpPr/>
          <p:nvPr/>
        </p:nvSpPr>
        <p:spPr>
          <a:xfrm>
            <a:off x="6442131" y="5294916"/>
            <a:ext cx="155448" cy="155448"/>
          </a:xfrm>
          <a:prstGeom prst="ellipse">
            <a:avLst/>
          </a:prstGeom>
          <a:solidFill>
            <a:srgbClr val="FFFFFF"/>
          </a:solidFill>
          <a:ln w="9525">
            <a:solidFill>
              <a:srgbClr val="1B1B1B"/>
            </a:solidFill>
            <a:prstDash val="solid"/>
          </a:ln>
        </p:spPr>
      </p:sp>
      <p:sp>
        <p:nvSpPr>
          <p:cNvPr id="216" name="Text 214"/>
          <p:cNvSpPr txBox="1"/>
          <p:nvPr/>
        </p:nvSpPr>
        <p:spPr>
          <a:xfrm>
            <a:off x="6442131" y="5294916"/>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1</a:t>
            </a:r>
            <a:endParaRPr lang="en-US" sz="600" dirty="0"/>
          </a:p>
        </p:txBody>
      </p:sp>
      <p:sp>
        <p:nvSpPr>
          <p:cNvPr id="217" name="Shape 215"/>
          <p:cNvSpPr/>
          <p:nvPr/>
        </p:nvSpPr>
        <p:spPr>
          <a:xfrm>
            <a:off x="6767412" y="5142166"/>
            <a:ext cx="114937" cy="234818"/>
          </a:xfrm>
          <a:prstGeom prst="rect">
            <a:avLst/>
          </a:prstGeom>
          <a:solidFill>
            <a:srgbClr val="F0B9BC"/>
          </a:solidFill>
          <a:ln w="6350">
            <a:solidFill>
              <a:srgbClr val="1B1B1B"/>
            </a:solidFill>
            <a:prstDash val="solid"/>
          </a:ln>
        </p:spPr>
      </p:sp>
      <p:sp>
        <p:nvSpPr>
          <p:cNvPr id="218" name="Shape 216"/>
          <p:cNvSpPr/>
          <p:nvPr/>
        </p:nvSpPr>
        <p:spPr>
          <a:xfrm>
            <a:off x="6780081" y="5376984"/>
            <a:ext cx="9144" cy="119376"/>
          </a:xfrm>
          <a:custGeom>
            <a:avLst/>
            <a:gdLst/>
            <a:ahLst/>
            <a:cxnLst/>
            <a:rect l="l" t="t" r="r" b="b"/>
            <a:pathLst>
              <a:path w="9144" h="119376">
                <a:moveTo>
                  <a:pt x="4572" y="0"/>
                </a:moveTo>
                <a:lnTo>
                  <a:pt x="4572" y="119376"/>
                </a:lnTo>
              </a:path>
            </a:pathLst>
          </a:custGeom>
          <a:ln w="9525">
            <a:solidFill>
              <a:srgbClr val="1B1B1B"/>
            </a:solidFill>
            <a:prstDash val="solid"/>
          </a:ln>
        </p:spPr>
      </p:sp>
      <p:sp>
        <p:nvSpPr>
          <p:cNvPr id="219" name="Shape 217"/>
          <p:cNvSpPr/>
          <p:nvPr/>
        </p:nvSpPr>
        <p:spPr>
          <a:xfrm>
            <a:off x="6820309" y="5376984"/>
            <a:ext cx="9144" cy="78942"/>
          </a:xfrm>
          <a:custGeom>
            <a:avLst/>
            <a:gdLst/>
            <a:ahLst/>
            <a:cxnLst/>
            <a:rect l="l" t="t" r="r" b="b"/>
            <a:pathLst>
              <a:path w="9144" h="78942">
                <a:moveTo>
                  <a:pt x="4572" y="0"/>
                </a:moveTo>
                <a:lnTo>
                  <a:pt x="4572" y="78942"/>
                </a:lnTo>
              </a:path>
            </a:pathLst>
          </a:custGeom>
          <a:ln w="9525">
            <a:solidFill>
              <a:srgbClr val="1B1B1B"/>
            </a:solidFill>
            <a:prstDash val="solid"/>
          </a:ln>
        </p:spPr>
      </p:sp>
      <p:sp>
        <p:nvSpPr>
          <p:cNvPr id="220" name="Shape 218"/>
          <p:cNvSpPr/>
          <p:nvPr/>
        </p:nvSpPr>
        <p:spPr>
          <a:xfrm>
            <a:off x="6860537" y="5376984"/>
            <a:ext cx="9144" cy="36738"/>
          </a:xfrm>
          <a:custGeom>
            <a:avLst/>
            <a:gdLst/>
            <a:ahLst/>
            <a:cxnLst/>
            <a:rect l="l" t="t" r="r" b="b"/>
            <a:pathLst>
              <a:path w="9144" h="36738">
                <a:moveTo>
                  <a:pt x="4572" y="0"/>
                </a:moveTo>
                <a:lnTo>
                  <a:pt x="4572" y="36738"/>
                </a:lnTo>
              </a:path>
            </a:pathLst>
          </a:custGeom>
          <a:ln w="9525">
            <a:solidFill>
              <a:srgbClr val="1B1B1B"/>
            </a:solidFill>
            <a:prstDash val="solid"/>
          </a:ln>
        </p:spPr>
      </p:sp>
      <p:sp>
        <p:nvSpPr>
          <p:cNvPr id="221" name="Shape 219"/>
          <p:cNvSpPr/>
          <p:nvPr/>
        </p:nvSpPr>
        <p:spPr>
          <a:xfrm>
            <a:off x="6747157" y="4936426"/>
            <a:ext cx="155448" cy="155448"/>
          </a:xfrm>
          <a:prstGeom prst="ellipse">
            <a:avLst/>
          </a:prstGeom>
          <a:solidFill>
            <a:srgbClr val="FFFFFF"/>
          </a:solidFill>
          <a:ln w="9525">
            <a:solidFill>
              <a:srgbClr val="1B1B1B"/>
            </a:solidFill>
            <a:prstDash val="solid"/>
          </a:ln>
        </p:spPr>
      </p:sp>
      <p:sp>
        <p:nvSpPr>
          <p:cNvPr id="222" name="Text 220"/>
          <p:cNvSpPr txBox="1"/>
          <p:nvPr/>
        </p:nvSpPr>
        <p:spPr>
          <a:xfrm>
            <a:off x="6747157" y="4936426"/>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2</a:t>
            </a:r>
            <a:endParaRPr lang="en-US" sz="600" dirty="0"/>
          </a:p>
        </p:txBody>
      </p:sp>
      <p:sp>
        <p:nvSpPr>
          <p:cNvPr id="223" name="Shape 221"/>
          <p:cNvSpPr/>
          <p:nvPr/>
        </p:nvSpPr>
        <p:spPr>
          <a:xfrm>
            <a:off x="6961922" y="4947035"/>
            <a:ext cx="106096" cy="234818"/>
          </a:xfrm>
          <a:prstGeom prst="rect">
            <a:avLst/>
          </a:prstGeom>
          <a:solidFill>
            <a:srgbClr val="1B1B1B"/>
          </a:solidFill>
          <a:ln/>
        </p:spPr>
      </p:sp>
      <p:sp>
        <p:nvSpPr>
          <p:cNvPr id="224" name="Shape 222"/>
          <p:cNvSpPr/>
          <p:nvPr/>
        </p:nvSpPr>
        <p:spPr>
          <a:xfrm>
            <a:off x="6973264" y="5181853"/>
            <a:ext cx="9144" cy="110411"/>
          </a:xfrm>
          <a:custGeom>
            <a:avLst/>
            <a:gdLst/>
            <a:ahLst/>
            <a:cxnLst/>
            <a:rect l="l" t="t" r="r" b="b"/>
            <a:pathLst>
              <a:path w="9144" h="110411">
                <a:moveTo>
                  <a:pt x="4572" y="0"/>
                </a:moveTo>
                <a:lnTo>
                  <a:pt x="4572" y="110411"/>
                </a:lnTo>
              </a:path>
            </a:pathLst>
          </a:custGeom>
          <a:ln w="9525">
            <a:solidFill>
              <a:srgbClr val="1B1B1B"/>
            </a:solidFill>
            <a:prstDash val="solid"/>
          </a:ln>
        </p:spPr>
      </p:sp>
      <p:sp>
        <p:nvSpPr>
          <p:cNvPr id="225" name="Shape 223"/>
          <p:cNvSpPr/>
          <p:nvPr/>
        </p:nvSpPr>
        <p:spPr>
          <a:xfrm>
            <a:off x="7010398" y="5181853"/>
            <a:ext cx="9144" cy="71383"/>
          </a:xfrm>
          <a:custGeom>
            <a:avLst/>
            <a:gdLst/>
            <a:ahLst/>
            <a:cxnLst/>
            <a:rect l="l" t="t" r="r" b="b"/>
            <a:pathLst>
              <a:path w="9144" h="71383">
                <a:moveTo>
                  <a:pt x="4572" y="0"/>
                </a:moveTo>
                <a:lnTo>
                  <a:pt x="4572" y="71383"/>
                </a:lnTo>
              </a:path>
            </a:pathLst>
          </a:custGeom>
          <a:ln w="9525">
            <a:solidFill>
              <a:srgbClr val="1B1B1B"/>
            </a:solidFill>
            <a:prstDash val="solid"/>
          </a:ln>
        </p:spPr>
      </p:sp>
      <p:sp>
        <p:nvSpPr>
          <p:cNvPr id="226" name="Shape 224"/>
          <p:cNvSpPr/>
          <p:nvPr/>
        </p:nvSpPr>
        <p:spPr>
          <a:xfrm>
            <a:off x="7047531" y="5181853"/>
            <a:ext cx="9144" cy="33809"/>
          </a:xfrm>
          <a:custGeom>
            <a:avLst/>
            <a:gdLst/>
            <a:ahLst/>
            <a:cxnLst/>
            <a:rect l="l" t="t" r="r" b="b"/>
            <a:pathLst>
              <a:path w="9144" h="33809">
                <a:moveTo>
                  <a:pt x="4572" y="0"/>
                </a:moveTo>
                <a:lnTo>
                  <a:pt x="4572" y="33809"/>
                </a:lnTo>
              </a:path>
            </a:pathLst>
          </a:custGeom>
          <a:ln w="9525">
            <a:solidFill>
              <a:srgbClr val="1B1B1B"/>
            </a:solidFill>
            <a:prstDash val="solid"/>
          </a:ln>
        </p:spPr>
      </p:sp>
      <p:sp>
        <p:nvSpPr>
          <p:cNvPr id="227" name="Shape 225"/>
          <p:cNvSpPr/>
          <p:nvPr/>
        </p:nvSpPr>
        <p:spPr>
          <a:xfrm>
            <a:off x="6937246" y="4741295"/>
            <a:ext cx="155448" cy="155448"/>
          </a:xfrm>
          <a:prstGeom prst="ellipse">
            <a:avLst/>
          </a:prstGeom>
          <a:solidFill>
            <a:srgbClr val="FFFFFF"/>
          </a:solidFill>
          <a:ln w="9525">
            <a:solidFill>
              <a:srgbClr val="1B1B1B"/>
            </a:solidFill>
            <a:prstDash val="solid"/>
          </a:ln>
        </p:spPr>
      </p:sp>
      <p:sp>
        <p:nvSpPr>
          <p:cNvPr id="228" name="Text 226"/>
          <p:cNvSpPr txBox="1"/>
          <p:nvPr/>
        </p:nvSpPr>
        <p:spPr>
          <a:xfrm>
            <a:off x="6937246" y="4741295"/>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3</a:t>
            </a:r>
            <a:endParaRPr lang="en-US" sz="600" dirty="0"/>
          </a:p>
        </p:txBody>
      </p:sp>
      <p:sp>
        <p:nvSpPr>
          <p:cNvPr id="229" name="Shape 227"/>
          <p:cNvSpPr/>
          <p:nvPr/>
        </p:nvSpPr>
        <p:spPr>
          <a:xfrm>
            <a:off x="7138748" y="4815517"/>
            <a:ext cx="97255" cy="234818"/>
          </a:xfrm>
          <a:prstGeom prst="rect">
            <a:avLst/>
          </a:prstGeom>
          <a:solidFill>
            <a:srgbClr val="9A9A9A"/>
          </a:solidFill>
          <a:ln/>
        </p:spPr>
      </p:sp>
      <p:sp>
        <p:nvSpPr>
          <p:cNvPr id="230" name="Shape 228"/>
          <p:cNvSpPr/>
          <p:nvPr/>
        </p:nvSpPr>
        <p:spPr>
          <a:xfrm>
            <a:off x="7148764" y="5050334"/>
            <a:ext cx="9144" cy="74564"/>
          </a:xfrm>
          <a:custGeom>
            <a:avLst/>
            <a:gdLst/>
            <a:ahLst/>
            <a:cxnLst/>
            <a:rect l="l" t="t" r="r" b="b"/>
            <a:pathLst>
              <a:path w="9144" h="74564">
                <a:moveTo>
                  <a:pt x="4572" y="0"/>
                </a:moveTo>
                <a:lnTo>
                  <a:pt x="4572" y="74564"/>
                </a:lnTo>
              </a:path>
            </a:pathLst>
          </a:custGeom>
          <a:ln w="9525">
            <a:solidFill>
              <a:srgbClr val="1B1B1B"/>
            </a:solidFill>
            <a:prstDash val="solid"/>
          </a:ln>
        </p:spPr>
      </p:sp>
      <p:sp>
        <p:nvSpPr>
          <p:cNvPr id="231" name="Shape 229"/>
          <p:cNvSpPr/>
          <p:nvPr/>
        </p:nvSpPr>
        <p:spPr>
          <a:xfrm>
            <a:off x="7182804" y="5050334"/>
            <a:ext cx="9144" cy="49142"/>
          </a:xfrm>
          <a:custGeom>
            <a:avLst/>
            <a:gdLst/>
            <a:ahLst/>
            <a:cxnLst/>
            <a:rect l="l" t="t" r="r" b="b"/>
            <a:pathLst>
              <a:path w="9144" h="49142">
                <a:moveTo>
                  <a:pt x="4572" y="0"/>
                </a:moveTo>
                <a:lnTo>
                  <a:pt x="4572" y="49142"/>
                </a:lnTo>
              </a:path>
            </a:pathLst>
          </a:custGeom>
          <a:ln w="9525">
            <a:solidFill>
              <a:srgbClr val="1B1B1B"/>
            </a:solidFill>
            <a:prstDash val="solid"/>
          </a:ln>
        </p:spPr>
      </p:sp>
      <p:sp>
        <p:nvSpPr>
          <p:cNvPr id="232" name="Shape 230"/>
          <p:cNvSpPr/>
          <p:nvPr/>
        </p:nvSpPr>
        <p:spPr>
          <a:xfrm>
            <a:off x="7216843" y="5050334"/>
            <a:ext cx="9144" cy="26829"/>
          </a:xfrm>
          <a:custGeom>
            <a:avLst/>
            <a:gdLst/>
            <a:ahLst/>
            <a:cxnLst/>
            <a:rect l="l" t="t" r="r" b="b"/>
            <a:pathLst>
              <a:path w="9144" h="26829">
                <a:moveTo>
                  <a:pt x="4572" y="0"/>
                </a:moveTo>
                <a:lnTo>
                  <a:pt x="4572" y="26829"/>
                </a:lnTo>
              </a:path>
            </a:pathLst>
          </a:custGeom>
          <a:ln w="9525">
            <a:solidFill>
              <a:srgbClr val="1B1B1B"/>
            </a:solidFill>
            <a:prstDash val="solid"/>
          </a:ln>
        </p:spPr>
      </p:sp>
      <p:sp>
        <p:nvSpPr>
          <p:cNvPr id="233" name="Shape 231"/>
          <p:cNvSpPr/>
          <p:nvPr/>
        </p:nvSpPr>
        <p:spPr>
          <a:xfrm>
            <a:off x="7109652" y="4609777"/>
            <a:ext cx="155448" cy="155448"/>
          </a:xfrm>
          <a:prstGeom prst="ellipse">
            <a:avLst/>
          </a:prstGeom>
          <a:solidFill>
            <a:srgbClr val="FFFFFF"/>
          </a:solidFill>
          <a:ln w="9525">
            <a:solidFill>
              <a:srgbClr val="1B1B1B"/>
            </a:solidFill>
            <a:prstDash val="solid"/>
          </a:ln>
        </p:spPr>
      </p:sp>
      <p:sp>
        <p:nvSpPr>
          <p:cNvPr id="234" name="Text 232"/>
          <p:cNvSpPr txBox="1"/>
          <p:nvPr/>
        </p:nvSpPr>
        <p:spPr>
          <a:xfrm>
            <a:off x="7109652" y="4609777"/>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4</a:t>
            </a:r>
            <a:endParaRPr lang="en-US" sz="600" dirty="0"/>
          </a:p>
        </p:txBody>
      </p:sp>
      <p:sp>
        <p:nvSpPr>
          <p:cNvPr id="235" name="Shape 233"/>
          <p:cNvSpPr/>
          <p:nvPr/>
        </p:nvSpPr>
        <p:spPr>
          <a:xfrm>
            <a:off x="8378142" y="5531388"/>
            <a:ext cx="176827" cy="117409"/>
          </a:xfrm>
          <a:prstGeom prst="rect">
            <a:avLst/>
          </a:prstGeom>
          <a:solidFill>
            <a:srgbClr val="9A9A9A"/>
          </a:solidFill>
          <a:ln/>
        </p:spPr>
      </p:sp>
      <p:sp>
        <p:nvSpPr>
          <p:cNvPr id="236" name="Shape 234"/>
          <p:cNvSpPr/>
          <p:nvPr/>
        </p:nvSpPr>
        <p:spPr>
          <a:xfrm>
            <a:off x="8388832" y="5325648"/>
            <a:ext cx="155448" cy="155448"/>
          </a:xfrm>
          <a:prstGeom prst="ellipse">
            <a:avLst/>
          </a:prstGeom>
          <a:solidFill>
            <a:srgbClr val="FFFFFF"/>
          </a:solidFill>
          <a:ln w="9525">
            <a:solidFill>
              <a:srgbClr val="1B1B1B"/>
            </a:solidFill>
            <a:prstDash val="solid"/>
          </a:ln>
        </p:spPr>
      </p:sp>
      <p:sp>
        <p:nvSpPr>
          <p:cNvPr id="237" name="Text 235"/>
          <p:cNvSpPr txBox="1"/>
          <p:nvPr/>
        </p:nvSpPr>
        <p:spPr>
          <a:xfrm>
            <a:off x="8388832" y="5325648"/>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5</a:t>
            </a:r>
            <a:endParaRPr lang="en-US" sz="600" dirty="0"/>
          </a:p>
        </p:txBody>
      </p:sp>
      <p:sp>
        <p:nvSpPr>
          <p:cNvPr id="238" name="Shape 236"/>
          <p:cNvSpPr/>
          <p:nvPr/>
        </p:nvSpPr>
        <p:spPr>
          <a:xfrm>
            <a:off x="7297892" y="4997196"/>
            <a:ext cx="212192" cy="9144"/>
          </a:xfrm>
          <a:custGeom>
            <a:avLst/>
            <a:gdLst/>
            <a:ahLst/>
            <a:cxnLst/>
            <a:rect l="l" t="t" r="r" b="b"/>
            <a:pathLst>
              <a:path w="212192" h="9144">
                <a:moveTo>
                  <a:pt x="0" y="4572"/>
                </a:moveTo>
                <a:lnTo>
                  <a:pt x="212192" y="4572"/>
                </a:lnTo>
              </a:path>
            </a:pathLst>
          </a:custGeom>
          <a:ln w="38100">
            <a:solidFill>
              <a:srgbClr val="C4262E"/>
            </a:solidFill>
            <a:prstDash val="solid"/>
          </a:ln>
        </p:spPr>
      </p:sp>
      <p:sp>
        <p:nvSpPr>
          <p:cNvPr id="239" name="Shape 237"/>
          <p:cNvSpPr/>
          <p:nvPr/>
        </p:nvSpPr>
        <p:spPr>
          <a:xfrm>
            <a:off x="7315575" y="4862852"/>
            <a:ext cx="176827" cy="9144"/>
          </a:xfrm>
          <a:custGeom>
            <a:avLst/>
            <a:gdLst/>
            <a:ahLst/>
            <a:cxnLst/>
            <a:rect l="l" t="t" r="r" b="b"/>
            <a:pathLst>
              <a:path w="176827" h="9144">
                <a:moveTo>
                  <a:pt x="0" y="4572"/>
                </a:moveTo>
                <a:lnTo>
                  <a:pt x="176827" y="4572"/>
                </a:lnTo>
              </a:path>
            </a:pathLst>
          </a:custGeom>
          <a:ln w="19050">
            <a:solidFill>
              <a:srgbClr val="1B1B1B"/>
            </a:solidFill>
            <a:prstDash val="solid"/>
          </a:ln>
        </p:spPr>
      </p:sp>
      <p:sp>
        <p:nvSpPr>
          <p:cNvPr id="240" name="Shape 238"/>
          <p:cNvSpPr/>
          <p:nvPr/>
        </p:nvSpPr>
        <p:spPr>
          <a:xfrm>
            <a:off x="7328686" y="4867424"/>
            <a:ext cx="9144" cy="134344"/>
          </a:xfrm>
          <a:custGeom>
            <a:avLst/>
            <a:gdLst/>
            <a:ahLst/>
            <a:cxnLst/>
            <a:rect l="l" t="t" r="r" b="b"/>
            <a:pathLst>
              <a:path w="9144" h="134344">
                <a:moveTo>
                  <a:pt x="4572" y="0"/>
                </a:moveTo>
                <a:lnTo>
                  <a:pt x="4572" y="134344"/>
                </a:lnTo>
              </a:path>
            </a:pathLst>
          </a:custGeom>
          <a:ln w="9525">
            <a:solidFill>
              <a:srgbClr val="1B1B1B"/>
            </a:solidFill>
            <a:prstDash val="solid"/>
          </a:ln>
        </p:spPr>
      </p:sp>
      <p:sp>
        <p:nvSpPr>
          <p:cNvPr id="241" name="Shape 239"/>
          <p:cNvSpPr/>
          <p:nvPr/>
        </p:nvSpPr>
        <p:spPr>
          <a:xfrm>
            <a:off x="7470147" y="4867424"/>
            <a:ext cx="9144" cy="134344"/>
          </a:xfrm>
          <a:custGeom>
            <a:avLst/>
            <a:gdLst/>
            <a:ahLst/>
            <a:cxnLst/>
            <a:rect l="l" t="t" r="r" b="b"/>
            <a:pathLst>
              <a:path w="9144" h="134344">
                <a:moveTo>
                  <a:pt x="4572" y="0"/>
                </a:moveTo>
                <a:lnTo>
                  <a:pt x="4572" y="134344"/>
                </a:lnTo>
              </a:path>
            </a:pathLst>
          </a:custGeom>
          <a:ln w="9525">
            <a:solidFill>
              <a:srgbClr val="1B1B1B"/>
            </a:solidFill>
            <a:prstDash val="solid"/>
          </a:ln>
        </p:spPr>
      </p:sp>
      <p:sp>
        <p:nvSpPr>
          <p:cNvPr id="242" name="Shape 240"/>
          <p:cNvSpPr/>
          <p:nvPr/>
        </p:nvSpPr>
        <p:spPr>
          <a:xfrm>
            <a:off x="7450545" y="4684544"/>
            <a:ext cx="525780" cy="146304"/>
          </a:xfrm>
          <a:prstGeom prst="rect">
            <a:avLst/>
          </a:prstGeom>
          <a:solidFill>
            <a:srgbClr val="FFFFFF"/>
          </a:solidFill>
          <a:ln/>
        </p:spPr>
      </p:sp>
      <p:sp>
        <p:nvSpPr>
          <p:cNvPr id="243" name="Text 241"/>
          <p:cNvSpPr txBox="1"/>
          <p:nvPr/>
        </p:nvSpPr>
        <p:spPr>
          <a:xfrm>
            <a:off x="7450545" y="4684544"/>
            <a:ext cx="525780" cy="146304"/>
          </a:xfrm>
          <a:prstGeom prst="rect">
            <a:avLst/>
          </a:prstGeom>
          <a:noFill/>
          <a:ln/>
        </p:spPr>
        <p:txBody>
          <a:bodyPr wrap="square" lIns="0" tIns="0" rIns="0" bIns="0" rtlCol="0" anchor="ctr"/>
          <a:lstStyle/>
          <a:p>
            <a:pPr algn="ctr" indent="0" marL="0">
              <a:buNone/>
            </a:pPr>
            <a:r>
              <a:rPr lang="en-US" sz="500" b="1" dirty="0">
                <a:solidFill>
                  <a:srgbClr val="C4262E"/>
                </a:solidFill>
                <a:latin typeface="Arial" pitchFamily="34" charset="0"/>
                <a:ea typeface="Arial" pitchFamily="34" charset="-122"/>
                <a:cs typeface="Arial" pitchFamily="34" charset="-120"/>
              </a:rPr>
              <a:t>OPEN FORUM</a:t>
            </a:r>
            <a:endParaRPr lang="en-US" sz="500" dirty="0"/>
          </a:p>
        </p:txBody>
      </p:sp>
      <p:sp>
        <p:nvSpPr>
          <p:cNvPr id="244" name="Shape 242"/>
          <p:cNvSpPr/>
          <p:nvPr/>
        </p:nvSpPr>
        <p:spPr>
          <a:xfrm>
            <a:off x="6413759" y="4992624"/>
            <a:ext cx="990229" cy="665317"/>
          </a:xfrm>
          <a:custGeom>
            <a:avLst/>
            <a:gdLst/>
            <a:ahLst/>
            <a:cxnLst/>
            <a:rect l="l" t="t" r="r" b="b"/>
            <a:pathLst>
              <a:path w="990229" h="665317">
                <a:moveTo>
                  <a:pt x="0" y="665317"/>
                </a:moveTo>
                <a:lnTo>
                  <a:pt x="41260" y="664891"/>
                </a:lnTo>
                <a:lnTo>
                  <a:pt x="82519" y="659641"/>
                </a:lnTo>
                <a:lnTo>
                  <a:pt x="123779" y="648493"/>
                </a:lnTo>
                <a:lnTo>
                  <a:pt x="165038" y="631650"/>
                </a:lnTo>
                <a:lnTo>
                  <a:pt x="206298" y="609416"/>
                </a:lnTo>
                <a:lnTo>
                  <a:pt x="247557" y="582190"/>
                </a:lnTo>
                <a:lnTo>
                  <a:pt x="288817" y="550464"/>
                </a:lnTo>
                <a:lnTo>
                  <a:pt x="330076" y="514810"/>
                </a:lnTo>
                <a:lnTo>
                  <a:pt x="371336" y="475872"/>
                </a:lnTo>
                <a:lnTo>
                  <a:pt x="412596" y="434351"/>
                </a:lnTo>
                <a:lnTo>
                  <a:pt x="453855" y="390996"/>
                </a:lnTo>
                <a:lnTo>
                  <a:pt x="495115" y="346589"/>
                </a:lnTo>
                <a:lnTo>
                  <a:pt x="536374" y="301931"/>
                </a:lnTo>
                <a:lnTo>
                  <a:pt x="577634" y="257827"/>
                </a:lnTo>
                <a:lnTo>
                  <a:pt x="618893" y="215072"/>
                </a:lnTo>
                <a:lnTo>
                  <a:pt x="660153" y="174438"/>
                </a:lnTo>
                <a:lnTo>
                  <a:pt x="701412" y="136657"/>
                </a:lnTo>
                <a:lnTo>
                  <a:pt x="742672" y="102411"/>
                </a:lnTo>
                <a:lnTo>
                  <a:pt x="783932" y="72317"/>
                </a:lnTo>
                <a:lnTo>
                  <a:pt x="825191" y="46918"/>
                </a:lnTo>
                <a:lnTo>
                  <a:pt x="866451" y="26672"/>
                </a:lnTo>
                <a:lnTo>
                  <a:pt x="907710" y="11944"/>
                </a:lnTo>
                <a:lnTo>
                  <a:pt x="948970" y="3000"/>
                </a:lnTo>
                <a:lnTo>
                  <a:pt x="990229" y="0"/>
                </a:lnTo>
              </a:path>
            </a:pathLst>
          </a:custGeom>
          <a:ln w="22225">
            <a:solidFill>
              <a:srgbClr val="C4262E"/>
            </a:solidFill>
            <a:prstDash val="solid"/>
            <a:tailEnd type="triangle"/>
          </a:ln>
        </p:spPr>
      </p:sp>
      <p:sp>
        <p:nvSpPr>
          <p:cNvPr id="245" name="Text 243"/>
          <p:cNvSpPr txBox="1"/>
          <p:nvPr/>
        </p:nvSpPr>
        <p:spPr>
          <a:xfrm>
            <a:off x="7223760" y="4041648"/>
            <a:ext cx="1737360" cy="566928"/>
          </a:xfrm>
          <a:prstGeom prst="rect">
            <a:avLst/>
          </a:prstGeom>
          <a:noFill/>
          <a:ln/>
        </p:spPr>
        <p:txBody>
          <a:bodyPr wrap="square" lIns="0" tIns="0" rIns="0" bIns="0" rtlCol="0" anchor="t"/>
          <a:lstStyle/>
          <a:p>
            <a:pPr indent="0" marL="0">
              <a:buNone/>
            </a:pPr>
            <a:r>
              <a:rPr lang="en-US" sz="450" dirty="0">
                <a:solidFill>
                  <a:srgbClr val="6B6B6B"/>
                </a:solidFill>
                <a:latin typeface="Arial" pitchFamily="34" charset="0"/>
                <a:ea typeface="Arial" pitchFamily="34" charset="-122"/>
                <a:cs typeface="Arial" pitchFamily="34" charset="-120"/>
              </a:rPr>
              <a:t>1  forum · press · exhibition · auditorium</a:t>
            </a:r>
            <a:endParaRPr lang="en-US" sz="450" dirty="0"/>
          </a:p>
          <a:p>
            <a:pPr indent="0" marL="0">
              <a:buNone/>
            </a:pPr>
            <a:r>
              <a:rPr lang="en-US" sz="450" dirty="0">
                <a:solidFill>
                  <a:srgbClr val="6B6B6B"/>
                </a:solidFill>
                <a:latin typeface="Arial" pitchFamily="34" charset="0"/>
                <a:ea typeface="Arial" pitchFamily="34" charset="-122"/>
                <a:cs typeface="Arial" pitchFamily="34" charset="-120"/>
              </a:rPr>
              <a:t>2  library · workshops · education</a:t>
            </a:r>
            <a:endParaRPr lang="en-US" sz="450" dirty="0"/>
          </a:p>
          <a:p>
            <a:pPr indent="0" marL="0">
              <a:buNone/>
            </a:pPr>
            <a:r>
              <a:rPr lang="en-US" sz="450" dirty="0">
                <a:solidFill>
                  <a:srgbClr val="6B6B6B"/>
                </a:solidFill>
                <a:latin typeface="Arial" pitchFamily="34" charset="0"/>
                <a:ea typeface="Arial" pitchFamily="34" charset="-122"/>
                <a:cs typeface="Arial" pitchFamily="34" charset="-120"/>
              </a:rPr>
              <a:t>3  archive · research</a:t>
            </a:r>
            <a:endParaRPr lang="en-US" sz="450" dirty="0"/>
          </a:p>
          <a:p>
            <a:pPr indent="0" marL="0">
              <a:buNone/>
            </a:pPr>
            <a:r>
              <a:rPr lang="en-US" sz="450" dirty="0">
                <a:solidFill>
                  <a:srgbClr val="6B6B6B"/>
                </a:solidFill>
                <a:latin typeface="Arial" pitchFamily="34" charset="0"/>
                <a:ea typeface="Arial" pitchFamily="34" charset="-122"/>
                <a:cs typeface="Arial" pitchFamily="34" charset="-120"/>
              </a:rPr>
              <a:t>4  media · publishing</a:t>
            </a:r>
            <a:endParaRPr lang="en-US" sz="450" dirty="0"/>
          </a:p>
          <a:p>
            <a:pPr indent="0" marL="0">
              <a:buNone/>
            </a:pPr>
            <a:r>
              <a:rPr lang="en-US" sz="450" dirty="0">
                <a:solidFill>
                  <a:srgbClr val="6B6B6B"/>
                </a:solidFill>
                <a:latin typeface="Arial" pitchFamily="34" charset="0"/>
                <a:ea typeface="Arial" pitchFamily="34" charset="-122"/>
                <a:cs typeface="Arial" pitchFamily="34" charset="-120"/>
              </a:rPr>
              <a:t>5  print · dispatch (service side)</a:t>
            </a:r>
            <a:endParaRPr lang="en-US" sz="450" dirty="0"/>
          </a:p>
        </p:txBody>
      </p:sp>
      <p:sp>
        <p:nvSpPr>
          <p:cNvPr id="246" name="Shape 244"/>
          <p:cNvSpPr/>
          <p:nvPr/>
        </p:nvSpPr>
        <p:spPr>
          <a:xfrm>
            <a:off x="6564062" y="5053322"/>
            <a:ext cx="795720" cy="613764"/>
          </a:xfrm>
          <a:custGeom>
            <a:avLst/>
            <a:gdLst/>
            <a:ahLst/>
            <a:cxnLst/>
            <a:rect l="l" t="t" r="r" b="b"/>
            <a:pathLst>
              <a:path w="795720" h="613764">
                <a:moveTo>
                  <a:pt x="0" y="613764"/>
                </a:moveTo>
                <a:lnTo>
                  <a:pt x="795720" y="0"/>
                </a:lnTo>
              </a:path>
            </a:pathLst>
          </a:custGeom>
          <a:ln w="12700">
            <a:solidFill>
              <a:srgbClr val="1B1B1B"/>
            </a:solidFill>
            <a:prstDash val="dash"/>
          </a:ln>
        </p:spPr>
      </p:sp>
      <p:sp>
        <p:nvSpPr>
          <p:cNvPr id="247" name="Shape 245"/>
          <p:cNvSpPr/>
          <p:nvPr/>
        </p:nvSpPr>
        <p:spPr>
          <a:xfrm>
            <a:off x="8951976" y="3794760"/>
            <a:ext cx="2788920" cy="2514600"/>
          </a:xfrm>
          <a:prstGeom prst="rect">
            <a:avLst/>
          </a:prstGeom>
          <a:solidFill>
            <a:srgbClr val="FFFFFF"/>
          </a:solidFill>
          <a:ln w="6350">
            <a:solidFill>
              <a:srgbClr val="D9D9D9"/>
            </a:solidFill>
            <a:prstDash val="solid"/>
          </a:ln>
        </p:spPr>
      </p:sp>
      <p:sp>
        <p:nvSpPr>
          <p:cNvPr id="248" name="Text 246"/>
          <p:cNvSpPr txBox="1"/>
          <p:nvPr/>
        </p:nvSpPr>
        <p:spPr>
          <a:xfrm>
            <a:off x="9025128" y="3849624"/>
            <a:ext cx="264261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08  </a:t>
            </a:r>
            <a:pPr indent="0" marL="0">
              <a:buNone/>
            </a:pPr>
            <a:r>
              <a:rPr lang="en-US" sz="750" b="1" spc="50" kern="0" dirty="0">
                <a:solidFill>
                  <a:srgbClr val="1B1B1B"/>
                </a:solidFill>
                <a:latin typeface="Arial" pitchFamily="34" charset="0"/>
                <a:ea typeface="Arial" pitchFamily="34" charset="-122"/>
                <a:cs typeface="Arial" pitchFamily="34" charset="-120"/>
              </a:rPr>
              <a:t>PUBLIC REALM</a:t>
            </a:r>
            <a:endParaRPr lang="en-US" sz="750" dirty="0"/>
          </a:p>
        </p:txBody>
      </p:sp>
      <p:sp>
        <p:nvSpPr>
          <p:cNvPr id="249" name="Text 247"/>
          <p:cNvSpPr txBox="1"/>
          <p:nvPr/>
        </p:nvSpPr>
        <p:spPr>
          <a:xfrm>
            <a:off x="9025128" y="5998464"/>
            <a:ext cx="2642616" cy="274320"/>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Protest edge becomes a forum under the trees; route starts here.</a:t>
            </a:r>
            <a:endParaRPr lang="en-US" sz="650" dirty="0"/>
          </a:p>
        </p:txBody>
      </p:sp>
      <p:sp>
        <p:nvSpPr>
          <p:cNvPr id="250" name="Shape 248"/>
          <p:cNvSpPr/>
          <p:nvPr/>
        </p:nvSpPr>
        <p:spPr>
          <a:xfrm>
            <a:off x="9006840" y="5450556"/>
            <a:ext cx="2679192" cy="234818"/>
          </a:xfrm>
          <a:prstGeom prst="rect">
            <a:avLst/>
          </a:prstGeom>
          <a:solidFill>
            <a:srgbClr val="E4E4E4"/>
          </a:solidFill>
          <a:ln/>
        </p:spPr>
      </p:sp>
      <p:sp>
        <p:nvSpPr>
          <p:cNvPr id="251" name="Text 249"/>
          <p:cNvSpPr txBox="1"/>
          <p:nvPr/>
        </p:nvSpPr>
        <p:spPr>
          <a:xfrm>
            <a:off x="9797796" y="5503956"/>
            <a:ext cx="109728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  ·  audience</a:t>
            </a:r>
            <a:endParaRPr lang="en-US" sz="550" dirty="0"/>
          </a:p>
        </p:txBody>
      </p:sp>
      <p:sp>
        <p:nvSpPr>
          <p:cNvPr id="252" name="Shape 250"/>
          <p:cNvSpPr/>
          <p:nvPr/>
        </p:nvSpPr>
        <p:spPr>
          <a:xfrm>
            <a:off x="9274759" y="4980920"/>
            <a:ext cx="1473556" cy="469636"/>
          </a:xfrm>
          <a:prstGeom prst="rect">
            <a:avLst/>
          </a:prstGeom>
          <a:solidFill>
            <a:srgbClr val="C4262E">
              <a:alpha val="45000"/>
            </a:srgbClr>
          </a:solidFill>
          <a:ln/>
        </p:spPr>
      </p:sp>
      <p:sp>
        <p:nvSpPr>
          <p:cNvPr id="253" name="Text 251"/>
          <p:cNvSpPr txBox="1"/>
          <p:nvPr/>
        </p:nvSpPr>
        <p:spPr>
          <a:xfrm>
            <a:off x="9449501" y="5151730"/>
            <a:ext cx="1097280"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FORUM UNDER TREES</a:t>
            </a:r>
            <a:endParaRPr lang="en-US" sz="550" dirty="0"/>
          </a:p>
        </p:txBody>
      </p:sp>
      <p:sp>
        <p:nvSpPr>
          <p:cNvPr id="254" name="Shape 252"/>
          <p:cNvSpPr/>
          <p:nvPr/>
        </p:nvSpPr>
        <p:spPr>
          <a:xfrm>
            <a:off x="9335567" y="4790359"/>
            <a:ext cx="146304" cy="146304"/>
          </a:xfrm>
          <a:prstGeom prst="ellipse">
            <a:avLst/>
          </a:prstGeom>
          <a:solidFill>
            <a:srgbClr val="FFFFFF"/>
          </a:solidFill>
          <a:ln w="9525">
            <a:solidFill>
              <a:srgbClr val="4F7A43"/>
            </a:solidFill>
            <a:prstDash val="solid"/>
          </a:ln>
        </p:spPr>
      </p:sp>
      <p:sp>
        <p:nvSpPr>
          <p:cNvPr id="255" name="Shape 253"/>
          <p:cNvSpPr/>
          <p:nvPr/>
        </p:nvSpPr>
        <p:spPr>
          <a:xfrm>
            <a:off x="9737446" y="4790359"/>
            <a:ext cx="146304" cy="146304"/>
          </a:xfrm>
          <a:prstGeom prst="ellipse">
            <a:avLst/>
          </a:prstGeom>
          <a:solidFill>
            <a:srgbClr val="FFFFFF"/>
          </a:solidFill>
          <a:ln w="9525">
            <a:solidFill>
              <a:srgbClr val="4F7A43"/>
            </a:solidFill>
            <a:prstDash val="solid"/>
          </a:ln>
        </p:spPr>
      </p:sp>
      <p:sp>
        <p:nvSpPr>
          <p:cNvPr id="256" name="Shape 254"/>
          <p:cNvSpPr/>
          <p:nvPr/>
        </p:nvSpPr>
        <p:spPr>
          <a:xfrm>
            <a:off x="10139324" y="4790359"/>
            <a:ext cx="146304" cy="146304"/>
          </a:xfrm>
          <a:prstGeom prst="ellipse">
            <a:avLst/>
          </a:prstGeom>
          <a:solidFill>
            <a:srgbClr val="FFFFFF"/>
          </a:solidFill>
          <a:ln w="9525">
            <a:solidFill>
              <a:srgbClr val="4F7A43"/>
            </a:solidFill>
            <a:prstDash val="solid"/>
          </a:ln>
        </p:spPr>
      </p:sp>
      <p:sp>
        <p:nvSpPr>
          <p:cNvPr id="257" name="Shape 255"/>
          <p:cNvSpPr/>
          <p:nvPr/>
        </p:nvSpPr>
        <p:spPr>
          <a:xfrm>
            <a:off x="10541203" y="4790359"/>
            <a:ext cx="146304" cy="146304"/>
          </a:xfrm>
          <a:prstGeom prst="ellipse">
            <a:avLst/>
          </a:prstGeom>
          <a:solidFill>
            <a:srgbClr val="FFFFFF"/>
          </a:solidFill>
          <a:ln w="9525">
            <a:solidFill>
              <a:srgbClr val="4F7A43"/>
            </a:solidFill>
            <a:prstDash val="solid"/>
          </a:ln>
        </p:spPr>
      </p:sp>
      <p:sp>
        <p:nvSpPr>
          <p:cNvPr id="258" name="Shape 256"/>
          <p:cNvSpPr/>
          <p:nvPr/>
        </p:nvSpPr>
        <p:spPr>
          <a:xfrm>
            <a:off x="9221175" y="4237330"/>
            <a:ext cx="1607515" cy="352227"/>
          </a:xfrm>
          <a:prstGeom prst="rect">
            <a:avLst/>
          </a:prstGeom>
          <a:solidFill>
            <a:srgbClr val="C4262E"/>
          </a:solidFill>
          <a:ln/>
        </p:spPr>
      </p:sp>
      <p:sp>
        <p:nvSpPr>
          <p:cNvPr id="259" name="Text 257"/>
          <p:cNvSpPr txBox="1"/>
          <p:nvPr/>
        </p:nvSpPr>
        <p:spPr>
          <a:xfrm>
            <a:off x="9221175" y="4237330"/>
            <a:ext cx="1607515" cy="352227"/>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PRESS · EXHIBITION · AUDITORIUM</a:t>
            </a:r>
            <a:endParaRPr lang="en-US" sz="500" dirty="0"/>
          </a:p>
        </p:txBody>
      </p:sp>
      <p:sp>
        <p:nvSpPr>
          <p:cNvPr id="260" name="Shape 258"/>
          <p:cNvSpPr/>
          <p:nvPr/>
        </p:nvSpPr>
        <p:spPr>
          <a:xfrm>
            <a:off x="10935858" y="4114800"/>
            <a:ext cx="535838" cy="1317468"/>
          </a:xfrm>
          <a:custGeom>
            <a:avLst/>
            <a:gdLst/>
            <a:ahLst/>
            <a:cxnLst/>
            <a:rect l="l" t="t" r="r" b="b"/>
            <a:pathLst>
              <a:path w="535838" h="1317468">
                <a:moveTo>
                  <a:pt x="0" y="1317468"/>
                </a:moveTo>
                <a:lnTo>
                  <a:pt x="107168" y="357348"/>
                </a:lnTo>
                <a:lnTo>
                  <a:pt x="535838" y="0"/>
                </a:lnTo>
              </a:path>
            </a:pathLst>
          </a:custGeom>
          <a:ln w="19050">
            <a:solidFill>
              <a:srgbClr val="C4262E"/>
            </a:solidFill>
            <a:prstDash val="solid"/>
            <a:tailEnd type="triangle"/>
          </a:ln>
        </p:spPr>
      </p:sp>
      <p:sp>
        <p:nvSpPr>
          <p:cNvPr id="261" name="Text 259"/>
          <p:cNvSpPr txBox="1"/>
          <p:nvPr/>
        </p:nvSpPr>
        <p:spPr>
          <a:xfrm>
            <a:off x="11189513" y="4662526"/>
            <a:ext cx="457200" cy="146304"/>
          </a:xfrm>
          <a:prstGeom prst="rect">
            <a:avLst/>
          </a:prstGeom>
          <a:noFill/>
          <a:ln/>
        </p:spPr>
        <p:txBody>
          <a:bodyPr wrap="square" lIns="0" tIns="0" rIns="0" bIns="0" rtlCol="0" anchor="ctr"/>
          <a:lstStyle/>
          <a:p>
            <a:pPr algn="ctr" indent="0" marL="0">
              <a:buNone/>
            </a:pPr>
            <a:r>
              <a:rPr lang="en-US" sz="550" dirty="0">
                <a:solidFill>
                  <a:srgbClr val="C4262E"/>
                </a:solidFill>
                <a:latin typeface="Arial" pitchFamily="34" charset="0"/>
                <a:ea typeface="Arial" pitchFamily="34" charset="-122"/>
                <a:cs typeface="Arial" pitchFamily="34" charset="-120"/>
              </a:rPr>
              <a:t>route up</a:t>
            </a:r>
            <a:endParaRPr lang="en-US" sz="550" dirty="0"/>
          </a:p>
        </p:txBody>
      </p:sp>
      <p:sp>
        <p:nvSpPr>
          <p:cNvPr id="262" name="Shape 260"/>
          <p:cNvSpPr/>
          <p:nvPr/>
        </p:nvSpPr>
        <p:spPr>
          <a:xfrm>
            <a:off x="9526219" y="5322540"/>
            <a:ext cx="32918" cy="32918"/>
          </a:xfrm>
          <a:prstGeom prst="ellipse">
            <a:avLst/>
          </a:prstGeom>
          <a:solidFill>
            <a:srgbClr val="C4262E"/>
          </a:solidFill>
          <a:ln/>
        </p:spPr>
      </p:sp>
      <p:sp>
        <p:nvSpPr>
          <p:cNvPr id="263" name="Shape 261"/>
          <p:cNvSpPr/>
          <p:nvPr/>
        </p:nvSpPr>
        <p:spPr>
          <a:xfrm>
            <a:off x="9528414" y="5357652"/>
            <a:ext cx="28529" cy="74615"/>
          </a:xfrm>
          <a:prstGeom prst="roundRect">
            <a:avLst>
              <a:gd name="adj" fmla="val 64103"/>
            </a:avLst>
          </a:prstGeom>
          <a:solidFill>
            <a:srgbClr val="C4262E"/>
          </a:solidFill>
          <a:ln/>
        </p:spPr>
      </p:sp>
      <p:sp>
        <p:nvSpPr>
          <p:cNvPr id="264" name="Shape 262"/>
          <p:cNvSpPr/>
          <p:nvPr/>
        </p:nvSpPr>
        <p:spPr>
          <a:xfrm>
            <a:off x="9794138" y="5322540"/>
            <a:ext cx="32918" cy="32918"/>
          </a:xfrm>
          <a:prstGeom prst="ellipse">
            <a:avLst/>
          </a:prstGeom>
          <a:solidFill>
            <a:srgbClr val="C4262E"/>
          </a:solidFill>
          <a:ln/>
        </p:spPr>
      </p:sp>
      <p:sp>
        <p:nvSpPr>
          <p:cNvPr id="265" name="Shape 263"/>
          <p:cNvSpPr/>
          <p:nvPr/>
        </p:nvSpPr>
        <p:spPr>
          <a:xfrm>
            <a:off x="9796333" y="5357652"/>
            <a:ext cx="28529" cy="74615"/>
          </a:xfrm>
          <a:prstGeom prst="roundRect">
            <a:avLst>
              <a:gd name="adj" fmla="val 64103"/>
            </a:avLst>
          </a:prstGeom>
          <a:solidFill>
            <a:srgbClr val="C4262E"/>
          </a:solidFill>
          <a:ln/>
        </p:spPr>
      </p:sp>
      <p:sp>
        <p:nvSpPr>
          <p:cNvPr id="266" name="Shape 264"/>
          <p:cNvSpPr/>
          <p:nvPr/>
        </p:nvSpPr>
        <p:spPr>
          <a:xfrm>
            <a:off x="10115641" y="5322540"/>
            <a:ext cx="32918" cy="32918"/>
          </a:xfrm>
          <a:prstGeom prst="ellipse">
            <a:avLst/>
          </a:prstGeom>
          <a:solidFill>
            <a:srgbClr val="C4262E"/>
          </a:solidFill>
          <a:ln/>
        </p:spPr>
      </p:sp>
      <p:sp>
        <p:nvSpPr>
          <p:cNvPr id="267" name="Shape 265"/>
          <p:cNvSpPr/>
          <p:nvPr/>
        </p:nvSpPr>
        <p:spPr>
          <a:xfrm>
            <a:off x="10117836" y="5357652"/>
            <a:ext cx="28529" cy="74615"/>
          </a:xfrm>
          <a:prstGeom prst="roundRect">
            <a:avLst>
              <a:gd name="adj" fmla="val 64103"/>
            </a:avLst>
          </a:prstGeom>
          <a:solidFill>
            <a:srgbClr val="C4262E"/>
          </a:solidFill>
          <a:ln/>
        </p:spPr>
      </p:sp>
      <p:sp>
        <p:nvSpPr>
          <p:cNvPr id="268" name="Shape 266"/>
          <p:cNvSpPr/>
          <p:nvPr/>
        </p:nvSpPr>
        <p:spPr>
          <a:xfrm>
            <a:off x="10329977" y="5322540"/>
            <a:ext cx="32918" cy="32918"/>
          </a:xfrm>
          <a:prstGeom prst="ellipse">
            <a:avLst/>
          </a:prstGeom>
          <a:solidFill>
            <a:srgbClr val="C4262E"/>
          </a:solidFill>
          <a:ln/>
        </p:spPr>
      </p:sp>
      <p:sp>
        <p:nvSpPr>
          <p:cNvPr id="269" name="Shape 267"/>
          <p:cNvSpPr/>
          <p:nvPr/>
        </p:nvSpPr>
        <p:spPr>
          <a:xfrm>
            <a:off x="10332171" y="5357652"/>
            <a:ext cx="28529" cy="74615"/>
          </a:xfrm>
          <a:prstGeom prst="roundRect">
            <a:avLst>
              <a:gd name="adj" fmla="val 64103"/>
            </a:avLst>
          </a:prstGeom>
          <a:solidFill>
            <a:srgbClr val="C4262E"/>
          </a:solidFill>
          <a:ln/>
        </p:spPr>
      </p:sp>
      <p:sp>
        <p:nvSpPr>
          <p:cNvPr id="270" name="Shape 268"/>
          <p:cNvSpPr/>
          <p:nvPr/>
        </p:nvSpPr>
        <p:spPr>
          <a:xfrm>
            <a:off x="10597896" y="5322540"/>
            <a:ext cx="32918" cy="32918"/>
          </a:xfrm>
          <a:prstGeom prst="ellipse">
            <a:avLst/>
          </a:prstGeom>
          <a:solidFill>
            <a:srgbClr val="1B1B1B"/>
          </a:solidFill>
          <a:ln/>
        </p:spPr>
      </p:sp>
      <p:sp>
        <p:nvSpPr>
          <p:cNvPr id="271" name="Shape 269"/>
          <p:cNvSpPr/>
          <p:nvPr/>
        </p:nvSpPr>
        <p:spPr>
          <a:xfrm>
            <a:off x="10600091" y="5357652"/>
            <a:ext cx="28529" cy="74615"/>
          </a:xfrm>
          <a:prstGeom prst="roundRect">
            <a:avLst>
              <a:gd name="adj" fmla="val 64103"/>
            </a:avLst>
          </a:prstGeom>
          <a:solidFill>
            <a:srgbClr val="1B1B1B"/>
          </a:solidFill>
          <a:ln/>
        </p:spPr>
      </p:sp>
      <p:sp>
        <p:nvSpPr>
          <p:cNvPr id="272" name="Shape 270"/>
          <p:cNvSpPr/>
          <p:nvPr/>
        </p:nvSpPr>
        <p:spPr>
          <a:xfrm>
            <a:off x="365760" y="6560820"/>
            <a:ext cx="201168" cy="9144"/>
          </a:xfrm>
          <a:custGeom>
            <a:avLst/>
            <a:gdLst/>
            <a:ahLst/>
            <a:cxnLst/>
            <a:rect l="l" t="t" r="r" b="b"/>
            <a:pathLst>
              <a:path w="201168" h="9144">
                <a:moveTo>
                  <a:pt x="0" y="4572"/>
                </a:moveTo>
                <a:lnTo>
                  <a:pt x="201168" y="4572"/>
                </a:lnTo>
              </a:path>
            </a:pathLst>
          </a:custGeom>
          <a:ln w="25400">
            <a:solidFill>
              <a:srgbClr val="C4262E"/>
            </a:solidFill>
            <a:prstDash val="solid"/>
          </a:ln>
        </p:spPr>
      </p:sp>
      <p:sp>
        <p:nvSpPr>
          <p:cNvPr id="273" name="Text 271"/>
          <p:cNvSpPr txBox="1"/>
          <p:nvPr/>
        </p:nvSpPr>
        <p:spPr>
          <a:xfrm>
            <a:off x="612648" y="6492240"/>
            <a:ext cx="33832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a:t>
            </a:r>
            <a:endParaRPr lang="en-US" sz="650" dirty="0"/>
          </a:p>
        </p:txBody>
      </p:sp>
      <p:sp>
        <p:nvSpPr>
          <p:cNvPr id="274" name="Shape 272"/>
          <p:cNvSpPr/>
          <p:nvPr/>
        </p:nvSpPr>
        <p:spPr>
          <a:xfrm>
            <a:off x="1024128" y="6560820"/>
            <a:ext cx="201168" cy="9144"/>
          </a:xfrm>
          <a:custGeom>
            <a:avLst/>
            <a:gdLst/>
            <a:ahLst/>
            <a:cxnLst/>
            <a:rect l="l" t="t" r="r" b="b"/>
            <a:pathLst>
              <a:path w="201168" h="9144">
                <a:moveTo>
                  <a:pt x="0" y="4572"/>
                </a:moveTo>
                <a:lnTo>
                  <a:pt x="201168" y="4572"/>
                </a:lnTo>
              </a:path>
            </a:pathLst>
          </a:custGeom>
          <a:ln w="25400">
            <a:solidFill>
              <a:srgbClr val="1B1B1B"/>
            </a:solidFill>
            <a:prstDash val="solid"/>
          </a:ln>
        </p:spPr>
      </p:sp>
      <p:sp>
        <p:nvSpPr>
          <p:cNvPr id="275" name="Text 273"/>
          <p:cNvSpPr txBox="1"/>
          <p:nvPr/>
        </p:nvSpPr>
        <p:spPr>
          <a:xfrm>
            <a:off x="1271016" y="6492240"/>
            <a:ext cx="502920"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journalist</a:t>
            </a:r>
            <a:endParaRPr lang="en-US" sz="650" dirty="0"/>
          </a:p>
        </p:txBody>
      </p:sp>
      <p:sp>
        <p:nvSpPr>
          <p:cNvPr id="276" name="Shape 274"/>
          <p:cNvSpPr/>
          <p:nvPr/>
        </p:nvSpPr>
        <p:spPr>
          <a:xfrm>
            <a:off x="1847088" y="6560820"/>
            <a:ext cx="201168" cy="9144"/>
          </a:xfrm>
          <a:custGeom>
            <a:avLst/>
            <a:gdLst/>
            <a:ahLst/>
            <a:cxnLst/>
            <a:rect l="l" t="t" r="r" b="b"/>
            <a:pathLst>
              <a:path w="201168" h="9144">
                <a:moveTo>
                  <a:pt x="0" y="4572"/>
                </a:moveTo>
                <a:lnTo>
                  <a:pt x="201168" y="4572"/>
                </a:lnTo>
              </a:path>
            </a:pathLst>
          </a:custGeom>
          <a:ln w="15875">
            <a:solidFill>
              <a:srgbClr val="1B1B1B"/>
            </a:solidFill>
            <a:prstDash val="dash"/>
          </a:ln>
        </p:spPr>
      </p:sp>
      <p:sp>
        <p:nvSpPr>
          <p:cNvPr id="277" name="Text 275"/>
          <p:cNvSpPr txBox="1"/>
          <p:nvPr/>
        </p:nvSpPr>
        <p:spPr>
          <a:xfrm>
            <a:off x="2093976" y="6492240"/>
            <a:ext cx="502920"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researcher</a:t>
            </a:r>
            <a:endParaRPr lang="en-US" sz="650" dirty="0"/>
          </a:p>
        </p:txBody>
      </p:sp>
      <p:sp>
        <p:nvSpPr>
          <p:cNvPr id="278" name="Shape 276"/>
          <p:cNvSpPr/>
          <p:nvPr/>
        </p:nvSpPr>
        <p:spPr>
          <a:xfrm>
            <a:off x="2670048" y="6560820"/>
            <a:ext cx="201168" cy="9144"/>
          </a:xfrm>
          <a:custGeom>
            <a:avLst/>
            <a:gdLst/>
            <a:ahLst/>
            <a:cxnLst/>
            <a:rect l="l" t="t" r="r" b="b"/>
            <a:pathLst>
              <a:path w="201168" h="9144">
                <a:moveTo>
                  <a:pt x="0" y="4572"/>
                </a:moveTo>
                <a:lnTo>
                  <a:pt x="201168" y="4572"/>
                </a:lnTo>
              </a:path>
            </a:pathLst>
          </a:custGeom>
          <a:ln w="15875">
            <a:solidFill>
              <a:srgbClr val="9A9A9A"/>
            </a:solidFill>
            <a:prstDash val="dash"/>
          </a:ln>
        </p:spPr>
      </p:sp>
      <p:sp>
        <p:nvSpPr>
          <p:cNvPr id="279" name="Text 277"/>
          <p:cNvSpPr txBox="1"/>
          <p:nvPr/>
        </p:nvSpPr>
        <p:spPr>
          <a:xfrm>
            <a:off x="2916936" y="6492240"/>
            <a:ext cx="379476"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service</a:t>
            </a:r>
            <a:endParaRPr lang="en-US" sz="650" dirty="0"/>
          </a:p>
        </p:txBody>
      </p:sp>
      <p:sp>
        <p:nvSpPr>
          <p:cNvPr id="280" name="Shape 278"/>
          <p:cNvSpPr/>
          <p:nvPr/>
        </p:nvSpPr>
        <p:spPr>
          <a:xfrm>
            <a:off x="3369564" y="6510528"/>
            <a:ext cx="146304" cy="109728"/>
          </a:xfrm>
          <a:prstGeom prst="rect">
            <a:avLst/>
          </a:prstGeom>
          <a:solidFill>
            <a:srgbClr val="C4262E"/>
          </a:solidFill>
          <a:ln/>
        </p:spPr>
      </p:sp>
      <p:sp>
        <p:nvSpPr>
          <p:cNvPr id="281" name="Text 279"/>
          <p:cNvSpPr txBox="1"/>
          <p:nvPr/>
        </p:nvSpPr>
        <p:spPr>
          <a:xfrm>
            <a:off x="3616452" y="6492240"/>
            <a:ext cx="33832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public</a:t>
            </a:r>
            <a:endParaRPr lang="en-US" sz="650" dirty="0"/>
          </a:p>
        </p:txBody>
      </p:sp>
      <p:sp>
        <p:nvSpPr>
          <p:cNvPr id="282" name="Shape 280"/>
          <p:cNvSpPr/>
          <p:nvPr/>
        </p:nvSpPr>
        <p:spPr>
          <a:xfrm>
            <a:off x="4027932" y="6510528"/>
            <a:ext cx="146304" cy="109728"/>
          </a:xfrm>
          <a:prstGeom prst="rect">
            <a:avLst/>
          </a:prstGeom>
          <a:solidFill>
            <a:srgbClr val="F0B9BC"/>
          </a:solidFill>
          <a:ln/>
        </p:spPr>
      </p:sp>
      <p:sp>
        <p:nvSpPr>
          <p:cNvPr id="283" name="Text 281"/>
          <p:cNvSpPr txBox="1"/>
          <p:nvPr/>
        </p:nvSpPr>
        <p:spPr>
          <a:xfrm>
            <a:off x="4274820" y="6492240"/>
            <a:ext cx="544068"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semi-public</a:t>
            </a:r>
            <a:endParaRPr lang="en-US" sz="650" dirty="0"/>
          </a:p>
        </p:txBody>
      </p:sp>
      <p:sp>
        <p:nvSpPr>
          <p:cNvPr id="284" name="Shape 282"/>
          <p:cNvSpPr/>
          <p:nvPr/>
        </p:nvSpPr>
        <p:spPr>
          <a:xfrm>
            <a:off x="4892040" y="6510528"/>
            <a:ext cx="146304" cy="109728"/>
          </a:xfrm>
          <a:prstGeom prst="rect">
            <a:avLst/>
          </a:prstGeom>
          <a:solidFill>
            <a:srgbClr val="9A9A9A"/>
          </a:solidFill>
          <a:ln/>
        </p:spPr>
      </p:sp>
      <p:sp>
        <p:nvSpPr>
          <p:cNvPr id="285" name="Text 283"/>
          <p:cNvSpPr txBox="1"/>
          <p:nvPr/>
        </p:nvSpPr>
        <p:spPr>
          <a:xfrm>
            <a:off x="5138928" y="6492240"/>
            <a:ext cx="379476"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working</a:t>
            </a:r>
            <a:endParaRPr lang="en-US" sz="650" dirty="0"/>
          </a:p>
        </p:txBody>
      </p:sp>
      <p:sp>
        <p:nvSpPr>
          <p:cNvPr id="286" name="Shape 284"/>
          <p:cNvSpPr/>
          <p:nvPr/>
        </p:nvSpPr>
        <p:spPr>
          <a:xfrm>
            <a:off x="5591556" y="6510528"/>
            <a:ext cx="146304" cy="109728"/>
          </a:xfrm>
          <a:prstGeom prst="rect">
            <a:avLst/>
          </a:prstGeom>
          <a:solidFill>
            <a:srgbClr val="1B1B1B"/>
          </a:solidFill>
          <a:ln/>
        </p:spPr>
      </p:sp>
      <p:sp>
        <p:nvSpPr>
          <p:cNvPr id="287" name="Text 285"/>
          <p:cNvSpPr txBox="1"/>
          <p:nvPr/>
        </p:nvSpPr>
        <p:spPr>
          <a:xfrm>
            <a:off x="5838444" y="6492240"/>
            <a:ext cx="461772" cy="146304"/>
          </a:xfrm>
          <a:prstGeom prst="rect">
            <a:avLst/>
          </a:prstGeom>
          <a:noFill/>
          <a:ln/>
        </p:spPr>
        <p:txBody>
          <a:bodyPr wrap="square" lIns="0" tIns="0" rIns="0" bIns="0" rtlCol="0" anchor="ctr"/>
          <a:lstStyle/>
          <a:p>
            <a:pPr indent="0" marL="0">
              <a:buNone/>
            </a:pPr>
            <a:r>
              <a:rPr lang="en-US" sz="650" dirty="0">
                <a:solidFill>
                  <a:srgbClr val="6B6B6B"/>
                </a:solidFill>
                <a:latin typeface="Arial" pitchFamily="34" charset="0"/>
                <a:ea typeface="Arial" pitchFamily="34" charset="-122"/>
                <a:cs typeface="Arial" pitchFamily="34" charset="-120"/>
              </a:rPr>
              <a:t>protected</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DIRECTION C — FORM GENERATION</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Seven steps you can redraw as a strip on the board. Each step is one decision, each decision comes from a driver.</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11</a:t>
            </a:r>
            <a:endParaRPr lang="en-US" sz="3400" dirty="0"/>
          </a:p>
        </p:txBody>
      </p:sp>
      <p:sp>
        <p:nvSpPr>
          <p:cNvPr id="6" name="Shape 4"/>
          <p:cNvSpPr/>
          <p:nvPr/>
        </p:nvSpPr>
        <p:spPr>
          <a:xfrm>
            <a:off x="10241280" y="896112"/>
            <a:ext cx="1554480" cy="182880"/>
          </a:xfrm>
          <a:prstGeom prst="roundRect">
            <a:avLst>
              <a:gd name="adj" fmla="val 20000"/>
            </a:avLst>
          </a:prstGeom>
          <a:solidFill>
            <a:srgbClr val="C4262E"/>
          </a:solidFill>
          <a:ln w="9525">
            <a:solidFill>
              <a:srgbClr val="C4262E"/>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sp>
        <p:nvSpPr>
          <p:cNvPr id="8" name="Shape 6"/>
          <p:cNvSpPr/>
          <p:nvPr/>
        </p:nvSpPr>
        <p:spPr>
          <a:xfrm>
            <a:off x="365760" y="1280160"/>
            <a:ext cx="1572768" cy="2377440"/>
          </a:xfrm>
          <a:prstGeom prst="rect">
            <a:avLst/>
          </a:prstGeom>
          <a:solidFill>
            <a:srgbClr val="FFFFFF"/>
          </a:solidFill>
          <a:ln w="6350">
            <a:solidFill>
              <a:srgbClr val="D9D9D9"/>
            </a:solidFill>
            <a:prstDash val="solid"/>
          </a:ln>
        </p:spPr>
      </p:sp>
      <p:sp>
        <p:nvSpPr>
          <p:cNvPr id="9" name="Text 7"/>
          <p:cNvSpPr txBox="1"/>
          <p:nvPr/>
        </p:nvSpPr>
        <p:spPr>
          <a:xfrm>
            <a:off x="438912" y="1335024"/>
            <a:ext cx="1426464"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01  </a:t>
            </a:r>
            <a:pPr indent="0" marL="0">
              <a:buNone/>
            </a:pPr>
            <a:r>
              <a:rPr lang="en-US" sz="650" b="1" spc="50" kern="0" dirty="0">
                <a:solidFill>
                  <a:srgbClr val="1B1B1B"/>
                </a:solidFill>
                <a:latin typeface="Arial" pitchFamily="34" charset="0"/>
                <a:ea typeface="Arial" pitchFamily="34" charset="-122"/>
                <a:cs typeface="Arial" pitchFamily="34" charset="-120"/>
              </a:rPr>
              <a:t>EXISTING HILL</a:t>
            </a:r>
            <a:endParaRPr lang="en-US" sz="650" dirty="0"/>
          </a:p>
        </p:txBody>
      </p:sp>
      <p:sp>
        <p:nvSpPr>
          <p:cNvPr id="10" name="Text 8"/>
          <p:cNvSpPr txBox="1"/>
          <p:nvPr/>
        </p:nvSpPr>
        <p:spPr>
          <a:xfrm>
            <a:off x="438912" y="3236976"/>
            <a:ext cx="1426464" cy="384048"/>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Contoured mound, tree ring, roads. Ground stays as it is.</a:t>
            </a:r>
            <a:endParaRPr lang="en-US" sz="650" dirty="0"/>
          </a:p>
        </p:txBody>
      </p:sp>
      <p:sp>
        <p:nvSpPr>
          <p:cNvPr id="11" name="Shape 9"/>
          <p:cNvSpPr/>
          <p:nvPr/>
        </p:nvSpPr>
        <p:spPr>
          <a:xfrm>
            <a:off x="535636" y="1995603"/>
            <a:ext cx="1233016" cy="772818"/>
          </a:xfrm>
          <a:custGeom>
            <a:avLst/>
            <a:gdLst/>
            <a:ahLst/>
            <a:cxnLst/>
            <a:rect l="l" t="t" r="r" b="b"/>
            <a:pathLst>
              <a:path w="1233016" h="772818">
                <a:moveTo>
                  <a:pt x="1220496" y="655322"/>
                </a:moveTo>
                <a:lnTo>
                  <a:pt x="1204257" y="682890"/>
                </a:lnTo>
                <a:lnTo>
                  <a:pt x="1181579" y="707210"/>
                </a:lnTo>
                <a:lnTo>
                  <a:pt x="1152709" y="728016"/>
                </a:lnTo>
                <a:lnTo>
                  <a:pt x="1117965" y="745079"/>
                </a:lnTo>
                <a:lnTo>
                  <a:pt x="1077727" y="758212"/>
                </a:lnTo>
                <a:lnTo>
                  <a:pt x="1032436" y="767271"/>
                </a:lnTo>
                <a:lnTo>
                  <a:pt x="982587" y="772158"/>
                </a:lnTo>
                <a:lnTo>
                  <a:pt x="928728" y="772818"/>
                </a:lnTo>
                <a:lnTo>
                  <a:pt x="871448" y="769245"/>
                </a:lnTo>
                <a:lnTo>
                  <a:pt x="811375" y="761477"/>
                </a:lnTo>
                <a:lnTo>
                  <a:pt x="749167" y="749600"/>
                </a:lnTo>
                <a:lnTo>
                  <a:pt x="685505" y="733744"/>
                </a:lnTo>
                <a:lnTo>
                  <a:pt x="621087" y="714082"/>
                </a:lnTo>
                <a:lnTo>
                  <a:pt x="556620" y="690831"/>
                </a:lnTo>
                <a:lnTo>
                  <a:pt x="492808" y="664243"/>
                </a:lnTo>
                <a:lnTo>
                  <a:pt x="430352" y="634612"/>
                </a:lnTo>
                <a:lnTo>
                  <a:pt x="369935" y="602262"/>
                </a:lnTo>
                <a:lnTo>
                  <a:pt x="312220" y="567547"/>
                </a:lnTo>
                <a:lnTo>
                  <a:pt x="257839" y="530847"/>
                </a:lnTo>
                <a:lnTo>
                  <a:pt x="207387" y="492564"/>
                </a:lnTo>
                <a:lnTo>
                  <a:pt x="161418" y="453119"/>
                </a:lnTo>
                <a:lnTo>
                  <a:pt x="120434" y="412943"/>
                </a:lnTo>
                <a:lnTo>
                  <a:pt x="84886" y="372475"/>
                </a:lnTo>
                <a:lnTo>
                  <a:pt x="55163" y="332161"/>
                </a:lnTo>
                <a:lnTo>
                  <a:pt x="31589" y="292441"/>
                </a:lnTo>
                <a:lnTo>
                  <a:pt x="14424" y="253750"/>
                </a:lnTo>
                <a:lnTo>
                  <a:pt x="3856" y="216513"/>
                </a:lnTo>
                <a:lnTo>
                  <a:pt x="0" y="181138"/>
                </a:lnTo>
                <a:lnTo>
                  <a:pt x="2899" y="148011"/>
                </a:lnTo>
                <a:lnTo>
                  <a:pt x="12520" y="117496"/>
                </a:lnTo>
                <a:lnTo>
                  <a:pt x="28759" y="89928"/>
                </a:lnTo>
                <a:lnTo>
                  <a:pt x="51437" y="65608"/>
                </a:lnTo>
                <a:lnTo>
                  <a:pt x="80307" y="44802"/>
                </a:lnTo>
                <a:lnTo>
                  <a:pt x="115051" y="27740"/>
                </a:lnTo>
                <a:lnTo>
                  <a:pt x="155289" y="14606"/>
                </a:lnTo>
                <a:lnTo>
                  <a:pt x="200580" y="5547"/>
                </a:lnTo>
                <a:lnTo>
                  <a:pt x="250429" y="660"/>
                </a:lnTo>
                <a:lnTo>
                  <a:pt x="304288" y="0"/>
                </a:lnTo>
                <a:lnTo>
                  <a:pt x="361568" y="3573"/>
                </a:lnTo>
                <a:lnTo>
                  <a:pt x="421641" y="11341"/>
                </a:lnTo>
                <a:lnTo>
                  <a:pt x="483849" y="23218"/>
                </a:lnTo>
                <a:lnTo>
                  <a:pt x="547511" y="39074"/>
                </a:lnTo>
                <a:lnTo>
                  <a:pt x="611929" y="58736"/>
                </a:lnTo>
                <a:lnTo>
                  <a:pt x="676396" y="81988"/>
                </a:lnTo>
                <a:lnTo>
                  <a:pt x="740208" y="108575"/>
                </a:lnTo>
                <a:lnTo>
                  <a:pt x="802664" y="138206"/>
                </a:lnTo>
                <a:lnTo>
                  <a:pt x="863081" y="170556"/>
                </a:lnTo>
                <a:lnTo>
                  <a:pt x="920796" y="205271"/>
                </a:lnTo>
                <a:lnTo>
                  <a:pt x="975178" y="241971"/>
                </a:lnTo>
                <a:lnTo>
                  <a:pt x="1025629" y="280254"/>
                </a:lnTo>
                <a:lnTo>
                  <a:pt x="1071599" y="319699"/>
                </a:lnTo>
                <a:lnTo>
                  <a:pt x="1112582" y="359876"/>
                </a:lnTo>
                <a:lnTo>
                  <a:pt x="1148130" y="400343"/>
                </a:lnTo>
                <a:lnTo>
                  <a:pt x="1177854" y="440657"/>
                </a:lnTo>
                <a:lnTo>
                  <a:pt x="1201427" y="480377"/>
                </a:lnTo>
                <a:lnTo>
                  <a:pt x="1218592" y="519068"/>
                </a:lnTo>
                <a:lnTo>
                  <a:pt x="1229160" y="556305"/>
                </a:lnTo>
                <a:lnTo>
                  <a:pt x="1233016" y="591680"/>
                </a:lnTo>
                <a:lnTo>
                  <a:pt x="1230117" y="624807"/>
                </a:lnTo>
                <a:close/>
              </a:path>
            </a:pathLst>
          </a:custGeom>
          <a:solidFill>
            <a:srgbClr val="E4E4E4"/>
          </a:solidFill>
          <a:ln w="12700"/>
        </p:spPr>
      </p:sp>
      <p:sp>
        <p:nvSpPr>
          <p:cNvPr id="12" name="Shape 10"/>
          <p:cNvSpPr/>
          <p:nvPr/>
        </p:nvSpPr>
        <p:spPr>
          <a:xfrm>
            <a:off x="420624" y="2067379"/>
            <a:ext cx="127532" cy="45720"/>
          </a:xfrm>
          <a:custGeom>
            <a:avLst/>
            <a:gdLst/>
            <a:ahLst/>
            <a:cxnLst/>
            <a:rect l="l" t="t" r="r" b="b"/>
            <a:pathLst>
              <a:path w="127532" h="45720">
                <a:moveTo>
                  <a:pt x="127532" y="45720"/>
                </a:moveTo>
                <a:lnTo>
                  <a:pt x="0" y="0"/>
                </a:lnTo>
              </a:path>
            </a:pathLst>
          </a:custGeom>
          <a:ln w="76200">
            <a:solidFill>
              <a:srgbClr val="E4E4E4"/>
            </a:solidFill>
            <a:prstDash val="solid"/>
          </a:ln>
        </p:spPr>
      </p:sp>
      <p:sp>
        <p:nvSpPr>
          <p:cNvPr id="13" name="Shape 11"/>
          <p:cNvSpPr/>
          <p:nvPr/>
        </p:nvSpPr>
        <p:spPr>
          <a:xfrm>
            <a:off x="1756132" y="2650925"/>
            <a:ext cx="127532" cy="45720"/>
          </a:xfrm>
          <a:custGeom>
            <a:avLst/>
            <a:gdLst/>
            <a:ahLst/>
            <a:cxnLst/>
            <a:rect l="l" t="t" r="r" b="b"/>
            <a:pathLst>
              <a:path w="127532" h="45720">
                <a:moveTo>
                  <a:pt x="0" y="0"/>
                </a:moveTo>
                <a:lnTo>
                  <a:pt x="127532" y="45720"/>
                </a:lnTo>
              </a:path>
            </a:pathLst>
          </a:custGeom>
          <a:ln w="76200">
            <a:solidFill>
              <a:srgbClr val="E4E4E4"/>
            </a:solidFill>
            <a:prstDash val="solid"/>
          </a:ln>
        </p:spPr>
      </p:sp>
      <p:sp>
        <p:nvSpPr>
          <p:cNvPr id="14" name="Shape 12"/>
          <p:cNvSpPr/>
          <p:nvPr/>
        </p:nvSpPr>
        <p:spPr>
          <a:xfrm>
            <a:off x="638387" y="2060004"/>
            <a:ext cx="1027513" cy="644015"/>
          </a:xfrm>
          <a:custGeom>
            <a:avLst/>
            <a:gdLst/>
            <a:ahLst/>
            <a:cxnLst/>
            <a:rect l="l" t="t" r="r" b="b"/>
            <a:pathLst>
              <a:path w="1027513" h="644015">
                <a:moveTo>
                  <a:pt x="1017080" y="546101"/>
                </a:moveTo>
                <a:lnTo>
                  <a:pt x="1003548" y="569075"/>
                </a:lnTo>
                <a:lnTo>
                  <a:pt x="984649" y="589342"/>
                </a:lnTo>
                <a:lnTo>
                  <a:pt x="960591" y="606680"/>
                </a:lnTo>
                <a:lnTo>
                  <a:pt x="931638" y="620899"/>
                </a:lnTo>
                <a:lnTo>
                  <a:pt x="898106" y="631843"/>
                </a:lnTo>
                <a:lnTo>
                  <a:pt x="860363" y="639393"/>
                </a:lnTo>
                <a:lnTo>
                  <a:pt x="818823" y="643465"/>
                </a:lnTo>
                <a:lnTo>
                  <a:pt x="773940" y="644015"/>
                </a:lnTo>
                <a:lnTo>
                  <a:pt x="726207" y="641037"/>
                </a:lnTo>
                <a:lnTo>
                  <a:pt x="676146" y="634564"/>
                </a:lnTo>
                <a:lnTo>
                  <a:pt x="624306" y="624667"/>
                </a:lnTo>
                <a:lnTo>
                  <a:pt x="571254" y="611453"/>
                </a:lnTo>
                <a:lnTo>
                  <a:pt x="517573" y="595069"/>
                </a:lnTo>
                <a:lnTo>
                  <a:pt x="463850" y="575692"/>
                </a:lnTo>
                <a:lnTo>
                  <a:pt x="410673" y="553536"/>
                </a:lnTo>
                <a:lnTo>
                  <a:pt x="358627" y="528844"/>
                </a:lnTo>
                <a:lnTo>
                  <a:pt x="308279" y="501885"/>
                </a:lnTo>
                <a:lnTo>
                  <a:pt x="260183" y="472956"/>
                </a:lnTo>
                <a:lnTo>
                  <a:pt x="214865" y="442372"/>
                </a:lnTo>
                <a:lnTo>
                  <a:pt x="172822" y="410470"/>
                </a:lnTo>
                <a:lnTo>
                  <a:pt x="134515" y="377599"/>
                </a:lnTo>
                <a:lnTo>
                  <a:pt x="100362" y="344119"/>
                </a:lnTo>
                <a:lnTo>
                  <a:pt x="70738" y="310396"/>
                </a:lnTo>
                <a:lnTo>
                  <a:pt x="45969" y="276801"/>
                </a:lnTo>
                <a:lnTo>
                  <a:pt x="26324" y="243701"/>
                </a:lnTo>
                <a:lnTo>
                  <a:pt x="12020" y="211459"/>
                </a:lnTo>
                <a:lnTo>
                  <a:pt x="3213" y="180428"/>
                </a:lnTo>
                <a:lnTo>
                  <a:pt x="0" y="150948"/>
                </a:lnTo>
                <a:lnTo>
                  <a:pt x="2416" y="123342"/>
                </a:lnTo>
                <a:lnTo>
                  <a:pt x="10433" y="97914"/>
                </a:lnTo>
                <a:lnTo>
                  <a:pt x="23966" y="74940"/>
                </a:lnTo>
                <a:lnTo>
                  <a:pt x="42864" y="54673"/>
                </a:lnTo>
                <a:lnTo>
                  <a:pt x="66922" y="37335"/>
                </a:lnTo>
                <a:lnTo>
                  <a:pt x="95876" y="23116"/>
                </a:lnTo>
                <a:lnTo>
                  <a:pt x="129408" y="12172"/>
                </a:lnTo>
                <a:lnTo>
                  <a:pt x="167150" y="4623"/>
                </a:lnTo>
                <a:lnTo>
                  <a:pt x="208691" y="550"/>
                </a:lnTo>
                <a:lnTo>
                  <a:pt x="253573" y="0"/>
                </a:lnTo>
                <a:lnTo>
                  <a:pt x="301307" y="2978"/>
                </a:lnTo>
                <a:lnTo>
                  <a:pt x="351368" y="9451"/>
                </a:lnTo>
                <a:lnTo>
                  <a:pt x="403208" y="19348"/>
                </a:lnTo>
                <a:lnTo>
                  <a:pt x="456259" y="32562"/>
                </a:lnTo>
                <a:lnTo>
                  <a:pt x="509941" y="48946"/>
                </a:lnTo>
                <a:lnTo>
                  <a:pt x="563664" y="68323"/>
                </a:lnTo>
                <a:lnTo>
                  <a:pt x="616840" y="90479"/>
                </a:lnTo>
                <a:lnTo>
                  <a:pt x="668887" y="115171"/>
                </a:lnTo>
                <a:lnTo>
                  <a:pt x="719234" y="142130"/>
                </a:lnTo>
                <a:lnTo>
                  <a:pt x="767330" y="171059"/>
                </a:lnTo>
                <a:lnTo>
                  <a:pt x="812648" y="201643"/>
                </a:lnTo>
                <a:lnTo>
                  <a:pt x="854691" y="233545"/>
                </a:lnTo>
                <a:lnTo>
                  <a:pt x="892999" y="266416"/>
                </a:lnTo>
                <a:lnTo>
                  <a:pt x="927152" y="299896"/>
                </a:lnTo>
                <a:lnTo>
                  <a:pt x="956775" y="333619"/>
                </a:lnTo>
                <a:lnTo>
                  <a:pt x="981545" y="367214"/>
                </a:lnTo>
                <a:lnTo>
                  <a:pt x="1001189" y="400314"/>
                </a:lnTo>
                <a:lnTo>
                  <a:pt x="1015493" y="432556"/>
                </a:lnTo>
                <a:lnTo>
                  <a:pt x="1024300" y="463587"/>
                </a:lnTo>
                <a:lnTo>
                  <a:pt x="1027513" y="493067"/>
                </a:lnTo>
                <a:lnTo>
                  <a:pt x="1025098" y="520673"/>
                </a:lnTo>
                <a:close/>
              </a:path>
            </a:pathLst>
          </a:custGeom>
          <a:solidFill>
            <a:srgbClr val="FFFFFF"/>
          </a:solidFill>
          <a:ln w="19050">
            <a:solidFill>
              <a:srgbClr val="1B1B1B"/>
            </a:solidFill>
            <a:prstDash val="solid"/>
          </a:ln>
        </p:spPr>
      </p:sp>
      <p:sp>
        <p:nvSpPr>
          <p:cNvPr id="15" name="Shape 13"/>
          <p:cNvSpPr/>
          <p:nvPr/>
        </p:nvSpPr>
        <p:spPr>
          <a:xfrm>
            <a:off x="837726" y="2161000"/>
            <a:ext cx="739810" cy="463691"/>
          </a:xfrm>
          <a:custGeom>
            <a:avLst/>
            <a:gdLst/>
            <a:ahLst/>
            <a:cxnLst/>
            <a:rect l="l" t="t" r="r" b="b"/>
            <a:pathLst>
              <a:path w="739810" h="463691">
                <a:moveTo>
                  <a:pt x="732298" y="393193"/>
                </a:moveTo>
                <a:lnTo>
                  <a:pt x="722554" y="409734"/>
                </a:lnTo>
                <a:lnTo>
                  <a:pt x="708947" y="424326"/>
                </a:lnTo>
                <a:lnTo>
                  <a:pt x="691626" y="436810"/>
                </a:lnTo>
                <a:lnTo>
                  <a:pt x="670779" y="447047"/>
                </a:lnTo>
                <a:lnTo>
                  <a:pt x="646636" y="454927"/>
                </a:lnTo>
                <a:lnTo>
                  <a:pt x="619461" y="460363"/>
                </a:lnTo>
                <a:lnTo>
                  <a:pt x="589552" y="463295"/>
                </a:lnTo>
                <a:lnTo>
                  <a:pt x="557237" y="463691"/>
                </a:lnTo>
                <a:lnTo>
                  <a:pt x="522869" y="461547"/>
                </a:lnTo>
                <a:lnTo>
                  <a:pt x="486825" y="456886"/>
                </a:lnTo>
                <a:lnTo>
                  <a:pt x="449500" y="449760"/>
                </a:lnTo>
                <a:lnTo>
                  <a:pt x="411303" y="440246"/>
                </a:lnTo>
                <a:lnTo>
                  <a:pt x="372652" y="428449"/>
                </a:lnTo>
                <a:lnTo>
                  <a:pt x="333972" y="414498"/>
                </a:lnTo>
                <a:lnTo>
                  <a:pt x="295685" y="398546"/>
                </a:lnTo>
                <a:lnTo>
                  <a:pt x="258211" y="380767"/>
                </a:lnTo>
                <a:lnTo>
                  <a:pt x="221961" y="361357"/>
                </a:lnTo>
                <a:lnTo>
                  <a:pt x="187332" y="340528"/>
                </a:lnTo>
                <a:lnTo>
                  <a:pt x="154703" y="318508"/>
                </a:lnTo>
                <a:lnTo>
                  <a:pt x="124432" y="295539"/>
                </a:lnTo>
                <a:lnTo>
                  <a:pt x="96851" y="271871"/>
                </a:lnTo>
                <a:lnTo>
                  <a:pt x="72261" y="247766"/>
                </a:lnTo>
                <a:lnTo>
                  <a:pt x="50932" y="223485"/>
                </a:lnTo>
                <a:lnTo>
                  <a:pt x="33098" y="199297"/>
                </a:lnTo>
                <a:lnTo>
                  <a:pt x="18954" y="175465"/>
                </a:lnTo>
                <a:lnTo>
                  <a:pt x="8655" y="152250"/>
                </a:lnTo>
                <a:lnTo>
                  <a:pt x="2314" y="129908"/>
                </a:lnTo>
                <a:lnTo>
                  <a:pt x="0" y="108683"/>
                </a:lnTo>
                <a:lnTo>
                  <a:pt x="1739" y="88807"/>
                </a:lnTo>
                <a:lnTo>
                  <a:pt x="7512" y="70498"/>
                </a:lnTo>
                <a:lnTo>
                  <a:pt x="17255" y="53957"/>
                </a:lnTo>
                <a:lnTo>
                  <a:pt x="30862" y="39365"/>
                </a:lnTo>
                <a:lnTo>
                  <a:pt x="48184" y="26881"/>
                </a:lnTo>
                <a:lnTo>
                  <a:pt x="69031" y="16644"/>
                </a:lnTo>
                <a:lnTo>
                  <a:pt x="93173" y="8764"/>
                </a:lnTo>
                <a:lnTo>
                  <a:pt x="120348" y="3328"/>
                </a:lnTo>
                <a:lnTo>
                  <a:pt x="150257" y="396"/>
                </a:lnTo>
                <a:lnTo>
                  <a:pt x="182573" y="0"/>
                </a:lnTo>
                <a:lnTo>
                  <a:pt x="216941" y="2144"/>
                </a:lnTo>
                <a:lnTo>
                  <a:pt x="252985" y="6805"/>
                </a:lnTo>
                <a:lnTo>
                  <a:pt x="290310" y="13931"/>
                </a:lnTo>
                <a:lnTo>
                  <a:pt x="328507" y="23444"/>
                </a:lnTo>
                <a:lnTo>
                  <a:pt x="367157" y="35241"/>
                </a:lnTo>
                <a:lnTo>
                  <a:pt x="405838" y="49193"/>
                </a:lnTo>
                <a:lnTo>
                  <a:pt x="444125" y="65145"/>
                </a:lnTo>
                <a:lnTo>
                  <a:pt x="481599" y="82923"/>
                </a:lnTo>
                <a:lnTo>
                  <a:pt x="517849" y="102334"/>
                </a:lnTo>
                <a:lnTo>
                  <a:pt x="552478" y="123163"/>
                </a:lnTo>
                <a:lnTo>
                  <a:pt x="585107" y="145183"/>
                </a:lnTo>
                <a:lnTo>
                  <a:pt x="615378" y="168152"/>
                </a:lnTo>
                <a:lnTo>
                  <a:pt x="642959" y="191820"/>
                </a:lnTo>
                <a:lnTo>
                  <a:pt x="667549" y="215925"/>
                </a:lnTo>
                <a:lnTo>
                  <a:pt x="688878" y="240206"/>
                </a:lnTo>
                <a:lnTo>
                  <a:pt x="706712" y="264394"/>
                </a:lnTo>
                <a:lnTo>
                  <a:pt x="720856" y="288226"/>
                </a:lnTo>
                <a:lnTo>
                  <a:pt x="731155" y="311441"/>
                </a:lnTo>
                <a:lnTo>
                  <a:pt x="737496" y="333783"/>
                </a:lnTo>
                <a:lnTo>
                  <a:pt x="739810" y="355008"/>
                </a:lnTo>
                <a:lnTo>
                  <a:pt x="738070" y="374884"/>
                </a:lnTo>
                <a:close/>
              </a:path>
            </a:pathLst>
          </a:custGeom>
          <a:ln w="6350">
            <a:solidFill>
              <a:srgbClr val="4F7A43"/>
            </a:solidFill>
            <a:prstDash val="dash"/>
          </a:ln>
        </p:spPr>
      </p:sp>
      <p:sp>
        <p:nvSpPr>
          <p:cNvPr id="16" name="Shape 14"/>
          <p:cNvSpPr/>
          <p:nvPr/>
        </p:nvSpPr>
        <p:spPr>
          <a:xfrm>
            <a:off x="971302" y="2244722"/>
            <a:ext cx="472656" cy="296247"/>
          </a:xfrm>
          <a:custGeom>
            <a:avLst/>
            <a:gdLst/>
            <a:ahLst/>
            <a:cxnLst/>
            <a:rect l="l" t="t" r="r" b="b"/>
            <a:pathLst>
              <a:path w="472656" h="296247">
                <a:moveTo>
                  <a:pt x="467857" y="251207"/>
                </a:moveTo>
                <a:lnTo>
                  <a:pt x="461632" y="261775"/>
                </a:lnTo>
                <a:lnTo>
                  <a:pt x="452939" y="271097"/>
                </a:lnTo>
                <a:lnTo>
                  <a:pt x="441872" y="279073"/>
                </a:lnTo>
                <a:lnTo>
                  <a:pt x="428553" y="285613"/>
                </a:lnTo>
                <a:lnTo>
                  <a:pt x="413129" y="290648"/>
                </a:lnTo>
                <a:lnTo>
                  <a:pt x="395767" y="294121"/>
                </a:lnTo>
                <a:lnTo>
                  <a:pt x="376658" y="295994"/>
                </a:lnTo>
                <a:lnTo>
                  <a:pt x="356012" y="296247"/>
                </a:lnTo>
                <a:lnTo>
                  <a:pt x="334055" y="294877"/>
                </a:lnTo>
                <a:lnTo>
                  <a:pt x="311027" y="291900"/>
                </a:lnTo>
                <a:lnTo>
                  <a:pt x="287181" y="287347"/>
                </a:lnTo>
                <a:lnTo>
                  <a:pt x="262777" y="281269"/>
                </a:lnTo>
                <a:lnTo>
                  <a:pt x="238084" y="273732"/>
                </a:lnTo>
                <a:lnTo>
                  <a:pt x="213371" y="264818"/>
                </a:lnTo>
                <a:lnTo>
                  <a:pt x="188910" y="254627"/>
                </a:lnTo>
                <a:lnTo>
                  <a:pt x="164968" y="243268"/>
                </a:lnTo>
                <a:lnTo>
                  <a:pt x="141808" y="230867"/>
                </a:lnTo>
                <a:lnTo>
                  <a:pt x="119684" y="217560"/>
                </a:lnTo>
                <a:lnTo>
                  <a:pt x="98838" y="203491"/>
                </a:lnTo>
                <a:lnTo>
                  <a:pt x="79498" y="188816"/>
                </a:lnTo>
                <a:lnTo>
                  <a:pt x="61877" y="173696"/>
                </a:lnTo>
                <a:lnTo>
                  <a:pt x="46166" y="158295"/>
                </a:lnTo>
                <a:lnTo>
                  <a:pt x="32540" y="142782"/>
                </a:lnTo>
                <a:lnTo>
                  <a:pt x="21146" y="127328"/>
                </a:lnTo>
                <a:lnTo>
                  <a:pt x="12109" y="112102"/>
                </a:lnTo>
                <a:lnTo>
                  <a:pt x="5529" y="97271"/>
                </a:lnTo>
                <a:lnTo>
                  <a:pt x="1478" y="82997"/>
                </a:lnTo>
                <a:lnTo>
                  <a:pt x="0" y="69436"/>
                </a:lnTo>
                <a:lnTo>
                  <a:pt x="1111" y="56738"/>
                </a:lnTo>
                <a:lnTo>
                  <a:pt x="4799" y="45040"/>
                </a:lnTo>
                <a:lnTo>
                  <a:pt x="11024" y="34472"/>
                </a:lnTo>
                <a:lnTo>
                  <a:pt x="19718" y="25150"/>
                </a:lnTo>
                <a:lnTo>
                  <a:pt x="30784" y="17174"/>
                </a:lnTo>
                <a:lnTo>
                  <a:pt x="44103" y="10633"/>
                </a:lnTo>
                <a:lnTo>
                  <a:pt x="59527" y="5599"/>
                </a:lnTo>
                <a:lnTo>
                  <a:pt x="76889" y="2126"/>
                </a:lnTo>
                <a:lnTo>
                  <a:pt x="95998" y="253"/>
                </a:lnTo>
                <a:lnTo>
                  <a:pt x="116644" y="0"/>
                </a:lnTo>
                <a:lnTo>
                  <a:pt x="138601" y="1370"/>
                </a:lnTo>
                <a:lnTo>
                  <a:pt x="161629" y="4347"/>
                </a:lnTo>
                <a:lnTo>
                  <a:pt x="185476" y="8900"/>
                </a:lnTo>
                <a:lnTo>
                  <a:pt x="209879" y="14978"/>
                </a:lnTo>
                <a:lnTo>
                  <a:pt x="234573" y="22515"/>
                </a:lnTo>
                <a:lnTo>
                  <a:pt x="259285" y="31429"/>
                </a:lnTo>
                <a:lnTo>
                  <a:pt x="283746" y="41620"/>
                </a:lnTo>
                <a:lnTo>
                  <a:pt x="307688" y="52979"/>
                </a:lnTo>
                <a:lnTo>
                  <a:pt x="330848" y="65380"/>
                </a:lnTo>
                <a:lnTo>
                  <a:pt x="352972" y="78687"/>
                </a:lnTo>
                <a:lnTo>
                  <a:pt x="373818" y="92756"/>
                </a:lnTo>
                <a:lnTo>
                  <a:pt x="393158" y="107431"/>
                </a:lnTo>
                <a:lnTo>
                  <a:pt x="410779" y="122551"/>
                </a:lnTo>
                <a:lnTo>
                  <a:pt x="426490" y="137952"/>
                </a:lnTo>
                <a:lnTo>
                  <a:pt x="440116" y="153465"/>
                </a:lnTo>
                <a:lnTo>
                  <a:pt x="451511" y="168919"/>
                </a:lnTo>
                <a:lnTo>
                  <a:pt x="460547" y="184145"/>
                </a:lnTo>
                <a:lnTo>
                  <a:pt x="467127" y="198976"/>
                </a:lnTo>
                <a:lnTo>
                  <a:pt x="471178" y="213250"/>
                </a:lnTo>
                <a:lnTo>
                  <a:pt x="472656" y="226811"/>
                </a:lnTo>
                <a:lnTo>
                  <a:pt x="471545" y="239509"/>
                </a:lnTo>
                <a:close/>
              </a:path>
            </a:pathLst>
          </a:custGeom>
          <a:ln w="6350">
            <a:solidFill>
              <a:srgbClr val="4F7A43"/>
            </a:solidFill>
            <a:prstDash val="dash"/>
          </a:ln>
        </p:spPr>
      </p:sp>
      <p:sp>
        <p:nvSpPr>
          <p:cNvPr id="17" name="Shape 15"/>
          <p:cNvSpPr/>
          <p:nvPr/>
        </p:nvSpPr>
        <p:spPr>
          <a:xfrm>
            <a:off x="1094604" y="2322003"/>
            <a:ext cx="226053" cy="141683"/>
          </a:xfrm>
          <a:custGeom>
            <a:avLst/>
            <a:gdLst/>
            <a:ahLst/>
            <a:cxnLst/>
            <a:rect l="l" t="t" r="r" b="b"/>
            <a:pathLst>
              <a:path w="226053" h="141683">
                <a:moveTo>
                  <a:pt x="223758" y="120142"/>
                </a:moveTo>
                <a:lnTo>
                  <a:pt x="220780" y="125197"/>
                </a:lnTo>
                <a:lnTo>
                  <a:pt x="216623" y="129655"/>
                </a:lnTo>
                <a:lnTo>
                  <a:pt x="211330" y="133470"/>
                </a:lnTo>
                <a:lnTo>
                  <a:pt x="204960" y="136598"/>
                </a:lnTo>
                <a:lnTo>
                  <a:pt x="197583" y="139005"/>
                </a:lnTo>
                <a:lnTo>
                  <a:pt x="189280" y="140666"/>
                </a:lnTo>
                <a:lnTo>
                  <a:pt x="180141" y="141562"/>
                </a:lnTo>
                <a:lnTo>
                  <a:pt x="170267" y="141683"/>
                </a:lnTo>
                <a:lnTo>
                  <a:pt x="159765" y="141028"/>
                </a:lnTo>
                <a:lnTo>
                  <a:pt x="148752" y="139604"/>
                </a:lnTo>
                <a:lnTo>
                  <a:pt x="137347" y="137427"/>
                </a:lnTo>
                <a:lnTo>
                  <a:pt x="125676" y="134520"/>
                </a:lnTo>
                <a:lnTo>
                  <a:pt x="113866" y="130915"/>
                </a:lnTo>
                <a:lnTo>
                  <a:pt x="102047" y="126652"/>
                </a:lnTo>
                <a:lnTo>
                  <a:pt x="90348" y="121778"/>
                </a:lnTo>
                <a:lnTo>
                  <a:pt x="78898" y="116346"/>
                </a:lnTo>
                <a:lnTo>
                  <a:pt x="67821" y="110415"/>
                </a:lnTo>
                <a:lnTo>
                  <a:pt x="57240" y="104050"/>
                </a:lnTo>
                <a:lnTo>
                  <a:pt x="47270" y="97322"/>
                </a:lnTo>
                <a:lnTo>
                  <a:pt x="38021" y="90303"/>
                </a:lnTo>
                <a:lnTo>
                  <a:pt x="29593" y="83072"/>
                </a:lnTo>
                <a:lnTo>
                  <a:pt x="22080" y="75706"/>
                </a:lnTo>
                <a:lnTo>
                  <a:pt x="15562" y="68287"/>
                </a:lnTo>
                <a:lnTo>
                  <a:pt x="10113" y="60896"/>
                </a:lnTo>
                <a:lnTo>
                  <a:pt x="5791" y="53614"/>
                </a:lnTo>
                <a:lnTo>
                  <a:pt x="2644" y="46521"/>
                </a:lnTo>
                <a:lnTo>
                  <a:pt x="707" y="39694"/>
                </a:lnTo>
                <a:lnTo>
                  <a:pt x="0" y="33209"/>
                </a:lnTo>
                <a:lnTo>
                  <a:pt x="531" y="27135"/>
                </a:lnTo>
                <a:lnTo>
                  <a:pt x="2295" y="21541"/>
                </a:lnTo>
                <a:lnTo>
                  <a:pt x="5272" y="16487"/>
                </a:lnTo>
                <a:lnTo>
                  <a:pt x="9430" y="12028"/>
                </a:lnTo>
                <a:lnTo>
                  <a:pt x="14723" y="8214"/>
                </a:lnTo>
                <a:lnTo>
                  <a:pt x="21093" y="5086"/>
                </a:lnTo>
                <a:lnTo>
                  <a:pt x="28470" y="2678"/>
                </a:lnTo>
                <a:lnTo>
                  <a:pt x="36773" y="1017"/>
                </a:lnTo>
                <a:lnTo>
                  <a:pt x="45912" y="121"/>
                </a:lnTo>
                <a:lnTo>
                  <a:pt x="55786" y="0"/>
                </a:lnTo>
                <a:lnTo>
                  <a:pt x="66287" y="655"/>
                </a:lnTo>
                <a:lnTo>
                  <a:pt x="77301" y="2079"/>
                </a:lnTo>
                <a:lnTo>
                  <a:pt x="88706" y="4257"/>
                </a:lnTo>
                <a:lnTo>
                  <a:pt x="100377" y="7164"/>
                </a:lnTo>
                <a:lnTo>
                  <a:pt x="112187" y="10768"/>
                </a:lnTo>
                <a:lnTo>
                  <a:pt x="124006" y="15031"/>
                </a:lnTo>
                <a:lnTo>
                  <a:pt x="135705" y="19905"/>
                </a:lnTo>
                <a:lnTo>
                  <a:pt x="147155" y="25338"/>
                </a:lnTo>
                <a:lnTo>
                  <a:pt x="158232" y="31269"/>
                </a:lnTo>
                <a:lnTo>
                  <a:pt x="168813" y="37633"/>
                </a:lnTo>
                <a:lnTo>
                  <a:pt x="178783" y="44361"/>
                </a:lnTo>
                <a:lnTo>
                  <a:pt x="188032" y="51380"/>
                </a:lnTo>
                <a:lnTo>
                  <a:pt x="196460" y="58612"/>
                </a:lnTo>
                <a:lnTo>
                  <a:pt x="203973" y="65977"/>
                </a:lnTo>
                <a:lnTo>
                  <a:pt x="210490" y="73396"/>
                </a:lnTo>
                <a:lnTo>
                  <a:pt x="215940" y="80787"/>
                </a:lnTo>
                <a:lnTo>
                  <a:pt x="220262" y="88069"/>
                </a:lnTo>
                <a:lnTo>
                  <a:pt x="223408" y="95162"/>
                </a:lnTo>
                <a:lnTo>
                  <a:pt x="225346" y="101989"/>
                </a:lnTo>
                <a:lnTo>
                  <a:pt x="226053" y="108475"/>
                </a:lnTo>
                <a:lnTo>
                  <a:pt x="225522" y="114548"/>
                </a:lnTo>
                <a:close/>
              </a:path>
            </a:pathLst>
          </a:custGeom>
          <a:ln w="6350">
            <a:solidFill>
              <a:srgbClr val="4F7A43"/>
            </a:solidFill>
            <a:prstDash val="dash"/>
          </a:ln>
        </p:spPr>
      </p:sp>
      <p:sp>
        <p:nvSpPr>
          <p:cNvPr id="18" name="Shape 16"/>
          <p:cNvSpPr/>
          <p:nvPr/>
        </p:nvSpPr>
        <p:spPr>
          <a:xfrm>
            <a:off x="1574495" y="2558641"/>
            <a:ext cx="41148" cy="41148"/>
          </a:xfrm>
          <a:prstGeom prst="ellipse">
            <a:avLst/>
          </a:prstGeom>
          <a:solidFill>
            <a:srgbClr val="FFFFFF"/>
          </a:solidFill>
          <a:ln w="7620">
            <a:solidFill>
              <a:srgbClr val="4F7A43"/>
            </a:solidFill>
            <a:prstDash val="solid"/>
          </a:ln>
        </p:spPr>
      </p:sp>
      <p:sp>
        <p:nvSpPr>
          <p:cNvPr id="19" name="Shape 17"/>
          <p:cNvSpPr/>
          <p:nvPr/>
        </p:nvSpPr>
        <p:spPr>
          <a:xfrm>
            <a:off x="1528619" y="2609593"/>
            <a:ext cx="41148" cy="41148"/>
          </a:xfrm>
          <a:prstGeom prst="ellipse">
            <a:avLst/>
          </a:prstGeom>
          <a:solidFill>
            <a:srgbClr val="FFFFFF"/>
          </a:solidFill>
          <a:ln w="7620">
            <a:solidFill>
              <a:srgbClr val="4F7A43"/>
            </a:solidFill>
            <a:prstDash val="solid"/>
          </a:ln>
        </p:spPr>
      </p:sp>
      <p:sp>
        <p:nvSpPr>
          <p:cNvPr id="20" name="Shape 18"/>
          <p:cNvSpPr/>
          <p:nvPr/>
        </p:nvSpPr>
        <p:spPr>
          <a:xfrm>
            <a:off x="1448045" y="2638859"/>
            <a:ext cx="41148" cy="41148"/>
          </a:xfrm>
          <a:prstGeom prst="ellipse">
            <a:avLst/>
          </a:prstGeom>
          <a:solidFill>
            <a:srgbClr val="FFFFFF"/>
          </a:solidFill>
          <a:ln w="7620">
            <a:solidFill>
              <a:srgbClr val="4F7A43"/>
            </a:solidFill>
            <a:prstDash val="solid"/>
          </a:ln>
        </p:spPr>
      </p:sp>
      <p:sp>
        <p:nvSpPr>
          <p:cNvPr id="21" name="Shape 19"/>
          <p:cNvSpPr/>
          <p:nvPr/>
        </p:nvSpPr>
        <p:spPr>
          <a:xfrm>
            <a:off x="1339814" y="2643882"/>
            <a:ext cx="41148" cy="41148"/>
          </a:xfrm>
          <a:prstGeom prst="ellipse">
            <a:avLst/>
          </a:prstGeom>
          <a:solidFill>
            <a:srgbClr val="FFFFFF"/>
          </a:solidFill>
          <a:ln w="7620">
            <a:solidFill>
              <a:srgbClr val="4F7A43"/>
            </a:solidFill>
            <a:prstDash val="solid"/>
          </a:ln>
        </p:spPr>
      </p:sp>
      <p:sp>
        <p:nvSpPr>
          <p:cNvPr id="22" name="Shape 20"/>
          <p:cNvSpPr/>
          <p:nvPr/>
        </p:nvSpPr>
        <p:spPr>
          <a:xfrm>
            <a:off x="1213385" y="2624221"/>
            <a:ext cx="41148" cy="41148"/>
          </a:xfrm>
          <a:prstGeom prst="ellipse">
            <a:avLst/>
          </a:prstGeom>
          <a:solidFill>
            <a:srgbClr val="FFFFFF"/>
          </a:solidFill>
          <a:ln w="7620">
            <a:solidFill>
              <a:srgbClr val="4F7A43"/>
            </a:solidFill>
            <a:prstDash val="solid"/>
          </a:ln>
        </p:spPr>
      </p:sp>
      <p:sp>
        <p:nvSpPr>
          <p:cNvPr id="23" name="Shape 21"/>
          <p:cNvSpPr/>
          <p:nvPr/>
        </p:nvSpPr>
        <p:spPr>
          <a:xfrm>
            <a:off x="1079805" y="2581595"/>
            <a:ext cx="41148" cy="41148"/>
          </a:xfrm>
          <a:prstGeom prst="ellipse">
            <a:avLst/>
          </a:prstGeom>
          <a:solidFill>
            <a:srgbClr val="FFFFFF"/>
          </a:solidFill>
          <a:ln w="7620">
            <a:solidFill>
              <a:srgbClr val="4F7A43"/>
            </a:solidFill>
            <a:prstDash val="solid"/>
          </a:ln>
        </p:spPr>
      </p:sp>
      <p:sp>
        <p:nvSpPr>
          <p:cNvPr id="24" name="Shape 22"/>
          <p:cNvSpPr/>
          <p:nvPr/>
        </p:nvSpPr>
        <p:spPr>
          <a:xfrm>
            <a:off x="950750" y="2519730"/>
            <a:ext cx="41148" cy="41148"/>
          </a:xfrm>
          <a:prstGeom prst="ellipse">
            <a:avLst/>
          </a:prstGeom>
          <a:solidFill>
            <a:srgbClr val="FFFFFF"/>
          </a:solidFill>
          <a:ln w="7620">
            <a:solidFill>
              <a:srgbClr val="4F7A43"/>
            </a:solidFill>
            <a:prstDash val="solid"/>
          </a:ln>
        </p:spPr>
      </p:sp>
      <p:sp>
        <p:nvSpPr>
          <p:cNvPr id="25" name="Shape 23"/>
          <p:cNvSpPr/>
          <p:nvPr/>
        </p:nvSpPr>
        <p:spPr>
          <a:xfrm>
            <a:off x="837496" y="2444032"/>
            <a:ext cx="41148" cy="41148"/>
          </a:xfrm>
          <a:prstGeom prst="ellipse">
            <a:avLst/>
          </a:prstGeom>
          <a:solidFill>
            <a:srgbClr val="FFFFFF"/>
          </a:solidFill>
          <a:ln w="7620">
            <a:solidFill>
              <a:srgbClr val="4F7A43"/>
            </a:solidFill>
            <a:prstDash val="solid"/>
          </a:ln>
        </p:spPr>
      </p:sp>
      <p:sp>
        <p:nvSpPr>
          <p:cNvPr id="26" name="Shape 24"/>
          <p:cNvSpPr/>
          <p:nvPr/>
        </p:nvSpPr>
        <p:spPr>
          <a:xfrm>
            <a:off x="749942" y="2361116"/>
            <a:ext cx="41148" cy="41148"/>
          </a:xfrm>
          <a:prstGeom prst="ellipse">
            <a:avLst/>
          </a:prstGeom>
          <a:solidFill>
            <a:srgbClr val="FFFFFF"/>
          </a:solidFill>
          <a:ln w="7620">
            <a:solidFill>
              <a:srgbClr val="4F7A43"/>
            </a:solidFill>
            <a:prstDash val="solid"/>
          </a:ln>
        </p:spPr>
      </p:sp>
      <p:sp>
        <p:nvSpPr>
          <p:cNvPr id="27" name="Shape 25"/>
          <p:cNvSpPr/>
          <p:nvPr/>
        </p:nvSpPr>
        <p:spPr>
          <a:xfrm>
            <a:off x="695738" y="2278228"/>
            <a:ext cx="41148" cy="41148"/>
          </a:xfrm>
          <a:prstGeom prst="ellipse">
            <a:avLst/>
          </a:prstGeom>
          <a:solidFill>
            <a:srgbClr val="FFFFFF"/>
          </a:solidFill>
          <a:ln w="7620">
            <a:solidFill>
              <a:srgbClr val="4F7A43"/>
            </a:solidFill>
            <a:prstDash val="solid"/>
          </a:ln>
        </p:spPr>
      </p:sp>
      <p:sp>
        <p:nvSpPr>
          <p:cNvPr id="28" name="Shape 26"/>
          <p:cNvSpPr/>
          <p:nvPr/>
        </p:nvSpPr>
        <p:spPr>
          <a:xfrm>
            <a:off x="679622" y="2202611"/>
            <a:ext cx="41148" cy="41148"/>
          </a:xfrm>
          <a:prstGeom prst="ellipse">
            <a:avLst/>
          </a:prstGeom>
          <a:solidFill>
            <a:srgbClr val="FFFFFF"/>
          </a:solidFill>
          <a:ln w="7620">
            <a:solidFill>
              <a:srgbClr val="4F7A43"/>
            </a:solidFill>
            <a:prstDash val="solid"/>
          </a:ln>
        </p:spPr>
      </p:sp>
      <p:sp>
        <p:nvSpPr>
          <p:cNvPr id="29" name="Shape 27"/>
          <p:cNvSpPr/>
          <p:nvPr/>
        </p:nvSpPr>
        <p:spPr>
          <a:xfrm>
            <a:off x="703002" y="2140875"/>
            <a:ext cx="41148" cy="41148"/>
          </a:xfrm>
          <a:prstGeom prst="ellipse">
            <a:avLst/>
          </a:prstGeom>
          <a:solidFill>
            <a:srgbClr val="FFFFFF"/>
          </a:solidFill>
          <a:ln w="7620">
            <a:solidFill>
              <a:srgbClr val="4F7A43"/>
            </a:solidFill>
            <a:prstDash val="solid"/>
          </a:ln>
        </p:spPr>
      </p:sp>
      <p:sp>
        <p:nvSpPr>
          <p:cNvPr id="30" name="Shape 28"/>
          <p:cNvSpPr/>
          <p:nvPr/>
        </p:nvSpPr>
        <p:spPr>
          <a:xfrm>
            <a:off x="763835" y="2098414"/>
            <a:ext cx="41148" cy="41148"/>
          </a:xfrm>
          <a:prstGeom prst="ellipse">
            <a:avLst/>
          </a:prstGeom>
          <a:solidFill>
            <a:srgbClr val="FFFFFF"/>
          </a:solidFill>
          <a:ln w="7620">
            <a:solidFill>
              <a:srgbClr val="4F7A43"/>
            </a:solidFill>
            <a:prstDash val="solid"/>
          </a:ln>
        </p:spPr>
      </p:sp>
      <p:sp>
        <p:nvSpPr>
          <p:cNvPr id="31" name="Shape 29"/>
          <p:cNvSpPr/>
          <p:nvPr/>
        </p:nvSpPr>
        <p:spPr>
          <a:xfrm>
            <a:off x="856804" y="2078938"/>
            <a:ext cx="41148" cy="41148"/>
          </a:xfrm>
          <a:prstGeom prst="ellipse">
            <a:avLst/>
          </a:prstGeom>
          <a:solidFill>
            <a:srgbClr val="FFFFFF"/>
          </a:solidFill>
          <a:ln w="7620">
            <a:solidFill>
              <a:srgbClr val="4F7A43"/>
            </a:solidFill>
            <a:prstDash val="solid"/>
          </a:ln>
        </p:spPr>
      </p:sp>
      <p:sp>
        <p:nvSpPr>
          <p:cNvPr id="32" name="Shape 30"/>
          <p:cNvSpPr/>
          <p:nvPr/>
        </p:nvSpPr>
        <p:spPr>
          <a:xfrm>
            <a:off x="973785" y="2084151"/>
            <a:ext cx="41148" cy="41148"/>
          </a:xfrm>
          <a:prstGeom prst="ellipse">
            <a:avLst/>
          </a:prstGeom>
          <a:solidFill>
            <a:srgbClr val="FFFFFF"/>
          </a:solidFill>
          <a:ln w="7620">
            <a:solidFill>
              <a:srgbClr val="4F7A43"/>
            </a:solidFill>
            <a:prstDash val="solid"/>
          </a:ln>
        </p:spPr>
      </p:sp>
      <p:sp>
        <p:nvSpPr>
          <p:cNvPr id="33" name="Shape 31"/>
          <p:cNvSpPr/>
          <p:nvPr/>
        </p:nvSpPr>
        <p:spPr>
          <a:xfrm>
            <a:off x="1104555" y="2113595"/>
            <a:ext cx="41148" cy="41148"/>
          </a:xfrm>
          <a:prstGeom prst="ellipse">
            <a:avLst/>
          </a:prstGeom>
          <a:solidFill>
            <a:srgbClr val="FFFFFF"/>
          </a:solidFill>
          <a:ln w="7620">
            <a:solidFill>
              <a:srgbClr val="4F7A43"/>
            </a:solidFill>
            <a:prstDash val="solid"/>
          </a:ln>
        </p:spPr>
      </p:sp>
      <p:sp>
        <p:nvSpPr>
          <p:cNvPr id="34" name="Shape 32"/>
          <p:cNvSpPr/>
          <p:nvPr/>
        </p:nvSpPr>
        <p:spPr>
          <a:xfrm>
            <a:off x="1237686" y="2164699"/>
            <a:ext cx="41148" cy="41148"/>
          </a:xfrm>
          <a:prstGeom prst="ellipse">
            <a:avLst/>
          </a:prstGeom>
          <a:solidFill>
            <a:srgbClr val="FFFFFF"/>
          </a:solidFill>
          <a:ln w="7620">
            <a:solidFill>
              <a:srgbClr val="4F7A43"/>
            </a:solidFill>
            <a:prstDash val="solid"/>
          </a:ln>
        </p:spPr>
      </p:sp>
      <p:sp>
        <p:nvSpPr>
          <p:cNvPr id="35" name="Shape 33"/>
          <p:cNvSpPr/>
          <p:nvPr/>
        </p:nvSpPr>
        <p:spPr>
          <a:xfrm>
            <a:off x="1361543" y="2232996"/>
            <a:ext cx="41148" cy="41148"/>
          </a:xfrm>
          <a:prstGeom prst="ellipse">
            <a:avLst/>
          </a:prstGeom>
          <a:solidFill>
            <a:srgbClr val="FFFFFF"/>
          </a:solidFill>
          <a:ln w="7620">
            <a:solidFill>
              <a:srgbClr val="4F7A43"/>
            </a:solidFill>
            <a:prstDash val="solid"/>
          </a:ln>
        </p:spPr>
      </p:sp>
      <p:sp>
        <p:nvSpPr>
          <p:cNvPr id="36" name="Shape 34"/>
          <p:cNvSpPr/>
          <p:nvPr/>
        </p:nvSpPr>
        <p:spPr>
          <a:xfrm>
            <a:off x="1465303" y="2312517"/>
            <a:ext cx="41148" cy="41148"/>
          </a:xfrm>
          <a:prstGeom prst="ellipse">
            <a:avLst/>
          </a:prstGeom>
          <a:solidFill>
            <a:srgbClr val="FFFFFF"/>
          </a:solidFill>
          <a:ln w="7620">
            <a:solidFill>
              <a:srgbClr val="4F7A43"/>
            </a:solidFill>
            <a:prstDash val="solid"/>
          </a:ln>
        </p:spPr>
      </p:sp>
      <p:sp>
        <p:nvSpPr>
          <p:cNvPr id="37" name="Shape 35"/>
          <p:cNvSpPr/>
          <p:nvPr/>
        </p:nvSpPr>
        <p:spPr>
          <a:xfrm>
            <a:off x="1539898" y="2396314"/>
            <a:ext cx="41148" cy="41148"/>
          </a:xfrm>
          <a:prstGeom prst="ellipse">
            <a:avLst/>
          </a:prstGeom>
          <a:solidFill>
            <a:srgbClr val="FFFFFF"/>
          </a:solidFill>
          <a:ln w="7620">
            <a:solidFill>
              <a:srgbClr val="4F7A43"/>
            </a:solidFill>
            <a:prstDash val="solid"/>
          </a:ln>
        </p:spPr>
      </p:sp>
      <p:sp>
        <p:nvSpPr>
          <p:cNvPr id="38" name="Shape 36"/>
          <p:cNvSpPr/>
          <p:nvPr/>
        </p:nvSpPr>
        <p:spPr>
          <a:xfrm>
            <a:off x="1578809" y="2477063"/>
            <a:ext cx="41148" cy="41148"/>
          </a:xfrm>
          <a:prstGeom prst="ellipse">
            <a:avLst/>
          </a:prstGeom>
          <a:solidFill>
            <a:srgbClr val="FFFFFF"/>
          </a:solidFill>
          <a:ln w="7620">
            <a:solidFill>
              <a:srgbClr val="4F7A43"/>
            </a:solidFill>
            <a:prstDash val="solid"/>
          </a:ln>
        </p:spPr>
      </p:sp>
      <p:sp>
        <p:nvSpPr>
          <p:cNvPr id="39" name="Shape 37"/>
          <p:cNvSpPr/>
          <p:nvPr/>
        </p:nvSpPr>
        <p:spPr>
          <a:xfrm>
            <a:off x="1578635" y="2547707"/>
            <a:ext cx="41148" cy="41148"/>
          </a:xfrm>
          <a:prstGeom prst="ellipse">
            <a:avLst/>
          </a:prstGeom>
          <a:solidFill>
            <a:srgbClr val="FFFFFF"/>
          </a:solidFill>
          <a:ln w="7620">
            <a:solidFill>
              <a:srgbClr val="4F7A43"/>
            </a:solidFill>
            <a:prstDash val="solid"/>
          </a:ln>
        </p:spPr>
      </p:sp>
      <p:sp>
        <p:nvSpPr>
          <p:cNvPr id="40" name="Shape 38"/>
          <p:cNvSpPr/>
          <p:nvPr/>
        </p:nvSpPr>
        <p:spPr>
          <a:xfrm>
            <a:off x="1929384" y="246430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41" name="Shape 39"/>
          <p:cNvSpPr/>
          <p:nvPr/>
        </p:nvSpPr>
        <p:spPr>
          <a:xfrm>
            <a:off x="2029968" y="1280160"/>
            <a:ext cx="1572768" cy="2377440"/>
          </a:xfrm>
          <a:prstGeom prst="rect">
            <a:avLst/>
          </a:prstGeom>
          <a:solidFill>
            <a:srgbClr val="FFFFFF"/>
          </a:solidFill>
          <a:ln w="6350">
            <a:solidFill>
              <a:srgbClr val="D9D9D9"/>
            </a:solidFill>
            <a:prstDash val="solid"/>
          </a:ln>
        </p:spPr>
      </p:sp>
      <p:sp>
        <p:nvSpPr>
          <p:cNvPr id="42" name="Text 40"/>
          <p:cNvSpPr txBox="1"/>
          <p:nvPr/>
        </p:nvSpPr>
        <p:spPr>
          <a:xfrm>
            <a:off x="2103120" y="1335024"/>
            <a:ext cx="1426464"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02  </a:t>
            </a:r>
            <a:pPr indent="0" marL="0">
              <a:buNone/>
            </a:pPr>
            <a:r>
              <a:rPr lang="en-US" sz="650" b="1" spc="50" kern="0" dirty="0">
                <a:solidFill>
                  <a:srgbClr val="1B1B1B"/>
                </a:solidFill>
                <a:latin typeface="Arial" pitchFamily="34" charset="0"/>
                <a:ea typeface="Arial" pitchFamily="34" charset="-122"/>
                <a:cs typeface="Arial" pitchFamily="34" charset="-120"/>
              </a:rPr>
              <a:t>TWO PUBLIC CLAIMS</a:t>
            </a:r>
            <a:endParaRPr lang="en-US" sz="650" dirty="0"/>
          </a:p>
        </p:txBody>
      </p:sp>
      <p:sp>
        <p:nvSpPr>
          <p:cNvPr id="43" name="Text 41"/>
          <p:cNvSpPr txBox="1"/>
          <p:nvPr/>
        </p:nvSpPr>
        <p:spPr>
          <a:xfrm>
            <a:off x="2103120" y="3236976"/>
            <a:ext cx="1426464" cy="384048"/>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Mark the protest edge and the summit.</a:t>
            </a:r>
            <a:endParaRPr lang="en-US" sz="650" dirty="0"/>
          </a:p>
        </p:txBody>
      </p:sp>
      <p:sp>
        <p:nvSpPr>
          <p:cNvPr id="44" name="Shape 42"/>
          <p:cNvSpPr/>
          <p:nvPr/>
        </p:nvSpPr>
        <p:spPr>
          <a:xfrm>
            <a:off x="2199844" y="1995603"/>
            <a:ext cx="1233016" cy="772818"/>
          </a:xfrm>
          <a:custGeom>
            <a:avLst/>
            <a:gdLst/>
            <a:ahLst/>
            <a:cxnLst/>
            <a:rect l="l" t="t" r="r" b="b"/>
            <a:pathLst>
              <a:path w="1233016" h="772818">
                <a:moveTo>
                  <a:pt x="1220496" y="655322"/>
                </a:moveTo>
                <a:lnTo>
                  <a:pt x="1204257" y="682890"/>
                </a:lnTo>
                <a:lnTo>
                  <a:pt x="1181579" y="707210"/>
                </a:lnTo>
                <a:lnTo>
                  <a:pt x="1152709" y="728016"/>
                </a:lnTo>
                <a:lnTo>
                  <a:pt x="1117965" y="745079"/>
                </a:lnTo>
                <a:lnTo>
                  <a:pt x="1077727" y="758212"/>
                </a:lnTo>
                <a:lnTo>
                  <a:pt x="1032436" y="767271"/>
                </a:lnTo>
                <a:lnTo>
                  <a:pt x="982587" y="772158"/>
                </a:lnTo>
                <a:lnTo>
                  <a:pt x="928728" y="772818"/>
                </a:lnTo>
                <a:lnTo>
                  <a:pt x="871448" y="769245"/>
                </a:lnTo>
                <a:lnTo>
                  <a:pt x="811375" y="761477"/>
                </a:lnTo>
                <a:lnTo>
                  <a:pt x="749167" y="749600"/>
                </a:lnTo>
                <a:lnTo>
                  <a:pt x="685505" y="733744"/>
                </a:lnTo>
                <a:lnTo>
                  <a:pt x="621087" y="714082"/>
                </a:lnTo>
                <a:lnTo>
                  <a:pt x="556620" y="690831"/>
                </a:lnTo>
                <a:lnTo>
                  <a:pt x="492808" y="664243"/>
                </a:lnTo>
                <a:lnTo>
                  <a:pt x="430352" y="634612"/>
                </a:lnTo>
                <a:lnTo>
                  <a:pt x="369935" y="602262"/>
                </a:lnTo>
                <a:lnTo>
                  <a:pt x="312220" y="567547"/>
                </a:lnTo>
                <a:lnTo>
                  <a:pt x="257839" y="530847"/>
                </a:lnTo>
                <a:lnTo>
                  <a:pt x="207387" y="492564"/>
                </a:lnTo>
                <a:lnTo>
                  <a:pt x="161418" y="453119"/>
                </a:lnTo>
                <a:lnTo>
                  <a:pt x="120434" y="412943"/>
                </a:lnTo>
                <a:lnTo>
                  <a:pt x="84886" y="372475"/>
                </a:lnTo>
                <a:lnTo>
                  <a:pt x="55163" y="332161"/>
                </a:lnTo>
                <a:lnTo>
                  <a:pt x="31589" y="292441"/>
                </a:lnTo>
                <a:lnTo>
                  <a:pt x="14424" y="253750"/>
                </a:lnTo>
                <a:lnTo>
                  <a:pt x="3856" y="216513"/>
                </a:lnTo>
                <a:lnTo>
                  <a:pt x="0" y="181138"/>
                </a:lnTo>
                <a:lnTo>
                  <a:pt x="2899" y="148011"/>
                </a:lnTo>
                <a:lnTo>
                  <a:pt x="12520" y="117496"/>
                </a:lnTo>
                <a:lnTo>
                  <a:pt x="28759" y="89928"/>
                </a:lnTo>
                <a:lnTo>
                  <a:pt x="51437" y="65608"/>
                </a:lnTo>
                <a:lnTo>
                  <a:pt x="80307" y="44802"/>
                </a:lnTo>
                <a:lnTo>
                  <a:pt x="115051" y="27740"/>
                </a:lnTo>
                <a:lnTo>
                  <a:pt x="155289" y="14606"/>
                </a:lnTo>
                <a:lnTo>
                  <a:pt x="200580" y="5547"/>
                </a:lnTo>
                <a:lnTo>
                  <a:pt x="250429" y="660"/>
                </a:lnTo>
                <a:lnTo>
                  <a:pt x="304288" y="0"/>
                </a:lnTo>
                <a:lnTo>
                  <a:pt x="361568" y="3573"/>
                </a:lnTo>
                <a:lnTo>
                  <a:pt x="421641" y="11341"/>
                </a:lnTo>
                <a:lnTo>
                  <a:pt x="483849" y="23218"/>
                </a:lnTo>
                <a:lnTo>
                  <a:pt x="547511" y="39074"/>
                </a:lnTo>
                <a:lnTo>
                  <a:pt x="611929" y="58736"/>
                </a:lnTo>
                <a:lnTo>
                  <a:pt x="676396" y="81988"/>
                </a:lnTo>
                <a:lnTo>
                  <a:pt x="740208" y="108575"/>
                </a:lnTo>
                <a:lnTo>
                  <a:pt x="802664" y="138206"/>
                </a:lnTo>
                <a:lnTo>
                  <a:pt x="863081" y="170556"/>
                </a:lnTo>
                <a:lnTo>
                  <a:pt x="920796" y="205271"/>
                </a:lnTo>
                <a:lnTo>
                  <a:pt x="975178" y="241971"/>
                </a:lnTo>
                <a:lnTo>
                  <a:pt x="1025629" y="280254"/>
                </a:lnTo>
                <a:lnTo>
                  <a:pt x="1071599" y="319699"/>
                </a:lnTo>
                <a:lnTo>
                  <a:pt x="1112582" y="359876"/>
                </a:lnTo>
                <a:lnTo>
                  <a:pt x="1148130" y="400343"/>
                </a:lnTo>
                <a:lnTo>
                  <a:pt x="1177854" y="440657"/>
                </a:lnTo>
                <a:lnTo>
                  <a:pt x="1201427" y="480377"/>
                </a:lnTo>
                <a:lnTo>
                  <a:pt x="1218592" y="519068"/>
                </a:lnTo>
                <a:lnTo>
                  <a:pt x="1229160" y="556305"/>
                </a:lnTo>
                <a:lnTo>
                  <a:pt x="1233016" y="591680"/>
                </a:lnTo>
                <a:lnTo>
                  <a:pt x="1230117" y="624807"/>
                </a:lnTo>
                <a:close/>
              </a:path>
            </a:pathLst>
          </a:custGeom>
          <a:solidFill>
            <a:srgbClr val="E4E4E4"/>
          </a:solidFill>
          <a:ln w="12700"/>
        </p:spPr>
      </p:sp>
      <p:sp>
        <p:nvSpPr>
          <p:cNvPr id="45" name="Shape 43"/>
          <p:cNvSpPr/>
          <p:nvPr/>
        </p:nvSpPr>
        <p:spPr>
          <a:xfrm>
            <a:off x="2084832" y="2067379"/>
            <a:ext cx="127532" cy="45720"/>
          </a:xfrm>
          <a:custGeom>
            <a:avLst/>
            <a:gdLst/>
            <a:ahLst/>
            <a:cxnLst/>
            <a:rect l="l" t="t" r="r" b="b"/>
            <a:pathLst>
              <a:path w="127532" h="45720">
                <a:moveTo>
                  <a:pt x="127532" y="45720"/>
                </a:moveTo>
                <a:lnTo>
                  <a:pt x="0" y="0"/>
                </a:lnTo>
              </a:path>
            </a:pathLst>
          </a:custGeom>
          <a:ln w="76200">
            <a:solidFill>
              <a:srgbClr val="E4E4E4"/>
            </a:solidFill>
            <a:prstDash val="solid"/>
          </a:ln>
        </p:spPr>
      </p:sp>
      <p:sp>
        <p:nvSpPr>
          <p:cNvPr id="46" name="Shape 44"/>
          <p:cNvSpPr/>
          <p:nvPr/>
        </p:nvSpPr>
        <p:spPr>
          <a:xfrm>
            <a:off x="3420340" y="2650925"/>
            <a:ext cx="127532" cy="45720"/>
          </a:xfrm>
          <a:custGeom>
            <a:avLst/>
            <a:gdLst/>
            <a:ahLst/>
            <a:cxnLst/>
            <a:rect l="l" t="t" r="r" b="b"/>
            <a:pathLst>
              <a:path w="127532" h="45720">
                <a:moveTo>
                  <a:pt x="0" y="0"/>
                </a:moveTo>
                <a:lnTo>
                  <a:pt x="127532" y="45720"/>
                </a:lnTo>
              </a:path>
            </a:pathLst>
          </a:custGeom>
          <a:ln w="76200">
            <a:solidFill>
              <a:srgbClr val="E4E4E4"/>
            </a:solidFill>
            <a:prstDash val="solid"/>
          </a:ln>
        </p:spPr>
      </p:sp>
      <p:sp>
        <p:nvSpPr>
          <p:cNvPr id="47" name="Shape 45"/>
          <p:cNvSpPr/>
          <p:nvPr/>
        </p:nvSpPr>
        <p:spPr>
          <a:xfrm>
            <a:off x="2302595" y="2060004"/>
            <a:ext cx="1027513" cy="644015"/>
          </a:xfrm>
          <a:custGeom>
            <a:avLst/>
            <a:gdLst/>
            <a:ahLst/>
            <a:cxnLst/>
            <a:rect l="l" t="t" r="r" b="b"/>
            <a:pathLst>
              <a:path w="1027513" h="644015">
                <a:moveTo>
                  <a:pt x="1017080" y="546101"/>
                </a:moveTo>
                <a:lnTo>
                  <a:pt x="1003548" y="569075"/>
                </a:lnTo>
                <a:lnTo>
                  <a:pt x="984649" y="589342"/>
                </a:lnTo>
                <a:lnTo>
                  <a:pt x="960591" y="606680"/>
                </a:lnTo>
                <a:lnTo>
                  <a:pt x="931638" y="620899"/>
                </a:lnTo>
                <a:lnTo>
                  <a:pt x="898106" y="631843"/>
                </a:lnTo>
                <a:lnTo>
                  <a:pt x="860363" y="639393"/>
                </a:lnTo>
                <a:lnTo>
                  <a:pt x="818823" y="643465"/>
                </a:lnTo>
                <a:lnTo>
                  <a:pt x="773940" y="644015"/>
                </a:lnTo>
                <a:lnTo>
                  <a:pt x="726207" y="641037"/>
                </a:lnTo>
                <a:lnTo>
                  <a:pt x="676146" y="634564"/>
                </a:lnTo>
                <a:lnTo>
                  <a:pt x="624306" y="624667"/>
                </a:lnTo>
                <a:lnTo>
                  <a:pt x="571254" y="611453"/>
                </a:lnTo>
                <a:lnTo>
                  <a:pt x="517573" y="595069"/>
                </a:lnTo>
                <a:lnTo>
                  <a:pt x="463850" y="575692"/>
                </a:lnTo>
                <a:lnTo>
                  <a:pt x="410673" y="553536"/>
                </a:lnTo>
                <a:lnTo>
                  <a:pt x="358627" y="528844"/>
                </a:lnTo>
                <a:lnTo>
                  <a:pt x="308279" y="501885"/>
                </a:lnTo>
                <a:lnTo>
                  <a:pt x="260183" y="472956"/>
                </a:lnTo>
                <a:lnTo>
                  <a:pt x="214865" y="442372"/>
                </a:lnTo>
                <a:lnTo>
                  <a:pt x="172822" y="410470"/>
                </a:lnTo>
                <a:lnTo>
                  <a:pt x="134515" y="377599"/>
                </a:lnTo>
                <a:lnTo>
                  <a:pt x="100362" y="344119"/>
                </a:lnTo>
                <a:lnTo>
                  <a:pt x="70738" y="310396"/>
                </a:lnTo>
                <a:lnTo>
                  <a:pt x="45969" y="276801"/>
                </a:lnTo>
                <a:lnTo>
                  <a:pt x="26324" y="243701"/>
                </a:lnTo>
                <a:lnTo>
                  <a:pt x="12020" y="211459"/>
                </a:lnTo>
                <a:lnTo>
                  <a:pt x="3213" y="180428"/>
                </a:lnTo>
                <a:lnTo>
                  <a:pt x="0" y="150948"/>
                </a:lnTo>
                <a:lnTo>
                  <a:pt x="2416" y="123342"/>
                </a:lnTo>
                <a:lnTo>
                  <a:pt x="10433" y="97914"/>
                </a:lnTo>
                <a:lnTo>
                  <a:pt x="23966" y="74940"/>
                </a:lnTo>
                <a:lnTo>
                  <a:pt x="42864" y="54673"/>
                </a:lnTo>
                <a:lnTo>
                  <a:pt x="66922" y="37335"/>
                </a:lnTo>
                <a:lnTo>
                  <a:pt x="95876" y="23116"/>
                </a:lnTo>
                <a:lnTo>
                  <a:pt x="129408" y="12172"/>
                </a:lnTo>
                <a:lnTo>
                  <a:pt x="167150" y="4623"/>
                </a:lnTo>
                <a:lnTo>
                  <a:pt x="208691" y="550"/>
                </a:lnTo>
                <a:lnTo>
                  <a:pt x="253573" y="0"/>
                </a:lnTo>
                <a:lnTo>
                  <a:pt x="301307" y="2978"/>
                </a:lnTo>
                <a:lnTo>
                  <a:pt x="351368" y="9451"/>
                </a:lnTo>
                <a:lnTo>
                  <a:pt x="403208" y="19348"/>
                </a:lnTo>
                <a:lnTo>
                  <a:pt x="456259" y="32562"/>
                </a:lnTo>
                <a:lnTo>
                  <a:pt x="509941" y="48946"/>
                </a:lnTo>
                <a:lnTo>
                  <a:pt x="563664" y="68323"/>
                </a:lnTo>
                <a:lnTo>
                  <a:pt x="616840" y="90479"/>
                </a:lnTo>
                <a:lnTo>
                  <a:pt x="668887" y="115171"/>
                </a:lnTo>
                <a:lnTo>
                  <a:pt x="719234" y="142130"/>
                </a:lnTo>
                <a:lnTo>
                  <a:pt x="767330" y="171059"/>
                </a:lnTo>
                <a:lnTo>
                  <a:pt x="812648" y="201643"/>
                </a:lnTo>
                <a:lnTo>
                  <a:pt x="854691" y="233545"/>
                </a:lnTo>
                <a:lnTo>
                  <a:pt x="892999" y="266416"/>
                </a:lnTo>
                <a:lnTo>
                  <a:pt x="927152" y="299896"/>
                </a:lnTo>
                <a:lnTo>
                  <a:pt x="956775" y="333619"/>
                </a:lnTo>
                <a:lnTo>
                  <a:pt x="981545" y="367214"/>
                </a:lnTo>
                <a:lnTo>
                  <a:pt x="1001189" y="400314"/>
                </a:lnTo>
                <a:lnTo>
                  <a:pt x="1015493" y="432556"/>
                </a:lnTo>
                <a:lnTo>
                  <a:pt x="1024300" y="463587"/>
                </a:lnTo>
                <a:lnTo>
                  <a:pt x="1027513" y="493067"/>
                </a:lnTo>
                <a:lnTo>
                  <a:pt x="1025098" y="520673"/>
                </a:lnTo>
                <a:close/>
              </a:path>
            </a:pathLst>
          </a:custGeom>
          <a:solidFill>
            <a:srgbClr val="FFFFFF"/>
          </a:solidFill>
          <a:ln w="19050">
            <a:solidFill>
              <a:srgbClr val="1B1B1B"/>
            </a:solidFill>
            <a:prstDash val="solid"/>
          </a:ln>
        </p:spPr>
      </p:sp>
      <p:sp>
        <p:nvSpPr>
          <p:cNvPr id="48" name="Shape 46"/>
          <p:cNvSpPr/>
          <p:nvPr/>
        </p:nvSpPr>
        <p:spPr>
          <a:xfrm>
            <a:off x="2501934" y="2161000"/>
            <a:ext cx="739810" cy="463691"/>
          </a:xfrm>
          <a:custGeom>
            <a:avLst/>
            <a:gdLst/>
            <a:ahLst/>
            <a:cxnLst/>
            <a:rect l="l" t="t" r="r" b="b"/>
            <a:pathLst>
              <a:path w="739810" h="463691">
                <a:moveTo>
                  <a:pt x="732298" y="393193"/>
                </a:moveTo>
                <a:lnTo>
                  <a:pt x="722554" y="409734"/>
                </a:lnTo>
                <a:lnTo>
                  <a:pt x="708947" y="424326"/>
                </a:lnTo>
                <a:lnTo>
                  <a:pt x="691626" y="436810"/>
                </a:lnTo>
                <a:lnTo>
                  <a:pt x="670779" y="447047"/>
                </a:lnTo>
                <a:lnTo>
                  <a:pt x="646636" y="454927"/>
                </a:lnTo>
                <a:lnTo>
                  <a:pt x="619461" y="460363"/>
                </a:lnTo>
                <a:lnTo>
                  <a:pt x="589552" y="463295"/>
                </a:lnTo>
                <a:lnTo>
                  <a:pt x="557237" y="463691"/>
                </a:lnTo>
                <a:lnTo>
                  <a:pt x="522869" y="461547"/>
                </a:lnTo>
                <a:lnTo>
                  <a:pt x="486825" y="456886"/>
                </a:lnTo>
                <a:lnTo>
                  <a:pt x="449500" y="449760"/>
                </a:lnTo>
                <a:lnTo>
                  <a:pt x="411303" y="440246"/>
                </a:lnTo>
                <a:lnTo>
                  <a:pt x="372652" y="428449"/>
                </a:lnTo>
                <a:lnTo>
                  <a:pt x="333972" y="414498"/>
                </a:lnTo>
                <a:lnTo>
                  <a:pt x="295685" y="398546"/>
                </a:lnTo>
                <a:lnTo>
                  <a:pt x="258211" y="380767"/>
                </a:lnTo>
                <a:lnTo>
                  <a:pt x="221961" y="361357"/>
                </a:lnTo>
                <a:lnTo>
                  <a:pt x="187332" y="340528"/>
                </a:lnTo>
                <a:lnTo>
                  <a:pt x="154703" y="318508"/>
                </a:lnTo>
                <a:lnTo>
                  <a:pt x="124432" y="295539"/>
                </a:lnTo>
                <a:lnTo>
                  <a:pt x="96851" y="271871"/>
                </a:lnTo>
                <a:lnTo>
                  <a:pt x="72261" y="247766"/>
                </a:lnTo>
                <a:lnTo>
                  <a:pt x="50932" y="223485"/>
                </a:lnTo>
                <a:lnTo>
                  <a:pt x="33098" y="199297"/>
                </a:lnTo>
                <a:lnTo>
                  <a:pt x="18954" y="175465"/>
                </a:lnTo>
                <a:lnTo>
                  <a:pt x="8655" y="152250"/>
                </a:lnTo>
                <a:lnTo>
                  <a:pt x="2314" y="129908"/>
                </a:lnTo>
                <a:lnTo>
                  <a:pt x="0" y="108683"/>
                </a:lnTo>
                <a:lnTo>
                  <a:pt x="1739" y="88807"/>
                </a:lnTo>
                <a:lnTo>
                  <a:pt x="7512" y="70498"/>
                </a:lnTo>
                <a:lnTo>
                  <a:pt x="17255" y="53957"/>
                </a:lnTo>
                <a:lnTo>
                  <a:pt x="30862" y="39365"/>
                </a:lnTo>
                <a:lnTo>
                  <a:pt x="48184" y="26881"/>
                </a:lnTo>
                <a:lnTo>
                  <a:pt x="69031" y="16644"/>
                </a:lnTo>
                <a:lnTo>
                  <a:pt x="93173" y="8764"/>
                </a:lnTo>
                <a:lnTo>
                  <a:pt x="120348" y="3328"/>
                </a:lnTo>
                <a:lnTo>
                  <a:pt x="150257" y="396"/>
                </a:lnTo>
                <a:lnTo>
                  <a:pt x="182573" y="0"/>
                </a:lnTo>
                <a:lnTo>
                  <a:pt x="216941" y="2144"/>
                </a:lnTo>
                <a:lnTo>
                  <a:pt x="252985" y="6805"/>
                </a:lnTo>
                <a:lnTo>
                  <a:pt x="290310" y="13931"/>
                </a:lnTo>
                <a:lnTo>
                  <a:pt x="328507" y="23444"/>
                </a:lnTo>
                <a:lnTo>
                  <a:pt x="367157" y="35241"/>
                </a:lnTo>
                <a:lnTo>
                  <a:pt x="405838" y="49193"/>
                </a:lnTo>
                <a:lnTo>
                  <a:pt x="444125" y="65145"/>
                </a:lnTo>
                <a:lnTo>
                  <a:pt x="481599" y="82923"/>
                </a:lnTo>
                <a:lnTo>
                  <a:pt x="517849" y="102334"/>
                </a:lnTo>
                <a:lnTo>
                  <a:pt x="552478" y="123163"/>
                </a:lnTo>
                <a:lnTo>
                  <a:pt x="585107" y="145183"/>
                </a:lnTo>
                <a:lnTo>
                  <a:pt x="615378" y="168152"/>
                </a:lnTo>
                <a:lnTo>
                  <a:pt x="642959" y="191820"/>
                </a:lnTo>
                <a:lnTo>
                  <a:pt x="667549" y="215925"/>
                </a:lnTo>
                <a:lnTo>
                  <a:pt x="688878" y="240206"/>
                </a:lnTo>
                <a:lnTo>
                  <a:pt x="706712" y="264394"/>
                </a:lnTo>
                <a:lnTo>
                  <a:pt x="720856" y="288226"/>
                </a:lnTo>
                <a:lnTo>
                  <a:pt x="731155" y="311441"/>
                </a:lnTo>
                <a:lnTo>
                  <a:pt x="737496" y="333783"/>
                </a:lnTo>
                <a:lnTo>
                  <a:pt x="739810" y="355008"/>
                </a:lnTo>
                <a:lnTo>
                  <a:pt x="738070" y="374884"/>
                </a:lnTo>
                <a:close/>
              </a:path>
            </a:pathLst>
          </a:custGeom>
          <a:ln w="6350">
            <a:solidFill>
              <a:srgbClr val="4F7A43"/>
            </a:solidFill>
            <a:prstDash val="dash"/>
          </a:ln>
        </p:spPr>
      </p:sp>
      <p:sp>
        <p:nvSpPr>
          <p:cNvPr id="49" name="Shape 47"/>
          <p:cNvSpPr/>
          <p:nvPr/>
        </p:nvSpPr>
        <p:spPr>
          <a:xfrm>
            <a:off x="2635510" y="2244722"/>
            <a:ext cx="472656" cy="296247"/>
          </a:xfrm>
          <a:custGeom>
            <a:avLst/>
            <a:gdLst/>
            <a:ahLst/>
            <a:cxnLst/>
            <a:rect l="l" t="t" r="r" b="b"/>
            <a:pathLst>
              <a:path w="472656" h="296247">
                <a:moveTo>
                  <a:pt x="467857" y="251207"/>
                </a:moveTo>
                <a:lnTo>
                  <a:pt x="461632" y="261775"/>
                </a:lnTo>
                <a:lnTo>
                  <a:pt x="452939" y="271097"/>
                </a:lnTo>
                <a:lnTo>
                  <a:pt x="441872" y="279073"/>
                </a:lnTo>
                <a:lnTo>
                  <a:pt x="428553" y="285613"/>
                </a:lnTo>
                <a:lnTo>
                  <a:pt x="413129" y="290648"/>
                </a:lnTo>
                <a:lnTo>
                  <a:pt x="395767" y="294121"/>
                </a:lnTo>
                <a:lnTo>
                  <a:pt x="376658" y="295994"/>
                </a:lnTo>
                <a:lnTo>
                  <a:pt x="356012" y="296247"/>
                </a:lnTo>
                <a:lnTo>
                  <a:pt x="334055" y="294877"/>
                </a:lnTo>
                <a:lnTo>
                  <a:pt x="311027" y="291900"/>
                </a:lnTo>
                <a:lnTo>
                  <a:pt x="287181" y="287347"/>
                </a:lnTo>
                <a:lnTo>
                  <a:pt x="262777" y="281269"/>
                </a:lnTo>
                <a:lnTo>
                  <a:pt x="238084" y="273732"/>
                </a:lnTo>
                <a:lnTo>
                  <a:pt x="213371" y="264818"/>
                </a:lnTo>
                <a:lnTo>
                  <a:pt x="188910" y="254627"/>
                </a:lnTo>
                <a:lnTo>
                  <a:pt x="164968" y="243268"/>
                </a:lnTo>
                <a:lnTo>
                  <a:pt x="141808" y="230867"/>
                </a:lnTo>
                <a:lnTo>
                  <a:pt x="119684" y="217560"/>
                </a:lnTo>
                <a:lnTo>
                  <a:pt x="98838" y="203491"/>
                </a:lnTo>
                <a:lnTo>
                  <a:pt x="79498" y="188816"/>
                </a:lnTo>
                <a:lnTo>
                  <a:pt x="61877" y="173696"/>
                </a:lnTo>
                <a:lnTo>
                  <a:pt x="46166" y="158295"/>
                </a:lnTo>
                <a:lnTo>
                  <a:pt x="32540" y="142782"/>
                </a:lnTo>
                <a:lnTo>
                  <a:pt x="21146" y="127328"/>
                </a:lnTo>
                <a:lnTo>
                  <a:pt x="12109" y="112102"/>
                </a:lnTo>
                <a:lnTo>
                  <a:pt x="5529" y="97271"/>
                </a:lnTo>
                <a:lnTo>
                  <a:pt x="1478" y="82997"/>
                </a:lnTo>
                <a:lnTo>
                  <a:pt x="0" y="69436"/>
                </a:lnTo>
                <a:lnTo>
                  <a:pt x="1111" y="56738"/>
                </a:lnTo>
                <a:lnTo>
                  <a:pt x="4799" y="45040"/>
                </a:lnTo>
                <a:lnTo>
                  <a:pt x="11024" y="34472"/>
                </a:lnTo>
                <a:lnTo>
                  <a:pt x="19718" y="25150"/>
                </a:lnTo>
                <a:lnTo>
                  <a:pt x="30784" y="17174"/>
                </a:lnTo>
                <a:lnTo>
                  <a:pt x="44103" y="10633"/>
                </a:lnTo>
                <a:lnTo>
                  <a:pt x="59527" y="5599"/>
                </a:lnTo>
                <a:lnTo>
                  <a:pt x="76889" y="2126"/>
                </a:lnTo>
                <a:lnTo>
                  <a:pt x="95998" y="253"/>
                </a:lnTo>
                <a:lnTo>
                  <a:pt x="116644" y="0"/>
                </a:lnTo>
                <a:lnTo>
                  <a:pt x="138601" y="1370"/>
                </a:lnTo>
                <a:lnTo>
                  <a:pt x="161629" y="4347"/>
                </a:lnTo>
                <a:lnTo>
                  <a:pt x="185476" y="8900"/>
                </a:lnTo>
                <a:lnTo>
                  <a:pt x="209879" y="14978"/>
                </a:lnTo>
                <a:lnTo>
                  <a:pt x="234573" y="22515"/>
                </a:lnTo>
                <a:lnTo>
                  <a:pt x="259285" y="31429"/>
                </a:lnTo>
                <a:lnTo>
                  <a:pt x="283746" y="41620"/>
                </a:lnTo>
                <a:lnTo>
                  <a:pt x="307688" y="52979"/>
                </a:lnTo>
                <a:lnTo>
                  <a:pt x="330848" y="65380"/>
                </a:lnTo>
                <a:lnTo>
                  <a:pt x="352972" y="78687"/>
                </a:lnTo>
                <a:lnTo>
                  <a:pt x="373818" y="92756"/>
                </a:lnTo>
                <a:lnTo>
                  <a:pt x="393158" y="107431"/>
                </a:lnTo>
                <a:lnTo>
                  <a:pt x="410779" y="122551"/>
                </a:lnTo>
                <a:lnTo>
                  <a:pt x="426490" y="137952"/>
                </a:lnTo>
                <a:lnTo>
                  <a:pt x="440116" y="153465"/>
                </a:lnTo>
                <a:lnTo>
                  <a:pt x="451511" y="168919"/>
                </a:lnTo>
                <a:lnTo>
                  <a:pt x="460547" y="184145"/>
                </a:lnTo>
                <a:lnTo>
                  <a:pt x="467127" y="198976"/>
                </a:lnTo>
                <a:lnTo>
                  <a:pt x="471178" y="213250"/>
                </a:lnTo>
                <a:lnTo>
                  <a:pt x="472656" y="226811"/>
                </a:lnTo>
                <a:lnTo>
                  <a:pt x="471545" y="239509"/>
                </a:lnTo>
                <a:close/>
              </a:path>
            </a:pathLst>
          </a:custGeom>
          <a:ln w="6350">
            <a:solidFill>
              <a:srgbClr val="4F7A43"/>
            </a:solidFill>
            <a:prstDash val="dash"/>
          </a:ln>
        </p:spPr>
      </p:sp>
      <p:sp>
        <p:nvSpPr>
          <p:cNvPr id="50" name="Shape 48"/>
          <p:cNvSpPr/>
          <p:nvPr/>
        </p:nvSpPr>
        <p:spPr>
          <a:xfrm>
            <a:off x="2758812" y="2322003"/>
            <a:ext cx="226053" cy="141683"/>
          </a:xfrm>
          <a:custGeom>
            <a:avLst/>
            <a:gdLst/>
            <a:ahLst/>
            <a:cxnLst/>
            <a:rect l="l" t="t" r="r" b="b"/>
            <a:pathLst>
              <a:path w="226053" h="141683">
                <a:moveTo>
                  <a:pt x="223758" y="120142"/>
                </a:moveTo>
                <a:lnTo>
                  <a:pt x="220780" y="125197"/>
                </a:lnTo>
                <a:lnTo>
                  <a:pt x="216623" y="129655"/>
                </a:lnTo>
                <a:lnTo>
                  <a:pt x="211330" y="133470"/>
                </a:lnTo>
                <a:lnTo>
                  <a:pt x="204960" y="136598"/>
                </a:lnTo>
                <a:lnTo>
                  <a:pt x="197583" y="139005"/>
                </a:lnTo>
                <a:lnTo>
                  <a:pt x="189280" y="140666"/>
                </a:lnTo>
                <a:lnTo>
                  <a:pt x="180141" y="141562"/>
                </a:lnTo>
                <a:lnTo>
                  <a:pt x="170267" y="141683"/>
                </a:lnTo>
                <a:lnTo>
                  <a:pt x="159765" y="141028"/>
                </a:lnTo>
                <a:lnTo>
                  <a:pt x="148752" y="139604"/>
                </a:lnTo>
                <a:lnTo>
                  <a:pt x="137347" y="137427"/>
                </a:lnTo>
                <a:lnTo>
                  <a:pt x="125676" y="134520"/>
                </a:lnTo>
                <a:lnTo>
                  <a:pt x="113866" y="130915"/>
                </a:lnTo>
                <a:lnTo>
                  <a:pt x="102047" y="126652"/>
                </a:lnTo>
                <a:lnTo>
                  <a:pt x="90348" y="121778"/>
                </a:lnTo>
                <a:lnTo>
                  <a:pt x="78898" y="116346"/>
                </a:lnTo>
                <a:lnTo>
                  <a:pt x="67821" y="110415"/>
                </a:lnTo>
                <a:lnTo>
                  <a:pt x="57240" y="104050"/>
                </a:lnTo>
                <a:lnTo>
                  <a:pt x="47270" y="97322"/>
                </a:lnTo>
                <a:lnTo>
                  <a:pt x="38021" y="90303"/>
                </a:lnTo>
                <a:lnTo>
                  <a:pt x="29593" y="83072"/>
                </a:lnTo>
                <a:lnTo>
                  <a:pt x="22080" y="75706"/>
                </a:lnTo>
                <a:lnTo>
                  <a:pt x="15562" y="68287"/>
                </a:lnTo>
                <a:lnTo>
                  <a:pt x="10113" y="60896"/>
                </a:lnTo>
                <a:lnTo>
                  <a:pt x="5791" y="53614"/>
                </a:lnTo>
                <a:lnTo>
                  <a:pt x="2644" y="46521"/>
                </a:lnTo>
                <a:lnTo>
                  <a:pt x="707" y="39694"/>
                </a:lnTo>
                <a:lnTo>
                  <a:pt x="0" y="33209"/>
                </a:lnTo>
                <a:lnTo>
                  <a:pt x="531" y="27135"/>
                </a:lnTo>
                <a:lnTo>
                  <a:pt x="2295" y="21541"/>
                </a:lnTo>
                <a:lnTo>
                  <a:pt x="5272" y="16487"/>
                </a:lnTo>
                <a:lnTo>
                  <a:pt x="9430" y="12028"/>
                </a:lnTo>
                <a:lnTo>
                  <a:pt x="14723" y="8214"/>
                </a:lnTo>
                <a:lnTo>
                  <a:pt x="21093" y="5086"/>
                </a:lnTo>
                <a:lnTo>
                  <a:pt x="28470" y="2678"/>
                </a:lnTo>
                <a:lnTo>
                  <a:pt x="36773" y="1017"/>
                </a:lnTo>
                <a:lnTo>
                  <a:pt x="45912" y="121"/>
                </a:lnTo>
                <a:lnTo>
                  <a:pt x="55786" y="0"/>
                </a:lnTo>
                <a:lnTo>
                  <a:pt x="66287" y="655"/>
                </a:lnTo>
                <a:lnTo>
                  <a:pt x="77301" y="2079"/>
                </a:lnTo>
                <a:lnTo>
                  <a:pt x="88706" y="4257"/>
                </a:lnTo>
                <a:lnTo>
                  <a:pt x="100377" y="7164"/>
                </a:lnTo>
                <a:lnTo>
                  <a:pt x="112187" y="10768"/>
                </a:lnTo>
                <a:lnTo>
                  <a:pt x="124006" y="15031"/>
                </a:lnTo>
                <a:lnTo>
                  <a:pt x="135705" y="19905"/>
                </a:lnTo>
                <a:lnTo>
                  <a:pt x="147155" y="25338"/>
                </a:lnTo>
                <a:lnTo>
                  <a:pt x="158232" y="31269"/>
                </a:lnTo>
                <a:lnTo>
                  <a:pt x="168813" y="37633"/>
                </a:lnTo>
                <a:lnTo>
                  <a:pt x="178783" y="44361"/>
                </a:lnTo>
                <a:lnTo>
                  <a:pt x="188032" y="51380"/>
                </a:lnTo>
                <a:lnTo>
                  <a:pt x="196460" y="58612"/>
                </a:lnTo>
                <a:lnTo>
                  <a:pt x="203973" y="65977"/>
                </a:lnTo>
                <a:lnTo>
                  <a:pt x="210490" y="73396"/>
                </a:lnTo>
                <a:lnTo>
                  <a:pt x="215940" y="80787"/>
                </a:lnTo>
                <a:lnTo>
                  <a:pt x="220262" y="88069"/>
                </a:lnTo>
                <a:lnTo>
                  <a:pt x="223408" y="95162"/>
                </a:lnTo>
                <a:lnTo>
                  <a:pt x="225346" y="101989"/>
                </a:lnTo>
                <a:lnTo>
                  <a:pt x="226053" y="108475"/>
                </a:lnTo>
                <a:lnTo>
                  <a:pt x="225522" y="114548"/>
                </a:lnTo>
                <a:close/>
              </a:path>
            </a:pathLst>
          </a:custGeom>
          <a:ln w="6350">
            <a:solidFill>
              <a:srgbClr val="4F7A43"/>
            </a:solidFill>
            <a:prstDash val="dash"/>
          </a:ln>
        </p:spPr>
      </p:sp>
      <p:sp>
        <p:nvSpPr>
          <p:cNvPr id="51" name="Shape 49"/>
          <p:cNvSpPr/>
          <p:nvPr/>
        </p:nvSpPr>
        <p:spPr>
          <a:xfrm>
            <a:off x="3238703" y="2558641"/>
            <a:ext cx="41148" cy="41148"/>
          </a:xfrm>
          <a:prstGeom prst="ellipse">
            <a:avLst/>
          </a:prstGeom>
          <a:solidFill>
            <a:srgbClr val="FFFFFF"/>
          </a:solidFill>
          <a:ln w="7620">
            <a:solidFill>
              <a:srgbClr val="4F7A43"/>
            </a:solidFill>
            <a:prstDash val="solid"/>
          </a:ln>
        </p:spPr>
      </p:sp>
      <p:sp>
        <p:nvSpPr>
          <p:cNvPr id="52" name="Shape 50"/>
          <p:cNvSpPr/>
          <p:nvPr/>
        </p:nvSpPr>
        <p:spPr>
          <a:xfrm>
            <a:off x="3192827" y="2609593"/>
            <a:ext cx="41148" cy="41148"/>
          </a:xfrm>
          <a:prstGeom prst="ellipse">
            <a:avLst/>
          </a:prstGeom>
          <a:solidFill>
            <a:srgbClr val="FFFFFF"/>
          </a:solidFill>
          <a:ln w="7620">
            <a:solidFill>
              <a:srgbClr val="4F7A43"/>
            </a:solidFill>
            <a:prstDash val="solid"/>
          </a:ln>
        </p:spPr>
      </p:sp>
      <p:sp>
        <p:nvSpPr>
          <p:cNvPr id="53" name="Shape 51"/>
          <p:cNvSpPr/>
          <p:nvPr/>
        </p:nvSpPr>
        <p:spPr>
          <a:xfrm>
            <a:off x="3112253" y="2638859"/>
            <a:ext cx="41148" cy="41148"/>
          </a:xfrm>
          <a:prstGeom prst="ellipse">
            <a:avLst/>
          </a:prstGeom>
          <a:solidFill>
            <a:srgbClr val="FFFFFF"/>
          </a:solidFill>
          <a:ln w="7620">
            <a:solidFill>
              <a:srgbClr val="4F7A43"/>
            </a:solidFill>
            <a:prstDash val="solid"/>
          </a:ln>
        </p:spPr>
      </p:sp>
      <p:sp>
        <p:nvSpPr>
          <p:cNvPr id="54" name="Shape 52"/>
          <p:cNvSpPr/>
          <p:nvPr/>
        </p:nvSpPr>
        <p:spPr>
          <a:xfrm>
            <a:off x="3004022" y="2643882"/>
            <a:ext cx="41148" cy="41148"/>
          </a:xfrm>
          <a:prstGeom prst="ellipse">
            <a:avLst/>
          </a:prstGeom>
          <a:solidFill>
            <a:srgbClr val="FFFFFF"/>
          </a:solidFill>
          <a:ln w="7620">
            <a:solidFill>
              <a:srgbClr val="4F7A43"/>
            </a:solidFill>
            <a:prstDash val="solid"/>
          </a:ln>
        </p:spPr>
      </p:sp>
      <p:sp>
        <p:nvSpPr>
          <p:cNvPr id="55" name="Shape 53"/>
          <p:cNvSpPr/>
          <p:nvPr/>
        </p:nvSpPr>
        <p:spPr>
          <a:xfrm>
            <a:off x="2877593" y="2624221"/>
            <a:ext cx="41148" cy="41148"/>
          </a:xfrm>
          <a:prstGeom prst="ellipse">
            <a:avLst/>
          </a:prstGeom>
          <a:solidFill>
            <a:srgbClr val="FFFFFF"/>
          </a:solidFill>
          <a:ln w="7620">
            <a:solidFill>
              <a:srgbClr val="4F7A43"/>
            </a:solidFill>
            <a:prstDash val="solid"/>
          </a:ln>
        </p:spPr>
      </p:sp>
      <p:sp>
        <p:nvSpPr>
          <p:cNvPr id="56" name="Shape 54"/>
          <p:cNvSpPr/>
          <p:nvPr/>
        </p:nvSpPr>
        <p:spPr>
          <a:xfrm>
            <a:off x="2744013" y="2581595"/>
            <a:ext cx="41148" cy="41148"/>
          </a:xfrm>
          <a:prstGeom prst="ellipse">
            <a:avLst/>
          </a:prstGeom>
          <a:solidFill>
            <a:srgbClr val="FFFFFF"/>
          </a:solidFill>
          <a:ln w="7620">
            <a:solidFill>
              <a:srgbClr val="4F7A43"/>
            </a:solidFill>
            <a:prstDash val="solid"/>
          </a:ln>
        </p:spPr>
      </p:sp>
      <p:sp>
        <p:nvSpPr>
          <p:cNvPr id="57" name="Shape 55"/>
          <p:cNvSpPr/>
          <p:nvPr/>
        </p:nvSpPr>
        <p:spPr>
          <a:xfrm>
            <a:off x="2614958" y="2519730"/>
            <a:ext cx="41148" cy="41148"/>
          </a:xfrm>
          <a:prstGeom prst="ellipse">
            <a:avLst/>
          </a:prstGeom>
          <a:solidFill>
            <a:srgbClr val="FFFFFF"/>
          </a:solidFill>
          <a:ln w="7620">
            <a:solidFill>
              <a:srgbClr val="4F7A43"/>
            </a:solidFill>
            <a:prstDash val="solid"/>
          </a:ln>
        </p:spPr>
      </p:sp>
      <p:sp>
        <p:nvSpPr>
          <p:cNvPr id="58" name="Shape 56"/>
          <p:cNvSpPr/>
          <p:nvPr/>
        </p:nvSpPr>
        <p:spPr>
          <a:xfrm>
            <a:off x="2501704" y="2444032"/>
            <a:ext cx="41148" cy="41148"/>
          </a:xfrm>
          <a:prstGeom prst="ellipse">
            <a:avLst/>
          </a:prstGeom>
          <a:solidFill>
            <a:srgbClr val="FFFFFF"/>
          </a:solidFill>
          <a:ln w="7620">
            <a:solidFill>
              <a:srgbClr val="4F7A43"/>
            </a:solidFill>
            <a:prstDash val="solid"/>
          </a:ln>
        </p:spPr>
      </p:sp>
      <p:sp>
        <p:nvSpPr>
          <p:cNvPr id="59" name="Shape 57"/>
          <p:cNvSpPr/>
          <p:nvPr/>
        </p:nvSpPr>
        <p:spPr>
          <a:xfrm>
            <a:off x="2414150" y="2361116"/>
            <a:ext cx="41148" cy="41148"/>
          </a:xfrm>
          <a:prstGeom prst="ellipse">
            <a:avLst/>
          </a:prstGeom>
          <a:solidFill>
            <a:srgbClr val="FFFFFF"/>
          </a:solidFill>
          <a:ln w="7620">
            <a:solidFill>
              <a:srgbClr val="4F7A43"/>
            </a:solidFill>
            <a:prstDash val="solid"/>
          </a:ln>
        </p:spPr>
      </p:sp>
      <p:sp>
        <p:nvSpPr>
          <p:cNvPr id="60" name="Shape 58"/>
          <p:cNvSpPr/>
          <p:nvPr/>
        </p:nvSpPr>
        <p:spPr>
          <a:xfrm>
            <a:off x="2359946" y="2278228"/>
            <a:ext cx="41148" cy="41148"/>
          </a:xfrm>
          <a:prstGeom prst="ellipse">
            <a:avLst/>
          </a:prstGeom>
          <a:solidFill>
            <a:srgbClr val="FFFFFF"/>
          </a:solidFill>
          <a:ln w="7620">
            <a:solidFill>
              <a:srgbClr val="4F7A43"/>
            </a:solidFill>
            <a:prstDash val="solid"/>
          </a:ln>
        </p:spPr>
      </p:sp>
      <p:sp>
        <p:nvSpPr>
          <p:cNvPr id="61" name="Shape 59"/>
          <p:cNvSpPr/>
          <p:nvPr/>
        </p:nvSpPr>
        <p:spPr>
          <a:xfrm>
            <a:off x="2343830" y="2202611"/>
            <a:ext cx="41148" cy="41148"/>
          </a:xfrm>
          <a:prstGeom prst="ellipse">
            <a:avLst/>
          </a:prstGeom>
          <a:solidFill>
            <a:srgbClr val="FFFFFF"/>
          </a:solidFill>
          <a:ln w="7620">
            <a:solidFill>
              <a:srgbClr val="4F7A43"/>
            </a:solidFill>
            <a:prstDash val="solid"/>
          </a:ln>
        </p:spPr>
      </p:sp>
      <p:sp>
        <p:nvSpPr>
          <p:cNvPr id="62" name="Shape 60"/>
          <p:cNvSpPr/>
          <p:nvPr/>
        </p:nvSpPr>
        <p:spPr>
          <a:xfrm>
            <a:off x="2367210" y="2140875"/>
            <a:ext cx="41148" cy="41148"/>
          </a:xfrm>
          <a:prstGeom prst="ellipse">
            <a:avLst/>
          </a:prstGeom>
          <a:solidFill>
            <a:srgbClr val="FFFFFF"/>
          </a:solidFill>
          <a:ln w="7620">
            <a:solidFill>
              <a:srgbClr val="4F7A43"/>
            </a:solidFill>
            <a:prstDash val="solid"/>
          </a:ln>
        </p:spPr>
      </p:sp>
      <p:sp>
        <p:nvSpPr>
          <p:cNvPr id="63" name="Shape 61"/>
          <p:cNvSpPr/>
          <p:nvPr/>
        </p:nvSpPr>
        <p:spPr>
          <a:xfrm>
            <a:off x="2428043" y="2098414"/>
            <a:ext cx="41148" cy="41148"/>
          </a:xfrm>
          <a:prstGeom prst="ellipse">
            <a:avLst/>
          </a:prstGeom>
          <a:solidFill>
            <a:srgbClr val="FFFFFF"/>
          </a:solidFill>
          <a:ln w="7620">
            <a:solidFill>
              <a:srgbClr val="4F7A43"/>
            </a:solidFill>
            <a:prstDash val="solid"/>
          </a:ln>
        </p:spPr>
      </p:sp>
      <p:sp>
        <p:nvSpPr>
          <p:cNvPr id="64" name="Shape 62"/>
          <p:cNvSpPr/>
          <p:nvPr/>
        </p:nvSpPr>
        <p:spPr>
          <a:xfrm>
            <a:off x="2521012" y="2078938"/>
            <a:ext cx="41148" cy="41148"/>
          </a:xfrm>
          <a:prstGeom prst="ellipse">
            <a:avLst/>
          </a:prstGeom>
          <a:solidFill>
            <a:srgbClr val="FFFFFF"/>
          </a:solidFill>
          <a:ln w="7620">
            <a:solidFill>
              <a:srgbClr val="4F7A43"/>
            </a:solidFill>
            <a:prstDash val="solid"/>
          </a:ln>
        </p:spPr>
      </p:sp>
      <p:sp>
        <p:nvSpPr>
          <p:cNvPr id="65" name="Shape 63"/>
          <p:cNvSpPr/>
          <p:nvPr/>
        </p:nvSpPr>
        <p:spPr>
          <a:xfrm>
            <a:off x="2637993" y="2084151"/>
            <a:ext cx="41148" cy="41148"/>
          </a:xfrm>
          <a:prstGeom prst="ellipse">
            <a:avLst/>
          </a:prstGeom>
          <a:solidFill>
            <a:srgbClr val="FFFFFF"/>
          </a:solidFill>
          <a:ln w="7620">
            <a:solidFill>
              <a:srgbClr val="4F7A43"/>
            </a:solidFill>
            <a:prstDash val="solid"/>
          </a:ln>
        </p:spPr>
      </p:sp>
      <p:sp>
        <p:nvSpPr>
          <p:cNvPr id="66" name="Shape 64"/>
          <p:cNvSpPr/>
          <p:nvPr/>
        </p:nvSpPr>
        <p:spPr>
          <a:xfrm>
            <a:off x="2768763" y="2113595"/>
            <a:ext cx="41148" cy="41148"/>
          </a:xfrm>
          <a:prstGeom prst="ellipse">
            <a:avLst/>
          </a:prstGeom>
          <a:solidFill>
            <a:srgbClr val="FFFFFF"/>
          </a:solidFill>
          <a:ln w="7620">
            <a:solidFill>
              <a:srgbClr val="4F7A43"/>
            </a:solidFill>
            <a:prstDash val="solid"/>
          </a:ln>
        </p:spPr>
      </p:sp>
      <p:sp>
        <p:nvSpPr>
          <p:cNvPr id="67" name="Shape 65"/>
          <p:cNvSpPr/>
          <p:nvPr/>
        </p:nvSpPr>
        <p:spPr>
          <a:xfrm>
            <a:off x="2901894" y="2164699"/>
            <a:ext cx="41148" cy="41148"/>
          </a:xfrm>
          <a:prstGeom prst="ellipse">
            <a:avLst/>
          </a:prstGeom>
          <a:solidFill>
            <a:srgbClr val="FFFFFF"/>
          </a:solidFill>
          <a:ln w="7620">
            <a:solidFill>
              <a:srgbClr val="4F7A43"/>
            </a:solidFill>
            <a:prstDash val="solid"/>
          </a:ln>
        </p:spPr>
      </p:sp>
      <p:sp>
        <p:nvSpPr>
          <p:cNvPr id="68" name="Shape 66"/>
          <p:cNvSpPr/>
          <p:nvPr/>
        </p:nvSpPr>
        <p:spPr>
          <a:xfrm>
            <a:off x="3025751" y="2232996"/>
            <a:ext cx="41148" cy="41148"/>
          </a:xfrm>
          <a:prstGeom prst="ellipse">
            <a:avLst/>
          </a:prstGeom>
          <a:solidFill>
            <a:srgbClr val="FFFFFF"/>
          </a:solidFill>
          <a:ln w="7620">
            <a:solidFill>
              <a:srgbClr val="4F7A43"/>
            </a:solidFill>
            <a:prstDash val="solid"/>
          </a:ln>
        </p:spPr>
      </p:sp>
      <p:sp>
        <p:nvSpPr>
          <p:cNvPr id="69" name="Shape 67"/>
          <p:cNvSpPr/>
          <p:nvPr/>
        </p:nvSpPr>
        <p:spPr>
          <a:xfrm>
            <a:off x="3129511" y="2312517"/>
            <a:ext cx="41148" cy="41148"/>
          </a:xfrm>
          <a:prstGeom prst="ellipse">
            <a:avLst/>
          </a:prstGeom>
          <a:solidFill>
            <a:srgbClr val="FFFFFF"/>
          </a:solidFill>
          <a:ln w="7620">
            <a:solidFill>
              <a:srgbClr val="4F7A43"/>
            </a:solidFill>
            <a:prstDash val="solid"/>
          </a:ln>
        </p:spPr>
      </p:sp>
      <p:sp>
        <p:nvSpPr>
          <p:cNvPr id="70" name="Shape 68"/>
          <p:cNvSpPr/>
          <p:nvPr/>
        </p:nvSpPr>
        <p:spPr>
          <a:xfrm>
            <a:off x="3204106" y="2396314"/>
            <a:ext cx="41148" cy="41148"/>
          </a:xfrm>
          <a:prstGeom prst="ellipse">
            <a:avLst/>
          </a:prstGeom>
          <a:solidFill>
            <a:srgbClr val="FFFFFF"/>
          </a:solidFill>
          <a:ln w="7620">
            <a:solidFill>
              <a:srgbClr val="4F7A43"/>
            </a:solidFill>
            <a:prstDash val="solid"/>
          </a:ln>
        </p:spPr>
      </p:sp>
      <p:sp>
        <p:nvSpPr>
          <p:cNvPr id="71" name="Shape 69"/>
          <p:cNvSpPr/>
          <p:nvPr/>
        </p:nvSpPr>
        <p:spPr>
          <a:xfrm>
            <a:off x="3243017" y="2477063"/>
            <a:ext cx="41148" cy="41148"/>
          </a:xfrm>
          <a:prstGeom prst="ellipse">
            <a:avLst/>
          </a:prstGeom>
          <a:solidFill>
            <a:srgbClr val="FFFFFF"/>
          </a:solidFill>
          <a:ln w="7620">
            <a:solidFill>
              <a:srgbClr val="4F7A43"/>
            </a:solidFill>
            <a:prstDash val="solid"/>
          </a:ln>
        </p:spPr>
      </p:sp>
      <p:sp>
        <p:nvSpPr>
          <p:cNvPr id="72" name="Shape 70"/>
          <p:cNvSpPr/>
          <p:nvPr/>
        </p:nvSpPr>
        <p:spPr>
          <a:xfrm>
            <a:off x="3242843" y="2547707"/>
            <a:ext cx="41148" cy="41148"/>
          </a:xfrm>
          <a:prstGeom prst="ellipse">
            <a:avLst/>
          </a:prstGeom>
          <a:solidFill>
            <a:srgbClr val="FFFFFF"/>
          </a:solidFill>
          <a:ln w="7620">
            <a:solidFill>
              <a:srgbClr val="4F7A43"/>
            </a:solidFill>
            <a:prstDash val="solid"/>
          </a:ln>
        </p:spPr>
      </p:sp>
      <p:sp>
        <p:nvSpPr>
          <p:cNvPr id="73" name="Shape 71"/>
          <p:cNvSpPr/>
          <p:nvPr/>
        </p:nvSpPr>
        <p:spPr>
          <a:xfrm>
            <a:off x="2848893" y="2573326"/>
            <a:ext cx="511851" cy="150211"/>
          </a:xfrm>
          <a:custGeom>
            <a:avLst/>
            <a:gdLst/>
            <a:ahLst/>
            <a:cxnLst/>
            <a:rect l="l" t="t" r="r" b="b"/>
            <a:pathLst>
              <a:path w="511851" h="150211">
                <a:moveTo>
                  <a:pt x="511851" y="0"/>
                </a:moveTo>
                <a:lnTo>
                  <a:pt x="509245" y="20442"/>
                </a:lnTo>
                <a:lnTo>
                  <a:pt x="503659" y="39720"/>
                </a:lnTo>
                <a:lnTo>
                  <a:pt x="495125" y="57727"/>
                </a:lnTo>
                <a:lnTo>
                  <a:pt x="483689" y="74364"/>
                </a:lnTo>
                <a:lnTo>
                  <a:pt x="469413" y="89540"/>
                </a:lnTo>
                <a:lnTo>
                  <a:pt x="452377" y="103172"/>
                </a:lnTo>
                <a:lnTo>
                  <a:pt x="432674" y="115184"/>
                </a:lnTo>
                <a:lnTo>
                  <a:pt x="410413" y="125511"/>
                </a:lnTo>
                <a:lnTo>
                  <a:pt x="385716" y="134095"/>
                </a:lnTo>
                <a:lnTo>
                  <a:pt x="358718" y="140889"/>
                </a:lnTo>
                <a:lnTo>
                  <a:pt x="329568" y="145857"/>
                </a:lnTo>
                <a:lnTo>
                  <a:pt x="298427" y="148970"/>
                </a:lnTo>
                <a:lnTo>
                  <a:pt x="265466" y="150211"/>
                </a:lnTo>
                <a:lnTo>
                  <a:pt x="230866" y="149575"/>
                </a:lnTo>
                <a:lnTo>
                  <a:pt x="194818" y="147063"/>
                </a:lnTo>
                <a:lnTo>
                  <a:pt x="157518" y="142691"/>
                </a:lnTo>
                <a:lnTo>
                  <a:pt x="119174" y="136482"/>
                </a:lnTo>
                <a:lnTo>
                  <a:pt x="79995" y="128470"/>
                </a:lnTo>
                <a:lnTo>
                  <a:pt x="40198" y="118699"/>
                </a:lnTo>
                <a:lnTo>
                  <a:pt x="0" y="107224"/>
                </a:lnTo>
              </a:path>
            </a:pathLst>
          </a:custGeom>
          <a:ln w="44450">
            <a:solidFill>
              <a:srgbClr val="C4262E"/>
            </a:solidFill>
            <a:prstDash val="solid"/>
          </a:ln>
        </p:spPr>
      </p:sp>
      <p:sp>
        <p:nvSpPr>
          <p:cNvPr id="74" name="Shape 72"/>
          <p:cNvSpPr/>
          <p:nvPr/>
        </p:nvSpPr>
        <p:spPr>
          <a:xfrm>
            <a:off x="2874308" y="2369288"/>
            <a:ext cx="109728" cy="109728"/>
          </a:xfrm>
          <a:prstGeom prst="ellipse">
            <a:avLst/>
          </a:prstGeom>
          <a:solidFill>
            <a:srgbClr val="FFFFFF"/>
          </a:solidFill>
          <a:ln w="19050">
            <a:solidFill>
              <a:srgbClr val="C4262E"/>
            </a:solidFill>
            <a:prstDash val="solid"/>
          </a:ln>
        </p:spPr>
      </p:sp>
      <p:sp>
        <p:nvSpPr>
          <p:cNvPr id="75" name="Shape 73"/>
          <p:cNvSpPr/>
          <p:nvPr/>
        </p:nvSpPr>
        <p:spPr>
          <a:xfrm>
            <a:off x="3593592" y="246430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76" name="Shape 74"/>
          <p:cNvSpPr/>
          <p:nvPr/>
        </p:nvSpPr>
        <p:spPr>
          <a:xfrm>
            <a:off x="3694176" y="1280160"/>
            <a:ext cx="1572768" cy="2377440"/>
          </a:xfrm>
          <a:prstGeom prst="rect">
            <a:avLst/>
          </a:prstGeom>
          <a:solidFill>
            <a:srgbClr val="FFFFFF"/>
          </a:solidFill>
          <a:ln w="6350">
            <a:solidFill>
              <a:srgbClr val="D9D9D9"/>
            </a:solidFill>
            <a:prstDash val="solid"/>
          </a:ln>
        </p:spPr>
      </p:sp>
      <p:sp>
        <p:nvSpPr>
          <p:cNvPr id="77" name="Text 75"/>
          <p:cNvSpPr txBox="1"/>
          <p:nvPr/>
        </p:nvSpPr>
        <p:spPr>
          <a:xfrm>
            <a:off x="3767328" y="1335024"/>
            <a:ext cx="1426464"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03  </a:t>
            </a:r>
            <a:pPr indent="0" marL="0">
              <a:buNone/>
            </a:pPr>
            <a:r>
              <a:rPr lang="en-US" sz="650" b="1" spc="50" kern="0" dirty="0">
                <a:solidFill>
                  <a:srgbClr val="1B1B1B"/>
                </a:solidFill>
                <a:latin typeface="Arial" pitchFamily="34" charset="0"/>
                <a:ea typeface="Arial" pitchFamily="34" charset="-122"/>
                <a:cs typeface="Arial" pitchFamily="34" charset="-120"/>
              </a:rPr>
              <a:t>DRAW THE ROUTE</a:t>
            </a:r>
            <a:endParaRPr lang="en-US" sz="650" dirty="0"/>
          </a:p>
        </p:txBody>
      </p:sp>
      <p:sp>
        <p:nvSpPr>
          <p:cNvPr id="78" name="Text 76"/>
          <p:cNvSpPr txBox="1"/>
          <p:nvPr/>
        </p:nvSpPr>
        <p:spPr>
          <a:xfrm>
            <a:off x="3767328" y="3236976"/>
            <a:ext cx="1426464" cy="384048"/>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A slow path that follows the contours from edge to summit.</a:t>
            </a:r>
            <a:endParaRPr lang="en-US" sz="650" dirty="0"/>
          </a:p>
        </p:txBody>
      </p:sp>
      <p:sp>
        <p:nvSpPr>
          <p:cNvPr id="79" name="Shape 77"/>
          <p:cNvSpPr/>
          <p:nvPr/>
        </p:nvSpPr>
        <p:spPr>
          <a:xfrm>
            <a:off x="3864052" y="1995603"/>
            <a:ext cx="1233016" cy="772818"/>
          </a:xfrm>
          <a:custGeom>
            <a:avLst/>
            <a:gdLst/>
            <a:ahLst/>
            <a:cxnLst/>
            <a:rect l="l" t="t" r="r" b="b"/>
            <a:pathLst>
              <a:path w="1233016" h="772818">
                <a:moveTo>
                  <a:pt x="1220496" y="655322"/>
                </a:moveTo>
                <a:lnTo>
                  <a:pt x="1204257" y="682890"/>
                </a:lnTo>
                <a:lnTo>
                  <a:pt x="1181579" y="707210"/>
                </a:lnTo>
                <a:lnTo>
                  <a:pt x="1152709" y="728016"/>
                </a:lnTo>
                <a:lnTo>
                  <a:pt x="1117965" y="745079"/>
                </a:lnTo>
                <a:lnTo>
                  <a:pt x="1077727" y="758212"/>
                </a:lnTo>
                <a:lnTo>
                  <a:pt x="1032436" y="767271"/>
                </a:lnTo>
                <a:lnTo>
                  <a:pt x="982587" y="772158"/>
                </a:lnTo>
                <a:lnTo>
                  <a:pt x="928728" y="772818"/>
                </a:lnTo>
                <a:lnTo>
                  <a:pt x="871448" y="769245"/>
                </a:lnTo>
                <a:lnTo>
                  <a:pt x="811375" y="761477"/>
                </a:lnTo>
                <a:lnTo>
                  <a:pt x="749167" y="749600"/>
                </a:lnTo>
                <a:lnTo>
                  <a:pt x="685505" y="733744"/>
                </a:lnTo>
                <a:lnTo>
                  <a:pt x="621087" y="714082"/>
                </a:lnTo>
                <a:lnTo>
                  <a:pt x="556620" y="690831"/>
                </a:lnTo>
                <a:lnTo>
                  <a:pt x="492808" y="664243"/>
                </a:lnTo>
                <a:lnTo>
                  <a:pt x="430352" y="634612"/>
                </a:lnTo>
                <a:lnTo>
                  <a:pt x="369935" y="602262"/>
                </a:lnTo>
                <a:lnTo>
                  <a:pt x="312220" y="567547"/>
                </a:lnTo>
                <a:lnTo>
                  <a:pt x="257839" y="530847"/>
                </a:lnTo>
                <a:lnTo>
                  <a:pt x="207387" y="492564"/>
                </a:lnTo>
                <a:lnTo>
                  <a:pt x="161418" y="453119"/>
                </a:lnTo>
                <a:lnTo>
                  <a:pt x="120434" y="412943"/>
                </a:lnTo>
                <a:lnTo>
                  <a:pt x="84886" y="372475"/>
                </a:lnTo>
                <a:lnTo>
                  <a:pt x="55163" y="332161"/>
                </a:lnTo>
                <a:lnTo>
                  <a:pt x="31589" y="292441"/>
                </a:lnTo>
                <a:lnTo>
                  <a:pt x="14424" y="253750"/>
                </a:lnTo>
                <a:lnTo>
                  <a:pt x="3856" y="216513"/>
                </a:lnTo>
                <a:lnTo>
                  <a:pt x="0" y="181138"/>
                </a:lnTo>
                <a:lnTo>
                  <a:pt x="2899" y="148011"/>
                </a:lnTo>
                <a:lnTo>
                  <a:pt x="12520" y="117496"/>
                </a:lnTo>
                <a:lnTo>
                  <a:pt x="28759" y="89928"/>
                </a:lnTo>
                <a:lnTo>
                  <a:pt x="51437" y="65608"/>
                </a:lnTo>
                <a:lnTo>
                  <a:pt x="80307" y="44802"/>
                </a:lnTo>
                <a:lnTo>
                  <a:pt x="115051" y="27740"/>
                </a:lnTo>
                <a:lnTo>
                  <a:pt x="155289" y="14606"/>
                </a:lnTo>
                <a:lnTo>
                  <a:pt x="200580" y="5547"/>
                </a:lnTo>
                <a:lnTo>
                  <a:pt x="250429" y="660"/>
                </a:lnTo>
                <a:lnTo>
                  <a:pt x="304288" y="0"/>
                </a:lnTo>
                <a:lnTo>
                  <a:pt x="361568" y="3573"/>
                </a:lnTo>
                <a:lnTo>
                  <a:pt x="421641" y="11341"/>
                </a:lnTo>
                <a:lnTo>
                  <a:pt x="483849" y="23218"/>
                </a:lnTo>
                <a:lnTo>
                  <a:pt x="547511" y="39074"/>
                </a:lnTo>
                <a:lnTo>
                  <a:pt x="611929" y="58736"/>
                </a:lnTo>
                <a:lnTo>
                  <a:pt x="676396" y="81988"/>
                </a:lnTo>
                <a:lnTo>
                  <a:pt x="740208" y="108575"/>
                </a:lnTo>
                <a:lnTo>
                  <a:pt x="802664" y="138206"/>
                </a:lnTo>
                <a:lnTo>
                  <a:pt x="863081" y="170556"/>
                </a:lnTo>
                <a:lnTo>
                  <a:pt x="920796" y="205271"/>
                </a:lnTo>
                <a:lnTo>
                  <a:pt x="975178" y="241971"/>
                </a:lnTo>
                <a:lnTo>
                  <a:pt x="1025629" y="280254"/>
                </a:lnTo>
                <a:lnTo>
                  <a:pt x="1071599" y="319699"/>
                </a:lnTo>
                <a:lnTo>
                  <a:pt x="1112582" y="359876"/>
                </a:lnTo>
                <a:lnTo>
                  <a:pt x="1148130" y="400343"/>
                </a:lnTo>
                <a:lnTo>
                  <a:pt x="1177854" y="440657"/>
                </a:lnTo>
                <a:lnTo>
                  <a:pt x="1201427" y="480377"/>
                </a:lnTo>
                <a:lnTo>
                  <a:pt x="1218592" y="519068"/>
                </a:lnTo>
                <a:lnTo>
                  <a:pt x="1229160" y="556305"/>
                </a:lnTo>
                <a:lnTo>
                  <a:pt x="1233016" y="591680"/>
                </a:lnTo>
                <a:lnTo>
                  <a:pt x="1230117" y="624807"/>
                </a:lnTo>
                <a:close/>
              </a:path>
            </a:pathLst>
          </a:custGeom>
          <a:solidFill>
            <a:srgbClr val="E4E4E4"/>
          </a:solidFill>
          <a:ln w="12700"/>
        </p:spPr>
      </p:sp>
      <p:sp>
        <p:nvSpPr>
          <p:cNvPr id="80" name="Shape 78"/>
          <p:cNvSpPr/>
          <p:nvPr/>
        </p:nvSpPr>
        <p:spPr>
          <a:xfrm>
            <a:off x="3749040" y="2067379"/>
            <a:ext cx="127532" cy="45720"/>
          </a:xfrm>
          <a:custGeom>
            <a:avLst/>
            <a:gdLst/>
            <a:ahLst/>
            <a:cxnLst/>
            <a:rect l="l" t="t" r="r" b="b"/>
            <a:pathLst>
              <a:path w="127532" h="45720">
                <a:moveTo>
                  <a:pt x="127532" y="45720"/>
                </a:moveTo>
                <a:lnTo>
                  <a:pt x="0" y="0"/>
                </a:lnTo>
              </a:path>
            </a:pathLst>
          </a:custGeom>
          <a:ln w="76200">
            <a:solidFill>
              <a:srgbClr val="E4E4E4"/>
            </a:solidFill>
            <a:prstDash val="solid"/>
          </a:ln>
        </p:spPr>
      </p:sp>
      <p:sp>
        <p:nvSpPr>
          <p:cNvPr id="81" name="Shape 79"/>
          <p:cNvSpPr/>
          <p:nvPr/>
        </p:nvSpPr>
        <p:spPr>
          <a:xfrm>
            <a:off x="5084548" y="2650925"/>
            <a:ext cx="127532" cy="45720"/>
          </a:xfrm>
          <a:custGeom>
            <a:avLst/>
            <a:gdLst/>
            <a:ahLst/>
            <a:cxnLst/>
            <a:rect l="l" t="t" r="r" b="b"/>
            <a:pathLst>
              <a:path w="127532" h="45720">
                <a:moveTo>
                  <a:pt x="0" y="0"/>
                </a:moveTo>
                <a:lnTo>
                  <a:pt x="127532" y="45720"/>
                </a:lnTo>
              </a:path>
            </a:pathLst>
          </a:custGeom>
          <a:ln w="76200">
            <a:solidFill>
              <a:srgbClr val="E4E4E4"/>
            </a:solidFill>
            <a:prstDash val="solid"/>
          </a:ln>
        </p:spPr>
      </p:sp>
      <p:sp>
        <p:nvSpPr>
          <p:cNvPr id="82" name="Shape 80"/>
          <p:cNvSpPr/>
          <p:nvPr/>
        </p:nvSpPr>
        <p:spPr>
          <a:xfrm>
            <a:off x="3966803" y="2060004"/>
            <a:ext cx="1027513" cy="644015"/>
          </a:xfrm>
          <a:custGeom>
            <a:avLst/>
            <a:gdLst/>
            <a:ahLst/>
            <a:cxnLst/>
            <a:rect l="l" t="t" r="r" b="b"/>
            <a:pathLst>
              <a:path w="1027513" h="644015">
                <a:moveTo>
                  <a:pt x="1017080" y="546101"/>
                </a:moveTo>
                <a:lnTo>
                  <a:pt x="1003548" y="569075"/>
                </a:lnTo>
                <a:lnTo>
                  <a:pt x="984649" y="589342"/>
                </a:lnTo>
                <a:lnTo>
                  <a:pt x="960591" y="606680"/>
                </a:lnTo>
                <a:lnTo>
                  <a:pt x="931638" y="620899"/>
                </a:lnTo>
                <a:lnTo>
                  <a:pt x="898106" y="631843"/>
                </a:lnTo>
                <a:lnTo>
                  <a:pt x="860363" y="639393"/>
                </a:lnTo>
                <a:lnTo>
                  <a:pt x="818823" y="643465"/>
                </a:lnTo>
                <a:lnTo>
                  <a:pt x="773940" y="644015"/>
                </a:lnTo>
                <a:lnTo>
                  <a:pt x="726207" y="641037"/>
                </a:lnTo>
                <a:lnTo>
                  <a:pt x="676146" y="634564"/>
                </a:lnTo>
                <a:lnTo>
                  <a:pt x="624306" y="624667"/>
                </a:lnTo>
                <a:lnTo>
                  <a:pt x="571254" y="611453"/>
                </a:lnTo>
                <a:lnTo>
                  <a:pt x="517573" y="595069"/>
                </a:lnTo>
                <a:lnTo>
                  <a:pt x="463850" y="575692"/>
                </a:lnTo>
                <a:lnTo>
                  <a:pt x="410673" y="553536"/>
                </a:lnTo>
                <a:lnTo>
                  <a:pt x="358627" y="528844"/>
                </a:lnTo>
                <a:lnTo>
                  <a:pt x="308279" y="501885"/>
                </a:lnTo>
                <a:lnTo>
                  <a:pt x="260183" y="472956"/>
                </a:lnTo>
                <a:lnTo>
                  <a:pt x="214865" y="442372"/>
                </a:lnTo>
                <a:lnTo>
                  <a:pt x="172822" y="410470"/>
                </a:lnTo>
                <a:lnTo>
                  <a:pt x="134515" y="377599"/>
                </a:lnTo>
                <a:lnTo>
                  <a:pt x="100362" y="344119"/>
                </a:lnTo>
                <a:lnTo>
                  <a:pt x="70738" y="310396"/>
                </a:lnTo>
                <a:lnTo>
                  <a:pt x="45969" y="276801"/>
                </a:lnTo>
                <a:lnTo>
                  <a:pt x="26324" y="243701"/>
                </a:lnTo>
                <a:lnTo>
                  <a:pt x="12020" y="211459"/>
                </a:lnTo>
                <a:lnTo>
                  <a:pt x="3213" y="180428"/>
                </a:lnTo>
                <a:lnTo>
                  <a:pt x="0" y="150948"/>
                </a:lnTo>
                <a:lnTo>
                  <a:pt x="2416" y="123342"/>
                </a:lnTo>
                <a:lnTo>
                  <a:pt x="10433" y="97914"/>
                </a:lnTo>
                <a:lnTo>
                  <a:pt x="23966" y="74940"/>
                </a:lnTo>
                <a:lnTo>
                  <a:pt x="42864" y="54673"/>
                </a:lnTo>
                <a:lnTo>
                  <a:pt x="66922" y="37335"/>
                </a:lnTo>
                <a:lnTo>
                  <a:pt x="95876" y="23116"/>
                </a:lnTo>
                <a:lnTo>
                  <a:pt x="129408" y="12172"/>
                </a:lnTo>
                <a:lnTo>
                  <a:pt x="167150" y="4623"/>
                </a:lnTo>
                <a:lnTo>
                  <a:pt x="208691" y="550"/>
                </a:lnTo>
                <a:lnTo>
                  <a:pt x="253573" y="0"/>
                </a:lnTo>
                <a:lnTo>
                  <a:pt x="301307" y="2978"/>
                </a:lnTo>
                <a:lnTo>
                  <a:pt x="351368" y="9451"/>
                </a:lnTo>
                <a:lnTo>
                  <a:pt x="403208" y="19348"/>
                </a:lnTo>
                <a:lnTo>
                  <a:pt x="456259" y="32562"/>
                </a:lnTo>
                <a:lnTo>
                  <a:pt x="509941" y="48946"/>
                </a:lnTo>
                <a:lnTo>
                  <a:pt x="563664" y="68323"/>
                </a:lnTo>
                <a:lnTo>
                  <a:pt x="616840" y="90479"/>
                </a:lnTo>
                <a:lnTo>
                  <a:pt x="668887" y="115171"/>
                </a:lnTo>
                <a:lnTo>
                  <a:pt x="719234" y="142130"/>
                </a:lnTo>
                <a:lnTo>
                  <a:pt x="767330" y="171059"/>
                </a:lnTo>
                <a:lnTo>
                  <a:pt x="812648" y="201643"/>
                </a:lnTo>
                <a:lnTo>
                  <a:pt x="854691" y="233545"/>
                </a:lnTo>
                <a:lnTo>
                  <a:pt x="892999" y="266416"/>
                </a:lnTo>
                <a:lnTo>
                  <a:pt x="927152" y="299896"/>
                </a:lnTo>
                <a:lnTo>
                  <a:pt x="956775" y="333619"/>
                </a:lnTo>
                <a:lnTo>
                  <a:pt x="981545" y="367214"/>
                </a:lnTo>
                <a:lnTo>
                  <a:pt x="1001189" y="400314"/>
                </a:lnTo>
                <a:lnTo>
                  <a:pt x="1015493" y="432556"/>
                </a:lnTo>
                <a:lnTo>
                  <a:pt x="1024300" y="463587"/>
                </a:lnTo>
                <a:lnTo>
                  <a:pt x="1027513" y="493067"/>
                </a:lnTo>
                <a:lnTo>
                  <a:pt x="1025098" y="520673"/>
                </a:lnTo>
                <a:close/>
              </a:path>
            </a:pathLst>
          </a:custGeom>
          <a:solidFill>
            <a:srgbClr val="FFFFFF"/>
          </a:solidFill>
          <a:ln w="19050">
            <a:solidFill>
              <a:srgbClr val="1B1B1B"/>
            </a:solidFill>
            <a:prstDash val="solid"/>
          </a:ln>
        </p:spPr>
      </p:sp>
      <p:sp>
        <p:nvSpPr>
          <p:cNvPr id="83" name="Shape 81"/>
          <p:cNvSpPr/>
          <p:nvPr/>
        </p:nvSpPr>
        <p:spPr>
          <a:xfrm>
            <a:off x="4166142" y="2161000"/>
            <a:ext cx="739810" cy="463691"/>
          </a:xfrm>
          <a:custGeom>
            <a:avLst/>
            <a:gdLst/>
            <a:ahLst/>
            <a:cxnLst/>
            <a:rect l="l" t="t" r="r" b="b"/>
            <a:pathLst>
              <a:path w="739810" h="463691">
                <a:moveTo>
                  <a:pt x="732298" y="393193"/>
                </a:moveTo>
                <a:lnTo>
                  <a:pt x="722554" y="409734"/>
                </a:lnTo>
                <a:lnTo>
                  <a:pt x="708947" y="424326"/>
                </a:lnTo>
                <a:lnTo>
                  <a:pt x="691626" y="436810"/>
                </a:lnTo>
                <a:lnTo>
                  <a:pt x="670779" y="447047"/>
                </a:lnTo>
                <a:lnTo>
                  <a:pt x="646636" y="454927"/>
                </a:lnTo>
                <a:lnTo>
                  <a:pt x="619461" y="460363"/>
                </a:lnTo>
                <a:lnTo>
                  <a:pt x="589552" y="463295"/>
                </a:lnTo>
                <a:lnTo>
                  <a:pt x="557237" y="463691"/>
                </a:lnTo>
                <a:lnTo>
                  <a:pt x="522869" y="461547"/>
                </a:lnTo>
                <a:lnTo>
                  <a:pt x="486825" y="456886"/>
                </a:lnTo>
                <a:lnTo>
                  <a:pt x="449500" y="449760"/>
                </a:lnTo>
                <a:lnTo>
                  <a:pt x="411303" y="440246"/>
                </a:lnTo>
                <a:lnTo>
                  <a:pt x="372652" y="428449"/>
                </a:lnTo>
                <a:lnTo>
                  <a:pt x="333972" y="414498"/>
                </a:lnTo>
                <a:lnTo>
                  <a:pt x="295685" y="398546"/>
                </a:lnTo>
                <a:lnTo>
                  <a:pt x="258211" y="380767"/>
                </a:lnTo>
                <a:lnTo>
                  <a:pt x="221961" y="361357"/>
                </a:lnTo>
                <a:lnTo>
                  <a:pt x="187332" y="340528"/>
                </a:lnTo>
                <a:lnTo>
                  <a:pt x="154703" y="318508"/>
                </a:lnTo>
                <a:lnTo>
                  <a:pt x="124432" y="295539"/>
                </a:lnTo>
                <a:lnTo>
                  <a:pt x="96851" y="271871"/>
                </a:lnTo>
                <a:lnTo>
                  <a:pt x="72261" y="247766"/>
                </a:lnTo>
                <a:lnTo>
                  <a:pt x="50932" y="223485"/>
                </a:lnTo>
                <a:lnTo>
                  <a:pt x="33098" y="199297"/>
                </a:lnTo>
                <a:lnTo>
                  <a:pt x="18954" y="175465"/>
                </a:lnTo>
                <a:lnTo>
                  <a:pt x="8655" y="152250"/>
                </a:lnTo>
                <a:lnTo>
                  <a:pt x="2314" y="129908"/>
                </a:lnTo>
                <a:lnTo>
                  <a:pt x="0" y="108683"/>
                </a:lnTo>
                <a:lnTo>
                  <a:pt x="1739" y="88807"/>
                </a:lnTo>
                <a:lnTo>
                  <a:pt x="7512" y="70498"/>
                </a:lnTo>
                <a:lnTo>
                  <a:pt x="17255" y="53957"/>
                </a:lnTo>
                <a:lnTo>
                  <a:pt x="30862" y="39365"/>
                </a:lnTo>
                <a:lnTo>
                  <a:pt x="48184" y="26881"/>
                </a:lnTo>
                <a:lnTo>
                  <a:pt x="69031" y="16644"/>
                </a:lnTo>
                <a:lnTo>
                  <a:pt x="93173" y="8764"/>
                </a:lnTo>
                <a:lnTo>
                  <a:pt x="120348" y="3328"/>
                </a:lnTo>
                <a:lnTo>
                  <a:pt x="150257" y="396"/>
                </a:lnTo>
                <a:lnTo>
                  <a:pt x="182573" y="0"/>
                </a:lnTo>
                <a:lnTo>
                  <a:pt x="216941" y="2144"/>
                </a:lnTo>
                <a:lnTo>
                  <a:pt x="252985" y="6805"/>
                </a:lnTo>
                <a:lnTo>
                  <a:pt x="290310" y="13931"/>
                </a:lnTo>
                <a:lnTo>
                  <a:pt x="328507" y="23444"/>
                </a:lnTo>
                <a:lnTo>
                  <a:pt x="367157" y="35241"/>
                </a:lnTo>
                <a:lnTo>
                  <a:pt x="405838" y="49193"/>
                </a:lnTo>
                <a:lnTo>
                  <a:pt x="444125" y="65145"/>
                </a:lnTo>
                <a:lnTo>
                  <a:pt x="481599" y="82923"/>
                </a:lnTo>
                <a:lnTo>
                  <a:pt x="517849" y="102334"/>
                </a:lnTo>
                <a:lnTo>
                  <a:pt x="552478" y="123163"/>
                </a:lnTo>
                <a:lnTo>
                  <a:pt x="585107" y="145183"/>
                </a:lnTo>
                <a:lnTo>
                  <a:pt x="615378" y="168152"/>
                </a:lnTo>
                <a:lnTo>
                  <a:pt x="642959" y="191820"/>
                </a:lnTo>
                <a:lnTo>
                  <a:pt x="667549" y="215925"/>
                </a:lnTo>
                <a:lnTo>
                  <a:pt x="688878" y="240206"/>
                </a:lnTo>
                <a:lnTo>
                  <a:pt x="706712" y="264394"/>
                </a:lnTo>
                <a:lnTo>
                  <a:pt x="720856" y="288226"/>
                </a:lnTo>
                <a:lnTo>
                  <a:pt x="731155" y="311441"/>
                </a:lnTo>
                <a:lnTo>
                  <a:pt x="737496" y="333783"/>
                </a:lnTo>
                <a:lnTo>
                  <a:pt x="739810" y="355008"/>
                </a:lnTo>
                <a:lnTo>
                  <a:pt x="738070" y="374884"/>
                </a:lnTo>
                <a:close/>
              </a:path>
            </a:pathLst>
          </a:custGeom>
          <a:ln w="6350">
            <a:solidFill>
              <a:srgbClr val="4F7A43"/>
            </a:solidFill>
            <a:prstDash val="dash"/>
          </a:ln>
        </p:spPr>
      </p:sp>
      <p:sp>
        <p:nvSpPr>
          <p:cNvPr id="84" name="Shape 82"/>
          <p:cNvSpPr/>
          <p:nvPr/>
        </p:nvSpPr>
        <p:spPr>
          <a:xfrm>
            <a:off x="4299718" y="2244722"/>
            <a:ext cx="472656" cy="296247"/>
          </a:xfrm>
          <a:custGeom>
            <a:avLst/>
            <a:gdLst/>
            <a:ahLst/>
            <a:cxnLst/>
            <a:rect l="l" t="t" r="r" b="b"/>
            <a:pathLst>
              <a:path w="472656" h="296247">
                <a:moveTo>
                  <a:pt x="467857" y="251207"/>
                </a:moveTo>
                <a:lnTo>
                  <a:pt x="461632" y="261775"/>
                </a:lnTo>
                <a:lnTo>
                  <a:pt x="452939" y="271097"/>
                </a:lnTo>
                <a:lnTo>
                  <a:pt x="441872" y="279073"/>
                </a:lnTo>
                <a:lnTo>
                  <a:pt x="428553" y="285613"/>
                </a:lnTo>
                <a:lnTo>
                  <a:pt x="413129" y="290648"/>
                </a:lnTo>
                <a:lnTo>
                  <a:pt x="395767" y="294121"/>
                </a:lnTo>
                <a:lnTo>
                  <a:pt x="376658" y="295994"/>
                </a:lnTo>
                <a:lnTo>
                  <a:pt x="356012" y="296247"/>
                </a:lnTo>
                <a:lnTo>
                  <a:pt x="334055" y="294877"/>
                </a:lnTo>
                <a:lnTo>
                  <a:pt x="311027" y="291900"/>
                </a:lnTo>
                <a:lnTo>
                  <a:pt x="287181" y="287347"/>
                </a:lnTo>
                <a:lnTo>
                  <a:pt x="262777" y="281269"/>
                </a:lnTo>
                <a:lnTo>
                  <a:pt x="238084" y="273732"/>
                </a:lnTo>
                <a:lnTo>
                  <a:pt x="213371" y="264818"/>
                </a:lnTo>
                <a:lnTo>
                  <a:pt x="188910" y="254627"/>
                </a:lnTo>
                <a:lnTo>
                  <a:pt x="164968" y="243268"/>
                </a:lnTo>
                <a:lnTo>
                  <a:pt x="141808" y="230867"/>
                </a:lnTo>
                <a:lnTo>
                  <a:pt x="119684" y="217560"/>
                </a:lnTo>
                <a:lnTo>
                  <a:pt x="98838" y="203491"/>
                </a:lnTo>
                <a:lnTo>
                  <a:pt x="79498" y="188816"/>
                </a:lnTo>
                <a:lnTo>
                  <a:pt x="61877" y="173696"/>
                </a:lnTo>
                <a:lnTo>
                  <a:pt x="46166" y="158295"/>
                </a:lnTo>
                <a:lnTo>
                  <a:pt x="32540" y="142782"/>
                </a:lnTo>
                <a:lnTo>
                  <a:pt x="21146" y="127328"/>
                </a:lnTo>
                <a:lnTo>
                  <a:pt x="12109" y="112102"/>
                </a:lnTo>
                <a:lnTo>
                  <a:pt x="5529" y="97271"/>
                </a:lnTo>
                <a:lnTo>
                  <a:pt x="1478" y="82997"/>
                </a:lnTo>
                <a:lnTo>
                  <a:pt x="0" y="69436"/>
                </a:lnTo>
                <a:lnTo>
                  <a:pt x="1111" y="56738"/>
                </a:lnTo>
                <a:lnTo>
                  <a:pt x="4799" y="45040"/>
                </a:lnTo>
                <a:lnTo>
                  <a:pt x="11024" y="34472"/>
                </a:lnTo>
                <a:lnTo>
                  <a:pt x="19718" y="25150"/>
                </a:lnTo>
                <a:lnTo>
                  <a:pt x="30784" y="17174"/>
                </a:lnTo>
                <a:lnTo>
                  <a:pt x="44103" y="10633"/>
                </a:lnTo>
                <a:lnTo>
                  <a:pt x="59527" y="5599"/>
                </a:lnTo>
                <a:lnTo>
                  <a:pt x="76889" y="2126"/>
                </a:lnTo>
                <a:lnTo>
                  <a:pt x="95998" y="253"/>
                </a:lnTo>
                <a:lnTo>
                  <a:pt x="116644" y="0"/>
                </a:lnTo>
                <a:lnTo>
                  <a:pt x="138601" y="1370"/>
                </a:lnTo>
                <a:lnTo>
                  <a:pt x="161629" y="4347"/>
                </a:lnTo>
                <a:lnTo>
                  <a:pt x="185476" y="8900"/>
                </a:lnTo>
                <a:lnTo>
                  <a:pt x="209879" y="14978"/>
                </a:lnTo>
                <a:lnTo>
                  <a:pt x="234573" y="22515"/>
                </a:lnTo>
                <a:lnTo>
                  <a:pt x="259285" y="31429"/>
                </a:lnTo>
                <a:lnTo>
                  <a:pt x="283746" y="41620"/>
                </a:lnTo>
                <a:lnTo>
                  <a:pt x="307688" y="52979"/>
                </a:lnTo>
                <a:lnTo>
                  <a:pt x="330848" y="65380"/>
                </a:lnTo>
                <a:lnTo>
                  <a:pt x="352972" y="78687"/>
                </a:lnTo>
                <a:lnTo>
                  <a:pt x="373818" y="92756"/>
                </a:lnTo>
                <a:lnTo>
                  <a:pt x="393158" y="107431"/>
                </a:lnTo>
                <a:lnTo>
                  <a:pt x="410779" y="122551"/>
                </a:lnTo>
                <a:lnTo>
                  <a:pt x="426490" y="137952"/>
                </a:lnTo>
                <a:lnTo>
                  <a:pt x="440116" y="153465"/>
                </a:lnTo>
                <a:lnTo>
                  <a:pt x="451511" y="168919"/>
                </a:lnTo>
                <a:lnTo>
                  <a:pt x="460547" y="184145"/>
                </a:lnTo>
                <a:lnTo>
                  <a:pt x="467127" y="198976"/>
                </a:lnTo>
                <a:lnTo>
                  <a:pt x="471178" y="213250"/>
                </a:lnTo>
                <a:lnTo>
                  <a:pt x="472656" y="226811"/>
                </a:lnTo>
                <a:lnTo>
                  <a:pt x="471545" y="239509"/>
                </a:lnTo>
                <a:close/>
              </a:path>
            </a:pathLst>
          </a:custGeom>
          <a:ln w="6350">
            <a:solidFill>
              <a:srgbClr val="4F7A43"/>
            </a:solidFill>
            <a:prstDash val="dash"/>
          </a:ln>
        </p:spPr>
      </p:sp>
      <p:sp>
        <p:nvSpPr>
          <p:cNvPr id="85" name="Shape 83"/>
          <p:cNvSpPr/>
          <p:nvPr/>
        </p:nvSpPr>
        <p:spPr>
          <a:xfrm>
            <a:off x="4423020" y="2322003"/>
            <a:ext cx="226053" cy="141683"/>
          </a:xfrm>
          <a:custGeom>
            <a:avLst/>
            <a:gdLst/>
            <a:ahLst/>
            <a:cxnLst/>
            <a:rect l="l" t="t" r="r" b="b"/>
            <a:pathLst>
              <a:path w="226053" h="141683">
                <a:moveTo>
                  <a:pt x="223758" y="120142"/>
                </a:moveTo>
                <a:lnTo>
                  <a:pt x="220780" y="125197"/>
                </a:lnTo>
                <a:lnTo>
                  <a:pt x="216623" y="129655"/>
                </a:lnTo>
                <a:lnTo>
                  <a:pt x="211330" y="133470"/>
                </a:lnTo>
                <a:lnTo>
                  <a:pt x="204960" y="136598"/>
                </a:lnTo>
                <a:lnTo>
                  <a:pt x="197583" y="139005"/>
                </a:lnTo>
                <a:lnTo>
                  <a:pt x="189280" y="140666"/>
                </a:lnTo>
                <a:lnTo>
                  <a:pt x="180141" y="141562"/>
                </a:lnTo>
                <a:lnTo>
                  <a:pt x="170267" y="141683"/>
                </a:lnTo>
                <a:lnTo>
                  <a:pt x="159765" y="141028"/>
                </a:lnTo>
                <a:lnTo>
                  <a:pt x="148752" y="139604"/>
                </a:lnTo>
                <a:lnTo>
                  <a:pt x="137347" y="137427"/>
                </a:lnTo>
                <a:lnTo>
                  <a:pt x="125676" y="134520"/>
                </a:lnTo>
                <a:lnTo>
                  <a:pt x="113866" y="130915"/>
                </a:lnTo>
                <a:lnTo>
                  <a:pt x="102047" y="126652"/>
                </a:lnTo>
                <a:lnTo>
                  <a:pt x="90348" y="121778"/>
                </a:lnTo>
                <a:lnTo>
                  <a:pt x="78898" y="116346"/>
                </a:lnTo>
                <a:lnTo>
                  <a:pt x="67821" y="110415"/>
                </a:lnTo>
                <a:lnTo>
                  <a:pt x="57240" y="104050"/>
                </a:lnTo>
                <a:lnTo>
                  <a:pt x="47270" y="97322"/>
                </a:lnTo>
                <a:lnTo>
                  <a:pt x="38021" y="90303"/>
                </a:lnTo>
                <a:lnTo>
                  <a:pt x="29593" y="83072"/>
                </a:lnTo>
                <a:lnTo>
                  <a:pt x="22080" y="75706"/>
                </a:lnTo>
                <a:lnTo>
                  <a:pt x="15562" y="68287"/>
                </a:lnTo>
                <a:lnTo>
                  <a:pt x="10113" y="60896"/>
                </a:lnTo>
                <a:lnTo>
                  <a:pt x="5791" y="53614"/>
                </a:lnTo>
                <a:lnTo>
                  <a:pt x="2644" y="46521"/>
                </a:lnTo>
                <a:lnTo>
                  <a:pt x="707" y="39694"/>
                </a:lnTo>
                <a:lnTo>
                  <a:pt x="0" y="33209"/>
                </a:lnTo>
                <a:lnTo>
                  <a:pt x="531" y="27135"/>
                </a:lnTo>
                <a:lnTo>
                  <a:pt x="2295" y="21541"/>
                </a:lnTo>
                <a:lnTo>
                  <a:pt x="5272" y="16487"/>
                </a:lnTo>
                <a:lnTo>
                  <a:pt x="9430" y="12028"/>
                </a:lnTo>
                <a:lnTo>
                  <a:pt x="14723" y="8214"/>
                </a:lnTo>
                <a:lnTo>
                  <a:pt x="21093" y="5086"/>
                </a:lnTo>
                <a:lnTo>
                  <a:pt x="28470" y="2678"/>
                </a:lnTo>
                <a:lnTo>
                  <a:pt x="36773" y="1017"/>
                </a:lnTo>
                <a:lnTo>
                  <a:pt x="45912" y="121"/>
                </a:lnTo>
                <a:lnTo>
                  <a:pt x="55786" y="0"/>
                </a:lnTo>
                <a:lnTo>
                  <a:pt x="66287" y="655"/>
                </a:lnTo>
                <a:lnTo>
                  <a:pt x="77301" y="2079"/>
                </a:lnTo>
                <a:lnTo>
                  <a:pt x="88706" y="4257"/>
                </a:lnTo>
                <a:lnTo>
                  <a:pt x="100377" y="7164"/>
                </a:lnTo>
                <a:lnTo>
                  <a:pt x="112187" y="10768"/>
                </a:lnTo>
                <a:lnTo>
                  <a:pt x="124006" y="15031"/>
                </a:lnTo>
                <a:lnTo>
                  <a:pt x="135705" y="19905"/>
                </a:lnTo>
                <a:lnTo>
                  <a:pt x="147155" y="25338"/>
                </a:lnTo>
                <a:lnTo>
                  <a:pt x="158232" y="31269"/>
                </a:lnTo>
                <a:lnTo>
                  <a:pt x="168813" y="37633"/>
                </a:lnTo>
                <a:lnTo>
                  <a:pt x="178783" y="44361"/>
                </a:lnTo>
                <a:lnTo>
                  <a:pt x="188032" y="51380"/>
                </a:lnTo>
                <a:lnTo>
                  <a:pt x="196460" y="58612"/>
                </a:lnTo>
                <a:lnTo>
                  <a:pt x="203973" y="65977"/>
                </a:lnTo>
                <a:lnTo>
                  <a:pt x="210490" y="73396"/>
                </a:lnTo>
                <a:lnTo>
                  <a:pt x="215940" y="80787"/>
                </a:lnTo>
                <a:lnTo>
                  <a:pt x="220262" y="88069"/>
                </a:lnTo>
                <a:lnTo>
                  <a:pt x="223408" y="95162"/>
                </a:lnTo>
                <a:lnTo>
                  <a:pt x="225346" y="101989"/>
                </a:lnTo>
                <a:lnTo>
                  <a:pt x="226053" y="108475"/>
                </a:lnTo>
                <a:lnTo>
                  <a:pt x="225522" y="114548"/>
                </a:lnTo>
                <a:close/>
              </a:path>
            </a:pathLst>
          </a:custGeom>
          <a:ln w="6350">
            <a:solidFill>
              <a:srgbClr val="4F7A43"/>
            </a:solidFill>
            <a:prstDash val="dash"/>
          </a:ln>
        </p:spPr>
      </p:sp>
      <p:sp>
        <p:nvSpPr>
          <p:cNvPr id="86" name="Shape 84"/>
          <p:cNvSpPr/>
          <p:nvPr/>
        </p:nvSpPr>
        <p:spPr>
          <a:xfrm>
            <a:off x="4902911" y="2558641"/>
            <a:ext cx="41148" cy="41148"/>
          </a:xfrm>
          <a:prstGeom prst="ellipse">
            <a:avLst/>
          </a:prstGeom>
          <a:solidFill>
            <a:srgbClr val="FFFFFF"/>
          </a:solidFill>
          <a:ln w="7620">
            <a:solidFill>
              <a:srgbClr val="4F7A43"/>
            </a:solidFill>
            <a:prstDash val="solid"/>
          </a:ln>
        </p:spPr>
      </p:sp>
      <p:sp>
        <p:nvSpPr>
          <p:cNvPr id="87" name="Shape 85"/>
          <p:cNvSpPr/>
          <p:nvPr/>
        </p:nvSpPr>
        <p:spPr>
          <a:xfrm>
            <a:off x="4857035" y="2609593"/>
            <a:ext cx="41148" cy="41148"/>
          </a:xfrm>
          <a:prstGeom prst="ellipse">
            <a:avLst/>
          </a:prstGeom>
          <a:solidFill>
            <a:srgbClr val="FFFFFF"/>
          </a:solidFill>
          <a:ln w="7620">
            <a:solidFill>
              <a:srgbClr val="4F7A43"/>
            </a:solidFill>
            <a:prstDash val="solid"/>
          </a:ln>
        </p:spPr>
      </p:sp>
      <p:sp>
        <p:nvSpPr>
          <p:cNvPr id="88" name="Shape 86"/>
          <p:cNvSpPr/>
          <p:nvPr/>
        </p:nvSpPr>
        <p:spPr>
          <a:xfrm>
            <a:off x="4776461" y="2638859"/>
            <a:ext cx="41148" cy="41148"/>
          </a:xfrm>
          <a:prstGeom prst="ellipse">
            <a:avLst/>
          </a:prstGeom>
          <a:solidFill>
            <a:srgbClr val="FFFFFF"/>
          </a:solidFill>
          <a:ln w="7620">
            <a:solidFill>
              <a:srgbClr val="4F7A43"/>
            </a:solidFill>
            <a:prstDash val="solid"/>
          </a:ln>
        </p:spPr>
      </p:sp>
      <p:sp>
        <p:nvSpPr>
          <p:cNvPr id="89" name="Shape 87"/>
          <p:cNvSpPr/>
          <p:nvPr/>
        </p:nvSpPr>
        <p:spPr>
          <a:xfrm>
            <a:off x="4668230" y="2643882"/>
            <a:ext cx="41148" cy="41148"/>
          </a:xfrm>
          <a:prstGeom prst="ellipse">
            <a:avLst/>
          </a:prstGeom>
          <a:solidFill>
            <a:srgbClr val="FFFFFF"/>
          </a:solidFill>
          <a:ln w="7620">
            <a:solidFill>
              <a:srgbClr val="4F7A43"/>
            </a:solidFill>
            <a:prstDash val="solid"/>
          </a:ln>
        </p:spPr>
      </p:sp>
      <p:sp>
        <p:nvSpPr>
          <p:cNvPr id="90" name="Shape 88"/>
          <p:cNvSpPr/>
          <p:nvPr/>
        </p:nvSpPr>
        <p:spPr>
          <a:xfrm>
            <a:off x="4541801" y="2624221"/>
            <a:ext cx="41148" cy="41148"/>
          </a:xfrm>
          <a:prstGeom prst="ellipse">
            <a:avLst/>
          </a:prstGeom>
          <a:solidFill>
            <a:srgbClr val="FFFFFF"/>
          </a:solidFill>
          <a:ln w="7620">
            <a:solidFill>
              <a:srgbClr val="4F7A43"/>
            </a:solidFill>
            <a:prstDash val="solid"/>
          </a:ln>
        </p:spPr>
      </p:sp>
      <p:sp>
        <p:nvSpPr>
          <p:cNvPr id="91" name="Shape 89"/>
          <p:cNvSpPr/>
          <p:nvPr/>
        </p:nvSpPr>
        <p:spPr>
          <a:xfrm>
            <a:off x="4408221" y="2581595"/>
            <a:ext cx="41148" cy="41148"/>
          </a:xfrm>
          <a:prstGeom prst="ellipse">
            <a:avLst/>
          </a:prstGeom>
          <a:solidFill>
            <a:srgbClr val="FFFFFF"/>
          </a:solidFill>
          <a:ln w="7620">
            <a:solidFill>
              <a:srgbClr val="4F7A43"/>
            </a:solidFill>
            <a:prstDash val="solid"/>
          </a:ln>
        </p:spPr>
      </p:sp>
      <p:sp>
        <p:nvSpPr>
          <p:cNvPr id="92" name="Shape 90"/>
          <p:cNvSpPr/>
          <p:nvPr/>
        </p:nvSpPr>
        <p:spPr>
          <a:xfrm>
            <a:off x="4279166" y="2519730"/>
            <a:ext cx="41148" cy="41148"/>
          </a:xfrm>
          <a:prstGeom prst="ellipse">
            <a:avLst/>
          </a:prstGeom>
          <a:solidFill>
            <a:srgbClr val="FFFFFF"/>
          </a:solidFill>
          <a:ln w="7620">
            <a:solidFill>
              <a:srgbClr val="4F7A43"/>
            </a:solidFill>
            <a:prstDash val="solid"/>
          </a:ln>
        </p:spPr>
      </p:sp>
      <p:sp>
        <p:nvSpPr>
          <p:cNvPr id="93" name="Shape 91"/>
          <p:cNvSpPr/>
          <p:nvPr/>
        </p:nvSpPr>
        <p:spPr>
          <a:xfrm>
            <a:off x="4165912" y="2444032"/>
            <a:ext cx="41148" cy="41148"/>
          </a:xfrm>
          <a:prstGeom prst="ellipse">
            <a:avLst/>
          </a:prstGeom>
          <a:solidFill>
            <a:srgbClr val="FFFFFF"/>
          </a:solidFill>
          <a:ln w="7620">
            <a:solidFill>
              <a:srgbClr val="4F7A43"/>
            </a:solidFill>
            <a:prstDash val="solid"/>
          </a:ln>
        </p:spPr>
      </p:sp>
      <p:sp>
        <p:nvSpPr>
          <p:cNvPr id="94" name="Shape 92"/>
          <p:cNvSpPr/>
          <p:nvPr/>
        </p:nvSpPr>
        <p:spPr>
          <a:xfrm>
            <a:off x="4078358" y="2361116"/>
            <a:ext cx="41148" cy="41148"/>
          </a:xfrm>
          <a:prstGeom prst="ellipse">
            <a:avLst/>
          </a:prstGeom>
          <a:solidFill>
            <a:srgbClr val="FFFFFF"/>
          </a:solidFill>
          <a:ln w="7620">
            <a:solidFill>
              <a:srgbClr val="4F7A43"/>
            </a:solidFill>
            <a:prstDash val="solid"/>
          </a:ln>
        </p:spPr>
      </p:sp>
      <p:sp>
        <p:nvSpPr>
          <p:cNvPr id="95" name="Shape 93"/>
          <p:cNvSpPr/>
          <p:nvPr/>
        </p:nvSpPr>
        <p:spPr>
          <a:xfrm>
            <a:off x="4024154" y="2278228"/>
            <a:ext cx="41148" cy="41148"/>
          </a:xfrm>
          <a:prstGeom prst="ellipse">
            <a:avLst/>
          </a:prstGeom>
          <a:solidFill>
            <a:srgbClr val="FFFFFF"/>
          </a:solidFill>
          <a:ln w="7620">
            <a:solidFill>
              <a:srgbClr val="4F7A43"/>
            </a:solidFill>
            <a:prstDash val="solid"/>
          </a:ln>
        </p:spPr>
      </p:sp>
      <p:sp>
        <p:nvSpPr>
          <p:cNvPr id="96" name="Shape 94"/>
          <p:cNvSpPr/>
          <p:nvPr/>
        </p:nvSpPr>
        <p:spPr>
          <a:xfrm>
            <a:off x="4008038" y="2202611"/>
            <a:ext cx="41148" cy="41148"/>
          </a:xfrm>
          <a:prstGeom prst="ellipse">
            <a:avLst/>
          </a:prstGeom>
          <a:solidFill>
            <a:srgbClr val="FFFFFF"/>
          </a:solidFill>
          <a:ln w="7620">
            <a:solidFill>
              <a:srgbClr val="4F7A43"/>
            </a:solidFill>
            <a:prstDash val="solid"/>
          </a:ln>
        </p:spPr>
      </p:sp>
      <p:sp>
        <p:nvSpPr>
          <p:cNvPr id="97" name="Shape 95"/>
          <p:cNvSpPr/>
          <p:nvPr/>
        </p:nvSpPr>
        <p:spPr>
          <a:xfrm>
            <a:off x="4031418" y="2140875"/>
            <a:ext cx="41148" cy="41148"/>
          </a:xfrm>
          <a:prstGeom prst="ellipse">
            <a:avLst/>
          </a:prstGeom>
          <a:solidFill>
            <a:srgbClr val="FFFFFF"/>
          </a:solidFill>
          <a:ln w="7620">
            <a:solidFill>
              <a:srgbClr val="4F7A43"/>
            </a:solidFill>
            <a:prstDash val="solid"/>
          </a:ln>
        </p:spPr>
      </p:sp>
      <p:sp>
        <p:nvSpPr>
          <p:cNvPr id="98" name="Shape 96"/>
          <p:cNvSpPr/>
          <p:nvPr/>
        </p:nvSpPr>
        <p:spPr>
          <a:xfrm>
            <a:off x="4092251" y="2098414"/>
            <a:ext cx="41148" cy="41148"/>
          </a:xfrm>
          <a:prstGeom prst="ellipse">
            <a:avLst/>
          </a:prstGeom>
          <a:solidFill>
            <a:srgbClr val="FFFFFF"/>
          </a:solidFill>
          <a:ln w="7620">
            <a:solidFill>
              <a:srgbClr val="4F7A43"/>
            </a:solidFill>
            <a:prstDash val="solid"/>
          </a:ln>
        </p:spPr>
      </p:sp>
      <p:sp>
        <p:nvSpPr>
          <p:cNvPr id="99" name="Shape 97"/>
          <p:cNvSpPr/>
          <p:nvPr/>
        </p:nvSpPr>
        <p:spPr>
          <a:xfrm>
            <a:off x="4185220" y="2078938"/>
            <a:ext cx="41148" cy="41148"/>
          </a:xfrm>
          <a:prstGeom prst="ellipse">
            <a:avLst/>
          </a:prstGeom>
          <a:solidFill>
            <a:srgbClr val="FFFFFF"/>
          </a:solidFill>
          <a:ln w="7620">
            <a:solidFill>
              <a:srgbClr val="4F7A43"/>
            </a:solidFill>
            <a:prstDash val="solid"/>
          </a:ln>
        </p:spPr>
      </p:sp>
      <p:sp>
        <p:nvSpPr>
          <p:cNvPr id="100" name="Shape 98"/>
          <p:cNvSpPr/>
          <p:nvPr/>
        </p:nvSpPr>
        <p:spPr>
          <a:xfrm>
            <a:off x="4302201" y="2084151"/>
            <a:ext cx="41148" cy="41148"/>
          </a:xfrm>
          <a:prstGeom prst="ellipse">
            <a:avLst/>
          </a:prstGeom>
          <a:solidFill>
            <a:srgbClr val="FFFFFF"/>
          </a:solidFill>
          <a:ln w="7620">
            <a:solidFill>
              <a:srgbClr val="4F7A43"/>
            </a:solidFill>
            <a:prstDash val="solid"/>
          </a:ln>
        </p:spPr>
      </p:sp>
      <p:sp>
        <p:nvSpPr>
          <p:cNvPr id="101" name="Shape 99"/>
          <p:cNvSpPr/>
          <p:nvPr/>
        </p:nvSpPr>
        <p:spPr>
          <a:xfrm>
            <a:off x="4432971" y="2113595"/>
            <a:ext cx="41148" cy="41148"/>
          </a:xfrm>
          <a:prstGeom prst="ellipse">
            <a:avLst/>
          </a:prstGeom>
          <a:solidFill>
            <a:srgbClr val="FFFFFF"/>
          </a:solidFill>
          <a:ln w="7620">
            <a:solidFill>
              <a:srgbClr val="4F7A43"/>
            </a:solidFill>
            <a:prstDash val="solid"/>
          </a:ln>
        </p:spPr>
      </p:sp>
      <p:sp>
        <p:nvSpPr>
          <p:cNvPr id="102" name="Shape 100"/>
          <p:cNvSpPr/>
          <p:nvPr/>
        </p:nvSpPr>
        <p:spPr>
          <a:xfrm>
            <a:off x="4566102" y="2164699"/>
            <a:ext cx="41148" cy="41148"/>
          </a:xfrm>
          <a:prstGeom prst="ellipse">
            <a:avLst/>
          </a:prstGeom>
          <a:solidFill>
            <a:srgbClr val="FFFFFF"/>
          </a:solidFill>
          <a:ln w="7620">
            <a:solidFill>
              <a:srgbClr val="4F7A43"/>
            </a:solidFill>
            <a:prstDash val="solid"/>
          </a:ln>
        </p:spPr>
      </p:sp>
      <p:sp>
        <p:nvSpPr>
          <p:cNvPr id="103" name="Shape 101"/>
          <p:cNvSpPr/>
          <p:nvPr/>
        </p:nvSpPr>
        <p:spPr>
          <a:xfrm>
            <a:off x="4689959" y="2232996"/>
            <a:ext cx="41148" cy="41148"/>
          </a:xfrm>
          <a:prstGeom prst="ellipse">
            <a:avLst/>
          </a:prstGeom>
          <a:solidFill>
            <a:srgbClr val="FFFFFF"/>
          </a:solidFill>
          <a:ln w="7620">
            <a:solidFill>
              <a:srgbClr val="4F7A43"/>
            </a:solidFill>
            <a:prstDash val="solid"/>
          </a:ln>
        </p:spPr>
      </p:sp>
      <p:sp>
        <p:nvSpPr>
          <p:cNvPr id="104" name="Shape 102"/>
          <p:cNvSpPr/>
          <p:nvPr/>
        </p:nvSpPr>
        <p:spPr>
          <a:xfrm>
            <a:off x="4793719" y="2312517"/>
            <a:ext cx="41148" cy="41148"/>
          </a:xfrm>
          <a:prstGeom prst="ellipse">
            <a:avLst/>
          </a:prstGeom>
          <a:solidFill>
            <a:srgbClr val="FFFFFF"/>
          </a:solidFill>
          <a:ln w="7620">
            <a:solidFill>
              <a:srgbClr val="4F7A43"/>
            </a:solidFill>
            <a:prstDash val="solid"/>
          </a:ln>
        </p:spPr>
      </p:sp>
      <p:sp>
        <p:nvSpPr>
          <p:cNvPr id="105" name="Shape 103"/>
          <p:cNvSpPr/>
          <p:nvPr/>
        </p:nvSpPr>
        <p:spPr>
          <a:xfrm>
            <a:off x="4868314" y="2396314"/>
            <a:ext cx="41148" cy="41148"/>
          </a:xfrm>
          <a:prstGeom prst="ellipse">
            <a:avLst/>
          </a:prstGeom>
          <a:solidFill>
            <a:srgbClr val="FFFFFF"/>
          </a:solidFill>
          <a:ln w="7620">
            <a:solidFill>
              <a:srgbClr val="4F7A43"/>
            </a:solidFill>
            <a:prstDash val="solid"/>
          </a:ln>
        </p:spPr>
      </p:sp>
      <p:sp>
        <p:nvSpPr>
          <p:cNvPr id="106" name="Shape 104"/>
          <p:cNvSpPr/>
          <p:nvPr/>
        </p:nvSpPr>
        <p:spPr>
          <a:xfrm>
            <a:off x="4907225" y="2477063"/>
            <a:ext cx="41148" cy="41148"/>
          </a:xfrm>
          <a:prstGeom prst="ellipse">
            <a:avLst/>
          </a:prstGeom>
          <a:solidFill>
            <a:srgbClr val="FFFFFF"/>
          </a:solidFill>
          <a:ln w="7620">
            <a:solidFill>
              <a:srgbClr val="4F7A43"/>
            </a:solidFill>
            <a:prstDash val="solid"/>
          </a:ln>
        </p:spPr>
      </p:sp>
      <p:sp>
        <p:nvSpPr>
          <p:cNvPr id="107" name="Shape 105"/>
          <p:cNvSpPr/>
          <p:nvPr/>
        </p:nvSpPr>
        <p:spPr>
          <a:xfrm>
            <a:off x="4907051" y="2547707"/>
            <a:ext cx="41148" cy="41148"/>
          </a:xfrm>
          <a:prstGeom prst="ellipse">
            <a:avLst/>
          </a:prstGeom>
          <a:solidFill>
            <a:srgbClr val="FFFFFF"/>
          </a:solidFill>
          <a:ln w="7620">
            <a:solidFill>
              <a:srgbClr val="4F7A43"/>
            </a:solidFill>
            <a:prstDash val="solid"/>
          </a:ln>
        </p:spPr>
      </p:sp>
      <p:sp>
        <p:nvSpPr>
          <p:cNvPr id="108" name="Shape 106"/>
          <p:cNvSpPr/>
          <p:nvPr/>
        </p:nvSpPr>
        <p:spPr>
          <a:xfrm>
            <a:off x="4146950" y="2215591"/>
            <a:ext cx="659304" cy="493320"/>
          </a:xfrm>
          <a:custGeom>
            <a:avLst/>
            <a:gdLst/>
            <a:ahLst/>
            <a:cxnLst/>
            <a:rect l="l" t="t" r="r" b="b"/>
            <a:pathLst>
              <a:path w="659304" h="493320">
                <a:moveTo>
                  <a:pt x="659304" y="493320"/>
                </a:moveTo>
                <a:lnTo>
                  <a:pt x="592600" y="487840"/>
                </a:lnTo>
                <a:lnTo>
                  <a:pt x="523432" y="475798"/>
                </a:lnTo>
                <a:lnTo>
                  <a:pt x="453470" y="457744"/>
                </a:lnTo>
                <a:lnTo>
                  <a:pt x="384337" y="434349"/>
                </a:lnTo>
                <a:lnTo>
                  <a:pt x="317572" y="406378"/>
                </a:lnTo>
                <a:lnTo>
                  <a:pt x="254595" y="374671"/>
                </a:lnTo>
                <a:lnTo>
                  <a:pt x="196682" y="340122"/>
                </a:lnTo>
                <a:lnTo>
                  <a:pt x="144935" y="303652"/>
                </a:lnTo>
                <a:lnTo>
                  <a:pt x="100263" y="266189"/>
                </a:lnTo>
                <a:lnTo>
                  <a:pt x="63369" y="228646"/>
                </a:lnTo>
                <a:lnTo>
                  <a:pt x="34739" y="191894"/>
                </a:lnTo>
                <a:lnTo>
                  <a:pt x="14638" y="156748"/>
                </a:lnTo>
                <a:lnTo>
                  <a:pt x="3113" y="123948"/>
                </a:lnTo>
                <a:lnTo>
                  <a:pt x="0" y="94140"/>
                </a:lnTo>
                <a:lnTo>
                  <a:pt x="4936" y="67867"/>
                </a:lnTo>
                <a:lnTo>
                  <a:pt x="17376" y="45558"/>
                </a:lnTo>
                <a:lnTo>
                  <a:pt x="36613" y="27522"/>
                </a:lnTo>
                <a:lnTo>
                  <a:pt x="61806" y="13945"/>
                </a:lnTo>
                <a:lnTo>
                  <a:pt x="92003" y="4889"/>
                </a:lnTo>
                <a:lnTo>
                  <a:pt x="126171" y="298"/>
                </a:lnTo>
                <a:lnTo>
                  <a:pt x="163230" y="0"/>
                </a:lnTo>
                <a:lnTo>
                  <a:pt x="202080" y="3721"/>
                </a:lnTo>
                <a:lnTo>
                  <a:pt x="241632" y="11094"/>
                </a:lnTo>
                <a:lnTo>
                  <a:pt x="280838" y="21673"/>
                </a:lnTo>
                <a:lnTo>
                  <a:pt x="318715" y="34947"/>
                </a:lnTo>
                <a:lnTo>
                  <a:pt x="354376" y="50359"/>
                </a:lnTo>
                <a:lnTo>
                  <a:pt x="387044" y="67325"/>
                </a:lnTo>
                <a:lnTo>
                  <a:pt x="416073" y="85246"/>
                </a:lnTo>
                <a:lnTo>
                  <a:pt x="440961" y="103532"/>
                </a:lnTo>
                <a:lnTo>
                  <a:pt x="461359" y="121613"/>
                </a:lnTo>
                <a:lnTo>
                  <a:pt x="477075" y="138960"/>
                </a:lnTo>
                <a:lnTo>
                  <a:pt x="488074" y="155097"/>
                </a:lnTo>
                <a:lnTo>
                  <a:pt x="494472" y="169611"/>
                </a:lnTo>
                <a:lnTo>
                  <a:pt x="496530" y="182168"/>
                </a:lnTo>
                <a:lnTo>
                  <a:pt x="494638" y="192516"/>
                </a:lnTo>
                <a:lnTo>
                  <a:pt x="489302" y="200491"/>
                </a:lnTo>
                <a:lnTo>
                  <a:pt x="481119" y="206021"/>
                </a:lnTo>
                <a:lnTo>
                  <a:pt x="470762" y="209125"/>
                </a:lnTo>
                <a:lnTo>
                  <a:pt x="458951" y="209909"/>
                </a:lnTo>
                <a:lnTo>
                  <a:pt x="446430" y="208561"/>
                </a:lnTo>
              </a:path>
            </a:pathLst>
          </a:custGeom>
          <a:ln w="25400">
            <a:solidFill>
              <a:srgbClr val="C4262E"/>
            </a:solidFill>
            <a:prstDash val="solid"/>
            <a:tailEnd type="triangle"/>
          </a:ln>
        </p:spPr>
      </p:sp>
      <p:sp>
        <p:nvSpPr>
          <p:cNvPr id="109" name="Shape 107"/>
          <p:cNvSpPr/>
          <p:nvPr/>
        </p:nvSpPr>
        <p:spPr>
          <a:xfrm>
            <a:off x="4538516" y="2369288"/>
            <a:ext cx="109728" cy="109728"/>
          </a:xfrm>
          <a:prstGeom prst="ellipse">
            <a:avLst/>
          </a:prstGeom>
          <a:solidFill>
            <a:srgbClr val="FFFFFF"/>
          </a:solidFill>
          <a:ln w="19050">
            <a:solidFill>
              <a:srgbClr val="C4262E"/>
            </a:solidFill>
            <a:prstDash val="solid"/>
          </a:ln>
        </p:spPr>
      </p:sp>
      <p:sp>
        <p:nvSpPr>
          <p:cNvPr id="110" name="Shape 108"/>
          <p:cNvSpPr/>
          <p:nvPr/>
        </p:nvSpPr>
        <p:spPr>
          <a:xfrm>
            <a:off x="5257800" y="246430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11" name="Shape 109"/>
          <p:cNvSpPr/>
          <p:nvPr/>
        </p:nvSpPr>
        <p:spPr>
          <a:xfrm>
            <a:off x="5358384" y="1280160"/>
            <a:ext cx="1572768" cy="2377440"/>
          </a:xfrm>
          <a:prstGeom prst="rect">
            <a:avLst/>
          </a:prstGeom>
          <a:solidFill>
            <a:srgbClr val="FFFFFF"/>
          </a:solidFill>
          <a:ln w="6350">
            <a:solidFill>
              <a:srgbClr val="D9D9D9"/>
            </a:solidFill>
            <a:prstDash val="solid"/>
          </a:ln>
        </p:spPr>
      </p:sp>
      <p:sp>
        <p:nvSpPr>
          <p:cNvPr id="112" name="Text 110"/>
          <p:cNvSpPr txBox="1"/>
          <p:nvPr/>
        </p:nvSpPr>
        <p:spPr>
          <a:xfrm>
            <a:off x="5431536" y="1335024"/>
            <a:ext cx="1426464"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04  </a:t>
            </a:r>
            <a:pPr indent="0" marL="0">
              <a:buNone/>
            </a:pPr>
            <a:r>
              <a:rPr lang="en-US" sz="650" b="1" spc="50" kern="0" dirty="0">
                <a:solidFill>
                  <a:srgbClr val="1B1B1B"/>
                </a:solidFill>
                <a:latin typeface="Arial" pitchFamily="34" charset="0"/>
                <a:ea typeface="Arial" pitchFamily="34" charset="-122"/>
                <a:cs typeface="Arial" pitchFamily="34" charset="-120"/>
              </a:rPr>
              <a:t>FIND THE STRIPS</a:t>
            </a:r>
            <a:endParaRPr lang="en-US" sz="650" dirty="0"/>
          </a:p>
        </p:txBody>
      </p:sp>
      <p:sp>
        <p:nvSpPr>
          <p:cNvPr id="113" name="Text 111"/>
          <p:cNvSpPr txBox="1"/>
          <p:nvPr/>
        </p:nvSpPr>
        <p:spPr>
          <a:xfrm>
            <a:off x="5431536" y="3236976"/>
            <a:ext cx="1426464" cy="384048"/>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Buildable strips between trees, parallel to contours.</a:t>
            </a:r>
            <a:endParaRPr lang="en-US" sz="650" dirty="0"/>
          </a:p>
        </p:txBody>
      </p:sp>
      <p:sp>
        <p:nvSpPr>
          <p:cNvPr id="114" name="Shape 112"/>
          <p:cNvSpPr/>
          <p:nvPr/>
        </p:nvSpPr>
        <p:spPr>
          <a:xfrm>
            <a:off x="5528260" y="1995603"/>
            <a:ext cx="1233016" cy="772818"/>
          </a:xfrm>
          <a:custGeom>
            <a:avLst/>
            <a:gdLst/>
            <a:ahLst/>
            <a:cxnLst/>
            <a:rect l="l" t="t" r="r" b="b"/>
            <a:pathLst>
              <a:path w="1233016" h="772818">
                <a:moveTo>
                  <a:pt x="1220496" y="655322"/>
                </a:moveTo>
                <a:lnTo>
                  <a:pt x="1204257" y="682890"/>
                </a:lnTo>
                <a:lnTo>
                  <a:pt x="1181579" y="707210"/>
                </a:lnTo>
                <a:lnTo>
                  <a:pt x="1152709" y="728016"/>
                </a:lnTo>
                <a:lnTo>
                  <a:pt x="1117965" y="745079"/>
                </a:lnTo>
                <a:lnTo>
                  <a:pt x="1077727" y="758212"/>
                </a:lnTo>
                <a:lnTo>
                  <a:pt x="1032436" y="767271"/>
                </a:lnTo>
                <a:lnTo>
                  <a:pt x="982587" y="772158"/>
                </a:lnTo>
                <a:lnTo>
                  <a:pt x="928728" y="772818"/>
                </a:lnTo>
                <a:lnTo>
                  <a:pt x="871448" y="769245"/>
                </a:lnTo>
                <a:lnTo>
                  <a:pt x="811375" y="761477"/>
                </a:lnTo>
                <a:lnTo>
                  <a:pt x="749167" y="749600"/>
                </a:lnTo>
                <a:lnTo>
                  <a:pt x="685505" y="733744"/>
                </a:lnTo>
                <a:lnTo>
                  <a:pt x="621087" y="714082"/>
                </a:lnTo>
                <a:lnTo>
                  <a:pt x="556620" y="690831"/>
                </a:lnTo>
                <a:lnTo>
                  <a:pt x="492808" y="664243"/>
                </a:lnTo>
                <a:lnTo>
                  <a:pt x="430352" y="634612"/>
                </a:lnTo>
                <a:lnTo>
                  <a:pt x="369935" y="602262"/>
                </a:lnTo>
                <a:lnTo>
                  <a:pt x="312220" y="567547"/>
                </a:lnTo>
                <a:lnTo>
                  <a:pt x="257839" y="530847"/>
                </a:lnTo>
                <a:lnTo>
                  <a:pt x="207387" y="492564"/>
                </a:lnTo>
                <a:lnTo>
                  <a:pt x="161418" y="453119"/>
                </a:lnTo>
                <a:lnTo>
                  <a:pt x="120434" y="412943"/>
                </a:lnTo>
                <a:lnTo>
                  <a:pt x="84886" y="372475"/>
                </a:lnTo>
                <a:lnTo>
                  <a:pt x="55163" y="332161"/>
                </a:lnTo>
                <a:lnTo>
                  <a:pt x="31589" y="292441"/>
                </a:lnTo>
                <a:lnTo>
                  <a:pt x="14424" y="253750"/>
                </a:lnTo>
                <a:lnTo>
                  <a:pt x="3856" y="216513"/>
                </a:lnTo>
                <a:lnTo>
                  <a:pt x="0" y="181138"/>
                </a:lnTo>
                <a:lnTo>
                  <a:pt x="2899" y="148011"/>
                </a:lnTo>
                <a:lnTo>
                  <a:pt x="12520" y="117496"/>
                </a:lnTo>
                <a:lnTo>
                  <a:pt x="28759" y="89928"/>
                </a:lnTo>
                <a:lnTo>
                  <a:pt x="51437" y="65608"/>
                </a:lnTo>
                <a:lnTo>
                  <a:pt x="80307" y="44802"/>
                </a:lnTo>
                <a:lnTo>
                  <a:pt x="115051" y="27740"/>
                </a:lnTo>
                <a:lnTo>
                  <a:pt x="155289" y="14606"/>
                </a:lnTo>
                <a:lnTo>
                  <a:pt x="200580" y="5547"/>
                </a:lnTo>
                <a:lnTo>
                  <a:pt x="250429" y="660"/>
                </a:lnTo>
                <a:lnTo>
                  <a:pt x="304288" y="0"/>
                </a:lnTo>
                <a:lnTo>
                  <a:pt x="361568" y="3573"/>
                </a:lnTo>
                <a:lnTo>
                  <a:pt x="421641" y="11341"/>
                </a:lnTo>
                <a:lnTo>
                  <a:pt x="483849" y="23218"/>
                </a:lnTo>
                <a:lnTo>
                  <a:pt x="547511" y="39074"/>
                </a:lnTo>
                <a:lnTo>
                  <a:pt x="611929" y="58736"/>
                </a:lnTo>
                <a:lnTo>
                  <a:pt x="676396" y="81988"/>
                </a:lnTo>
                <a:lnTo>
                  <a:pt x="740208" y="108575"/>
                </a:lnTo>
                <a:lnTo>
                  <a:pt x="802664" y="138206"/>
                </a:lnTo>
                <a:lnTo>
                  <a:pt x="863081" y="170556"/>
                </a:lnTo>
                <a:lnTo>
                  <a:pt x="920796" y="205271"/>
                </a:lnTo>
                <a:lnTo>
                  <a:pt x="975178" y="241971"/>
                </a:lnTo>
                <a:lnTo>
                  <a:pt x="1025629" y="280254"/>
                </a:lnTo>
                <a:lnTo>
                  <a:pt x="1071599" y="319699"/>
                </a:lnTo>
                <a:lnTo>
                  <a:pt x="1112582" y="359876"/>
                </a:lnTo>
                <a:lnTo>
                  <a:pt x="1148130" y="400343"/>
                </a:lnTo>
                <a:lnTo>
                  <a:pt x="1177854" y="440657"/>
                </a:lnTo>
                <a:lnTo>
                  <a:pt x="1201427" y="480377"/>
                </a:lnTo>
                <a:lnTo>
                  <a:pt x="1218592" y="519068"/>
                </a:lnTo>
                <a:lnTo>
                  <a:pt x="1229160" y="556305"/>
                </a:lnTo>
                <a:lnTo>
                  <a:pt x="1233016" y="591680"/>
                </a:lnTo>
                <a:lnTo>
                  <a:pt x="1230117" y="624807"/>
                </a:lnTo>
                <a:close/>
              </a:path>
            </a:pathLst>
          </a:custGeom>
          <a:solidFill>
            <a:srgbClr val="E4E4E4"/>
          </a:solidFill>
          <a:ln w="12700"/>
        </p:spPr>
      </p:sp>
      <p:sp>
        <p:nvSpPr>
          <p:cNvPr id="115" name="Shape 113"/>
          <p:cNvSpPr/>
          <p:nvPr/>
        </p:nvSpPr>
        <p:spPr>
          <a:xfrm>
            <a:off x="5413248" y="2067379"/>
            <a:ext cx="127532" cy="45720"/>
          </a:xfrm>
          <a:custGeom>
            <a:avLst/>
            <a:gdLst/>
            <a:ahLst/>
            <a:cxnLst/>
            <a:rect l="l" t="t" r="r" b="b"/>
            <a:pathLst>
              <a:path w="127532" h="45720">
                <a:moveTo>
                  <a:pt x="127532" y="45720"/>
                </a:moveTo>
                <a:lnTo>
                  <a:pt x="0" y="0"/>
                </a:lnTo>
              </a:path>
            </a:pathLst>
          </a:custGeom>
          <a:ln w="76200">
            <a:solidFill>
              <a:srgbClr val="E4E4E4"/>
            </a:solidFill>
            <a:prstDash val="solid"/>
          </a:ln>
        </p:spPr>
      </p:sp>
      <p:sp>
        <p:nvSpPr>
          <p:cNvPr id="116" name="Shape 114"/>
          <p:cNvSpPr/>
          <p:nvPr/>
        </p:nvSpPr>
        <p:spPr>
          <a:xfrm>
            <a:off x="6748756" y="2650925"/>
            <a:ext cx="127532" cy="45720"/>
          </a:xfrm>
          <a:custGeom>
            <a:avLst/>
            <a:gdLst/>
            <a:ahLst/>
            <a:cxnLst/>
            <a:rect l="l" t="t" r="r" b="b"/>
            <a:pathLst>
              <a:path w="127532" h="45720">
                <a:moveTo>
                  <a:pt x="0" y="0"/>
                </a:moveTo>
                <a:lnTo>
                  <a:pt x="127532" y="45720"/>
                </a:lnTo>
              </a:path>
            </a:pathLst>
          </a:custGeom>
          <a:ln w="76200">
            <a:solidFill>
              <a:srgbClr val="E4E4E4"/>
            </a:solidFill>
            <a:prstDash val="solid"/>
          </a:ln>
        </p:spPr>
      </p:sp>
      <p:sp>
        <p:nvSpPr>
          <p:cNvPr id="117" name="Shape 115"/>
          <p:cNvSpPr/>
          <p:nvPr/>
        </p:nvSpPr>
        <p:spPr>
          <a:xfrm>
            <a:off x="5631011" y="2060004"/>
            <a:ext cx="1027513" cy="644015"/>
          </a:xfrm>
          <a:custGeom>
            <a:avLst/>
            <a:gdLst/>
            <a:ahLst/>
            <a:cxnLst/>
            <a:rect l="l" t="t" r="r" b="b"/>
            <a:pathLst>
              <a:path w="1027513" h="644015">
                <a:moveTo>
                  <a:pt x="1017080" y="546101"/>
                </a:moveTo>
                <a:lnTo>
                  <a:pt x="1003548" y="569075"/>
                </a:lnTo>
                <a:lnTo>
                  <a:pt x="984649" y="589342"/>
                </a:lnTo>
                <a:lnTo>
                  <a:pt x="960591" y="606680"/>
                </a:lnTo>
                <a:lnTo>
                  <a:pt x="931638" y="620899"/>
                </a:lnTo>
                <a:lnTo>
                  <a:pt x="898106" y="631843"/>
                </a:lnTo>
                <a:lnTo>
                  <a:pt x="860363" y="639393"/>
                </a:lnTo>
                <a:lnTo>
                  <a:pt x="818823" y="643465"/>
                </a:lnTo>
                <a:lnTo>
                  <a:pt x="773940" y="644015"/>
                </a:lnTo>
                <a:lnTo>
                  <a:pt x="726207" y="641037"/>
                </a:lnTo>
                <a:lnTo>
                  <a:pt x="676146" y="634564"/>
                </a:lnTo>
                <a:lnTo>
                  <a:pt x="624306" y="624667"/>
                </a:lnTo>
                <a:lnTo>
                  <a:pt x="571254" y="611453"/>
                </a:lnTo>
                <a:lnTo>
                  <a:pt x="517573" y="595069"/>
                </a:lnTo>
                <a:lnTo>
                  <a:pt x="463850" y="575692"/>
                </a:lnTo>
                <a:lnTo>
                  <a:pt x="410673" y="553536"/>
                </a:lnTo>
                <a:lnTo>
                  <a:pt x="358627" y="528844"/>
                </a:lnTo>
                <a:lnTo>
                  <a:pt x="308279" y="501885"/>
                </a:lnTo>
                <a:lnTo>
                  <a:pt x="260183" y="472956"/>
                </a:lnTo>
                <a:lnTo>
                  <a:pt x="214865" y="442372"/>
                </a:lnTo>
                <a:lnTo>
                  <a:pt x="172822" y="410470"/>
                </a:lnTo>
                <a:lnTo>
                  <a:pt x="134515" y="377599"/>
                </a:lnTo>
                <a:lnTo>
                  <a:pt x="100362" y="344119"/>
                </a:lnTo>
                <a:lnTo>
                  <a:pt x="70738" y="310396"/>
                </a:lnTo>
                <a:lnTo>
                  <a:pt x="45969" y="276801"/>
                </a:lnTo>
                <a:lnTo>
                  <a:pt x="26324" y="243701"/>
                </a:lnTo>
                <a:lnTo>
                  <a:pt x="12020" y="211459"/>
                </a:lnTo>
                <a:lnTo>
                  <a:pt x="3213" y="180428"/>
                </a:lnTo>
                <a:lnTo>
                  <a:pt x="0" y="150948"/>
                </a:lnTo>
                <a:lnTo>
                  <a:pt x="2416" y="123342"/>
                </a:lnTo>
                <a:lnTo>
                  <a:pt x="10433" y="97914"/>
                </a:lnTo>
                <a:lnTo>
                  <a:pt x="23966" y="74940"/>
                </a:lnTo>
                <a:lnTo>
                  <a:pt x="42864" y="54673"/>
                </a:lnTo>
                <a:lnTo>
                  <a:pt x="66922" y="37335"/>
                </a:lnTo>
                <a:lnTo>
                  <a:pt x="95876" y="23116"/>
                </a:lnTo>
                <a:lnTo>
                  <a:pt x="129408" y="12172"/>
                </a:lnTo>
                <a:lnTo>
                  <a:pt x="167150" y="4623"/>
                </a:lnTo>
                <a:lnTo>
                  <a:pt x="208691" y="550"/>
                </a:lnTo>
                <a:lnTo>
                  <a:pt x="253573" y="0"/>
                </a:lnTo>
                <a:lnTo>
                  <a:pt x="301307" y="2978"/>
                </a:lnTo>
                <a:lnTo>
                  <a:pt x="351368" y="9451"/>
                </a:lnTo>
                <a:lnTo>
                  <a:pt x="403208" y="19348"/>
                </a:lnTo>
                <a:lnTo>
                  <a:pt x="456259" y="32562"/>
                </a:lnTo>
                <a:lnTo>
                  <a:pt x="509941" y="48946"/>
                </a:lnTo>
                <a:lnTo>
                  <a:pt x="563664" y="68323"/>
                </a:lnTo>
                <a:lnTo>
                  <a:pt x="616840" y="90479"/>
                </a:lnTo>
                <a:lnTo>
                  <a:pt x="668887" y="115171"/>
                </a:lnTo>
                <a:lnTo>
                  <a:pt x="719234" y="142130"/>
                </a:lnTo>
                <a:lnTo>
                  <a:pt x="767330" y="171059"/>
                </a:lnTo>
                <a:lnTo>
                  <a:pt x="812648" y="201643"/>
                </a:lnTo>
                <a:lnTo>
                  <a:pt x="854691" y="233545"/>
                </a:lnTo>
                <a:lnTo>
                  <a:pt x="892999" y="266416"/>
                </a:lnTo>
                <a:lnTo>
                  <a:pt x="927152" y="299896"/>
                </a:lnTo>
                <a:lnTo>
                  <a:pt x="956775" y="333619"/>
                </a:lnTo>
                <a:lnTo>
                  <a:pt x="981545" y="367214"/>
                </a:lnTo>
                <a:lnTo>
                  <a:pt x="1001189" y="400314"/>
                </a:lnTo>
                <a:lnTo>
                  <a:pt x="1015493" y="432556"/>
                </a:lnTo>
                <a:lnTo>
                  <a:pt x="1024300" y="463587"/>
                </a:lnTo>
                <a:lnTo>
                  <a:pt x="1027513" y="493067"/>
                </a:lnTo>
                <a:lnTo>
                  <a:pt x="1025098" y="520673"/>
                </a:lnTo>
                <a:close/>
              </a:path>
            </a:pathLst>
          </a:custGeom>
          <a:solidFill>
            <a:srgbClr val="FFFFFF"/>
          </a:solidFill>
          <a:ln w="19050">
            <a:solidFill>
              <a:srgbClr val="1B1B1B"/>
            </a:solidFill>
            <a:prstDash val="solid"/>
          </a:ln>
        </p:spPr>
      </p:sp>
      <p:sp>
        <p:nvSpPr>
          <p:cNvPr id="118" name="Shape 116"/>
          <p:cNvSpPr/>
          <p:nvPr/>
        </p:nvSpPr>
        <p:spPr>
          <a:xfrm>
            <a:off x="5830350" y="2161000"/>
            <a:ext cx="739810" cy="463691"/>
          </a:xfrm>
          <a:custGeom>
            <a:avLst/>
            <a:gdLst/>
            <a:ahLst/>
            <a:cxnLst/>
            <a:rect l="l" t="t" r="r" b="b"/>
            <a:pathLst>
              <a:path w="739810" h="463691">
                <a:moveTo>
                  <a:pt x="732298" y="393193"/>
                </a:moveTo>
                <a:lnTo>
                  <a:pt x="722554" y="409734"/>
                </a:lnTo>
                <a:lnTo>
                  <a:pt x="708947" y="424326"/>
                </a:lnTo>
                <a:lnTo>
                  <a:pt x="691626" y="436810"/>
                </a:lnTo>
                <a:lnTo>
                  <a:pt x="670779" y="447047"/>
                </a:lnTo>
                <a:lnTo>
                  <a:pt x="646636" y="454927"/>
                </a:lnTo>
                <a:lnTo>
                  <a:pt x="619461" y="460363"/>
                </a:lnTo>
                <a:lnTo>
                  <a:pt x="589552" y="463295"/>
                </a:lnTo>
                <a:lnTo>
                  <a:pt x="557237" y="463691"/>
                </a:lnTo>
                <a:lnTo>
                  <a:pt x="522869" y="461547"/>
                </a:lnTo>
                <a:lnTo>
                  <a:pt x="486825" y="456886"/>
                </a:lnTo>
                <a:lnTo>
                  <a:pt x="449500" y="449760"/>
                </a:lnTo>
                <a:lnTo>
                  <a:pt x="411303" y="440246"/>
                </a:lnTo>
                <a:lnTo>
                  <a:pt x="372652" y="428449"/>
                </a:lnTo>
                <a:lnTo>
                  <a:pt x="333972" y="414498"/>
                </a:lnTo>
                <a:lnTo>
                  <a:pt x="295685" y="398546"/>
                </a:lnTo>
                <a:lnTo>
                  <a:pt x="258211" y="380767"/>
                </a:lnTo>
                <a:lnTo>
                  <a:pt x="221961" y="361357"/>
                </a:lnTo>
                <a:lnTo>
                  <a:pt x="187332" y="340528"/>
                </a:lnTo>
                <a:lnTo>
                  <a:pt x="154703" y="318508"/>
                </a:lnTo>
                <a:lnTo>
                  <a:pt x="124432" y="295539"/>
                </a:lnTo>
                <a:lnTo>
                  <a:pt x="96851" y="271871"/>
                </a:lnTo>
                <a:lnTo>
                  <a:pt x="72261" y="247766"/>
                </a:lnTo>
                <a:lnTo>
                  <a:pt x="50932" y="223485"/>
                </a:lnTo>
                <a:lnTo>
                  <a:pt x="33098" y="199297"/>
                </a:lnTo>
                <a:lnTo>
                  <a:pt x="18954" y="175465"/>
                </a:lnTo>
                <a:lnTo>
                  <a:pt x="8655" y="152250"/>
                </a:lnTo>
                <a:lnTo>
                  <a:pt x="2314" y="129908"/>
                </a:lnTo>
                <a:lnTo>
                  <a:pt x="0" y="108683"/>
                </a:lnTo>
                <a:lnTo>
                  <a:pt x="1739" y="88807"/>
                </a:lnTo>
                <a:lnTo>
                  <a:pt x="7512" y="70498"/>
                </a:lnTo>
                <a:lnTo>
                  <a:pt x="17255" y="53957"/>
                </a:lnTo>
                <a:lnTo>
                  <a:pt x="30862" y="39365"/>
                </a:lnTo>
                <a:lnTo>
                  <a:pt x="48184" y="26881"/>
                </a:lnTo>
                <a:lnTo>
                  <a:pt x="69031" y="16644"/>
                </a:lnTo>
                <a:lnTo>
                  <a:pt x="93173" y="8764"/>
                </a:lnTo>
                <a:lnTo>
                  <a:pt x="120348" y="3328"/>
                </a:lnTo>
                <a:lnTo>
                  <a:pt x="150257" y="396"/>
                </a:lnTo>
                <a:lnTo>
                  <a:pt x="182573" y="0"/>
                </a:lnTo>
                <a:lnTo>
                  <a:pt x="216941" y="2144"/>
                </a:lnTo>
                <a:lnTo>
                  <a:pt x="252985" y="6805"/>
                </a:lnTo>
                <a:lnTo>
                  <a:pt x="290310" y="13931"/>
                </a:lnTo>
                <a:lnTo>
                  <a:pt x="328507" y="23444"/>
                </a:lnTo>
                <a:lnTo>
                  <a:pt x="367157" y="35241"/>
                </a:lnTo>
                <a:lnTo>
                  <a:pt x="405838" y="49193"/>
                </a:lnTo>
                <a:lnTo>
                  <a:pt x="444125" y="65145"/>
                </a:lnTo>
                <a:lnTo>
                  <a:pt x="481599" y="82923"/>
                </a:lnTo>
                <a:lnTo>
                  <a:pt x="517849" y="102334"/>
                </a:lnTo>
                <a:lnTo>
                  <a:pt x="552478" y="123163"/>
                </a:lnTo>
                <a:lnTo>
                  <a:pt x="585107" y="145183"/>
                </a:lnTo>
                <a:lnTo>
                  <a:pt x="615378" y="168152"/>
                </a:lnTo>
                <a:lnTo>
                  <a:pt x="642959" y="191820"/>
                </a:lnTo>
                <a:lnTo>
                  <a:pt x="667549" y="215925"/>
                </a:lnTo>
                <a:lnTo>
                  <a:pt x="688878" y="240206"/>
                </a:lnTo>
                <a:lnTo>
                  <a:pt x="706712" y="264394"/>
                </a:lnTo>
                <a:lnTo>
                  <a:pt x="720856" y="288226"/>
                </a:lnTo>
                <a:lnTo>
                  <a:pt x="731155" y="311441"/>
                </a:lnTo>
                <a:lnTo>
                  <a:pt x="737496" y="333783"/>
                </a:lnTo>
                <a:lnTo>
                  <a:pt x="739810" y="355008"/>
                </a:lnTo>
                <a:lnTo>
                  <a:pt x="738070" y="374884"/>
                </a:lnTo>
                <a:close/>
              </a:path>
            </a:pathLst>
          </a:custGeom>
          <a:ln w="6350">
            <a:solidFill>
              <a:srgbClr val="4F7A43"/>
            </a:solidFill>
            <a:prstDash val="dash"/>
          </a:ln>
        </p:spPr>
      </p:sp>
      <p:sp>
        <p:nvSpPr>
          <p:cNvPr id="119" name="Shape 117"/>
          <p:cNvSpPr/>
          <p:nvPr/>
        </p:nvSpPr>
        <p:spPr>
          <a:xfrm>
            <a:off x="5963926" y="2244722"/>
            <a:ext cx="472656" cy="296247"/>
          </a:xfrm>
          <a:custGeom>
            <a:avLst/>
            <a:gdLst/>
            <a:ahLst/>
            <a:cxnLst/>
            <a:rect l="l" t="t" r="r" b="b"/>
            <a:pathLst>
              <a:path w="472656" h="296247">
                <a:moveTo>
                  <a:pt x="467857" y="251207"/>
                </a:moveTo>
                <a:lnTo>
                  <a:pt x="461632" y="261775"/>
                </a:lnTo>
                <a:lnTo>
                  <a:pt x="452939" y="271097"/>
                </a:lnTo>
                <a:lnTo>
                  <a:pt x="441872" y="279073"/>
                </a:lnTo>
                <a:lnTo>
                  <a:pt x="428553" y="285613"/>
                </a:lnTo>
                <a:lnTo>
                  <a:pt x="413129" y="290648"/>
                </a:lnTo>
                <a:lnTo>
                  <a:pt x="395767" y="294121"/>
                </a:lnTo>
                <a:lnTo>
                  <a:pt x="376658" y="295994"/>
                </a:lnTo>
                <a:lnTo>
                  <a:pt x="356012" y="296247"/>
                </a:lnTo>
                <a:lnTo>
                  <a:pt x="334055" y="294877"/>
                </a:lnTo>
                <a:lnTo>
                  <a:pt x="311027" y="291900"/>
                </a:lnTo>
                <a:lnTo>
                  <a:pt x="287181" y="287347"/>
                </a:lnTo>
                <a:lnTo>
                  <a:pt x="262777" y="281269"/>
                </a:lnTo>
                <a:lnTo>
                  <a:pt x="238084" y="273732"/>
                </a:lnTo>
                <a:lnTo>
                  <a:pt x="213371" y="264818"/>
                </a:lnTo>
                <a:lnTo>
                  <a:pt x="188910" y="254627"/>
                </a:lnTo>
                <a:lnTo>
                  <a:pt x="164968" y="243268"/>
                </a:lnTo>
                <a:lnTo>
                  <a:pt x="141808" y="230867"/>
                </a:lnTo>
                <a:lnTo>
                  <a:pt x="119684" y="217560"/>
                </a:lnTo>
                <a:lnTo>
                  <a:pt x="98838" y="203491"/>
                </a:lnTo>
                <a:lnTo>
                  <a:pt x="79498" y="188816"/>
                </a:lnTo>
                <a:lnTo>
                  <a:pt x="61877" y="173696"/>
                </a:lnTo>
                <a:lnTo>
                  <a:pt x="46166" y="158295"/>
                </a:lnTo>
                <a:lnTo>
                  <a:pt x="32540" y="142782"/>
                </a:lnTo>
                <a:lnTo>
                  <a:pt x="21146" y="127328"/>
                </a:lnTo>
                <a:lnTo>
                  <a:pt x="12109" y="112102"/>
                </a:lnTo>
                <a:lnTo>
                  <a:pt x="5529" y="97271"/>
                </a:lnTo>
                <a:lnTo>
                  <a:pt x="1478" y="82997"/>
                </a:lnTo>
                <a:lnTo>
                  <a:pt x="0" y="69436"/>
                </a:lnTo>
                <a:lnTo>
                  <a:pt x="1111" y="56738"/>
                </a:lnTo>
                <a:lnTo>
                  <a:pt x="4799" y="45040"/>
                </a:lnTo>
                <a:lnTo>
                  <a:pt x="11024" y="34472"/>
                </a:lnTo>
                <a:lnTo>
                  <a:pt x="19718" y="25150"/>
                </a:lnTo>
                <a:lnTo>
                  <a:pt x="30784" y="17174"/>
                </a:lnTo>
                <a:lnTo>
                  <a:pt x="44103" y="10633"/>
                </a:lnTo>
                <a:lnTo>
                  <a:pt x="59527" y="5599"/>
                </a:lnTo>
                <a:lnTo>
                  <a:pt x="76889" y="2126"/>
                </a:lnTo>
                <a:lnTo>
                  <a:pt x="95998" y="253"/>
                </a:lnTo>
                <a:lnTo>
                  <a:pt x="116644" y="0"/>
                </a:lnTo>
                <a:lnTo>
                  <a:pt x="138601" y="1370"/>
                </a:lnTo>
                <a:lnTo>
                  <a:pt x="161629" y="4347"/>
                </a:lnTo>
                <a:lnTo>
                  <a:pt x="185476" y="8900"/>
                </a:lnTo>
                <a:lnTo>
                  <a:pt x="209879" y="14978"/>
                </a:lnTo>
                <a:lnTo>
                  <a:pt x="234573" y="22515"/>
                </a:lnTo>
                <a:lnTo>
                  <a:pt x="259285" y="31429"/>
                </a:lnTo>
                <a:lnTo>
                  <a:pt x="283746" y="41620"/>
                </a:lnTo>
                <a:lnTo>
                  <a:pt x="307688" y="52979"/>
                </a:lnTo>
                <a:lnTo>
                  <a:pt x="330848" y="65380"/>
                </a:lnTo>
                <a:lnTo>
                  <a:pt x="352972" y="78687"/>
                </a:lnTo>
                <a:lnTo>
                  <a:pt x="373818" y="92756"/>
                </a:lnTo>
                <a:lnTo>
                  <a:pt x="393158" y="107431"/>
                </a:lnTo>
                <a:lnTo>
                  <a:pt x="410779" y="122551"/>
                </a:lnTo>
                <a:lnTo>
                  <a:pt x="426490" y="137952"/>
                </a:lnTo>
                <a:lnTo>
                  <a:pt x="440116" y="153465"/>
                </a:lnTo>
                <a:lnTo>
                  <a:pt x="451511" y="168919"/>
                </a:lnTo>
                <a:lnTo>
                  <a:pt x="460547" y="184145"/>
                </a:lnTo>
                <a:lnTo>
                  <a:pt x="467127" y="198976"/>
                </a:lnTo>
                <a:lnTo>
                  <a:pt x="471178" y="213250"/>
                </a:lnTo>
                <a:lnTo>
                  <a:pt x="472656" y="226811"/>
                </a:lnTo>
                <a:lnTo>
                  <a:pt x="471545" y="239509"/>
                </a:lnTo>
                <a:close/>
              </a:path>
            </a:pathLst>
          </a:custGeom>
          <a:ln w="6350">
            <a:solidFill>
              <a:srgbClr val="4F7A43"/>
            </a:solidFill>
            <a:prstDash val="dash"/>
          </a:ln>
        </p:spPr>
      </p:sp>
      <p:sp>
        <p:nvSpPr>
          <p:cNvPr id="120" name="Shape 118"/>
          <p:cNvSpPr/>
          <p:nvPr/>
        </p:nvSpPr>
        <p:spPr>
          <a:xfrm>
            <a:off x="6087228" y="2322003"/>
            <a:ext cx="226053" cy="141683"/>
          </a:xfrm>
          <a:custGeom>
            <a:avLst/>
            <a:gdLst/>
            <a:ahLst/>
            <a:cxnLst/>
            <a:rect l="l" t="t" r="r" b="b"/>
            <a:pathLst>
              <a:path w="226053" h="141683">
                <a:moveTo>
                  <a:pt x="223758" y="120142"/>
                </a:moveTo>
                <a:lnTo>
                  <a:pt x="220780" y="125197"/>
                </a:lnTo>
                <a:lnTo>
                  <a:pt x="216623" y="129655"/>
                </a:lnTo>
                <a:lnTo>
                  <a:pt x="211330" y="133470"/>
                </a:lnTo>
                <a:lnTo>
                  <a:pt x="204960" y="136598"/>
                </a:lnTo>
                <a:lnTo>
                  <a:pt x="197583" y="139005"/>
                </a:lnTo>
                <a:lnTo>
                  <a:pt x="189280" y="140666"/>
                </a:lnTo>
                <a:lnTo>
                  <a:pt x="180141" y="141562"/>
                </a:lnTo>
                <a:lnTo>
                  <a:pt x="170267" y="141683"/>
                </a:lnTo>
                <a:lnTo>
                  <a:pt x="159765" y="141028"/>
                </a:lnTo>
                <a:lnTo>
                  <a:pt x="148752" y="139604"/>
                </a:lnTo>
                <a:lnTo>
                  <a:pt x="137347" y="137427"/>
                </a:lnTo>
                <a:lnTo>
                  <a:pt x="125676" y="134520"/>
                </a:lnTo>
                <a:lnTo>
                  <a:pt x="113866" y="130915"/>
                </a:lnTo>
                <a:lnTo>
                  <a:pt x="102047" y="126652"/>
                </a:lnTo>
                <a:lnTo>
                  <a:pt x="90348" y="121778"/>
                </a:lnTo>
                <a:lnTo>
                  <a:pt x="78898" y="116346"/>
                </a:lnTo>
                <a:lnTo>
                  <a:pt x="67821" y="110415"/>
                </a:lnTo>
                <a:lnTo>
                  <a:pt x="57240" y="104050"/>
                </a:lnTo>
                <a:lnTo>
                  <a:pt x="47270" y="97322"/>
                </a:lnTo>
                <a:lnTo>
                  <a:pt x="38021" y="90303"/>
                </a:lnTo>
                <a:lnTo>
                  <a:pt x="29593" y="83072"/>
                </a:lnTo>
                <a:lnTo>
                  <a:pt x="22080" y="75706"/>
                </a:lnTo>
                <a:lnTo>
                  <a:pt x="15562" y="68287"/>
                </a:lnTo>
                <a:lnTo>
                  <a:pt x="10113" y="60896"/>
                </a:lnTo>
                <a:lnTo>
                  <a:pt x="5791" y="53614"/>
                </a:lnTo>
                <a:lnTo>
                  <a:pt x="2644" y="46521"/>
                </a:lnTo>
                <a:lnTo>
                  <a:pt x="707" y="39694"/>
                </a:lnTo>
                <a:lnTo>
                  <a:pt x="0" y="33209"/>
                </a:lnTo>
                <a:lnTo>
                  <a:pt x="531" y="27135"/>
                </a:lnTo>
                <a:lnTo>
                  <a:pt x="2295" y="21541"/>
                </a:lnTo>
                <a:lnTo>
                  <a:pt x="5272" y="16487"/>
                </a:lnTo>
                <a:lnTo>
                  <a:pt x="9430" y="12028"/>
                </a:lnTo>
                <a:lnTo>
                  <a:pt x="14723" y="8214"/>
                </a:lnTo>
                <a:lnTo>
                  <a:pt x="21093" y="5086"/>
                </a:lnTo>
                <a:lnTo>
                  <a:pt x="28470" y="2678"/>
                </a:lnTo>
                <a:lnTo>
                  <a:pt x="36773" y="1017"/>
                </a:lnTo>
                <a:lnTo>
                  <a:pt x="45912" y="121"/>
                </a:lnTo>
                <a:lnTo>
                  <a:pt x="55786" y="0"/>
                </a:lnTo>
                <a:lnTo>
                  <a:pt x="66287" y="655"/>
                </a:lnTo>
                <a:lnTo>
                  <a:pt x="77301" y="2079"/>
                </a:lnTo>
                <a:lnTo>
                  <a:pt x="88706" y="4257"/>
                </a:lnTo>
                <a:lnTo>
                  <a:pt x="100377" y="7164"/>
                </a:lnTo>
                <a:lnTo>
                  <a:pt x="112187" y="10768"/>
                </a:lnTo>
                <a:lnTo>
                  <a:pt x="124006" y="15031"/>
                </a:lnTo>
                <a:lnTo>
                  <a:pt x="135705" y="19905"/>
                </a:lnTo>
                <a:lnTo>
                  <a:pt x="147155" y="25338"/>
                </a:lnTo>
                <a:lnTo>
                  <a:pt x="158232" y="31269"/>
                </a:lnTo>
                <a:lnTo>
                  <a:pt x="168813" y="37633"/>
                </a:lnTo>
                <a:lnTo>
                  <a:pt x="178783" y="44361"/>
                </a:lnTo>
                <a:lnTo>
                  <a:pt x="188032" y="51380"/>
                </a:lnTo>
                <a:lnTo>
                  <a:pt x="196460" y="58612"/>
                </a:lnTo>
                <a:lnTo>
                  <a:pt x="203973" y="65977"/>
                </a:lnTo>
                <a:lnTo>
                  <a:pt x="210490" y="73396"/>
                </a:lnTo>
                <a:lnTo>
                  <a:pt x="215940" y="80787"/>
                </a:lnTo>
                <a:lnTo>
                  <a:pt x="220262" y="88069"/>
                </a:lnTo>
                <a:lnTo>
                  <a:pt x="223408" y="95162"/>
                </a:lnTo>
                <a:lnTo>
                  <a:pt x="225346" y="101989"/>
                </a:lnTo>
                <a:lnTo>
                  <a:pt x="226053" y="108475"/>
                </a:lnTo>
                <a:lnTo>
                  <a:pt x="225522" y="114548"/>
                </a:lnTo>
                <a:close/>
              </a:path>
            </a:pathLst>
          </a:custGeom>
          <a:ln w="6350">
            <a:solidFill>
              <a:srgbClr val="4F7A43"/>
            </a:solidFill>
            <a:prstDash val="dash"/>
          </a:ln>
        </p:spPr>
      </p:sp>
      <p:sp>
        <p:nvSpPr>
          <p:cNvPr id="121" name="Shape 119"/>
          <p:cNvSpPr/>
          <p:nvPr/>
        </p:nvSpPr>
        <p:spPr>
          <a:xfrm>
            <a:off x="6567119" y="2558641"/>
            <a:ext cx="41148" cy="41148"/>
          </a:xfrm>
          <a:prstGeom prst="ellipse">
            <a:avLst/>
          </a:prstGeom>
          <a:solidFill>
            <a:srgbClr val="FFFFFF"/>
          </a:solidFill>
          <a:ln w="7620">
            <a:solidFill>
              <a:srgbClr val="4F7A43"/>
            </a:solidFill>
            <a:prstDash val="solid"/>
          </a:ln>
        </p:spPr>
      </p:sp>
      <p:sp>
        <p:nvSpPr>
          <p:cNvPr id="122" name="Shape 120"/>
          <p:cNvSpPr/>
          <p:nvPr/>
        </p:nvSpPr>
        <p:spPr>
          <a:xfrm>
            <a:off x="6521243" y="2609593"/>
            <a:ext cx="41148" cy="41148"/>
          </a:xfrm>
          <a:prstGeom prst="ellipse">
            <a:avLst/>
          </a:prstGeom>
          <a:solidFill>
            <a:srgbClr val="FFFFFF"/>
          </a:solidFill>
          <a:ln w="7620">
            <a:solidFill>
              <a:srgbClr val="4F7A43"/>
            </a:solidFill>
            <a:prstDash val="solid"/>
          </a:ln>
        </p:spPr>
      </p:sp>
      <p:sp>
        <p:nvSpPr>
          <p:cNvPr id="123" name="Shape 121"/>
          <p:cNvSpPr/>
          <p:nvPr/>
        </p:nvSpPr>
        <p:spPr>
          <a:xfrm>
            <a:off x="6440669" y="2638859"/>
            <a:ext cx="41148" cy="41148"/>
          </a:xfrm>
          <a:prstGeom prst="ellipse">
            <a:avLst/>
          </a:prstGeom>
          <a:solidFill>
            <a:srgbClr val="FFFFFF"/>
          </a:solidFill>
          <a:ln w="7620">
            <a:solidFill>
              <a:srgbClr val="4F7A43"/>
            </a:solidFill>
            <a:prstDash val="solid"/>
          </a:ln>
        </p:spPr>
      </p:sp>
      <p:sp>
        <p:nvSpPr>
          <p:cNvPr id="124" name="Shape 122"/>
          <p:cNvSpPr/>
          <p:nvPr/>
        </p:nvSpPr>
        <p:spPr>
          <a:xfrm>
            <a:off x="6332438" y="2643882"/>
            <a:ext cx="41148" cy="41148"/>
          </a:xfrm>
          <a:prstGeom prst="ellipse">
            <a:avLst/>
          </a:prstGeom>
          <a:solidFill>
            <a:srgbClr val="FFFFFF"/>
          </a:solidFill>
          <a:ln w="7620">
            <a:solidFill>
              <a:srgbClr val="4F7A43"/>
            </a:solidFill>
            <a:prstDash val="solid"/>
          </a:ln>
        </p:spPr>
      </p:sp>
      <p:sp>
        <p:nvSpPr>
          <p:cNvPr id="125" name="Shape 123"/>
          <p:cNvSpPr/>
          <p:nvPr/>
        </p:nvSpPr>
        <p:spPr>
          <a:xfrm>
            <a:off x="6206009" y="2624221"/>
            <a:ext cx="41148" cy="41148"/>
          </a:xfrm>
          <a:prstGeom prst="ellipse">
            <a:avLst/>
          </a:prstGeom>
          <a:solidFill>
            <a:srgbClr val="FFFFFF"/>
          </a:solidFill>
          <a:ln w="7620">
            <a:solidFill>
              <a:srgbClr val="4F7A43"/>
            </a:solidFill>
            <a:prstDash val="solid"/>
          </a:ln>
        </p:spPr>
      </p:sp>
      <p:sp>
        <p:nvSpPr>
          <p:cNvPr id="126" name="Shape 124"/>
          <p:cNvSpPr/>
          <p:nvPr/>
        </p:nvSpPr>
        <p:spPr>
          <a:xfrm>
            <a:off x="6072429" y="2581595"/>
            <a:ext cx="41148" cy="41148"/>
          </a:xfrm>
          <a:prstGeom prst="ellipse">
            <a:avLst/>
          </a:prstGeom>
          <a:solidFill>
            <a:srgbClr val="FFFFFF"/>
          </a:solidFill>
          <a:ln w="7620">
            <a:solidFill>
              <a:srgbClr val="4F7A43"/>
            </a:solidFill>
            <a:prstDash val="solid"/>
          </a:ln>
        </p:spPr>
      </p:sp>
      <p:sp>
        <p:nvSpPr>
          <p:cNvPr id="127" name="Shape 125"/>
          <p:cNvSpPr/>
          <p:nvPr/>
        </p:nvSpPr>
        <p:spPr>
          <a:xfrm>
            <a:off x="5943374" y="2519730"/>
            <a:ext cx="41148" cy="41148"/>
          </a:xfrm>
          <a:prstGeom prst="ellipse">
            <a:avLst/>
          </a:prstGeom>
          <a:solidFill>
            <a:srgbClr val="FFFFFF"/>
          </a:solidFill>
          <a:ln w="7620">
            <a:solidFill>
              <a:srgbClr val="4F7A43"/>
            </a:solidFill>
            <a:prstDash val="solid"/>
          </a:ln>
        </p:spPr>
      </p:sp>
      <p:sp>
        <p:nvSpPr>
          <p:cNvPr id="128" name="Shape 126"/>
          <p:cNvSpPr/>
          <p:nvPr/>
        </p:nvSpPr>
        <p:spPr>
          <a:xfrm>
            <a:off x="5830120" y="2444032"/>
            <a:ext cx="41148" cy="41148"/>
          </a:xfrm>
          <a:prstGeom prst="ellipse">
            <a:avLst/>
          </a:prstGeom>
          <a:solidFill>
            <a:srgbClr val="FFFFFF"/>
          </a:solidFill>
          <a:ln w="7620">
            <a:solidFill>
              <a:srgbClr val="4F7A43"/>
            </a:solidFill>
            <a:prstDash val="solid"/>
          </a:ln>
        </p:spPr>
      </p:sp>
      <p:sp>
        <p:nvSpPr>
          <p:cNvPr id="129" name="Shape 127"/>
          <p:cNvSpPr/>
          <p:nvPr/>
        </p:nvSpPr>
        <p:spPr>
          <a:xfrm>
            <a:off x="5742566" y="2361116"/>
            <a:ext cx="41148" cy="41148"/>
          </a:xfrm>
          <a:prstGeom prst="ellipse">
            <a:avLst/>
          </a:prstGeom>
          <a:solidFill>
            <a:srgbClr val="FFFFFF"/>
          </a:solidFill>
          <a:ln w="7620">
            <a:solidFill>
              <a:srgbClr val="4F7A43"/>
            </a:solidFill>
            <a:prstDash val="solid"/>
          </a:ln>
        </p:spPr>
      </p:sp>
      <p:sp>
        <p:nvSpPr>
          <p:cNvPr id="130" name="Shape 128"/>
          <p:cNvSpPr/>
          <p:nvPr/>
        </p:nvSpPr>
        <p:spPr>
          <a:xfrm>
            <a:off x="5688362" y="2278228"/>
            <a:ext cx="41148" cy="41148"/>
          </a:xfrm>
          <a:prstGeom prst="ellipse">
            <a:avLst/>
          </a:prstGeom>
          <a:solidFill>
            <a:srgbClr val="FFFFFF"/>
          </a:solidFill>
          <a:ln w="7620">
            <a:solidFill>
              <a:srgbClr val="4F7A43"/>
            </a:solidFill>
            <a:prstDash val="solid"/>
          </a:ln>
        </p:spPr>
      </p:sp>
      <p:sp>
        <p:nvSpPr>
          <p:cNvPr id="131" name="Shape 129"/>
          <p:cNvSpPr/>
          <p:nvPr/>
        </p:nvSpPr>
        <p:spPr>
          <a:xfrm>
            <a:off x="5672246" y="2202611"/>
            <a:ext cx="41148" cy="41148"/>
          </a:xfrm>
          <a:prstGeom prst="ellipse">
            <a:avLst/>
          </a:prstGeom>
          <a:solidFill>
            <a:srgbClr val="FFFFFF"/>
          </a:solidFill>
          <a:ln w="7620">
            <a:solidFill>
              <a:srgbClr val="4F7A43"/>
            </a:solidFill>
            <a:prstDash val="solid"/>
          </a:ln>
        </p:spPr>
      </p:sp>
      <p:sp>
        <p:nvSpPr>
          <p:cNvPr id="132" name="Shape 130"/>
          <p:cNvSpPr/>
          <p:nvPr/>
        </p:nvSpPr>
        <p:spPr>
          <a:xfrm>
            <a:off x="5695626" y="2140875"/>
            <a:ext cx="41148" cy="41148"/>
          </a:xfrm>
          <a:prstGeom prst="ellipse">
            <a:avLst/>
          </a:prstGeom>
          <a:solidFill>
            <a:srgbClr val="FFFFFF"/>
          </a:solidFill>
          <a:ln w="7620">
            <a:solidFill>
              <a:srgbClr val="4F7A43"/>
            </a:solidFill>
            <a:prstDash val="solid"/>
          </a:ln>
        </p:spPr>
      </p:sp>
      <p:sp>
        <p:nvSpPr>
          <p:cNvPr id="133" name="Shape 131"/>
          <p:cNvSpPr/>
          <p:nvPr/>
        </p:nvSpPr>
        <p:spPr>
          <a:xfrm>
            <a:off x="5756459" y="2098414"/>
            <a:ext cx="41148" cy="41148"/>
          </a:xfrm>
          <a:prstGeom prst="ellipse">
            <a:avLst/>
          </a:prstGeom>
          <a:solidFill>
            <a:srgbClr val="FFFFFF"/>
          </a:solidFill>
          <a:ln w="7620">
            <a:solidFill>
              <a:srgbClr val="4F7A43"/>
            </a:solidFill>
            <a:prstDash val="solid"/>
          </a:ln>
        </p:spPr>
      </p:sp>
      <p:sp>
        <p:nvSpPr>
          <p:cNvPr id="134" name="Shape 132"/>
          <p:cNvSpPr/>
          <p:nvPr/>
        </p:nvSpPr>
        <p:spPr>
          <a:xfrm>
            <a:off x="5849428" y="2078938"/>
            <a:ext cx="41148" cy="41148"/>
          </a:xfrm>
          <a:prstGeom prst="ellipse">
            <a:avLst/>
          </a:prstGeom>
          <a:solidFill>
            <a:srgbClr val="FFFFFF"/>
          </a:solidFill>
          <a:ln w="7620">
            <a:solidFill>
              <a:srgbClr val="4F7A43"/>
            </a:solidFill>
            <a:prstDash val="solid"/>
          </a:ln>
        </p:spPr>
      </p:sp>
      <p:sp>
        <p:nvSpPr>
          <p:cNvPr id="135" name="Shape 133"/>
          <p:cNvSpPr/>
          <p:nvPr/>
        </p:nvSpPr>
        <p:spPr>
          <a:xfrm>
            <a:off x="5966409" y="2084151"/>
            <a:ext cx="41148" cy="41148"/>
          </a:xfrm>
          <a:prstGeom prst="ellipse">
            <a:avLst/>
          </a:prstGeom>
          <a:solidFill>
            <a:srgbClr val="FFFFFF"/>
          </a:solidFill>
          <a:ln w="7620">
            <a:solidFill>
              <a:srgbClr val="4F7A43"/>
            </a:solidFill>
            <a:prstDash val="solid"/>
          </a:ln>
        </p:spPr>
      </p:sp>
      <p:sp>
        <p:nvSpPr>
          <p:cNvPr id="136" name="Shape 134"/>
          <p:cNvSpPr/>
          <p:nvPr/>
        </p:nvSpPr>
        <p:spPr>
          <a:xfrm>
            <a:off x="6097179" y="2113595"/>
            <a:ext cx="41148" cy="41148"/>
          </a:xfrm>
          <a:prstGeom prst="ellipse">
            <a:avLst/>
          </a:prstGeom>
          <a:solidFill>
            <a:srgbClr val="FFFFFF"/>
          </a:solidFill>
          <a:ln w="7620">
            <a:solidFill>
              <a:srgbClr val="4F7A43"/>
            </a:solidFill>
            <a:prstDash val="solid"/>
          </a:ln>
        </p:spPr>
      </p:sp>
      <p:sp>
        <p:nvSpPr>
          <p:cNvPr id="137" name="Shape 135"/>
          <p:cNvSpPr/>
          <p:nvPr/>
        </p:nvSpPr>
        <p:spPr>
          <a:xfrm>
            <a:off x="6230310" y="2164699"/>
            <a:ext cx="41148" cy="41148"/>
          </a:xfrm>
          <a:prstGeom prst="ellipse">
            <a:avLst/>
          </a:prstGeom>
          <a:solidFill>
            <a:srgbClr val="FFFFFF"/>
          </a:solidFill>
          <a:ln w="7620">
            <a:solidFill>
              <a:srgbClr val="4F7A43"/>
            </a:solidFill>
            <a:prstDash val="solid"/>
          </a:ln>
        </p:spPr>
      </p:sp>
      <p:sp>
        <p:nvSpPr>
          <p:cNvPr id="138" name="Shape 136"/>
          <p:cNvSpPr/>
          <p:nvPr/>
        </p:nvSpPr>
        <p:spPr>
          <a:xfrm>
            <a:off x="6354167" y="2232996"/>
            <a:ext cx="41148" cy="41148"/>
          </a:xfrm>
          <a:prstGeom prst="ellipse">
            <a:avLst/>
          </a:prstGeom>
          <a:solidFill>
            <a:srgbClr val="FFFFFF"/>
          </a:solidFill>
          <a:ln w="7620">
            <a:solidFill>
              <a:srgbClr val="4F7A43"/>
            </a:solidFill>
            <a:prstDash val="solid"/>
          </a:ln>
        </p:spPr>
      </p:sp>
      <p:sp>
        <p:nvSpPr>
          <p:cNvPr id="139" name="Shape 137"/>
          <p:cNvSpPr/>
          <p:nvPr/>
        </p:nvSpPr>
        <p:spPr>
          <a:xfrm>
            <a:off x="6457927" y="2312517"/>
            <a:ext cx="41148" cy="41148"/>
          </a:xfrm>
          <a:prstGeom prst="ellipse">
            <a:avLst/>
          </a:prstGeom>
          <a:solidFill>
            <a:srgbClr val="FFFFFF"/>
          </a:solidFill>
          <a:ln w="7620">
            <a:solidFill>
              <a:srgbClr val="4F7A43"/>
            </a:solidFill>
            <a:prstDash val="solid"/>
          </a:ln>
        </p:spPr>
      </p:sp>
      <p:sp>
        <p:nvSpPr>
          <p:cNvPr id="140" name="Shape 138"/>
          <p:cNvSpPr/>
          <p:nvPr/>
        </p:nvSpPr>
        <p:spPr>
          <a:xfrm>
            <a:off x="6532522" y="2396314"/>
            <a:ext cx="41148" cy="41148"/>
          </a:xfrm>
          <a:prstGeom prst="ellipse">
            <a:avLst/>
          </a:prstGeom>
          <a:solidFill>
            <a:srgbClr val="FFFFFF"/>
          </a:solidFill>
          <a:ln w="7620">
            <a:solidFill>
              <a:srgbClr val="4F7A43"/>
            </a:solidFill>
            <a:prstDash val="solid"/>
          </a:ln>
        </p:spPr>
      </p:sp>
      <p:sp>
        <p:nvSpPr>
          <p:cNvPr id="141" name="Shape 139"/>
          <p:cNvSpPr/>
          <p:nvPr/>
        </p:nvSpPr>
        <p:spPr>
          <a:xfrm>
            <a:off x="6571433" y="2477063"/>
            <a:ext cx="41148" cy="41148"/>
          </a:xfrm>
          <a:prstGeom prst="ellipse">
            <a:avLst/>
          </a:prstGeom>
          <a:solidFill>
            <a:srgbClr val="FFFFFF"/>
          </a:solidFill>
          <a:ln w="7620">
            <a:solidFill>
              <a:srgbClr val="4F7A43"/>
            </a:solidFill>
            <a:prstDash val="solid"/>
          </a:ln>
        </p:spPr>
      </p:sp>
      <p:sp>
        <p:nvSpPr>
          <p:cNvPr id="142" name="Shape 140"/>
          <p:cNvSpPr/>
          <p:nvPr/>
        </p:nvSpPr>
        <p:spPr>
          <a:xfrm>
            <a:off x="6571259" y="2547707"/>
            <a:ext cx="41148" cy="41148"/>
          </a:xfrm>
          <a:prstGeom prst="ellipse">
            <a:avLst/>
          </a:prstGeom>
          <a:solidFill>
            <a:srgbClr val="FFFFFF"/>
          </a:solidFill>
          <a:ln w="7620">
            <a:solidFill>
              <a:srgbClr val="4F7A43"/>
            </a:solidFill>
            <a:prstDash val="solid"/>
          </a:ln>
        </p:spPr>
      </p:sp>
      <p:sp>
        <p:nvSpPr>
          <p:cNvPr id="143" name="Shape 141"/>
          <p:cNvSpPr/>
          <p:nvPr/>
        </p:nvSpPr>
        <p:spPr>
          <a:xfrm>
            <a:off x="5811158" y="2215591"/>
            <a:ext cx="659304" cy="493320"/>
          </a:xfrm>
          <a:custGeom>
            <a:avLst/>
            <a:gdLst/>
            <a:ahLst/>
            <a:cxnLst/>
            <a:rect l="l" t="t" r="r" b="b"/>
            <a:pathLst>
              <a:path w="659304" h="493320">
                <a:moveTo>
                  <a:pt x="659304" y="493320"/>
                </a:moveTo>
                <a:lnTo>
                  <a:pt x="592600" y="487840"/>
                </a:lnTo>
                <a:lnTo>
                  <a:pt x="523432" y="475798"/>
                </a:lnTo>
                <a:lnTo>
                  <a:pt x="453470" y="457744"/>
                </a:lnTo>
                <a:lnTo>
                  <a:pt x="384337" y="434349"/>
                </a:lnTo>
                <a:lnTo>
                  <a:pt x="317572" y="406378"/>
                </a:lnTo>
                <a:lnTo>
                  <a:pt x="254595" y="374671"/>
                </a:lnTo>
                <a:lnTo>
                  <a:pt x="196682" y="340122"/>
                </a:lnTo>
                <a:lnTo>
                  <a:pt x="144935" y="303652"/>
                </a:lnTo>
                <a:lnTo>
                  <a:pt x="100263" y="266189"/>
                </a:lnTo>
                <a:lnTo>
                  <a:pt x="63369" y="228646"/>
                </a:lnTo>
                <a:lnTo>
                  <a:pt x="34739" y="191894"/>
                </a:lnTo>
                <a:lnTo>
                  <a:pt x="14638" y="156748"/>
                </a:lnTo>
                <a:lnTo>
                  <a:pt x="3113" y="123948"/>
                </a:lnTo>
                <a:lnTo>
                  <a:pt x="0" y="94140"/>
                </a:lnTo>
                <a:lnTo>
                  <a:pt x="4936" y="67867"/>
                </a:lnTo>
                <a:lnTo>
                  <a:pt x="17376" y="45558"/>
                </a:lnTo>
                <a:lnTo>
                  <a:pt x="36613" y="27522"/>
                </a:lnTo>
                <a:lnTo>
                  <a:pt x="61806" y="13945"/>
                </a:lnTo>
                <a:lnTo>
                  <a:pt x="92003" y="4889"/>
                </a:lnTo>
                <a:lnTo>
                  <a:pt x="126171" y="298"/>
                </a:lnTo>
                <a:lnTo>
                  <a:pt x="163230" y="0"/>
                </a:lnTo>
                <a:lnTo>
                  <a:pt x="202080" y="3721"/>
                </a:lnTo>
                <a:lnTo>
                  <a:pt x="241632" y="11094"/>
                </a:lnTo>
                <a:lnTo>
                  <a:pt x="280838" y="21673"/>
                </a:lnTo>
                <a:lnTo>
                  <a:pt x="318715" y="34947"/>
                </a:lnTo>
                <a:lnTo>
                  <a:pt x="354376" y="50359"/>
                </a:lnTo>
                <a:lnTo>
                  <a:pt x="387044" y="67325"/>
                </a:lnTo>
                <a:lnTo>
                  <a:pt x="416073" y="85246"/>
                </a:lnTo>
                <a:lnTo>
                  <a:pt x="440961" y="103532"/>
                </a:lnTo>
                <a:lnTo>
                  <a:pt x="461359" y="121613"/>
                </a:lnTo>
                <a:lnTo>
                  <a:pt x="477075" y="138960"/>
                </a:lnTo>
                <a:lnTo>
                  <a:pt x="488074" y="155097"/>
                </a:lnTo>
                <a:lnTo>
                  <a:pt x="494472" y="169611"/>
                </a:lnTo>
                <a:lnTo>
                  <a:pt x="496530" y="182168"/>
                </a:lnTo>
                <a:lnTo>
                  <a:pt x="494638" y="192516"/>
                </a:lnTo>
                <a:lnTo>
                  <a:pt x="489302" y="200491"/>
                </a:lnTo>
                <a:lnTo>
                  <a:pt x="481119" y="206021"/>
                </a:lnTo>
                <a:lnTo>
                  <a:pt x="470762" y="209125"/>
                </a:lnTo>
                <a:lnTo>
                  <a:pt x="458951" y="209909"/>
                </a:lnTo>
                <a:lnTo>
                  <a:pt x="446430" y="208561"/>
                </a:lnTo>
              </a:path>
            </a:pathLst>
          </a:custGeom>
          <a:ln w="12700">
            <a:solidFill>
              <a:srgbClr val="C4262E"/>
            </a:solidFill>
            <a:prstDash val="dash"/>
            <a:tailEnd type="triangle"/>
          </a:ln>
        </p:spPr>
      </p:sp>
      <p:sp>
        <p:nvSpPr>
          <p:cNvPr id="144" name="Shape 142"/>
          <p:cNvSpPr/>
          <p:nvPr/>
        </p:nvSpPr>
        <p:spPr>
          <a:xfrm rot="169550">
            <a:off x="6243806" y="2708333"/>
            <a:ext cx="341593" cy="50688"/>
          </a:xfrm>
          <a:prstGeom prst="rect">
            <a:avLst/>
          </a:prstGeom>
          <a:solidFill>
            <a:srgbClr val="FFFFFF"/>
          </a:solidFill>
          <a:ln/>
        </p:spPr>
      </p:sp>
      <p:sp>
        <p:nvSpPr>
          <p:cNvPr id="145" name="Shape 143"/>
          <p:cNvSpPr/>
          <p:nvPr/>
        </p:nvSpPr>
        <p:spPr>
          <a:xfrm rot="2669841">
            <a:off x="5659689" y="2393223"/>
            <a:ext cx="303026" cy="50688"/>
          </a:xfrm>
          <a:prstGeom prst="rect">
            <a:avLst/>
          </a:prstGeom>
          <a:solidFill>
            <a:srgbClr val="FFFFFF"/>
          </a:solidFill>
          <a:ln/>
        </p:spPr>
      </p:sp>
      <p:sp>
        <p:nvSpPr>
          <p:cNvPr id="146" name="Shape 144"/>
          <p:cNvSpPr/>
          <p:nvPr/>
        </p:nvSpPr>
        <p:spPr>
          <a:xfrm rot="-1236591">
            <a:off x="5769349" y="2160450"/>
            <a:ext cx="253440" cy="50688"/>
          </a:xfrm>
          <a:prstGeom prst="rect">
            <a:avLst/>
          </a:prstGeom>
          <a:solidFill>
            <a:srgbClr val="FFFFFF"/>
          </a:solidFill>
          <a:ln/>
        </p:spPr>
      </p:sp>
      <p:sp>
        <p:nvSpPr>
          <p:cNvPr id="147" name="Shape 145"/>
          <p:cNvSpPr/>
          <p:nvPr/>
        </p:nvSpPr>
        <p:spPr>
          <a:xfrm rot="1650735">
            <a:off x="6165194" y="2270135"/>
            <a:ext cx="198344" cy="50688"/>
          </a:xfrm>
          <a:prstGeom prst="rect">
            <a:avLst/>
          </a:prstGeom>
          <a:solidFill>
            <a:srgbClr val="FFFFFF"/>
          </a:solidFill>
          <a:ln/>
        </p:spPr>
      </p:sp>
      <p:sp>
        <p:nvSpPr>
          <p:cNvPr id="148" name="Shape 146"/>
          <p:cNvSpPr/>
          <p:nvPr/>
        </p:nvSpPr>
        <p:spPr>
          <a:xfrm>
            <a:off x="6922008" y="246430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49" name="Shape 147"/>
          <p:cNvSpPr/>
          <p:nvPr/>
        </p:nvSpPr>
        <p:spPr>
          <a:xfrm>
            <a:off x="7022592" y="1280160"/>
            <a:ext cx="1572768" cy="2377440"/>
          </a:xfrm>
          <a:prstGeom prst="rect">
            <a:avLst/>
          </a:prstGeom>
          <a:solidFill>
            <a:srgbClr val="FFFFFF"/>
          </a:solidFill>
          <a:ln w="6350">
            <a:solidFill>
              <a:srgbClr val="D9D9D9"/>
            </a:solidFill>
            <a:prstDash val="solid"/>
          </a:ln>
        </p:spPr>
      </p:sp>
      <p:sp>
        <p:nvSpPr>
          <p:cNvPr id="150" name="Text 148"/>
          <p:cNvSpPr txBox="1"/>
          <p:nvPr/>
        </p:nvSpPr>
        <p:spPr>
          <a:xfrm>
            <a:off x="7095744" y="1335024"/>
            <a:ext cx="1426464"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05  </a:t>
            </a:r>
            <a:pPr indent="0" marL="0">
              <a:buNone/>
            </a:pPr>
            <a:r>
              <a:rPr lang="en-US" sz="650" b="1" spc="50" kern="0" dirty="0">
                <a:solidFill>
                  <a:srgbClr val="1B1B1B"/>
                </a:solidFill>
                <a:latin typeface="Arial" pitchFamily="34" charset="0"/>
                <a:ea typeface="Arial" pitchFamily="34" charset="-122"/>
                <a:cs typeface="Arial" pitchFamily="34" charset="-120"/>
              </a:rPr>
              <a:t>PLACE THE PROGRAM</a:t>
            </a:r>
            <a:endParaRPr lang="en-US" sz="650" dirty="0"/>
          </a:p>
        </p:txBody>
      </p:sp>
      <p:sp>
        <p:nvSpPr>
          <p:cNvPr id="151" name="Text 149"/>
          <p:cNvSpPr txBox="1"/>
          <p:nvPr/>
        </p:nvSpPr>
        <p:spPr>
          <a:xfrm>
            <a:off x="7095744" y="3236976"/>
            <a:ext cx="1426464" cy="384048"/>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Program by height: edge → library → archive → media.</a:t>
            </a:r>
            <a:endParaRPr lang="en-US" sz="650" dirty="0"/>
          </a:p>
        </p:txBody>
      </p:sp>
      <p:sp>
        <p:nvSpPr>
          <p:cNvPr id="152" name="Shape 150"/>
          <p:cNvSpPr/>
          <p:nvPr/>
        </p:nvSpPr>
        <p:spPr>
          <a:xfrm>
            <a:off x="7192468" y="1995603"/>
            <a:ext cx="1233016" cy="772818"/>
          </a:xfrm>
          <a:custGeom>
            <a:avLst/>
            <a:gdLst/>
            <a:ahLst/>
            <a:cxnLst/>
            <a:rect l="l" t="t" r="r" b="b"/>
            <a:pathLst>
              <a:path w="1233016" h="772818">
                <a:moveTo>
                  <a:pt x="1220496" y="655322"/>
                </a:moveTo>
                <a:lnTo>
                  <a:pt x="1204257" y="682890"/>
                </a:lnTo>
                <a:lnTo>
                  <a:pt x="1181579" y="707210"/>
                </a:lnTo>
                <a:lnTo>
                  <a:pt x="1152709" y="728016"/>
                </a:lnTo>
                <a:lnTo>
                  <a:pt x="1117965" y="745079"/>
                </a:lnTo>
                <a:lnTo>
                  <a:pt x="1077727" y="758212"/>
                </a:lnTo>
                <a:lnTo>
                  <a:pt x="1032436" y="767271"/>
                </a:lnTo>
                <a:lnTo>
                  <a:pt x="982587" y="772158"/>
                </a:lnTo>
                <a:lnTo>
                  <a:pt x="928728" y="772818"/>
                </a:lnTo>
                <a:lnTo>
                  <a:pt x="871448" y="769245"/>
                </a:lnTo>
                <a:lnTo>
                  <a:pt x="811375" y="761477"/>
                </a:lnTo>
                <a:lnTo>
                  <a:pt x="749167" y="749600"/>
                </a:lnTo>
                <a:lnTo>
                  <a:pt x="685505" y="733744"/>
                </a:lnTo>
                <a:lnTo>
                  <a:pt x="621087" y="714082"/>
                </a:lnTo>
                <a:lnTo>
                  <a:pt x="556620" y="690831"/>
                </a:lnTo>
                <a:lnTo>
                  <a:pt x="492808" y="664243"/>
                </a:lnTo>
                <a:lnTo>
                  <a:pt x="430352" y="634612"/>
                </a:lnTo>
                <a:lnTo>
                  <a:pt x="369935" y="602262"/>
                </a:lnTo>
                <a:lnTo>
                  <a:pt x="312220" y="567547"/>
                </a:lnTo>
                <a:lnTo>
                  <a:pt x="257839" y="530847"/>
                </a:lnTo>
                <a:lnTo>
                  <a:pt x="207387" y="492564"/>
                </a:lnTo>
                <a:lnTo>
                  <a:pt x="161418" y="453119"/>
                </a:lnTo>
                <a:lnTo>
                  <a:pt x="120434" y="412943"/>
                </a:lnTo>
                <a:lnTo>
                  <a:pt x="84886" y="372475"/>
                </a:lnTo>
                <a:lnTo>
                  <a:pt x="55163" y="332161"/>
                </a:lnTo>
                <a:lnTo>
                  <a:pt x="31589" y="292441"/>
                </a:lnTo>
                <a:lnTo>
                  <a:pt x="14424" y="253750"/>
                </a:lnTo>
                <a:lnTo>
                  <a:pt x="3856" y="216513"/>
                </a:lnTo>
                <a:lnTo>
                  <a:pt x="0" y="181138"/>
                </a:lnTo>
                <a:lnTo>
                  <a:pt x="2899" y="148011"/>
                </a:lnTo>
                <a:lnTo>
                  <a:pt x="12520" y="117496"/>
                </a:lnTo>
                <a:lnTo>
                  <a:pt x="28759" y="89928"/>
                </a:lnTo>
                <a:lnTo>
                  <a:pt x="51437" y="65608"/>
                </a:lnTo>
                <a:lnTo>
                  <a:pt x="80307" y="44802"/>
                </a:lnTo>
                <a:lnTo>
                  <a:pt x="115051" y="27740"/>
                </a:lnTo>
                <a:lnTo>
                  <a:pt x="155289" y="14606"/>
                </a:lnTo>
                <a:lnTo>
                  <a:pt x="200580" y="5547"/>
                </a:lnTo>
                <a:lnTo>
                  <a:pt x="250429" y="660"/>
                </a:lnTo>
                <a:lnTo>
                  <a:pt x="304288" y="0"/>
                </a:lnTo>
                <a:lnTo>
                  <a:pt x="361568" y="3573"/>
                </a:lnTo>
                <a:lnTo>
                  <a:pt x="421641" y="11341"/>
                </a:lnTo>
                <a:lnTo>
                  <a:pt x="483849" y="23218"/>
                </a:lnTo>
                <a:lnTo>
                  <a:pt x="547511" y="39074"/>
                </a:lnTo>
                <a:lnTo>
                  <a:pt x="611929" y="58736"/>
                </a:lnTo>
                <a:lnTo>
                  <a:pt x="676396" y="81988"/>
                </a:lnTo>
                <a:lnTo>
                  <a:pt x="740208" y="108575"/>
                </a:lnTo>
                <a:lnTo>
                  <a:pt x="802664" y="138206"/>
                </a:lnTo>
                <a:lnTo>
                  <a:pt x="863081" y="170556"/>
                </a:lnTo>
                <a:lnTo>
                  <a:pt x="920796" y="205271"/>
                </a:lnTo>
                <a:lnTo>
                  <a:pt x="975178" y="241971"/>
                </a:lnTo>
                <a:lnTo>
                  <a:pt x="1025629" y="280254"/>
                </a:lnTo>
                <a:lnTo>
                  <a:pt x="1071599" y="319699"/>
                </a:lnTo>
                <a:lnTo>
                  <a:pt x="1112582" y="359876"/>
                </a:lnTo>
                <a:lnTo>
                  <a:pt x="1148130" y="400343"/>
                </a:lnTo>
                <a:lnTo>
                  <a:pt x="1177854" y="440657"/>
                </a:lnTo>
                <a:lnTo>
                  <a:pt x="1201427" y="480377"/>
                </a:lnTo>
                <a:lnTo>
                  <a:pt x="1218592" y="519068"/>
                </a:lnTo>
                <a:lnTo>
                  <a:pt x="1229160" y="556305"/>
                </a:lnTo>
                <a:lnTo>
                  <a:pt x="1233016" y="591680"/>
                </a:lnTo>
                <a:lnTo>
                  <a:pt x="1230117" y="624807"/>
                </a:lnTo>
                <a:close/>
              </a:path>
            </a:pathLst>
          </a:custGeom>
          <a:solidFill>
            <a:srgbClr val="E4E4E4"/>
          </a:solidFill>
          <a:ln w="12700"/>
        </p:spPr>
      </p:sp>
      <p:sp>
        <p:nvSpPr>
          <p:cNvPr id="153" name="Shape 151"/>
          <p:cNvSpPr/>
          <p:nvPr/>
        </p:nvSpPr>
        <p:spPr>
          <a:xfrm>
            <a:off x="7077456" y="2067379"/>
            <a:ext cx="127532" cy="45720"/>
          </a:xfrm>
          <a:custGeom>
            <a:avLst/>
            <a:gdLst/>
            <a:ahLst/>
            <a:cxnLst/>
            <a:rect l="l" t="t" r="r" b="b"/>
            <a:pathLst>
              <a:path w="127532" h="45720">
                <a:moveTo>
                  <a:pt x="127532" y="45720"/>
                </a:moveTo>
                <a:lnTo>
                  <a:pt x="0" y="0"/>
                </a:lnTo>
              </a:path>
            </a:pathLst>
          </a:custGeom>
          <a:ln w="76200">
            <a:solidFill>
              <a:srgbClr val="E4E4E4"/>
            </a:solidFill>
            <a:prstDash val="solid"/>
          </a:ln>
        </p:spPr>
      </p:sp>
      <p:sp>
        <p:nvSpPr>
          <p:cNvPr id="154" name="Shape 152"/>
          <p:cNvSpPr/>
          <p:nvPr/>
        </p:nvSpPr>
        <p:spPr>
          <a:xfrm>
            <a:off x="8412964" y="2650925"/>
            <a:ext cx="127532" cy="45720"/>
          </a:xfrm>
          <a:custGeom>
            <a:avLst/>
            <a:gdLst/>
            <a:ahLst/>
            <a:cxnLst/>
            <a:rect l="l" t="t" r="r" b="b"/>
            <a:pathLst>
              <a:path w="127532" h="45720">
                <a:moveTo>
                  <a:pt x="0" y="0"/>
                </a:moveTo>
                <a:lnTo>
                  <a:pt x="127532" y="45720"/>
                </a:lnTo>
              </a:path>
            </a:pathLst>
          </a:custGeom>
          <a:ln w="76200">
            <a:solidFill>
              <a:srgbClr val="E4E4E4"/>
            </a:solidFill>
            <a:prstDash val="solid"/>
          </a:ln>
        </p:spPr>
      </p:sp>
      <p:sp>
        <p:nvSpPr>
          <p:cNvPr id="155" name="Shape 153"/>
          <p:cNvSpPr/>
          <p:nvPr/>
        </p:nvSpPr>
        <p:spPr>
          <a:xfrm>
            <a:off x="7295219" y="2060004"/>
            <a:ext cx="1027513" cy="644015"/>
          </a:xfrm>
          <a:custGeom>
            <a:avLst/>
            <a:gdLst/>
            <a:ahLst/>
            <a:cxnLst/>
            <a:rect l="l" t="t" r="r" b="b"/>
            <a:pathLst>
              <a:path w="1027513" h="644015">
                <a:moveTo>
                  <a:pt x="1017080" y="546101"/>
                </a:moveTo>
                <a:lnTo>
                  <a:pt x="1003548" y="569075"/>
                </a:lnTo>
                <a:lnTo>
                  <a:pt x="984649" y="589342"/>
                </a:lnTo>
                <a:lnTo>
                  <a:pt x="960591" y="606680"/>
                </a:lnTo>
                <a:lnTo>
                  <a:pt x="931638" y="620899"/>
                </a:lnTo>
                <a:lnTo>
                  <a:pt x="898106" y="631843"/>
                </a:lnTo>
                <a:lnTo>
                  <a:pt x="860363" y="639393"/>
                </a:lnTo>
                <a:lnTo>
                  <a:pt x="818823" y="643465"/>
                </a:lnTo>
                <a:lnTo>
                  <a:pt x="773940" y="644015"/>
                </a:lnTo>
                <a:lnTo>
                  <a:pt x="726207" y="641037"/>
                </a:lnTo>
                <a:lnTo>
                  <a:pt x="676146" y="634564"/>
                </a:lnTo>
                <a:lnTo>
                  <a:pt x="624306" y="624667"/>
                </a:lnTo>
                <a:lnTo>
                  <a:pt x="571254" y="611453"/>
                </a:lnTo>
                <a:lnTo>
                  <a:pt x="517573" y="595069"/>
                </a:lnTo>
                <a:lnTo>
                  <a:pt x="463850" y="575692"/>
                </a:lnTo>
                <a:lnTo>
                  <a:pt x="410673" y="553536"/>
                </a:lnTo>
                <a:lnTo>
                  <a:pt x="358627" y="528844"/>
                </a:lnTo>
                <a:lnTo>
                  <a:pt x="308279" y="501885"/>
                </a:lnTo>
                <a:lnTo>
                  <a:pt x="260183" y="472956"/>
                </a:lnTo>
                <a:lnTo>
                  <a:pt x="214865" y="442372"/>
                </a:lnTo>
                <a:lnTo>
                  <a:pt x="172822" y="410470"/>
                </a:lnTo>
                <a:lnTo>
                  <a:pt x="134515" y="377599"/>
                </a:lnTo>
                <a:lnTo>
                  <a:pt x="100362" y="344119"/>
                </a:lnTo>
                <a:lnTo>
                  <a:pt x="70738" y="310396"/>
                </a:lnTo>
                <a:lnTo>
                  <a:pt x="45969" y="276801"/>
                </a:lnTo>
                <a:lnTo>
                  <a:pt x="26324" y="243701"/>
                </a:lnTo>
                <a:lnTo>
                  <a:pt x="12020" y="211459"/>
                </a:lnTo>
                <a:lnTo>
                  <a:pt x="3213" y="180428"/>
                </a:lnTo>
                <a:lnTo>
                  <a:pt x="0" y="150948"/>
                </a:lnTo>
                <a:lnTo>
                  <a:pt x="2416" y="123342"/>
                </a:lnTo>
                <a:lnTo>
                  <a:pt x="10433" y="97914"/>
                </a:lnTo>
                <a:lnTo>
                  <a:pt x="23966" y="74940"/>
                </a:lnTo>
                <a:lnTo>
                  <a:pt x="42864" y="54673"/>
                </a:lnTo>
                <a:lnTo>
                  <a:pt x="66922" y="37335"/>
                </a:lnTo>
                <a:lnTo>
                  <a:pt x="95876" y="23116"/>
                </a:lnTo>
                <a:lnTo>
                  <a:pt x="129408" y="12172"/>
                </a:lnTo>
                <a:lnTo>
                  <a:pt x="167150" y="4623"/>
                </a:lnTo>
                <a:lnTo>
                  <a:pt x="208691" y="550"/>
                </a:lnTo>
                <a:lnTo>
                  <a:pt x="253573" y="0"/>
                </a:lnTo>
                <a:lnTo>
                  <a:pt x="301307" y="2978"/>
                </a:lnTo>
                <a:lnTo>
                  <a:pt x="351368" y="9451"/>
                </a:lnTo>
                <a:lnTo>
                  <a:pt x="403208" y="19348"/>
                </a:lnTo>
                <a:lnTo>
                  <a:pt x="456259" y="32562"/>
                </a:lnTo>
                <a:lnTo>
                  <a:pt x="509941" y="48946"/>
                </a:lnTo>
                <a:lnTo>
                  <a:pt x="563664" y="68323"/>
                </a:lnTo>
                <a:lnTo>
                  <a:pt x="616840" y="90479"/>
                </a:lnTo>
                <a:lnTo>
                  <a:pt x="668887" y="115171"/>
                </a:lnTo>
                <a:lnTo>
                  <a:pt x="719234" y="142130"/>
                </a:lnTo>
                <a:lnTo>
                  <a:pt x="767330" y="171059"/>
                </a:lnTo>
                <a:lnTo>
                  <a:pt x="812648" y="201643"/>
                </a:lnTo>
                <a:lnTo>
                  <a:pt x="854691" y="233545"/>
                </a:lnTo>
                <a:lnTo>
                  <a:pt x="892999" y="266416"/>
                </a:lnTo>
                <a:lnTo>
                  <a:pt x="927152" y="299896"/>
                </a:lnTo>
                <a:lnTo>
                  <a:pt x="956775" y="333619"/>
                </a:lnTo>
                <a:lnTo>
                  <a:pt x="981545" y="367214"/>
                </a:lnTo>
                <a:lnTo>
                  <a:pt x="1001189" y="400314"/>
                </a:lnTo>
                <a:lnTo>
                  <a:pt x="1015493" y="432556"/>
                </a:lnTo>
                <a:lnTo>
                  <a:pt x="1024300" y="463587"/>
                </a:lnTo>
                <a:lnTo>
                  <a:pt x="1027513" y="493067"/>
                </a:lnTo>
                <a:lnTo>
                  <a:pt x="1025098" y="520673"/>
                </a:lnTo>
                <a:close/>
              </a:path>
            </a:pathLst>
          </a:custGeom>
          <a:solidFill>
            <a:srgbClr val="FFFFFF"/>
          </a:solidFill>
          <a:ln w="19050">
            <a:solidFill>
              <a:srgbClr val="1B1B1B"/>
            </a:solidFill>
            <a:prstDash val="solid"/>
          </a:ln>
        </p:spPr>
      </p:sp>
      <p:sp>
        <p:nvSpPr>
          <p:cNvPr id="156" name="Shape 154"/>
          <p:cNvSpPr/>
          <p:nvPr/>
        </p:nvSpPr>
        <p:spPr>
          <a:xfrm>
            <a:off x="7494558" y="2161000"/>
            <a:ext cx="739810" cy="463691"/>
          </a:xfrm>
          <a:custGeom>
            <a:avLst/>
            <a:gdLst/>
            <a:ahLst/>
            <a:cxnLst/>
            <a:rect l="l" t="t" r="r" b="b"/>
            <a:pathLst>
              <a:path w="739810" h="463691">
                <a:moveTo>
                  <a:pt x="732298" y="393193"/>
                </a:moveTo>
                <a:lnTo>
                  <a:pt x="722554" y="409734"/>
                </a:lnTo>
                <a:lnTo>
                  <a:pt x="708947" y="424326"/>
                </a:lnTo>
                <a:lnTo>
                  <a:pt x="691626" y="436810"/>
                </a:lnTo>
                <a:lnTo>
                  <a:pt x="670779" y="447047"/>
                </a:lnTo>
                <a:lnTo>
                  <a:pt x="646636" y="454927"/>
                </a:lnTo>
                <a:lnTo>
                  <a:pt x="619461" y="460363"/>
                </a:lnTo>
                <a:lnTo>
                  <a:pt x="589552" y="463295"/>
                </a:lnTo>
                <a:lnTo>
                  <a:pt x="557237" y="463691"/>
                </a:lnTo>
                <a:lnTo>
                  <a:pt x="522869" y="461547"/>
                </a:lnTo>
                <a:lnTo>
                  <a:pt x="486825" y="456886"/>
                </a:lnTo>
                <a:lnTo>
                  <a:pt x="449500" y="449760"/>
                </a:lnTo>
                <a:lnTo>
                  <a:pt x="411303" y="440246"/>
                </a:lnTo>
                <a:lnTo>
                  <a:pt x="372652" y="428449"/>
                </a:lnTo>
                <a:lnTo>
                  <a:pt x="333972" y="414498"/>
                </a:lnTo>
                <a:lnTo>
                  <a:pt x="295685" y="398546"/>
                </a:lnTo>
                <a:lnTo>
                  <a:pt x="258211" y="380767"/>
                </a:lnTo>
                <a:lnTo>
                  <a:pt x="221961" y="361357"/>
                </a:lnTo>
                <a:lnTo>
                  <a:pt x="187332" y="340528"/>
                </a:lnTo>
                <a:lnTo>
                  <a:pt x="154703" y="318508"/>
                </a:lnTo>
                <a:lnTo>
                  <a:pt x="124432" y="295539"/>
                </a:lnTo>
                <a:lnTo>
                  <a:pt x="96851" y="271871"/>
                </a:lnTo>
                <a:lnTo>
                  <a:pt x="72261" y="247766"/>
                </a:lnTo>
                <a:lnTo>
                  <a:pt x="50932" y="223485"/>
                </a:lnTo>
                <a:lnTo>
                  <a:pt x="33098" y="199297"/>
                </a:lnTo>
                <a:lnTo>
                  <a:pt x="18954" y="175465"/>
                </a:lnTo>
                <a:lnTo>
                  <a:pt x="8655" y="152250"/>
                </a:lnTo>
                <a:lnTo>
                  <a:pt x="2314" y="129908"/>
                </a:lnTo>
                <a:lnTo>
                  <a:pt x="0" y="108683"/>
                </a:lnTo>
                <a:lnTo>
                  <a:pt x="1739" y="88807"/>
                </a:lnTo>
                <a:lnTo>
                  <a:pt x="7512" y="70498"/>
                </a:lnTo>
                <a:lnTo>
                  <a:pt x="17255" y="53957"/>
                </a:lnTo>
                <a:lnTo>
                  <a:pt x="30862" y="39365"/>
                </a:lnTo>
                <a:lnTo>
                  <a:pt x="48184" y="26881"/>
                </a:lnTo>
                <a:lnTo>
                  <a:pt x="69031" y="16644"/>
                </a:lnTo>
                <a:lnTo>
                  <a:pt x="93173" y="8764"/>
                </a:lnTo>
                <a:lnTo>
                  <a:pt x="120348" y="3328"/>
                </a:lnTo>
                <a:lnTo>
                  <a:pt x="150257" y="396"/>
                </a:lnTo>
                <a:lnTo>
                  <a:pt x="182573" y="0"/>
                </a:lnTo>
                <a:lnTo>
                  <a:pt x="216941" y="2144"/>
                </a:lnTo>
                <a:lnTo>
                  <a:pt x="252985" y="6805"/>
                </a:lnTo>
                <a:lnTo>
                  <a:pt x="290310" y="13931"/>
                </a:lnTo>
                <a:lnTo>
                  <a:pt x="328507" y="23444"/>
                </a:lnTo>
                <a:lnTo>
                  <a:pt x="367157" y="35241"/>
                </a:lnTo>
                <a:lnTo>
                  <a:pt x="405838" y="49193"/>
                </a:lnTo>
                <a:lnTo>
                  <a:pt x="444125" y="65145"/>
                </a:lnTo>
                <a:lnTo>
                  <a:pt x="481599" y="82923"/>
                </a:lnTo>
                <a:lnTo>
                  <a:pt x="517849" y="102334"/>
                </a:lnTo>
                <a:lnTo>
                  <a:pt x="552478" y="123163"/>
                </a:lnTo>
                <a:lnTo>
                  <a:pt x="585107" y="145183"/>
                </a:lnTo>
                <a:lnTo>
                  <a:pt x="615378" y="168152"/>
                </a:lnTo>
                <a:lnTo>
                  <a:pt x="642959" y="191820"/>
                </a:lnTo>
                <a:lnTo>
                  <a:pt x="667549" y="215925"/>
                </a:lnTo>
                <a:lnTo>
                  <a:pt x="688878" y="240206"/>
                </a:lnTo>
                <a:lnTo>
                  <a:pt x="706712" y="264394"/>
                </a:lnTo>
                <a:lnTo>
                  <a:pt x="720856" y="288226"/>
                </a:lnTo>
                <a:lnTo>
                  <a:pt x="731155" y="311441"/>
                </a:lnTo>
                <a:lnTo>
                  <a:pt x="737496" y="333783"/>
                </a:lnTo>
                <a:lnTo>
                  <a:pt x="739810" y="355008"/>
                </a:lnTo>
                <a:lnTo>
                  <a:pt x="738070" y="374884"/>
                </a:lnTo>
                <a:close/>
              </a:path>
            </a:pathLst>
          </a:custGeom>
          <a:ln w="6350">
            <a:solidFill>
              <a:srgbClr val="4F7A43"/>
            </a:solidFill>
            <a:prstDash val="dash"/>
          </a:ln>
        </p:spPr>
      </p:sp>
      <p:sp>
        <p:nvSpPr>
          <p:cNvPr id="157" name="Shape 155"/>
          <p:cNvSpPr/>
          <p:nvPr/>
        </p:nvSpPr>
        <p:spPr>
          <a:xfrm>
            <a:off x="7628134" y="2244722"/>
            <a:ext cx="472656" cy="296247"/>
          </a:xfrm>
          <a:custGeom>
            <a:avLst/>
            <a:gdLst/>
            <a:ahLst/>
            <a:cxnLst/>
            <a:rect l="l" t="t" r="r" b="b"/>
            <a:pathLst>
              <a:path w="472656" h="296247">
                <a:moveTo>
                  <a:pt x="467857" y="251207"/>
                </a:moveTo>
                <a:lnTo>
                  <a:pt x="461632" y="261775"/>
                </a:lnTo>
                <a:lnTo>
                  <a:pt x="452939" y="271097"/>
                </a:lnTo>
                <a:lnTo>
                  <a:pt x="441872" y="279073"/>
                </a:lnTo>
                <a:lnTo>
                  <a:pt x="428553" y="285613"/>
                </a:lnTo>
                <a:lnTo>
                  <a:pt x="413129" y="290648"/>
                </a:lnTo>
                <a:lnTo>
                  <a:pt x="395767" y="294121"/>
                </a:lnTo>
                <a:lnTo>
                  <a:pt x="376658" y="295994"/>
                </a:lnTo>
                <a:lnTo>
                  <a:pt x="356012" y="296247"/>
                </a:lnTo>
                <a:lnTo>
                  <a:pt x="334055" y="294877"/>
                </a:lnTo>
                <a:lnTo>
                  <a:pt x="311027" y="291900"/>
                </a:lnTo>
                <a:lnTo>
                  <a:pt x="287181" y="287347"/>
                </a:lnTo>
                <a:lnTo>
                  <a:pt x="262777" y="281269"/>
                </a:lnTo>
                <a:lnTo>
                  <a:pt x="238084" y="273732"/>
                </a:lnTo>
                <a:lnTo>
                  <a:pt x="213371" y="264818"/>
                </a:lnTo>
                <a:lnTo>
                  <a:pt x="188910" y="254627"/>
                </a:lnTo>
                <a:lnTo>
                  <a:pt x="164968" y="243268"/>
                </a:lnTo>
                <a:lnTo>
                  <a:pt x="141808" y="230867"/>
                </a:lnTo>
                <a:lnTo>
                  <a:pt x="119684" y="217560"/>
                </a:lnTo>
                <a:lnTo>
                  <a:pt x="98838" y="203491"/>
                </a:lnTo>
                <a:lnTo>
                  <a:pt x="79498" y="188816"/>
                </a:lnTo>
                <a:lnTo>
                  <a:pt x="61877" y="173696"/>
                </a:lnTo>
                <a:lnTo>
                  <a:pt x="46166" y="158295"/>
                </a:lnTo>
                <a:lnTo>
                  <a:pt x="32540" y="142782"/>
                </a:lnTo>
                <a:lnTo>
                  <a:pt x="21146" y="127328"/>
                </a:lnTo>
                <a:lnTo>
                  <a:pt x="12109" y="112102"/>
                </a:lnTo>
                <a:lnTo>
                  <a:pt x="5529" y="97271"/>
                </a:lnTo>
                <a:lnTo>
                  <a:pt x="1478" y="82997"/>
                </a:lnTo>
                <a:lnTo>
                  <a:pt x="0" y="69436"/>
                </a:lnTo>
                <a:lnTo>
                  <a:pt x="1111" y="56738"/>
                </a:lnTo>
                <a:lnTo>
                  <a:pt x="4799" y="45040"/>
                </a:lnTo>
                <a:lnTo>
                  <a:pt x="11024" y="34472"/>
                </a:lnTo>
                <a:lnTo>
                  <a:pt x="19718" y="25150"/>
                </a:lnTo>
                <a:lnTo>
                  <a:pt x="30784" y="17174"/>
                </a:lnTo>
                <a:lnTo>
                  <a:pt x="44103" y="10633"/>
                </a:lnTo>
                <a:lnTo>
                  <a:pt x="59527" y="5599"/>
                </a:lnTo>
                <a:lnTo>
                  <a:pt x="76889" y="2126"/>
                </a:lnTo>
                <a:lnTo>
                  <a:pt x="95998" y="253"/>
                </a:lnTo>
                <a:lnTo>
                  <a:pt x="116644" y="0"/>
                </a:lnTo>
                <a:lnTo>
                  <a:pt x="138601" y="1370"/>
                </a:lnTo>
                <a:lnTo>
                  <a:pt x="161629" y="4347"/>
                </a:lnTo>
                <a:lnTo>
                  <a:pt x="185476" y="8900"/>
                </a:lnTo>
                <a:lnTo>
                  <a:pt x="209879" y="14978"/>
                </a:lnTo>
                <a:lnTo>
                  <a:pt x="234573" y="22515"/>
                </a:lnTo>
                <a:lnTo>
                  <a:pt x="259285" y="31429"/>
                </a:lnTo>
                <a:lnTo>
                  <a:pt x="283746" y="41620"/>
                </a:lnTo>
                <a:lnTo>
                  <a:pt x="307688" y="52979"/>
                </a:lnTo>
                <a:lnTo>
                  <a:pt x="330848" y="65380"/>
                </a:lnTo>
                <a:lnTo>
                  <a:pt x="352972" y="78687"/>
                </a:lnTo>
                <a:lnTo>
                  <a:pt x="373818" y="92756"/>
                </a:lnTo>
                <a:lnTo>
                  <a:pt x="393158" y="107431"/>
                </a:lnTo>
                <a:lnTo>
                  <a:pt x="410779" y="122551"/>
                </a:lnTo>
                <a:lnTo>
                  <a:pt x="426490" y="137952"/>
                </a:lnTo>
                <a:lnTo>
                  <a:pt x="440116" y="153465"/>
                </a:lnTo>
                <a:lnTo>
                  <a:pt x="451511" y="168919"/>
                </a:lnTo>
                <a:lnTo>
                  <a:pt x="460547" y="184145"/>
                </a:lnTo>
                <a:lnTo>
                  <a:pt x="467127" y="198976"/>
                </a:lnTo>
                <a:lnTo>
                  <a:pt x="471178" y="213250"/>
                </a:lnTo>
                <a:lnTo>
                  <a:pt x="472656" y="226811"/>
                </a:lnTo>
                <a:lnTo>
                  <a:pt x="471545" y="239509"/>
                </a:lnTo>
                <a:close/>
              </a:path>
            </a:pathLst>
          </a:custGeom>
          <a:ln w="6350">
            <a:solidFill>
              <a:srgbClr val="4F7A43"/>
            </a:solidFill>
            <a:prstDash val="dash"/>
          </a:ln>
        </p:spPr>
      </p:sp>
      <p:sp>
        <p:nvSpPr>
          <p:cNvPr id="158" name="Shape 156"/>
          <p:cNvSpPr/>
          <p:nvPr/>
        </p:nvSpPr>
        <p:spPr>
          <a:xfrm>
            <a:off x="7751436" y="2322003"/>
            <a:ext cx="226053" cy="141683"/>
          </a:xfrm>
          <a:custGeom>
            <a:avLst/>
            <a:gdLst/>
            <a:ahLst/>
            <a:cxnLst/>
            <a:rect l="l" t="t" r="r" b="b"/>
            <a:pathLst>
              <a:path w="226053" h="141683">
                <a:moveTo>
                  <a:pt x="223758" y="120142"/>
                </a:moveTo>
                <a:lnTo>
                  <a:pt x="220780" y="125197"/>
                </a:lnTo>
                <a:lnTo>
                  <a:pt x="216623" y="129655"/>
                </a:lnTo>
                <a:lnTo>
                  <a:pt x="211330" y="133470"/>
                </a:lnTo>
                <a:lnTo>
                  <a:pt x="204960" y="136598"/>
                </a:lnTo>
                <a:lnTo>
                  <a:pt x="197583" y="139005"/>
                </a:lnTo>
                <a:lnTo>
                  <a:pt x="189280" y="140666"/>
                </a:lnTo>
                <a:lnTo>
                  <a:pt x="180141" y="141562"/>
                </a:lnTo>
                <a:lnTo>
                  <a:pt x="170267" y="141683"/>
                </a:lnTo>
                <a:lnTo>
                  <a:pt x="159765" y="141028"/>
                </a:lnTo>
                <a:lnTo>
                  <a:pt x="148752" y="139604"/>
                </a:lnTo>
                <a:lnTo>
                  <a:pt x="137347" y="137427"/>
                </a:lnTo>
                <a:lnTo>
                  <a:pt x="125676" y="134520"/>
                </a:lnTo>
                <a:lnTo>
                  <a:pt x="113866" y="130915"/>
                </a:lnTo>
                <a:lnTo>
                  <a:pt x="102047" y="126652"/>
                </a:lnTo>
                <a:lnTo>
                  <a:pt x="90348" y="121778"/>
                </a:lnTo>
                <a:lnTo>
                  <a:pt x="78898" y="116346"/>
                </a:lnTo>
                <a:lnTo>
                  <a:pt x="67821" y="110415"/>
                </a:lnTo>
                <a:lnTo>
                  <a:pt x="57240" y="104050"/>
                </a:lnTo>
                <a:lnTo>
                  <a:pt x="47270" y="97322"/>
                </a:lnTo>
                <a:lnTo>
                  <a:pt x="38021" y="90303"/>
                </a:lnTo>
                <a:lnTo>
                  <a:pt x="29593" y="83072"/>
                </a:lnTo>
                <a:lnTo>
                  <a:pt x="22080" y="75706"/>
                </a:lnTo>
                <a:lnTo>
                  <a:pt x="15562" y="68287"/>
                </a:lnTo>
                <a:lnTo>
                  <a:pt x="10113" y="60896"/>
                </a:lnTo>
                <a:lnTo>
                  <a:pt x="5791" y="53614"/>
                </a:lnTo>
                <a:lnTo>
                  <a:pt x="2644" y="46521"/>
                </a:lnTo>
                <a:lnTo>
                  <a:pt x="707" y="39694"/>
                </a:lnTo>
                <a:lnTo>
                  <a:pt x="0" y="33209"/>
                </a:lnTo>
                <a:lnTo>
                  <a:pt x="531" y="27135"/>
                </a:lnTo>
                <a:lnTo>
                  <a:pt x="2295" y="21541"/>
                </a:lnTo>
                <a:lnTo>
                  <a:pt x="5272" y="16487"/>
                </a:lnTo>
                <a:lnTo>
                  <a:pt x="9430" y="12028"/>
                </a:lnTo>
                <a:lnTo>
                  <a:pt x="14723" y="8214"/>
                </a:lnTo>
                <a:lnTo>
                  <a:pt x="21093" y="5086"/>
                </a:lnTo>
                <a:lnTo>
                  <a:pt x="28470" y="2678"/>
                </a:lnTo>
                <a:lnTo>
                  <a:pt x="36773" y="1017"/>
                </a:lnTo>
                <a:lnTo>
                  <a:pt x="45912" y="121"/>
                </a:lnTo>
                <a:lnTo>
                  <a:pt x="55786" y="0"/>
                </a:lnTo>
                <a:lnTo>
                  <a:pt x="66287" y="655"/>
                </a:lnTo>
                <a:lnTo>
                  <a:pt x="77301" y="2079"/>
                </a:lnTo>
                <a:lnTo>
                  <a:pt x="88706" y="4257"/>
                </a:lnTo>
                <a:lnTo>
                  <a:pt x="100377" y="7164"/>
                </a:lnTo>
                <a:lnTo>
                  <a:pt x="112187" y="10768"/>
                </a:lnTo>
                <a:lnTo>
                  <a:pt x="124006" y="15031"/>
                </a:lnTo>
                <a:lnTo>
                  <a:pt x="135705" y="19905"/>
                </a:lnTo>
                <a:lnTo>
                  <a:pt x="147155" y="25338"/>
                </a:lnTo>
                <a:lnTo>
                  <a:pt x="158232" y="31269"/>
                </a:lnTo>
                <a:lnTo>
                  <a:pt x="168813" y="37633"/>
                </a:lnTo>
                <a:lnTo>
                  <a:pt x="178783" y="44361"/>
                </a:lnTo>
                <a:lnTo>
                  <a:pt x="188032" y="51380"/>
                </a:lnTo>
                <a:lnTo>
                  <a:pt x="196460" y="58612"/>
                </a:lnTo>
                <a:lnTo>
                  <a:pt x="203973" y="65977"/>
                </a:lnTo>
                <a:lnTo>
                  <a:pt x="210490" y="73396"/>
                </a:lnTo>
                <a:lnTo>
                  <a:pt x="215940" y="80787"/>
                </a:lnTo>
                <a:lnTo>
                  <a:pt x="220262" y="88069"/>
                </a:lnTo>
                <a:lnTo>
                  <a:pt x="223408" y="95162"/>
                </a:lnTo>
                <a:lnTo>
                  <a:pt x="225346" y="101989"/>
                </a:lnTo>
                <a:lnTo>
                  <a:pt x="226053" y="108475"/>
                </a:lnTo>
                <a:lnTo>
                  <a:pt x="225522" y="114548"/>
                </a:lnTo>
                <a:close/>
              </a:path>
            </a:pathLst>
          </a:custGeom>
          <a:ln w="6350">
            <a:solidFill>
              <a:srgbClr val="4F7A43"/>
            </a:solidFill>
            <a:prstDash val="dash"/>
          </a:ln>
        </p:spPr>
      </p:sp>
      <p:sp>
        <p:nvSpPr>
          <p:cNvPr id="159" name="Shape 157"/>
          <p:cNvSpPr/>
          <p:nvPr/>
        </p:nvSpPr>
        <p:spPr>
          <a:xfrm>
            <a:off x="7475366" y="2215591"/>
            <a:ext cx="659304" cy="493320"/>
          </a:xfrm>
          <a:custGeom>
            <a:avLst/>
            <a:gdLst/>
            <a:ahLst/>
            <a:cxnLst/>
            <a:rect l="l" t="t" r="r" b="b"/>
            <a:pathLst>
              <a:path w="659304" h="493320">
                <a:moveTo>
                  <a:pt x="659304" y="493320"/>
                </a:moveTo>
                <a:lnTo>
                  <a:pt x="592600" y="487840"/>
                </a:lnTo>
                <a:lnTo>
                  <a:pt x="523432" y="475798"/>
                </a:lnTo>
                <a:lnTo>
                  <a:pt x="453470" y="457744"/>
                </a:lnTo>
                <a:lnTo>
                  <a:pt x="384337" y="434349"/>
                </a:lnTo>
                <a:lnTo>
                  <a:pt x="317572" y="406378"/>
                </a:lnTo>
                <a:lnTo>
                  <a:pt x="254595" y="374671"/>
                </a:lnTo>
                <a:lnTo>
                  <a:pt x="196682" y="340122"/>
                </a:lnTo>
                <a:lnTo>
                  <a:pt x="144935" y="303652"/>
                </a:lnTo>
                <a:lnTo>
                  <a:pt x="100263" y="266189"/>
                </a:lnTo>
                <a:lnTo>
                  <a:pt x="63369" y="228646"/>
                </a:lnTo>
                <a:lnTo>
                  <a:pt x="34739" y="191894"/>
                </a:lnTo>
                <a:lnTo>
                  <a:pt x="14638" y="156748"/>
                </a:lnTo>
                <a:lnTo>
                  <a:pt x="3113" y="123948"/>
                </a:lnTo>
                <a:lnTo>
                  <a:pt x="0" y="94140"/>
                </a:lnTo>
                <a:lnTo>
                  <a:pt x="4936" y="67867"/>
                </a:lnTo>
                <a:lnTo>
                  <a:pt x="17376" y="45558"/>
                </a:lnTo>
                <a:lnTo>
                  <a:pt x="36613" y="27522"/>
                </a:lnTo>
                <a:lnTo>
                  <a:pt x="61806" y="13945"/>
                </a:lnTo>
                <a:lnTo>
                  <a:pt x="92003" y="4889"/>
                </a:lnTo>
                <a:lnTo>
                  <a:pt x="126171" y="298"/>
                </a:lnTo>
                <a:lnTo>
                  <a:pt x="163230" y="0"/>
                </a:lnTo>
                <a:lnTo>
                  <a:pt x="202080" y="3721"/>
                </a:lnTo>
                <a:lnTo>
                  <a:pt x="241632" y="11094"/>
                </a:lnTo>
                <a:lnTo>
                  <a:pt x="280838" y="21673"/>
                </a:lnTo>
                <a:lnTo>
                  <a:pt x="318715" y="34947"/>
                </a:lnTo>
                <a:lnTo>
                  <a:pt x="354376" y="50359"/>
                </a:lnTo>
                <a:lnTo>
                  <a:pt x="387044" y="67325"/>
                </a:lnTo>
                <a:lnTo>
                  <a:pt x="416073" y="85246"/>
                </a:lnTo>
                <a:lnTo>
                  <a:pt x="440961" y="103532"/>
                </a:lnTo>
                <a:lnTo>
                  <a:pt x="461359" y="121613"/>
                </a:lnTo>
                <a:lnTo>
                  <a:pt x="477075" y="138960"/>
                </a:lnTo>
                <a:lnTo>
                  <a:pt x="488074" y="155097"/>
                </a:lnTo>
                <a:lnTo>
                  <a:pt x="494472" y="169611"/>
                </a:lnTo>
                <a:lnTo>
                  <a:pt x="496530" y="182168"/>
                </a:lnTo>
                <a:lnTo>
                  <a:pt x="494638" y="192516"/>
                </a:lnTo>
                <a:lnTo>
                  <a:pt x="489302" y="200491"/>
                </a:lnTo>
                <a:lnTo>
                  <a:pt x="481119" y="206021"/>
                </a:lnTo>
                <a:lnTo>
                  <a:pt x="470762" y="209125"/>
                </a:lnTo>
                <a:lnTo>
                  <a:pt x="458951" y="209909"/>
                </a:lnTo>
                <a:lnTo>
                  <a:pt x="446430" y="208561"/>
                </a:lnTo>
              </a:path>
            </a:pathLst>
          </a:custGeom>
          <a:ln w="12700">
            <a:solidFill>
              <a:srgbClr val="C4262E"/>
            </a:solidFill>
            <a:prstDash val="dash"/>
            <a:tailEnd type="triangle"/>
          </a:ln>
        </p:spPr>
      </p:sp>
      <p:sp>
        <p:nvSpPr>
          <p:cNvPr id="160" name="Shape 158"/>
          <p:cNvSpPr/>
          <p:nvPr/>
        </p:nvSpPr>
        <p:spPr>
          <a:xfrm rot="169550">
            <a:off x="7908014" y="2701673"/>
            <a:ext cx="341593" cy="64008"/>
          </a:xfrm>
          <a:prstGeom prst="rect">
            <a:avLst/>
          </a:prstGeom>
          <a:solidFill>
            <a:srgbClr val="C4262E"/>
          </a:solidFill>
          <a:ln/>
        </p:spPr>
      </p:sp>
      <p:sp>
        <p:nvSpPr>
          <p:cNvPr id="161" name="Shape 159"/>
          <p:cNvSpPr/>
          <p:nvPr/>
        </p:nvSpPr>
        <p:spPr>
          <a:xfrm rot="2669841">
            <a:off x="7323897" y="2386563"/>
            <a:ext cx="303026" cy="64008"/>
          </a:xfrm>
          <a:prstGeom prst="rect">
            <a:avLst/>
          </a:prstGeom>
          <a:solidFill>
            <a:srgbClr val="F0B9BC"/>
          </a:solidFill>
          <a:ln w="6350">
            <a:solidFill>
              <a:srgbClr val="1B1B1B"/>
            </a:solidFill>
            <a:prstDash val="solid"/>
          </a:ln>
        </p:spPr>
      </p:sp>
      <p:sp>
        <p:nvSpPr>
          <p:cNvPr id="162" name="Shape 160"/>
          <p:cNvSpPr/>
          <p:nvPr/>
        </p:nvSpPr>
        <p:spPr>
          <a:xfrm rot="-1236591">
            <a:off x="7433557" y="2153790"/>
            <a:ext cx="253440" cy="64008"/>
          </a:xfrm>
          <a:prstGeom prst="rect">
            <a:avLst/>
          </a:prstGeom>
          <a:solidFill>
            <a:srgbClr val="1B1B1B"/>
          </a:solidFill>
          <a:ln/>
        </p:spPr>
      </p:sp>
      <p:sp>
        <p:nvSpPr>
          <p:cNvPr id="163" name="Shape 161"/>
          <p:cNvSpPr/>
          <p:nvPr/>
        </p:nvSpPr>
        <p:spPr>
          <a:xfrm rot="1650735">
            <a:off x="7829402" y="2263475"/>
            <a:ext cx="198344" cy="64008"/>
          </a:xfrm>
          <a:prstGeom prst="rect">
            <a:avLst/>
          </a:prstGeom>
          <a:solidFill>
            <a:srgbClr val="9A9A9A"/>
          </a:solidFill>
          <a:ln/>
        </p:spPr>
      </p:sp>
      <p:sp>
        <p:nvSpPr>
          <p:cNvPr id="164" name="Shape 162"/>
          <p:cNvSpPr/>
          <p:nvPr/>
        </p:nvSpPr>
        <p:spPr>
          <a:xfrm rot="173647">
            <a:off x="7495206" y="2065314"/>
            <a:ext cx="187325" cy="54864"/>
          </a:xfrm>
          <a:prstGeom prst="rect">
            <a:avLst/>
          </a:prstGeom>
          <a:solidFill>
            <a:srgbClr val="9A9A9A"/>
          </a:solidFill>
          <a:ln/>
        </p:spPr>
      </p:sp>
      <p:sp>
        <p:nvSpPr>
          <p:cNvPr id="165" name="Shape 163"/>
          <p:cNvSpPr/>
          <p:nvPr/>
        </p:nvSpPr>
        <p:spPr>
          <a:xfrm>
            <a:off x="7866932" y="2369288"/>
            <a:ext cx="109728" cy="109728"/>
          </a:xfrm>
          <a:prstGeom prst="ellipse">
            <a:avLst/>
          </a:prstGeom>
          <a:solidFill>
            <a:srgbClr val="FFFFFF"/>
          </a:solidFill>
          <a:ln w="19050">
            <a:solidFill>
              <a:srgbClr val="C4262E"/>
            </a:solidFill>
            <a:prstDash val="solid"/>
          </a:ln>
        </p:spPr>
      </p:sp>
      <p:sp>
        <p:nvSpPr>
          <p:cNvPr id="166" name="Shape 164"/>
          <p:cNvSpPr/>
          <p:nvPr/>
        </p:nvSpPr>
        <p:spPr>
          <a:xfrm>
            <a:off x="8586216" y="246430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67" name="Shape 165"/>
          <p:cNvSpPr/>
          <p:nvPr/>
        </p:nvSpPr>
        <p:spPr>
          <a:xfrm>
            <a:off x="8686800" y="1280160"/>
            <a:ext cx="1572768" cy="2377440"/>
          </a:xfrm>
          <a:prstGeom prst="rect">
            <a:avLst/>
          </a:prstGeom>
          <a:solidFill>
            <a:srgbClr val="FFFFFF"/>
          </a:solidFill>
          <a:ln w="6350">
            <a:solidFill>
              <a:srgbClr val="D9D9D9"/>
            </a:solidFill>
            <a:prstDash val="solid"/>
          </a:ln>
        </p:spPr>
      </p:sp>
      <p:sp>
        <p:nvSpPr>
          <p:cNvPr id="168" name="Text 166"/>
          <p:cNvSpPr txBox="1"/>
          <p:nvPr/>
        </p:nvSpPr>
        <p:spPr>
          <a:xfrm>
            <a:off x="8759952" y="1335024"/>
            <a:ext cx="1426464"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06  </a:t>
            </a:r>
            <a:pPr indent="0" marL="0">
              <a:buNone/>
            </a:pPr>
            <a:r>
              <a:rPr lang="en-US" sz="650" b="1" spc="50" kern="0" dirty="0">
                <a:solidFill>
                  <a:srgbClr val="1B1B1B"/>
                </a:solidFill>
                <a:latin typeface="Arial" pitchFamily="34" charset="0"/>
                <a:ea typeface="Arial" pitchFamily="34" charset="-122"/>
                <a:cs typeface="Arial" pitchFamily="34" charset="-120"/>
              </a:rPr>
              <a:t>OPEN + CROSS</a:t>
            </a:r>
            <a:endParaRPr lang="en-US" sz="650" dirty="0"/>
          </a:p>
        </p:txBody>
      </p:sp>
      <p:sp>
        <p:nvSpPr>
          <p:cNvPr id="169" name="Text 167"/>
          <p:cNvSpPr txBox="1"/>
          <p:nvPr/>
        </p:nvSpPr>
        <p:spPr>
          <a:xfrm>
            <a:off x="8759952" y="3236976"/>
            <a:ext cx="1426464" cy="384048"/>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Open each bar to the route; add the working spine.</a:t>
            </a:r>
            <a:endParaRPr lang="en-US" sz="650" dirty="0"/>
          </a:p>
        </p:txBody>
      </p:sp>
      <p:sp>
        <p:nvSpPr>
          <p:cNvPr id="170" name="Shape 168"/>
          <p:cNvSpPr/>
          <p:nvPr/>
        </p:nvSpPr>
        <p:spPr>
          <a:xfrm>
            <a:off x="8856676" y="1995603"/>
            <a:ext cx="1233016" cy="772818"/>
          </a:xfrm>
          <a:custGeom>
            <a:avLst/>
            <a:gdLst/>
            <a:ahLst/>
            <a:cxnLst/>
            <a:rect l="l" t="t" r="r" b="b"/>
            <a:pathLst>
              <a:path w="1233016" h="772818">
                <a:moveTo>
                  <a:pt x="1220496" y="655322"/>
                </a:moveTo>
                <a:lnTo>
                  <a:pt x="1204257" y="682890"/>
                </a:lnTo>
                <a:lnTo>
                  <a:pt x="1181579" y="707210"/>
                </a:lnTo>
                <a:lnTo>
                  <a:pt x="1152709" y="728016"/>
                </a:lnTo>
                <a:lnTo>
                  <a:pt x="1117965" y="745079"/>
                </a:lnTo>
                <a:lnTo>
                  <a:pt x="1077727" y="758212"/>
                </a:lnTo>
                <a:lnTo>
                  <a:pt x="1032436" y="767271"/>
                </a:lnTo>
                <a:lnTo>
                  <a:pt x="982587" y="772158"/>
                </a:lnTo>
                <a:lnTo>
                  <a:pt x="928728" y="772818"/>
                </a:lnTo>
                <a:lnTo>
                  <a:pt x="871448" y="769245"/>
                </a:lnTo>
                <a:lnTo>
                  <a:pt x="811375" y="761477"/>
                </a:lnTo>
                <a:lnTo>
                  <a:pt x="749167" y="749600"/>
                </a:lnTo>
                <a:lnTo>
                  <a:pt x="685505" y="733744"/>
                </a:lnTo>
                <a:lnTo>
                  <a:pt x="621087" y="714082"/>
                </a:lnTo>
                <a:lnTo>
                  <a:pt x="556620" y="690831"/>
                </a:lnTo>
                <a:lnTo>
                  <a:pt x="492808" y="664243"/>
                </a:lnTo>
                <a:lnTo>
                  <a:pt x="430352" y="634612"/>
                </a:lnTo>
                <a:lnTo>
                  <a:pt x="369935" y="602262"/>
                </a:lnTo>
                <a:lnTo>
                  <a:pt x="312220" y="567547"/>
                </a:lnTo>
                <a:lnTo>
                  <a:pt x="257839" y="530847"/>
                </a:lnTo>
                <a:lnTo>
                  <a:pt x="207387" y="492564"/>
                </a:lnTo>
                <a:lnTo>
                  <a:pt x="161418" y="453119"/>
                </a:lnTo>
                <a:lnTo>
                  <a:pt x="120434" y="412943"/>
                </a:lnTo>
                <a:lnTo>
                  <a:pt x="84886" y="372475"/>
                </a:lnTo>
                <a:lnTo>
                  <a:pt x="55163" y="332161"/>
                </a:lnTo>
                <a:lnTo>
                  <a:pt x="31589" y="292441"/>
                </a:lnTo>
                <a:lnTo>
                  <a:pt x="14424" y="253750"/>
                </a:lnTo>
                <a:lnTo>
                  <a:pt x="3856" y="216513"/>
                </a:lnTo>
                <a:lnTo>
                  <a:pt x="0" y="181138"/>
                </a:lnTo>
                <a:lnTo>
                  <a:pt x="2899" y="148011"/>
                </a:lnTo>
                <a:lnTo>
                  <a:pt x="12520" y="117496"/>
                </a:lnTo>
                <a:lnTo>
                  <a:pt x="28759" y="89928"/>
                </a:lnTo>
                <a:lnTo>
                  <a:pt x="51437" y="65608"/>
                </a:lnTo>
                <a:lnTo>
                  <a:pt x="80307" y="44802"/>
                </a:lnTo>
                <a:lnTo>
                  <a:pt x="115051" y="27740"/>
                </a:lnTo>
                <a:lnTo>
                  <a:pt x="155289" y="14606"/>
                </a:lnTo>
                <a:lnTo>
                  <a:pt x="200580" y="5547"/>
                </a:lnTo>
                <a:lnTo>
                  <a:pt x="250429" y="660"/>
                </a:lnTo>
                <a:lnTo>
                  <a:pt x="304288" y="0"/>
                </a:lnTo>
                <a:lnTo>
                  <a:pt x="361568" y="3573"/>
                </a:lnTo>
                <a:lnTo>
                  <a:pt x="421641" y="11341"/>
                </a:lnTo>
                <a:lnTo>
                  <a:pt x="483849" y="23218"/>
                </a:lnTo>
                <a:lnTo>
                  <a:pt x="547511" y="39074"/>
                </a:lnTo>
                <a:lnTo>
                  <a:pt x="611929" y="58736"/>
                </a:lnTo>
                <a:lnTo>
                  <a:pt x="676396" y="81988"/>
                </a:lnTo>
                <a:lnTo>
                  <a:pt x="740208" y="108575"/>
                </a:lnTo>
                <a:lnTo>
                  <a:pt x="802664" y="138206"/>
                </a:lnTo>
                <a:lnTo>
                  <a:pt x="863081" y="170556"/>
                </a:lnTo>
                <a:lnTo>
                  <a:pt x="920796" y="205271"/>
                </a:lnTo>
                <a:lnTo>
                  <a:pt x="975178" y="241971"/>
                </a:lnTo>
                <a:lnTo>
                  <a:pt x="1025629" y="280254"/>
                </a:lnTo>
                <a:lnTo>
                  <a:pt x="1071599" y="319699"/>
                </a:lnTo>
                <a:lnTo>
                  <a:pt x="1112582" y="359876"/>
                </a:lnTo>
                <a:lnTo>
                  <a:pt x="1148130" y="400343"/>
                </a:lnTo>
                <a:lnTo>
                  <a:pt x="1177854" y="440657"/>
                </a:lnTo>
                <a:lnTo>
                  <a:pt x="1201427" y="480377"/>
                </a:lnTo>
                <a:lnTo>
                  <a:pt x="1218592" y="519068"/>
                </a:lnTo>
                <a:lnTo>
                  <a:pt x="1229160" y="556305"/>
                </a:lnTo>
                <a:lnTo>
                  <a:pt x="1233016" y="591680"/>
                </a:lnTo>
                <a:lnTo>
                  <a:pt x="1230117" y="624807"/>
                </a:lnTo>
                <a:close/>
              </a:path>
            </a:pathLst>
          </a:custGeom>
          <a:solidFill>
            <a:srgbClr val="E4E4E4"/>
          </a:solidFill>
          <a:ln w="12700"/>
        </p:spPr>
      </p:sp>
      <p:sp>
        <p:nvSpPr>
          <p:cNvPr id="171" name="Shape 169"/>
          <p:cNvSpPr/>
          <p:nvPr/>
        </p:nvSpPr>
        <p:spPr>
          <a:xfrm>
            <a:off x="8741664" y="2067379"/>
            <a:ext cx="127532" cy="45720"/>
          </a:xfrm>
          <a:custGeom>
            <a:avLst/>
            <a:gdLst/>
            <a:ahLst/>
            <a:cxnLst/>
            <a:rect l="l" t="t" r="r" b="b"/>
            <a:pathLst>
              <a:path w="127532" h="45720">
                <a:moveTo>
                  <a:pt x="127532" y="45720"/>
                </a:moveTo>
                <a:lnTo>
                  <a:pt x="0" y="0"/>
                </a:lnTo>
              </a:path>
            </a:pathLst>
          </a:custGeom>
          <a:ln w="76200">
            <a:solidFill>
              <a:srgbClr val="E4E4E4"/>
            </a:solidFill>
            <a:prstDash val="solid"/>
          </a:ln>
        </p:spPr>
      </p:sp>
      <p:sp>
        <p:nvSpPr>
          <p:cNvPr id="172" name="Shape 170"/>
          <p:cNvSpPr/>
          <p:nvPr/>
        </p:nvSpPr>
        <p:spPr>
          <a:xfrm>
            <a:off x="10077172" y="2650925"/>
            <a:ext cx="127532" cy="45720"/>
          </a:xfrm>
          <a:custGeom>
            <a:avLst/>
            <a:gdLst/>
            <a:ahLst/>
            <a:cxnLst/>
            <a:rect l="l" t="t" r="r" b="b"/>
            <a:pathLst>
              <a:path w="127532" h="45720">
                <a:moveTo>
                  <a:pt x="0" y="0"/>
                </a:moveTo>
                <a:lnTo>
                  <a:pt x="127532" y="45720"/>
                </a:lnTo>
              </a:path>
            </a:pathLst>
          </a:custGeom>
          <a:ln w="76200">
            <a:solidFill>
              <a:srgbClr val="E4E4E4"/>
            </a:solidFill>
            <a:prstDash val="solid"/>
          </a:ln>
        </p:spPr>
      </p:sp>
      <p:sp>
        <p:nvSpPr>
          <p:cNvPr id="173" name="Shape 171"/>
          <p:cNvSpPr/>
          <p:nvPr/>
        </p:nvSpPr>
        <p:spPr>
          <a:xfrm>
            <a:off x="8959427" y="2060004"/>
            <a:ext cx="1027513" cy="644015"/>
          </a:xfrm>
          <a:custGeom>
            <a:avLst/>
            <a:gdLst/>
            <a:ahLst/>
            <a:cxnLst/>
            <a:rect l="l" t="t" r="r" b="b"/>
            <a:pathLst>
              <a:path w="1027513" h="644015">
                <a:moveTo>
                  <a:pt x="1017080" y="546101"/>
                </a:moveTo>
                <a:lnTo>
                  <a:pt x="1003548" y="569075"/>
                </a:lnTo>
                <a:lnTo>
                  <a:pt x="984649" y="589342"/>
                </a:lnTo>
                <a:lnTo>
                  <a:pt x="960591" y="606680"/>
                </a:lnTo>
                <a:lnTo>
                  <a:pt x="931638" y="620899"/>
                </a:lnTo>
                <a:lnTo>
                  <a:pt x="898106" y="631843"/>
                </a:lnTo>
                <a:lnTo>
                  <a:pt x="860363" y="639393"/>
                </a:lnTo>
                <a:lnTo>
                  <a:pt x="818823" y="643465"/>
                </a:lnTo>
                <a:lnTo>
                  <a:pt x="773940" y="644015"/>
                </a:lnTo>
                <a:lnTo>
                  <a:pt x="726207" y="641037"/>
                </a:lnTo>
                <a:lnTo>
                  <a:pt x="676146" y="634564"/>
                </a:lnTo>
                <a:lnTo>
                  <a:pt x="624306" y="624667"/>
                </a:lnTo>
                <a:lnTo>
                  <a:pt x="571254" y="611453"/>
                </a:lnTo>
                <a:lnTo>
                  <a:pt x="517573" y="595069"/>
                </a:lnTo>
                <a:lnTo>
                  <a:pt x="463850" y="575692"/>
                </a:lnTo>
                <a:lnTo>
                  <a:pt x="410673" y="553536"/>
                </a:lnTo>
                <a:lnTo>
                  <a:pt x="358627" y="528844"/>
                </a:lnTo>
                <a:lnTo>
                  <a:pt x="308279" y="501885"/>
                </a:lnTo>
                <a:lnTo>
                  <a:pt x="260183" y="472956"/>
                </a:lnTo>
                <a:lnTo>
                  <a:pt x="214865" y="442372"/>
                </a:lnTo>
                <a:lnTo>
                  <a:pt x="172822" y="410470"/>
                </a:lnTo>
                <a:lnTo>
                  <a:pt x="134515" y="377599"/>
                </a:lnTo>
                <a:lnTo>
                  <a:pt x="100362" y="344119"/>
                </a:lnTo>
                <a:lnTo>
                  <a:pt x="70738" y="310396"/>
                </a:lnTo>
                <a:lnTo>
                  <a:pt x="45969" y="276801"/>
                </a:lnTo>
                <a:lnTo>
                  <a:pt x="26324" y="243701"/>
                </a:lnTo>
                <a:lnTo>
                  <a:pt x="12020" y="211459"/>
                </a:lnTo>
                <a:lnTo>
                  <a:pt x="3213" y="180428"/>
                </a:lnTo>
                <a:lnTo>
                  <a:pt x="0" y="150948"/>
                </a:lnTo>
                <a:lnTo>
                  <a:pt x="2416" y="123342"/>
                </a:lnTo>
                <a:lnTo>
                  <a:pt x="10433" y="97914"/>
                </a:lnTo>
                <a:lnTo>
                  <a:pt x="23966" y="74940"/>
                </a:lnTo>
                <a:lnTo>
                  <a:pt x="42864" y="54673"/>
                </a:lnTo>
                <a:lnTo>
                  <a:pt x="66922" y="37335"/>
                </a:lnTo>
                <a:lnTo>
                  <a:pt x="95876" y="23116"/>
                </a:lnTo>
                <a:lnTo>
                  <a:pt x="129408" y="12172"/>
                </a:lnTo>
                <a:lnTo>
                  <a:pt x="167150" y="4623"/>
                </a:lnTo>
                <a:lnTo>
                  <a:pt x="208691" y="550"/>
                </a:lnTo>
                <a:lnTo>
                  <a:pt x="253573" y="0"/>
                </a:lnTo>
                <a:lnTo>
                  <a:pt x="301307" y="2978"/>
                </a:lnTo>
                <a:lnTo>
                  <a:pt x="351368" y="9451"/>
                </a:lnTo>
                <a:lnTo>
                  <a:pt x="403208" y="19348"/>
                </a:lnTo>
                <a:lnTo>
                  <a:pt x="456259" y="32562"/>
                </a:lnTo>
                <a:lnTo>
                  <a:pt x="509941" y="48946"/>
                </a:lnTo>
                <a:lnTo>
                  <a:pt x="563664" y="68323"/>
                </a:lnTo>
                <a:lnTo>
                  <a:pt x="616840" y="90479"/>
                </a:lnTo>
                <a:lnTo>
                  <a:pt x="668887" y="115171"/>
                </a:lnTo>
                <a:lnTo>
                  <a:pt x="719234" y="142130"/>
                </a:lnTo>
                <a:lnTo>
                  <a:pt x="767330" y="171059"/>
                </a:lnTo>
                <a:lnTo>
                  <a:pt x="812648" y="201643"/>
                </a:lnTo>
                <a:lnTo>
                  <a:pt x="854691" y="233545"/>
                </a:lnTo>
                <a:lnTo>
                  <a:pt x="892999" y="266416"/>
                </a:lnTo>
                <a:lnTo>
                  <a:pt x="927152" y="299896"/>
                </a:lnTo>
                <a:lnTo>
                  <a:pt x="956775" y="333619"/>
                </a:lnTo>
                <a:lnTo>
                  <a:pt x="981545" y="367214"/>
                </a:lnTo>
                <a:lnTo>
                  <a:pt x="1001189" y="400314"/>
                </a:lnTo>
                <a:lnTo>
                  <a:pt x="1015493" y="432556"/>
                </a:lnTo>
                <a:lnTo>
                  <a:pt x="1024300" y="463587"/>
                </a:lnTo>
                <a:lnTo>
                  <a:pt x="1027513" y="493067"/>
                </a:lnTo>
                <a:lnTo>
                  <a:pt x="1025098" y="520673"/>
                </a:lnTo>
                <a:close/>
              </a:path>
            </a:pathLst>
          </a:custGeom>
          <a:solidFill>
            <a:srgbClr val="FFFFFF"/>
          </a:solidFill>
          <a:ln w="19050">
            <a:solidFill>
              <a:srgbClr val="1B1B1B"/>
            </a:solidFill>
            <a:prstDash val="solid"/>
          </a:ln>
        </p:spPr>
      </p:sp>
      <p:sp>
        <p:nvSpPr>
          <p:cNvPr id="174" name="Shape 172"/>
          <p:cNvSpPr/>
          <p:nvPr/>
        </p:nvSpPr>
        <p:spPr>
          <a:xfrm>
            <a:off x="9158766" y="2161000"/>
            <a:ext cx="739810" cy="463691"/>
          </a:xfrm>
          <a:custGeom>
            <a:avLst/>
            <a:gdLst/>
            <a:ahLst/>
            <a:cxnLst/>
            <a:rect l="l" t="t" r="r" b="b"/>
            <a:pathLst>
              <a:path w="739810" h="463691">
                <a:moveTo>
                  <a:pt x="732298" y="393193"/>
                </a:moveTo>
                <a:lnTo>
                  <a:pt x="722554" y="409734"/>
                </a:lnTo>
                <a:lnTo>
                  <a:pt x="708947" y="424326"/>
                </a:lnTo>
                <a:lnTo>
                  <a:pt x="691626" y="436810"/>
                </a:lnTo>
                <a:lnTo>
                  <a:pt x="670779" y="447047"/>
                </a:lnTo>
                <a:lnTo>
                  <a:pt x="646636" y="454927"/>
                </a:lnTo>
                <a:lnTo>
                  <a:pt x="619461" y="460363"/>
                </a:lnTo>
                <a:lnTo>
                  <a:pt x="589552" y="463295"/>
                </a:lnTo>
                <a:lnTo>
                  <a:pt x="557237" y="463691"/>
                </a:lnTo>
                <a:lnTo>
                  <a:pt x="522869" y="461547"/>
                </a:lnTo>
                <a:lnTo>
                  <a:pt x="486825" y="456886"/>
                </a:lnTo>
                <a:lnTo>
                  <a:pt x="449500" y="449760"/>
                </a:lnTo>
                <a:lnTo>
                  <a:pt x="411303" y="440246"/>
                </a:lnTo>
                <a:lnTo>
                  <a:pt x="372652" y="428449"/>
                </a:lnTo>
                <a:lnTo>
                  <a:pt x="333972" y="414498"/>
                </a:lnTo>
                <a:lnTo>
                  <a:pt x="295685" y="398546"/>
                </a:lnTo>
                <a:lnTo>
                  <a:pt x="258211" y="380767"/>
                </a:lnTo>
                <a:lnTo>
                  <a:pt x="221961" y="361357"/>
                </a:lnTo>
                <a:lnTo>
                  <a:pt x="187332" y="340528"/>
                </a:lnTo>
                <a:lnTo>
                  <a:pt x="154703" y="318508"/>
                </a:lnTo>
                <a:lnTo>
                  <a:pt x="124432" y="295539"/>
                </a:lnTo>
                <a:lnTo>
                  <a:pt x="96851" y="271871"/>
                </a:lnTo>
                <a:lnTo>
                  <a:pt x="72261" y="247766"/>
                </a:lnTo>
                <a:lnTo>
                  <a:pt x="50932" y="223485"/>
                </a:lnTo>
                <a:lnTo>
                  <a:pt x="33098" y="199297"/>
                </a:lnTo>
                <a:lnTo>
                  <a:pt x="18954" y="175465"/>
                </a:lnTo>
                <a:lnTo>
                  <a:pt x="8655" y="152250"/>
                </a:lnTo>
                <a:lnTo>
                  <a:pt x="2314" y="129908"/>
                </a:lnTo>
                <a:lnTo>
                  <a:pt x="0" y="108683"/>
                </a:lnTo>
                <a:lnTo>
                  <a:pt x="1739" y="88807"/>
                </a:lnTo>
                <a:lnTo>
                  <a:pt x="7512" y="70498"/>
                </a:lnTo>
                <a:lnTo>
                  <a:pt x="17255" y="53957"/>
                </a:lnTo>
                <a:lnTo>
                  <a:pt x="30862" y="39365"/>
                </a:lnTo>
                <a:lnTo>
                  <a:pt x="48184" y="26881"/>
                </a:lnTo>
                <a:lnTo>
                  <a:pt x="69031" y="16644"/>
                </a:lnTo>
                <a:lnTo>
                  <a:pt x="93173" y="8764"/>
                </a:lnTo>
                <a:lnTo>
                  <a:pt x="120348" y="3328"/>
                </a:lnTo>
                <a:lnTo>
                  <a:pt x="150257" y="396"/>
                </a:lnTo>
                <a:lnTo>
                  <a:pt x="182573" y="0"/>
                </a:lnTo>
                <a:lnTo>
                  <a:pt x="216941" y="2144"/>
                </a:lnTo>
                <a:lnTo>
                  <a:pt x="252985" y="6805"/>
                </a:lnTo>
                <a:lnTo>
                  <a:pt x="290310" y="13931"/>
                </a:lnTo>
                <a:lnTo>
                  <a:pt x="328507" y="23444"/>
                </a:lnTo>
                <a:lnTo>
                  <a:pt x="367157" y="35241"/>
                </a:lnTo>
                <a:lnTo>
                  <a:pt x="405838" y="49193"/>
                </a:lnTo>
                <a:lnTo>
                  <a:pt x="444125" y="65145"/>
                </a:lnTo>
                <a:lnTo>
                  <a:pt x="481599" y="82923"/>
                </a:lnTo>
                <a:lnTo>
                  <a:pt x="517849" y="102334"/>
                </a:lnTo>
                <a:lnTo>
                  <a:pt x="552478" y="123163"/>
                </a:lnTo>
                <a:lnTo>
                  <a:pt x="585107" y="145183"/>
                </a:lnTo>
                <a:lnTo>
                  <a:pt x="615378" y="168152"/>
                </a:lnTo>
                <a:lnTo>
                  <a:pt x="642959" y="191820"/>
                </a:lnTo>
                <a:lnTo>
                  <a:pt x="667549" y="215925"/>
                </a:lnTo>
                <a:lnTo>
                  <a:pt x="688878" y="240206"/>
                </a:lnTo>
                <a:lnTo>
                  <a:pt x="706712" y="264394"/>
                </a:lnTo>
                <a:lnTo>
                  <a:pt x="720856" y="288226"/>
                </a:lnTo>
                <a:lnTo>
                  <a:pt x="731155" y="311441"/>
                </a:lnTo>
                <a:lnTo>
                  <a:pt x="737496" y="333783"/>
                </a:lnTo>
                <a:lnTo>
                  <a:pt x="739810" y="355008"/>
                </a:lnTo>
                <a:lnTo>
                  <a:pt x="738070" y="374884"/>
                </a:lnTo>
                <a:close/>
              </a:path>
            </a:pathLst>
          </a:custGeom>
          <a:ln w="6350">
            <a:solidFill>
              <a:srgbClr val="4F7A43"/>
            </a:solidFill>
            <a:prstDash val="dash"/>
          </a:ln>
        </p:spPr>
      </p:sp>
      <p:sp>
        <p:nvSpPr>
          <p:cNvPr id="175" name="Shape 173"/>
          <p:cNvSpPr/>
          <p:nvPr/>
        </p:nvSpPr>
        <p:spPr>
          <a:xfrm>
            <a:off x="9292342" y="2244722"/>
            <a:ext cx="472656" cy="296247"/>
          </a:xfrm>
          <a:custGeom>
            <a:avLst/>
            <a:gdLst/>
            <a:ahLst/>
            <a:cxnLst/>
            <a:rect l="l" t="t" r="r" b="b"/>
            <a:pathLst>
              <a:path w="472656" h="296247">
                <a:moveTo>
                  <a:pt x="467857" y="251207"/>
                </a:moveTo>
                <a:lnTo>
                  <a:pt x="461632" y="261775"/>
                </a:lnTo>
                <a:lnTo>
                  <a:pt x="452939" y="271097"/>
                </a:lnTo>
                <a:lnTo>
                  <a:pt x="441872" y="279073"/>
                </a:lnTo>
                <a:lnTo>
                  <a:pt x="428553" y="285613"/>
                </a:lnTo>
                <a:lnTo>
                  <a:pt x="413129" y="290648"/>
                </a:lnTo>
                <a:lnTo>
                  <a:pt x="395767" y="294121"/>
                </a:lnTo>
                <a:lnTo>
                  <a:pt x="376658" y="295994"/>
                </a:lnTo>
                <a:lnTo>
                  <a:pt x="356012" y="296247"/>
                </a:lnTo>
                <a:lnTo>
                  <a:pt x="334055" y="294877"/>
                </a:lnTo>
                <a:lnTo>
                  <a:pt x="311027" y="291900"/>
                </a:lnTo>
                <a:lnTo>
                  <a:pt x="287181" y="287347"/>
                </a:lnTo>
                <a:lnTo>
                  <a:pt x="262777" y="281269"/>
                </a:lnTo>
                <a:lnTo>
                  <a:pt x="238084" y="273732"/>
                </a:lnTo>
                <a:lnTo>
                  <a:pt x="213371" y="264818"/>
                </a:lnTo>
                <a:lnTo>
                  <a:pt x="188910" y="254627"/>
                </a:lnTo>
                <a:lnTo>
                  <a:pt x="164968" y="243268"/>
                </a:lnTo>
                <a:lnTo>
                  <a:pt x="141808" y="230867"/>
                </a:lnTo>
                <a:lnTo>
                  <a:pt x="119684" y="217560"/>
                </a:lnTo>
                <a:lnTo>
                  <a:pt x="98838" y="203491"/>
                </a:lnTo>
                <a:lnTo>
                  <a:pt x="79498" y="188816"/>
                </a:lnTo>
                <a:lnTo>
                  <a:pt x="61877" y="173696"/>
                </a:lnTo>
                <a:lnTo>
                  <a:pt x="46166" y="158295"/>
                </a:lnTo>
                <a:lnTo>
                  <a:pt x="32540" y="142782"/>
                </a:lnTo>
                <a:lnTo>
                  <a:pt x="21146" y="127328"/>
                </a:lnTo>
                <a:lnTo>
                  <a:pt x="12109" y="112102"/>
                </a:lnTo>
                <a:lnTo>
                  <a:pt x="5529" y="97271"/>
                </a:lnTo>
                <a:lnTo>
                  <a:pt x="1478" y="82997"/>
                </a:lnTo>
                <a:lnTo>
                  <a:pt x="0" y="69436"/>
                </a:lnTo>
                <a:lnTo>
                  <a:pt x="1111" y="56738"/>
                </a:lnTo>
                <a:lnTo>
                  <a:pt x="4799" y="45040"/>
                </a:lnTo>
                <a:lnTo>
                  <a:pt x="11024" y="34472"/>
                </a:lnTo>
                <a:lnTo>
                  <a:pt x="19718" y="25150"/>
                </a:lnTo>
                <a:lnTo>
                  <a:pt x="30784" y="17174"/>
                </a:lnTo>
                <a:lnTo>
                  <a:pt x="44103" y="10633"/>
                </a:lnTo>
                <a:lnTo>
                  <a:pt x="59527" y="5599"/>
                </a:lnTo>
                <a:lnTo>
                  <a:pt x="76889" y="2126"/>
                </a:lnTo>
                <a:lnTo>
                  <a:pt x="95998" y="253"/>
                </a:lnTo>
                <a:lnTo>
                  <a:pt x="116644" y="0"/>
                </a:lnTo>
                <a:lnTo>
                  <a:pt x="138601" y="1370"/>
                </a:lnTo>
                <a:lnTo>
                  <a:pt x="161629" y="4347"/>
                </a:lnTo>
                <a:lnTo>
                  <a:pt x="185476" y="8900"/>
                </a:lnTo>
                <a:lnTo>
                  <a:pt x="209879" y="14978"/>
                </a:lnTo>
                <a:lnTo>
                  <a:pt x="234573" y="22515"/>
                </a:lnTo>
                <a:lnTo>
                  <a:pt x="259285" y="31429"/>
                </a:lnTo>
                <a:lnTo>
                  <a:pt x="283746" y="41620"/>
                </a:lnTo>
                <a:lnTo>
                  <a:pt x="307688" y="52979"/>
                </a:lnTo>
                <a:lnTo>
                  <a:pt x="330848" y="65380"/>
                </a:lnTo>
                <a:lnTo>
                  <a:pt x="352972" y="78687"/>
                </a:lnTo>
                <a:lnTo>
                  <a:pt x="373818" y="92756"/>
                </a:lnTo>
                <a:lnTo>
                  <a:pt x="393158" y="107431"/>
                </a:lnTo>
                <a:lnTo>
                  <a:pt x="410779" y="122551"/>
                </a:lnTo>
                <a:lnTo>
                  <a:pt x="426490" y="137952"/>
                </a:lnTo>
                <a:lnTo>
                  <a:pt x="440116" y="153465"/>
                </a:lnTo>
                <a:lnTo>
                  <a:pt x="451511" y="168919"/>
                </a:lnTo>
                <a:lnTo>
                  <a:pt x="460547" y="184145"/>
                </a:lnTo>
                <a:lnTo>
                  <a:pt x="467127" y="198976"/>
                </a:lnTo>
                <a:lnTo>
                  <a:pt x="471178" y="213250"/>
                </a:lnTo>
                <a:lnTo>
                  <a:pt x="472656" y="226811"/>
                </a:lnTo>
                <a:lnTo>
                  <a:pt x="471545" y="239509"/>
                </a:lnTo>
                <a:close/>
              </a:path>
            </a:pathLst>
          </a:custGeom>
          <a:ln w="6350">
            <a:solidFill>
              <a:srgbClr val="4F7A43"/>
            </a:solidFill>
            <a:prstDash val="dash"/>
          </a:ln>
        </p:spPr>
      </p:sp>
      <p:sp>
        <p:nvSpPr>
          <p:cNvPr id="176" name="Shape 174"/>
          <p:cNvSpPr/>
          <p:nvPr/>
        </p:nvSpPr>
        <p:spPr>
          <a:xfrm>
            <a:off x="9415644" y="2322003"/>
            <a:ext cx="226053" cy="141683"/>
          </a:xfrm>
          <a:custGeom>
            <a:avLst/>
            <a:gdLst/>
            <a:ahLst/>
            <a:cxnLst/>
            <a:rect l="l" t="t" r="r" b="b"/>
            <a:pathLst>
              <a:path w="226053" h="141683">
                <a:moveTo>
                  <a:pt x="223758" y="120142"/>
                </a:moveTo>
                <a:lnTo>
                  <a:pt x="220780" y="125197"/>
                </a:lnTo>
                <a:lnTo>
                  <a:pt x="216623" y="129655"/>
                </a:lnTo>
                <a:lnTo>
                  <a:pt x="211330" y="133470"/>
                </a:lnTo>
                <a:lnTo>
                  <a:pt x="204960" y="136598"/>
                </a:lnTo>
                <a:lnTo>
                  <a:pt x="197583" y="139005"/>
                </a:lnTo>
                <a:lnTo>
                  <a:pt x="189280" y="140666"/>
                </a:lnTo>
                <a:lnTo>
                  <a:pt x="180141" y="141562"/>
                </a:lnTo>
                <a:lnTo>
                  <a:pt x="170267" y="141683"/>
                </a:lnTo>
                <a:lnTo>
                  <a:pt x="159765" y="141028"/>
                </a:lnTo>
                <a:lnTo>
                  <a:pt x="148752" y="139604"/>
                </a:lnTo>
                <a:lnTo>
                  <a:pt x="137347" y="137427"/>
                </a:lnTo>
                <a:lnTo>
                  <a:pt x="125676" y="134520"/>
                </a:lnTo>
                <a:lnTo>
                  <a:pt x="113866" y="130915"/>
                </a:lnTo>
                <a:lnTo>
                  <a:pt x="102047" y="126652"/>
                </a:lnTo>
                <a:lnTo>
                  <a:pt x="90348" y="121778"/>
                </a:lnTo>
                <a:lnTo>
                  <a:pt x="78898" y="116346"/>
                </a:lnTo>
                <a:lnTo>
                  <a:pt x="67821" y="110415"/>
                </a:lnTo>
                <a:lnTo>
                  <a:pt x="57240" y="104050"/>
                </a:lnTo>
                <a:lnTo>
                  <a:pt x="47270" y="97322"/>
                </a:lnTo>
                <a:lnTo>
                  <a:pt x="38021" y="90303"/>
                </a:lnTo>
                <a:lnTo>
                  <a:pt x="29593" y="83072"/>
                </a:lnTo>
                <a:lnTo>
                  <a:pt x="22080" y="75706"/>
                </a:lnTo>
                <a:lnTo>
                  <a:pt x="15562" y="68287"/>
                </a:lnTo>
                <a:lnTo>
                  <a:pt x="10113" y="60896"/>
                </a:lnTo>
                <a:lnTo>
                  <a:pt x="5791" y="53614"/>
                </a:lnTo>
                <a:lnTo>
                  <a:pt x="2644" y="46521"/>
                </a:lnTo>
                <a:lnTo>
                  <a:pt x="707" y="39694"/>
                </a:lnTo>
                <a:lnTo>
                  <a:pt x="0" y="33209"/>
                </a:lnTo>
                <a:lnTo>
                  <a:pt x="531" y="27135"/>
                </a:lnTo>
                <a:lnTo>
                  <a:pt x="2295" y="21541"/>
                </a:lnTo>
                <a:lnTo>
                  <a:pt x="5272" y="16487"/>
                </a:lnTo>
                <a:lnTo>
                  <a:pt x="9430" y="12028"/>
                </a:lnTo>
                <a:lnTo>
                  <a:pt x="14723" y="8214"/>
                </a:lnTo>
                <a:lnTo>
                  <a:pt x="21093" y="5086"/>
                </a:lnTo>
                <a:lnTo>
                  <a:pt x="28470" y="2678"/>
                </a:lnTo>
                <a:lnTo>
                  <a:pt x="36773" y="1017"/>
                </a:lnTo>
                <a:lnTo>
                  <a:pt x="45912" y="121"/>
                </a:lnTo>
                <a:lnTo>
                  <a:pt x="55786" y="0"/>
                </a:lnTo>
                <a:lnTo>
                  <a:pt x="66287" y="655"/>
                </a:lnTo>
                <a:lnTo>
                  <a:pt x="77301" y="2079"/>
                </a:lnTo>
                <a:lnTo>
                  <a:pt x="88706" y="4257"/>
                </a:lnTo>
                <a:lnTo>
                  <a:pt x="100377" y="7164"/>
                </a:lnTo>
                <a:lnTo>
                  <a:pt x="112187" y="10768"/>
                </a:lnTo>
                <a:lnTo>
                  <a:pt x="124006" y="15031"/>
                </a:lnTo>
                <a:lnTo>
                  <a:pt x="135705" y="19905"/>
                </a:lnTo>
                <a:lnTo>
                  <a:pt x="147155" y="25338"/>
                </a:lnTo>
                <a:lnTo>
                  <a:pt x="158232" y="31269"/>
                </a:lnTo>
                <a:lnTo>
                  <a:pt x="168813" y="37633"/>
                </a:lnTo>
                <a:lnTo>
                  <a:pt x="178783" y="44361"/>
                </a:lnTo>
                <a:lnTo>
                  <a:pt x="188032" y="51380"/>
                </a:lnTo>
                <a:lnTo>
                  <a:pt x="196460" y="58612"/>
                </a:lnTo>
                <a:lnTo>
                  <a:pt x="203973" y="65977"/>
                </a:lnTo>
                <a:lnTo>
                  <a:pt x="210490" y="73396"/>
                </a:lnTo>
                <a:lnTo>
                  <a:pt x="215940" y="80787"/>
                </a:lnTo>
                <a:lnTo>
                  <a:pt x="220262" y="88069"/>
                </a:lnTo>
                <a:lnTo>
                  <a:pt x="223408" y="95162"/>
                </a:lnTo>
                <a:lnTo>
                  <a:pt x="225346" y="101989"/>
                </a:lnTo>
                <a:lnTo>
                  <a:pt x="226053" y="108475"/>
                </a:lnTo>
                <a:lnTo>
                  <a:pt x="225522" y="114548"/>
                </a:lnTo>
                <a:close/>
              </a:path>
            </a:pathLst>
          </a:custGeom>
          <a:ln w="6350">
            <a:solidFill>
              <a:srgbClr val="4F7A43"/>
            </a:solidFill>
            <a:prstDash val="dash"/>
          </a:ln>
        </p:spPr>
      </p:sp>
      <p:sp>
        <p:nvSpPr>
          <p:cNvPr id="177" name="Shape 175"/>
          <p:cNvSpPr/>
          <p:nvPr/>
        </p:nvSpPr>
        <p:spPr>
          <a:xfrm>
            <a:off x="9139574" y="2215591"/>
            <a:ext cx="659304" cy="493320"/>
          </a:xfrm>
          <a:custGeom>
            <a:avLst/>
            <a:gdLst/>
            <a:ahLst/>
            <a:cxnLst/>
            <a:rect l="l" t="t" r="r" b="b"/>
            <a:pathLst>
              <a:path w="659304" h="493320">
                <a:moveTo>
                  <a:pt x="659304" y="493320"/>
                </a:moveTo>
                <a:lnTo>
                  <a:pt x="592600" y="487840"/>
                </a:lnTo>
                <a:lnTo>
                  <a:pt x="523432" y="475798"/>
                </a:lnTo>
                <a:lnTo>
                  <a:pt x="453470" y="457744"/>
                </a:lnTo>
                <a:lnTo>
                  <a:pt x="384337" y="434349"/>
                </a:lnTo>
                <a:lnTo>
                  <a:pt x="317572" y="406378"/>
                </a:lnTo>
                <a:lnTo>
                  <a:pt x="254595" y="374671"/>
                </a:lnTo>
                <a:lnTo>
                  <a:pt x="196682" y="340122"/>
                </a:lnTo>
                <a:lnTo>
                  <a:pt x="144935" y="303652"/>
                </a:lnTo>
                <a:lnTo>
                  <a:pt x="100263" y="266189"/>
                </a:lnTo>
                <a:lnTo>
                  <a:pt x="63369" y="228646"/>
                </a:lnTo>
                <a:lnTo>
                  <a:pt x="34739" y="191894"/>
                </a:lnTo>
                <a:lnTo>
                  <a:pt x="14638" y="156748"/>
                </a:lnTo>
                <a:lnTo>
                  <a:pt x="3113" y="123948"/>
                </a:lnTo>
                <a:lnTo>
                  <a:pt x="0" y="94140"/>
                </a:lnTo>
                <a:lnTo>
                  <a:pt x="4936" y="67867"/>
                </a:lnTo>
                <a:lnTo>
                  <a:pt x="17376" y="45558"/>
                </a:lnTo>
                <a:lnTo>
                  <a:pt x="36613" y="27522"/>
                </a:lnTo>
                <a:lnTo>
                  <a:pt x="61806" y="13945"/>
                </a:lnTo>
                <a:lnTo>
                  <a:pt x="92003" y="4889"/>
                </a:lnTo>
                <a:lnTo>
                  <a:pt x="126171" y="298"/>
                </a:lnTo>
                <a:lnTo>
                  <a:pt x="163230" y="0"/>
                </a:lnTo>
                <a:lnTo>
                  <a:pt x="202080" y="3721"/>
                </a:lnTo>
                <a:lnTo>
                  <a:pt x="241632" y="11094"/>
                </a:lnTo>
                <a:lnTo>
                  <a:pt x="280838" y="21673"/>
                </a:lnTo>
                <a:lnTo>
                  <a:pt x="318715" y="34947"/>
                </a:lnTo>
                <a:lnTo>
                  <a:pt x="354376" y="50359"/>
                </a:lnTo>
                <a:lnTo>
                  <a:pt x="387044" y="67325"/>
                </a:lnTo>
                <a:lnTo>
                  <a:pt x="416073" y="85246"/>
                </a:lnTo>
                <a:lnTo>
                  <a:pt x="440961" y="103532"/>
                </a:lnTo>
                <a:lnTo>
                  <a:pt x="461359" y="121613"/>
                </a:lnTo>
                <a:lnTo>
                  <a:pt x="477075" y="138960"/>
                </a:lnTo>
                <a:lnTo>
                  <a:pt x="488074" y="155097"/>
                </a:lnTo>
                <a:lnTo>
                  <a:pt x="494472" y="169611"/>
                </a:lnTo>
                <a:lnTo>
                  <a:pt x="496530" y="182168"/>
                </a:lnTo>
                <a:lnTo>
                  <a:pt x="494638" y="192516"/>
                </a:lnTo>
                <a:lnTo>
                  <a:pt x="489302" y="200491"/>
                </a:lnTo>
                <a:lnTo>
                  <a:pt x="481119" y="206021"/>
                </a:lnTo>
                <a:lnTo>
                  <a:pt x="470762" y="209125"/>
                </a:lnTo>
                <a:lnTo>
                  <a:pt x="458951" y="209909"/>
                </a:lnTo>
                <a:lnTo>
                  <a:pt x="446430" y="208561"/>
                </a:lnTo>
              </a:path>
            </a:pathLst>
          </a:custGeom>
          <a:ln w="22225">
            <a:solidFill>
              <a:srgbClr val="C4262E"/>
            </a:solidFill>
            <a:prstDash val="solid"/>
            <a:tailEnd type="triangle"/>
          </a:ln>
        </p:spPr>
      </p:sp>
      <p:sp>
        <p:nvSpPr>
          <p:cNvPr id="178" name="Shape 176"/>
          <p:cNvSpPr/>
          <p:nvPr/>
        </p:nvSpPr>
        <p:spPr>
          <a:xfrm rot="169550">
            <a:off x="9572222" y="2701673"/>
            <a:ext cx="341593" cy="64008"/>
          </a:xfrm>
          <a:prstGeom prst="rect">
            <a:avLst/>
          </a:prstGeom>
          <a:solidFill>
            <a:srgbClr val="C4262E"/>
          </a:solidFill>
          <a:ln/>
        </p:spPr>
      </p:sp>
      <p:sp>
        <p:nvSpPr>
          <p:cNvPr id="179" name="Shape 177"/>
          <p:cNvSpPr/>
          <p:nvPr/>
        </p:nvSpPr>
        <p:spPr>
          <a:xfrm rot="2669841">
            <a:off x="8988105" y="2386563"/>
            <a:ext cx="303026" cy="64008"/>
          </a:xfrm>
          <a:prstGeom prst="rect">
            <a:avLst/>
          </a:prstGeom>
          <a:solidFill>
            <a:srgbClr val="F0B9BC"/>
          </a:solidFill>
          <a:ln w="6350">
            <a:solidFill>
              <a:srgbClr val="1B1B1B"/>
            </a:solidFill>
            <a:prstDash val="solid"/>
          </a:ln>
        </p:spPr>
      </p:sp>
      <p:sp>
        <p:nvSpPr>
          <p:cNvPr id="180" name="Shape 178"/>
          <p:cNvSpPr/>
          <p:nvPr/>
        </p:nvSpPr>
        <p:spPr>
          <a:xfrm rot="-1236591">
            <a:off x="9097765" y="2153790"/>
            <a:ext cx="253440" cy="64008"/>
          </a:xfrm>
          <a:prstGeom prst="rect">
            <a:avLst/>
          </a:prstGeom>
          <a:solidFill>
            <a:srgbClr val="1B1B1B"/>
          </a:solidFill>
          <a:ln/>
        </p:spPr>
      </p:sp>
      <p:sp>
        <p:nvSpPr>
          <p:cNvPr id="181" name="Shape 179"/>
          <p:cNvSpPr/>
          <p:nvPr/>
        </p:nvSpPr>
        <p:spPr>
          <a:xfrm rot="1650735">
            <a:off x="9493610" y="2263475"/>
            <a:ext cx="198344" cy="64008"/>
          </a:xfrm>
          <a:prstGeom prst="rect">
            <a:avLst/>
          </a:prstGeom>
          <a:solidFill>
            <a:srgbClr val="9A9A9A"/>
          </a:solidFill>
          <a:ln/>
        </p:spPr>
      </p:sp>
      <p:sp>
        <p:nvSpPr>
          <p:cNvPr id="182" name="Shape 180"/>
          <p:cNvSpPr/>
          <p:nvPr/>
        </p:nvSpPr>
        <p:spPr>
          <a:xfrm rot="173647">
            <a:off x="9159414" y="2065314"/>
            <a:ext cx="187325" cy="54864"/>
          </a:xfrm>
          <a:prstGeom prst="rect">
            <a:avLst/>
          </a:prstGeom>
          <a:solidFill>
            <a:srgbClr val="9A9A9A"/>
          </a:solidFill>
          <a:ln/>
        </p:spPr>
      </p:sp>
      <p:sp>
        <p:nvSpPr>
          <p:cNvPr id="183" name="Shape 181"/>
          <p:cNvSpPr/>
          <p:nvPr/>
        </p:nvSpPr>
        <p:spPr>
          <a:xfrm>
            <a:off x="9580315" y="2424152"/>
            <a:ext cx="38148" cy="267493"/>
          </a:xfrm>
          <a:custGeom>
            <a:avLst/>
            <a:gdLst/>
            <a:ahLst/>
            <a:cxnLst/>
            <a:rect l="l" t="t" r="r" b="b"/>
            <a:pathLst>
              <a:path w="38148" h="267493">
                <a:moveTo>
                  <a:pt x="38148" y="267493"/>
                </a:moveTo>
                <a:lnTo>
                  <a:pt x="0" y="134732"/>
                </a:lnTo>
                <a:lnTo>
                  <a:pt x="5688" y="0"/>
                </a:lnTo>
              </a:path>
            </a:pathLst>
          </a:custGeom>
          <a:ln w="19050">
            <a:solidFill>
              <a:srgbClr val="1B1B1B"/>
            </a:solidFill>
            <a:prstDash val="solid"/>
            <a:tailEnd type="triangle"/>
          </a:ln>
        </p:spPr>
      </p:sp>
      <p:sp>
        <p:nvSpPr>
          <p:cNvPr id="184" name="Shape 182"/>
          <p:cNvSpPr/>
          <p:nvPr/>
        </p:nvSpPr>
        <p:spPr>
          <a:xfrm>
            <a:off x="9531140" y="2369288"/>
            <a:ext cx="109728" cy="109728"/>
          </a:xfrm>
          <a:prstGeom prst="ellipse">
            <a:avLst/>
          </a:prstGeom>
          <a:solidFill>
            <a:srgbClr val="FFFFFF"/>
          </a:solidFill>
          <a:ln w="19050">
            <a:solidFill>
              <a:srgbClr val="C4262E"/>
            </a:solidFill>
            <a:prstDash val="solid"/>
          </a:ln>
        </p:spPr>
      </p:sp>
      <p:sp>
        <p:nvSpPr>
          <p:cNvPr id="185" name="Shape 183"/>
          <p:cNvSpPr/>
          <p:nvPr/>
        </p:nvSpPr>
        <p:spPr>
          <a:xfrm>
            <a:off x="10250424" y="246430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86" name="Shape 184"/>
          <p:cNvSpPr/>
          <p:nvPr/>
        </p:nvSpPr>
        <p:spPr>
          <a:xfrm>
            <a:off x="10351008" y="1280160"/>
            <a:ext cx="1572768" cy="2377440"/>
          </a:xfrm>
          <a:prstGeom prst="rect">
            <a:avLst/>
          </a:prstGeom>
          <a:solidFill>
            <a:srgbClr val="FFFFFF"/>
          </a:solidFill>
          <a:ln w="6350">
            <a:solidFill>
              <a:srgbClr val="D9D9D9"/>
            </a:solidFill>
            <a:prstDash val="solid"/>
          </a:ln>
        </p:spPr>
      </p:sp>
      <p:sp>
        <p:nvSpPr>
          <p:cNvPr id="187" name="Text 185"/>
          <p:cNvSpPr txBox="1"/>
          <p:nvPr/>
        </p:nvSpPr>
        <p:spPr>
          <a:xfrm>
            <a:off x="10424160" y="1335024"/>
            <a:ext cx="1426464"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07  </a:t>
            </a:r>
            <a:pPr indent="0" marL="0">
              <a:buNone/>
            </a:pPr>
            <a:r>
              <a:rPr lang="en-US" sz="650" b="1" spc="50" kern="0" dirty="0">
                <a:solidFill>
                  <a:srgbClr val="1B1B1B"/>
                </a:solidFill>
                <a:latin typeface="Arial" pitchFamily="34" charset="0"/>
                <a:ea typeface="Arial" pitchFamily="34" charset="-122"/>
                <a:cs typeface="Arial" pitchFamily="34" charset="-120"/>
              </a:rPr>
              <a:t>LEAVE THE TOP OPEN</a:t>
            </a:r>
            <a:endParaRPr lang="en-US" sz="650" dirty="0"/>
          </a:p>
        </p:txBody>
      </p:sp>
      <p:sp>
        <p:nvSpPr>
          <p:cNvPr id="188" name="Text 186"/>
          <p:cNvSpPr txBox="1"/>
          <p:nvPr/>
        </p:nvSpPr>
        <p:spPr>
          <a:xfrm>
            <a:off x="10424160" y="3236976"/>
            <a:ext cx="1426464" cy="384048"/>
          </a:xfrm>
          <a:prstGeom prst="rect">
            <a:avLst/>
          </a:prstGeom>
          <a:noFill/>
          <a:ln/>
        </p:spPr>
        <p:txBody>
          <a:bodyPr wrap="square" lIns="0" tIns="0" rIns="0" bIns="0" rtlCol="0" anchor="b"/>
          <a:lstStyle/>
          <a:p>
            <a:pPr indent="0" marL="0">
              <a:buNone/>
            </a:pPr>
            <a:r>
              <a:rPr lang="en-US" sz="650" dirty="0">
                <a:solidFill>
                  <a:srgbClr val="6B6B6B"/>
                </a:solidFill>
                <a:latin typeface="Arial" pitchFamily="34" charset="0"/>
                <a:ea typeface="Arial" pitchFamily="34" charset="-122"/>
                <a:cs typeface="Arial" pitchFamily="34" charset="-120"/>
              </a:rPr>
              <a:t>Summit = open forum; roofs = landings; final massing.</a:t>
            </a:r>
            <a:endParaRPr lang="en-US" sz="650" dirty="0"/>
          </a:p>
        </p:txBody>
      </p:sp>
      <p:sp>
        <p:nvSpPr>
          <p:cNvPr id="189" name="Shape 187"/>
          <p:cNvSpPr/>
          <p:nvPr/>
        </p:nvSpPr>
        <p:spPr>
          <a:xfrm>
            <a:off x="10405872" y="2382135"/>
            <a:ext cx="1463040" cy="854841"/>
          </a:xfrm>
          <a:custGeom>
            <a:avLst/>
            <a:gdLst/>
            <a:ahLst/>
            <a:cxnLst/>
            <a:rect l="l" t="t" r="r" b="b"/>
            <a:pathLst>
              <a:path w="1463040" h="854841">
                <a:moveTo>
                  <a:pt x="0" y="581253"/>
                </a:moveTo>
                <a:lnTo>
                  <a:pt x="24384" y="581253"/>
                </a:lnTo>
                <a:lnTo>
                  <a:pt x="48768" y="581253"/>
                </a:lnTo>
                <a:lnTo>
                  <a:pt x="73152" y="581253"/>
                </a:lnTo>
                <a:lnTo>
                  <a:pt x="97536" y="581253"/>
                </a:lnTo>
                <a:lnTo>
                  <a:pt x="121920" y="581253"/>
                </a:lnTo>
                <a:lnTo>
                  <a:pt x="146304" y="581253"/>
                </a:lnTo>
                <a:lnTo>
                  <a:pt x="170688" y="580761"/>
                </a:lnTo>
                <a:lnTo>
                  <a:pt x="195072" y="575247"/>
                </a:lnTo>
                <a:lnTo>
                  <a:pt x="219456" y="563722"/>
                </a:lnTo>
                <a:lnTo>
                  <a:pt x="243840" y="546429"/>
                </a:lnTo>
                <a:lnTo>
                  <a:pt x="268224" y="523732"/>
                </a:lnTo>
                <a:lnTo>
                  <a:pt x="292608" y="496112"/>
                </a:lnTo>
                <a:lnTo>
                  <a:pt x="316992" y="464151"/>
                </a:lnTo>
                <a:lnTo>
                  <a:pt x="341376" y="428525"/>
                </a:lnTo>
                <a:lnTo>
                  <a:pt x="365760" y="389986"/>
                </a:lnTo>
                <a:lnTo>
                  <a:pt x="390144" y="349347"/>
                </a:lnTo>
                <a:lnTo>
                  <a:pt x="414528" y="307467"/>
                </a:lnTo>
                <a:lnTo>
                  <a:pt x="438912" y="265230"/>
                </a:lnTo>
                <a:lnTo>
                  <a:pt x="463296" y="223528"/>
                </a:lnTo>
                <a:lnTo>
                  <a:pt x="487680" y="183241"/>
                </a:lnTo>
                <a:lnTo>
                  <a:pt x="512064" y="145221"/>
                </a:lnTo>
                <a:lnTo>
                  <a:pt x="536448" y="110270"/>
                </a:lnTo>
                <a:lnTo>
                  <a:pt x="560832" y="79126"/>
                </a:lnTo>
                <a:lnTo>
                  <a:pt x="585216" y="52447"/>
                </a:lnTo>
                <a:lnTo>
                  <a:pt x="609600" y="30797"/>
                </a:lnTo>
                <a:lnTo>
                  <a:pt x="633984" y="14632"/>
                </a:lnTo>
                <a:lnTo>
                  <a:pt x="658368" y="4293"/>
                </a:lnTo>
                <a:lnTo>
                  <a:pt x="682752" y="0"/>
                </a:lnTo>
                <a:lnTo>
                  <a:pt x="707136" y="1843"/>
                </a:lnTo>
                <a:lnTo>
                  <a:pt x="731520" y="9782"/>
                </a:lnTo>
                <a:lnTo>
                  <a:pt x="755904" y="23651"/>
                </a:lnTo>
                <a:lnTo>
                  <a:pt x="780288" y="43156"/>
                </a:lnTo>
                <a:lnTo>
                  <a:pt x="804672" y="67885"/>
                </a:lnTo>
                <a:lnTo>
                  <a:pt x="829056" y="97317"/>
                </a:lnTo>
                <a:lnTo>
                  <a:pt x="853440" y="130829"/>
                </a:lnTo>
                <a:lnTo>
                  <a:pt x="877824" y="167715"/>
                </a:lnTo>
                <a:lnTo>
                  <a:pt x="902208" y="207195"/>
                </a:lnTo>
                <a:lnTo>
                  <a:pt x="926592" y="248435"/>
                </a:lnTo>
                <a:lnTo>
                  <a:pt x="950976" y="290565"/>
                </a:lnTo>
                <a:lnTo>
                  <a:pt x="975360" y="332695"/>
                </a:lnTo>
                <a:lnTo>
                  <a:pt x="999744" y="373935"/>
                </a:lnTo>
                <a:lnTo>
                  <a:pt x="1024128" y="413415"/>
                </a:lnTo>
                <a:lnTo>
                  <a:pt x="1048512" y="450300"/>
                </a:lnTo>
                <a:lnTo>
                  <a:pt x="1072896" y="483813"/>
                </a:lnTo>
                <a:lnTo>
                  <a:pt x="1097280" y="513245"/>
                </a:lnTo>
                <a:lnTo>
                  <a:pt x="1121664" y="537974"/>
                </a:lnTo>
                <a:lnTo>
                  <a:pt x="1146048" y="557479"/>
                </a:lnTo>
                <a:lnTo>
                  <a:pt x="1170432" y="571348"/>
                </a:lnTo>
                <a:lnTo>
                  <a:pt x="1194816" y="579287"/>
                </a:lnTo>
                <a:lnTo>
                  <a:pt x="1219200" y="581253"/>
                </a:lnTo>
                <a:lnTo>
                  <a:pt x="1243584" y="581253"/>
                </a:lnTo>
                <a:lnTo>
                  <a:pt x="1267968" y="581253"/>
                </a:lnTo>
                <a:lnTo>
                  <a:pt x="1292352" y="581253"/>
                </a:lnTo>
                <a:lnTo>
                  <a:pt x="1316736" y="581253"/>
                </a:lnTo>
                <a:lnTo>
                  <a:pt x="1341120" y="581253"/>
                </a:lnTo>
                <a:lnTo>
                  <a:pt x="1365504" y="581253"/>
                </a:lnTo>
                <a:lnTo>
                  <a:pt x="1389888" y="581253"/>
                </a:lnTo>
                <a:lnTo>
                  <a:pt x="1414272" y="581253"/>
                </a:lnTo>
                <a:lnTo>
                  <a:pt x="1438656" y="581253"/>
                </a:lnTo>
                <a:lnTo>
                  <a:pt x="1463040" y="581253"/>
                </a:lnTo>
                <a:lnTo>
                  <a:pt x="1463040" y="854841"/>
                </a:lnTo>
                <a:lnTo>
                  <a:pt x="0" y="854841"/>
                </a:lnTo>
                <a:close/>
              </a:path>
            </a:pathLst>
          </a:custGeom>
          <a:solidFill>
            <a:srgbClr val="E3ECDC"/>
          </a:solidFill>
          <a:ln w="12700"/>
        </p:spPr>
      </p:sp>
      <p:sp>
        <p:nvSpPr>
          <p:cNvPr id="190" name="Shape 188"/>
          <p:cNvSpPr/>
          <p:nvPr/>
        </p:nvSpPr>
        <p:spPr>
          <a:xfrm>
            <a:off x="10405872" y="2382135"/>
            <a:ext cx="1463040" cy="581253"/>
          </a:xfrm>
          <a:custGeom>
            <a:avLst/>
            <a:gdLst/>
            <a:ahLst/>
            <a:cxnLst/>
            <a:rect l="l" t="t" r="r" b="b"/>
            <a:pathLst>
              <a:path w="1463040" h="581253">
                <a:moveTo>
                  <a:pt x="0" y="581253"/>
                </a:moveTo>
                <a:lnTo>
                  <a:pt x="24384" y="581253"/>
                </a:lnTo>
                <a:lnTo>
                  <a:pt x="48768" y="581253"/>
                </a:lnTo>
                <a:lnTo>
                  <a:pt x="73152" y="581253"/>
                </a:lnTo>
                <a:lnTo>
                  <a:pt x="97536" y="581253"/>
                </a:lnTo>
                <a:lnTo>
                  <a:pt x="121920" y="581253"/>
                </a:lnTo>
                <a:lnTo>
                  <a:pt x="146304" y="581253"/>
                </a:lnTo>
                <a:lnTo>
                  <a:pt x="170688" y="580761"/>
                </a:lnTo>
                <a:lnTo>
                  <a:pt x="195072" y="575247"/>
                </a:lnTo>
                <a:lnTo>
                  <a:pt x="219456" y="563722"/>
                </a:lnTo>
                <a:lnTo>
                  <a:pt x="243840" y="546429"/>
                </a:lnTo>
                <a:lnTo>
                  <a:pt x="268224" y="523732"/>
                </a:lnTo>
                <a:lnTo>
                  <a:pt x="292608" y="496112"/>
                </a:lnTo>
                <a:lnTo>
                  <a:pt x="316992" y="464151"/>
                </a:lnTo>
                <a:lnTo>
                  <a:pt x="341376" y="428525"/>
                </a:lnTo>
                <a:lnTo>
                  <a:pt x="365760" y="389986"/>
                </a:lnTo>
                <a:lnTo>
                  <a:pt x="390144" y="349347"/>
                </a:lnTo>
                <a:lnTo>
                  <a:pt x="414528" y="307467"/>
                </a:lnTo>
                <a:lnTo>
                  <a:pt x="438912" y="265230"/>
                </a:lnTo>
                <a:lnTo>
                  <a:pt x="463296" y="223528"/>
                </a:lnTo>
                <a:lnTo>
                  <a:pt x="487680" y="183241"/>
                </a:lnTo>
                <a:lnTo>
                  <a:pt x="512064" y="145221"/>
                </a:lnTo>
                <a:lnTo>
                  <a:pt x="536448" y="110270"/>
                </a:lnTo>
                <a:lnTo>
                  <a:pt x="560832" y="79126"/>
                </a:lnTo>
                <a:lnTo>
                  <a:pt x="585216" y="52447"/>
                </a:lnTo>
                <a:lnTo>
                  <a:pt x="609600" y="30797"/>
                </a:lnTo>
                <a:lnTo>
                  <a:pt x="633984" y="14632"/>
                </a:lnTo>
                <a:lnTo>
                  <a:pt x="658368" y="4293"/>
                </a:lnTo>
                <a:lnTo>
                  <a:pt x="682752" y="0"/>
                </a:lnTo>
                <a:lnTo>
                  <a:pt x="707136" y="1843"/>
                </a:lnTo>
                <a:lnTo>
                  <a:pt x="731520" y="9782"/>
                </a:lnTo>
                <a:lnTo>
                  <a:pt x="755904" y="23651"/>
                </a:lnTo>
                <a:lnTo>
                  <a:pt x="780288" y="43156"/>
                </a:lnTo>
                <a:lnTo>
                  <a:pt x="804672" y="67885"/>
                </a:lnTo>
                <a:lnTo>
                  <a:pt x="829056" y="97317"/>
                </a:lnTo>
                <a:lnTo>
                  <a:pt x="853440" y="130829"/>
                </a:lnTo>
                <a:lnTo>
                  <a:pt x="877824" y="167715"/>
                </a:lnTo>
                <a:lnTo>
                  <a:pt x="902208" y="207195"/>
                </a:lnTo>
                <a:lnTo>
                  <a:pt x="926592" y="248435"/>
                </a:lnTo>
                <a:lnTo>
                  <a:pt x="950976" y="290565"/>
                </a:lnTo>
                <a:lnTo>
                  <a:pt x="975360" y="332695"/>
                </a:lnTo>
                <a:lnTo>
                  <a:pt x="999744" y="373935"/>
                </a:lnTo>
                <a:lnTo>
                  <a:pt x="1024128" y="413415"/>
                </a:lnTo>
                <a:lnTo>
                  <a:pt x="1048512" y="450300"/>
                </a:lnTo>
                <a:lnTo>
                  <a:pt x="1072896" y="483813"/>
                </a:lnTo>
                <a:lnTo>
                  <a:pt x="1097280" y="513245"/>
                </a:lnTo>
                <a:lnTo>
                  <a:pt x="1121664" y="537974"/>
                </a:lnTo>
                <a:lnTo>
                  <a:pt x="1146048" y="557479"/>
                </a:lnTo>
                <a:lnTo>
                  <a:pt x="1170432" y="571348"/>
                </a:lnTo>
                <a:lnTo>
                  <a:pt x="1194816" y="579287"/>
                </a:lnTo>
                <a:lnTo>
                  <a:pt x="1219200" y="581253"/>
                </a:lnTo>
                <a:lnTo>
                  <a:pt x="1243584" y="581253"/>
                </a:lnTo>
                <a:lnTo>
                  <a:pt x="1267968" y="581253"/>
                </a:lnTo>
                <a:lnTo>
                  <a:pt x="1292352" y="581253"/>
                </a:lnTo>
                <a:lnTo>
                  <a:pt x="1316736" y="581253"/>
                </a:lnTo>
                <a:lnTo>
                  <a:pt x="1341120" y="581253"/>
                </a:lnTo>
                <a:lnTo>
                  <a:pt x="1365504" y="581253"/>
                </a:lnTo>
                <a:lnTo>
                  <a:pt x="1389888" y="581253"/>
                </a:lnTo>
                <a:lnTo>
                  <a:pt x="1414272" y="581253"/>
                </a:lnTo>
                <a:lnTo>
                  <a:pt x="1438656" y="581253"/>
                </a:lnTo>
                <a:lnTo>
                  <a:pt x="1463040" y="581253"/>
                </a:lnTo>
              </a:path>
            </a:pathLst>
          </a:custGeom>
          <a:ln w="15875">
            <a:solidFill>
              <a:srgbClr val="1B1B1B"/>
            </a:solidFill>
            <a:prstDash val="solid"/>
          </a:ln>
        </p:spPr>
      </p:sp>
      <p:sp>
        <p:nvSpPr>
          <p:cNvPr id="191" name="Text 189"/>
          <p:cNvSpPr txBox="1"/>
          <p:nvPr/>
        </p:nvSpPr>
        <p:spPr>
          <a:xfrm>
            <a:off x="10265054" y="2972532"/>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92" name="Text 190"/>
          <p:cNvSpPr txBox="1"/>
          <p:nvPr/>
        </p:nvSpPr>
        <p:spPr>
          <a:xfrm>
            <a:off x="11552530" y="2972532"/>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93" name="Shape 191"/>
          <p:cNvSpPr/>
          <p:nvPr/>
        </p:nvSpPr>
        <p:spPr>
          <a:xfrm>
            <a:off x="10562417" y="2774019"/>
            <a:ext cx="96561" cy="128245"/>
          </a:xfrm>
          <a:prstGeom prst="rect">
            <a:avLst/>
          </a:prstGeom>
          <a:solidFill>
            <a:srgbClr val="C4262E"/>
          </a:solidFill>
          <a:ln/>
        </p:spPr>
      </p:sp>
      <p:sp>
        <p:nvSpPr>
          <p:cNvPr id="194" name="Shape 192"/>
          <p:cNvSpPr/>
          <p:nvPr/>
        </p:nvSpPr>
        <p:spPr>
          <a:xfrm>
            <a:off x="10745882" y="2435110"/>
            <a:ext cx="62764" cy="256489"/>
          </a:xfrm>
          <a:prstGeom prst="rect">
            <a:avLst/>
          </a:prstGeom>
          <a:solidFill>
            <a:srgbClr val="F0B9BC"/>
          </a:solidFill>
          <a:ln w="6350">
            <a:solidFill>
              <a:srgbClr val="1B1B1B"/>
            </a:solidFill>
            <a:prstDash val="solid"/>
          </a:ln>
        </p:spPr>
      </p:sp>
      <p:sp>
        <p:nvSpPr>
          <p:cNvPr id="195" name="Shape 193"/>
          <p:cNvSpPr/>
          <p:nvPr/>
        </p:nvSpPr>
        <p:spPr>
          <a:xfrm>
            <a:off x="10750725" y="2691599"/>
            <a:ext cx="9144" cy="106622"/>
          </a:xfrm>
          <a:custGeom>
            <a:avLst/>
            <a:gdLst/>
            <a:ahLst/>
            <a:cxnLst/>
            <a:rect l="l" t="t" r="r" b="b"/>
            <a:pathLst>
              <a:path w="9144" h="106622">
                <a:moveTo>
                  <a:pt x="4572" y="0"/>
                </a:moveTo>
                <a:lnTo>
                  <a:pt x="4572" y="106622"/>
                </a:lnTo>
              </a:path>
            </a:pathLst>
          </a:custGeom>
          <a:ln w="9525">
            <a:solidFill>
              <a:srgbClr val="1B1B1B"/>
            </a:solidFill>
            <a:prstDash val="solid"/>
          </a:ln>
        </p:spPr>
      </p:sp>
      <p:sp>
        <p:nvSpPr>
          <p:cNvPr id="196" name="Shape 194"/>
          <p:cNvSpPr/>
          <p:nvPr/>
        </p:nvSpPr>
        <p:spPr>
          <a:xfrm>
            <a:off x="10772693" y="2691599"/>
            <a:ext cx="9144" cy="71290"/>
          </a:xfrm>
          <a:custGeom>
            <a:avLst/>
            <a:gdLst/>
            <a:ahLst/>
            <a:cxnLst/>
            <a:rect l="l" t="t" r="r" b="b"/>
            <a:pathLst>
              <a:path w="9144" h="71290">
                <a:moveTo>
                  <a:pt x="4572" y="0"/>
                </a:moveTo>
                <a:lnTo>
                  <a:pt x="4572" y="71290"/>
                </a:lnTo>
              </a:path>
            </a:pathLst>
          </a:custGeom>
          <a:ln w="9525">
            <a:solidFill>
              <a:srgbClr val="1B1B1B"/>
            </a:solidFill>
            <a:prstDash val="solid"/>
          </a:ln>
        </p:spPr>
      </p:sp>
      <p:sp>
        <p:nvSpPr>
          <p:cNvPr id="197" name="Shape 195"/>
          <p:cNvSpPr/>
          <p:nvPr/>
        </p:nvSpPr>
        <p:spPr>
          <a:xfrm>
            <a:off x="10794660" y="2691599"/>
            <a:ext cx="9144" cy="34411"/>
          </a:xfrm>
          <a:custGeom>
            <a:avLst/>
            <a:gdLst/>
            <a:ahLst/>
            <a:cxnLst/>
            <a:rect l="l" t="t" r="r" b="b"/>
            <a:pathLst>
              <a:path w="9144" h="34411">
                <a:moveTo>
                  <a:pt x="4572" y="0"/>
                </a:moveTo>
                <a:lnTo>
                  <a:pt x="4572" y="34411"/>
                </a:lnTo>
              </a:path>
            </a:pathLst>
          </a:custGeom>
          <a:ln w="9525">
            <a:solidFill>
              <a:srgbClr val="1B1B1B"/>
            </a:solidFill>
            <a:prstDash val="solid"/>
          </a:ln>
        </p:spPr>
      </p:sp>
      <p:sp>
        <p:nvSpPr>
          <p:cNvPr id="198" name="Shape 196"/>
          <p:cNvSpPr/>
          <p:nvPr/>
        </p:nvSpPr>
        <p:spPr>
          <a:xfrm>
            <a:off x="10852099" y="2264599"/>
            <a:ext cx="57936" cy="256489"/>
          </a:xfrm>
          <a:prstGeom prst="rect">
            <a:avLst/>
          </a:prstGeom>
          <a:solidFill>
            <a:srgbClr val="1B1B1B"/>
          </a:solidFill>
          <a:ln/>
        </p:spPr>
      </p:sp>
      <p:sp>
        <p:nvSpPr>
          <p:cNvPr id="199" name="Shape 197"/>
          <p:cNvSpPr/>
          <p:nvPr/>
        </p:nvSpPr>
        <p:spPr>
          <a:xfrm>
            <a:off x="10856218" y="2521088"/>
            <a:ext cx="9144" cy="98788"/>
          </a:xfrm>
          <a:custGeom>
            <a:avLst/>
            <a:gdLst/>
            <a:ahLst/>
            <a:cxnLst/>
            <a:rect l="l" t="t" r="r" b="b"/>
            <a:pathLst>
              <a:path w="9144" h="98788">
                <a:moveTo>
                  <a:pt x="4572" y="0"/>
                </a:moveTo>
                <a:lnTo>
                  <a:pt x="4572" y="98788"/>
                </a:lnTo>
              </a:path>
            </a:pathLst>
          </a:custGeom>
          <a:ln w="9525">
            <a:solidFill>
              <a:srgbClr val="1B1B1B"/>
            </a:solidFill>
            <a:prstDash val="solid"/>
          </a:ln>
        </p:spPr>
      </p:sp>
      <p:sp>
        <p:nvSpPr>
          <p:cNvPr id="200" name="Shape 198"/>
          <p:cNvSpPr/>
          <p:nvPr/>
        </p:nvSpPr>
        <p:spPr>
          <a:xfrm>
            <a:off x="10876495" y="2521088"/>
            <a:ext cx="9144" cy="64684"/>
          </a:xfrm>
          <a:custGeom>
            <a:avLst/>
            <a:gdLst/>
            <a:ahLst/>
            <a:cxnLst/>
            <a:rect l="l" t="t" r="r" b="b"/>
            <a:pathLst>
              <a:path w="9144" h="64684">
                <a:moveTo>
                  <a:pt x="4572" y="0"/>
                </a:moveTo>
                <a:lnTo>
                  <a:pt x="4572" y="64684"/>
                </a:lnTo>
              </a:path>
            </a:pathLst>
          </a:custGeom>
          <a:ln w="9525">
            <a:solidFill>
              <a:srgbClr val="1B1B1B"/>
            </a:solidFill>
            <a:prstDash val="solid"/>
          </a:ln>
        </p:spPr>
      </p:sp>
      <p:sp>
        <p:nvSpPr>
          <p:cNvPr id="201" name="Shape 199"/>
          <p:cNvSpPr/>
          <p:nvPr/>
        </p:nvSpPr>
        <p:spPr>
          <a:xfrm>
            <a:off x="10896773" y="2521088"/>
            <a:ext cx="9144" cy="31851"/>
          </a:xfrm>
          <a:custGeom>
            <a:avLst/>
            <a:gdLst/>
            <a:ahLst/>
            <a:cxnLst/>
            <a:rect l="l" t="t" r="r" b="b"/>
            <a:pathLst>
              <a:path w="9144" h="31851">
                <a:moveTo>
                  <a:pt x="4572" y="0"/>
                </a:moveTo>
                <a:lnTo>
                  <a:pt x="4572" y="31851"/>
                </a:lnTo>
              </a:path>
            </a:pathLst>
          </a:custGeom>
          <a:ln w="9525">
            <a:solidFill>
              <a:srgbClr val="1B1B1B"/>
            </a:solidFill>
            <a:prstDash val="solid"/>
          </a:ln>
        </p:spPr>
      </p:sp>
      <p:sp>
        <p:nvSpPr>
          <p:cNvPr id="202" name="Shape 200"/>
          <p:cNvSpPr/>
          <p:nvPr/>
        </p:nvSpPr>
        <p:spPr>
          <a:xfrm>
            <a:off x="10948660" y="2149674"/>
            <a:ext cx="53108" cy="256489"/>
          </a:xfrm>
          <a:prstGeom prst="rect">
            <a:avLst/>
          </a:prstGeom>
          <a:solidFill>
            <a:srgbClr val="9A9A9A"/>
          </a:solidFill>
          <a:ln/>
        </p:spPr>
      </p:sp>
      <p:sp>
        <p:nvSpPr>
          <p:cNvPr id="203" name="Shape 201"/>
          <p:cNvSpPr/>
          <p:nvPr/>
        </p:nvSpPr>
        <p:spPr>
          <a:xfrm>
            <a:off x="10952054" y="2406163"/>
            <a:ext cx="9144" cy="67464"/>
          </a:xfrm>
          <a:custGeom>
            <a:avLst/>
            <a:gdLst/>
            <a:ahLst/>
            <a:cxnLst/>
            <a:rect l="l" t="t" r="r" b="b"/>
            <a:pathLst>
              <a:path w="9144" h="67464">
                <a:moveTo>
                  <a:pt x="4572" y="0"/>
                </a:moveTo>
                <a:lnTo>
                  <a:pt x="4572" y="67464"/>
                </a:lnTo>
              </a:path>
            </a:pathLst>
          </a:custGeom>
          <a:ln w="9525">
            <a:solidFill>
              <a:srgbClr val="1B1B1B"/>
            </a:solidFill>
            <a:prstDash val="solid"/>
          </a:ln>
        </p:spPr>
      </p:sp>
      <p:sp>
        <p:nvSpPr>
          <p:cNvPr id="204" name="Shape 202"/>
          <p:cNvSpPr/>
          <p:nvPr/>
        </p:nvSpPr>
        <p:spPr>
          <a:xfrm>
            <a:off x="10970642" y="2406163"/>
            <a:ext cx="9144" cy="45249"/>
          </a:xfrm>
          <a:custGeom>
            <a:avLst/>
            <a:gdLst/>
            <a:ahLst/>
            <a:cxnLst/>
            <a:rect l="l" t="t" r="r" b="b"/>
            <a:pathLst>
              <a:path w="9144" h="45249">
                <a:moveTo>
                  <a:pt x="4572" y="0"/>
                </a:moveTo>
                <a:lnTo>
                  <a:pt x="4572" y="45249"/>
                </a:lnTo>
              </a:path>
            </a:pathLst>
          </a:custGeom>
          <a:ln w="9525">
            <a:solidFill>
              <a:srgbClr val="1B1B1B"/>
            </a:solidFill>
            <a:prstDash val="solid"/>
          </a:ln>
        </p:spPr>
      </p:sp>
      <p:sp>
        <p:nvSpPr>
          <p:cNvPr id="205" name="Shape 203"/>
          <p:cNvSpPr/>
          <p:nvPr/>
        </p:nvSpPr>
        <p:spPr>
          <a:xfrm>
            <a:off x="10989230" y="2406163"/>
            <a:ext cx="9144" cy="25752"/>
          </a:xfrm>
          <a:custGeom>
            <a:avLst/>
            <a:gdLst/>
            <a:ahLst/>
            <a:cxnLst/>
            <a:rect l="l" t="t" r="r" b="b"/>
            <a:pathLst>
              <a:path w="9144" h="25752">
                <a:moveTo>
                  <a:pt x="4572" y="0"/>
                </a:moveTo>
                <a:lnTo>
                  <a:pt x="4572" y="25752"/>
                </a:lnTo>
              </a:path>
            </a:pathLst>
          </a:custGeom>
          <a:ln w="9525">
            <a:solidFill>
              <a:srgbClr val="1B1B1B"/>
            </a:solidFill>
            <a:prstDash val="solid"/>
          </a:ln>
        </p:spPr>
      </p:sp>
      <p:sp>
        <p:nvSpPr>
          <p:cNvPr id="206" name="Shape 204"/>
          <p:cNvSpPr/>
          <p:nvPr/>
        </p:nvSpPr>
        <p:spPr>
          <a:xfrm>
            <a:off x="11625462" y="2798567"/>
            <a:ext cx="96561" cy="128245"/>
          </a:xfrm>
          <a:prstGeom prst="rect">
            <a:avLst/>
          </a:prstGeom>
          <a:solidFill>
            <a:srgbClr val="9A9A9A"/>
          </a:solidFill>
          <a:ln/>
        </p:spPr>
      </p:sp>
      <p:sp>
        <p:nvSpPr>
          <p:cNvPr id="207" name="Shape 205"/>
          <p:cNvSpPr/>
          <p:nvPr/>
        </p:nvSpPr>
        <p:spPr>
          <a:xfrm>
            <a:off x="11035564" y="2359152"/>
            <a:ext cx="115873" cy="9144"/>
          </a:xfrm>
          <a:custGeom>
            <a:avLst/>
            <a:gdLst/>
            <a:ahLst/>
            <a:cxnLst/>
            <a:rect l="l" t="t" r="r" b="b"/>
            <a:pathLst>
              <a:path w="115873" h="9144">
                <a:moveTo>
                  <a:pt x="0" y="4572"/>
                </a:moveTo>
                <a:lnTo>
                  <a:pt x="115873" y="4572"/>
                </a:lnTo>
              </a:path>
            </a:pathLst>
          </a:custGeom>
          <a:ln w="38100">
            <a:solidFill>
              <a:srgbClr val="C4262E"/>
            </a:solidFill>
            <a:prstDash val="solid"/>
          </a:ln>
        </p:spPr>
      </p:sp>
      <p:sp>
        <p:nvSpPr>
          <p:cNvPr id="208" name="Shape 206"/>
          <p:cNvSpPr/>
          <p:nvPr/>
        </p:nvSpPr>
        <p:spPr>
          <a:xfrm>
            <a:off x="11045220" y="2210722"/>
            <a:ext cx="96561" cy="9144"/>
          </a:xfrm>
          <a:custGeom>
            <a:avLst/>
            <a:gdLst/>
            <a:ahLst/>
            <a:cxnLst/>
            <a:rect l="l" t="t" r="r" b="b"/>
            <a:pathLst>
              <a:path w="96561" h="9144">
                <a:moveTo>
                  <a:pt x="0" y="4572"/>
                </a:moveTo>
                <a:lnTo>
                  <a:pt x="96561" y="4572"/>
                </a:lnTo>
              </a:path>
            </a:pathLst>
          </a:custGeom>
          <a:ln w="19050">
            <a:solidFill>
              <a:srgbClr val="1B1B1B"/>
            </a:solidFill>
            <a:prstDash val="solid"/>
          </a:ln>
        </p:spPr>
      </p:sp>
      <p:sp>
        <p:nvSpPr>
          <p:cNvPr id="209" name="Shape 207"/>
          <p:cNvSpPr/>
          <p:nvPr/>
        </p:nvSpPr>
        <p:spPr>
          <a:xfrm>
            <a:off x="11050305" y="2215294"/>
            <a:ext cx="9144" cy="148430"/>
          </a:xfrm>
          <a:custGeom>
            <a:avLst/>
            <a:gdLst/>
            <a:ahLst/>
            <a:cxnLst/>
            <a:rect l="l" t="t" r="r" b="b"/>
            <a:pathLst>
              <a:path w="9144" h="148430">
                <a:moveTo>
                  <a:pt x="4572" y="0"/>
                </a:moveTo>
                <a:lnTo>
                  <a:pt x="4572" y="148430"/>
                </a:lnTo>
              </a:path>
            </a:pathLst>
          </a:custGeom>
          <a:ln w="9525">
            <a:solidFill>
              <a:srgbClr val="1B1B1B"/>
            </a:solidFill>
            <a:prstDash val="solid"/>
          </a:ln>
        </p:spPr>
      </p:sp>
      <p:sp>
        <p:nvSpPr>
          <p:cNvPr id="210" name="Shape 208"/>
          <p:cNvSpPr/>
          <p:nvPr/>
        </p:nvSpPr>
        <p:spPr>
          <a:xfrm>
            <a:off x="11127553" y="2215294"/>
            <a:ext cx="9144" cy="148430"/>
          </a:xfrm>
          <a:custGeom>
            <a:avLst/>
            <a:gdLst/>
            <a:ahLst/>
            <a:cxnLst/>
            <a:rect l="l" t="t" r="r" b="b"/>
            <a:pathLst>
              <a:path w="9144" h="148430">
                <a:moveTo>
                  <a:pt x="4572" y="0"/>
                </a:moveTo>
                <a:lnTo>
                  <a:pt x="4572" y="148430"/>
                </a:lnTo>
              </a:path>
            </a:pathLst>
          </a:custGeom>
          <a:ln w="9525">
            <a:solidFill>
              <a:srgbClr val="1B1B1B"/>
            </a:solidFill>
            <a:prstDash val="solid"/>
          </a:ln>
        </p:spPr>
      </p:sp>
      <p:sp>
        <p:nvSpPr>
          <p:cNvPr id="211" name="Shape 209"/>
          <p:cNvSpPr/>
          <p:nvPr/>
        </p:nvSpPr>
        <p:spPr>
          <a:xfrm>
            <a:off x="10552761" y="2354580"/>
            <a:ext cx="540740" cy="581376"/>
          </a:xfrm>
          <a:custGeom>
            <a:avLst/>
            <a:gdLst/>
            <a:ahLst/>
            <a:cxnLst/>
            <a:rect l="l" t="t" r="r" b="b"/>
            <a:pathLst>
              <a:path w="540740" h="581376">
                <a:moveTo>
                  <a:pt x="0" y="581376"/>
                </a:moveTo>
                <a:lnTo>
                  <a:pt x="22531" y="581003"/>
                </a:lnTo>
                <a:lnTo>
                  <a:pt x="45062" y="576415"/>
                </a:lnTo>
                <a:lnTo>
                  <a:pt x="67592" y="566674"/>
                </a:lnTo>
                <a:lnTo>
                  <a:pt x="90123" y="551956"/>
                </a:lnTo>
                <a:lnTo>
                  <a:pt x="112654" y="532527"/>
                </a:lnTo>
                <a:lnTo>
                  <a:pt x="135185" y="508736"/>
                </a:lnTo>
                <a:lnTo>
                  <a:pt x="157716" y="481013"/>
                </a:lnTo>
                <a:lnTo>
                  <a:pt x="180247" y="449858"/>
                </a:lnTo>
                <a:lnTo>
                  <a:pt x="202777" y="415832"/>
                </a:lnTo>
                <a:lnTo>
                  <a:pt x="225308" y="379550"/>
                </a:lnTo>
                <a:lnTo>
                  <a:pt x="247839" y="341665"/>
                </a:lnTo>
                <a:lnTo>
                  <a:pt x="270370" y="302860"/>
                </a:lnTo>
                <a:lnTo>
                  <a:pt x="292901" y="263837"/>
                </a:lnTo>
                <a:lnTo>
                  <a:pt x="315431" y="225297"/>
                </a:lnTo>
                <a:lnTo>
                  <a:pt x="337962" y="187937"/>
                </a:lnTo>
                <a:lnTo>
                  <a:pt x="360493" y="152430"/>
                </a:lnTo>
                <a:lnTo>
                  <a:pt x="383024" y="119416"/>
                </a:lnTo>
                <a:lnTo>
                  <a:pt x="405555" y="89490"/>
                </a:lnTo>
                <a:lnTo>
                  <a:pt x="428086" y="63193"/>
                </a:lnTo>
                <a:lnTo>
                  <a:pt x="450616" y="40999"/>
                </a:lnTo>
                <a:lnTo>
                  <a:pt x="473147" y="23307"/>
                </a:lnTo>
                <a:lnTo>
                  <a:pt x="495678" y="10437"/>
                </a:lnTo>
                <a:lnTo>
                  <a:pt x="518209" y="2621"/>
                </a:lnTo>
                <a:lnTo>
                  <a:pt x="540740" y="0"/>
                </a:lnTo>
              </a:path>
            </a:pathLst>
          </a:custGeom>
          <a:ln w="22225">
            <a:solidFill>
              <a:srgbClr val="C4262E"/>
            </a:solidFill>
            <a:prstDash val="solid"/>
            <a:tailEnd type="triangle"/>
          </a:ln>
        </p:spPr>
      </p:sp>
      <p:sp>
        <p:nvSpPr>
          <p:cNvPr id="212" name="Text 210"/>
          <p:cNvSpPr txBox="1"/>
          <p:nvPr/>
        </p:nvSpPr>
        <p:spPr>
          <a:xfrm>
            <a:off x="365760" y="3730752"/>
            <a:ext cx="1572768" cy="274320"/>
          </a:xfrm>
          <a:prstGeom prst="rect">
            <a:avLst/>
          </a:prstGeom>
          <a:noFill/>
          <a:ln/>
        </p:spPr>
        <p:txBody>
          <a:bodyPr wrap="square" lIns="0" tIns="0" rIns="0" bIns="0" rtlCol="0" anchor="t"/>
          <a:lstStyle/>
          <a:p>
            <a:pPr indent="0" marL="0">
              <a:buNone/>
            </a:pPr>
            <a:r>
              <a:rPr lang="en-US" sz="650" i="1" dirty="0">
                <a:solidFill>
                  <a:srgbClr val="C4262E"/>
                </a:solidFill>
                <a:latin typeface="Arial" pitchFamily="34" charset="0"/>
                <a:ea typeface="Arial" pitchFamily="34" charset="-122"/>
                <a:cs typeface="Arial" pitchFamily="34" charset="-120"/>
              </a:rPr>
              <a:t>driver: unaltered topography</a:t>
            </a:r>
            <a:endParaRPr lang="en-US" sz="650" dirty="0"/>
          </a:p>
        </p:txBody>
      </p:sp>
      <p:sp>
        <p:nvSpPr>
          <p:cNvPr id="213" name="Text 211"/>
          <p:cNvSpPr txBox="1"/>
          <p:nvPr/>
        </p:nvSpPr>
        <p:spPr>
          <a:xfrm>
            <a:off x="2029968" y="3730752"/>
            <a:ext cx="1572768" cy="274320"/>
          </a:xfrm>
          <a:prstGeom prst="rect">
            <a:avLst/>
          </a:prstGeom>
          <a:noFill/>
          <a:ln/>
        </p:spPr>
        <p:txBody>
          <a:bodyPr wrap="square" lIns="0" tIns="0" rIns="0" bIns="0" rtlCol="0" anchor="t"/>
          <a:lstStyle/>
          <a:p>
            <a:pPr indent="0" marL="0">
              <a:buNone/>
            </a:pPr>
            <a:r>
              <a:rPr lang="en-US" sz="650" i="1" dirty="0">
                <a:solidFill>
                  <a:srgbClr val="C4262E"/>
                </a:solidFill>
                <a:latin typeface="Arial" pitchFamily="34" charset="0"/>
                <a:ea typeface="Arial" pitchFamily="34" charset="-122"/>
                <a:cs typeface="Arial" pitchFamily="34" charset="-120"/>
              </a:rPr>
              <a:t>drivers: protest edge · links to city</a:t>
            </a:r>
            <a:endParaRPr lang="en-US" sz="650" dirty="0"/>
          </a:p>
        </p:txBody>
      </p:sp>
      <p:sp>
        <p:nvSpPr>
          <p:cNvPr id="214" name="Text 212"/>
          <p:cNvSpPr txBox="1"/>
          <p:nvPr/>
        </p:nvSpPr>
        <p:spPr>
          <a:xfrm>
            <a:off x="3694176" y="3730752"/>
            <a:ext cx="1572768" cy="274320"/>
          </a:xfrm>
          <a:prstGeom prst="rect">
            <a:avLst/>
          </a:prstGeom>
          <a:noFill/>
          <a:ln/>
        </p:spPr>
        <p:txBody>
          <a:bodyPr wrap="square" lIns="0" tIns="0" rIns="0" bIns="0" rtlCol="0" anchor="t"/>
          <a:lstStyle/>
          <a:p>
            <a:pPr indent="0" marL="0">
              <a:buNone/>
            </a:pPr>
            <a:r>
              <a:rPr lang="en-US" sz="650" i="1" dirty="0">
                <a:solidFill>
                  <a:srgbClr val="C4262E"/>
                </a:solidFill>
                <a:latin typeface="Arial" pitchFamily="34" charset="0"/>
                <a:ea typeface="Arial" pitchFamily="34" charset="-122"/>
                <a:cs typeface="Arial" pitchFamily="34" charset="-120"/>
              </a:rPr>
              <a:t>drivers: access · meeting across users</a:t>
            </a:r>
            <a:endParaRPr lang="en-US" sz="650" dirty="0"/>
          </a:p>
        </p:txBody>
      </p:sp>
      <p:sp>
        <p:nvSpPr>
          <p:cNvPr id="215" name="Text 213"/>
          <p:cNvSpPr txBox="1"/>
          <p:nvPr/>
        </p:nvSpPr>
        <p:spPr>
          <a:xfrm>
            <a:off x="5358384" y="3730752"/>
            <a:ext cx="1572768" cy="274320"/>
          </a:xfrm>
          <a:prstGeom prst="rect">
            <a:avLst/>
          </a:prstGeom>
          <a:noFill/>
          <a:ln/>
        </p:spPr>
        <p:txBody>
          <a:bodyPr wrap="square" lIns="0" tIns="0" rIns="0" bIns="0" rtlCol="0" anchor="t"/>
          <a:lstStyle/>
          <a:p>
            <a:pPr indent="0" marL="0">
              <a:buNone/>
            </a:pPr>
            <a:r>
              <a:rPr lang="en-US" sz="650" i="1" dirty="0">
                <a:solidFill>
                  <a:srgbClr val="C4262E"/>
                </a:solidFill>
                <a:latin typeface="Arial" pitchFamily="34" charset="0"/>
                <a:ea typeface="Arial" pitchFamily="34" charset="-122"/>
                <a:cs typeface="Arial" pitchFamily="34" charset="-120"/>
              </a:rPr>
              <a:t>drivers: topography · trees</a:t>
            </a:r>
            <a:endParaRPr lang="en-US" sz="650" dirty="0"/>
          </a:p>
        </p:txBody>
      </p:sp>
      <p:sp>
        <p:nvSpPr>
          <p:cNvPr id="216" name="Text 214"/>
          <p:cNvSpPr txBox="1"/>
          <p:nvPr/>
        </p:nvSpPr>
        <p:spPr>
          <a:xfrm>
            <a:off x="7022592" y="3730752"/>
            <a:ext cx="1572768" cy="274320"/>
          </a:xfrm>
          <a:prstGeom prst="rect">
            <a:avLst/>
          </a:prstGeom>
          <a:noFill/>
          <a:ln/>
        </p:spPr>
        <p:txBody>
          <a:bodyPr wrap="square" lIns="0" tIns="0" rIns="0" bIns="0" rtlCol="0" anchor="t"/>
          <a:lstStyle/>
          <a:p>
            <a:pPr indent="0" marL="0">
              <a:buNone/>
            </a:pPr>
            <a:r>
              <a:rPr lang="en-US" sz="650" i="1" dirty="0">
                <a:solidFill>
                  <a:srgbClr val="C4262E"/>
                </a:solidFill>
                <a:latin typeface="Arial" pitchFamily="34" charset="0"/>
                <a:ea typeface="Arial" pitchFamily="34" charset="-122"/>
                <a:cs typeface="Arial" pitchFamily="34" charset="-120"/>
              </a:rPr>
              <a:t>drivers: degrees of access · archive</a:t>
            </a:r>
            <a:endParaRPr lang="en-US" sz="650" dirty="0"/>
          </a:p>
        </p:txBody>
      </p:sp>
      <p:sp>
        <p:nvSpPr>
          <p:cNvPr id="217" name="Text 215"/>
          <p:cNvSpPr txBox="1"/>
          <p:nvPr/>
        </p:nvSpPr>
        <p:spPr>
          <a:xfrm>
            <a:off x="8686800" y="3730752"/>
            <a:ext cx="1572768" cy="274320"/>
          </a:xfrm>
          <a:prstGeom prst="rect">
            <a:avLst/>
          </a:prstGeom>
          <a:noFill/>
          <a:ln/>
        </p:spPr>
        <p:txBody>
          <a:bodyPr wrap="square" lIns="0" tIns="0" rIns="0" bIns="0" rtlCol="0" anchor="t"/>
          <a:lstStyle/>
          <a:p>
            <a:pPr indent="0" marL="0">
              <a:buNone/>
            </a:pPr>
            <a:r>
              <a:rPr lang="en-US" sz="650" i="1" dirty="0">
                <a:solidFill>
                  <a:srgbClr val="C4262E"/>
                </a:solidFill>
                <a:latin typeface="Arial" pitchFamily="34" charset="0"/>
                <a:ea typeface="Arial" pitchFamily="34" charset="-122"/>
                <a:cs typeface="Arial" pitchFamily="34" charset="-120"/>
              </a:rPr>
              <a:t>drivers: visible / hidden · meeting</a:t>
            </a:r>
            <a:endParaRPr lang="en-US" sz="650" dirty="0"/>
          </a:p>
        </p:txBody>
      </p:sp>
      <p:sp>
        <p:nvSpPr>
          <p:cNvPr id="218" name="Text 216"/>
          <p:cNvSpPr txBox="1"/>
          <p:nvPr/>
        </p:nvSpPr>
        <p:spPr>
          <a:xfrm>
            <a:off x="10351008" y="3730752"/>
            <a:ext cx="1572768" cy="274320"/>
          </a:xfrm>
          <a:prstGeom prst="rect">
            <a:avLst/>
          </a:prstGeom>
          <a:noFill/>
          <a:ln/>
        </p:spPr>
        <p:txBody>
          <a:bodyPr wrap="square" lIns="0" tIns="0" rIns="0" bIns="0" rtlCol="0" anchor="t"/>
          <a:lstStyle/>
          <a:p>
            <a:pPr indent="0" marL="0">
              <a:buNone/>
            </a:pPr>
            <a:r>
              <a:rPr lang="en-US" sz="650" i="1" dirty="0">
                <a:solidFill>
                  <a:srgbClr val="C4262E"/>
                </a:solidFill>
                <a:latin typeface="Arial" pitchFamily="34" charset="0"/>
                <a:ea typeface="Arial" pitchFamily="34" charset="-122"/>
                <a:cs typeface="Arial" pitchFamily="34" charset="-120"/>
              </a:rPr>
              <a:t>drivers: public landmark · city + state</a:t>
            </a:r>
            <a:endParaRPr lang="en-US" sz="650" dirty="0"/>
          </a:p>
        </p:txBody>
      </p:sp>
      <p:sp>
        <p:nvSpPr>
          <p:cNvPr id="219" name="Shape 217"/>
          <p:cNvSpPr/>
          <p:nvPr/>
        </p:nvSpPr>
        <p:spPr>
          <a:xfrm>
            <a:off x="365760" y="4114800"/>
            <a:ext cx="5577840" cy="2377440"/>
          </a:xfrm>
          <a:prstGeom prst="rect">
            <a:avLst/>
          </a:prstGeom>
          <a:solidFill>
            <a:srgbClr val="FFFFFF"/>
          </a:solidFill>
          <a:ln w="6350">
            <a:solidFill>
              <a:srgbClr val="D9D9D9"/>
            </a:solidFill>
            <a:prstDash val="solid"/>
          </a:ln>
        </p:spPr>
      </p:sp>
      <p:sp>
        <p:nvSpPr>
          <p:cNvPr id="220" name="Text 218"/>
          <p:cNvSpPr txBox="1"/>
          <p:nvPr/>
        </p:nvSpPr>
        <p:spPr>
          <a:xfrm>
            <a:off x="438912" y="4169664"/>
            <a:ext cx="543153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  </a:t>
            </a:r>
            <a:pPr indent="0" marL="0">
              <a:buNone/>
            </a:pPr>
            <a:r>
              <a:rPr lang="en-US" sz="750" b="1" spc="50" kern="0" dirty="0">
                <a:solidFill>
                  <a:srgbClr val="1B1B1B"/>
                </a:solidFill>
                <a:latin typeface="Arial" pitchFamily="34" charset="0"/>
                <a:ea typeface="Arial" pitchFamily="34" charset="-122"/>
                <a:cs typeface="Arial" pitchFamily="34" charset="-120"/>
              </a:rPr>
              <a:t>RESULTING SITE PLAN (diagrammatic)</a:t>
            </a:r>
            <a:endParaRPr lang="en-US" sz="750" dirty="0"/>
          </a:p>
        </p:txBody>
      </p:sp>
      <p:sp>
        <p:nvSpPr>
          <p:cNvPr id="221" name="Shape 219"/>
          <p:cNvSpPr/>
          <p:nvPr/>
        </p:nvSpPr>
        <p:spPr>
          <a:xfrm>
            <a:off x="1747740" y="4526848"/>
            <a:ext cx="2813880" cy="1763657"/>
          </a:xfrm>
          <a:custGeom>
            <a:avLst/>
            <a:gdLst/>
            <a:ahLst/>
            <a:cxnLst/>
            <a:rect l="l" t="t" r="r" b="b"/>
            <a:pathLst>
              <a:path w="2813880" h="1763657">
                <a:moveTo>
                  <a:pt x="2785308" y="1495517"/>
                </a:moveTo>
                <a:lnTo>
                  <a:pt x="2748249" y="1558432"/>
                </a:lnTo>
                <a:lnTo>
                  <a:pt x="2696494" y="1613933"/>
                </a:lnTo>
                <a:lnTo>
                  <a:pt x="2630611" y="1661413"/>
                </a:lnTo>
                <a:lnTo>
                  <a:pt x="2551321" y="1700352"/>
                </a:lnTo>
                <a:lnTo>
                  <a:pt x="2459493" y="1730323"/>
                </a:lnTo>
                <a:lnTo>
                  <a:pt x="2356133" y="1750998"/>
                </a:lnTo>
                <a:lnTo>
                  <a:pt x="2242373" y="1762150"/>
                </a:lnTo>
                <a:lnTo>
                  <a:pt x="2119461" y="1763657"/>
                </a:lnTo>
                <a:lnTo>
                  <a:pt x="1988741" y="1755502"/>
                </a:lnTo>
                <a:lnTo>
                  <a:pt x="1851648" y="1737775"/>
                </a:lnTo>
                <a:lnTo>
                  <a:pt x="1709682" y="1710671"/>
                </a:lnTo>
                <a:lnTo>
                  <a:pt x="1564399" y="1674485"/>
                </a:lnTo>
                <a:lnTo>
                  <a:pt x="1417391" y="1629615"/>
                </a:lnTo>
                <a:lnTo>
                  <a:pt x="1270268" y="1576552"/>
                </a:lnTo>
                <a:lnTo>
                  <a:pt x="1124643" y="1515878"/>
                </a:lnTo>
                <a:lnTo>
                  <a:pt x="982111" y="1448256"/>
                </a:lnTo>
                <a:lnTo>
                  <a:pt x="844233" y="1374429"/>
                </a:lnTo>
                <a:lnTo>
                  <a:pt x="712521" y="1295205"/>
                </a:lnTo>
                <a:lnTo>
                  <a:pt x="588416" y="1211451"/>
                </a:lnTo>
                <a:lnTo>
                  <a:pt x="473280" y="1124087"/>
                </a:lnTo>
                <a:lnTo>
                  <a:pt x="368373" y="1034068"/>
                </a:lnTo>
                <a:lnTo>
                  <a:pt x="274844" y="942381"/>
                </a:lnTo>
                <a:lnTo>
                  <a:pt x="193720" y="850030"/>
                </a:lnTo>
                <a:lnTo>
                  <a:pt x="125887" y="758028"/>
                </a:lnTo>
                <a:lnTo>
                  <a:pt x="72090" y="667383"/>
                </a:lnTo>
                <a:lnTo>
                  <a:pt x="32918" y="579087"/>
                </a:lnTo>
                <a:lnTo>
                  <a:pt x="8800" y="494108"/>
                </a:lnTo>
                <a:lnTo>
                  <a:pt x="0" y="413376"/>
                </a:lnTo>
                <a:lnTo>
                  <a:pt x="6615" y="337778"/>
                </a:lnTo>
                <a:lnTo>
                  <a:pt x="28572" y="268139"/>
                </a:lnTo>
                <a:lnTo>
                  <a:pt x="65631" y="205225"/>
                </a:lnTo>
                <a:lnTo>
                  <a:pt x="117386" y="149724"/>
                </a:lnTo>
                <a:lnTo>
                  <a:pt x="183269" y="102244"/>
                </a:lnTo>
                <a:lnTo>
                  <a:pt x="262559" y="63305"/>
                </a:lnTo>
                <a:lnTo>
                  <a:pt x="354387" y="33334"/>
                </a:lnTo>
                <a:lnTo>
                  <a:pt x="457747" y="12659"/>
                </a:lnTo>
                <a:lnTo>
                  <a:pt x="571507" y="1507"/>
                </a:lnTo>
                <a:lnTo>
                  <a:pt x="694419" y="0"/>
                </a:lnTo>
                <a:lnTo>
                  <a:pt x="825139" y="8155"/>
                </a:lnTo>
                <a:lnTo>
                  <a:pt x="962232" y="25881"/>
                </a:lnTo>
                <a:lnTo>
                  <a:pt x="1104198" y="52986"/>
                </a:lnTo>
                <a:lnTo>
                  <a:pt x="1249481" y="89171"/>
                </a:lnTo>
                <a:lnTo>
                  <a:pt x="1396489" y="134042"/>
                </a:lnTo>
                <a:lnTo>
                  <a:pt x="1543612" y="187105"/>
                </a:lnTo>
                <a:lnTo>
                  <a:pt x="1689237" y="247779"/>
                </a:lnTo>
                <a:lnTo>
                  <a:pt x="1831769" y="315401"/>
                </a:lnTo>
                <a:lnTo>
                  <a:pt x="1969647" y="389228"/>
                </a:lnTo>
                <a:lnTo>
                  <a:pt x="2101359" y="468452"/>
                </a:lnTo>
                <a:lnTo>
                  <a:pt x="2225464" y="552205"/>
                </a:lnTo>
                <a:lnTo>
                  <a:pt x="2340600" y="639570"/>
                </a:lnTo>
                <a:lnTo>
                  <a:pt x="2445507" y="729589"/>
                </a:lnTo>
                <a:lnTo>
                  <a:pt x="2539035" y="821276"/>
                </a:lnTo>
                <a:lnTo>
                  <a:pt x="2620160" y="913626"/>
                </a:lnTo>
                <a:lnTo>
                  <a:pt x="2687993" y="1005628"/>
                </a:lnTo>
                <a:lnTo>
                  <a:pt x="2741790" y="1096274"/>
                </a:lnTo>
                <a:lnTo>
                  <a:pt x="2780962" y="1184570"/>
                </a:lnTo>
                <a:lnTo>
                  <a:pt x="2805080" y="1269549"/>
                </a:lnTo>
                <a:lnTo>
                  <a:pt x="2813880" y="1350280"/>
                </a:lnTo>
                <a:lnTo>
                  <a:pt x="2807265" y="1425879"/>
                </a:lnTo>
                <a:close/>
              </a:path>
            </a:pathLst>
          </a:custGeom>
          <a:solidFill>
            <a:srgbClr val="E4E4E4"/>
          </a:solidFill>
          <a:ln w="12700"/>
        </p:spPr>
      </p:sp>
      <p:sp>
        <p:nvSpPr>
          <p:cNvPr id="222" name="Shape 220"/>
          <p:cNvSpPr/>
          <p:nvPr/>
        </p:nvSpPr>
        <p:spPr>
          <a:xfrm>
            <a:off x="1456272" y="4749267"/>
            <a:ext cx="320040" cy="45720"/>
          </a:xfrm>
          <a:custGeom>
            <a:avLst/>
            <a:gdLst/>
            <a:ahLst/>
            <a:cxnLst/>
            <a:rect l="l" t="t" r="r" b="b"/>
            <a:pathLst>
              <a:path w="320040" h="45720">
                <a:moveTo>
                  <a:pt x="320040" y="45720"/>
                </a:moveTo>
                <a:lnTo>
                  <a:pt x="0" y="0"/>
                </a:lnTo>
              </a:path>
            </a:pathLst>
          </a:custGeom>
          <a:ln w="76200">
            <a:solidFill>
              <a:srgbClr val="E4E4E4"/>
            </a:solidFill>
            <a:prstDash val="solid"/>
          </a:ln>
        </p:spPr>
      </p:sp>
      <p:sp>
        <p:nvSpPr>
          <p:cNvPr id="223" name="Shape 221"/>
          <p:cNvSpPr/>
          <p:nvPr/>
        </p:nvSpPr>
        <p:spPr>
          <a:xfrm>
            <a:off x="4533048" y="6022365"/>
            <a:ext cx="320040" cy="45720"/>
          </a:xfrm>
          <a:custGeom>
            <a:avLst/>
            <a:gdLst/>
            <a:ahLst/>
            <a:cxnLst/>
            <a:rect l="l" t="t" r="r" b="b"/>
            <a:pathLst>
              <a:path w="320040" h="45720">
                <a:moveTo>
                  <a:pt x="0" y="0"/>
                </a:moveTo>
                <a:lnTo>
                  <a:pt x="320040" y="45720"/>
                </a:lnTo>
              </a:path>
            </a:pathLst>
          </a:custGeom>
          <a:ln w="76200">
            <a:solidFill>
              <a:srgbClr val="E4E4E4"/>
            </a:solidFill>
            <a:prstDash val="solid"/>
          </a:ln>
        </p:spPr>
      </p:sp>
      <p:sp>
        <p:nvSpPr>
          <p:cNvPr id="224" name="Shape 222"/>
          <p:cNvSpPr/>
          <p:nvPr/>
        </p:nvSpPr>
        <p:spPr>
          <a:xfrm>
            <a:off x="1982230" y="4673819"/>
            <a:ext cx="2344900" cy="1469714"/>
          </a:xfrm>
          <a:custGeom>
            <a:avLst/>
            <a:gdLst/>
            <a:ahLst/>
            <a:cxnLst/>
            <a:rect l="l" t="t" r="r" b="b"/>
            <a:pathLst>
              <a:path w="2344900" h="1469714">
                <a:moveTo>
                  <a:pt x="2321090" y="1246264"/>
                </a:moveTo>
                <a:lnTo>
                  <a:pt x="2290207" y="1298693"/>
                </a:lnTo>
                <a:lnTo>
                  <a:pt x="2247079" y="1344944"/>
                </a:lnTo>
                <a:lnTo>
                  <a:pt x="2192176" y="1384511"/>
                </a:lnTo>
                <a:lnTo>
                  <a:pt x="2126101" y="1416960"/>
                </a:lnTo>
                <a:lnTo>
                  <a:pt x="2049578" y="1441936"/>
                </a:lnTo>
                <a:lnTo>
                  <a:pt x="1963444" y="1459165"/>
                </a:lnTo>
                <a:lnTo>
                  <a:pt x="1868644" y="1468458"/>
                </a:lnTo>
                <a:lnTo>
                  <a:pt x="1766217" y="1469714"/>
                </a:lnTo>
                <a:lnTo>
                  <a:pt x="1657284" y="1462918"/>
                </a:lnTo>
                <a:lnTo>
                  <a:pt x="1543040" y="1448146"/>
                </a:lnTo>
                <a:lnTo>
                  <a:pt x="1424735" y="1425559"/>
                </a:lnTo>
                <a:lnTo>
                  <a:pt x="1303666" y="1395404"/>
                </a:lnTo>
                <a:lnTo>
                  <a:pt x="1181159" y="1358013"/>
                </a:lnTo>
                <a:lnTo>
                  <a:pt x="1058557" y="1313793"/>
                </a:lnTo>
                <a:lnTo>
                  <a:pt x="937203" y="1263231"/>
                </a:lnTo>
                <a:lnTo>
                  <a:pt x="818426" y="1206880"/>
                </a:lnTo>
                <a:lnTo>
                  <a:pt x="703528" y="1145357"/>
                </a:lnTo>
                <a:lnTo>
                  <a:pt x="593767" y="1079337"/>
                </a:lnTo>
                <a:lnTo>
                  <a:pt x="490347" y="1009543"/>
                </a:lnTo>
                <a:lnTo>
                  <a:pt x="394400" y="936739"/>
                </a:lnTo>
                <a:lnTo>
                  <a:pt x="306977" y="861723"/>
                </a:lnTo>
                <a:lnTo>
                  <a:pt x="229037" y="785317"/>
                </a:lnTo>
                <a:lnTo>
                  <a:pt x="161433" y="708359"/>
                </a:lnTo>
                <a:lnTo>
                  <a:pt x="104906" y="631690"/>
                </a:lnTo>
                <a:lnTo>
                  <a:pt x="60075" y="556152"/>
                </a:lnTo>
                <a:lnTo>
                  <a:pt x="27432" y="482572"/>
                </a:lnTo>
                <a:lnTo>
                  <a:pt x="7333" y="411756"/>
                </a:lnTo>
                <a:lnTo>
                  <a:pt x="0" y="344480"/>
                </a:lnTo>
                <a:lnTo>
                  <a:pt x="5512" y="281481"/>
                </a:lnTo>
                <a:lnTo>
                  <a:pt x="23810" y="223450"/>
                </a:lnTo>
                <a:lnTo>
                  <a:pt x="54693" y="171021"/>
                </a:lnTo>
                <a:lnTo>
                  <a:pt x="97821" y="124770"/>
                </a:lnTo>
                <a:lnTo>
                  <a:pt x="152724" y="85203"/>
                </a:lnTo>
                <a:lnTo>
                  <a:pt x="218799" y="52754"/>
                </a:lnTo>
                <a:lnTo>
                  <a:pt x="295322" y="27778"/>
                </a:lnTo>
                <a:lnTo>
                  <a:pt x="381456" y="10549"/>
                </a:lnTo>
                <a:lnTo>
                  <a:pt x="476255" y="1256"/>
                </a:lnTo>
                <a:lnTo>
                  <a:pt x="578683" y="0"/>
                </a:lnTo>
                <a:lnTo>
                  <a:pt x="687616" y="6795"/>
                </a:lnTo>
                <a:lnTo>
                  <a:pt x="801860" y="21568"/>
                </a:lnTo>
                <a:lnTo>
                  <a:pt x="920165" y="44155"/>
                </a:lnTo>
                <a:lnTo>
                  <a:pt x="1041234" y="74310"/>
                </a:lnTo>
                <a:lnTo>
                  <a:pt x="1163741" y="111701"/>
                </a:lnTo>
                <a:lnTo>
                  <a:pt x="1286343" y="155921"/>
                </a:lnTo>
                <a:lnTo>
                  <a:pt x="1407697" y="206483"/>
                </a:lnTo>
                <a:lnTo>
                  <a:pt x="1526474" y="262834"/>
                </a:lnTo>
                <a:lnTo>
                  <a:pt x="1641372" y="324356"/>
                </a:lnTo>
                <a:lnTo>
                  <a:pt x="1751133" y="390377"/>
                </a:lnTo>
                <a:lnTo>
                  <a:pt x="1854553" y="460171"/>
                </a:lnTo>
                <a:lnTo>
                  <a:pt x="1950500" y="532975"/>
                </a:lnTo>
                <a:lnTo>
                  <a:pt x="2037923" y="607991"/>
                </a:lnTo>
                <a:lnTo>
                  <a:pt x="2115863" y="684397"/>
                </a:lnTo>
                <a:lnTo>
                  <a:pt x="2183467" y="761355"/>
                </a:lnTo>
                <a:lnTo>
                  <a:pt x="2239994" y="838024"/>
                </a:lnTo>
                <a:lnTo>
                  <a:pt x="2284825" y="913562"/>
                </a:lnTo>
                <a:lnTo>
                  <a:pt x="2317468" y="987142"/>
                </a:lnTo>
                <a:lnTo>
                  <a:pt x="2337567" y="1057958"/>
                </a:lnTo>
                <a:lnTo>
                  <a:pt x="2344900" y="1125234"/>
                </a:lnTo>
                <a:lnTo>
                  <a:pt x="2339387" y="1188233"/>
                </a:lnTo>
                <a:close/>
              </a:path>
            </a:pathLst>
          </a:custGeom>
          <a:solidFill>
            <a:srgbClr val="FFFFFF"/>
          </a:solidFill>
          <a:ln w="19050">
            <a:solidFill>
              <a:srgbClr val="1B1B1B"/>
            </a:solidFill>
            <a:prstDash val="solid"/>
          </a:ln>
        </p:spPr>
      </p:sp>
      <p:sp>
        <p:nvSpPr>
          <p:cNvPr id="225" name="Shape 223"/>
          <p:cNvSpPr/>
          <p:nvPr/>
        </p:nvSpPr>
        <p:spPr>
          <a:xfrm>
            <a:off x="2437142" y="4904301"/>
            <a:ext cx="1688328" cy="1058194"/>
          </a:xfrm>
          <a:custGeom>
            <a:avLst/>
            <a:gdLst/>
            <a:ahLst/>
            <a:cxnLst/>
            <a:rect l="l" t="t" r="r" b="b"/>
            <a:pathLst>
              <a:path w="1688328" h="1058194">
                <a:moveTo>
                  <a:pt x="1671185" y="897310"/>
                </a:moveTo>
                <a:lnTo>
                  <a:pt x="1648949" y="935059"/>
                </a:lnTo>
                <a:lnTo>
                  <a:pt x="1617897" y="968360"/>
                </a:lnTo>
                <a:lnTo>
                  <a:pt x="1578367" y="996848"/>
                </a:lnTo>
                <a:lnTo>
                  <a:pt x="1530793" y="1020211"/>
                </a:lnTo>
                <a:lnTo>
                  <a:pt x="1475696" y="1038194"/>
                </a:lnTo>
                <a:lnTo>
                  <a:pt x="1413680" y="1050599"/>
                </a:lnTo>
                <a:lnTo>
                  <a:pt x="1345424" y="1057290"/>
                </a:lnTo>
                <a:lnTo>
                  <a:pt x="1271676" y="1058194"/>
                </a:lnTo>
                <a:lnTo>
                  <a:pt x="1193245" y="1053301"/>
                </a:lnTo>
                <a:lnTo>
                  <a:pt x="1110989" y="1042665"/>
                </a:lnTo>
                <a:lnTo>
                  <a:pt x="1025809" y="1026403"/>
                </a:lnTo>
                <a:lnTo>
                  <a:pt x="938639" y="1004691"/>
                </a:lnTo>
                <a:lnTo>
                  <a:pt x="850434" y="977769"/>
                </a:lnTo>
                <a:lnTo>
                  <a:pt x="762161" y="945931"/>
                </a:lnTo>
                <a:lnTo>
                  <a:pt x="674786" y="909527"/>
                </a:lnTo>
                <a:lnTo>
                  <a:pt x="589267" y="868954"/>
                </a:lnTo>
                <a:lnTo>
                  <a:pt x="506540" y="824657"/>
                </a:lnTo>
                <a:lnTo>
                  <a:pt x="427512" y="777123"/>
                </a:lnTo>
                <a:lnTo>
                  <a:pt x="353050" y="726871"/>
                </a:lnTo>
                <a:lnTo>
                  <a:pt x="283968" y="674452"/>
                </a:lnTo>
                <a:lnTo>
                  <a:pt x="221024" y="620441"/>
                </a:lnTo>
                <a:lnTo>
                  <a:pt x="164907" y="565428"/>
                </a:lnTo>
                <a:lnTo>
                  <a:pt x="116232" y="510018"/>
                </a:lnTo>
                <a:lnTo>
                  <a:pt x="75532" y="454817"/>
                </a:lnTo>
                <a:lnTo>
                  <a:pt x="43254" y="400430"/>
                </a:lnTo>
                <a:lnTo>
                  <a:pt x="19751" y="347452"/>
                </a:lnTo>
                <a:lnTo>
                  <a:pt x="5280" y="296465"/>
                </a:lnTo>
                <a:lnTo>
                  <a:pt x="0" y="248026"/>
                </a:lnTo>
                <a:lnTo>
                  <a:pt x="3969" y="202667"/>
                </a:lnTo>
                <a:lnTo>
                  <a:pt x="17143" y="160884"/>
                </a:lnTo>
                <a:lnTo>
                  <a:pt x="39379" y="123135"/>
                </a:lnTo>
                <a:lnTo>
                  <a:pt x="70431" y="89834"/>
                </a:lnTo>
                <a:lnTo>
                  <a:pt x="109961" y="61346"/>
                </a:lnTo>
                <a:lnTo>
                  <a:pt x="157535" y="37983"/>
                </a:lnTo>
                <a:lnTo>
                  <a:pt x="212632" y="20000"/>
                </a:lnTo>
                <a:lnTo>
                  <a:pt x="274648" y="7595"/>
                </a:lnTo>
                <a:lnTo>
                  <a:pt x="342904" y="904"/>
                </a:lnTo>
                <a:lnTo>
                  <a:pt x="416652" y="0"/>
                </a:lnTo>
                <a:lnTo>
                  <a:pt x="495083" y="4893"/>
                </a:lnTo>
                <a:lnTo>
                  <a:pt x="577339" y="15529"/>
                </a:lnTo>
                <a:lnTo>
                  <a:pt x="662519" y="31792"/>
                </a:lnTo>
                <a:lnTo>
                  <a:pt x="749689" y="53503"/>
                </a:lnTo>
                <a:lnTo>
                  <a:pt x="837894" y="80425"/>
                </a:lnTo>
                <a:lnTo>
                  <a:pt x="926167" y="112263"/>
                </a:lnTo>
                <a:lnTo>
                  <a:pt x="1013542" y="148668"/>
                </a:lnTo>
                <a:lnTo>
                  <a:pt x="1099061" y="189240"/>
                </a:lnTo>
                <a:lnTo>
                  <a:pt x="1181788" y="233537"/>
                </a:lnTo>
                <a:lnTo>
                  <a:pt x="1260816" y="281071"/>
                </a:lnTo>
                <a:lnTo>
                  <a:pt x="1335278" y="331323"/>
                </a:lnTo>
                <a:lnTo>
                  <a:pt x="1404360" y="383742"/>
                </a:lnTo>
                <a:lnTo>
                  <a:pt x="1467304" y="437753"/>
                </a:lnTo>
                <a:lnTo>
                  <a:pt x="1523421" y="492766"/>
                </a:lnTo>
                <a:lnTo>
                  <a:pt x="1572096" y="548176"/>
                </a:lnTo>
                <a:lnTo>
                  <a:pt x="1612796" y="603377"/>
                </a:lnTo>
                <a:lnTo>
                  <a:pt x="1645074" y="657764"/>
                </a:lnTo>
                <a:lnTo>
                  <a:pt x="1668577" y="710742"/>
                </a:lnTo>
                <a:lnTo>
                  <a:pt x="1683048" y="761730"/>
                </a:lnTo>
                <a:lnTo>
                  <a:pt x="1688328" y="810168"/>
                </a:lnTo>
                <a:lnTo>
                  <a:pt x="1684359" y="855528"/>
                </a:lnTo>
                <a:close/>
              </a:path>
            </a:pathLst>
          </a:custGeom>
          <a:ln w="6350">
            <a:solidFill>
              <a:srgbClr val="4F7A43"/>
            </a:solidFill>
            <a:prstDash val="dash"/>
          </a:ln>
        </p:spPr>
      </p:sp>
      <p:sp>
        <p:nvSpPr>
          <p:cNvPr id="226" name="Shape 224"/>
          <p:cNvSpPr/>
          <p:nvPr/>
        </p:nvSpPr>
        <p:spPr>
          <a:xfrm>
            <a:off x="2741979" y="5095364"/>
            <a:ext cx="1078654" cy="676068"/>
          </a:xfrm>
          <a:custGeom>
            <a:avLst/>
            <a:gdLst/>
            <a:ahLst/>
            <a:cxnLst/>
            <a:rect l="l" t="t" r="r" b="b"/>
            <a:pathLst>
              <a:path w="1078654" h="676068">
                <a:moveTo>
                  <a:pt x="1067701" y="573282"/>
                </a:moveTo>
                <a:lnTo>
                  <a:pt x="1053495" y="597399"/>
                </a:lnTo>
                <a:lnTo>
                  <a:pt x="1033656" y="618674"/>
                </a:lnTo>
                <a:lnTo>
                  <a:pt x="1008401" y="636875"/>
                </a:lnTo>
                <a:lnTo>
                  <a:pt x="978006" y="651802"/>
                </a:lnTo>
                <a:lnTo>
                  <a:pt x="942806" y="663291"/>
                </a:lnTo>
                <a:lnTo>
                  <a:pt x="903184" y="671216"/>
                </a:lnTo>
                <a:lnTo>
                  <a:pt x="859576" y="675491"/>
                </a:lnTo>
                <a:lnTo>
                  <a:pt x="812460" y="676068"/>
                </a:lnTo>
                <a:lnTo>
                  <a:pt x="762351" y="672943"/>
                </a:lnTo>
                <a:lnTo>
                  <a:pt x="709798" y="666147"/>
                </a:lnTo>
                <a:lnTo>
                  <a:pt x="655378" y="655757"/>
                </a:lnTo>
                <a:lnTo>
                  <a:pt x="599686" y="641886"/>
                </a:lnTo>
                <a:lnTo>
                  <a:pt x="543333" y="624686"/>
                </a:lnTo>
                <a:lnTo>
                  <a:pt x="486936" y="604345"/>
                </a:lnTo>
                <a:lnTo>
                  <a:pt x="431113" y="581086"/>
                </a:lnTo>
                <a:lnTo>
                  <a:pt x="376476" y="555165"/>
                </a:lnTo>
                <a:lnTo>
                  <a:pt x="323623" y="526864"/>
                </a:lnTo>
                <a:lnTo>
                  <a:pt x="273133" y="496495"/>
                </a:lnTo>
                <a:lnTo>
                  <a:pt x="225560" y="464390"/>
                </a:lnTo>
                <a:lnTo>
                  <a:pt x="181424" y="430900"/>
                </a:lnTo>
                <a:lnTo>
                  <a:pt x="141210" y="396393"/>
                </a:lnTo>
                <a:lnTo>
                  <a:pt x="105357" y="361246"/>
                </a:lnTo>
                <a:lnTo>
                  <a:pt x="74259" y="325845"/>
                </a:lnTo>
                <a:lnTo>
                  <a:pt x="48257" y="290578"/>
                </a:lnTo>
                <a:lnTo>
                  <a:pt x="27635" y="255830"/>
                </a:lnTo>
                <a:lnTo>
                  <a:pt x="12619" y="221983"/>
                </a:lnTo>
                <a:lnTo>
                  <a:pt x="3373" y="189408"/>
                </a:lnTo>
                <a:lnTo>
                  <a:pt x="0" y="158461"/>
                </a:lnTo>
                <a:lnTo>
                  <a:pt x="2536" y="129481"/>
                </a:lnTo>
                <a:lnTo>
                  <a:pt x="10953" y="102787"/>
                </a:lnTo>
                <a:lnTo>
                  <a:pt x="25159" y="78670"/>
                </a:lnTo>
                <a:lnTo>
                  <a:pt x="44998" y="57394"/>
                </a:lnTo>
                <a:lnTo>
                  <a:pt x="70253" y="39193"/>
                </a:lnTo>
                <a:lnTo>
                  <a:pt x="100648" y="24267"/>
                </a:lnTo>
                <a:lnTo>
                  <a:pt x="135848" y="12778"/>
                </a:lnTo>
                <a:lnTo>
                  <a:pt x="175470" y="4853"/>
                </a:lnTo>
                <a:lnTo>
                  <a:pt x="219078" y="578"/>
                </a:lnTo>
                <a:lnTo>
                  <a:pt x="266194" y="0"/>
                </a:lnTo>
                <a:lnTo>
                  <a:pt x="316303" y="3126"/>
                </a:lnTo>
                <a:lnTo>
                  <a:pt x="368856" y="9921"/>
                </a:lnTo>
                <a:lnTo>
                  <a:pt x="423276" y="20311"/>
                </a:lnTo>
                <a:lnTo>
                  <a:pt x="478968" y="34182"/>
                </a:lnTo>
                <a:lnTo>
                  <a:pt x="535321" y="51383"/>
                </a:lnTo>
                <a:lnTo>
                  <a:pt x="591718" y="71723"/>
                </a:lnTo>
                <a:lnTo>
                  <a:pt x="647541" y="94982"/>
                </a:lnTo>
                <a:lnTo>
                  <a:pt x="702178" y="120904"/>
                </a:lnTo>
                <a:lnTo>
                  <a:pt x="755031" y="149204"/>
                </a:lnTo>
                <a:lnTo>
                  <a:pt x="805521" y="179573"/>
                </a:lnTo>
                <a:lnTo>
                  <a:pt x="853094" y="211679"/>
                </a:lnTo>
                <a:lnTo>
                  <a:pt x="897230" y="245169"/>
                </a:lnTo>
                <a:lnTo>
                  <a:pt x="937444" y="279676"/>
                </a:lnTo>
                <a:lnTo>
                  <a:pt x="973297" y="314822"/>
                </a:lnTo>
                <a:lnTo>
                  <a:pt x="1004395" y="350223"/>
                </a:lnTo>
                <a:lnTo>
                  <a:pt x="1030397" y="385491"/>
                </a:lnTo>
                <a:lnTo>
                  <a:pt x="1051019" y="420238"/>
                </a:lnTo>
                <a:lnTo>
                  <a:pt x="1066035" y="454085"/>
                </a:lnTo>
                <a:lnTo>
                  <a:pt x="1075281" y="486661"/>
                </a:lnTo>
                <a:lnTo>
                  <a:pt x="1078654" y="517607"/>
                </a:lnTo>
                <a:lnTo>
                  <a:pt x="1076118" y="546587"/>
                </a:lnTo>
                <a:close/>
              </a:path>
            </a:pathLst>
          </a:custGeom>
          <a:ln w="6350">
            <a:solidFill>
              <a:srgbClr val="4F7A43"/>
            </a:solidFill>
            <a:prstDash val="dash"/>
          </a:ln>
        </p:spPr>
      </p:sp>
      <p:sp>
        <p:nvSpPr>
          <p:cNvPr id="227" name="Shape 225"/>
          <p:cNvSpPr/>
          <p:nvPr/>
        </p:nvSpPr>
        <p:spPr>
          <a:xfrm>
            <a:off x="3023367" y="5271729"/>
            <a:ext cx="515878" cy="323337"/>
          </a:xfrm>
          <a:custGeom>
            <a:avLst/>
            <a:gdLst/>
            <a:ahLst/>
            <a:cxnLst/>
            <a:rect l="l" t="t" r="r" b="b"/>
            <a:pathLst>
              <a:path w="515878" h="323337">
                <a:moveTo>
                  <a:pt x="510640" y="274178"/>
                </a:moveTo>
                <a:lnTo>
                  <a:pt x="503846" y="285712"/>
                </a:lnTo>
                <a:lnTo>
                  <a:pt x="494357" y="295888"/>
                </a:lnTo>
                <a:lnTo>
                  <a:pt x="482279" y="304592"/>
                </a:lnTo>
                <a:lnTo>
                  <a:pt x="467742" y="311731"/>
                </a:lnTo>
                <a:lnTo>
                  <a:pt x="450907" y="317226"/>
                </a:lnTo>
                <a:lnTo>
                  <a:pt x="431958" y="321016"/>
                </a:lnTo>
                <a:lnTo>
                  <a:pt x="411102" y="323061"/>
                </a:lnTo>
                <a:lnTo>
                  <a:pt x="388568" y="323337"/>
                </a:lnTo>
                <a:lnTo>
                  <a:pt x="364603" y="321842"/>
                </a:lnTo>
                <a:lnTo>
                  <a:pt x="339469" y="318592"/>
                </a:lnTo>
                <a:lnTo>
                  <a:pt x="313442" y="313623"/>
                </a:lnTo>
                <a:lnTo>
                  <a:pt x="286806" y="306989"/>
                </a:lnTo>
                <a:lnTo>
                  <a:pt x="259855" y="298763"/>
                </a:lnTo>
                <a:lnTo>
                  <a:pt x="232883" y="289035"/>
                </a:lnTo>
                <a:lnTo>
                  <a:pt x="206185" y="277911"/>
                </a:lnTo>
                <a:lnTo>
                  <a:pt x="180054" y="265514"/>
                </a:lnTo>
                <a:lnTo>
                  <a:pt x="154776" y="251979"/>
                </a:lnTo>
                <a:lnTo>
                  <a:pt x="130629" y="237454"/>
                </a:lnTo>
                <a:lnTo>
                  <a:pt x="107876" y="222099"/>
                </a:lnTo>
                <a:lnTo>
                  <a:pt x="86768" y="206083"/>
                </a:lnTo>
                <a:lnTo>
                  <a:pt x="67535" y="189579"/>
                </a:lnTo>
                <a:lnTo>
                  <a:pt x="50388" y="172770"/>
                </a:lnTo>
                <a:lnTo>
                  <a:pt x="35515" y="155839"/>
                </a:lnTo>
                <a:lnTo>
                  <a:pt x="23079" y="138972"/>
                </a:lnTo>
                <a:lnTo>
                  <a:pt x="13217" y="122354"/>
                </a:lnTo>
                <a:lnTo>
                  <a:pt x="6035" y="106166"/>
                </a:lnTo>
                <a:lnTo>
                  <a:pt x="1613" y="90586"/>
                </a:lnTo>
                <a:lnTo>
                  <a:pt x="0" y="75786"/>
                </a:lnTo>
                <a:lnTo>
                  <a:pt x="1213" y="61926"/>
                </a:lnTo>
                <a:lnTo>
                  <a:pt x="5238" y="49159"/>
                </a:lnTo>
                <a:lnTo>
                  <a:pt x="12032" y="37625"/>
                </a:lnTo>
                <a:lnTo>
                  <a:pt x="21521" y="27449"/>
                </a:lnTo>
                <a:lnTo>
                  <a:pt x="33599" y="18745"/>
                </a:lnTo>
                <a:lnTo>
                  <a:pt x="48136" y="11606"/>
                </a:lnTo>
                <a:lnTo>
                  <a:pt x="64971" y="6111"/>
                </a:lnTo>
                <a:lnTo>
                  <a:pt x="83920" y="2321"/>
                </a:lnTo>
                <a:lnTo>
                  <a:pt x="104776" y="276"/>
                </a:lnTo>
                <a:lnTo>
                  <a:pt x="127310" y="0"/>
                </a:lnTo>
                <a:lnTo>
                  <a:pt x="151275" y="1495"/>
                </a:lnTo>
                <a:lnTo>
                  <a:pt x="176409" y="4745"/>
                </a:lnTo>
                <a:lnTo>
                  <a:pt x="202436" y="9714"/>
                </a:lnTo>
                <a:lnTo>
                  <a:pt x="229072" y="16348"/>
                </a:lnTo>
                <a:lnTo>
                  <a:pt x="256023" y="24574"/>
                </a:lnTo>
                <a:lnTo>
                  <a:pt x="282995" y="34303"/>
                </a:lnTo>
                <a:lnTo>
                  <a:pt x="309693" y="45426"/>
                </a:lnTo>
                <a:lnTo>
                  <a:pt x="335824" y="57823"/>
                </a:lnTo>
                <a:lnTo>
                  <a:pt x="361102" y="71358"/>
                </a:lnTo>
                <a:lnTo>
                  <a:pt x="385249" y="85883"/>
                </a:lnTo>
                <a:lnTo>
                  <a:pt x="408002" y="101238"/>
                </a:lnTo>
                <a:lnTo>
                  <a:pt x="429110" y="117255"/>
                </a:lnTo>
                <a:lnTo>
                  <a:pt x="448343" y="133758"/>
                </a:lnTo>
                <a:lnTo>
                  <a:pt x="465490" y="150567"/>
                </a:lnTo>
                <a:lnTo>
                  <a:pt x="480363" y="167498"/>
                </a:lnTo>
                <a:lnTo>
                  <a:pt x="492799" y="184365"/>
                </a:lnTo>
                <a:lnTo>
                  <a:pt x="502661" y="200984"/>
                </a:lnTo>
                <a:lnTo>
                  <a:pt x="509843" y="217171"/>
                </a:lnTo>
                <a:lnTo>
                  <a:pt x="514265" y="232751"/>
                </a:lnTo>
                <a:lnTo>
                  <a:pt x="515878" y="247551"/>
                </a:lnTo>
                <a:lnTo>
                  <a:pt x="514665" y="261411"/>
                </a:lnTo>
                <a:close/>
              </a:path>
            </a:pathLst>
          </a:custGeom>
          <a:ln w="6350">
            <a:solidFill>
              <a:srgbClr val="4F7A43"/>
            </a:solidFill>
            <a:prstDash val="dash"/>
          </a:ln>
        </p:spPr>
      </p:sp>
      <p:sp>
        <p:nvSpPr>
          <p:cNvPr id="228" name="Shape 226"/>
          <p:cNvSpPr/>
          <p:nvPr/>
        </p:nvSpPr>
        <p:spPr>
          <a:xfrm>
            <a:off x="4127888" y="5821120"/>
            <a:ext cx="75189" cy="75189"/>
          </a:xfrm>
          <a:prstGeom prst="ellipse">
            <a:avLst/>
          </a:prstGeom>
          <a:solidFill>
            <a:srgbClr val="FFFFFF"/>
          </a:solidFill>
          <a:ln w="7620">
            <a:solidFill>
              <a:srgbClr val="4F7A43"/>
            </a:solidFill>
            <a:prstDash val="solid"/>
          </a:ln>
        </p:spPr>
      </p:sp>
      <p:sp>
        <p:nvSpPr>
          <p:cNvPr id="229" name="Shape 227"/>
          <p:cNvSpPr/>
          <p:nvPr/>
        </p:nvSpPr>
        <p:spPr>
          <a:xfrm>
            <a:off x="4023195" y="5937399"/>
            <a:ext cx="75189" cy="75189"/>
          </a:xfrm>
          <a:prstGeom prst="ellipse">
            <a:avLst/>
          </a:prstGeom>
          <a:solidFill>
            <a:srgbClr val="FFFFFF"/>
          </a:solidFill>
          <a:ln w="7620">
            <a:solidFill>
              <a:srgbClr val="4F7A43"/>
            </a:solidFill>
            <a:prstDash val="solid"/>
          </a:ln>
        </p:spPr>
      </p:sp>
      <p:sp>
        <p:nvSpPr>
          <p:cNvPr id="230" name="Shape 228"/>
          <p:cNvSpPr/>
          <p:nvPr/>
        </p:nvSpPr>
        <p:spPr>
          <a:xfrm>
            <a:off x="3839316" y="6004188"/>
            <a:ext cx="75189" cy="75189"/>
          </a:xfrm>
          <a:prstGeom prst="ellipse">
            <a:avLst/>
          </a:prstGeom>
          <a:solidFill>
            <a:srgbClr val="FFFFFF"/>
          </a:solidFill>
          <a:ln w="7620">
            <a:solidFill>
              <a:srgbClr val="4F7A43"/>
            </a:solidFill>
            <a:prstDash val="solid"/>
          </a:ln>
        </p:spPr>
      </p:sp>
      <p:sp>
        <p:nvSpPr>
          <p:cNvPr id="231" name="Shape 229"/>
          <p:cNvSpPr/>
          <p:nvPr/>
        </p:nvSpPr>
        <p:spPr>
          <a:xfrm>
            <a:off x="3592321" y="6015649"/>
            <a:ext cx="75189" cy="75189"/>
          </a:xfrm>
          <a:prstGeom prst="ellipse">
            <a:avLst/>
          </a:prstGeom>
          <a:solidFill>
            <a:srgbClr val="FFFFFF"/>
          </a:solidFill>
          <a:ln w="7620">
            <a:solidFill>
              <a:srgbClr val="4F7A43"/>
            </a:solidFill>
            <a:prstDash val="solid"/>
          </a:ln>
        </p:spPr>
      </p:sp>
      <p:sp>
        <p:nvSpPr>
          <p:cNvPr id="232" name="Shape 230"/>
          <p:cNvSpPr/>
          <p:nvPr/>
        </p:nvSpPr>
        <p:spPr>
          <a:xfrm>
            <a:off x="3303795" y="5970781"/>
            <a:ext cx="75189" cy="75189"/>
          </a:xfrm>
          <a:prstGeom prst="ellipse">
            <a:avLst/>
          </a:prstGeom>
          <a:solidFill>
            <a:srgbClr val="FFFFFF"/>
          </a:solidFill>
          <a:ln w="7620">
            <a:solidFill>
              <a:srgbClr val="4F7A43"/>
            </a:solidFill>
            <a:prstDash val="solid"/>
          </a:ln>
        </p:spPr>
      </p:sp>
      <p:sp>
        <p:nvSpPr>
          <p:cNvPr id="233" name="Shape 231"/>
          <p:cNvSpPr/>
          <p:nvPr/>
        </p:nvSpPr>
        <p:spPr>
          <a:xfrm>
            <a:off x="2998953" y="5873505"/>
            <a:ext cx="75189" cy="75189"/>
          </a:xfrm>
          <a:prstGeom prst="ellipse">
            <a:avLst/>
          </a:prstGeom>
          <a:solidFill>
            <a:srgbClr val="FFFFFF"/>
          </a:solidFill>
          <a:ln w="7620">
            <a:solidFill>
              <a:srgbClr val="4F7A43"/>
            </a:solidFill>
            <a:prstDash val="solid"/>
          </a:ln>
        </p:spPr>
      </p:sp>
      <p:sp>
        <p:nvSpPr>
          <p:cNvPr id="234" name="Shape 232"/>
          <p:cNvSpPr/>
          <p:nvPr/>
        </p:nvSpPr>
        <p:spPr>
          <a:xfrm>
            <a:off x="2704434" y="5732322"/>
            <a:ext cx="75189" cy="75189"/>
          </a:xfrm>
          <a:prstGeom prst="ellipse">
            <a:avLst/>
          </a:prstGeom>
          <a:solidFill>
            <a:srgbClr val="FFFFFF"/>
          </a:solidFill>
          <a:ln w="7620">
            <a:solidFill>
              <a:srgbClr val="4F7A43"/>
            </a:solidFill>
            <a:prstDash val="solid"/>
          </a:ln>
        </p:spPr>
      </p:sp>
      <p:sp>
        <p:nvSpPr>
          <p:cNvPr id="235" name="Shape 233"/>
          <p:cNvSpPr/>
          <p:nvPr/>
        </p:nvSpPr>
        <p:spPr>
          <a:xfrm>
            <a:off x="2445977" y="5559570"/>
            <a:ext cx="75189" cy="75189"/>
          </a:xfrm>
          <a:prstGeom prst="ellipse">
            <a:avLst/>
          </a:prstGeom>
          <a:solidFill>
            <a:srgbClr val="FFFFFF"/>
          </a:solidFill>
          <a:ln w="7620">
            <a:solidFill>
              <a:srgbClr val="4F7A43"/>
            </a:solidFill>
            <a:prstDash val="solid"/>
          </a:ln>
        </p:spPr>
      </p:sp>
      <p:sp>
        <p:nvSpPr>
          <p:cNvPr id="236" name="Shape 234"/>
          <p:cNvSpPr/>
          <p:nvPr/>
        </p:nvSpPr>
        <p:spPr>
          <a:xfrm>
            <a:off x="2246168" y="5370346"/>
            <a:ext cx="75189" cy="75189"/>
          </a:xfrm>
          <a:prstGeom prst="ellipse">
            <a:avLst/>
          </a:prstGeom>
          <a:solidFill>
            <a:srgbClr val="FFFFFF"/>
          </a:solidFill>
          <a:ln w="7620">
            <a:solidFill>
              <a:srgbClr val="4F7A43"/>
            </a:solidFill>
            <a:prstDash val="solid"/>
          </a:ln>
        </p:spPr>
      </p:sp>
      <p:sp>
        <p:nvSpPr>
          <p:cNvPr id="237" name="Shape 235"/>
          <p:cNvSpPr/>
          <p:nvPr/>
        </p:nvSpPr>
        <p:spPr>
          <a:xfrm>
            <a:off x="2122469" y="5181186"/>
            <a:ext cx="75189" cy="75189"/>
          </a:xfrm>
          <a:prstGeom prst="ellipse">
            <a:avLst/>
          </a:prstGeom>
          <a:solidFill>
            <a:srgbClr val="FFFFFF"/>
          </a:solidFill>
          <a:ln w="7620">
            <a:solidFill>
              <a:srgbClr val="4F7A43"/>
            </a:solidFill>
            <a:prstDash val="solid"/>
          </a:ln>
        </p:spPr>
      </p:sp>
      <p:sp>
        <p:nvSpPr>
          <p:cNvPr id="238" name="Shape 236"/>
          <p:cNvSpPr/>
          <p:nvPr/>
        </p:nvSpPr>
        <p:spPr>
          <a:xfrm>
            <a:off x="2085691" y="5008621"/>
            <a:ext cx="75189" cy="75189"/>
          </a:xfrm>
          <a:prstGeom prst="ellipse">
            <a:avLst/>
          </a:prstGeom>
          <a:solidFill>
            <a:srgbClr val="FFFFFF"/>
          </a:solidFill>
          <a:ln w="7620">
            <a:solidFill>
              <a:srgbClr val="4F7A43"/>
            </a:solidFill>
            <a:prstDash val="solid"/>
          </a:ln>
        </p:spPr>
      </p:sp>
      <p:sp>
        <p:nvSpPr>
          <p:cNvPr id="239" name="Shape 237"/>
          <p:cNvSpPr/>
          <p:nvPr/>
        </p:nvSpPr>
        <p:spPr>
          <a:xfrm>
            <a:off x="2139046" y="4867732"/>
            <a:ext cx="75189" cy="75189"/>
          </a:xfrm>
          <a:prstGeom prst="ellipse">
            <a:avLst/>
          </a:prstGeom>
          <a:solidFill>
            <a:srgbClr val="FFFFFF"/>
          </a:solidFill>
          <a:ln w="7620">
            <a:solidFill>
              <a:srgbClr val="4F7A43"/>
            </a:solidFill>
            <a:prstDash val="solid"/>
          </a:ln>
        </p:spPr>
      </p:sp>
      <p:sp>
        <p:nvSpPr>
          <p:cNvPr id="240" name="Shape 238"/>
          <p:cNvSpPr/>
          <p:nvPr/>
        </p:nvSpPr>
        <p:spPr>
          <a:xfrm>
            <a:off x="2277873" y="4770831"/>
            <a:ext cx="75189" cy="75189"/>
          </a:xfrm>
          <a:prstGeom prst="ellipse">
            <a:avLst/>
          </a:prstGeom>
          <a:solidFill>
            <a:srgbClr val="FFFFFF"/>
          </a:solidFill>
          <a:ln w="7620">
            <a:solidFill>
              <a:srgbClr val="4F7A43"/>
            </a:solidFill>
            <a:prstDash val="solid"/>
          </a:ln>
        </p:spPr>
      </p:sp>
      <p:sp>
        <p:nvSpPr>
          <p:cNvPr id="241" name="Shape 239"/>
          <p:cNvSpPr/>
          <p:nvPr/>
        </p:nvSpPr>
        <p:spPr>
          <a:xfrm>
            <a:off x="2490039" y="4726386"/>
            <a:ext cx="75189" cy="75189"/>
          </a:xfrm>
          <a:prstGeom prst="ellipse">
            <a:avLst/>
          </a:prstGeom>
          <a:solidFill>
            <a:srgbClr val="FFFFFF"/>
          </a:solidFill>
          <a:ln w="7620">
            <a:solidFill>
              <a:srgbClr val="4F7A43"/>
            </a:solidFill>
            <a:prstDash val="solid"/>
          </a:ln>
        </p:spPr>
      </p:sp>
      <p:sp>
        <p:nvSpPr>
          <p:cNvPr id="242" name="Shape 240"/>
          <p:cNvSpPr/>
          <p:nvPr/>
        </p:nvSpPr>
        <p:spPr>
          <a:xfrm>
            <a:off x="2757002" y="4738281"/>
            <a:ext cx="75189" cy="75189"/>
          </a:xfrm>
          <a:prstGeom prst="ellipse">
            <a:avLst/>
          </a:prstGeom>
          <a:solidFill>
            <a:srgbClr val="FFFFFF"/>
          </a:solidFill>
          <a:ln w="7620">
            <a:solidFill>
              <a:srgbClr val="4F7A43"/>
            </a:solidFill>
            <a:prstDash val="solid"/>
          </a:ln>
        </p:spPr>
      </p:sp>
      <p:sp>
        <p:nvSpPr>
          <p:cNvPr id="243" name="Shape 241"/>
          <p:cNvSpPr/>
          <p:nvPr/>
        </p:nvSpPr>
        <p:spPr>
          <a:xfrm>
            <a:off x="3055434" y="4805477"/>
            <a:ext cx="75189" cy="75189"/>
          </a:xfrm>
          <a:prstGeom prst="ellipse">
            <a:avLst/>
          </a:prstGeom>
          <a:solidFill>
            <a:srgbClr val="FFFFFF"/>
          </a:solidFill>
          <a:ln w="7620">
            <a:solidFill>
              <a:srgbClr val="4F7A43"/>
            </a:solidFill>
            <a:prstDash val="solid"/>
          </a:ln>
        </p:spPr>
      </p:sp>
      <p:sp>
        <p:nvSpPr>
          <p:cNvPr id="244" name="Shape 242"/>
          <p:cNvSpPr/>
          <p:nvPr/>
        </p:nvSpPr>
        <p:spPr>
          <a:xfrm>
            <a:off x="3359254" y="4922101"/>
            <a:ext cx="75189" cy="75189"/>
          </a:xfrm>
          <a:prstGeom prst="ellipse">
            <a:avLst/>
          </a:prstGeom>
          <a:solidFill>
            <a:srgbClr val="FFFFFF"/>
          </a:solidFill>
          <a:ln w="7620">
            <a:solidFill>
              <a:srgbClr val="4F7A43"/>
            </a:solidFill>
            <a:prstDash val="solid"/>
          </a:ln>
        </p:spPr>
      </p:sp>
      <p:sp>
        <p:nvSpPr>
          <p:cNvPr id="245" name="Shape 243"/>
          <p:cNvSpPr/>
          <p:nvPr/>
        </p:nvSpPr>
        <p:spPr>
          <a:xfrm>
            <a:off x="3641910" y="5077962"/>
            <a:ext cx="75189" cy="75189"/>
          </a:xfrm>
          <a:prstGeom prst="ellipse">
            <a:avLst/>
          </a:prstGeom>
          <a:solidFill>
            <a:srgbClr val="FFFFFF"/>
          </a:solidFill>
          <a:ln w="7620">
            <a:solidFill>
              <a:srgbClr val="4F7A43"/>
            </a:solidFill>
            <a:prstDash val="solid"/>
          </a:ln>
        </p:spPr>
      </p:sp>
      <p:sp>
        <p:nvSpPr>
          <p:cNvPr id="246" name="Shape 244"/>
          <p:cNvSpPr/>
          <p:nvPr/>
        </p:nvSpPr>
        <p:spPr>
          <a:xfrm>
            <a:off x="3878701" y="5259439"/>
            <a:ext cx="75189" cy="75189"/>
          </a:xfrm>
          <a:prstGeom prst="ellipse">
            <a:avLst/>
          </a:prstGeom>
          <a:solidFill>
            <a:srgbClr val="FFFFFF"/>
          </a:solidFill>
          <a:ln w="7620">
            <a:solidFill>
              <a:srgbClr val="4F7A43"/>
            </a:solidFill>
            <a:prstDash val="solid"/>
          </a:ln>
        </p:spPr>
      </p:sp>
      <p:sp>
        <p:nvSpPr>
          <p:cNvPr id="247" name="Shape 245"/>
          <p:cNvSpPr/>
          <p:nvPr/>
        </p:nvSpPr>
        <p:spPr>
          <a:xfrm>
            <a:off x="4048935" y="5450673"/>
            <a:ext cx="75189" cy="75189"/>
          </a:xfrm>
          <a:prstGeom prst="ellipse">
            <a:avLst/>
          </a:prstGeom>
          <a:solidFill>
            <a:srgbClr val="FFFFFF"/>
          </a:solidFill>
          <a:ln w="7620">
            <a:solidFill>
              <a:srgbClr val="4F7A43"/>
            </a:solidFill>
            <a:prstDash val="solid"/>
          </a:ln>
        </p:spPr>
      </p:sp>
      <p:sp>
        <p:nvSpPr>
          <p:cNvPr id="248" name="Shape 246"/>
          <p:cNvSpPr/>
          <p:nvPr/>
        </p:nvSpPr>
        <p:spPr>
          <a:xfrm>
            <a:off x="4137734" y="5634950"/>
            <a:ext cx="75189" cy="75189"/>
          </a:xfrm>
          <a:prstGeom prst="ellipse">
            <a:avLst/>
          </a:prstGeom>
          <a:solidFill>
            <a:srgbClr val="FFFFFF"/>
          </a:solidFill>
          <a:ln w="7620">
            <a:solidFill>
              <a:srgbClr val="4F7A43"/>
            </a:solidFill>
            <a:prstDash val="solid"/>
          </a:ln>
        </p:spPr>
      </p:sp>
      <p:sp>
        <p:nvSpPr>
          <p:cNvPr id="249" name="Shape 247"/>
          <p:cNvSpPr/>
          <p:nvPr/>
        </p:nvSpPr>
        <p:spPr>
          <a:xfrm>
            <a:off x="4137338" y="5796169"/>
            <a:ext cx="75189" cy="75189"/>
          </a:xfrm>
          <a:prstGeom prst="ellipse">
            <a:avLst/>
          </a:prstGeom>
          <a:solidFill>
            <a:srgbClr val="FFFFFF"/>
          </a:solidFill>
          <a:ln w="7620">
            <a:solidFill>
              <a:srgbClr val="4F7A43"/>
            </a:solidFill>
            <a:prstDash val="solid"/>
          </a:ln>
        </p:spPr>
      </p:sp>
      <p:sp>
        <p:nvSpPr>
          <p:cNvPr id="250" name="Shape 248"/>
          <p:cNvSpPr/>
          <p:nvPr/>
        </p:nvSpPr>
        <p:spPr>
          <a:xfrm>
            <a:off x="3228942" y="5845276"/>
            <a:ext cx="1168100" cy="342799"/>
          </a:xfrm>
          <a:custGeom>
            <a:avLst/>
            <a:gdLst/>
            <a:ahLst/>
            <a:cxnLst/>
            <a:rect l="l" t="t" r="r" b="b"/>
            <a:pathLst>
              <a:path w="1168100" h="342799">
                <a:moveTo>
                  <a:pt x="1168100" y="0"/>
                </a:moveTo>
                <a:lnTo>
                  <a:pt x="1162153" y="46651"/>
                </a:lnTo>
                <a:lnTo>
                  <a:pt x="1149407" y="90645"/>
                </a:lnTo>
                <a:lnTo>
                  <a:pt x="1129930" y="131739"/>
                </a:lnTo>
                <a:lnTo>
                  <a:pt x="1103831" y="169707"/>
                </a:lnTo>
                <a:lnTo>
                  <a:pt x="1071253" y="204341"/>
                </a:lnTo>
                <a:lnTo>
                  <a:pt x="1032375" y="235450"/>
                </a:lnTo>
                <a:lnTo>
                  <a:pt x="987411" y="262863"/>
                </a:lnTo>
                <a:lnTo>
                  <a:pt x="936608" y="286429"/>
                </a:lnTo>
                <a:lnTo>
                  <a:pt x="880246" y="306019"/>
                </a:lnTo>
                <a:lnTo>
                  <a:pt x="818634" y="321525"/>
                </a:lnTo>
                <a:lnTo>
                  <a:pt x="752112" y="332861"/>
                </a:lnTo>
                <a:lnTo>
                  <a:pt x="681045" y="339965"/>
                </a:lnTo>
                <a:lnTo>
                  <a:pt x="605824" y="342799"/>
                </a:lnTo>
                <a:lnTo>
                  <a:pt x="526862" y="341346"/>
                </a:lnTo>
                <a:lnTo>
                  <a:pt x="444595" y="335615"/>
                </a:lnTo>
                <a:lnTo>
                  <a:pt x="359475" y="325637"/>
                </a:lnTo>
                <a:lnTo>
                  <a:pt x="271968" y="311467"/>
                </a:lnTo>
                <a:lnTo>
                  <a:pt x="182558" y="293183"/>
                </a:lnTo>
                <a:lnTo>
                  <a:pt x="91736" y="270885"/>
                </a:lnTo>
                <a:lnTo>
                  <a:pt x="0" y="244696"/>
                </a:lnTo>
              </a:path>
            </a:pathLst>
          </a:custGeom>
          <a:ln w="44450">
            <a:solidFill>
              <a:srgbClr val="C4262E"/>
            </a:solidFill>
            <a:prstDash val="solid"/>
          </a:ln>
        </p:spPr>
      </p:sp>
      <p:sp>
        <p:nvSpPr>
          <p:cNvPr id="251" name="Shape 249"/>
          <p:cNvSpPr/>
          <p:nvPr/>
        </p:nvSpPr>
        <p:spPr>
          <a:xfrm>
            <a:off x="438912" y="4361688"/>
            <a:ext cx="731520" cy="146304"/>
          </a:xfrm>
          <a:prstGeom prst="rect">
            <a:avLst/>
          </a:prstGeom>
          <a:solidFill>
            <a:srgbClr val="FFFFFF"/>
          </a:solidFill>
          <a:ln/>
        </p:spPr>
      </p:sp>
      <p:sp>
        <p:nvSpPr>
          <p:cNvPr id="252" name="Text 250"/>
          <p:cNvSpPr txBox="1"/>
          <p:nvPr/>
        </p:nvSpPr>
        <p:spPr>
          <a:xfrm>
            <a:off x="438912" y="4361688"/>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Egerton / Abbot jn.</a:t>
            </a:r>
            <a:endParaRPr lang="en-US" sz="550" dirty="0"/>
          </a:p>
        </p:txBody>
      </p:sp>
      <p:sp>
        <p:nvSpPr>
          <p:cNvPr id="253" name="Shape 251"/>
          <p:cNvSpPr/>
          <p:nvPr/>
        </p:nvSpPr>
        <p:spPr>
          <a:xfrm>
            <a:off x="5138928" y="6309360"/>
            <a:ext cx="731520" cy="146304"/>
          </a:xfrm>
          <a:prstGeom prst="rect">
            <a:avLst/>
          </a:prstGeom>
          <a:solidFill>
            <a:srgbClr val="FFFFFF"/>
          </a:solidFill>
          <a:ln/>
        </p:spPr>
      </p:sp>
      <p:sp>
        <p:nvSpPr>
          <p:cNvPr id="254" name="Text 252"/>
          <p:cNvSpPr txBox="1"/>
          <p:nvPr/>
        </p:nvSpPr>
        <p:spPr>
          <a:xfrm>
            <a:off x="5138928" y="6309360"/>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Davis / Durand jn.</a:t>
            </a:r>
            <a:endParaRPr lang="en-US" sz="550" dirty="0"/>
          </a:p>
        </p:txBody>
      </p:sp>
      <p:sp>
        <p:nvSpPr>
          <p:cNvPr id="255" name="Shape 253"/>
          <p:cNvSpPr/>
          <p:nvPr/>
        </p:nvSpPr>
        <p:spPr>
          <a:xfrm>
            <a:off x="2393344" y="5028886"/>
            <a:ext cx="1504605" cy="1125811"/>
          </a:xfrm>
          <a:custGeom>
            <a:avLst/>
            <a:gdLst/>
            <a:ahLst/>
            <a:cxnLst/>
            <a:rect l="l" t="t" r="r" b="b"/>
            <a:pathLst>
              <a:path w="1504605" h="1125811">
                <a:moveTo>
                  <a:pt x="1504605" y="1125811"/>
                </a:moveTo>
                <a:lnTo>
                  <a:pt x="1352378" y="1113306"/>
                </a:lnTo>
                <a:lnTo>
                  <a:pt x="1194529" y="1085823"/>
                </a:lnTo>
                <a:lnTo>
                  <a:pt x="1034869" y="1044624"/>
                </a:lnTo>
                <a:lnTo>
                  <a:pt x="877100" y="991234"/>
                </a:lnTo>
                <a:lnTo>
                  <a:pt x="724734" y="927400"/>
                </a:lnTo>
                <a:lnTo>
                  <a:pt x="581015" y="855042"/>
                </a:lnTo>
                <a:lnTo>
                  <a:pt x="448851" y="776196"/>
                </a:lnTo>
                <a:lnTo>
                  <a:pt x="330758" y="692967"/>
                </a:lnTo>
                <a:lnTo>
                  <a:pt x="228811" y="607473"/>
                </a:lnTo>
                <a:lnTo>
                  <a:pt x="144615" y="521794"/>
                </a:lnTo>
                <a:lnTo>
                  <a:pt x="79277" y="437923"/>
                </a:lnTo>
                <a:lnTo>
                  <a:pt x="33405" y="357717"/>
                </a:lnTo>
                <a:lnTo>
                  <a:pt x="7104" y="282864"/>
                </a:lnTo>
                <a:lnTo>
                  <a:pt x="0" y="214838"/>
                </a:lnTo>
                <a:lnTo>
                  <a:pt x="11265" y="154880"/>
                </a:lnTo>
                <a:lnTo>
                  <a:pt x="39654" y="103968"/>
                </a:lnTo>
                <a:lnTo>
                  <a:pt x="83556" y="62808"/>
                </a:lnTo>
                <a:lnTo>
                  <a:pt x="141048" y="31824"/>
                </a:lnTo>
                <a:lnTo>
                  <a:pt x="209960" y="11157"/>
                </a:lnTo>
                <a:lnTo>
                  <a:pt x="287936" y="679"/>
                </a:lnTo>
                <a:lnTo>
                  <a:pt x="372510" y="0"/>
                </a:lnTo>
                <a:lnTo>
                  <a:pt x="461170" y="8493"/>
                </a:lnTo>
                <a:lnTo>
                  <a:pt x="551432" y="25319"/>
                </a:lnTo>
                <a:lnTo>
                  <a:pt x="640903" y="49460"/>
                </a:lnTo>
                <a:lnTo>
                  <a:pt x="727344" y="79752"/>
                </a:lnTo>
                <a:lnTo>
                  <a:pt x="808726" y="114926"/>
                </a:lnTo>
                <a:lnTo>
                  <a:pt x="883278" y="153643"/>
                </a:lnTo>
                <a:lnTo>
                  <a:pt x="949525" y="194542"/>
                </a:lnTo>
                <a:lnTo>
                  <a:pt x="1006323" y="236272"/>
                </a:lnTo>
                <a:lnTo>
                  <a:pt x="1052874" y="277535"/>
                </a:lnTo>
                <a:lnTo>
                  <a:pt x="1088739" y="317123"/>
                </a:lnTo>
                <a:lnTo>
                  <a:pt x="1113839" y="353948"/>
                </a:lnTo>
                <a:lnTo>
                  <a:pt x="1128440" y="387072"/>
                </a:lnTo>
                <a:lnTo>
                  <a:pt x="1133137" y="415728"/>
                </a:lnTo>
                <a:lnTo>
                  <a:pt x="1128820" y="439343"/>
                </a:lnTo>
                <a:lnTo>
                  <a:pt x="1116642" y="457543"/>
                </a:lnTo>
                <a:lnTo>
                  <a:pt x="1097968" y="470164"/>
                </a:lnTo>
                <a:lnTo>
                  <a:pt x="1074332" y="477247"/>
                </a:lnTo>
                <a:lnTo>
                  <a:pt x="1047378" y="479035"/>
                </a:lnTo>
                <a:lnTo>
                  <a:pt x="1018803" y="475959"/>
                </a:lnTo>
              </a:path>
            </a:pathLst>
          </a:custGeom>
          <a:ln w="25400">
            <a:solidFill>
              <a:srgbClr val="C4262E"/>
            </a:solidFill>
            <a:prstDash val="solid"/>
            <a:tailEnd type="triangle"/>
          </a:ln>
        </p:spPr>
      </p:sp>
      <p:sp>
        <p:nvSpPr>
          <p:cNvPr id="256" name="Shape 254"/>
          <p:cNvSpPr/>
          <p:nvPr/>
        </p:nvSpPr>
        <p:spPr>
          <a:xfrm rot="169550">
            <a:off x="3380695" y="6153377"/>
            <a:ext cx="779553" cy="115676"/>
          </a:xfrm>
          <a:prstGeom prst="rect">
            <a:avLst/>
          </a:prstGeom>
          <a:solidFill>
            <a:srgbClr val="C4262E"/>
          </a:solidFill>
          <a:ln/>
        </p:spPr>
      </p:sp>
      <p:sp>
        <p:nvSpPr>
          <p:cNvPr id="257" name="Shape 255"/>
          <p:cNvSpPr/>
          <p:nvPr/>
        </p:nvSpPr>
        <p:spPr>
          <a:xfrm>
            <a:off x="3692748" y="6133490"/>
            <a:ext cx="155448" cy="155448"/>
          </a:xfrm>
          <a:prstGeom prst="ellipse">
            <a:avLst/>
          </a:prstGeom>
          <a:solidFill>
            <a:srgbClr val="FFFFFF"/>
          </a:solidFill>
          <a:ln w="9525">
            <a:solidFill>
              <a:srgbClr val="1B1B1B"/>
            </a:solidFill>
            <a:prstDash val="solid"/>
          </a:ln>
        </p:spPr>
      </p:sp>
      <p:sp>
        <p:nvSpPr>
          <p:cNvPr id="258" name="Text 256"/>
          <p:cNvSpPr txBox="1"/>
          <p:nvPr/>
        </p:nvSpPr>
        <p:spPr>
          <a:xfrm>
            <a:off x="3692748" y="6133490"/>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1</a:t>
            </a:r>
            <a:endParaRPr lang="en-US" sz="600" dirty="0"/>
          </a:p>
        </p:txBody>
      </p:sp>
      <p:sp>
        <p:nvSpPr>
          <p:cNvPr id="259" name="Shape 257"/>
          <p:cNvSpPr/>
          <p:nvPr/>
        </p:nvSpPr>
        <p:spPr>
          <a:xfrm rot="2669841">
            <a:off x="2047676" y="5434260"/>
            <a:ext cx="691539" cy="115676"/>
          </a:xfrm>
          <a:prstGeom prst="rect">
            <a:avLst/>
          </a:prstGeom>
          <a:solidFill>
            <a:srgbClr val="F0B9BC"/>
          </a:solidFill>
          <a:ln w="6350">
            <a:solidFill>
              <a:srgbClr val="1B1B1B"/>
            </a:solidFill>
            <a:prstDash val="solid"/>
          </a:ln>
        </p:spPr>
      </p:sp>
      <p:sp>
        <p:nvSpPr>
          <p:cNvPr id="260" name="Shape 258"/>
          <p:cNvSpPr/>
          <p:nvPr/>
        </p:nvSpPr>
        <p:spPr>
          <a:xfrm>
            <a:off x="2315722" y="5414374"/>
            <a:ext cx="155448" cy="155448"/>
          </a:xfrm>
          <a:prstGeom prst="ellipse">
            <a:avLst/>
          </a:prstGeom>
          <a:solidFill>
            <a:srgbClr val="FFFFFF"/>
          </a:solidFill>
          <a:ln w="9525">
            <a:solidFill>
              <a:srgbClr val="1B1B1B"/>
            </a:solidFill>
            <a:prstDash val="solid"/>
          </a:ln>
        </p:spPr>
      </p:sp>
      <p:sp>
        <p:nvSpPr>
          <p:cNvPr id="261" name="Text 259"/>
          <p:cNvSpPr txBox="1"/>
          <p:nvPr/>
        </p:nvSpPr>
        <p:spPr>
          <a:xfrm>
            <a:off x="2315722" y="5414374"/>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2</a:t>
            </a:r>
            <a:endParaRPr lang="en-US" sz="600" dirty="0"/>
          </a:p>
        </p:txBody>
      </p:sp>
      <p:sp>
        <p:nvSpPr>
          <p:cNvPr id="262" name="Shape 260"/>
          <p:cNvSpPr/>
          <p:nvPr/>
        </p:nvSpPr>
        <p:spPr>
          <a:xfrm rot="-1236591">
            <a:off x="2297931" y="4903048"/>
            <a:ext cx="578378" cy="115676"/>
          </a:xfrm>
          <a:prstGeom prst="rect">
            <a:avLst/>
          </a:prstGeom>
          <a:solidFill>
            <a:srgbClr val="1B1B1B"/>
          </a:solidFill>
          <a:ln/>
        </p:spPr>
      </p:sp>
      <p:sp>
        <p:nvSpPr>
          <p:cNvPr id="263" name="Shape 261"/>
          <p:cNvSpPr/>
          <p:nvPr/>
        </p:nvSpPr>
        <p:spPr>
          <a:xfrm>
            <a:off x="2509396" y="4883162"/>
            <a:ext cx="155448" cy="155448"/>
          </a:xfrm>
          <a:prstGeom prst="ellipse">
            <a:avLst/>
          </a:prstGeom>
          <a:solidFill>
            <a:srgbClr val="FFFFFF"/>
          </a:solidFill>
          <a:ln w="9525">
            <a:solidFill>
              <a:srgbClr val="1B1B1B"/>
            </a:solidFill>
            <a:prstDash val="solid"/>
          </a:ln>
        </p:spPr>
      </p:sp>
      <p:sp>
        <p:nvSpPr>
          <p:cNvPr id="264" name="Text 262"/>
          <p:cNvSpPr txBox="1"/>
          <p:nvPr/>
        </p:nvSpPr>
        <p:spPr>
          <a:xfrm>
            <a:off x="2509396" y="4883162"/>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3</a:t>
            </a:r>
            <a:endParaRPr lang="en-US" sz="600" dirty="0"/>
          </a:p>
        </p:txBody>
      </p:sp>
      <p:sp>
        <p:nvSpPr>
          <p:cNvPr id="265" name="Shape 263"/>
          <p:cNvSpPr/>
          <p:nvPr/>
        </p:nvSpPr>
        <p:spPr>
          <a:xfrm rot="1650735">
            <a:off x="3201295" y="5153361"/>
            <a:ext cx="452643" cy="115676"/>
          </a:xfrm>
          <a:prstGeom prst="rect">
            <a:avLst/>
          </a:prstGeom>
          <a:solidFill>
            <a:srgbClr val="9A9A9A"/>
          </a:solidFill>
          <a:ln/>
        </p:spPr>
      </p:sp>
      <p:sp>
        <p:nvSpPr>
          <p:cNvPr id="266" name="Shape 264"/>
          <p:cNvSpPr/>
          <p:nvPr/>
        </p:nvSpPr>
        <p:spPr>
          <a:xfrm>
            <a:off x="3349892" y="5133475"/>
            <a:ext cx="155448" cy="155448"/>
          </a:xfrm>
          <a:prstGeom prst="ellipse">
            <a:avLst/>
          </a:prstGeom>
          <a:solidFill>
            <a:srgbClr val="FFFFFF"/>
          </a:solidFill>
          <a:ln w="9525">
            <a:solidFill>
              <a:srgbClr val="1B1B1B"/>
            </a:solidFill>
            <a:prstDash val="solid"/>
          </a:ln>
        </p:spPr>
      </p:sp>
      <p:sp>
        <p:nvSpPr>
          <p:cNvPr id="267" name="Text 265"/>
          <p:cNvSpPr txBox="1"/>
          <p:nvPr/>
        </p:nvSpPr>
        <p:spPr>
          <a:xfrm>
            <a:off x="3349892" y="5133475"/>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4</a:t>
            </a:r>
            <a:endParaRPr lang="en-US" sz="600" dirty="0"/>
          </a:p>
        </p:txBody>
      </p:sp>
      <p:sp>
        <p:nvSpPr>
          <p:cNvPr id="268" name="Shape 266"/>
          <p:cNvSpPr/>
          <p:nvPr/>
        </p:nvSpPr>
        <p:spPr>
          <a:xfrm rot="173647">
            <a:off x="2438622" y="4702270"/>
            <a:ext cx="427497" cy="92540"/>
          </a:xfrm>
          <a:prstGeom prst="rect">
            <a:avLst/>
          </a:prstGeom>
          <a:solidFill>
            <a:srgbClr val="9A9A9A"/>
          </a:solidFill>
          <a:ln/>
        </p:spPr>
      </p:sp>
      <p:sp>
        <p:nvSpPr>
          <p:cNvPr id="269" name="Shape 267"/>
          <p:cNvSpPr/>
          <p:nvPr/>
        </p:nvSpPr>
        <p:spPr>
          <a:xfrm>
            <a:off x="2574647" y="4670816"/>
            <a:ext cx="155448" cy="155448"/>
          </a:xfrm>
          <a:prstGeom prst="ellipse">
            <a:avLst/>
          </a:prstGeom>
          <a:solidFill>
            <a:srgbClr val="FFFFFF"/>
          </a:solidFill>
          <a:ln w="9525">
            <a:solidFill>
              <a:srgbClr val="1B1B1B"/>
            </a:solidFill>
            <a:prstDash val="solid"/>
          </a:ln>
        </p:spPr>
      </p:sp>
      <p:sp>
        <p:nvSpPr>
          <p:cNvPr id="270" name="Text 268"/>
          <p:cNvSpPr txBox="1"/>
          <p:nvPr/>
        </p:nvSpPr>
        <p:spPr>
          <a:xfrm>
            <a:off x="2574647" y="4670816"/>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5</a:t>
            </a:r>
            <a:endParaRPr lang="en-US" sz="600" dirty="0"/>
          </a:p>
        </p:txBody>
      </p:sp>
      <p:sp>
        <p:nvSpPr>
          <p:cNvPr id="271" name="Shape 269"/>
          <p:cNvSpPr/>
          <p:nvPr/>
        </p:nvSpPr>
        <p:spPr>
          <a:xfrm>
            <a:off x="3399165" y="5504845"/>
            <a:ext cx="87057" cy="610449"/>
          </a:xfrm>
          <a:custGeom>
            <a:avLst/>
            <a:gdLst/>
            <a:ahLst/>
            <a:cxnLst/>
            <a:rect l="l" t="t" r="r" b="b"/>
            <a:pathLst>
              <a:path w="87057" h="610449">
                <a:moveTo>
                  <a:pt x="87057" y="610449"/>
                </a:moveTo>
                <a:lnTo>
                  <a:pt x="0" y="307474"/>
                </a:lnTo>
                <a:lnTo>
                  <a:pt x="12982" y="0"/>
                </a:lnTo>
              </a:path>
            </a:pathLst>
          </a:custGeom>
          <a:ln w="19050">
            <a:solidFill>
              <a:srgbClr val="1B1B1B"/>
            </a:solidFill>
            <a:prstDash val="solid"/>
            <a:tailEnd type="triangle"/>
          </a:ln>
        </p:spPr>
      </p:sp>
      <p:sp>
        <p:nvSpPr>
          <p:cNvPr id="272" name="Shape 270"/>
          <p:cNvSpPr/>
          <p:nvPr/>
        </p:nvSpPr>
        <p:spPr>
          <a:xfrm>
            <a:off x="3319607" y="5412304"/>
            <a:ext cx="185081" cy="185081"/>
          </a:xfrm>
          <a:prstGeom prst="ellipse">
            <a:avLst/>
          </a:prstGeom>
          <a:solidFill>
            <a:srgbClr val="FFFFFF"/>
          </a:solidFill>
          <a:ln w="19050">
            <a:solidFill>
              <a:srgbClr val="C4262E"/>
            </a:solidFill>
            <a:prstDash val="solid"/>
          </a:ln>
        </p:spPr>
      </p:sp>
      <p:sp>
        <p:nvSpPr>
          <p:cNvPr id="273" name="Shape 271"/>
          <p:cNvSpPr/>
          <p:nvPr/>
        </p:nvSpPr>
        <p:spPr>
          <a:xfrm>
            <a:off x="3137827" y="5247712"/>
            <a:ext cx="548640" cy="146304"/>
          </a:xfrm>
          <a:prstGeom prst="rect">
            <a:avLst/>
          </a:prstGeom>
          <a:solidFill>
            <a:srgbClr val="FFFFFF"/>
          </a:solidFill>
          <a:ln/>
        </p:spPr>
      </p:sp>
      <p:sp>
        <p:nvSpPr>
          <p:cNvPr id="274" name="Text 272"/>
          <p:cNvSpPr txBox="1"/>
          <p:nvPr/>
        </p:nvSpPr>
        <p:spPr>
          <a:xfrm>
            <a:off x="3137827" y="5247712"/>
            <a:ext cx="548640" cy="146304"/>
          </a:xfrm>
          <a:prstGeom prst="rect">
            <a:avLst/>
          </a:prstGeom>
          <a:noFill/>
          <a:ln/>
        </p:spPr>
        <p:txBody>
          <a:bodyPr wrap="square" lIns="0" tIns="0" rIns="0" bIns="0" rtlCol="0" anchor="ctr"/>
          <a:lstStyle/>
          <a:p>
            <a:pPr algn="ctr" indent="0" marL="0">
              <a:buNone/>
            </a:pPr>
            <a:r>
              <a:rPr lang="en-US" sz="500" b="1" dirty="0">
                <a:solidFill>
                  <a:srgbClr val="C4262E"/>
                </a:solidFill>
                <a:latin typeface="Arial" pitchFamily="34" charset="0"/>
                <a:ea typeface="Arial" pitchFamily="34" charset="-122"/>
                <a:cs typeface="Arial" pitchFamily="34" charset="-120"/>
              </a:rPr>
              <a:t>OPEN FORUM</a:t>
            </a:r>
            <a:endParaRPr lang="en-US" sz="500" dirty="0"/>
          </a:p>
        </p:txBody>
      </p:sp>
      <p:sp>
        <p:nvSpPr>
          <p:cNvPr id="275" name="Shape 273"/>
          <p:cNvSpPr/>
          <p:nvPr/>
        </p:nvSpPr>
        <p:spPr>
          <a:xfrm>
            <a:off x="3877375" y="6017537"/>
            <a:ext cx="41148" cy="41148"/>
          </a:xfrm>
          <a:prstGeom prst="ellipse">
            <a:avLst/>
          </a:prstGeom>
          <a:solidFill>
            <a:srgbClr val="C4262E"/>
          </a:solidFill>
          <a:ln/>
        </p:spPr>
      </p:sp>
      <p:sp>
        <p:nvSpPr>
          <p:cNvPr id="276" name="Shape 274"/>
          <p:cNvSpPr/>
          <p:nvPr/>
        </p:nvSpPr>
        <p:spPr>
          <a:xfrm>
            <a:off x="3880118" y="6061428"/>
            <a:ext cx="35662" cy="93269"/>
          </a:xfrm>
          <a:prstGeom prst="roundRect">
            <a:avLst>
              <a:gd name="adj" fmla="val 51281"/>
            </a:avLst>
          </a:prstGeom>
          <a:solidFill>
            <a:srgbClr val="C4262E"/>
          </a:solidFill>
          <a:ln/>
        </p:spPr>
      </p:sp>
      <p:sp>
        <p:nvSpPr>
          <p:cNvPr id="277" name="Text 275"/>
          <p:cNvSpPr txBox="1"/>
          <p:nvPr/>
        </p:nvSpPr>
        <p:spPr>
          <a:xfrm>
            <a:off x="438912" y="5870448"/>
            <a:ext cx="1737360" cy="566928"/>
          </a:xfrm>
          <a:prstGeom prst="rect">
            <a:avLst/>
          </a:prstGeom>
          <a:noFill/>
          <a:ln/>
        </p:spPr>
        <p:txBody>
          <a:bodyPr wrap="square" lIns="0" tIns="0" rIns="0" bIns="0" rtlCol="0" anchor="t"/>
          <a:lstStyle/>
          <a:p>
            <a:pPr indent="0" marL="0">
              <a:buNone/>
            </a:pPr>
            <a:r>
              <a:rPr lang="en-US" sz="550" dirty="0">
                <a:solidFill>
                  <a:srgbClr val="6B6B6B"/>
                </a:solidFill>
                <a:latin typeface="Arial" pitchFamily="34" charset="0"/>
                <a:ea typeface="Arial" pitchFamily="34" charset="-122"/>
                <a:cs typeface="Arial" pitchFamily="34" charset="-120"/>
              </a:rPr>
              <a:t>1  forum · press · exhibition · auditorium</a:t>
            </a:r>
            <a:endParaRPr lang="en-US" sz="550" dirty="0"/>
          </a:p>
          <a:p>
            <a:pPr indent="0" marL="0">
              <a:buNone/>
            </a:pPr>
            <a:r>
              <a:rPr lang="en-US" sz="550" dirty="0">
                <a:solidFill>
                  <a:srgbClr val="6B6B6B"/>
                </a:solidFill>
                <a:latin typeface="Arial" pitchFamily="34" charset="0"/>
                <a:ea typeface="Arial" pitchFamily="34" charset="-122"/>
                <a:cs typeface="Arial" pitchFamily="34" charset="-120"/>
              </a:rPr>
              <a:t>2  library · workshops · education</a:t>
            </a:r>
            <a:endParaRPr lang="en-US" sz="550" dirty="0"/>
          </a:p>
          <a:p>
            <a:pPr indent="0" marL="0">
              <a:buNone/>
            </a:pPr>
            <a:r>
              <a:rPr lang="en-US" sz="550" dirty="0">
                <a:solidFill>
                  <a:srgbClr val="6B6B6B"/>
                </a:solidFill>
                <a:latin typeface="Arial" pitchFamily="34" charset="0"/>
                <a:ea typeface="Arial" pitchFamily="34" charset="-122"/>
                <a:cs typeface="Arial" pitchFamily="34" charset="-120"/>
              </a:rPr>
              <a:t>3  archive · research</a:t>
            </a:r>
            <a:endParaRPr lang="en-US" sz="550" dirty="0"/>
          </a:p>
          <a:p>
            <a:pPr indent="0" marL="0">
              <a:buNone/>
            </a:pPr>
            <a:r>
              <a:rPr lang="en-US" sz="550" dirty="0">
                <a:solidFill>
                  <a:srgbClr val="6B6B6B"/>
                </a:solidFill>
                <a:latin typeface="Arial" pitchFamily="34" charset="0"/>
                <a:ea typeface="Arial" pitchFamily="34" charset="-122"/>
                <a:cs typeface="Arial" pitchFamily="34" charset="-120"/>
              </a:rPr>
              <a:t>4  media · publishing</a:t>
            </a:r>
            <a:endParaRPr lang="en-US" sz="550" dirty="0"/>
          </a:p>
          <a:p>
            <a:pPr indent="0" marL="0">
              <a:buNone/>
            </a:pPr>
            <a:r>
              <a:rPr lang="en-US" sz="550" dirty="0">
                <a:solidFill>
                  <a:srgbClr val="6B6B6B"/>
                </a:solidFill>
                <a:latin typeface="Arial" pitchFamily="34" charset="0"/>
                <a:ea typeface="Arial" pitchFamily="34" charset="-122"/>
                <a:cs typeface="Arial" pitchFamily="34" charset="-120"/>
              </a:rPr>
              <a:t>5  print · dispatch (service side)</a:t>
            </a:r>
            <a:endParaRPr lang="en-US" sz="550" dirty="0"/>
          </a:p>
        </p:txBody>
      </p:sp>
      <p:sp>
        <p:nvSpPr>
          <p:cNvPr id="278" name="Shape 276"/>
          <p:cNvSpPr/>
          <p:nvPr/>
        </p:nvSpPr>
        <p:spPr>
          <a:xfrm>
            <a:off x="6035040" y="4114800"/>
            <a:ext cx="5760720" cy="2377440"/>
          </a:xfrm>
          <a:prstGeom prst="rect">
            <a:avLst/>
          </a:prstGeom>
          <a:solidFill>
            <a:srgbClr val="FFFFFF"/>
          </a:solidFill>
          <a:ln w="6350">
            <a:solidFill>
              <a:srgbClr val="D9D9D9"/>
            </a:solidFill>
            <a:prstDash val="solid"/>
          </a:ln>
        </p:spPr>
      </p:sp>
      <p:sp>
        <p:nvSpPr>
          <p:cNvPr id="279" name="Text 277"/>
          <p:cNvSpPr txBox="1"/>
          <p:nvPr/>
        </p:nvSpPr>
        <p:spPr>
          <a:xfrm>
            <a:off x="6108192" y="4169664"/>
            <a:ext cx="5614416"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  </a:t>
            </a:r>
            <a:pPr indent="0" marL="0">
              <a:buNone/>
            </a:pPr>
            <a:r>
              <a:rPr lang="en-US" sz="750" b="1" spc="50" kern="0" dirty="0">
                <a:solidFill>
                  <a:srgbClr val="1B1B1B"/>
                </a:solidFill>
                <a:latin typeface="Arial" pitchFamily="34" charset="0"/>
                <a:ea typeface="Arial" pitchFamily="34" charset="-122"/>
                <a:cs typeface="Arial" pitchFamily="34" charset="-120"/>
              </a:rPr>
              <a:t>RESULTING SECTION (diagrammatic)</a:t>
            </a:r>
            <a:endParaRPr lang="en-US" sz="750" dirty="0"/>
          </a:p>
        </p:txBody>
      </p:sp>
      <p:sp>
        <p:nvSpPr>
          <p:cNvPr id="280" name="Shape 278"/>
          <p:cNvSpPr/>
          <p:nvPr/>
        </p:nvSpPr>
        <p:spPr>
          <a:xfrm>
            <a:off x="6089904" y="5408827"/>
            <a:ext cx="5650992" cy="1046837"/>
          </a:xfrm>
          <a:custGeom>
            <a:avLst/>
            <a:gdLst/>
            <a:ahLst/>
            <a:cxnLst/>
            <a:rect l="l" t="t" r="r" b="b"/>
            <a:pathLst>
              <a:path w="5650992" h="1046837">
                <a:moveTo>
                  <a:pt x="0" y="711801"/>
                </a:moveTo>
                <a:lnTo>
                  <a:pt x="94183" y="711801"/>
                </a:lnTo>
                <a:lnTo>
                  <a:pt x="188366" y="711801"/>
                </a:lnTo>
                <a:lnTo>
                  <a:pt x="282550" y="711801"/>
                </a:lnTo>
                <a:lnTo>
                  <a:pt x="376733" y="711801"/>
                </a:lnTo>
                <a:lnTo>
                  <a:pt x="470916" y="711801"/>
                </a:lnTo>
                <a:lnTo>
                  <a:pt x="565099" y="711801"/>
                </a:lnTo>
                <a:lnTo>
                  <a:pt x="659282" y="711199"/>
                </a:lnTo>
                <a:lnTo>
                  <a:pt x="753466" y="704447"/>
                </a:lnTo>
                <a:lnTo>
                  <a:pt x="847649" y="690333"/>
                </a:lnTo>
                <a:lnTo>
                  <a:pt x="941832" y="669156"/>
                </a:lnTo>
                <a:lnTo>
                  <a:pt x="1036015" y="641362"/>
                </a:lnTo>
                <a:lnTo>
                  <a:pt x="1130198" y="607538"/>
                </a:lnTo>
                <a:lnTo>
                  <a:pt x="1224382" y="568399"/>
                </a:lnTo>
                <a:lnTo>
                  <a:pt x="1318565" y="524772"/>
                </a:lnTo>
                <a:lnTo>
                  <a:pt x="1412748" y="477576"/>
                </a:lnTo>
                <a:lnTo>
                  <a:pt x="1506931" y="427810"/>
                </a:lnTo>
                <a:lnTo>
                  <a:pt x="1601114" y="376523"/>
                </a:lnTo>
                <a:lnTo>
                  <a:pt x="1695298" y="324800"/>
                </a:lnTo>
                <a:lnTo>
                  <a:pt x="1789481" y="273732"/>
                </a:lnTo>
                <a:lnTo>
                  <a:pt x="1883664" y="224397"/>
                </a:lnTo>
                <a:lnTo>
                  <a:pt x="1977847" y="177837"/>
                </a:lnTo>
                <a:lnTo>
                  <a:pt x="2072030" y="135036"/>
                </a:lnTo>
                <a:lnTo>
                  <a:pt x="2166214" y="96898"/>
                </a:lnTo>
                <a:lnTo>
                  <a:pt x="2260397" y="64227"/>
                </a:lnTo>
                <a:lnTo>
                  <a:pt x="2354580" y="37714"/>
                </a:lnTo>
                <a:lnTo>
                  <a:pt x="2448763" y="17918"/>
                </a:lnTo>
                <a:lnTo>
                  <a:pt x="2542946" y="5257"/>
                </a:lnTo>
                <a:lnTo>
                  <a:pt x="2637130" y="0"/>
                </a:lnTo>
                <a:lnTo>
                  <a:pt x="2731313" y="2256"/>
                </a:lnTo>
                <a:lnTo>
                  <a:pt x="2825496" y="11979"/>
                </a:lnTo>
                <a:lnTo>
                  <a:pt x="2919679" y="28963"/>
                </a:lnTo>
                <a:lnTo>
                  <a:pt x="3013862" y="52848"/>
                </a:lnTo>
                <a:lnTo>
                  <a:pt x="3108046" y="83132"/>
                </a:lnTo>
                <a:lnTo>
                  <a:pt x="3202229" y="119174"/>
                </a:lnTo>
                <a:lnTo>
                  <a:pt x="3296412" y="160213"/>
                </a:lnTo>
                <a:lnTo>
                  <a:pt x="3390595" y="205383"/>
                </a:lnTo>
                <a:lnTo>
                  <a:pt x="3484778" y="253730"/>
                </a:lnTo>
                <a:lnTo>
                  <a:pt x="3578962" y="304233"/>
                </a:lnTo>
                <a:lnTo>
                  <a:pt x="3673145" y="355825"/>
                </a:lnTo>
                <a:lnTo>
                  <a:pt x="3767328" y="407418"/>
                </a:lnTo>
                <a:lnTo>
                  <a:pt x="3861511" y="457920"/>
                </a:lnTo>
                <a:lnTo>
                  <a:pt x="3955694" y="506267"/>
                </a:lnTo>
                <a:lnTo>
                  <a:pt x="4049878" y="551437"/>
                </a:lnTo>
                <a:lnTo>
                  <a:pt x="4144061" y="592477"/>
                </a:lnTo>
                <a:lnTo>
                  <a:pt x="4238244" y="628519"/>
                </a:lnTo>
                <a:lnTo>
                  <a:pt x="4332427" y="658802"/>
                </a:lnTo>
                <a:lnTo>
                  <a:pt x="4426610" y="682688"/>
                </a:lnTo>
                <a:lnTo>
                  <a:pt x="4520794" y="699672"/>
                </a:lnTo>
                <a:lnTo>
                  <a:pt x="4614977" y="709394"/>
                </a:lnTo>
                <a:lnTo>
                  <a:pt x="4709160" y="711801"/>
                </a:lnTo>
                <a:lnTo>
                  <a:pt x="4803343" y="711801"/>
                </a:lnTo>
                <a:lnTo>
                  <a:pt x="4897526" y="711801"/>
                </a:lnTo>
                <a:lnTo>
                  <a:pt x="4991710" y="711801"/>
                </a:lnTo>
                <a:lnTo>
                  <a:pt x="5085893" y="711801"/>
                </a:lnTo>
                <a:lnTo>
                  <a:pt x="5180076" y="711801"/>
                </a:lnTo>
                <a:lnTo>
                  <a:pt x="5274259" y="711801"/>
                </a:lnTo>
                <a:lnTo>
                  <a:pt x="5368442" y="711801"/>
                </a:lnTo>
                <a:lnTo>
                  <a:pt x="5462626" y="711801"/>
                </a:lnTo>
                <a:lnTo>
                  <a:pt x="5556809" y="711801"/>
                </a:lnTo>
                <a:lnTo>
                  <a:pt x="5650992" y="711801"/>
                </a:lnTo>
                <a:lnTo>
                  <a:pt x="5650992" y="1046837"/>
                </a:lnTo>
                <a:lnTo>
                  <a:pt x="0" y="1046837"/>
                </a:lnTo>
                <a:close/>
              </a:path>
            </a:pathLst>
          </a:custGeom>
          <a:solidFill>
            <a:srgbClr val="E3ECDC"/>
          </a:solidFill>
          <a:ln w="12700"/>
        </p:spPr>
      </p:sp>
      <p:sp>
        <p:nvSpPr>
          <p:cNvPr id="281" name="Shape 279"/>
          <p:cNvSpPr/>
          <p:nvPr/>
        </p:nvSpPr>
        <p:spPr>
          <a:xfrm>
            <a:off x="6089904" y="5408827"/>
            <a:ext cx="5650992" cy="711801"/>
          </a:xfrm>
          <a:custGeom>
            <a:avLst/>
            <a:gdLst/>
            <a:ahLst/>
            <a:cxnLst/>
            <a:rect l="l" t="t" r="r" b="b"/>
            <a:pathLst>
              <a:path w="5650992" h="711801">
                <a:moveTo>
                  <a:pt x="0" y="711801"/>
                </a:moveTo>
                <a:lnTo>
                  <a:pt x="94183" y="711801"/>
                </a:lnTo>
                <a:lnTo>
                  <a:pt x="188366" y="711801"/>
                </a:lnTo>
                <a:lnTo>
                  <a:pt x="282550" y="711801"/>
                </a:lnTo>
                <a:lnTo>
                  <a:pt x="376733" y="711801"/>
                </a:lnTo>
                <a:lnTo>
                  <a:pt x="470916" y="711801"/>
                </a:lnTo>
                <a:lnTo>
                  <a:pt x="565099" y="711801"/>
                </a:lnTo>
                <a:lnTo>
                  <a:pt x="659282" y="711199"/>
                </a:lnTo>
                <a:lnTo>
                  <a:pt x="753466" y="704447"/>
                </a:lnTo>
                <a:lnTo>
                  <a:pt x="847649" y="690333"/>
                </a:lnTo>
                <a:lnTo>
                  <a:pt x="941832" y="669156"/>
                </a:lnTo>
                <a:lnTo>
                  <a:pt x="1036015" y="641362"/>
                </a:lnTo>
                <a:lnTo>
                  <a:pt x="1130198" y="607538"/>
                </a:lnTo>
                <a:lnTo>
                  <a:pt x="1224382" y="568399"/>
                </a:lnTo>
                <a:lnTo>
                  <a:pt x="1318565" y="524772"/>
                </a:lnTo>
                <a:lnTo>
                  <a:pt x="1412748" y="477576"/>
                </a:lnTo>
                <a:lnTo>
                  <a:pt x="1506931" y="427810"/>
                </a:lnTo>
                <a:lnTo>
                  <a:pt x="1601114" y="376523"/>
                </a:lnTo>
                <a:lnTo>
                  <a:pt x="1695298" y="324800"/>
                </a:lnTo>
                <a:lnTo>
                  <a:pt x="1789481" y="273732"/>
                </a:lnTo>
                <a:lnTo>
                  <a:pt x="1883664" y="224397"/>
                </a:lnTo>
                <a:lnTo>
                  <a:pt x="1977847" y="177837"/>
                </a:lnTo>
                <a:lnTo>
                  <a:pt x="2072030" y="135036"/>
                </a:lnTo>
                <a:lnTo>
                  <a:pt x="2166214" y="96898"/>
                </a:lnTo>
                <a:lnTo>
                  <a:pt x="2260397" y="64227"/>
                </a:lnTo>
                <a:lnTo>
                  <a:pt x="2354580" y="37714"/>
                </a:lnTo>
                <a:lnTo>
                  <a:pt x="2448763" y="17918"/>
                </a:lnTo>
                <a:lnTo>
                  <a:pt x="2542946" y="5257"/>
                </a:lnTo>
                <a:lnTo>
                  <a:pt x="2637130" y="0"/>
                </a:lnTo>
                <a:lnTo>
                  <a:pt x="2731313" y="2256"/>
                </a:lnTo>
                <a:lnTo>
                  <a:pt x="2825496" y="11979"/>
                </a:lnTo>
                <a:lnTo>
                  <a:pt x="2919679" y="28963"/>
                </a:lnTo>
                <a:lnTo>
                  <a:pt x="3013862" y="52848"/>
                </a:lnTo>
                <a:lnTo>
                  <a:pt x="3108046" y="83132"/>
                </a:lnTo>
                <a:lnTo>
                  <a:pt x="3202229" y="119174"/>
                </a:lnTo>
                <a:lnTo>
                  <a:pt x="3296412" y="160213"/>
                </a:lnTo>
                <a:lnTo>
                  <a:pt x="3390595" y="205383"/>
                </a:lnTo>
                <a:lnTo>
                  <a:pt x="3484778" y="253730"/>
                </a:lnTo>
                <a:lnTo>
                  <a:pt x="3578962" y="304233"/>
                </a:lnTo>
                <a:lnTo>
                  <a:pt x="3673145" y="355825"/>
                </a:lnTo>
                <a:lnTo>
                  <a:pt x="3767328" y="407418"/>
                </a:lnTo>
                <a:lnTo>
                  <a:pt x="3861511" y="457920"/>
                </a:lnTo>
                <a:lnTo>
                  <a:pt x="3955694" y="506267"/>
                </a:lnTo>
                <a:lnTo>
                  <a:pt x="4049878" y="551437"/>
                </a:lnTo>
                <a:lnTo>
                  <a:pt x="4144061" y="592477"/>
                </a:lnTo>
                <a:lnTo>
                  <a:pt x="4238244" y="628519"/>
                </a:lnTo>
                <a:lnTo>
                  <a:pt x="4332427" y="658802"/>
                </a:lnTo>
                <a:lnTo>
                  <a:pt x="4426610" y="682688"/>
                </a:lnTo>
                <a:lnTo>
                  <a:pt x="4520794" y="699672"/>
                </a:lnTo>
                <a:lnTo>
                  <a:pt x="4614977" y="709394"/>
                </a:lnTo>
                <a:lnTo>
                  <a:pt x="4709160" y="711801"/>
                </a:lnTo>
                <a:lnTo>
                  <a:pt x="4803343" y="711801"/>
                </a:lnTo>
                <a:lnTo>
                  <a:pt x="4897526" y="711801"/>
                </a:lnTo>
                <a:lnTo>
                  <a:pt x="4991710" y="711801"/>
                </a:lnTo>
                <a:lnTo>
                  <a:pt x="5085893" y="711801"/>
                </a:lnTo>
                <a:lnTo>
                  <a:pt x="5180076" y="711801"/>
                </a:lnTo>
                <a:lnTo>
                  <a:pt x="5274259" y="711801"/>
                </a:lnTo>
                <a:lnTo>
                  <a:pt x="5368442" y="711801"/>
                </a:lnTo>
                <a:lnTo>
                  <a:pt x="5462626" y="711801"/>
                </a:lnTo>
                <a:lnTo>
                  <a:pt x="5556809" y="711801"/>
                </a:lnTo>
                <a:lnTo>
                  <a:pt x="5650992" y="711801"/>
                </a:lnTo>
              </a:path>
            </a:pathLst>
          </a:custGeom>
          <a:ln w="15875">
            <a:solidFill>
              <a:srgbClr val="1B1B1B"/>
            </a:solidFill>
            <a:prstDash val="solid"/>
          </a:ln>
        </p:spPr>
      </p:sp>
      <p:sp>
        <p:nvSpPr>
          <p:cNvPr id="282" name="Text 280"/>
          <p:cNvSpPr txBox="1"/>
          <p:nvPr/>
        </p:nvSpPr>
        <p:spPr>
          <a:xfrm>
            <a:off x="6200364" y="6129772"/>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283" name="Text 281"/>
          <p:cNvSpPr txBox="1"/>
          <p:nvPr/>
        </p:nvSpPr>
        <p:spPr>
          <a:xfrm>
            <a:off x="11173236" y="6129772"/>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284" name="Shape 282"/>
          <p:cNvSpPr/>
          <p:nvPr/>
        </p:nvSpPr>
        <p:spPr>
          <a:xfrm>
            <a:off x="7215530" y="5851773"/>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285" name="Shape 283"/>
          <p:cNvSpPr/>
          <p:nvPr/>
        </p:nvSpPr>
        <p:spPr>
          <a:xfrm>
            <a:off x="7165238" y="5760333"/>
            <a:ext cx="109728" cy="109728"/>
          </a:xfrm>
          <a:prstGeom prst="ellipse">
            <a:avLst/>
          </a:prstGeom>
          <a:solidFill>
            <a:srgbClr val="FFFFFF"/>
          </a:solidFill>
          <a:ln w="7620">
            <a:solidFill>
              <a:srgbClr val="4F7A43"/>
            </a:solidFill>
            <a:prstDash val="solid"/>
          </a:ln>
        </p:spPr>
      </p:sp>
      <p:sp>
        <p:nvSpPr>
          <p:cNvPr id="286" name="Shape 284"/>
          <p:cNvSpPr/>
          <p:nvPr/>
        </p:nvSpPr>
        <p:spPr>
          <a:xfrm>
            <a:off x="7667610" y="5631085"/>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287" name="Shape 285"/>
          <p:cNvSpPr/>
          <p:nvPr/>
        </p:nvSpPr>
        <p:spPr>
          <a:xfrm>
            <a:off x="7617318" y="5539645"/>
            <a:ext cx="109728" cy="109728"/>
          </a:xfrm>
          <a:prstGeom prst="ellipse">
            <a:avLst/>
          </a:prstGeom>
          <a:solidFill>
            <a:srgbClr val="FFFFFF"/>
          </a:solidFill>
          <a:ln w="7620">
            <a:solidFill>
              <a:srgbClr val="4F7A43"/>
            </a:solidFill>
            <a:prstDash val="solid"/>
          </a:ln>
        </p:spPr>
      </p:sp>
      <p:sp>
        <p:nvSpPr>
          <p:cNvPr id="288" name="Shape 286"/>
          <p:cNvSpPr/>
          <p:nvPr/>
        </p:nvSpPr>
        <p:spPr>
          <a:xfrm>
            <a:off x="10154046" y="5804239"/>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289" name="Shape 287"/>
          <p:cNvSpPr/>
          <p:nvPr/>
        </p:nvSpPr>
        <p:spPr>
          <a:xfrm>
            <a:off x="10103754" y="5712799"/>
            <a:ext cx="109728" cy="109728"/>
          </a:xfrm>
          <a:prstGeom prst="ellipse">
            <a:avLst/>
          </a:prstGeom>
          <a:solidFill>
            <a:srgbClr val="FFFFFF"/>
          </a:solidFill>
          <a:ln w="7620">
            <a:solidFill>
              <a:srgbClr val="4F7A43"/>
            </a:solidFill>
            <a:prstDash val="solid"/>
          </a:ln>
        </p:spPr>
      </p:sp>
      <p:sp>
        <p:nvSpPr>
          <p:cNvPr id="290" name="Shape 288"/>
          <p:cNvSpPr/>
          <p:nvPr/>
        </p:nvSpPr>
        <p:spPr>
          <a:xfrm>
            <a:off x="10606126" y="5943906"/>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291" name="Shape 289"/>
          <p:cNvSpPr/>
          <p:nvPr/>
        </p:nvSpPr>
        <p:spPr>
          <a:xfrm>
            <a:off x="10555834" y="5852466"/>
            <a:ext cx="109728" cy="109728"/>
          </a:xfrm>
          <a:prstGeom prst="ellipse">
            <a:avLst/>
          </a:prstGeom>
          <a:solidFill>
            <a:srgbClr val="FFFFFF"/>
          </a:solidFill>
          <a:ln w="7620">
            <a:solidFill>
              <a:srgbClr val="4F7A43"/>
            </a:solidFill>
            <a:prstDash val="solid"/>
          </a:ln>
        </p:spPr>
      </p:sp>
      <p:sp>
        <p:nvSpPr>
          <p:cNvPr id="292" name="Shape 290"/>
          <p:cNvSpPr/>
          <p:nvPr/>
        </p:nvSpPr>
        <p:spPr>
          <a:xfrm>
            <a:off x="6694560" y="5924245"/>
            <a:ext cx="372965" cy="125639"/>
          </a:xfrm>
          <a:prstGeom prst="rect">
            <a:avLst/>
          </a:prstGeom>
          <a:solidFill>
            <a:srgbClr val="C4262E"/>
          </a:solidFill>
          <a:ln/>
        </p:spPr>
      </p:sp>
      <p:sp>
        <p:nvSpPr>
          <p:cNvPr id="293" name="Shape 291"/>
          <p:cNvSpPr/>
          <p:nvPr/>
        </p:nvSpPr>
        <p:spPr>
          <a:xfrm>
            <a:off x="6553002" y="5750509"/>
            <a:ext cx="656082" cy="146304"/>
          </a:xfrm>
          <a:prstGeom prst="rect">
            <a:avLst/>
          </a:prstGeom>
          <a:solidFill>
            <a:srgbClr val="FFFFFF"/>
          </a:solidFill>
          <a:ln/>
        </p:spPr>
      </p:sp>
      <p:sp>
        <p:nvSpPr>
          <p:cNvPr id="294" name="Text 292"/>
          <p:cNvSpPr txBox="1"/>
          <p:nvPr/>
        </p:nvSpPr>
        <p:spPr>
          <a:xfrm>
            <a:off x="6553002" y="5750509"/>
            <a:ext cx="656082" cy="146304"/>
          </a:xfrm>
          <a:prstGeom prst="rect">
            <a:avLst/>
          </a:prstGeom>
          <a:noFill/>
          <a:ln/>
        </p:spPr>
        <p:txBody>
          <a:bodyPr wrap="square" lIns="0" tIns="0" rIns="0" bIns="0" rtlCol="0" anchor="ctr"/>
          <a:lstStyle/>
          <a:p>
            <a:pPr algn="ctr" indent="0" marL="0">
              <a:buNone/>
            </a:pPr>
            <a:r>
              <a:rPr lang="en-US" sz="500" b="1" dirty="0">
                <a:solidFill>
                  <a:srgbClr val="C4262E"/>
                </a:solidFill>
                <a:latin typeface="Arial" pitchFamily="34" charset="0"/>
                <a:ea typeface="Arial" pitchFamily="34" charset="-122"/>
                <a:cs typeface="Arial" pitchFamily="34" charset="-120"/>
              </a:rPr>
              <a:t>FORUM · PRESS</a:t>
            </a:r>
            <a:endParaRPr lang="en-US" sz="500" dirty="0"/>
          </a:p>
        </p:txBody>
      </p:sp>
      <p:sp>
        <p:nvSpPr>
          <p:cNvPr id="295" name="Shape 293"/>
          <p:cNvSpPr/>
          <p:nvPr/>
        </p:nvSpPr>
        <p:spPr>
          <a:xfrm>
            <a:off x="7403195" y="5540627"/>
            <a:ext cx="242428" cy="251277"/>
          </a:xfrm>
          <a:prstGeom prst="rect">
            <a:avLst/>
          </a:prstGeom>
          <a:solidFill>
            <a:srgbClr val="F0B9BC"/>
          </a:solidFill>
          <a:ln w="6350">
            <a:solidFill>
              <a:srgbClr val="1B1B1B"/>
            </a:solidFill>
            <a:prstDash val="solid"/>
          </a:ln>
        </p:spPr>
      </p:sp>
      <p:sp>
        <p:nvSpPr>
          <p:cNvPr id="296" name="Shape 294"/>
          <p:cNvSpPr/>
          <p:nvPr/>
        </p:nvSpPr>
        <p:spPr>
          <a:xfrm>
            <a:off x="7434987" y="5791904"/>
            <a:ext cx="9144" cy="126462"/>
          </a:xfrm>
          <a:custGeom>
            <a:avLst/>
            <a:gdLst/>
            <a:ahLst/>
            <a:cxnLst/>
            <a:rect l="l" t="t" r="r" b="b"/>
            <a:pathLst>
              <a:path w="9144" h="126462">
                <a:moveTo>
                  <a:pt x="4572" y="0"/>
                </a:moveTo>
                <a:lnTo>
                  <a:pt x="4572" y="126462"/>
                </a:lnTo>
              </a:path>
            </a:pathLst>
          </a:custGeom>
          <a:ln w="9525">
            <a:solidFill>
              <a:srgbClr val="1B1B1B"/>
            </a:solidFill>
            <a:prstDash val="solid"/>
          </a:ln>
        </p:spPr>
      </p:sp>
      <p:sp>
        <p:nvSpPr>
          <p:cNvPr id="297" name="Shape 295"/>
          <p:cNvSpPr/>
          <p:nvPr/>
        </p:nvSpPr>
        <p:spPr>
          <a:xfrm>
            <a:off x="7519836" y="5791904"/>
            <a:ext cx="9144" cy="83194"/>
          </a:xfrm>
          <a:custGeom>
            <a:avLst/>
            <a:gdLst/>
            <a:ahLst/>
            <a:cxnLst/>
            <a:rect l="l" t="t" r="r" b="b"/>
            <a:pathLst>
              <a:path w="9144" h="83194">
                <a:moveTo>
                  <a:pt x="4572" y="0"/>
                </a:moveTo>
                <a:lnTo>
                  <a:pt x="4572" y="83194"/>
                </a:lnTo>
              </a:path>
            </a:pathLst>
          </a:custGeom>
          <a:ln w="9525">
            <a:solidFill>
              <a:srgbClr val="1B1B1B"/>
            </a:solidFill>
            <a:prstDash val="solid"/>
          </a:ln>
        </p:spPr>
      </p:sp>
      <p:sp>
        <p:nvSpPr>
          <p:cNvPr id="298" name="Shape 296"/>
          <p:cNvSpPr/>
          <p:nvPr/>
        </p:nvSpPr>
        <p:spPr>
          <a:xfrm>
            <a:off x="7604686" y="5791904"/>
            <a:ext cx="9144" cy="38032"/>
          </a:xfrm>
          <a:custGeom>
            <a:avLst/>
            <a:gdLst/>
            <a:ahLst/>
            <a:cxnLst/>
            <a:rect l="l" t="t" r="r" b="b"/>
            <a:pathLst>
              <a:path w="9144" h="38032">
                <a:moveTo>
                  <a:pt x="4572" y="0"/>
                </a:moveTo>
                <a:lnTo>
                  <a:pt x="4572" y="38032"/>
                </a:lnTo>
              </a:path>
            </a:pathLst>
          </a:custGeom>
          <a:ln w="9525">
            <a:solidFill>
              <a:srgbClr val="1B1B1B"/>
            </a:solidFill>
            <a:prstDash val="solid"/>
          </a:ln>
        </p:spPr>
      </p:sp>
      <p:sp>
        <p:nvSpPr>
          <p:cNvPr id="299" name="Shape 297"/>
          <p:cNvSpPr/>
          <p:nvPr/>
        </p:nvSpPr>
        <p:spPr>
          <a:xfrm>
            <a:off x="7326669" y="5366891"/>
            <a:ext cx="395478" cy="146304"/>
          </a:xfrm>
          <a:prstGeom prst="rect">
            <a:avLst/>
          </a:prstGeom>
          <a:solidFill>
            <a:srgbClr val="FFFFFF"/>
          </a:solidFill>
          <a:ln/>
        </p:spPr>
      </p:sp>
      <p:sp>
        <p:nvSpPr>
          <p:cNvPr id="300" name="Text 298"/>
          <p:cNvSpPr txBox="1"/>
          <p:nvPr/>
        </p:nvSpPr>
        <p:spPr>
          <a:xfrm>
            <a:off x="7326669" y="5366891"/>
            <a:ext cx="395478" cy="146304"/>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LIBRARY</a:t>
            </a:r>
            <a:endParaRPr lang="en-US" sz="500" dirty="0"/>
          </a:p>
        </p:txBody>
      </p:sp>
      <p:sp>
        <p:nvSpPr>
          <p:cNvPr id="301" name="Shape 299"/>
          <p:cNvSpPr/>
          <p:nvPr/>
        </p:nvSpPr>
        <p:spPr>
          <a:xfrm>
            <a:off x="7813457" y="5331819"/>
            <a:ext cx="223779" cy="251277"/>
          </a:xfrm>
          <a:prstGeom prst="rect">
            <a:avLst/>
          </a:prstGeom>
          <a:solidFill>
            <a:srgbClr val="1B1B1B"/>
          </a:solidFill>
          <a:ln/>
        </p:spPr>
      </p:sp>
      <p:sp>
        <p:nvSpPr>
          <p:cNvPr id="302" name="Shape 300"/>
          <p:cNvSpPr/>
          <p:nvPr/>
        </p:nvSpPr>
        <p:spPr>
          <a:xfrm>
            <a:off x="7842451" y="5583096"/>
            <a:ext cx="9144" cy="116868"/>
          </a:xfrm>
          <a:custGeom>
            <a:avLst/>
            <a:gdLst/>
            <a:ahLst/>
            <a:cxnLst/>
            <a:rect l="l" t="t" r="r" b="b"/>
            <a:pathLst>
              <a:path w="9144" h="116868">
                <a:moveTo>
                  <a:pt x="4572" y="0"/>
                </a:moveTo>
                <a:lnTo>
                  <a:pt x="4572" y="116868"/>
                </a:lnTo>
              </a:path>
            </a:pathLst>
          </a:custGeom>
          <a:ln w="9525">
            <a:solidFill>
              <a:srgbClr val="1B1B1B"/>
            </a:solidFill>
            <a:prstDash val="solid"/>
          </a:ln>
        </p:spPr>
      </p:sp>
      <p:sp>
        <p:nvSpPr>
          <p:cNvPr id="303" name="Shape 301"/>
          <p:cNvSpPr/>
          <p:nvPr/>
        </p:nvSpPr>
        <p:spPr>
          <a:xfrm>
            <a:off x="7920774" y="5583096"/>
            <a:ext cx="9144" cy="75105"/>
          </a:xfrm>
          <a:custGeom>
            <a:avLst/>
            <a:gdLst/>
            <a:ahLst/>
            <a:cxnLst/>
            <a:rect l="l" t="t" r="r" b="b"/>
            <a:pathLst>
              <a:path w="9144" h="75105">
                <a:moveTo>
                  <a:pt x="4572" y="0"/>
                </a:moveTo>
                <a:lnTo>
                  <a:pt x="4572" y="75105"/>
                </a:lnTo>
              </a:path>
            </a:pathLst>
          </a:custGeom>
          <a:ln w="9525">
            <a:solidFill>
              <a:srgbClr val="1B1B1B"/>
            </a:solidFill>
            <a:prstDash val="solid"/>
          </a:ln>
        </p:spPr>
      </p:sp>
      <p:sp>
        <p:nvSpPr>
          <p:cNvPr id="304" name="Shape 302"/>
          <p:cNvSpPr/>
          <p:nvPr/>
        </p:nvSpPr>
        <p:spPr>
          <a:xfrm>
            <a:off x="7999097" y="5583096"/>
            <a:ext cx="9144" cy="34897"/>
          </a:xfrm>
          <a:custGeom>
            <a:avLst/>
            <a:gdLst/>
            <a:ahLst/>
            <a:cxnLst/>
            <a:rect l="l" t="t" r="r" b="b"/>
            <a:pathLst>
              <a:path w="9144" h="34897">
                <a:moveTo>
                  <a:pt x="4572" y="0"/>
                </a:moveTo>
                <a:lnTo>
                  <a:pt x="4572" y="34897"/>
                </a:lnTo>
              </a:path>
            </a:pathLst>
          </a:custGeom>
          <a:ln w="9525">
            <a:solidFill>
              <a:srgbClr val="1B1B1B"/>
            </a:solidFill>
            <a:prstDash val="solid"/>
          </a:ln>
        </p:spPr>
      </p:sp>
      <p:sp>
        <p:nvSpPr>
          <p:cNvPr id="305" name="Shape 303"/>
          <p:cNvSpPr/>
          <p:nvPr/>
        </p:nvSpPr>
        <p:spPr>
          <a:xfrm>
            <a:off x="7488720" y="5158083"/>
            <a:ext cx="873252" cy="146304"/>
          </a:xfrm>
          <a:prstGeom prst="rect">
            <a:avLst/>
          </a:prstGeom>
          <a:solidFill>
            <a:srgbClr val="FFFFFF"/>
          </a:solidFill>
          <a:ln/>
        </p:spPr>
      </p:sp>
      <p:sp>
        <p:nvSpPr>
          <p:cNvPr id="306" name="Text 304"/>
          <p:cNvSpPr txBox="1"/>
          <p:nvPr/>
        </p:nvSpPr>
        <p:spPr>
          <a:xfrm>
            <a:off x="7488720" y="5158083"/>
            <a:ext cx="873252" cy="146304"/>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ARCHIVE · RESEARCH</a:t>
            </a:r>
            <a:endParaRPr lang="en-US" sz="500" dirty="0"/>
          </a:p>
        </p:txBody>
      </p:sp>
      <p:sp>
        <p:nvSpPr>
          <p:cNvPr id="307" name="Shape 305"/>
          <p:cNvSpPr/>
          <p:nvPr/>
        </p:nvSpPr>
        <p:spPr>
          <a:xfrm>
            <a:off x="8186422" y="5191082"/>
            <a:ext cx="205131" cy="251277"/>
          </a:xfrm>
          <a:prstGeom prst="rect">
            <a:avLst/>
          </a:prstGeom>
          <a:solidFill>
            <a:srgbClr val="9A9A9A"/>
          </a:solidFill>
          <a:ln/>
        </p:spPr>
      </p:sp>
      <p:sp>
        <p:nvSpPr>
          <p:cNvPr id="308" name="Shape 306"/>
          <p:cNvSpPr/>
          <p:nvPr/>
        </p:nvSpPr>
        <p:spPr>
          <a:xfrm>
            <a:off x="8212620" y="5442359"/>
            <a:ext cx="9144" cy="78509"/>
          </a:xfrm>
          <a:custGeom>
            <a:avLst/>
            <a:gdLst/>
            <a:ahLst/>
            <a:cxnLst/>
            <a:rect l="l" t="t" r="r" b="b"/>
            <a:pathLst>
              <a:path w="9144" h="78509">
                <a:moveTo>
                  <a:pt x="4572" y="0"/>
                </a:moveTo>
                <a:lnTo>
                  <a:pt x="4572" y="78509"/>
                </a:lnTo>
              </a:path>
            </a:pathLst>
          </a:custGeom>
          <a:ln w="9525">
            <a:solidFill>
              <a:srgbClr val="1B1B1B"/>
            </a:solidFill>
            <a:prstDash val="solid"/>
          </a:ln>
        </p:spPr>
      </p:sp>
      <p:sp>
        <p:nvSpPr>
          <p:cNvPr id="309" name="Shape 307"/>
          <p:cNvSpPr/>
          <p:nvPr/>
        </p:nvSpPr>
        <p:spPr>
          <a:xfrm>
            <a:off x="8284416" y="5442359"/>
            <a:ext cx="9144" cy="51305"/>
          </a:xfrm>
          <a:custGeom>
            <a:avLst/>
            <a:gdLst/>
            <a:ahLst/>
            <a:cxnLst/>
            <a:rect l="l" t="t" r="r" b="b"/>
            <a:pathLst>
              <a:path w="9144" h="51305">
                <a:moveTo>
                  <a:pt x="4572" y="0"/>
                </a:moveTo>
                <a:lnTo>
                  <a:pt x="4572" y="51305"/>
                </a:lnTo>
              </a:path>
            </a:pathLst>
          </a:custGeom>
          <a:ln w="9525">
            <a:solidFill>
              <a:srgbClr val="1B1B1B"/>
            </a:solidFill>
            <a:prstDash val="solid"/>
          </a:ln>
        </p:spPr>
      </p:sp>
      <p:sp>
        <p:nvSpPr>
          <p:cNvPr id="310" name="Shape 308"/>
          <p:cNvSpPr/>
          <p:nvPr/>
        </p:nvSpPr>
        <p:spPr>
          <a:xfrm>
            <a:off x="8356211" y="5442359"/>
            <a:ext cx="9144" cy="27428"/>
          </a:xfrm>
          <a:custGeom>
            <a:avLst/>
            <a:gdLst/>
            <a:ahLst/>
            <a:cxnLst/>
            <a:rect l="l" t="t" r="r" b="b"/>
            <a:pathLst>
              <a:path w="9144" h="27428">
                <a:moveTo>
                  <a:pt x="4572" y="0"/>
                </a:moveTo>
                <a:lnTo>
                  <a:pt x="4572" y="27428"/>
                </a:lnTo>
              </a:path>
            </a:pathLst>
          </a:custGeom>
          <a:ln w="9525">
            <a:solidFill>
              <a:srgbClr val="1B1B1B"/>
            </a:solidFill>
            <a:prstDash val="solid"/>
          </a:ln>
        </p:spPr>
      </p:sp>
      <p:sp>
        <p:nvSpPr>
          <p:cNvPr id="311" name="Shape 309"/>
          <p:cNvSpPr/>
          <p:nvPr/>
        </p:nvSpPr>
        <p:spPr>
          <a:xfrm>
            <a:off x="7960947" y="5017346"/>
            <a:ext cx="656082" cy="146304"/>
          </a:xfrm>
          <a:prstGeom prst="rect">
            <a:avLst/>
          </a:prstGeom>
          <a:solidFill>
            <a:srgbClr val="FFFFFF"/>
          </a:solidFill>
          <a:ln/>
        </p:spPr>
      </p:sp>
      <p:sp>
        <p:nvSpPr>
          <p:cNvPr id="312" name="Text 310"/>
          <p:cNvSpPr txBox="1"/>
          <p:nvPr/>
        </p:nvSpPr>
        <p:spPr>
          <a:xfrm>
            <a:off x="7960947" y="5017346"/>
            <a:ext cx="656082" cy="146304"/>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MEDIA · PUBL.</a:t>
            </a:r>
            <a:endParaRPr lang="en-US" sz="500" dirty="0"/>
          </a:p>
        </p:txBody>
      </p:sp>
      <p:sp>
        <p:nvSpPr>
          <p:cNvPr id="313" name="Shape 311"/>
          <p:cNvSpPr/>
          <p:nvPr/>
        </p:nvSpPr>
        <p:spPr>
          <a:xfrm>
            <a:off x="10800571" y="5958413"/>
            <a:ext cx="372965" cy="125639"/>
          </a:xfrm>
          <a:prstGeom prst="rect">
            <a:avLst/>
          </a:prstGeom>
          <a:solidFill>
            <a:srgbClr val="9A9A9A"/>
          </a:solidFill>
          <a:ln/>
        </p:spPr>
      </p:sp>
      <p:sp>
        <p:nvSpPr>
          <p:cNvPr id="314" name="Shape 312"/>
          <p:cNvSpPr/>
          <p:nvPr/>
        </p:nvSpPr>
        <p:spPr>
          <a:xfrm>
            <a:off x="10593862" y="5784677"/>
            <a:ext cx="786384" cy="146304"/>
          </a:xfrm>
          <a:prstGeom prst="rect">
            <a:avLst/>
          </a:prstGeom>
          <a:solidFill>
            <a:srgbClr val="FFFFFF"/>
          </a:solidFill>
          <a:ln/>
        </p:spPr>
      </p:sp>
      <p:sp>
        <p:nvSpPr>
          <p:cNvPr id="315" name="Text 313"/>
          <p:cNvSpPr txBox="1"/>
          <p:nvPr/>
        </p:nvSpPr>
        <p:spPr>
          <a:xfrm>
            <a:off x="10593862" y="5784677"/>
            <a:ext cx="786384" cy="146304"/>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PRINT · DISPATCH</a:t>
            </a:r>
            <a:endParaRPr lang="en-US" sz="500" dirty="0"/>
          </a:p>
        </p:txBody>
      </p:sp>
      <p:sp>
        <p:nvSpPr>
          <p:cNvPr id="316" name="Shape 314"/>
          <p:cNvSpPr/>
          <p:nvPr/>
        </p:nvSpPr>
        <p:spPr>
          <a:xfrm>
            <a:off x="8522091" y="5385816"/>
            <a:ext cx="447559" cy="9144"/>
          </a:xfrm>
          <a:custGeom>
            <a:avLst/>
            <a:gdLst/>
            <a:ahLst/>
            <a:cxnLst/>
            <a:rect l="l" t="t" r="r" b="b"/>
            <a:pathLst>
              <a:path w="447559" h="9144">
                <a:moveTo>
                  <a:pt x="0" y="4572"/>
                </a:moveTo>
                <a:lnTo>
                  <a:pt x="447559" y="4572"/>
                </a:lnTo>
              </a:path>
            </a:pathLst>
          </a:custGeom>
          <a:ln w="38100">
            <a:solidFill>
              <a:srgbClr val="C4262E"/>
            </a:solidFill>
            <a:prstDash val="solid"/>
          </a:ln>
        </p:spPr>
      </p:sp>
      <p:sp>
        <p:nvSpPr>
          <p:cNvPr id="317" name="Shape 315"/>
          <p:cNvSpPr/>
          <p:nvPr/>
        </p:nvSpPr>
        <p:spPr>
          <a:xfrm>
            <a:off x="8559388" y="5240774"/>
            <a:ext cx="372965" cy="9144"/>
          </a:xfrm>
          <a:custGeom>
            <a:avLst/>
            <a:gdLst/>
            <a:ahLst/>
            <a:cxnLst/>
            <a:rect l="l" t="t" r="r" b="b"/>
            <a:pathLst>
              <a:path w="372965" h="9144">
                <a:moveTo>
                  <a:pt x="0" y="4572"/>
                </a:moveTo>
                <a:lnTo>
                  <a:pt x="372965" y="4572"/>
                </a:lnTo>
              </a:path>
            </a:pathLst>
          </a:custGeom>
          <a:ln w="19050">
            <a:solidFill>
              <a:srgbClr val="1B1B1B"/>
            </a:solidFill>
            <a:prstDash val="solid"/>
          </a:ln>
        </p:spPr>
      </p:sp>
      <p:sp>
        <p:nvSpPr>
          <p:cNvPr id="318" name="Shape 316"/>
          <p:cNvSpPr/>
          <p:nvPr/>
        </p:nvSpPr>
        <p:spPr>
          <a:xfrm>
            <a:off x="8592112" y="5245346"/>
            <a:ext cx="9144" cy="145042"/>
          </a:xfrm>
          <a:custGeom>
            <a:avLst/>
            <a:gdLst/>
            <a:ahLst/>
            <a:cxnLst/>
            <a:rect l="l" t="t" r="r" b="b"/>
            <a:pathLst>
              <a:path w="9144" h="145042">
                <a:moveTo>
                  <a:pt x="4572" y="0"/>
                </a:moveTo>
                <a:lnTo>
                  <a:pt x="4572" y="145042"/>
                </a:lnTo>
              </a:path>
            </a:pathLst>
          </a:custGeom>
          <a:ln w="9525">
            <a:solidFill>
              <a:srgbClr val="1B1B1B"/>
            </a:solidFill>
            <a:prstDash val="solid"/>
          </a:ln>
        </p:spPr>
      </p:sp>
      <p:sp>
        <p:nvSpPr>
          <p:cNvPr id="319" name="Shape 317"/>
          <p:cNvSpPr/>
          <p:nvPr/>
        </p:nvSpPr>
        <p:spPr>
          <a:xfrm>
            <a:off x="8890484" y="5245346"/>
            <a:ext cx="9144" cy="145042"/>
          </a:xfrm>
          <a:custGeom>
            <a:avLst/>
            <a:gdLst/>
            <a:ahLst/>
            <a:cxnLst/>
            <a:rect l="l" t="t" r="r" b="b"/>
            <a:pathLst>
              <a:path w="9144" h="145042">
                <a:moveTo>
                  <a:pt x="4572" y="0"/>
                </a:moveTo>
                <a:lnTo>
                  <a:pt x="4572" y="145042"/>
                </a:lnTo>
              </a:path>
            </a:pathLst>
          </a:custGeom>
          <a:ln w="9525">
            <a:solidFill>
              <a:srgbClr val="1B1B1B"/>
            </a:solidFill>
            <a:prstDash val="solid"/>
          </a:ln>
        </p:spPr>
      </p:sp>
      <p:sp>
        <p:nvSpPr>
          <p:cNvPr id="320" name="Shape 318"/>
          <p:cNvSpPr/>
          <p:nvPr/>
        </p:nvSpPr>
        <p:spPr>
          <a:xfrm>
            <a:off x="8482980" y="5062466"/>
            <a:ext cx="525780" cy="146304"/>
          </a:xfrm>
          <a:prstGeom prst="rect">
            <a:avLst/>
          </a:prstGeom>
          <a:solidFill>
            <a:srgbClr val="FFFFFF"/>
          </a:solidFill>
          <a:ln/>
        </p:spPr>
      </p:sp>
      <p:sp>
        <p:nvSpPr>
          <p:cNvPr id="321" name="Text 319"/>
          <p:cNvSpPr txBox="1"/>
          <p:nvPr/>
        </p:nvSpPr>
        <p:spPr>
          <a:xfrm>
            <a:off x="8482980" y="5062466"/>
            <a:ext cx="525780" cy="146304"/>
          </a:xfrm>
          <a:prstGeom prst="rect">
            <a:avLst/>
          </a:prstGeom>
          <a:noFill/>
          <a:ln/>
        </p:spPr>
        <p:txBody>
          <a:bodyPr wrap="square" lIns="0" tIns="0" rIns="0" bIns="0" rtlCol="0" anchor="ctr"/>
          <a:lstStyle/>
          <a:p>
            <a:pPr algn="ctr" indent="0" marL="0">
              <a:buNone/>
            </a:pPr>
            <a:r>
              <a:rPr lang="en-US" sz="500" b="1" dirty="0">
                <a:solidFill>
                  <a:srgbClr val="C4262E"/>
                </a:solidFill>
                <a:latin typeface="Arial" pitchFamily="34" charset="0"/>
                <a:ea typeface="Arial" pitchFamily="34" charset="-122"/>
                <a:cs typeface="Arial" pitchFamily="34" charset="-120"/>
              </a:rPr>
              <a:t>OPEN FORUM</a:t>
            </a:r>
            <a:endParaRPr lang="en-US" sz="500" dirty="0"/>
          </a:p>
        </p:txBody>
      </p:sp>
      <p:sp>
        <p:nvSpPr>
          <p:cNvPr id="322" name="Shape 320"/>
          <p:cNvSpPr/>
          <p:nvPr/>
        </p:nvSpPr>
        <p:spPr>
          <a:xfrm>
            <a:off x="6657264" y="5381244"/>
            <a:ext cx="2088607" cy="711952"/>
          </a:xfrm>
          <a:custGeom>
            <a:avLst/>
            <a:gdLst/>
            <a:ahLst/>
            <a:cxnLst/>
            <a:rect l="l" t="t" r="r" b="b"/>
            <a:pathLst>
              <a:path w="2088607" h="711952">
                <a:moveTo>
                  <a:pt x="0" y="711952"/>
                </a:moveTo>
                <a:lnTo>
                  <a:pt x="87025" y="711496"/>
                </a:lnTo>
                <a:lnTo>
                  <a:pt x="174051" y="705877"/>
                </a:lnTo>
                <a:lnTo>
                  <a:pt x="261076" y="693949"/>
                </a:lnTo>
                <a:lnTo>
                  <a:pt x="348101" y="675925"/>
                </a:lnTo>
                <a:lnTo>
                  <a:pt x="435126" y="652132"/>
                </a:lnTo>
                <a:lnTo>
                  <a:pt x="522152" y="622997"/>
                </a:lnTo>
                <a:lnTo>
                  <a:pt x="609177" y="589048"/>
                </a:lnTo>
                <a:lnTo>
                  <a:pt x="696202" y="550895"/>
                </a:lnTo>
                <a:lnTo>
                  <a:pt x="783227" y="509228"/>
                </a:lnTo>
                <a:lnTo>
                  <a:pt x="870253" y="464796"/>
                </a:lnTo>
                <a:lnTo>
                  <a:pt x="957278" y="418402"/>
                </a:lnTo>
                <a:lnTo>
                  <a:pt x="1044303" y="370883"/>
                </a:lnTo>
                <a:lnTo>
                  <a:pt x="1131329" y="323094"/>
                </a:lnTo>
                <a:lnTo>
                  <a:pt x="1218354" y="275899"/>
                </a:lnTo>
                <a:lnTo>
                  <a:pt x="1305379" y="230147"/>
                </a:lnTo>
                <a:lnTo>
                  <a:pt x="1392404" y="186665"/>
                </a:lnTo>
                <a:lnTo>
                  <a:pt x="1479430" y="146236"/>
                </a:lnTo>
                <a:lnTo>
                  <a:pt x="1566455" y="109590"/>
                </a:lnTo>
                <a:lnTo>
                  <a:pt x="1653480" y="77386"/>
                </a:lnTo>
                <a:lnTo>
                  <a:pt x="1740506" y="50207"/>
                </a:lnTo>
                <a:lnTo>
                  <a:pt x="1827531" y="28542"/>
                </a:lnTo>
                <a:lnTo>
                  <a:pt x="1914556" y="12781"/>
                </a:lnTo>
                <a:lnTo>
                  <a:pt x="2001581" y="3210"/>
                </a:lnTo>
                <a:lnTo>
                  <a:pt x="2088607" y="0"/>
                </a:lnTo>
              </a:path>
            </a:pathLst>
          </a:custGeom>
          <a:ln w="22225">
            <a:solidFill>
              <a:srgbClr val="C4262E"/>
            </a:solidFill>
            <a:prstDash val="solid"/>
            <a:tailEnd type="triangle"/>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FORM GENERATION — ALTERNATIVE DIRECTIONS B + D</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The two other directions with a clear form logic, for comparison.</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12</a:t>
            </a:r>
            <a:endParaRPr lang="en-US" sz="3400" dirty="0"/>
          </a:p>
        </p:txBody>
      </p:sp>
      <p:sp>
        <p:nvSpPr>
          <p:cNvPr id="6" name="Shape 4"/>
          <p:cNvSpPr/>
          <p:nvPr/>
        </p:nvSpPr>
        <p:spPr>
          <a:xfrm>
            <a:off x="10241280" y="896112"/>
            <a:ext cx="1554480" cy="182880"/>
          </a:xfrm>
          <a:prstGeom prst="roundRect">
            <a:avLst>
              <a:gd name="adj" fmla="val 20000"/>
            </a:avLst>
          </a:prstGeom>
          <a:solidFill>
            <a:srgbClr val="C4262E"/>
          </a:solidFill>
          <a:ln w="9525">
            <a:solidFill>
              <a:srgbClr val="C4262E"/>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sp>
        <p:nvSpPr>
          <p:cNvPr id="8" name="Text 6"/>
          <p:cNvSpPr txBox="1"/>
          <p:nvPr/>
        </p:nvSpPr>
        <p:spPr>
          <a:xfrm>
            <a:off x="365760" y="1188720"/>
            <a:ext cx="2743200" cy="228600"/>
          </a:xfrm>
          <a:prstGeom prst="rect">
            <a:avLst/>
          </a:prstGeom>
          <a:noFill/>
          <a:ln/>
        </p:spPr>
        <p:txBody>
          <a:bodyPr wrap="square" lIns="0" tIns="0" rIns="0" bIns="0" rtlCol="0" anchor="t"/>
          <a:lstStyle/>
          <a:p>
            <a:pPr indent="0" marL="0">
              <a:buNone/>
            </a:pPr>
            <a:r>
              <a:rPr lang="en-US" sz="1000" b="1" dirty="0">
                <a:solidFill>
                  <a:srgbClr val="1B1B1B"/>
                </a:solidFill>
                <a:latin typeface="Arial" pitchFamily="34" charset="0"/>
                <a:ea typeface="Arial" pitchFamily="34" charset="-122"/>
                <a:cs typeface="Arial" pitchFamily="34" charset="-120"/>
              </a:rPr>
              <a:t>B  THE THICK EDGE</a:t>
            </a:r>
            <a:endParaRPr lang="en-US" sz="1000" dirty="0"/>
          </a:p>
        </p:txBody>
      </p:sp>
      <p:sp>
        <p:nvSpPr>
          <p:cNvPr id="9" name="Shape 7"/>
          <p:cNvSpPr/>
          <p:nvPr/>
        </p:nvSpPr>
        <p:spPr>
          <a:xfrm>
            <a:off x="365760" y="1463040"/>
            <a:ext cx="2212848" cy="2286000"/>
          </a:xfrm>
          <a:prstGeom prst="rect">
            <a:avLst/>
          </a:prstGeom>
          <a:solidFill>
            <a:srgbClr val="FFFFFF"/>
          </a:solidFill>
          <a:ln w="6350">
            <a:solidFill>
              <a:srgbClr val="D9D9D9"/>
            </a:solidFill>
            <a:prstDash val="solid"/>
          </a:ln>
        </p:spPr>
      </p:sp>
      <p:sp>
        <p:nvSpPr>
          <p:cNvPr id="10" name="Text 8"/>
          <p:cNvSpPr txBox="1"/>
          <p:nvPr/>
        </p:nvSpPr>
        <p:spPr>
          <a:xfrm>
            <a:off x="438912" y="151790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01  </a:t>
            </a:r>
            <a:pPr indent="0" marL="0">
              <a:buNone/>
            </a:pPr>
            <a:r>
              <a:rPr lang="en-US" sz="750" b="1" spc="50" kern="0" dirty="0">
                <a:solidFill>
                  <a:srgbClr val="1B1B1B"/>
                </a:solidFill>
                <a:latin typeface="Arial" pitchFamily="34" charset="0"/>
                <a:ea typeface="Arial" pitchFamily="34" charset="-122"/>
                <a:cs typeface="Arial" pitchFamily="34" charset="-120"/>
              </a:rPr>
              <a:t>PROTEST EDGE</a:t>
            </a:r>
            <a:endParaRPr lang="en-US" sz="750" dirty="0"/>
          </a:p>
        </p:txBody>
      </p:sp>
      <p:sp>
        <p:nvSpPr>
          <p:cNvPr id="11" name="Shape 9"/>
          <p:cNvSpPr/>
          <p:nvPr/>
        </p:nvSpPr>
        <p:spPr>
          <a:xfrm>
            <a:off x="585954" y="2155733"/>
            <a:ext cx="1772461" cy="1110926"/>
          </a:xfrm>
          <a:custGeom>
            <a:avLst/>
            <a:gdLst/>
            <a:ahLst/>
            <a:cxnLst/>
            <a:rect l="l" t="t" r="r" b="b"/>
            <a:pathLst>
              <a:path w="1772461" h="1110926">
                <a:moveTo>
                  <a:pt x="1754463" y="942025"/>
                </a:moveTo>
                <a:lnTo>
                  <a:pt x="1731120" y="981655"/>
                </a:lnTo>
                <a:lnTo>
                  <a:pt x="1698520" y="1016615"/>
                </a:lnTo>
                <a:lnTo>
                  <a:pt x="1657020" y="1046523"/>
                </a:lnTo>
                <a:lnTo>
                  <a:pt x="1607075" y="1071050"/>
                </a:lnTo>
                <a:lnTo>
                  <a:pt x="1549233" y="1089929"/>
                </a:lnTo>
                <a:lnTo>
                  <a:pt x="1484126" y="1102952"/>
                </a:lnTo>
                <a:lnTo>
                  <a:pt x="1412469" y="1109977"/>
                </a:lnTo>
                <a:lnTo>
                  <a:pt x="1335046" y="1110926"/>
                </a:lnTo>
                <a:lnTo>
                  <a:pt x="1252706" y="1105789"/>
                </a:lnTo>
                <a:lnTo>
                  <a:pt x="1166351" y="1094623"/>
                </a:lnTo>
                <a:lnTo>
                  <a:pt x="1076927" y="1077550"/>
                </a:lnTo>
                <a:lnTo>
                  <a:pt x="985413" y="1054757"/>
                </a:lnTo>
                <a:lnTo>
                  <a:pt x="892813" y="1026493"/>
                </a:lnTo>
                <a:lnTo>
                  <a:pt x="800141" y="993069"/>
                </a:lnTo>
                <a:lnTo>
                  <a:pt x="708412" y="954850"/>
                </a:lnTo>
                <a:lnTo>
                  <a:pt x="618631" y="912255"/>
                </a:lnTo>
                <a:lnTo>
                  <a:pt x="531782" y="865752"/>
                </a:lnTo>
                <a:lnTo>
                  <a:pt x="448816" y="815848"/>
                </a:lnTo>
                <a:lnTo>
                  <a:pt x="370643" y="763092"/>
                </a:lnTo>
                <a:lnTo>
                  <a:pt x="298119" y="708061"/>
                </a:lnTo>
                <a:lnTo>
                  <a:pt x="232038" y="651358"/>
                </a:lnTo>
                <a:lnTo>
                  <a:pt x="173124" y="593605"/>
                </a:lnTo>
                <a:lnTo>
                  <a:pt x="122024" y="535433"/>
                </a:lnTo>
                <a:lnTo>
                  <a:pt x="79296" y="477481"/>
                </a:lnTo>
                <a:lnTo>
                  <a:pt x="45409" y="420384"/>
                </a:lnTo>
                <a:lnTo>
                  <a:pt x="20735" y="364766"/>
                </a:lnTo>
                <a:lnTo>
                  <a:pt x="5543" y="311238"/>
                </a:lnTo>
                <a:lnTo>
                  <a:pt x="0" y="260385"/>
                </a:lnTo>
                <a:lnTo>
                  <a:pt x="4167" y="212766"/>
                </a:lnTo>
                <a:lnTo>
                  <a:pt x="17998" y="168901"/>
                </a:lnTo>
                <a:lnTo>
                  <a:pt x="41341" y="129271"/>
                </a:lnTo>
                <a:lnTo>
                  <a:pt x="73941" y="94311"/>
                </a:lnTo>
                <a:lnTo>
                  <a:pt x="115441" y="64403"/>
                </a:lnTo>
                <a:lnTo>
                  <a:pt x="165386" y="39876"/>
                </a:lnTo>
                <a:lnTo>
                  <a:pt x="223228" y="20997"/>
                </a:lnTo>
                <a:lnTo>
                  <a:pt x="288334" y="7974"/>
                </a:lnTo>
                <a:lnTo>
                  <a:pt x="359992" y="949"/>
                </a:lnTo>
                <a:lnTo>
                  <a:pt x="437414" y="0"/>
                </a:lnTo>
                <a:lnTo>
                  <a:pt x="519754" y="5137"/>
                </a:lnTo>
                <a:lnTo>
                  <a:pt x="606109" y="16303"/>
                </a:lnTo>
                <a:lnTo>
                  <a:pt x="695534" y="33376"/>
                </a:lnTo>
                <a:lnTo>
                  <a:pt x="787047" y="56169"/>
                </a:lnTo>
                <a:lnTo>
                  <a:pt x="879647" y="84433"/>
                </a:lnTo>
                <a:lnTo>
                  <a:pt x="972320" y="117857"/>
                </a:lnTo>
                <a:lnTo>
                  <a:pt x="1064049" y="156076"/>
                </a:lnTo>
                <a:lnTo>
                  <a:pt x="1153830" y="198671"/>
                </a:lnTo>
                <a:lnTo>
                  <a:pt x="1240679" y="245174"/>
                </a:lnTo>
                <a:lnTo>
                  <a:pt x="1323644" y="295078"/>
                </a:lnTo>
                <a:lnTo>
                  <a:pt x="1401818" y="347834"/>
                </a:lnTo>
                <a:lnTo>
                  <a:pt x="1474342" y="402865"/>
                </a:lnTo>
                <a:lnTo>
                  <a:pt x="1540423" y="459568"/>
                </a:lnTo>
                <a:lnTo>
                  <a:pt x="1599336" y="517321"/>
                </a:lnTo>
                <a:lnTo>
                  <a:pt x="1650437" y="575492"/>
                </a:lnTo>
                <a:lnTo>
                  <a:pt x="1693164" y="633444"/>
                </a:lnTo>
                <a:lnTo>
                  <a:pt x="1727051" y="690542"/>
                </a:lnTo>
                <a:lnTo>
                  <a:pt x="1751726" y="746160"/>
                </a:lnTo>
                <a:lnTo>
                  <a:pt x="1766918" y="799688"/>
                </a:lnTo>
                <a:lnTo>
                  <a:pt x="1772461" y="850541"/>
                </a:lnTo>
                <a:lnTo>
                  <a:pt x="1768294" y="898160"/>
                </a:lnTo>
                <a:close/>
              </a:path>
            </a:pathLst>
          </a:custGeom>
          <a:solidFill>
            <a:srgbClr val="E4E4E4"/>
          </a:solidFill>
          <a:ln w="12700"/>
        </p:spPr>
      </p:sp>
      <p:sp>
        <p:nvSpPr>
          <p:cNvPr id="12" name="Shape 10"/>
          <p:cNvSpPr/>
          <p:nvPr/>
        </p:nvSpPr>
        <p:spPr>
          <a:xfrm>
            <a:off x="420624" y="2278914"/>
            <a:ext cx="183327" cy="45720"/>
          </a:xfrm>
          <a:custGeom>
            <a:avLst/>
            <a:gdLst/>
            <a:ahLst/>
            <a:cxnLst/>
            <a:rect l="l" t="t" r="r" b="b"/>
            <a:pathLst>
              <a:path w="183327" h="45720">
                <a:moveTo>
                  <a:pt x="183327" y="45720"/>
                </a:moveTo>
                <a:lnTo>
                  <a:pt x="0" y="0"/>
                </a:lnTo>
              </a:path>
            </a:pathLst>
          </a:custGeom>
          <a:ln w="76200">
            <a:solidFill>
              <a:srgbClr val="E4E4E4"/>
            </a:solidFill>
            <a:prstDash val="solid"/>
          </a:ln>
        </p:spPr>
      </p:sp>
      <p:sp>
        <p:nvSpPr>
          <p:cNvPr id="13" name="Shape 11"/>
          <p:cNvSpPr/>
          <p:nvPr/>
        </p:nvSpPr>
        <p:spPr>
          <a:xfrm>
            <a:off x="2340417" y="3097758"/>
            <a:ext cx="183327" cy="45720"/>
          </a:xfrm>
          <a:custGeom>
            <a:avLst/>
            <a:gdLst/>
            <a:ahLst/>
            <a:cxnLst/>
            <a:rect l="l" t="t" r="r" b="b"/>
            <a:pathLst>
              <a:path w="183327" h="45720">
                <a:moveTo>
                  <a:pt x="0" y="0"/>
                </a:moveTo>
                <a:lnTo>
                  <a:pt x="183327" y="45720"/>
                </a:lnTo>
              </a:path>
            </a:pathLst>
          </a:custGeom>
          <a:ln w="76200">
            <a:solidFill>
              <a:srgbClr val="E4E4E4"/>
            </a:solidFill>
            <a:prstDash val="solid"/>
          </a:ln>
        </p:spPr>
      </p:sp>
      <p:sp>
        <p:nvSpPr>
          <p:cNvPr id="14" name="Shape 12"/>
          <p:cNvSpPr/>
          <p:nvPr/>
        </p:nvSpPr>
        <p:spPr>
          <a:xfrm>
            <a:off x="733659" y="2248310"/>
            <a:ext cx="1477051" cy="925772"/>
          </a:xfrm>
          <a:custGeom>
            <a:avLst/>
            <a:gdLst/>
            <a:ahLst/>
            <a:cxnLst/>
            <a:rect l="l" t="t" r="r" b="b"/>
            <a:pathLst>
              <a:path w="1477051" h="925772">
                <a:moveTo>
                  <a:pt x="1462053" y="785021"/>
                </a:moveTo>
                <a:lnTo>
                  <a:pt x="1442600" y="818046"/>
                </a:lnTo>
                <a:lnTo>
                  <a:pt x="1415433" y="847179"/>
                </a:lnTo>
                <a:lnTo>
                  <a:pt x="1380850" y="872102"/>
                </a:lnTo>
                <a:lnTo>
                  <a:pt x="1339229" y="892542"/>
                </a:lnTo>
                <a:lnTo>
                  <a:pt x="1291027" y="908274"/>
                </a:lnTo>
                <a:lnTo>
                  <a:pt x="1236772" y="919127"/>
                </a:lnTo>
                <a:lnTo>
                  <a:pt x="1177058" y="924981"/>
                </a:lnTo>
                <a:lnTo>
                  <a:pt x="1112539" y="925772"/>
                </a:lnTo>
                <a:lnTo>
                  <a:pt x="1043922" y="921491"/>
                </a:lnTo>
                <a:lnTo>
                  <a:pt x="971959" y="912186"/>
                </a:lnTo>
                <a:lnTo>
                  <a:pt x="897439" y="897958"/>
                </a:lnTo>
                <a:lnTo>
                  <a:pt x="821178" y="878964"/>
                </a:lnTo>
                <a:lnTo>
                  <a:pt x="744011" y="855411"/>
                </a:lnTo>
                <a:lnTo>
                  <a:pt x="666784" y="827557"/>
                </a:lnTo>
                <a:lnTo>
                  <a:pt x="590343" y="795708"/>
                </a:lnTo>
                <a:lnTo>
                  <a:pt x="515526" y="760213"/>
                </a:lnTo>
                <a:lnTo>
                  <a:pt x="443151" y="721460"/>
                </a:lnTo>
                <a:lnTo>
                  <a:pt x="374013" y="679874"/>
                </a:lnTo>
                <a:lnTo>
                  <a:pt x="308869" y="635910"/>
                </a:lnTo>
                <a:lnTo>
                  <a:pt x="248432" y="590051"/>
                </a:lnTo>
                <a:lnTo>
                  <a:pt x="193365" y="542799"/>
                </a:lnTo>
                <a:lnTo>
                  <a:pt x="144270" y="494671"/>
                </a:lnTo>
                <a:lnTo>
                  <a:pt x="101687" y="446195"/>
                </a:lnTo>
                <a:lnTo>
                  <a:pt x="66080" y="397901"/>
                </a:lnTo>
                <a:lnTo>
                  <a:pt x="37841" y="350320"/>
                </a:lnTo>
                <a:lnTo>
                  <a:pt x="17279" y="303972"/>
                </a:lnTo>
                <a:lnTo>
                  <a:pt x="4619" y="259365"/>
                </a:lnTo>
                <a:lnTo>
                  <a:pt x="0" y="216988"/>
                </a:lnTo>
                <a:lnTo>
                  <a:pt x="3472" y="177305"/>
                </a:lnTo>
                <a:lnTo>
                  <a:pt x="14998" y="140751"/>
                </a:lnTo>
                <a:lnTo>
                  <a:pt x="34451" y="107726"/>
                </a:lnTo>
                <a:lnTo>
                  <a:pt x="61618" y="78592"/>
                </a:lnTo>
                <a:lnTo>
                  <a:pt x="96201" y="53669"/>
                </a:lnTo>
                <a:lnTo>
                  <a:pt x="137821" y="33230"/>
                </a:lnTo>
                <a:lnTo>
                  <a:pt x="186023" y="17497"/>
                </a:lnTo>
                <a:lnTo>
                  <a:pt x="240279" y="6645"/>
                </a:lnTo>
                <a:lnTo>
                  <a:pt x="299993" y="791"/>
                </a:lnTo>
                <a:lnTo>
                  <a:pt x="364512" y="0"/>
                </a:lnTo>
                <a:lnTo>
                  <a:pt x="433128" y="4280"/>
                </a:lnTo>
                <a:lnTo>
                  <a:pt x="505091" y="13585"/>
                </a:lnTo>
                <a:lnTo>
                  <a:pt x="579611" y="27813"/>
                </a:lnTo>
                <a:lnTo>
                  <a:pt x="655873" y="46808"/>
                </a:lnTo>
                <a:lnTo>
                  <a:pt x="733039" y="70361"/>
                </a:lnTo>
                <a:lnTo>
                  <a:pt x="810266" y="98214"/>
                </a:lnTo>
                <a:lnTo>
                  <a:pt x="886707" y="130063"/>
                </a:lnTo>
                <a:lnTo>
                  <a:pt x="961525" y="165559"/>
                </a:lnTo>
                <a:lnTo>
                  <a:pt x="1033899" y="204312"/>
                </a:lnTo>
                <a:lnTo>
                  <a:pt x="1103037" y="245898"/>
                </a:lnTo>
                <a:lnTo>
                  <a:pt x="1168181" y="289861"/>
                </a:lnTo>
                <a:lnTo>
                  <a:pt x="1228618" y="335721"/>
                </a:lnTo>
                <a:lnTo>
                  <a:pt x="1283686" y="382973"/>
                </a:lnTo>
                <a:lnTo>
                  <a:pt x="1332780" y="431101"/>
                </a:lnTo>
                <a:lnTo>
                  <a:pt x="1375364" y="479577"/>
                </a:lnTo>
                <a:lnTo>
                  <a:pt x="1410970" y="527870"/>
                </a:lnTo>
                <a:lnTo>
                  <a:pt x="1439209" y="575452"/>
                </a:lnTo>
                <a:lnTo>
                  <a:pt x="1459771" y="621800"/>
                </a:lnTo>
                <a:lnTo>
                  <a:pt x="1472431" y="666407"/>
                </a:lnTo>
                <a:lnTo>
                  <a:pt x="1477051" y="708784"/>
                </a:lnTo>
                <a:lnTo>
                  <a:pt x="1473578" y="748467"/>
                </a:lnTo>
                <a:close/>
              </a:path>
            </a:pathLst>
          </a:custGeom>
          <a:solidFill>
            <a:srgbClr val="FFFFFF"/>
          </a:solidFill>
          <a:ln w="19050">
            <a:solidFill>
              <a:srgbClr val="1B1B1B"/>
            </a:solidFill>
            <a:prstDash val="solid"/>
          </a:ln>
        </p:spPr>
      </p:sp>
      <p:sp>
        <p:nvSpPr>
          <p:cNvPr id="15" name="Shape 13"/>
          <p:cNvSpPr/>
          <p:nvPr/>
        </p:nvSpPr>
        <p:spPr>
          <a:xfrm>
            <a:off x="1020208" y="2393491"/>
            <a:ext cx="1063476" cy="666556"/>
          </a:xfrm>
          <a:custGeom>
            <a:avLst/>
            <a:gdLst/>
            <a:ahLst/>
            <a:cxnLst/>
            <a:rect l="l" t="t" r="r" b="b"/>
            <a:pathLst>
              <a:path w="1063476" h="666556">
                <a:moveTo>
                  <a:pt x="1052678" y="565215"/>
                </a:moveTo>
                <a:lnTo>
                  <a:pt x="1038672" y="588993"/>
                </a:lnTo>
                <a:lnTo>
                  <a:pt x="1019112" y="609969"/>
                </a:lnTo>
                <a:lnTo>
                  <a:pt x="994212" y="627914"/>
                </a:lnTo>
                <a:lnTo>
                  <a:pt x="964245" y="642630"/>
                </a:lnTo>
                <a:lnTo>
                  <a:pt x="929540" y="653957"/>
                </a:lnTo>
                <a:lnTo>
                  <a:pt x="890476" y="661771"/>
                </a:lnTo>
                <a:lnTo>
                  <a:pt x="847481" y="665986"/>
                </a:lnTo>
                <a:lnTo>
                  <a:pt x="801028" y="666556"/>
                </a:lnTo>
                <a:lnTo>
                  <a:pt x="751624" y="663474"/>
                </a:lnTo>
                <a:lnTo>
                  <a:pt x="699811" y="656774"/>
                </a:lnTo>
                <a:lnTo>
                  <a:pt x="646156" y="646530"/>
                </a:lnTo>
                <a:lnTo>
                  <a:pt x="591248" y="632854"/>
                </a:lnTo>
                <a:lnTo>
                  <a:pt x="535688" y="615896"/>
                </a:lnTo>
                <a:lnTo>
                  <a:pt x="480085" y="595841"/>
                </a:lnTo>
                <a:lnTo>
                  <a:pt x="425047" y="572910"/>
                </a:lnTo>
                <a:lnTo>
                  <a:pt x="371178" y="547353"/>
                </a:lnTo>
                <a:lnTo>
                  <a:pt x="319069" y="519451"/>
                </a:lnTo>
                <a:lnTo>
                  <a:pt x="269290" y="489509"/>
                </a:lnTo>
                <a:lnTo>
                  <a:pt x="222386" y="457855"/>
                </a:lnTo>
                <a:lnTo>
                  <a:pt x="178871" y="424837"/>
                </a:lnTo>
                <a:lnTo>
                  <a:pt x="139223" y="390815"/>
                </a:lnTo>
                <a:lnTo>
                  <a:pt x="103875" y="356163"/>
                </a:lnTo>
                <a:lnTo>
                  <a:pt x="73214" y="321260"/>
                </a:lnTo>
                <a:lnTo>
                  <a:pt x="47578" y="286489"/>
                </a:lnTo>
                <a:lnTo>
                  <a:pt x="27246" y="252230"/>
                </a:lnTo>
                <a:lnTo>
                  <a:pt x="12441" y="218860"/>
                </a:lnTo>
                <a:lnTo>
                  <a:pt x="3326" y="186743"/>
                </a:lnTo>
                <a:lnTo>
                  <a:pt x="0" y="156231"/>
                </a:lnTo>
                <a:lnTo>
                  <a:pt x="2500" y="127659"/>
                </a:lnTo>
                <a:lnTo>
                  <a:pt x="10799" y="101341"/>
                </a:lnTo>
                <a:lnTo>
                  <a:pt x="24805" y="77563"/>
                </a:lnTo>
                <a:lnTo>
                  <a:pt x="44365" y="56587"/>
                </a:lnTo>
                <a:lnTo>
                  <a:pt x="69265" y="38642"/>
                </a:lnTo>
                <a:lnTo>
                  <a:pt x="99231" y="23925"/>
                </a:lnTo>
                <a:lnTo>
                  <a:pt x="133937" y="12598"/>
                </a:lnTo>
                <a:lnTo>
                  <a:pt x="173001" y="4784"/>
                </a:lnTo>
                <a:lnTo>
                  <a:pt x="215995" y="570"/>
                </a:lnTo>
                <a:lnTo>
                  <a:pt x="262449" y="0"/>
                </a:lnTo>
                <a:lnTo>
                  <a:pt x="311853" y="3082"/>
                </a:lnTo>
                <a:lnTo>
                  <a:pt x="363666" y="9782"/>
                </a:lnTo>
                <a:lnTo>
                  <a:pt x="417320" y="20025"/>
                </a:lnTo>
                <a:lnTo>
                  <a:pt x="472228" y="33701"/>
                </a:lnTo>
                <a:lnTo>
                  <a:pt x="527788" y="50660"/>
                </a:lnTo>
                <a:lnTo>
                  <a:pt x="583392" y="70714"/>
                </a:lnTo>
                <a:lnTo>
                  <a:pt x="638429" y="93646"/>
                </a:lnTo>
                <a:lnTo>
                  <a:pt x="692298" y="119202"/>
                </a:lnTo>
                <a:lnTo>
                  <a:pt x="744407" y="147105"/>
                </a:lnTo>
                <a:lnTo>
                  <a:pt x="794187" y="177047"/>
                </a:lnTo>
                <a:lnTo>
                  <a:pt x="841091" y="208700"/>
                </a:lnTo>
                <a:lnTo>
                  <a:pt x="884605" y="241719"/>
                </a:lnTo>
                <a:lnTo>
                  <a:pt x="924254" y="275741"/>
                </a:lnTo>
                <a:lnTo>
                  <a:pt x="959602" y="310393"/>
                </a:lnTo>
                <a:lnTo>
                  <a:pt x="990262" y="345295"/>
                </a:lnTo>
                <a:lnTo>
                  <a:pt x="1015899" y="380067"/>
                </a:lnTo>
                <a:lnTo>
                  <a:pt x="1036231" y="414325"/>
                </a:lnTo>
                <a:lnTo>
                  <a:pt x="1051035" y="447696"/>
                </a:lnTo>
                <a:lnTo>
                  <a:pt x="1060151" y="479813"/>
                </a:lnTo>
                <a:lnTo>
                  <a:pt x="1063476" y="510324"/>
                </a:lnTo>
                <a:lnTo>
                  <a:pt x="1060976" y="538896"/>
                </a:lnTo>
                <a:close/>
              </a:path>
            </a:pathLst>
          </a:custGeom>
          <a:ln w="6350">
            <a:solidFill>
              <a:srgbClr val="4F7A43"/>
            </a:solidFill>
            <a:prstDash val="dash"/>
          </a:ln>
        </p:spPr>
      </p:sp>
      <p:sp>
        <p:nvSpPr>
          <p:cNvPr id="16" name="Shape 14"/>
          <p:cNvSpPr/>
          <p:nvPr/>
        </p:nvSpPr>
        <p:spPr>
          <a:xfrm>
            <a:off x="1212224" y="2513841"/>
            <a:ext cx="679443" cy="425855"/>
          </a:xfrm>
          <a:custGeom>
            <a:avLst/>
            <a:gdLst/>
            <a:ahLst/>
            <a:cxnLst/>
            <a:rect l="l" t="t" r="r" b="b"/>
            <a:pathLst>
              <a:path w="679443" h="425855">
                <a:moveTo>
                  <a:pt x="672544" y="361110"/>
                </a:moveTo>
                <a:lnTo>
                  <a:pt x="663596" y="376301"/>
                </a:lnTo>
                <a:lnTo>
                  <a:pt x="651099" y="389702"/>
                </a:lnTo>
                <a:lnTo>
                  <a:pt x="635191" y="401167"/>
                </a:lnTo>
                <a:lnTo>
                  <a:pt x="616045" y="410569"/>
                </a:lnTo>
                <a:lnTo>
                  <a:pt x="593873" y="417806"/>
                </a:lnTo>
                <a:lnTo>
                  <a:pt x="568915" y="422798"/>
                </a:lnTo>
                <a:lnTo>
                  <a:pt x="541446" y="425491"/>
                </a:lnTo>
                <a:lnTo>
                  <a:pt x="511768" y="425855"/>
                </a:lnTo>
                <a:lnTo>
                  <a:pt x="480204" y="423886"/>
                </a:lnTo>
                <a:lnTo>
                  <a:pt x="447101" y="419606"/>
                </a:lnTo>
                <a:lnTo>
                  <a:pt x="412822" y="413061"/>
                </a:lnTo>
                <a:lnTo>
                  <a:pt x="377742" y="404323"/>
                </a:lnTo>
                <a:lnTo>
                  <a:pt x="342245" y="393489"/>
                </a:lnTo>
                <a:lnTo>
                  <a:pt x="306721" y="380676"/>
                </a:lnTo>
                <a:lnTo>
                  <a:pt x="271558" y="366026"/>
                </a:lnTo>
                <a:lnTo>
                  <a:pt x="237142" y="349698"/>
                </a:lnTo>
                <a:lnTo>
                  <a:pt x="203850" y="331871"/>
                </a:lnTo>
                <a:lnTo>
                  <a:pt x="172046" y="312742"/>
                </a:lnTo>
                <a:lnTo>
                  <a:pt x="142080" y="292519"/>
                </a:lnTo>
                <a:lnTo>
                  <a:pt x="114279" y="271423"/>
                </a:lnTo>
                <a:lnTo>
                  <a:pt x="88948" y="249687"/>
                </a:lnTo>
                <a:lnTo>
                  <a:pt x="66364" y="227549"/>
                </a:lnTo>
                <a:lnTo>
                  <a:pt x="46776" y="205249"/>
                </a:lnTo>
                <a:lnTo>
                  <a:pt x="30397" y="183035"/>
                </a:lnTo>
                <a:lnTo>
                  <a:pt x="17407" y="161147"/>
                </a:lnTo>
                <a:lnTo>
                  <a:pt x="7948" y="139827"/>
                </a:lnTo>
                <a:lnTo>
                  <a:pt x="2125" y="119308"/>
                </a:lnTo>
                <a:lnTo>
                  <a:pt x="0" y="99814"/>
                </a:lnTo>
                <a:lnTo>
                  <a:pt x="1597" y="81560"/>
                </a:lnTo>
                <a:lnTo>
                  <a:pt x="6899" y="64745"/>
                </a:lnTo>
                <a:lnTo>
                  <a:pt x="15847" y="49554"/>
                </a:lnTo>
                <a:lnTo>
                  <a:pt x="28344" y="36153"/>
                </a:lnTo>
                <a:lnTo>
                  <a:pt x="44252" y="24688"/>
                </a:lnTo>
                <a:lnTo>
                  <a:pt x="63398" y="15286"/>
                </a:lnTo>
                <a:lnTo>
                  <a:pt x="85571" y="8049"/>
                </a:lnTo>
                <a:lnTo>
                  <a:pt x="110528" y="3057"/>
                </a:lnTo>
                <a:lnTo>
                  <a:pt x="137997" y="364"/>
                </a:lnTo>
                <a:lnTo>
                  <a:pt x="167675" y="0"/>
                </a:lnTo>
                <a:lnTo>
                  <a:pt x="199239" y="1969"/>
                </a:lnTo>
                <a:lnTo>
                  <a:pt x="232342" y="6249"/>
                </a:lnTo>
                <a:lnTo>
                  <a:pt x="266621" y="12794"/>
                </a:lnTo>
                <a:lnTo>
                  <a:pt x="301701" y="21531"/>
                </a:lnTo>
                <a:lnTo>
                  <a:pt x="337198" y="32366"/>
                </a:lnTo>
                <a:lnTo>
                  <a:pt x="372723" y="45179"/>
                </a:lnTo>
                <a:lnTo>
                  <a:pt x="407885" y="59829"/>
                </a:lnTo>
                <a:lnTo>
                  <a:pt x="442301" y="76157"/>
                </a:lnTo>
                <a:lnTo>
                  <a:pt x="475594" y="93983"/>
                </a:lnTo>
                <a:lnTo>
                  <a:pt x="507397" y="113113"/>
                </a:lnTo>
                <a:lnTo>
                  <a:pt x="537363" y="133336"/>
                </a:lnTo>
                <a:lnTo>
                  <a:pt x="565164" y="154431"/>
                </a:lnTo>
                <a:lnTo>
                  <a:pt x="590495" y="176168"/>
                </a:lnTo>
                <a:lnTo>
                  <a:pt x="613079" y="198306"/>
                </a:lnTo>
                <a:lnTo>
                  <a:pt x="632667" y="220605"/>
                </a:lnTo>
                <a:lnTo>
                  <a:pt x="649046" y="242820"/>
                </a:lnTo>
                <a:lnTo>
                  <a:pt x="662036" y="264708"/>
                </a:lnTo>
                <a:lnTo>
                  <a:pt x="671495" y="286028"/>
                </a:lnTo>
                <a:lnTo>
                  <a:pt x="677318" y="306547"/>
                </a:lnTo>
                <a:lnTo>
                  <a:pt x="679443" y="326041"/>
                </a:lnTo>
                <a:lnTo>
                  <a:pt x="677846" y="344295"/>
                </a:lnTo>
                <a:close/>
              </a:path>
            </a:pathLst>
          </a:custGeom>
          <a:ln w="6350">
            <a:solidFill>
              <a:srgbClr val="4F7A43"/>
            </a:solidFill>
            <a:prstDash val="dash"/>
          </a:ln>
        </p:spPr>
      </p:sp>
      <p:sp>
        <p:nvSpPr>
          <p:cNvPr id="17" name="Shape 15"/>
          <p:cNvSpPr/>
          <p:nvPr/>
        </p:nvSpPr>
        <p:spPr>
          <a:xfrm>
            <a:off x="1389470" y="2624934"/>
            <a:ext cx="324951" cy="203670"/>
          </a:xfrm>
          <a:custGeom>
            <a:avLst/>
            <a:gdLst/>
            <a:ahLst/>
            <a:cxnLst/>
            <a:rect l="l" t="t" r="r" b="b"/>
            <a:pathLst>
              <a:path w="324951" h="203670">
                <a:moveTo>
                  <a:pt x="321652" y="172705"/>
                </a:moveTo>
                <a:lnTo>
                  <a:pt x="317372" y="179970"/>
                </a:lnTo>
                <a:lnTo>
                  <a:pt x="311395" y="186379"/>
                </a:lnTo>
                <a:lnTo>
                  <a:pt x="303787" y="191863"/>
                </a:lnTo>
                <a:lnTo>
                  <a:pt x="294630" y="196359"/>
                </a:lnTo>
                <a:lnTo>
                  <a:pt x="284026" y="199820"/>
                </a:lnTo>
                <a:lnTo>
                  <a:pt x="272090" y="202208"/>
                </a:lnTo>
                <a:lnTo>
                  <a:pt x="258953" y="203496"/>
                </a:lnTo>
                <a:lnTo>
                  <a:pt x="244759" y="203670"/>
                </a:lnTo>
                <a:lnTo>
                  <a:pt x="229663" y="202728"/>
                </a:lnTo>
                <a:lnTo>
                  <a:pt x="213831" y="200681"/>
                </a:lnTo>
                <a:lnTo>
                  <a:pt x="197437" y="197551"/>
                </a:lnTo>
                <a:lnTo>
                  <a:pt x="180659" y="193372"/>
                </a:lnTo>
                <a:lnTo>
                  <a:pt x="163682" y="188190"/>
                </a:lnTo>
                <a:lnTo>
                  <a:pt x="146692" y="182063"/>
                </a:lnTo>
                <a:lnTo>
                  <a:pt x="129875" y="175056"/>
                </a:lnTo>
                <a:lnTo>
                  <a:pt x="113416" y="167247"/>
                </a:lnTo>
                <a:lnTo>
                  <a:pt x="97493" y="158721"/>
                </a:lnTo>
                <a:lnTo>
                  <a:pt x="82283" y="149572"/>
                </a:lnTo>
                <a:lnTo>
                  <a:pt x="67951" y="139900"/>
                </a:lnTo>
                <a:lnTo>
                  <a:pt x="54655" y="129811"/>
                </a:lnTo>
                <a:lnTo>
                  <a:pt x="42540" y="119416"/>
                </a:lnTo>
                <a:lnTo>
                  <a:pt x="31739" y="108828"/>
                </a:lnTo>
                <a:lnTo>
                  <a:pt x="22371" y="98163"/>
                </a:lnTo>
                <a:lnTo>
                  <a:pt x="14538" y="87538"/>
                </a:lnTo>
                <a:lnTo>
                  <a:pt x="8325" y="77070"/>
                </a:lnTo>
                <a:lnTo>
                  <a:pt x="3801" y="66874"/>
                </a:lnTo>
                <a:lnTo>
                  <a:pt x="1016" y="57060"/>
                </a:lnTo>
                <a:lnTo>
                  <a:pt x="0" y="47737"/>
                </a:lnTo>
                <a:lnTo>
                  <a:pt x="764" y="39007"/>
                </a:lnTo>
                <a:lnTo>
                  <a:pt x="3300" y="30965"/>
                </a:lnTo>
                <a:lnTo>
                  <a:pt x="7579" y="23700"/>
                </a:lnTo>
                <a:lnTo>
                  <a:pt x="13556" y="17290"/>
                </a:lnTo>
                <a:lnTo>
                  <a:pt x="21164" y="11807"/>
                </a:lnTo>
                <a:lnTo>
                  <a:pt x="30321" y="7311"/>
                </a:lnTo>
                <a:lnTo>
                  <a:pt x="40925" y="3849"/>
                </a:lnTo>
                <a:lnTo>
                  <a:pt x="52861" y="1462"/>
                </a:lnTo>
                <a:lnTo>
                  <a:pt x="65998" y="174"/>
                </a:lnTo>
                <a:lnTo>
                  <a:pt x="80193" y="0"/>
                </a:lnTo>
                <a:lnTo>
                  <a:pt x="95288" y="942"/>
                </a:lnTo>
                <a:lnTo>
                  <a:pt x="111120" y="2989"/>
                </a:lnTo>
                <a:lnTo>
                  <a:pt x="127514" y="6119"/>
                </a:lnTo>
                <a:lnTo>
                  <a:pt x="144292" y="10298"/>
                </a:lnTo>
                <a:lnTo>
                  <a:pt x="161269" y="15479"/>
                </a:lnTo>
                <a:lnTo>
                  <a:pt x="178259" y="21607"/>
                </a:lnTo>
                <a:lnTo>
                  <a:pt x="195076" y="28614"/>
                </a:lnTo>
                <a:lnTo>
                  <a:pt x="211535" y="36423"/>
                </a:lnTo>
                <a:lnTo>
                  <a:pt x="227458" y="44949"/>
                </a:lnTo>
                <a:lnTo>
                  <a:pt x="242668" y="54098"/>
                </a:lnTo>
                <a:lnTo>
                  <a:pt x="257000" y="63770"/>
                </a:lnTo>
                <a:lnTo>
                  <a:pt x="270296" y="73859"/>
                </a:lnTo>
                <a:lnTo>
                  <a:pt x="282411" y="84254"/>
                </a:lnTo>
                <a:lnTo>
                  <a:pt x="293212" y="94842"/>
                </a:lnTo>
                <a:lnTo>
                  <a:pt x="302580" y="105507"/>
                </a:lnTo>
                <a:lnTo>
                  <a:pt x="310413" y="116131"/>
                </a:lnTo>
                <a:lnTo>
                  <a:pt x="316626" y="126599"/>
                </a:lnTo>
                <a:lnTo>
                  <a:pt x="321150" y="136796"/>
                </a:lnTo>
                <a:lnTo>
                  <a:pt x="323935" y="146609"/>
                </a:lnTo>
                <a:lnTo>
                  <a:pt x="324951" y="155932"/>
                </a:lnTo>
                <a:lnTo>
                  <a:pt x="324187" y="164663"/>
                </a:lnTo>
                <a:close/>
              </a:path>
            </a:pathLst>
          </a:custGeom>
          <a:ln w="6350">
            <a:solidFill>
              <a:srgbClr val="4F7A43"/>
            </a:solidFill>
            <a:prstDash val="dash"/>
          </a:ln>
        </p:spPr>
      </p:sp>
      <p:sp>
        <p:nvSpPr>
          <p:cNvPr id="18" name="Shape 16"/>
          <p:cNvSpPr/>
          <p:nvPr/>
        </p:nvSpPr>
        <p:spPr>
          <a:xfrm>
            <a:off x="2085207" y="2970994"/>
            <a:ext cx="47362" cy="47362"/>
          </a:xfrm>
          <a:prstGeom prst="ellipse">
            <a:avLst/>
          </a:prstGeom>
          <a:solidFill>
            <a:srgbClr val="FFFFFF"/>
          </a:solidFill>
          <a:ln w="7620">
            <a:solidFill>
              <a:srgbClr val="4F7A43"/>
            </a:solidFill>
            <a:prstDash val="solid"/>
          </a:ln>
        </p:spPr>
      </p:sp>
      <p:sp>
        <p:nvSpPr>
          <p:cNvPr id="19" name="Shape 17"/>
          <p:cNvSpPr/>
          <p:nvPr/>
        </p:nvSpPr>
        <p:spPr>
          <a:xfrm>
            <a:off x="2019261" y="3044238"/>
            <a:ext cx="47362" cy="47362"/>
          </a:xfrm>
          <a:prstGeom prst="ellipse">
            <a:avLst/>
          </a:prstGeom>
          <a:solidFill>
            <a:srgbClr val="FFFFFF"/>
          </a:solidFill>
          <a:ln w="7620">
            <a:solidFill>
              <a:srgbClr val="4F7A43"/>
            </a:solidFill>
            <a:prstDash val="solid"/>
          </a:ln>
        </p:spPr>
      </p:sp>
      <p:sp>
        <p:nvSpPr>
          <p:cNvPr id="20" name="Shape 18"/>
          <p:cNvSpPr/>
          <p:nvPr/>
        </p:nvSpPr>
        <p:spPr>
          <a:xfrm>
            <a:off x="1903436" y="3086308"/>
            <a:ext cx="47362" cy="47362"/>
          </a:xfrm>
          <a:prstGeom prst="ellipse">
            <a:avLst/>
          </a:prstGeom>
          <a:solidFill>
            <a:srgbClr val="FFFFFF"/>
          </a:solidFill>
          <a:ln w="7620">
            <a:solidFill>
              <a:srgbClr val="4F7A43"/>
            </a:solidFill>
            <a:prstDash val="solid"/>
          </a:ln>
        </p:spPr>
      </p:sp>
      <p:sp>
        <p:nvSpPr>
          <p:cNvPr id="21" name="Shape 19"/>
          <p:cNvSpPr/>
          <p:nvPr/>
        </p:nvSpPr>
        <p:spPr>
          <a:xfrm>
            <a:off x="1747854" y="3093528"/>
            <a:ext cx="47362" cy="47362"/>
          </a:xfrm>
          <a:prstGeom prst="ellipse">
            <a:avLst/>
          </a:prstGeom>
          <a:solidFill>
            <a:srgbClr val="FFFFFF"/>
          </a:solidFill>
          <a:ln w="7620">
            <a:solidFill>
              <a:srgbClr val="4F7A43"/>
            </a:solidFill>
            <a:prstDash val="solid"/>
          </a:ln>
        </p:spPr>
      </p:sp>
      <p:sp>
        <p:nvSpPr>
          <p:cNvPr id="22" name="Shape 20"/>
          <p:cNvSpPr/>
          <p:nvPr/>
        </p:nvSpPr>
        <p:spPr>
          <a:xfrm>
            <a:off x="1566112" y="3065265"/>
            <a:ext cx="47362" cy="47362"/>
          </a:xfrm>
          <a:prstGeom prst="ellipse">
            <a:avLst/>
          </a:prstGeom>
          <a:solidFill>
            <a:srgbClr val="FFFFFF"/>
          </a:solidFill>
          <a:ln w="7620">
            <a:solidFill>
              <a:srgbClr val="4F7A43"/>
            </a:solidFill>
            <a:prstDash val="solid"/>
          </a:ln>
        </p:spPr>
      </p:sp>
      <p:sp>
        <p:nvSpPr>
          <p:cNvPr id="23" name="Shape 21"/>
          <p:cNvSpPr/>
          <p:nvPr/>
        </p:nvSpPr>
        <p:spPr>
          <a:xfrm>
            <a:off x="1374092" y="3003991"/>
            <a:ext cx="47362" cy="47362"/>
          </a:xfrm>
          <a:prstGeom prst="ellipse">
            <a:avLst/>
          </a:prstGeom>
          <a:solidFill>
            <a:srgbClr val="FFFFFF"/>
          </a:solidFill>
          <a:ln w="7620">
            <a:solidFill>
              <a:srgbClr val="4F7A43"/>
            </a:solidFill>
            <a:prstDash val="solid"/>
          </a:ln>
        </p:spPr>
      </p:sp>
      <p:sp>
        <p:nvSpPr>
          <p:cNvPr id="24" name="Shape 22"/>
          <p:cNvSpPr/>
          <p:nvPr/>
        </p:nvSpPr>
        <p:spPr>
          <a:xfrm>
            <a:off x="1188574" y="2915060"/>
            <a:ext cx="47362" cy="47362"/>
          </a:xfrm>
          <a:prstGeom prst="ellipse">
            <a:avLst/>
          </a:prstGeom>
          <a:solidFill>
            <a:srgbClr val="FFFFFF"/>
          </a:solidFill>
          <a:ln w="7620">
            <a:solidFill>
              <a:srgbClr val="4F7A43"/>
            </a:solidFill>
            <a:prstDash val="solid"/>
          </a:ln>
        </p:spPr>
      </p:sp>
      <p:sp>
        <p:nvSpPr>
          <p:cNvPr id="25" name="Shape 23"/>
          <p:cNvSpPr/>
          <p:nvPr/>
        </p:nvSpPr>
        <p:spPr>
          <a:xfrm>
            <a:off x="1025772" y="2806244"/>
            <a:ext cx="47362" cy="47362"/>
          </a:xfrm>
          <a:prstGeom prst="ellipse">
            <a:avLst/>
          </a:prstGeom>
          <a:solidFill>
            <a:srgbClr val="FFFFFF"/>
          </a:solidFill>
          <a:ln w="7620">
            <a:solidFill>
              <a:srgbClr val="4F7A43"/>
            </a:solidFill>
            <a:prstDash val="solid"/>
          </a:ln>
        </p:spPr>
      </p:sp>
      <p:sp>
        <p:nvSpPr>
          <p:cNvPr id="26" name="Shape 24"/>
          <p:cNvSpPr/>
          <p:nvPr/>
        </p:nvSpPr>
        <p:spPr>
          <a:xfrm>
            <a:off x="899913" y="2687052"/>
            <a:ext cx="47362" cy="47362"/>
          </a:xfrm>
          <a:prstGeom prst="ellipse">
            <a:avLst/>
          </a:prstGeom>
          <a:solidFill>
            <a:srgbClr val="FFFFFF"/>
          </a:solidFill>
          <a:ln w="7620">
            <a:solidFill>
              <a:srgbClr val="4F7A43"/>
            </a:solidFill>
            <a:prstDash val="solid"/>
          </a:ln>
        </p:spPr>
      </p:sp>
      <p:sp>
        <p:nvSpPr>
          <p:cNvPr id="27" name="Shape 25"/>
          <p:cNvSpPr/>
          <p:nvPr/>
        </p:nvSpPr>
        <p:spPr>
          <a:xfrm>
            <a:off x="821995" y="2567900"/>
            <a:ext cx="47362" cy="47362"/>
          </a:xfrm>
          <a:prstGeom prst="ellipse">
            <a:avLst/>
          </a:prstGeom>
          <a:solidFill>
            <a:srgbClr val="FFFFFF"/>
          </a:solidFill>
          <a:ln w="7620">
            <a:solidFill>
              <a:srgbClr val="4F7A43"/>
            </a:solidFill>
            <a:prstDash val="solid"/>
          </a:ln>
        </p:spPr>
      </p:sp>
      <p:sp>
        <p:nvSpPr>
          <p:cNvPr id="28" name="Shape 26"/>
          <p:cNvSpPr/>
          <p:nvPr/>
        </p:nvSpPr>
        <p:spPr>
          <a:xfrm>
            <a:off x="798828" y="2459202"/>
            <a:ext cx="47362" cy="47362"/>
          </a:xfrm>
          <a:prstGeom prst="ellipse">
            <a:avLst/>
          </a:prstGeom>
          <a:solidFill>
            <a:srgbClr val="FFFFFF"/>
          </a:solidFill>
          <a:ln w="7620">
            <a:solidFill>
              <a:srgbClr val="4F7A43"/>
            </a:solidFill>
            <a:prstDash val="solid"/>
          </a:ln>
        </p:spPr>
      </p:sp>
      <p:sp>
        <p:nvSpPr>
          <p:cNvPr id="29" name="Shape 27"/>
          <p:cNvSpPr/>
          <p:nvPr/>
        </p:nvSpPr>
        <p:spPr>
          <a:xfrm>
            <a:off x="832437" y="2370456"/>
            <a:ext cx="47362" cy="47362"/>
          </a:xfrm>
          <a:prstGeom prst="ellipse">
            <a:avLst/>
          </a:prstGeom>
          <a:solidFill>
            <a:srgbClr val="FFFFFF"/>
          </a:solidFill>
          <a:ln w="7620">
            <a:solidFill>
              <a:srgbClr val="4F7A43"/>
            </a:solidFill>
            <a:prstDash val="solid"/>
          </a:ln>
        </p:spPr>
      </p:sp>
      <p:sp>
        <p:nvSpPr>
          <p:cNvPr id="30" name="Shape 28"/>
          <p:cNvSpPr/>
          <p:nvPr/>
        </p:nvSpPr>
        <p:spPr>
          <a:xfrm>
            <a:off x="919884" y="2309418"/>
            <a:ext cx="47362" cy="47362"/>
          </a:xfrm>
          <a:prstGeom prst="ellipse">
            <a:avLst/>
          </a:prstGeom>
          <a:solidFill>
            <a:srgbClr val="FFFFFF"/>
          </a:solidFill>
          <a:ln w="7620">
            <a:solidFill>
              <a:srgbClr val="4F7A43"/>
            </a:solidFill>
            <a:prstDash val="solid"/>
          </a:ln>
        </p:spPr>
      </p:sp>
      <p:sp>
        <p:nvSpPr>
          <p:cNvPr id="31" name="Shape 29"/>
          <p:cNvSpPr/>
          <p:nvPr/>
        </p:nvSpPr>
        <p:spPr>
          <a:xfrm>
            <a:off x="1053527" y="2281422"/>
            <a:ext cx="47362" cy="47362"/>
          </a:xfrm>
          <a:prstGeom prst="ellipse">
            <a:avLst/>
          </a:prstGeom>
          <a:solidFill>
            <a:srgbClr val="FFFFFF"/>
          </a:solidFill>
          <a:ln w="7620">
            <a:solidFill>
              <a:srgbClr val="4F7A43"/>
            </a:solidFill>
            <a:prstDash val="solid"/>
          </a:ln>
        </p:spPr>
      </p:sp>
      <p:sp>
        <p:nvSpPr>
          <p:cNvPr id="32" name="Shape 30"/>
          <p:cNvSpPr/>
          <p:nvPr/>
        </p:nvSpPr>
        <p:spPr>
          <a:xfrm>
            <a:off x="1221687" y="2288915"/>
            <a:ext cx="47362" cy="47362"/>
          </a:xfrm>
          <a:prstGeom prst="ellipse">
            <a:avLst/>
          </a:prstGeom>
          <a:solidFill>
            <a:srgbClr val="FFFFFF"/>
          </a:solidFill>
          <a:ln w="7620">
            <a:solidFill>
              <a:srgbClr val="4F7A43"/>
            </a:solidFill>
            <a:prstDash val="solid"/>
          </a:ln>
        </p:spPr>
      </p:sp>
      <p:sp>
        <p:nvSpPr>
          <p:cNvPr id="33" name="Shape 31"/>
          <p:cNvSpPr/>
          <p:nvPr/>
        </p:nvSpPr>
        <p:spPr>
          <a:xfrm>
            <a:off x="1409669" y="2331241"/>
            <a:ext cx="47362" cy="47362"/>
          </a:xfrm>
          <a:prstGeom prst="ellipse">
            <a:avLst/>
          </a:prstGeom>
          <a:solidFill>
            <a:srgbClr val="FFFFFF"/>
          </a:solidFill>
          <a:ln w="7620">
            <a:solidFill>
              <a:srgbClr val="4F7A43"/>
            </a:solidFill>
            <a:prstDash val="solid"/>
          </a:ln>
        </p:spPr>
      </p:sp>
      <p:sp>
        <p:nvSpPr>
          <p:cNvPr id="34" name="Shape 32"/>
          <p:cNvSpPr/>
          <p:nvPr/>
        </p:nvSpPr>
        <p:spPr>
          <a:xfrm>
            <a:off x="1601045" y="2404703"/>
            <a:ext cx="47362" cy="47362"/>
          </a:xfrm>
          <a:prstGeom prst="ellipse">
            <a:avLst/>
          </a:prstGeom>
          <a:solidFill>
            <a:srgbClr val="FFFFFF"/>
          </a:solidFill>
          <a:ln w="7620">
            <a:solidFill>
              <a:srgbClr val="4F7A43"/>
            </a:solidFill>
            <a:prstDash val="solid"/>
          </a:ln>
        </p:spPr>
      </p:sp>
      <p:sp>
        <p:nvSpPr>
          <p:cNvPr id="35" name="Shape 33"/>
          <p:cNvSpPr/>
          <p:nvPr/>
        </p:nvSpPr>
        <p:spPr>
          <a:xfrm>
            <a:off x="1779090" y="2502880"/>
            <a:ext cx="47362" cy="47362"/>
          </a:xfrm>
          <a:prstGeom prst="ellipse">
            <a:avLst/>
          </a:prstGeom>
          <a:solidFill>
            <a:srgbClr val="FFFFFF"/>
          </a:solidFill>
          <a:ln w="7620">
            <a:solidFill>
              <a:srgbClr val="4F7A43"/>
            </a:solidFill>
            <a:prstDash val="solid"/>
          </a:ln>
        </p:spPr>
      </p:sp>
      <p:sp>
        <p:nvSpPr>
          <p:cNvPr id="36" name="Shape 34"/>
          <p:cNvSpPr/>
          <p:nvPr/>
        </p:nvSpPr>
        <p:spPr>
          <a:xfrm>
            <a:off x="1928244" y="2617192"/>
            <a:ext cx="47362" cy="47362"/>
          </a:xfrm>
          <a:prstGeom prst="ellipse">
            <a:avLst/>
          </a:prstGeom>
          <a:solidFill>
            <a:srgbClr val="FFFFFF"/>
          </a:solidFill>
          <a:ln w="7620">
            <a:solidFill>
              <a:srgbClr val="4F7A43"/>
            </a:solidFill>
            <a:prstDash val="solid"/>
          </a:ln>
        </p:spPr>
      </p:sp>
      <p:sp>
        <p:nvSpPr>
          <p:cNvPr id="37" name="Shape 35"/>
          <p:cNvSpPr/>
          <p:nvPr/>
        </p:nvSpPr>
        <p:spPr>
          <a:xfrm>
            <a:off x="2035474" y="2737650"/>
            <a:ext cx="47362" cy="47362"/>
          </a:xfrm>
          <a:prstGeom prst="ellipse">
            <a:avLst/>
          </a:prstGeom>
          <a:solidFill>
            <a:srgbClr val="FFFFFF"/>
          </a:solidFill>
          <a:ln w="7620">
            <a:solidFill>
              <a:srgbClr val="4F7A43"/>
            </a:solidFill>
            <a:prstDash val="solid"/>
          </a:ln>
        </p:spPr>
      </p:sp>
      <p:sp>
        <p:nvSpPr>
          <p:cNvPr id="38" name="Shape 36"/>
          <p:cNvSpPr/>
          <p:nvPr/>
        </p:nvSpPr>
        <p:spPr>
          <a:xfrm>
            <a:off x="2091409" y="2853726"/>
            <a:ext cx="47362" cy="47362"/>
          </a:xfrm>
          <a:prstGeom prst="ellipse">
            <a:avLst/>
          </a:prstGeom>
          <a:solidFill>
            <a:srgbClr val="FFFFFF"/>
          </a:solidFill>
          <a:ln w="7620">
            <a:solidFill>
              <a:srgbClr val="4F7A43"/>
            </a:solidFill>
            <a:prstDash val="solid"/>
          </a:ln>
        </p:spPr>
      </p:sp>
      <p:sp>
        <p:nvSpPr>
          <p:cNvPr id="39" name="Shape 37"/>
          <p:cNvSpPr/>
          <p:nvPr/>
        </p:nvSpPr>
        <p:spPr>
          <a:xfrm>
            <a:off x="2091159" y="2955277"/>
            <a:ext cx="47362" cy="47362"/>
          </a:xfrm>
          <a:prstGeom prst="ellipse">
            <a:avLst/>
          </a:prstGeom>
          <a:solidFill>
            <a:srgbClr val="FFFFFF"/>
          </a:solidFill>
          <a:ln w="7620">
            <a:solidFill>
              <a:srgbClr val="4F7A43"/>
            </a:solidFill>
            <a:prstDash val="solid"/>
          </a:ln>
        </p:spPr>
      </p:sp>
      <p:sp>
        <p:nvSpPr>
          <p:cNvPr id="40" name="Shape 38"/>
          <p:cNvSpPr/>
          <p:nvPr/>
        </p:nvSpPr>
        <p:spPr>
          <a:xfrm>
            <a:off x="1518961" y="2986210"/>
            <a:ext cx="735785" cy="215929"/>
          </a:xfrm>
          <a:custGeom>
            <a:avLst/>
            <a:gdLst/>
            <a:ahLst/>
            <a:cxnLst/>
            <a:rect l="l" t="t" r="r" b="b"/>
            <a:pathLst>
              <a:path w="735785" h="215929">
                <a:moveTo>
                  <a:pt x="735785" y="0"/>
                </a:moveTo>
                <a:lnTo>
                  <a:pt x="732039" y="29386"/>
                </a:lnTo>
                <a:lnTo>
                  <a:pt x="724010" y="57097"/>
                </a:lnTo>
                <a:lnTo>
                  <a:pt x="711742" y="82982"/>
                </a:lnTo>
                <a:lnTo>
                  <a:pt x="695302" y="106899"/>
                </a:lnTo>
                <a:lnTo>
                  <a:pt x="674781" y="128714"/>
                </a:lnTo>
                <a:lnTo>
                  <a:pt x="650292" y="148310"/>
                </a:lnTo>
                <a:lnTo>
                  <a:pt x="621969" y="165577"/>
                </a:lnTo>
                <a:lnTo>
                  <a:pt x="589969" y="180422"/>
                </a:lnTo>
                <a:lnTo>
                  <a:pt x="554466" y="192761"/>
                </a:lnTo>
                <a:lnTo>
                  <a:pt x="515657" y="202528"/>
                </a:lnTo>
                <a:lnTo>
                  <a:pt x="473755" y="209669"/>
                </a:lnTo>
                <a:lnTo>
                  <a:pt x="428989" y="214144"/>
                </a:lnTo>
                <a:lnTo>
                  <a:pt x="381608" y="215929"/>
                </a:lnTo>
                <a:lnTo>
                  <a:pt x="331870" y="215014"/>
                </a:lnTo>
                <a:lnTo>
                  <a:pt x="280050" y="211404"/>
                </a:lnTo>
                <a:lnTo>
                  <a:pt x="226433" y="205118"/>
                </a:lnTo>
                <a:lnTo>
                  <a:pt x="171313" y="196193"/>
                </a:lnTo>
                <a:lnTo>
                  <a:pt x="114993" y="184676"/>
                </a:lnTo>
                <a:lnTo>
                  <a:pt x="57784" y="170630"/>
                </a:lnTo>
                <a:lnTo>
                  <a:pt x="0" y="154134"/>
                </a:lnTo>
              </a:path>
            </a:pathLst>
          </a:custGeom>
          <a:ln w="44450">
            <a:solidFill>
              <a:srgbClr val="C4262E"/>
            </a:solidFill>
            <a:prstDash val="solid"/>
          </a:ln>
        </p:spPr>
      </p:sp>
      <p:sp>
        <p:nvSpPr>
          <p:cNvPr id="41" name="Shape 39"/>
          <p:cNvSpPr/>
          <p:nvPr/>
        </p:nvSpPr>
        <p:spPr>
          <a:xfrm>
            <a:off x="2569464" y="260146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42" name="Shape 40"/>
          <p:cNvSpPr/>
          <p:nvPr/>
        </p:nvSpPr>
        <p:spPr>
          <a:xfrm>
            <a:off x="2670048" y="1463040"/>
            <a:ext cx="2212848" cy="2286000"/>
          </a:xfrm>
          <a:prstGeom prst="rect">
            <a:avLst/>
          </a:prstGeom>
          <a:solidFill>
            <a:srgbClr val="FFFFFF"/>
          </a:solidFill>
          <a:ln w="6350">
            <a:solidFill>
              <a:srgbClr val="D9D9D9"/>
            </a:solidFill>
            <a:prstDash val="solid"/>
          </a:ln>
        </p:spPr>
      </p:sp>
      <p:sp>
        <p:nvSpPr>
          <p:cNvPr id="43" name="Text 41"/>
          <p:cNvSpPr txBox="1"/>
          <p:nvPr/>
        </p:nvSpPr>
        <p:spPr>
          <a:xfrm>
            <a:off x="2743200" y="151790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02  </a:t>
            </a:r>
            <a:pPr indent="0" marL="0">
              <a:buNone/>
            </a:pPr>
            <a:r>
              <a:rPr lang="en-US" sz="750" b="1" spc="50" kern="0" dirty="0">
                <a:solidFill>
                  <a:srgbClr val="1B1B1B"/>
                </a:solidFill>
                <a:latin typeface="Arial" pitchFamily="34" charset="0"/>
                <a:ea typeface="Arial" pitchFamily="34" charset="-122"/>
                <a:cs typeface="Arial" pitchFamily="34" charset="-120"/>
              </a:rPr>
              <a:t>EXTRUDE A BAR</a:t>
            </a:r>
            <a:endParaRPr lang="en-US" sz="750" dirty="0"/>
          </a:p>
        </p:txBody>
      </p:sp>
      <p:sp>
        <p:nvSpPr>
          <p:cNvPr id="44" name="Shape 42"/>
          <p:cNvSpPr/>
          <p:nvPr/>
        </p:nvSpPr>
        <p:spPr>
          <a:xfrm>
            <a:off x="2890242" y="2155733"/>
            <a:ext cx="1772461" cy="1110926"/>
          </a:xfrm>
          <a:custGeom>
            <a:avLst/>
            <a:gdLst/>
            <a:ahLst/>
            <a:cxnLst/>
            <a:rect l="l" t="t" r="r" b="b"/>
            <a:pathLst>
              <a:path w="1772461" h="1110926">
                <a:moveTo>
                  <a:pt x="1754463" y="942025"/>
                </a:moveTo>
                <a:lnTo>
                  <a:pt x="1731120" y="981655"/>
                </a:lnTo>
                <a:lnTo>
                  <a:pt x="1698520" y="1016615"/>
                </a:lnTo>
                <a:lnTo>
                  <a:pt x="1657020" y="1046523"/>
                </a:lnTo>
                <a:lnTo>
                  <a:pt x="1607075" y="1071050"/>
                </a:lnTo>
                <a:lnTo>
                  <a:pt x="1549233" y="1089929"/>
                </a:lnTo>
                <a:lnTo>
                  <a:pt x="1484126" y="1102952"/>
                </a:lnTo>
                <a:lnTo>
                  <a:pt x="1412469" y="1109977"/>
                </a:lnTo>
                <a:lnTo>
                  <a:pt x="1335046" y="1110926"/>
                </a:lnTo>
                <a:lnTo>
                  <a:pt x="1252706" y="1105789"/>
                </a:lnTo>
                <a:lnTo>
                  <a:pt x="1166351" y="1094623"/>
                </a:lnTo>
                <a:lnTo>
                  <a:pt x="1076927" y="1077550"/>
                </a:lnTo>
                <a:lnTo>
                  <a:pt x="985413" y="1054757"/>
                </a:lnTo>
                <a:lnTo>
                  <a:pt x="892813" y="1026493"/>
                </a:lnTo>
                <a:lnTo>
                  <a:pt x="800141" y="993069"/>
                </a:lnTo>
                <a:lnTo>
                  <a:pt x="708412" y="954850"/>
                </a:lnTo>
                <a:lnTo>
                  <a:pt x="618631" y="912255"/>
                </a:lnTo>
                <a:lnTo>
                  <a:pt x="531782" y="865752"/>
                </a:lnTo>
                <a:lnTo>
                  <a:pt x="448816" y="815848"/>
                </a:lnTo>
                <a:lnTo>
                  <a:pt x="370643" y="763092"/>
                </a:lnTo>
                <a:lnTo>
                  <a:pt x="298119" y="708061"/>
                </a:lnTo>
                <a:lnTo>
                  <a:pt x="232038" y="651358"/>
                </a:lnTo>
                <a:lnTo>
                  <a:pt x="173124" y="593605"/>
                </a:lnTo>
                <a:lnTo>
                  <a:pt x="122024" y="535433"/>
                </a:lnTo>
                <a:lnTo>
                  <a:pt x="79296" y="477481"/>
                </a:lnTo>
                <a:lnTo>
                  <a:pt x="45409" y="420384"/>
                </a:lnTo>
                <a:lnTo>
                  <a:pt x="20735" y="364766"/>
                </a:lnTo>
                <a:lnTo>
                  <a:pt x="5543" y="311238"/>
                </a:lnTo>
                <a:lnTo>
                  <a:pt x="0" y="260385"/>
                </a:lnTo>
                <a:lnTo>
                  <a:pt x="4167" y="212766"/>
                </a:lnTo>
                <a:lnTo>
                  <a:pt x="17998" y="168901"/>
                </a:lnTo>
                <a:lnTo>
                  <a:pt x="41341" y="129271"/>
                </a:lnTo>
                <a:lnTo>
                  <a:pt x="73941" y="94311"/>
                </a:lnTo>
                <a:lnTo>
                  <a:pt x="115441" y="64403"/>
                </a:lnTo>
                <a:lnTo>
                  <a:pt x="165386" y="39876"/>
                </a:lnTo>
                <a:lnTo>
                  <a:pt x="223228" y="20997"/>
                </a:lnTo>
                <a:lnTo>
                  <a:pt x="288334" y="7974"/>
                </a:lnTo>
                <a:lnTo>
                  <a:pt x="359992" y="949"/>
                </a:lnTo>
                <a:lnTo>
                  <a:pt x="437414" y="0"/>
                </a:lnTo>
                <a:lnTo>
                  <a:pt x="519754" y="5137"/>
                </a:lnTo>
                <a:lnTo>
                  <a:pt x="606109" y="16303"/>
                </a:lnTo>
                <a:lnTo>
                  <a:pt x="695534" y="33376"/>
                </a:lnTo>
                <a:lnTo>
                  <a:pt x="787047" y="56169"/>
                </a:lnTo>
                <a:lnTo>
                  <a:pt x="879647" y="84433"/>
                </a:lnTo>
                <a:lnTo>
                  <a:pt x="972320" y="117857"/>
                </a:lnTo>
                <a:lnTo>
                  <a:pt x="1064049" y="156076"/>
                </a:lnTo>
                <a:lnTo>
                  <a:pt x="1153830" y="198671"/>
                </a:lnTo>
                <a:lnTo>
                  <a:pt x="1240679" y="245174"/>
                </a:lnTo>
                <a:lnTo>
                  <a:pt x="1323644" y="295078"/>
                </a:lnTo>
                <a:lnTo>
                  <a:pt x="1401818" y="347834"/>
                </a:lnTo>
                <a:lnTo>
                  <a:pt x="1474342" y="402865"/>
                </a:lnTo>
                <a:lnTo>
                  <a:pt x="1540423" y="459568"/>
                </a:lnTo>
                <a:lnTo>
                  <a:pt x="1599336" y="517321"/>
                </a:lnTo>
                <a:lnTo>
                  <a:pt x="1650437" y="575492"/>
                </a:lnTo>
                <a:lnTo>
                  <a:pt x="1693164" y="633444"/>
                </a:lnTo>
                <a:lnTo>
                  <a:pt x="1727051" y="690542"/>
                </a:lnTo>
                <a:lnTo>
                  <a:pt x="1751726" y="746160"/>
                </a:lnTo>
                <a:lnTo>
                  <a:pt x="1766918" y="799688"/>
                </a:lnTo>
                <a:lnTo>
                  <a:pt x="1772461" y="850541"/>
                </a:lnTo>
                <a:lnTo>
                  <a:pt x="1768294" y="898160"/>
                </a:lnTo>
                <a:close/>
              </a:path>
            </a:pathLst>
          </a:custGeom>
          <a:solidFill>
            <a:srgbClr val="E4E4E4"/>
          </a:solidFill>
          <a:ln w="12700"/>
        </p:spPr>
      </p:sp>
      <p:sp>
        <p:nvSpPr>
          <p:cNvPr id="45" name="Shape 43"/>
          <p:cNvSpPr/>
          <p:nvPr/>
        </p:nvSpPr>
        <p:spPr>
          <a:xfrm>
            <a:off x="2724912" y="2278914"/>
            <a:ext cx="183327" cy="45720"/>
          </a:xfrm>
          <a:custGeom>
            <a:avLst/>
            <a:gdLst/>
            <a:ahLst/>
            <a:cxnLst/>
            <a:rect l="l" t="t" r="r" b="b"/>
            <a:pathLst>
              <a:path w="183327" h="45720">
                <a:moveTo>
                  <a:pt x="183327" y="45720"/>
                </a:moveTo>
                <a:lnTo>
                  <a:pt x="0" y="0"/>
                </a:lnTo>
              </a:path>
            </a:pathLst>
          </a:custGeom>
          <a:ln w="76200">
            <a:solidFill>
              <a:srgbClr val="E4E4E4"/>
            </a:solidFill>
            <a:prstDash val="solid"/>
          </a:ln>
        </p:spPr>
      </p:sp>
      <p:sp>
        <p:nvSpPr>
          <p:cNvPr id="46" name="Shape 44"/>
          <p:cNvSpPr/>
          <p:nvPr/>
        </p:nvSpPr>
        <p:spPr>
          <a:xfrm>
            <a:off x="4644705" y="3097758"/>
            <a:ext cx="183327" cy="45720"/>
          </a:xfrm>
          <a:custGeom>
            <a:avLst/>
            <a:gdLst/>
            <a:ahLst/>
            <a:cxnLst/>
            <a:rect l="l" t="t" r="r" b="b"/>
            <a:pathLst>
              <a:path w="183327" h="45720">
                <a:moveTo>
                  <a:pt x="0" y="0"/>
                </a:moveTo>
                <a:lnTo>
                  <a:pt x="183327" y="45720"/>
                </a:lnTo>
              </a:path>
            </a:pathLst>
          </a:custGeom>
          <a:ln w="76200">
            <a:solidFill>
              <a:srgbClr val="E4E4E4"/>
            </a:solidFill>
            <a:prstDash val="solid"/>
          </a:ln>
        </p:spPr>
      </p:sp>
      <p:sp>
        <p:nvSpPr>
          <p:cNvPr id="47" name="Shape 45"/>
          <p:cNvSpPr/>
          <p:nvPr/>
        </p:nvSpPr>
        <p:spPr>
          <a:xfrm>
            <a:off x="3037947" y="2248310"/>
            <a:ext cx="1477051" cy="925772"/>
          </a:xfrm>
          <a:custGeom>
            <a:avLst/>
            <a:gdLst/>
            <a:ahLst/>
            <a:cxnLst/>
            <a:rect l="l" t="t" r="r" b="b"/>
            <a:pathLst>
              <a:path w="1477051" h="925772">
                <a:moveTo>
                  <a:pt x="1462053" y="785021"/>
                </a:moveTo>
                <a:lnTo>
                  <a:pt x="1442600" y="818046"/>
                </a:lnTo>
                <a:lnTo>
                  <a:pt x="1415433" y="847179"/>
                </a:lnTo>
                <a:lnTo>
                  <a:pt x="1380850" y="872102"/>
                </a:lnTo>
                <a:lnTo>
                  <a:pt x="1339229" y="892542"/>
                </a:lnTo>
                <a:lnTo>
                  <a:pt x="1291027" y="908274"/>
                </a:lnTo>
                <a:lnTo>
                  <a:pt x="1236772" y="919127"/>
                </a:lnTo>
                <a:lnTo>
                  <a:pt x="1177058" y="924981"/>
                </a:lnTo>
                <a:lnTo>
                  <a:pt x="1112539" y="925772"/>
                </a:lnTo>
                <a:lnTo>
                  <a:pt x="1043922" y="921491"/>
                </a:lnTo>
                <a:lnTo>
                  <a:pt x="971959" y="912186"/>
                </a:lnTo>
                <a:lnTo>
                  <a:pt x="897439" y="897958"/>
                </a:lnTo>
                <a:lnTo>
                  <a:pt x="821178" y="878964"/>
                </a:lnTo>
                <a:lnTo>
                  <a:pt x="744011" y="855411"/>
                </a:lnTo>
                <a:lnTo>
                  <a:pt x="666784" y="827557"/>
                </a:lnTo>
                <a:lnTo>
                  <a:pt x="590343" y="795708"/>
                </a:lnTo>
                <a:lnTo>
                  <a:pt x="515526" y="760213"/>
                </a:lnTo>
                <a:lnTo>
                  <a:pt x="443151" y="721460"/>
                </a:lnTo>
                <a:lnTo>
                  <a:pt x="374013" y="679874"/>
                </a:lnTo>
                <a:lnTo>
                  <a:pt x="308869" y="635910"/>
                </a:lnTo>
                <a:lnTo>
                  <a:pt x="248432" y="590051"/>
                </a:lnTo>
                <a:lnTo>
                  <a:pt x="193365" y="542799"/>
                </a:lnTo>
                <a:lnTo>
                  <a:pt x="144270" y="494671"/>
                </a:lnTo>
                <a:lnTo>
                  <a:pt x="101687" y="446195"/>
                </a:lnTo>
                <a:lnTo>
                  <a:pt x="66080" y="397901"/>
                </a:lnTo>
                <a:lnTo>
                  <a:pt x="37841" y="350320"/>
                </a:lnTo>
                <a:lnTo>
                  <a:pt x="17279" y="303972"/>
                </a:lnTo>
                <a:lnTo>
                  <a:pt x="4619" y="259365"/>
                </a:lnTo>
                <a:lnTo>
                  <a:pt x="0" y="216988"/>
                </a:lnTo>
                <a:lnTo>
                  <a:pt x="3472" y="177305"/>
                </a:lnTo>
                <a:lnTo>
                  <a:pt x="14998" y="140751"/>
                </a:lnTo>
                <a:lnTo>
                  <a:pt x="34451" y="107726"/>
                </a:lnTo>
                <a:lnTo>
                  <a:pt x="61618" y="78592"/>
                </a:lnTo>
                <a:lnTo>
                  <a:pt x="96201" y="53669"/>
                </a:lnTo>
                <a:lnTo>
                  <a:pt x="137821" y="33230"/>
                </a:lnTo>
                <a:lnTo>
                  <a:pt x="186023" y="17497"/>
                </a:lnTo>
                <a:lnTo>
                  <a:pt x="240279" y="6645"/>
                </a:lnTo>
                <a:lnTo>
                  <a:pt x="299993" y="791"/>
                </a:lnTo>
                <a:lnTo>
                  <a:pt x="364512" y="0"/>
                </a:lnTo>
                <a:lnTo>
                  <a:pt x="433128" y="4280"/>
                </a:lnTo>
                <a:lnTo>
                  <a:pt x="505091" y="13585"/>
                </a:lnTo>
                <a:lnTo>
                  <a:pt x="579611" y="27813"/>
                </a:lnTo>
                <a:lnTo>
                  <a:pt x="655873" y="46808"/>
                </a:lnTo>
                <a:lnTo>
                  <a:pt x="733039" y="70361"/>
                </a:lnTo>
                <a:lnTo>
                  <a:pt x="810266" y="98214"/>
                </a:lnTo>
                <a:lnTo>
                  <a:pt x="886707" y="130063"/>
                </a:lnTo>
                <a:lnTo>
                  <a:pt x="961525" y="165559"/>
                </a:lnTo>
                <a:lnTo>
                  <a:pt x="1033899" y="204312"/>
                </a:lnTo>
                <a:lnTo>
                  <a:pt x="1103037" y="245898"/>
                </a:lnTo>
                <a:lnTo>
                  <a:pt x="1168181" y="289861"/>
                </a:lnTo>
                <a:lnTo>
                  <a:pt x="1228618" y="335721"/>
                </a:lnTo>
                <a:lnTo>
                  <a:pt x="1283686" y="382973"/>
                </a:lnTo>
                <a:lnTo>
                  <a:pt x="1332780" y="431101"/>
                </a:lnTo>
                <a:lnTo>
                  <a:pt x="1375364" y="479577"/>
                </a:lnTo>
                <a:lnTo>
                  <a:pt x="1410970" y="527870"/>
                </a:lnTo>
                <a:lnTo>
                  <a:pt x="1439209" y="575452"/>
                </a:lnTo>
                <a:lnTo>
                  <a:pt x="1459771" y="621800"/>
                </a:lnTo>
                <a:lnTo>
                  <a:pt x="1472431" y="666407"/>
                </a:lnTo>
                <a:lnTo>
                  <a:pt x="1477051" y="708784"/>
                </a:lnTo>
                <a:lnTo>
                  <a:pt x="1473578" y="748467"/>
                </a:lnTo>
                <a:close/>
              </a:path>
            </a:pathLst>
          </a:custGeom>
          <a:solidFill>
            <a:srgbClr val="FFFFFF"/>
          </a:solidFill>
          <a:ln w="19050">
            <a:solidFill>
              <a:srgbClr val="1B1B1B"/>
            </a:solidFill>
            <a:prstDash val="solid"/>
          </a:ln>
        </p:spPr>
      </p:sp>
      <p:sp>
        <p:nvSpPr>
          <p:cNvPr id="48" name="Shape 46"/>
          <p:cNvSpPr/>
          <p:nvPr/>
        </p:nvSpPr>
        <p:spPr>
          <a:xfrm>
            <a:off x="3324496" y="2393491"/>
            <a:ext cx="1063476" cy="666556"/>
          </a:xfrm>
          <a:custGeom>
            <a:avLst/>
            <a:gdLst/>
            <a:ahLst/>
            <a:cxnLst/>
            <a:rect l="l" t="t" r="r" b="b"/>
            <a:pathLst>
              <a:path w="1063476" h="666556">
                <a:moveTo>
                  <a:pt x="1052678" y="565215"/>
                </a:moveTo>
                <a:lnTo>
                  <a:pt x="1038672" y="588993"/>
                </a:lnTo>
                <a:lnTo>
                  <a:pt x="1019112" y="609969"/>
                </a:lnTo>
                <a:lnTo>
                  <a:pt x="994212" y="627914"/>
                </a:lnTo>
                <a:lnTo>
                  <a:pt x="964245" y="642630"/>
                </a:lnTo>
                <a:lnTo>
                  <a:pt x="929540" y="653957"/>
                </a:lnTo>
                <a:lnTo>
                  <a:pt x="890476" y="661771"/>
                </a:lnTo>
                <a:lnTo>
                  <a:pt x="847481" y="665986"/>
                </a:lnTo>
                <a:lnTo>
                  <a:pt x="801028" y="666556"/>
                </a:lnTo>
                <a:lnTo>
                  <a:pt x="751624" y="663474"/>
                </a:lnTo>
                <a:lnTo>
                  <a:pt x="699811" y="656774"/>
                </a:lnTo>
                <a:lnTo>
                  <a:pt x="646156" y="646530"/>
                </a:lnTo>
                <a:lnTo>
                  <a:pt x="591248" y="632854"/>
                </a:lnTo>
                <a:lnTo>
                  <a:pt x="535688" y="615896"/>
                </a:lnTo>
                <a:lnTo>
                  <a:pt x="480085" y="595841"/>
                </a:lnTo>
                <a:lnTo>
                  <a:pt x="425047" y="572910"/>
                </a:lnTo>
                <a:lnTo>
                  <a:pt x="371178" y="547353"/>
                </a:lnTo>
                <a:lnTo>
                  <a:pt x="319069" y="519451"/>
                </a:lnTo>
                <a:lnTo>
                  <a:pt x="269290" y="489509"/>
                </a:lnTo>
                <a:lnTo>
                  <a:pt x="222386" y="457855"/>
                </a:lnTo>
                <a:lnTo>
                  <a:pt x="178871" y="424837"/>
                </a:lnTo>
                <a:lnTo>
                  <a:pt x="139223" y="390815"/>
                </a:lnTo>
                <a:lnTo>
                  <a:pt x="103875" y="356163"/>
                </a:lnTo>
                <a:lnTo>
                  <a:pt x="73214" y="321260"/>
                </a:lnTo>
                <a:lnTo>
                  <a:pt x="47578" y="286489"/>
                </a:lnTo>
                <a:lnTo>
                  <a:pt x="27246" y="252230"/>
                </a:lnTo>
                <a:lnTo>
                  <a:pt x="12441" y="218860"/>
                </a:lnTo>
                <a:lnTo>
                  <a:pt x="3326" y="186743"/>
                </a:lnTo>
                <a:lnTo>
                  <a:pt x="0" y="156231"/>
                </a:lnTo>
                <a:lnTo>
                  <a:pt x="2500" y="127659"/>
                </a:lnTo>
                <a:lnTo>
                  <a:pt x="10799" y="101341"/>
                </a:lnTo>
                <a:lnTo>
                  <a:pt x="24805" y="77563"/>
                </a:lnTo>
                <a:lnTo>
                  <a:pt x="44365" y="56587"/>
                </a:lnTo>
                <a:lnTo>
                  <a:pt x="69265" y="38642"/>
                </a:lnTo>
                <a:lnTo>
                  <a:pt x="99231" y="23925"/>
                </a:lnTo>
                <a:lnTo>
                  <a:pt x="133937" y="12598"/>
                </a:lnTo>
                <a:lnTo>
                  <a:pt x="173001" y="4784"/>
                </a:lnTo>
                <a:lnTo>
                  <a:pt x="215995" y="570"/>
                </a:lnTo>
                <a:lnTo>
                  <a:pt x="262449" y="0"/>
                </a:lnTo>
                <a:lnTo>
                  <a:pt x="311853" y="3082"/>
                </a:lnTo>
                <a:lnTo>
                  <a:pt x="363666" y="9782"/>
                </a:lnTo>
                <a:lnTo>
                  <a:pt x="417320" y="20025"/>
                </a:lnTo>
                <a:lnTo>
                  <a:pt x="472228" y="33701"/>
                </a:lnTo>
                <a:lnTo>
                  <a:pt x="527788" y="50660"/>
                </a:lnTo>
                <a:lnTo>
                  <a:pt x="583392" y="70714"/>
                </a:lnTo>
                <a:lnTo>
                  <a:pt x="638429" y="93646"/>
                </a:lnTo>
                <a:lnTo>
                  <a:pt x="692298" y="119202"/>
                </a:lnTo>
                <a:lnTo>
                  <a:pt x="744407" y="147105"/>
                </a:lnTo>
                <a:lnTo>
                  <a:pt x="794187" y="177047"/>
                </a:lnTo>
                <a:lnTo>
                  <a:pt x="841091" y="208700"/>
                </a:lnTo>
                <a:lnTo>
                  <a:pt x="884605" y="241719"/>
                </a:lnTo>
                <a:lnTo>
                  <a:pt x="924254" y="275741"/>
                </a:lnTo>
                <a:lnTo>
                  <a:pt x="959602" y="310393"/>
                </a:lnTo>
                <a:lnTo>
                  <a:pt x="990262" y="345295"/>
                </a:lnTo>
                <a:lnTo>
                  <a:pt x="1015899" y="380067"/>
                </a:lnTo>
                <a:lnTo>
                  <a:pt x="1036231" y="414325"/>
                </a:lnTo>
                <a:lnTo>
                  <a:pt x="1051035" y="447696"/>
                </a:lnTo>
                <a:lnTo>
                  <a:pt x="1060151" y="479813"/>
                </a:lnTo>
                <a:lnTo>
                  <a:pt x="1063476" y="510324"/>
                </a:lnTo>
                <a:lnTo>
                  <a:pt x="1060976" y="538896"/>
                </a:lnTo>
                <a:close/>
              </a:path>
            </a:pathLst>
          </a:custGeom>
          <a:ln w="6350">
            <a:solidFill>
              <a:srgbClr val="4F7A43"/>
            </a:solidFill>
            <a:prstDash val="dash"/>
          </a:ln>
        </p:spPr>
      </p:sp>
      <p:sp>
        <p:nvSpPr>
          <p:cNvPr id="49" name="Shape 47"/>
          <p:cNvSpPr/>
          <p:nvPr/>
        </p:nvSpPr>
        <p:spPr>
          <a:xfrm>
            <a:off x="3516512" y="2513841"/>
            <a:ext cx="679443" cy="425855"/>
          </a:xfrm>
          <a:custGeom>
            <a:avLst/>
            <a:gdLst/>
            <a:ahLst/>
            <a:cxnLst/>
            <a:rect l="l" t="t" r="r" b="b"/>
            <a:pathLst>
              <a:path w="679443" h="425855">
                <a:moveTo>
                  <a:pt x="672544" y="361110"/>
                </a:moveTo>
                <a:lnTo>
                  <a:pt x="663596" y="376301"/>
                </a:lnTo>
                <a:lnTo>
                  <a:pt x="651099" y="389702"/>
                </a:lnTo>
                <a:lnTo>
                  <a:pt x="635191" y="401167"/>
                </a:lnTo>
                <a:lnTo>
                  <a:pt x="616045" y="410569"/>
                </a:lnTo>
                <a:lnTo>
                  <a:pt x="593873" y="417806"/>
                </a:lnTo>
                <a:lnTo>
                  <a:pt x="568915" y="422798"/>
                </a:lnTo>
                <a:lnTo>
                  <a:pt x="541446" y="425491"/>
                </a:lnTo>
                <a:lnTo>
                  <a:pt x="511768" y="425855"/>
                </a:lnTo>
                <a:lnTo>
                  <a:pt x="480204" y="423886"/>
                </a:lnTo>
                <a:lnTo>
                  <a:pt x="447101" y="419606"/>
                </a:lnTo>
                <a:lnTo>
                  <a:pt x="412822" y="413061"/>
                </a:lnTo>
                <a:lnTo>
                  <a:pt x="377742" y="404323"/>
                </a:lnTo>
                <a:lnTo>
                  <a:pt x="342245" y="393489"/>
                </a:lnTo>
                <a:lnTo>
                  <a:pt x="306721" y="380676"/>
                </a:lnTo>
                <a:lnTo>
                  <a:pt x="271558" y="366026"/>
                </a:lnTo>
                <a:lnTo>
                  <a:pt x="237142" y="349698"/>
                </a:lnTo>
                <a:lnTo>
                  <a:pt x="203850" y="331871"/>
                </a:lnTo>
                <a:lnTo>
                  <a:pt x="172046" y="312742"/>
                </a:lnTo>
                <a:lnTo>
                  <a:pt x="142080" y="292519"/>
                </a:lnTo>
                <a:lnTo>
                  <a:pt x="114279" y="271423"/>
                </a:lnTo>
                <a:lnTo>
                  <a:pt x="88948" y="249687"/>
                </a:lnTo>
                <a:lnTo>
                  <a:pt x="66364" y="227549"/>
                </a:lnTo>
                <a:lnTo>
                  <a:pt x="46776" y="205249"/>
                </a:lnTo>
                <a:lnTo>
                  <a:pt x="30397" y="183035"/>
                </a:lnTo>
                <a:lnTo>
                  <a:pt x="17407" y="161147"/>
                </a:lnTo>
                <a:lnTo>
                  <a:pt x="7948" y="139827"/>
                </a:lnTo>
                <a:lnTo>
                  <a:pt x="2125" y="119308"/>
                </a:lnTo>
                <a:lnTo>
                  <a:pt x="0" y="99814"/>
                </a:lnTo>
                <a:lnTo>
                  <a:pt x="1597" y="81560"/>
                </a:lnTo>
                <a:lnTo>
                  <a:pt x="6899" y="64745"/>
                </a:lnTo>
                <a:lnTo>
                  <a:pt x="15847" y="49554"/>
                </a:lnTo>
                <a:lnTo>
                  <a:pt x="28344" y="36153"/>
                </a:lnTo>
                <a:lnTo>
                  <a:pt x="44252" y="24688"/>
                </a:lnTo>
                <a:lnTo>
                  <a:pt x="63398" y="15286"/>
                </a:lnTo>
                <a:lnTo>
                  <a:pt x="85571" y="8049"/>
                </a:lnTo>
                <a:lnTo>
                  <a:pt x="110528" y="3057"/>
                </a:lnTo>
                <a:lnTo>
                  <a:pt x="137997" y="364"/>
                </a:lnTo>
                <a:lnTo>
                  <a:pt x="167675" y="0"/>
                </a:lnTo>
                <a:lnTo>
                  <a:pt x="199239" y="1969"/>
                </a:lnTo>
                <a:lnTo>
                  <a:pt x="232342" y="6249"/>
                </a:lnTo>
                <a:lnTo>
                  <a:pt x="266621" y="12794"/>
                </a:lnTo>
                <a:lnTo>
                  <a:pt x="301701" y="21531"/>
                </a:lnTo>
                <a:lnTo>
                  <a:pt x="337198" y="32366"/>
                </a:lnTo>
                <a:lnTo>
                  <a:pt x="372723" y="45179"/>
                </a:lnTo>
                <a:lnTo>
                  <a:pt x="407885" y="59829"/>
                </a:lnTo>
                <a:lnTo>
                  <a:pt x="442301" y="76157"/>
                </a:lnTo>
                <a:lnTo>
                  <a:pt x="475594" y="93983"/>
                </a:lnTo>
                <a:lnTo>
                  <a:pt x="507397" y="113113"/>
                </a:lnTo>
                <a:lnTo>
                  <a:pt x="537363" y="133336"/>
                </a:lnTo>
                <a:lnTo>
                  <a:pt x="565164" y="154431"/>
                </a:lnTo>
                <a:lnTo>
                  <a:pt x="590495" y="176168"/>
                </a:lnTo>
                <a:lnTo>
                  <a:pt x="613079" y="198306"/>
                </a:lnTo>
                <a:lnTo>
                  <a:pt x="632667" y="220605"/>
                </a:lnTo>
                <a:lnTo>
                  <a:pt x="649046" y="242820"/>
                </a:lnTo>
                <a:lnTo>
                  <a:pt x="662036" y="264708"/>
                </a:lnTo>
                <a:lnTo>
                  <a:pt x="671495" y="286028"/>
                </a:lnTo>
                <a:lnTo>
                  <a:pt x="677318" y="306547"/>
                </a:lnTo>
                <a:lnTo>
                  <a:pt x="679443" y="326041"/>
                </a:lnTo>
                <a:lnTo>
                  <a:pt x="677846" y="344295"/>
                </a:lnTo>
                <a:close/>
              </a:path>
            </a:pathLst>
          </a:custGeom>
          <a:ln w="6350">
            <a:solidFill>
              <a:srgbClr val="4F7A43"/>
            </a:solidFill>
            <a:prstDash val="dash"/>
          </a:ln>
        </p:spPr>
      </p:sp>
      <p:sp>
        <p:nvSpPr>
          <p:cNvPr id="50" name="Shape 48"/>
          <p:cNvSpPr/>
          <p:nvPr/>
        </p:nvSpPr>
        <p:spPr>
          <a:xfrm>
            <a:off x="3693758" y="2624934"/>
            <a:ext cx="324951" cy="203670"/>
          </a:xfrm>
          <a:custGeom>
            <a:avLst/>
            <a:gdLst/>
            <a:ahLst/>
            <a:cxnLst/>
            <a:rect l="l" t="t" r="r" b="b"/>
            <a:pathLst>
              <a:path w="324951" h="203670">
                <a:moveTo>
                  <a:pt x="321652" y="172705"/>
                </a:moveTo>
                <a:lnTo>
                  <a:pt x="317372" y="179970"/>
                </a:lnTo>
                <a:lnTo>
                  <a:pt x="311395" y="186379"/>
                </a:lnTo>
                <a:lnTo>
                  <a:pt x="303787" y="191863"/>
                </a:lnTo>
                <a:lnTo>
                  <a:pt x="294630" y="196359"/>
                </a:lnTo>
                <a:lnTo>
                  <a:pt x="284026" y="199820"/>
                </a:lnTo>
                <a:lnTo>
                  <a:pt x="272090" y="202208"/>
                </a:lnTo>
                <a:lnTo>
                  <a:pt x="258953" y="203496"/>
                </a:lnTo>
                <a:lnTo>
                  <a:pt x="244759" y="203670"/>
                </a:lnTo>
                <a:lnTo>
                  <a:pt x="229663" y="202728"/>
                </a:lnTo>
                <a:lnTo>
                  <a:pt x="213831" y="200681"/>
                </a:lnTo>
                <a:lnTo>
                  <a:pt x="197437" y="197551"/>
                </a:lnTo>
                <a:lnTo>
                  <a:pt x="180659" y="193372"/>
                </a:lnTo>
                <a:lnTo>
                  <a:pt x="163682" y="188190"/>
                </a:lnTo>
                <a:lnTo>
                  <a:pt x="146692" y="182063"/>
                </a:lnTo>
                <a:lnTo>
                  <a:pt x="129875" y="175056"/>
                </a:lnTo>
                <a:lnTo>
                  <a:pt x="113416" y="167247"/>
                </a:lnTo>
                <a:lnTo>
                  <a:pt x="97493" y="158721"/>
                </a:lnTo>
                <a:lnTo>
                  <a:pt x="82283" y="149572"/>
                </a:lnTo>
                <a:lnTo>
                  <a:pt x="67951" y="139900"/>
                </a:lnTo>
                <a:lnTo>
                  <a:pt x="54655" y="129811"/>
                </a:lnTo>
                <a:lnTo>
                  <a:pt x="42540" y="119416"/>
                </a:lnTo>
                <a:lnTo>
                  <a:pt x="31739" y="108828"/>
                </a:lnTo>
                <a:lnTo>
                  <a:pt x="22371" y="98163"/>
                </a:lnTo>
                <a:lnTo>
                  <a:pt x="14538" y="87538"/>
                </a:lnTo>
                <a:lnTo>
                  <a:pt x="8325" y="77070"/>
                </a:lnTo>
                <a:lnTo>
                  <a:pt x="3801" y="66874"/>
                </a:lnTo>
                <a:lnTo>
                  <a:pt x="1016" y="57060"/>
                </a:lnTo>
                <a:lnTo>
                  <a:pt x="0" y="47737"/>
                </a:lnTo>
                <a:lnTo>
                  <a:pt x="764" y="39007"/>
                </a:lnTo>
                <a:lnTo>
                  <a:pt x="3300" y="30965"/>
                </a:lnTo>
                <a:lnTo>
                  <a:pt x="7579" y="23700"/>
                </a:lnTo>
                <a:lnTo>
                  <a:pt x="13556" y="17290"/>
                </a:lnTo>
                <a:lnTo>
                  <a:pt x="21164" y="11807"/>
                </a:lnTo>
                <a:lnTo>
                  <a:pt x="30321" y="7311"/>
                </a:lnTo>
                <a:lnTo>
                  <a:pt x="40925" y="3849"/>
                </a:lnTo>
                <a:lnTo>
                  <a:pt x="52861" y="1462"/>
                </a:lnTo>
                <a:lnTo>
                  <a:pt x="65998" y="174"/>
                </a:lnTo>
                <a:lnTo>
                  <a:pt x="80193" y="0"/>
                </a:lnTo>
                <a:lnTo>
                  <a:pt x="95288" y="942"/>
                </a:lnTo>
                <a:lnTo>
                  <a:pt x="111120" y="2989"/>
                </a:lnTo>
                <a:lnTo>
                  <a:pt x="127514" y="6119"/>
                </a:lnTo>
                <a:lnTo>
                  <a:pt x="144292" y="10298"/>
                </a:lnTo>
                <a:lnTo>
                  <a:pt x="161269" y="15479"/>
                </a:lnTo>
                <a:lnTo>
                  <a:pt x="178259" y="21607"/>
                </a:lnTo>
                <a:lnTo>
                  <a:pt x="195076" y="28614"/>
                </a:lnTo>
                <a:lnTo>
                  <a:pt x="211535" y="36423"/>
                </a:lnTo>
                <a:lnTo>
                  <a:pt x="227458" y="44949"/>
                </a:lnTo>
                <a:lnTo>
                  <a:pt x="242668" y="54098"/>
                </a:lnTo>
                <a:lnTo>
                  <a:pt x="257000" y="63770"/>
                </a:lnTo>
                <a:lnTo>
                  <a:pt x="270296" y="73859"/>
                </a:lnTo>
                <a:lnTo>
                  <a:pt x="282411" y="84254"/>
                </a:lnTo>
                <a:lnTo>
                  <a:pt x="293212" y="94842"/>
                </a:lnTo>
                <a:lnTo>
                  <a:pt x="302580" y="105507"/>
                </a:lnTo>
                <a:lnTo>
                  <a:pt x="310413" y="116131"/>
                </a:lnTo>
                <a:lnTo>
                  <a:pt x="316626" y="126599"/>
                </a:lnTo>
                <a:lnTo>
                  <a:pt x="321150" y="136796"/>
                </a:lnTo>
                <a:lnTo>
                  <a:pt x="323935" y="146609"/>
                </a:lnTo>
                <a:lnTo>
                  <a:pt x="324951" y="155932"/>
                </a:lnTo>
                <a:lnTo>
                  <a:pt x="324187" y="164663"/>
                </a:lnTo>
                <a:close/>
              </a:path>
            </a:pathLst>
          </a:custGeom>
          <a:ln w="6350">
            <a:solidFill>
              <a:srgbClr val="4F7A43"/>
            </a:solidFill>
            <a:prstDash val="dash"/>
          </a:ln>
        </p:spPr>
      </p:sp>
      <p:sp>
        <p:nvSpPr>
          <p:cNvPr id="51" name="Shape 49"/>
          <p:cNvSpPr/>
          <p:nvPr/>
        </p:nvSpPr>
        <p:spPr>
          <a:xfrm>
            <a:off x="4389495" y="2970994"/>
            <a:ext cx="47362" cy="47362"/>
          </a:xfrm>
          <a:prstGeom prst="ellipse">
            <a:avLst/>
          </a:prstGeom>
          <a:solidFill>
            <a:srgbClr val="FFFFFF"/>
          </a:solidFill>
          <a:ln w="7620">
            <a:solidFill>
              <a:srgbClr val="4F7A43"/>
            </a:solidFill>
            <a:prstDash val="solid"/>
          </a:ln>
        </p:spPr>
      </p:sp>
      <p:sp>
        <p:nvSpPr>
          <p:cNvPr id="52" name="Shape 50"/>
          <p:cNvSpPr/>
          <p:nvPr/>
        </p:nvSpPr>
        <p:spPr>
          <a:xfrm>
            <a:off x="4323549" y="3044238"/>
            <a:ext cx="47362" cy="47362"/>
          </a:xfrm>
          <a:prstGeom prst="ellipse">
            <a:avLst/>
          </a:prstGeom>
          <a:solidFill>
            <a:srgbClr val="FFFFFF"/>
          </a:solidFill>
          <a:ln w="7620">
            <a:solidFill>
              <a:srgbClr val="4F7A43"/>
            </a:solidFill>
            <a:prstDash val="solid"/>
          </a:ln>
        </p:spPr>
      </p:sp>
      <p:sp>
        <p:nvSpPr>
          <p:cNvPr id="53" name="Shape 51"/>
          <p:cNvSpPr/>
          <p:nvPr/>
        </p:nvSpPr>
        <p:spPr>
          <a:xfrm>
            <a:off x="4207724" y="3086308"/>
            <a:ext cx="47362" cy="47362"/>
          </a:xfrm>
          <a:prstGeom prst="ellipse">
            <a:avLst/>
          </a:prstGeom>
          <a:solidFill>
            <a:srgbClr val="FFFFFF"/>
          </a:solidFill>
          <a:ln w="7620">
            <a:solidFill>
              <a:srgbClr val="4F7A43"/>
            </a:solidFill>
            <a:prstDash val="solid"/>
          </a:ln>
        </p:spPr>
      </p:sp>
      <p:sp>
        <p:nvSpPr>
          <p:cNvPr id="54" name="Shape 52"/>
          <p:cNvSpPr/>
          <p:nvPr/>
        </p:nvSpPr>
        <p:spPr>
          <a:xfrm>
            <a:off x="4052142" y="3093528"/>
            <a:ext cx="47362" cy="47362"/>
          </a:xfrm>
          <a:prstGeom prst="ellipse">
            <a:avLst/>
          </a:prstGeom>
          <a:solidFill>
            <a:srgbClr val="FFFFFF"/>
          </a:solidFill>
          <a:ln w="7620">
            <a:solidFill>
              <a:srgbClr val="4F7A43"/>
            </a:solidFill>
            <a:prstDash val="solid"/>
          </a:ln>
        </p:spPr>
      </p:sp>
      <p:sp>
        <p:nvSpPr>
          <p:cNvPr id="55" name="Shape 53"/>
          <p:cNvSpPr/>
          <p:nvPr/>
        </p:nvSpPr>
        <p:spPr>
          <a:xfrm>
            <a:off x="3870400" y="3065265"/>
            <a:ext cx="47362" cy="47362"/>
          </a:xfrm>
          <a:prstGeom prst="ellipse">
            <a:avLst/>
          </a:prstGeom>
          <a:solidFill>
            <a:srgbClr val="FFFFFF"/>
          </a:solidFill>
          <a:ln w="7620">
            <a:solidFill>
              <a:srgbClr val="4F7A43"/>
            </a:solidFill>
            <a:prstDash val="solid"/>
          </a:ln>
        </p:spPr>
      </p:sp>
      <p:sp>
        <p:nvSpPr>
          <p:cNvPr id="56" name="Shape 54"/>
          <p:cNvSpPr/>
          <p:nvPr/>
        </p:nvSpPr>
        <p:spPr>
          <a:xfrm>
            <a:off x="3678380" y="3003991"/>
            <a:ext cx="47362" cy="47362"/>
          </a:xfrm>
          <a:prstGeom prst="ellipse">
            <a:avLst/>
          </a:prstGeom>
          <a:solidFill>
            <a:srgbClr val="FFFFFF"/>
          </a:solidFill>
          <a:ln w="7620">
            <a:solidFill>
              <a:srgbClr val="4F7A43"/>
            </a:solidFill>
            <a:prstDash val="solid"/>
          </a:ln>
        </p:spPr>
      </p:sp>
      <p:sp>
        <p:nvSpPr>
          <p:cNvPr id="57" name="Shape 55"/>
          <p:cNvSpPr/>
          <p:nvPr/>
        </p:nvSpPr>
        <p:spPr>
          <a:xfrm>
            <a:off x="3492862" y="2915060"/>
            <a:ext cx="47362" cy="47362"/>
          </a:xfrm>
          <a:prstGeom prst="ellipse">
            <a:avLst/>
          </a:prstGeom>
          <a:solidFill>
            <a:srgbClr val="FFFFFF"/>
          </a:solidFill>
          <a:ln w="7620">
            <a:solidFill>
              <a:srgbClr val="4F7A43"/>
            </a:solidFill>
            <a:prstDash val="solid"/>
          </a:ln>
        </p:spPr>
      </p:sp>
      <p:sp>
        <p:nvSpPr>
          <p:cNvPr id="58" name="Shape 56"/>
          <p:cNvSpPr/>
          <p:nvPr/>
        </p:nvSpPr>
        <p:spPr>
          <a:xfrm>
            <a:off x="3330060" y="2806244"/>
            <a:ext cx="47362" cy="47362"/>
          </a:xfrm>
          <a:prstGeom prst="ellipse">
            <a:avLst/>
          </a:prstGeom>
          <a:solidFill>
            <a:srgbClr val="FFFFFF"/>
          </a:solidFill>
          <a:ln w="7620">
            <a:solidFill>
              <a:srgbClr val="4F7A43"/>
            </a:solidFill>
            <a:prstDash val="solid"/>
          </a:ln>
        </p:spPr>
      </p:sp>
      <p:sp>
        <p:nvSpPr>
          <p:cNvPr id="59" name="Shape 57"/>
          <p:cNvSpPr/>
          <p:nvPr/>
        </p:nvSpPr>
        <p:spPr>
          <a:xfrm>
            <a:off x="3204201" y="2687052"/>
            <a:ext cx="47362" cy="47362"/>
          </a:xfrm>
          <a:prstGeom prst="ellipse">
            <a:avLst/>
          </a:prstGeom>
          <a:solidFill>
            <a:srgbClr val="FFFFFF"/>
          </a:solidFill>
          <a:ln w="7620">
            <a:solidFill>
              <a:srgbClr val="4F7A43"/>
            </a:solidFill>
            <a:prstDash val="solid"/>
          </a:ln>
        </p:spPr>
      </p:sp>
      <p:sp>
        <p:nvSpPr>
          <p:cNvPr id="60" name="Shape 58"/>
          <p:cNvSpPr/>
          <p:nvPr/>
        </p:nvSpPr>
        <p:spPr>
          <a:xfrm>
            <a:off x="3126283" y="2567900"/>
            <a:ext cx="47362" cy="47362"/>
          </a:xfrm>
          <a:prstGeom prst="ellipse">
            <a:avLst/>
          </a:prstGeom>
          <a:solidFill>
            <a:srgbClr val="FFFFFF"/>
          </a:solidFill>
          <a:ln w="7620">
            <a:solidFill>
              <a:srgbClr val="4F7A43"/>
            </a:solidFill>
            <a:prstDash val="solid"/>
          </a:ln>
        </p:spPr>
      </p:sp>
      <p:sp>
        <p:nvSpPr>
          <p:cNvPr id="61" name="Shape 59"/>
          <p:cNvSpPr/>
          <p:nvPr/>
        </p:nvSpPr>
        <p:spPr>
          <a:xfrm>
            <a:off x="3103116" y="2459202"/>
            <a:ext cx="47362" cy="47362"/>
          </a:xfrm>
          <a:prstGeom prst="ellipse">
            <a:avLst/>
          </a:prstGeom>
          <a:solidFill>
            <a:srgbClr val="FFFFFF"/>
          </a:solidFill>
          <a:ln w="7620">
            <a:solidFill>
              <a:srgbClr val="4F7A43"/>
            </a:solidFill>
            <a:prstDash val="solid"/>
          </a:ln>
        </p:spPr>
      </p:sp>
      <p:sp>
        <p:nvSpPr>
          <p:cNvPr id="62" name="Shape 60"/>
          <p:cNvSpPr/>
          <p:nvPr/>
        </p:nvSpPr>
        <p:spPr>
          <a:xfrm>
            <a:off x="3136725" y="2370456"/>
            <a:ext cx="47362" cy="47362"/>
          </a:xfrm>
          <a:prstGeom prst="ellipse">
            <a:avLst/>
          </a:prstGeom>
          <a:solidFill>
            <a:srgbClr val="FFFFFF"/>
          </a:solidFill>
          <a:ln w="7620">
            <a:solidFill>
              <a:srgbClr val="4F7A43"/>
            </a:solidFill>
            <a:prstDash val="solid"/>
          </a:ln>
        </p:spPr>
      </p:sp>
      <p:sp>
        <p:nvSpPr>
          <p:cNvPr id="63" name="Shape 61"/>
          <p:cNvSpPr/>
          <p:nvPr/>
        </p:nvSpPr>
        <p:spPr>
          <a:xfrm>
            <a:off x="3224172" y="2309418"/>
            <a:ext cx="47362" cy="47362"/>
          </a:xfrm>
          <a:prstGeom prst="ellipse">
            <a:avLst/>
          </a:prstGeom>
          <a:solidFill>
            <a:srgbClr val="FFFFFF"/>
          </a:solidFill>
          <a:ln w="7620">
            <a:solidFill>
              <a:srgbClr val="4F7A43"/>
            </a:solidFill>
            <a:prstDash val="solid"/>
          </a:ln>
        </p:spPr>
      </p:sp>
      <p:sp>
        <p:nvSpPr>
          <p:cNvPr id="64" name="Shape 62"/>
          <p:cNvSpPr/>
          <p:nvPr/>
        </p:nvSpPr>
        <p:spPr>
          <a:xfrm>
            <a:off x="3357815" y="2281422"/>
            <a:ext cx="47362" cy="47362"/>
          </a:xfrm>
          <a:prstGeom prst="ellipse">
            <a:avLst/>
          </a:prstGeom>
          <a:solidFill>
            <a:srgbClr val="FFFFFF"/>
          </a:solidFill>
          <a:ln w="7620">
            <a:solidFill>
              <a:srgbClr val="4F7A43"/>
            </a:solidFill>
            <a:prstDash val="solid"/>
          </a:ln>
        </p:spPr>
      </p:sp>
      <p:sp>
        <p:nvSpPr>
          <p:cNvPr id="65" name="Shape 63"/>
          <p:cNvSpPr/>
          <p:nvPr/>
        </p:nvSpPr>
        <p:spPr>
          <a:xfrm>
            <a:off x="3525975" y="2288915"/>
            <a:ext cx="47362" cy="47362"/>
          </a:xfrm>
          <a:prstGeom prst="ellipse">
            <a:avLst/>
          </a:prstGeom>
          <a:solidFill>
            <a:srgbClr val="FFFFFF"/>
          </a:solidFill>
          <a:ln w="7620">
            <a:solidFill>
              <a:srgbClr val="4F7A43"/>
            </a:solidFill>
            <a:prstDash val="solid"/>
          </a:ln>
        </p:spPr>
      </p:sp>
      <p:sp>
        <p:nvSpPr>
          <p:cNvPr id="66" name="Shape 64"/>
          <p:cNvSpPr/>
          <p:nvPr/>
        </p:nvSpPr>
        <p:spPr>
          <a:xfrm>
            <a:off x="3713957" y="2331241"/>
            <a:ext cx="47362" cy="47362"/>
          </a:xfrm>
          <a:prstGeom prst="ellipse">
            <a:avLst/>
          </a:prstGeom>
          <a:solidFill>
            <a:srgbClr val="FFFFFF"/>
          </a:solidFill>
          <a:ln w="7620">
            <a:solidFill>
              <a:srgbClr val="4F7A43"/>
            </a:solidFill>
            <a:prstDash val="solid"/>
          </a:ln>
        </p:spPr>
      </p:sp>
      <p:sp>
        <p:nvSpPr>
          <p:cNvPr id="67" name="Shape 65"/>
          <p:cNvSpPr/>
          <p:nvPr/>
        </p:nvSpPr>
        <p:spPr>
          <a:xfrm>
            <a:off x="3905333" y="2404703"/>
            <a:ext cx="47362" cy="47362"/>
          </a:xfrm>
          <a:prstGeom prst="ellipse">
            <a:avLst/>
          </a:prstGeom>
          <a:solidFill>
            <a:srgbClr val="FFFFFF"/>
          </a:solidFill>
          <a:ln w="7620">
            <a:solidFill>
              <a:srgbClr val="4F7A43"/>
            </a:solidFill>
            <a:prstDash val="solid"/>
          </a:ln>
        </p:spPr>
      </p:sp>
      <p:sp>
        <p:nvSpPr>
          <p:cNvPr id="68" name="Shape 66"/>
          <p:cNvSpPr/>
          <p:nvPr/>
        </p:nvSpPr>
        <p:spPr>
          <a:xfrm>
            <a:off x="4083378" y="2502880"/>
            <a:ext cx="47362" cy="47362"/>
          </a:xfrm>
          <a:prstGeom prst="ellipse">
            <a:avLst/>
          </a:prstGeom>
          <a:solidFill>
            <a:srgbClr val="FFFFFF"/>
          </a:solidFill>
          <a:ln w="7620">
            <a:solidFill>
              <a:srgbClr val="4F7A43"/>
            </a:solidFill>
            <a:prstDash val="solid"/>
          </a:ln>
        </p:spPr>
      </p:sp>
      <p:sp>
        <p:nvSpPr>
          <p:cNvPr id="69" name="Shape 67"/>
          <p:cNvSpPr/>
          <p:nvPr/>
        </p:nvSpPr>
        <p:spPr>
          <a:xfrm>
            <a:off x="4232532" y="2617192"/>
            <a:ext cx="47362" cy="47362"/>
          </a:xfrm>
          <a:prstGeom prst="ellipse">
            <a:avLst/>
          </a:prstGeom>
          <a:solidFill>
            <a:srgbClr val="FFFFFF"/>
          </a:solidFill>
          <a:ln w="7620">
            <a:solidFill>
              <a:srgbClr val="4F7A43"/>
            </a:solidFill>
            <a:prstDash val="solid"/>
          </a:ln>
        </p:spPr>
      </p:sp>
      <p:sp>
        <p:nvSpPr>
          <p:cNvPr id="70" name="Shape 68"/>
          <p:cNvSpPr/>
          <p:nvPr/>
        </p:nvSpPr>
        <p:spPr>
          <a:xfrm>
            <a:off x="4339762" y="2737650"/>
            <a:ext cx="47362" cy="47362"/>
          </a:xfrm>
          <a:prstGeom prst="ellipse">
            <a:avLst/>
          </a:prstGeom>
          <a:solidFill>
            <a:srgbClr val="FFFFFF"/>
          </a:solidFill>
          <a:ln w="7620">
            <a:solidFill>
              <a:srgbClr val="4F7A43"/>
            </a:solidFill>
            <a:prstDash val="solid"/>
          </a:ln>
        </p:spPr>
      </p:sp>
      <p:sp>
        <p:nvSpPr>
          <p:cNvPr id="71" name="Shape 69"/>
          <p:cNvSpPr/>
          <p:nvPr/>
        </p:nvSpPr>
        <p:spPr>
          <a:xfrm>
            <a:off x="4395697" y="2853726"/>
            <a:ext cx="47362" cy="47362"/>
          </a:xfrm>
          <a:prstGeom prst="ellipse">
            <a:avLst/>
          </a:prstGeom>
          <a:solidFill>
            <a:srgbClr val="FFFFFF"/>
          </a:solidFill>
          <a:ln w="7620">
            <a:solidFill>
              <a:srgbClr val="4F7A43"/>
            </a:solidFill>
            <a:prstDash val="solid"/>
          </a:ln>
        </p:spPr>
      </p:sp>
      <p:sp>
        <p:nvSpPr>
          <p:cNvPr id="72" name="Shape 70"/>
          <p:cNvSpPr/>
          <p:nvPr/>
        </p:nvSpPr>
        <p:spPr>
          <a:xfrm>
            <a:off x="4395447" y="2955277"/>
            <a:ext cx="47362" cy="47362"/>
          </a:xfrm>
          <a:prstGeom prst="ellipse">
            <a:avLst/>
          </a:prstGeom>
          <a:solidFill>
            <a:srgbClr val="FFFFFF"/>
          </a:solidFill>
          <a:ln w="7620">
            <a:solidFill>
              <a:srgbClr val="4F7A43"/>
            </a:solidFill>
            <a:prstDash val="solid"/>
          </a:ln>
        </p:spPr>
      </p:sp>
      <p:sp>
        <p:nvSpPr>
          <p:cNvPr id="73" name="Shape 71"/>
          <p:cNvSpPr/>
          <p:nvPr/>
        </p:nvSpPr>
        <p:spPr>
          <a:xfrm>
            <a:off x="3823249" y="2986210"/>
            <a:ext cx="735785" cy="215929"/>
          </a:xfrm>
          <a:custGeom>
            <a:avLst/>
            <a:gdLst/>
            <a:ahLst/>
            <a:cxnLst/>
            <a:rect l="l" t="t" r="r" b="b"/>
            <a:pathLst>
              <a:path w="735785" h="215929">
                <a:moveTo>
                  <a:pt x="735785" y="0"/>
                </a:moveTo>
                <a:lnTo>
                  <a:pt x="732039" y="29386"/>
                </a:lnTo>
                <a:lnTo>
                  <a:pt x="724010" y="57097"/>
                </a:lnTo>
                <a:lnTo>
                  <a:pt x="711742" y="82982"/>
                </a:lnTo>
                <a:lnTo>
                  <a:pt x="695302" y="106899"/>
                </a:lnTo>
                <a:lnTo>
                  <a:pt x="674781" y="128714"/>
                </a:lnTo>
                <a:lnTo>
                  <a:pt x="650292" y="148310"/>
                </a:lnTo>
                <a:lnTo>
                  <a:pt x="621969" y="165577"/>
                </a:lnTo>
                <a:lnTo>
                  <a:pt x="589969" y="180422"/>
                </a:lnTo>
                <a:lnTo>
                  <a:pt x="554466" y="192761"/>
                </a:lnTo>
                <a:lnTo>
                  <a:pt x="515657" y="202528"/>
                </a:lnTo>
                <a:lnTo>
                  <a:pt x="473755" y="209669"/>
                </a:lnTo>
                <a:lnTo>
                  <a:pt x="428989" y="214144"/>
                </a:lnTo>
                <a:lnTo>
                  <a:pt x="381608" y="215929"/>
                </a:lnTo>
                <a:lnTo>
                  <a:pt x="331870" y="215014"/>
                </a:lnTo>
                <a:lnTo>
                  <a:pt x="280050" y="211404"/>
                </a:lnTo>
                <a:lnTo>
                  <a:pt x="226433" y="205118"/>
                </a:lnTo>
                <a:lnTo>
                  <a:pt x="171313" y="196193"/>
                </a:lnTo>
                <a:lnTo>
                  <a:pt x="114993" y="184676"/>
                </a:lnTo>
                <a:lnTo>
                  <a:pt x="57784" y="170630"/>
                </a:lnTo>
                <a:lnTo>
                  <a:pt x="0" y="154134"/>
                </a:lnTo>
              </a:path>
            </a:pathLst>
          </a:custGeom>
          <a:ln w="44450">
            <a:solidFill>
              <a:srgbClr val="C4262E"/>
            </a:solidFill>
            <a:prstDash val="solid"/>
          </a:ln>
        </p:spPr>
      </p:sp>
      <p:sp>
        <p:nvSpPr>
          <p:cNvPr id="74" name="Shape 72"/>
          <p:cNvSpPr/>
          <p:nvPr/>
        </p:nvSpPr>
        <p:spPr>
          <a:xfrm rot="-741527">
            <a:off x="3848121" y="3016192"/>
            <a:ext cx="712799" cy="109296"/>
          </a:xfrm>
          <a:prstGeom prst="rect">
            <a:avLst/>
          </a:prstGeom>
          <a:solidFill>
            <a:srgbClr val="1B1B1B"/>
          </a:solidFill>
          <a:ln/>
        </p:spPr>
      </p:sp>
      <p:sp>
        <p:nvSpPr>
          <p:cNvPr id="75" name="Shape 73"/>
          <p:cNvSpPr/>
          <p:nvPr/>
        </p:nvSpPr>
        <p:spPr>
          <a:xfrm>
            <a:off x="4301349" y="3134315"/>
            <a:ext cx="324559" cy="139210"/>
          </a:xfrm>
          <a:custGeom>
            <a:avLst/>
            <a:gdLst/>
            <a:ahLst/>
            <a:cxnLst/>
            <a:rect l="l" t="t" r="r" b="b"/>
            <a:pathLst>
              <a:path w="324559" h="139210">
                <a:moveTo>
                  <a:pt x="324559" y="139210"/>
                </a:moveTo>
                <a:lnTo>
                  <a:pt x="0" y="0"/>
                </a:lnTo>
              </a:path>
            </a:pathLst>
          </a:custGeom>
          <a:ln w="19050">
            <a:solidFill>
              <a:srgbClr val="C4262E"/>
            </a:solidFill>
            <a:prstDash val="solid"/>
            <a:tailEnd type="triangle"/>
          </a:ln>
        </p:spPr>
      </p:sp>
      <p:sp>
        <p:nvSpPr>
          <p:cNvPr id="76" name="Shape 74"/>
          <p:cNvSpPr/>
          <p:nvPr/>
        </p:nvSpPr>
        <p:spPr>
          <a:xfrm>
            <a:off x="4162961" y="3151165"/>
            <a:ext cx="88117" cy="183760"/>
          </a:xfrm>
          <a:custGeom>
            <a:avLst/>
            <a:gdLst/>
            <a:ahLst/>
            <a:cxnLst/>
            <a:rect l="l" t="t" r="r" b="b"/>
            <a:pathLst>
              <a:path w="88117" h="183760">
                <a:moveTo>
                  <a:pt x="88117" y="183760"/>
                </a:moveTo>
                <a:lnTo>
                  <a:pt x="0" y="0"/>
                </a:lnTo>
              </a:path>
            </a:pathLst>
          </a:custGeom>
          <a:ln w="19050">
            <a:solidFill>
              <a:srgbClr val="C4262E"/>
            </a:solidFill>
            <a:prstDash val="solid"/>
            <a:tailEnd type="triangle"/>
          </a:ln>
        </p:spPr>
      </p:sp>
      <p:sp>
        <p:nvSpPr>
          <p:cNvPr id="77" name="Shape 75"/>
          <p:cNvSpPr/>
          <p:nvPr/>
        </p:nvSpPr>
        <p:spPr>
          <a:xfrm>
            <a:off x="3863643" y="2710127"/>
            <a:ext cx="217440" cy="273935"/>
          </a:xfrm>
          <a:custGeom>
            <a:avLst/>
            <a:gdLst/>
            <a:ahLst/>
            <a:cxnLst/>
            <a:rect l="l" t="t" r="r" b="b"/>
            <a:pathLst>
              <a:path w="217440" h="273935">
                <a:moveTo>
                  <a:pt x="217440" y="273935"/>
                </a:moveTo>
                <a:lnTo>
                  <a:pt x="0" y="0"/>
                </a:lnTo>
              </a:path>
            </a:pathLst>
          </a:custGeom>
          <a:ln w="12700">
            <a:solidFill>
              <a:srgbClr val="4F7A43"/>
            </a:solidFill>
            <a:prstDash val="dash"/>
            <a:tailEnd type="triangle"/>
          </a:ln>
        </p:spPr>
      </p:sp>
      <p:sp>
        <p:nvSpPr>
          <p:cNvPr id="78" name="Shape 76"/>
          <p:cNvSpPr/>
          <p:nvPr/>
        </p:nvSpPr>
        <p:spPr>
          <a:xfrm>
            <a:off x="3230699" y="2458198"/>
            <a:ext cx="731520" cy="146304"/>
          </a:xfrm>
          <a:prstGeom prst="rect">
            <a:avLst/>
          </a:prstGeom>
          <a:solidFill>
            <a:srgbClr val="FFFFFF"/>
          </a:solidFill>
          <a:ln/>
        </p:spPr>
      </p:sp>
      <p:sp>
        <p:nvSpPr>
          <p:cNvPr id="79" name="Text 77"/>
          <p:cNvSpPr txBox="1"/>
          <p:nvPr/>
        </p:nvSpPr>
        <p:spPr>
          <a:xfrm>
            <a:off x="3230699" y="2458198"/>
            <a:ext cx="731520" cy="146304"/>
          </a:xfrm>
          <a:prstGeom prst="rect">
            <a:avLst/>
          </a:prstGeom>
          <a:noFill/>
          <a:ln/>
        </p:spPr>
        <p:txBody>
          <a:bodyPr wrap="square" lIns="0" tIns="0" rIns="0" bIns="0" rtlCol="0" anchor="ctr"/>
          <a:lstStyle/>
          <a:p>
            <a:pPr algn="ctr" indent="0" marL="0">
              <a:buNone/>
            </a:pPr>
            <a:r>
              <a:rPr lang="en-US" sz="550" b="1" dirty="0">
                <a:solidFill>
                  <a:srgbClr val="4F7A43"/>
                </a:solidFill>
                <a:latin typeface="Arial" pitchFamily="34" charset="0"/>
                <a:ea typeface="Arial" pitchFamily="34" charset="-122"/>
                <a:cs typeface="Arial" pitchFamily="34" charset="-120"/>
              </a:rPr>
              <a:t>OPEN HILL PARK</a:t>
            </a:r>
            <a:endParaRPr lang="en-US" sz="550" dirty="0"/>
          </a:p>
        </p:txBody>
      </p:sp>
      <p:sp>
        <p:nvSpPr>
          <p:cNvPr id="80" name="Shape 78"/>
          <p:cNvSpPr/>
          <p:nvPr/>
        </p:nvSpPr>
        <p:spPr>
          <a:xfrm>
            <a:off x="4873752" y="260146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81" name="Shape 79"/>
          <p:cNvSpPr/>
          <p:nvPr/>
        </p:nvSpPr>
        <p:spPr>
          <a:xfrm>
            <a:off x="4974336" y="1463040"/>
            <a:ext cx="2212848" cy="2286000"/>
          </a:xfrm>
          <a:prstGeom prst="rect">
            <a:avLst/>
          </a:prstGeom>
          <a:solidFill>
            <a:srgbClr val="FFFFFF"/>
          </a:solidFill>
          <a:ln w="6350">
            <a:solidFill>
              <a:srgbClr val="D9D9D9"/>
            </a:solidFill>
            <a:prstDash val="solid"/>
          </a:ln>
        </p:spPr>
      </p:sp>
      <p:sp>
        <p:nvSpPr>
          <p:cNvPr id="82" name="Text 80"/>
          <p:cNvSpPr txBox="1"/>
          <p:nvPr/>
        </p:nvSpPr>
        <p:spPr>
          <a:xfrm>
            <a:off x="5047488" y="151790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03  </a:t>
            </a:r>
            <a:pPr indent="0" marL="0">
              <a:buNone/>
            </a:pPr>
            <a:r>
              <a:rPr lang="en-US" sz="750" b="1" spc="50" kern="0" dirty="0">
                <a:solidFill>
                  <a:srgbClr val="1B1B1B"/>
                </a:solidFill>
                <a:latin typeface="Arial" pitchFamily="34" charset="0"/>
                <a:ea typeface="Arial" pitchFamily="34" charset="-122"/>
                <a:cs typeface="Arial" pitchFamily="34" charset="-120"/>
              </a:rPr>
              <a:t>LIFT → ARCADE</a:t>
            </a:r>
            <a:endParaRPr lang="en-US" sz="750" dirty="0"/>
          </a:p>
        </p:txBody>
      </p:sp>
      <p:sp>
        <p:nvSpPr>
          <p:cNvPr id="83" name="Shape 81"/>
          <p:cNvSpPr/>
          <p:nvPr/>
        </p:nvSpPr>
        <p:spPr>
          <a:xfrm>
            <a:off x="6543446" y="2410816"/>
            <a:ext cx="588874" cy="1301648"/>
          </a:xfrm>
          <a:custGeom>
            <a:avLst/>
            <a:gdLst/>
            <a:ahLst/>
            <a:cxnLst/>
            <a:rect l="l" t="t" r="r" b="b"/>
            <a:pathLst>
              <a:path w="588874" h="1301648">
                <a:moveTo>
                  <a:pt x="0" y="1001268"/>
                </a:moveTo>
                <a:lnTo>
                  <a:pt x="588874" y="0"/>
                </a:lnTo>
                <a:lnTo>
                  <a:pt x="588874" y="1301648"/>
                </a:lnTo>
                <a:lnTo>
                  <a:pt x="0" y="1301648"/>
                </a:lnTo>
                <a:close/>
              </a:path>
            </a:pathLst>
          </a:custGeom>
          <a:solidFill>
            <a:srgbClr val="E3ECDC"/>
          </a:solidFill>
          <a:ln w="12700"/>
        </p:spPr>
      </p:sp>
      <p:sp>
        <p:nvSpPr>
          <p:cNvPr id="84" name="Shape 82"/>
          <p:cNvSpPr/>
          <p:nvPr/>
        </p:nvSpPr>
        <p:spPr>
          <a:xfrm>
            <a:off x="5029200" y="3407512"/>
            <a:ext cx="1514246" cy="9144"/>
          </a:xfrm>
          <a:custGeom>
            <a:avLst/>
            <a:gdLst/>
            <a:ahLst/>
            <a:cxnLst/>
            <a:rect l="l" t="t" r="r" b="b"/>
            <a:pathLst>
              <a:path w="1514246" h="9144">
                <a:moveTo>
                  <a:pt x="0" y="4572"/>
                </a:moveTo>
                <a:lnTo>
                  <a:pt x="1514246" y="4572"/>
                </a:lnTo>
              </a:path>
            </a:pathLst>
          </a:custGeom>
          <a:ln w="15875">
            <a:solidFill>
              <a:srgbClr val="1B1B1B"/>
            </a:solidFill>
            <a:prstDash val="solid"/>
          </a:ln>
        </p:spPr>
      </p:sp>
      <p:sp>
        <p:nvSpPr>
          <p:cNvPr id="85" name="Shape 83"/>
          <p:cNvSpPr/>
          <p:nvPr/>
        </p:nvSpPr>
        <p:spPr>
          <a:xfrm>
            <a:off x="6543446" y="2410816"/>
            <a:ext cx="588874" cy="1001268"/>
          </a:xfrm>
          <a:custGeom>
            <a:avLst/>
            <a:gdLst/>
            <a:ahLst/>
            <a:cxnLst/>
            <a:rect l="l" t="t" r="r" b="b"/>
            <a:pathLst>
              <a:path w="588874" h="1001268">
                <a:moveTo>
                  <a:pt x="0" y="1001268"/>
                </a:moveTo>
                <a:lnTo>
                  <a:pt x="588874" y="0"/>
                </a:lnTo>
              </a:path>
            </a:pathLst>
          </a:custGeom>
          <a:ln w="15875">
            <a:solidFill>
              <a:srgbClr val="1B1B1B"/>
            </a:solidFill>
            <a:prstDash val="solid"/>
          </a:ln>
        </p:spPr>
      </p:sp>
      <p:sp>
        <p:nvSpPr>
          <p:cNvPr id="86" name="Shape 84"/>
          <p:cNvSpPr/>
          <p:nvPr/>
        </p:nvSpPr>
        <p:spPr>
          <a:xfrm>
            <a:off x="5491886" y="2867394"/>
            <a:ext cx="368046" cy="544690"/>
          </a:xfrm>
          <a:prstGeom prst="rect">
            <a:avLst/>
          </a:prstGeom>
          <a:solidFill>
            <a:srgbClr val="FFFFFF"/>
          </a:solidFill>
          <a:ln w="12700">
            <a:solidFill>
              <a:srgbClr val="C4262E"/>
            </a:solidFill>
            <a:prstDash val="dash"/>
          </a:ln>
        </p:spPr>
      </p:sp>
      <p:sp>
        <p:nvSpPr>
          <p:cNvPr id="87" name="Text 85"/>
          <p:cNvSpPr txBox="1"/>
          <p:nvPr/>
        </p:nvSpPr>
        <p:spPr>
          <a:xfrm>
            <a:off x="5491886" y="3105696"/>
            <a:ext cx="368046" cy="128016"/>
          </a:xfrm>
          <a:prstGeom prst="rect">
            <a:avLst/>
          </a:prstGeom>
          <a:noFill/>
          <a:ln/>
        </p:spPr>
        <p:txBody>
          <a:bodyPr wrap="square" lIns="0" tIns="0" rIns="0" bIns="0" rtlCol="0" anchor="t"/>
          <a:lstStyle/>
          <a:p>
            <a:pPr algn="ctr" indent="0" marL="0">
              <a:buNone/>
            </a:pPr>
            <a:r>
              <a:rPr lang="en-US" sz="500" b="1" dirty="0">
                <a:solidFill>
                  <a:srgbClr val="C4262E"/>
                </a:solidFill>
                <a:latin typeface="Arial" pitchFamily="34" charset="0"/>
                <a:ea typeface="Arial" pitchFamily="34" charset="-122"/>
                <a:cs typeface="Arial" pitchFamily="34" charset="-120"/>
              </a:rPr>
              <a:t>ARCADE</a:t>
            </a:r>
            <a:endParaRPr lang="en-US" sz="500" dirty="0"/>
          </a:p>
        </p:txBody>
      </p:sp>
      <p:sp>
        <p:nvSpPr>
          <p:cNvPr id="88" name="Shape 86"/>
          <p:cNvSpPr/>
          <p:nvPr/>
        </p:nvSpPr>
        <p:spPr>
          <a:xfrm>
            <a:off x="5859932" y="2867394"/>
            <a:ext cx="420624" cy="544690"/>
          </a:xfrm>
          <a:prstGeom prst="rect">
            <a:avLst/>
          </a:prstGeom>
          <a:solidFill>
            <a:srgbClr val="F0B9BC"/>
          </a:solidFill>
          <a:ln w="6350">
            <a:solidFill>
              <a:srgbClr val="1B1B1B"/>
            </a:solidFill>
            <a:prstDash val="solid"/>
          </a:ln>
        </p:spPr>
      </p:sp>
      <p:sp>
        <p:nvSpPr>
          <p:cNvPr id="89" name="Shape 87"/>
          <p:cNvSpPr/>
          <p:nvPr/>
        </p:nvSpPr>
        <p:spPr>
          <a:xfrm>
            <a:off x="5491886" y="2254618"/>
            <a:ext cx="788670" cy="612776"/>
          </a:xfrm>
          <a:prstGeom prst="rect">
            <a:avLst/>
          </a:prstGeom>
          <a:solidFill>
            <a:srgbClr val="9A9A9A"/>
          </a:solidFill>
          <a:ln w="6350">
            <a:solidFill>
              <a:srgbClr val="1B1B1B"/>
            </a:solidFill>
            <a:prstDash val="solid"/>
          </a:ln>
        </p:spPr>
      </p:sp>
      <p:sp>
        <p:nvSpPr>
          <p:cNvPr id="90" name="Text 88"/>
          <p:cNvSpPr txBox="1"/>
          <p:nvPr/>
        </p:nvSpPr>
        <p:spPr>
          <a:xfrm>
            <a:off x="5491886" y="2254618"/>
            <a:ext cx="788670" cy="612776"/>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WORK FLOORS</a:t>
            </a:r>
            <a:endParaRPr lang="en-US" sz="500" dirty="0"/>
          </a:p>
        </p:txBody>
      </p:sp>
      <p:sp>
        <p:nvSpPr>
          <p:cNvPr id="91" name="Shape 89"/>
          <p:cNvSpPr/>
          <p:nvPr/>
        </p:nvSpPr>
        <p:spPr>
          <a:xfrm>
            <a:off x="6280556" y="2254618"/>
            <a:ext cx="262890" cy="1157466"/>
          </a:xfrm>
          <a:prstGeom prst="rect">
            <a:avLst/>
          </a:prstGeom>
          <a:solidFill>
            <a:srgbClr val="1B1B1B"/>
          </a:solidFill>
          <a:ln/>
        </p:spPr>
      </p:sp>
      <p:sp>
        <p:nvSpPr>
          <p:cNvPr id="92" name="Text 90"/>
          <p:cNvSpPr txBox="1"/>
          <p:nvPr/>
        </p:nvSpPr>
        <p:spPr>
          <a:xfrm>
            <a:off x="6280556" y="2254618"/>
            <a:ext cx="262890" cy="1157466"/>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ARCH.</a:t>
            </a:r>
            <a:endParaRPr lang="en-US" sz="500" dirty="0"/>
          </a:p>
        </p:txBody>
      </p:sp>
      <p:sp>
        <p:nvSpPr>
          <p:cNvPr id="93" name="Text 91"/>
          <p:cNvSpPr txBox="1"/>
          <p:nvPr/>
        </p:nvSpPr>
        <p:spPr>
          <a:xfrm>
            <a:off x="5056632" y="3421228"/>
            <a:ext cx="36576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94" name="Shape 92"/>
          <p:cNvSpPr/>
          <p:nvPr/>
        </p:nvSpPr>
        <p:spPr>
          <a:xfrm>
            <a:off x="7178040" y="260146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95" name="Shape 93"/>
          <p:cNvSpPr/>
          <p:nvPr/>
        </p:nvSpPr>
        <p:spPr>
          <a:xfrm>
            <a:off x="7278624" y="1463040"/>
            <a:ext cx="2212848" cy="2286000"/>
          </a:xfrm>
          <a:prstGeom prst="rect">
            <a:avLst/>
          </a:prstGeom>
          <a:solidFill>
            <a:srgbClr val="FFFFFF"/>
          </a:solidFill>
          <a:ln w="6350">
            <a:solidFill>
              <a:srgbClr val="D9D9D9"/>
            </a:solidFill>
            <a:prstDash val="solid"/>
          </a:ln>
        </p:spPr>
      </p:sp>
      <p:sp>
        <p:nvSpPr>
          <p:cNvPr id="96" name="Text 94"/>
          <p:cNvSpPr txBox="1"/>
          <p:nvPr/>
        </p:nvSpPr>
        <p:spPr>
          <a:xfrm>
            <a:off x="7351776" y="151790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04  </a:t>
            </a:r>
            <a:pPr indent="0" marL="0">
              <a:buNone/>
            </a:pPr>
            <a:r>
              <a:rPr lang="en-US" sz="750" b="1" spc="50" kern="0" dirty="0">
                <a:solidFill>
                  <a:srgbClr val="1B1B1B"/>
                </a:solidFill>
                <a:latin typeface="Arial" pitchFamily="34" charset="0"/>
                <a:ea typeface="Arial" pitchFamily="34" charset="-122"/>
                <a:cs typeface="Arial" pitchFamily="34" charset="-120"/>
              </a:rPr>
              <a:t>CUT TO THE HILL</a:t>
            </a:r>
            <a:endParaRPr lang="en-US" sz="750" dirty="0"/>
          </a:p>
        </p:txBody>
      </p:sp>
      <p:sp>
        <p:nvSpPr>
          <p:cNvPr id="97" name="Shape 95"/>
          <p:cNvSpPr/>
          <p:nvPr/>
        </p:nvSpPr>
        <p:spPr>
          <a:xfrm>
            <a:off x="7333488" y="3407512"/>
            <a:ext cx="2103120" cy="9144"/>
          </a:xfrm>
          <a:custGeom>
            <a:avLst/>
            <a:gdLst/>
            <a:ahLst/>
            <a:cxnLst/>
            <a:rect l="l" t="t" r="r" b="b"/>
            <a:pathLst>
              <a:path w="2103120" h="9144">
                <a:moveTo>
                  <a:pt x="0" y="4572"/>
                </a:moveTo>
                <a:lnTo>
                  <a:pt x="2103120" y="4572"/>
                </a:lnTo>
              </a:path>
            </a:pathLst>
          </a:custGeom>
          <a:ln w="15875">
            <a:solidFill>
              <a:srgbClr val="1B1B1B"/>
            </a:solidFill>
            <a:prstDash val="solid"/>
          </a:ln>
        </p:spPr>
      </p:sp>
      <p:sp>
        <p:nvSpPr>
          <p:cNvPr id="98" name="Shape 96"/>
          <p:cNvSpPr/>
          <p:nvPr/>
        </p:nvSpPr>
        <p:spPr>
          <a:xfrm>
            <a:off x="7459675" y="2771272"/>
            <a:ext cx="1850746" cy="320406"/>
          </a:xfrm>
          <a:prstGeom prst="rect">
            <a:avLst/>
          </a:prstGeom>
          <a:solidFill>
            <a:srgbClr val="FFFFFF"/>
          </a:solidFill>
          <a:ln w="9525">
            <a:solidFill>
              <a:srgbClr val="1B1B1B"/>
            </a:solidFill>
            <a:prstDash val="solid"/>
          </a:ln>
        </p:spPr>
      </p:sp>
      <p:sp>
        <p:nvSpPr>
          <p:cNvPr id="99" name="Shape 97"/>
          <p:cNvSpPr/>
          <p:nvPr/>
        </p:nvSpPr>
        <p:spPr>
          <a:xfrm>
            <a:off x="7459675" y="2450866"/>
            <a:ext cx="1850746" cy="320406"/>
          </a:xfrm>
          <a:prstGeom prst="rect">
            <a:avLst/>
          </a:prstGeom>
          <a:solidFill>
            <a:srgbClr val="FFFFFF"/>
          </a:solidFill>
          <a:ln w="9525">
            <a:solidFill>
              <a:srgbClr val="1B1B1B"/>
            </a:solidFill>
            <a:prstDash val="solid"/>
          </a:ln>
        </p:spPr>
      </p:sp>
      <p:sp>
        <p:nvSpPr>
          <p:cNvPr id="100" name="Shape 98"/>
          <p:cNvSpPr/>
          <p:nvPr/>
        </p:nvSpPr>
        <p:spPr>
          <a:xfrm>
            <a:off x="7459675" y="2130461"/>
            <a:ext cx="1850746" cy="320406"/>
          </a:xfrm>
          <a:prstGeom prst="rect">
            <a:avLst/>
          </a:prstGeom>
          <a:solidFill>
            <a:srgbClr val="FFFFFF"/>
          </a:solidFill>
          <a:ln w="9525">
            <a:solidFill>
              <a:srgbClr val="1B1B1B"/>
            </a:solidFill>
            <a:prstDash val="solid"/>
          </a:ln>
        </p:spPr>
      </p:sp>
      <p:sp>
        <p:nvSpPr>
          <p:cNvPr id="101" name="Shape 99"/>
          <p:cNvSpPr/>
          <p:nvPr/>
        </p:nvSpPr>
        <p:spPr>
          <a:xfrm>
            <a:off x="8274003" y="2130461"/>
            <a:ext cx="222089" cy="1281623"/>
          </a:xfrm>
          <a:prstGeom prst="rect">
            <a:avLst/>
          </a:prstGeom>
          <a:solidFill>
            <a:srgbClr val="FFFFFF"/>
          </a:solidFill>
          <a:ln w="12700">
            <a:solidFill>
              <a:srgbClr val="C4262E"/>
            </a:solidFill>
            <a:prstDash val="dash"/>
          </a:ln>
        </p:spPr>
      </p:sp>
      <p:sp>
        <p:nvSpPr>
          <p:cNvPr id="102" name="Shape 100"/>
          <p:cNvSpPr/>
          <p:nvPr/>
        </p:nvSpPr>
        <p:spPr>
          <a:xfrm>
            <a:off x="7492118" y="3091678"/>
            <a:ext cx="9144" cy="320406"/>
          </a:xfrm>
          <a:custGeom>
            <a:avLst/>
            <a:gdLst/>
            <a:ahLst/>
            <a:cxnLst/>
            <a:rect l="l" t="t" r="r" b="b"/>
            <a:pathLst>
              <a:path w="9144" h="320406">
                <a:moveTo>
                  <a:pt x="4572" y="320406"/>
                </a:moveTo>
                <a:lnTo>
                  <a:pt x="4572" y="0"/>
                </a:lnTo>
              </a:path>
            </a:pathLst>
          </a:custGeom>
          <a:ln w="9525">
            <a:solidFill>
              <a:srgbClr val="1B1B1B"/>
            </a:solidFill>
            <a:prstDash val="solid"/>
          </a:ln>
        </p:spPr>
      </p:sp>
      <p:sp>
        <p:nvSpPr>
          <p:cNvPr id="103" name="Shape 101"/>
          <p:cNvSpPr/>
          <p:nvPr/>
        </p:nvSpPr>
        <p:spPr>
          <a:xfrm>
            <a:off x="7825252" y="3091678"/>
            <a:ext cx="9144" cy="320406"/>
          </a:xfrm>
          <a:custGeom>
            <a:avLst/>
            <a:gdLst/>
            <a:ahLst/>
            <a:cxnLst/>
            <a:rect l="l" t="t" r="r" b="b"/>
            <a:pathLst>
              <a:path w="9144" h="320406">
                <a:moveTo>
                  <a:pt x="4572" y="320406"/>
                </a:moveTo>
                <a:lnTo>
                  <a:pt x="4572" y="0"/>
                </a:lnTo>
              </a:path>
            </a:pathLst>
          </a:custGeom>
          <a:ln w="9525">
            <a:solidFill>
              <a:srgbClr val="1B1B1B"/>
            </a:solidFill>
            <a:prstDash val="solid"/>
          </a:ln>
        </p:spPr>
      </p:sp>
      <p:sp>
        <p:nvSpPr>
          <p:cNvPr id="104" name="Shape 102"/>
          <p:cNvSpPr/>
          <p:nvPr/>
        </p:nvSpPr>
        <p:spPr>
          <a:xfrm>
            <a:off x="8158387" y="3091678"/>
            <a:ext cx="9144" cy="320406"/>
          </a:xfrm>
          <a:custGeom>
            <a:avLst/>
            <a:gdLst/>
            <a:ahLst/>
            <a:cxnLst/>
            <a:rect l="l" t="t" r="r" b="b"/>
            <a:pathLst>
              <a:path w="9144" h="320406">
                <a:moveTo>
                  <a:pt x="4572" y="320406"/>
                </a:moveTo>
                <a:lnTo>
                  <a:pt x="4572" y="0"/>
                </a:lnTo>
              </a:path>
            </a:pathLst>
          </a:custGeom>
          <a:ln w="9525">
            <a:solidFill>
              <a:srgbClr val="1B1B1B"/>
            </a:solidFill>
            <a:prstDash val="solid"/>
          </a:ln>
        </p:spPr>
      </p:sp>
      <p:sp>
        <p:nvSpPr>
          <p:cNvPr id="105" name="Shape 103"/>
          <p:cNvSpPr/>
          <p:nvPr/>
        </p:nvSpPr>
        <p:spPr>
          <a:xfrm>
            <a:off x="8602565" y="3091678"/>
            <a:ext cx="9144" cy="320406"/>
          </a:xfrm>
          <a:custGeom>
            <a:avLst/>
            <a:gdLst/>
            <a:ahLst/>
            <a:cxnLst/>
            <a:rect l="l" t="t" r="r" b="b"/>
            <a:pathLst>
              <a:path w="9144" h="320406">
                <a:moveTo>
                  <a:pt x="4572" y="320406"/>
                </a:moveTo>
                <a:lnTo>
                  <a:pt x="4572" y="0"/>
                </a:lnTo>
              </a:path>
            </a:pathLst>
          </a:custGeom>
          <a:ln w="9525">
            <a:solidFill>
              <a:srgbClr val="1B1B1B"/>
            </a:solidFill>
            <a:prstDash val="solid"/>
          </a:ln>
        </p:spPr>
      </p:sp>
      <p:sp>
        <p:nvSpPr>
          <p:cNvPr id="106" name="Shape 104"/>
          <p:cNvSpPr/>
          <p:nvPr/>
        </p:nvSpPr>
        <p:spPr>
          <a:xfrm>
            <a:off x="8935700" y="3091678"/>
            <a:ext cx="9144" cy="320406"/>
          </a:xfrm>
          <a:custGeom>
            <a:avLst/>
            <a:gdLst/>
            <a:ahLst/>
            <a:cxnLst/>
            <a:rect l="l" t="t" r="r" b="b"/>
            <a:pathLst>
              <a:path w="9144" h="320406">
                <a:moveTo>
                  <a:pt x="4572" y="320406"/>
                </a:moveTo>
                <a:lnTo>
                  <a:pt x="4572" y="0"/>
                </a:lnTo>
              </a:path>
            </a:pathLst>
          </a:custGeom>
          <a:ln w="9525">
            <a:solidFill>
              <a:srgbClr val="1B1B1B"/>
            </a:solidFill>
            <a:prstDash val="solid"/>
          </a:ln>
        </p:spPr>
      </p:sp>
      <p:sp>
        <p:nvSpPr>
          <p:cNvPr id="107" name="Shape 105"/>
          <p:cNvSpPr/>
          <p:nvPr/>
        </p:nvSpPr>
        <p:spPr>
          <a:xfrm>
            <a:off x="9268834" y="3091678"/>
            <a:ext cx="9144" cy="320406"/>
          </a:xfrm>
          <a:custGeom>
            <a:avLst/>
            <a:gdLst/>
            <a:ahLst/>
            <a:cxnLst/>
            <a:rect l="l" t="t" r="r" b="b"/>
            <a:pathLst>
              <a:path w="9144" h="320406">
                <a:moveTo>
                  <a:pt x="4572" y="320406"/>
                </a:moveTo>
                <a:lnTo>
                  <a:pt x="4572" y="0"/>
                </a:lnTo>
              </a:path>
            </a:pathLst>
          </a:custGeom>
          <a:ln w="9525">
            <a:solidFill>
              <a:srgbClr val="1B1B1B"/>
            </a:solidFill>
            <a:prstDash val="solid"/>
          </a:ln>
        </p:spPr>
      </p:sp>
      <p:sp>
        <p:nvSpPr>
          <p:cNvPr id="108" name="Text 106"/>
          <p:cNvSpPr txBox="1"/>
          <p:nvPr/>
        </p:nvSpPr>
        <p:spPr>
          <a:xfrm>
            <a:off x="7464064" y="3187873"/>
            <a:ext cx="731520" cy="146304"/>
          </a:xfrm>
          <a:prstGeom prst="rect">
            <a:avLst/>
          </a:prstGeom>
          <a:noFill/>
          <a:ln/>
        </p:spPr>
        <p:txBody>
          <a:bodyPr wrap="square" lIns="0" tIns="0" rIns="0" bIns="0" rtlCol="0" anchor="ctr"/>
          <a:lstStyle/>
          <a:p>
            <a:pPr algn="ctr" indent="0" marL="0">
              <a:buNone/>
            </a:pPr>
            <a:r>
              <a:rPr lang="en-US" sz="550" dirty="0">
                <a:solidFill>
                  <a:srgbClr val="C4262E"/>
                </a:solidFill>
                <a:latin typeface="Arial" pitchFamily="34" charset="0"/>
                <a:ea typeface="Arial" pitchFamily="34" charset="-122"/>
                <a:cs typeface="Arial" pitchFamily="34" charset="-120"/>
              </a:rPr>
              <a:t>lifted arcade</a:t>
            </a:r>
            <a:endParaRPr lang="en-US" sz="550" dirty="0"/>
          </a:p>
        </p:txBody>
      </p:sp>
      <p:sp>
        <p:nvSpPr>
          <p:cNvPr id="109" name="Text 107"/>
          <p:cNvSpPr txBox="1"/>
          <p:nvPr/>
        </p:nvSpPr>
        <p:spPr>
          <a:xfrm>
            <a:off x="8065008" y="1975013"/>
            <a:ext cx="640080" cy="146304"/>
          </a:xfrm>
          <a:prstGeom prst="rect">
            <a:avLst/>
          </a:prstGeom>
          <a:noFill/>
          <a:ln/>
        </p:spPr>
        <p:txBody>
          <a:bodyPr wrap="square" lIns="0" tIns="0" rIns="0" bIns="0" rtlCol="0" anchor="ctr"/>
          <a:lstStyle/>
          <a:p>
            <a:pPr algn="ctr" indent="0" marL="0">
              <a:buNone/>
            </a:pPr>
            <a:r>
              <a:rPr lang="en-US" sz="550" dirty="0">
                <a:solidFill>
                  <a:srgbClr val="C4262E"/>
                </a:solidFill>
                <a:latin typeface="Arial" pitchFamily="34" charset="0"/>
                <a:ea typeface="Arial" pitchFamily="34" charset="-122"/>
                <a:cs typeface="Arial" pitchFamily="34" charset="-120"/>
              </a:rPr>
              <a:t>cut to hill</a:t>
            </a:r>
            <a:endParaRPr lang="en-US" sz="550" dirty="0"/>
          </a:p>
        </p:txBody>
      </p:sp>
      <p:sp>
        <p:nvSpPr>
          <p:cNvPr id="110" name="Shape 108"/>
          <p:cNvSpPr/>
          <p:nvPr/>
        </p:nvSpPr>
        <p:spPr>
          <a:xfrm>
            <a:off x="9482328" y="260146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11" name="Shape 109"/>
          <p:cNvSpPr/>
          <p:nvPr/>
        </p:nvSpPr>
        <p:spPr>
          <a:xfrm>
            <a:off x="9582912" y="1463040"/>
            <a:ext cx="2212848" cy="2286000"/>
          </a:xfrm>
          <a:prstGeom prst="rect">
            <a:avLst/>
          </a:prstGeom>
          <a:solidFill>
            <a:srgbClr val="FFFFFF"/>
          </a:solidFill>
          <a:ln w="6350">
            <a:solidFill>
              <a:srgbClr val="D9D9D9"/>
            </a:solidFill>
            <a:prstDash val="solid"/>
          </a:ln>
        </p:spPr>
      </p:sp>
      <p:sp>
        <p:nvSpPr>
          <p:cNvPr id="112" name="Text 110"/>
          <p:cNvSpPr txBox="1"/>
          <p:nvPr/>
        </p:nvSpPr>
        <p:spPr>
          <a:xfrm>
            <a:off x="9656064" y="151790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05  </a:t>
            </a:r>
            <a:pPr indent="0" marL="0">
              <a:buNone/>
            </a:pPr>
            <a:r>
              <a:rPr lang="en-US" sz="750" b="1" spc="50" kern="0" dirty="0">
                <a:solidFill>
                  <a:srgbClr val="1B1B1B"/>
                </a:solidFill>
                <a:latin typeface="Arial" pitchFamily="34" charset="0"/>
                <a:ea typeface="Arial" pitchFamily="34" charset="-122"/>
                <a:cs typeface="Arial" pitchFamily="34" charset="-120"/>
              </a:rPr>
              <a:t>STACK ACCESS</a:t>
            </a:r>
            <a:endParaRPr lang="en-US" sz="750" dirty="0"/>
          </a:p>
        </p:txBody>
      </p:sp>
      <p:sp>
        <p:nvSpPr>
          <p:cNvPr id="113" name="Shape 111"/>
          <p:cNvSpPr/>
          <p:nvPr/>
        </p:nvSpPr>
        <p:spPr>
          <a:xfrm>
            <a:off x="11152022" y="2410816"/>
            <a:ext cx="588874" cy="1301648"/>
          </a:xfrm>
          <a:custGeom>
            <a:avLst/>
            <a:gdLst/>
            <a:ahLst/>
            <a:cxnLst/>
            <a:rect l="l" t="t" r="r" b="b"/>
            <a:pathLst>
              <a:path w="588874" h="1301648">
                <a:moveTo>
                  <a:pt x="0" y="1001268"/>
                </a:moveTo>
                <a:lnTo>
                  <a:pt x="588874" y="0"/>
                </a:lnTo>
                <a:lnTo>
                  <a:pt x="588874" y="1301648"/>
                </a:lnTo>
                <a:lnTo>
                  <a:pt x="0" y="1301648"/>
                </a:lnTo>
                <a:close/>
              </a:path>
            </a:pathLst>
          </a:custGeom>
          <a:solidFill>
            <a:srgbClr val="E3ECDC"/>
          </a:solidFill>
          <a:ln w="12700"/>
        </p:spPr>
      </p:sp>
      <p:sp>
        <p:nvSpPr>
          <p:cNvPr id="114" name="Shape 112"/>
          <p:cNvSpPr/>
          <p:nvPr/>
        </p:nvSpPr>
        <p:spPr>
          <a:xfrm>
            <a:off x="9637776" y="3407512"/>
            <a:ext cx="1514246" cy="9144"/>
          </a:xfrm>
          <a:custGeom>
            <a:avLst/>
            <a:gdLst/>
            <a:ahLst/>
            <a:cxnLst/>
            <a:rect l="l" t="t" r="r" b="b"/>
            <a:pathLst>
              <a:path w="1514246" h="9144">
                <a:moveTo>
                  <a:pt x="0" y="4572"/>
                </a:moveTo>
                <a:lnTo>
                  <a:pt x="1514246" y="4572"/>
                </a:lnTo>
              </a:path>
            </a:pathLst>
          </a:custGeom>
          <a:ln w="15875">
            <a:solidFill>
              <a:srgbClr val="1B1B1B"/>
            </a:solidFill>
            <a:prstDash val="solid"/>
          </a:ln>
        </p:spPr>
      </p:sp>
      <p:sp>
        <p:nvSpPr>
          <p:cNvPr id="115" name="Shape 113"/>
          <p:cNvSpPr/>
          <p:nvPr/>
        </p:nvSpPr>
        <p:spPr>
          <a:xfrm>
            <a:off x="11152022" y="2410816"/>
            <a:ext cx="588874" cy="1001268"/>
          </a:xfrm>
          <a:custGeom>
            <a:avLst/>
            <a:gdLst/>
            <a:ahLst/>
            <a:cxnLst/>
            <a:rect l="l" t="t" r="r" b="b"/>
            <a:pathLst>
              <a:path w="588874" h="1001268">
                <a:moveTo>
                  <a:pt x="0" y="1001268"/>
                </a:moveTo>
                <a:lnTo>
                  <a:pt x="588874" y="0"/>
                </a:lnTo>
              </a:path>
            </a:pathLst>
          </a:custGeom>
          <a:ln w="15875">
            <a:solidFill>
              <a:srgbClr val="1B1B1B"/>
            </a:solidFill>
            <a:prstDash val="solid"/>
          </a:ln>
        </p:spPr>
      </p:sp>
      <p:sp>
        <p:nvSpPr>
          <p:cNvPr id="116" name="Shape 114"/>
          <p:cNvSpPr/>
          <p:nvPr/>
        </p:nvSpPr>
        <p:spPr>
          <a:xfrm>
            <a:off x="10100462" y="2867394"/>
            <a:ext cx="368046" cy="544690"/>
          </a:xfrm>
          <a:prstGeom prst="rect">
            <a:avLst/>
          </a:prstGeom>
          <a:solidFill>
            <a:srgbClr val="FFFFFF"/>
          </a:solidFill>
          <a:ln w="12700">
            <a:solidFill>
              <a:srgbClr val="C4262E"/>
            </a:solidFill>
            <a:prstDash val="dash"/>
          </a:ln>
        </p:spPr>
      </p:sp>
      <p:sp>
        <p:nvSpPr>
          <p:cNvPr id="117" name="Text 115"/>
          <p:cNvSpPr txBox="1"/>
          <p:nvPr/>
        </p:nvSpPr>
        <p:spPr>
          <a:xfrm>
            <a:off x="10100462" y="3105696"/>
            <a:ext cx="368046" cy="128016"/>
          </a:xfrm>
          <a:prstGeom prst="rect">
            <a:avLst/>
          </a:prstGeom>
          <a:noFill/>
          <a:ln/>
        </p:spPr>
        <p:txBody>
          <a:bodyPr wrap="square" lIns="0" tIns="0" rIns="0" bIns="0" rtlCol="0" anchor="t"/>
          <a:lstStyle/>
          <a:p>
            <a:pPr algn="ctr" indent="0" marL="0">
              <a:buNone/>
            </a:pPr>
            <a:r>
              <a:rPr lang="en-US" sz="500" b="1" dirty="0">
                <a:solidFill>
                  <a:srgbClr val="C4262E"/>
                </a:solidFill>
                <a:latin typeface="Arial" pitchFamily="34" charset="0"/>
                <a:ea typeface="Arial" pitchFamily="34" charset="-122"/>
                <a:cs typeface="Arial" pitchFamily="34" charset="-120"/>
              </a:rPr>
              <a:t>ARCADE</a:t>
            </a:r>
            <a:endParaRPr lang="en-US" sz="500" dirty="0"/>
          </a:p>
        </p:txBody>
      </p:sp>
      <p:sp>
        <p:nvSpPr>
          <p:cNvPr id="118" name="Shape 116"/>
          <p:cNvSpPr/>
          <p:nvPr/>
        </p:nvSpPr>
        <p:spPr>
          <a:xfrm>
            <a:off x="10468508" y="2867394"/>
            <a:ext cx="420624" cy="544690"/>
          </a:xfrm>
          <a:prstGeom prst="rect">
            <a:avLst/>
          </a:prstGeom>
          <a:solidFill>
            <a:srgbClr val="F0B9BC"/>
          </a:solidFill>
          <a:ln w="6350">
            <a:solidFill>
              <a:srgbClr val="1B1B1B"/>
            </a:solidFill>
            <a:prstDash val="solid"/>
          </a:ln>
        </p:spPr>
      </p:sp>
      <p:sp>
        <p:nvSpPr>
          <p:cNvPr id="119" name="Shape 117"/>
          <p:cNvSpPr/>
          <p:nvPr/>
        </p:nvSpPr>
        <p:spPr>
          <a:xfrm>
            <a:off x="10100462" y="2254618"/>
            <a:ext cx="788670" cy="612776"/>
          </a:xfrm>
          <a:prstGeom prst="rect">
            <a:avLst/>
          </a:prstGeom>
          <a:solidFill>
            <a:srgbClr val="9A9A9A"/>
          </a:solidFill>
          <a:ln w="6350">
            <a:solidFill>
              <a:srgbClr val="1B1B1B"/>
            </a:solidFill>
            <a:prstDash val="solid"/>
          </a:ln>
        </p:spPr>
      </p:sp>
      <p:sp>
        <p:nvSpPr>
          <p:cNvPr id="120" name="Text 118"/>
          <p:cNvSpPr txBox="1"/>
          <p:nvPr/>
        </p:nvSpPr>
        <p:spPr>
          <a:xfrm>
            <a:off x="10100462" y="2254618"/>
            <a:ext cx="788670" cy="612776"/>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WORK FLOORS</a:t>
            </a:r>
            <a:endParaRPr lang="en-US" sz="500" dirty="0"/>
          </a:p>
        </p:txBody>
      </p:sp>
      <p:sp>
        <p:nvSpPr>
          <p:cNvPr id="121" name="Shape 119"/>
          <p:cNvSpPr/>
          <p:nvPr/>
        </p:nvSpPr>
        <p:spPr>
          <a:xfrm>
            <a:off x="10889132" y="2254618"/>
            <a:ext cx="262890" cy="1157466"/>
          </a:xfrm>
          <a:prstGeom prst="rect">
            <a:avLst/>
          </a:prstGeom>
          <a:solidFill>
            <a:srgbClr val="1B1B1B"/>
          </a:solidFill>
          <a:ln/>
        </p:spPr>
      </p:sp>
      <p:sp>
        <p:nvSpPr>
          <p:cNvPr id="122" name="Text 120"/>
          <p:cNvSpPr txBox="1"/>
          <p:nvPr/>
        </p:nvSpPr>
        <p:spPr>
          <a:xfrm>
            <a:off x="10889132" y="2254618"/>
            <a:ext cx="262890" cy="1157466"/>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ARCH.</a:t>
            </a:r>
            <a:endParaRPr lang="en-US" sz="500" dirty="0"/>
          </a:p>
        </p:txBody>
      </p:sp>
      <p:sp>
        <p:nvSpPr>
          <p:cNvPr id="123" name="Text 121"/>
          <p:cNvSpPr txBox="1"/>
          <p:nvPr/>
        </p:nvSpPr>
        <p:spPr>
          <a:xfrm>
            <a:off x="9665208" y="3421228"/>
            <a:ext cx="36576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24" name="Shape 122"/>
          <p:cNvSpPr/>
          <p:nvPr/>
        </p:nvSpPr>
        <p:spPr>
          <a:xfrm>
            <a:off x="9722358" y="3274924"/>
            <a:ext cx="41148" cy="41148"/>
          </a:xfrm>
          <a:prstGeom prst="ellipse">
            <a:avLst/>
          </a:prstGeom>
          <a:solidFill>
            <a:srgbClr val="C4262E"/>
          </a:solidFill>
          <a:ln/>
        </p:spPr>
      </p:sp>
      <p:sp>
        <p:nvSpPr>
          <p:cNvPr id="125" name="Shape 123"/>
          <p:cNvSpPr/>
          <p:nvPr/>
        </p:nvSpPr>
        <p:spPr>
          <a:xfrm>
            <a:off x="9725101" y="3318815"/>
            <a:ext cx="35662" cy="93269"/>
          </a:xfrm>
          <a:prstGeom prst="roundRect">
            <a:avLst>
              <a:gd name="adj" fmla="val 51281"/>
            </a:avLst>
          </a:prstGeom>
          <a:solidFill>
            <a:srgbClr val="C4262E"/>
          </a:solidFill>
          <a:ln/>
        </p:spPr>
      </p:sp>
      <p:sp>
        <p:nvSpPr>
          <p:cNvPr id="126" name="Shape 124"/>
          <p:cNvSpPr/>
          <p:nvPr/>
        </p:nvSpPr>
        <p:spPr>
          <a:xfrm>
            <a:off x="9869576" y="3274924"/>
            <a:ext cx="41148" cy="41148"/>
          </a:xfrm>
          <a:prstGeom prst="ellipse">
            <a:avLst/>
          </a:prstGeom>
          <a:solidFill>
            <a:srgbClr val="C4262E"/>
          </a:solidFill>
          <a:ln/>
        </p:spPr>
      </p:sp>
      <p:sp>
        <p:nvSpPr>
          <p:cNvPr id="127" name="Shape 125"/>
          <p:cNvSpPr/>
          <p:nvPr/>
        </p:nvSpPr>
        <p:spPr>
          <a:xfrm>
            <a:off x="9872320" y="3318815"/>
            <a:ext cx="35662" cy="93269"/>
          </a:xfrm>
          <a:prstGeom prst="roundRect">
            <a:avLst>
              <a:gd name="adj" fmla="val 51281"/>
            </a:avLst>
          </a:prstGeom>
          <a:solidFill>
            <a:srgbClr val="C4262E"/>
          </a:solidFill>
          <a:ln/>
        </p:spPr>
      </p:sp>
      <p:sp>
        <p:nvSpPr>
          <p:cNvPr id="128" name="Shape 126"/>
          <p:cNvSpPr/>
          <p:nvPr/>
        </p:nvSpPr>
        <p:spPr>
          <a:xfrm>
            <a:off x="10206076" y="3274924"/>
            <a:ext cx="41148" cy="41148"/>
          </a:xfrm>
          <a:prstGeom prst="ellipse">
            <a:avLst/>
          </a:prstGeom>
          <a:solidFill>
            <a:srgbClr val="C4262E"/>
          </a:solidFill>
          <a:ln/>
        </p:spPr>
      </p:sp>
      <p:sp>
        <p:nvSpPr>
          <p:cNvPr id="129" name="Shape 127"/>
          <p:cNvSpPr/>
          <p:nvPr/>
        </p:nvSpPr>
        <p:spPr>
          <a:xfrm>
            <a:off x="10208819" y="3318815"/>
            <a:ext cx="35662" cy="93269"/>
          </a:xfrm>
          <a:prstGeom prst="roundRect">
            <a:avLst>
              <a:gd name="adj" fmla="val 51281"/>
            </a:avLst>
          </a:prstGeom>
          <a:solidFill>
            <a:srgbClr val="C4262E"/>
          </a:solidFill>
          <a:ln/>
        </p:spPr>
      </p:sp>
      <p:sp>
        <p:nvSpPr>
          <p:cNvPr id="130" name="Shape 128"/>
          <p:cNvSpPr/>
          <p:nvPr/>
        </p:nvSpPr>
        <p:spPr>
          <a:xfrm>
            <a:off x="10353294" y="3274924"/>
            <a:ext cx="41148" cy="41148"/>
          </a:xfrm>
          <a:prstGeom prst="ellipse">
            <a:avLst/>
          </a:prstGeom>
          <a:solidFill>
            <a:srgbClr val="C4262E"/>
          </a:solidFill>
          <a:ln/>
        </p:spPr>
      </p:sp>
      <p:sp>
        <p:nvSpPr>
          <p:cNvPr id="131" name="Shape 129"/>
          <p:cNvSpPr/>
          <p:nvPr/>
        </p:nvSpPr>
        <p:spPr>
          <a:xfrm>
            <a:off x="10356037" y="3318815"/>
            <a:ext cx="35662" cy="93269"/>
          </a:xfrm>
          <a:prstGeom prst="roundRect">
            <a:avLst>
              <a:gd name="adj" fmla="val 51281"/>
            </a:avLst>
          </a:prstGeom>
          <a:solidFill>
            <a:srgbClr val="C4262E"/>
          </a:solidFill>
          <a:ln/>
        </p:spPr>
      </p:sp>
      <p:sp>
        <p:nvSpPr>
          <p:cNvPr id="132" name="Shape 130"/>
          <p:cNvSpPr/>
          <p:nvPr/>
        </p:nvSpPr>
        <p:spPr>
          <a:xfrm>
            <a:off x="10310761" y="2849014"/>
            <a:ext cx="27" cy="27"/>
          </a:xfrm>
          <a:prstGeom prst="ellipse">
            <a:avLst/>
          </a:prstGeom>
          <a:solidFill>
            <a:srgbClr val="1B1B1B"/>
          </a:solidFill>
          <a:ln/>
        </p:spPr>
      </p:sp>
      <p:sp>
        <p:nvSpPr>
          <p:cNvPr id="133" name="Shape 131"/>
          <p:cNvSpPr/>
          <p:nvPr/>
        </p:nvSpPr>
        <p:spPr>
          <a:xfrm>
            <a:off x="10310763" y="2849044"/>
            <a:ext cx="24" cy="62"/>
          </a:xfrm>
          <a:prstGeom prst="roundRect">
            <a:avLst>
              <a:gd name="adj" fmla="val 76200000"/>
            </a:avLst>
          </a:prstGeom>
          <a:solidFill>
            <a:srgbClr val="1B1B1B"/>
          </a:solidFill>
          <a:ln/>
        </p:spPr>
      </p:sp>
      <p:sp>
        <p:nvSpPr>
          <p:cNvPr id="134" name="Shape 132"/>
          <p:cNvSpPr/>
          <p:nvPr/>
        </p:nvSpPr>
        <p:spPr>
          <a:xfrm>
            <a:off x="9806026" y="2595049"/>
            <a:ext cx="872795" cy="634155"/>
          </a:xfrm>
          <a:custGeom>
            <a:avLst/>
            <a:gdLst/>
            <a:ahLst/>
            <a:cxnLst/>
            <a:rect l="l" t="t" r="r" b="b"/>
            <a:pathLst>
              <a:path w="872795" h="634155">
                <a:moveTo>
                  <a:pt x="872795" y="0"/>
                </a:moveTo>
                <a:lnTo>
                  <a:pt x="0" y="634155"/>
                </a:lnTo>
              </a:path>
            </a:pathLst>
          </a:custGeom>
          <a:ln w="12700">
            <a:solidFill>
              <a:srgbClr val="1B1B1B"/>
            </a:solidFill>
            <a:prstDash val="dash"/>
            <a:tailEnd type="triangle"/>
          </a:ln>
        </p:spPr>
      </p:sp>
      <p:sp>
        <p:nvSpPr>
          <p:cNvPr id="135" name="Text 133"/>
          <p:cNvSpPr txBox="1"/>
          <p:nvPr/>
        </p:nvSpPr>
        <p:spPr>
          <a:xfrm>
            <a:off x="9821570" y="2099170"/>
            <a:ext cx="1188720" cy="146304"/>
          </a:xfrm>
          <a:prstGeom prst="rect">
            <a:avLst/>
          </a:prstGeom>
          <a:noFill/>
          <a:ln/>
        </p:spPr>
        <p:txBody>
          <a:bodyPr wrap="square" lIns="0" tIns="0" rIns="0" bIns="0" rtlCol="0" anchor="ctr"/>
          <a:lstStyle/>
          <a:p>
            <a:pPr algn="ctr" indent="0" marL="0">
              <a:buNone/>
            </a:pPr>
            <a:r>
              <a:rPr lang="en-US" sz="550" dirty="0">
                <a:solidFill>
                  <a:srgbClr val="1B1B1B"/>
                </a:solidFill>
                <a:latin typeface="Arial" pitchFamily="34" charset="0"/>
                <a:ea typeface="Arial" pitchFamily="34" charset="-122"/>
                <a:cs typeface="Arial" pitchFamily="34" charset="-120"/>
              </a:rPr>
              <a:t>press / studios look down</a:t>
            </a:r>
            <a:endParaRPr lang="en-US" sz="550" dirty="0"/>
          </a:p>
        </p:txBody>
      </p:sp>
      <p:sp>
        <p:nvSpPr>
          <p:cNvPr id="136" name="Text 134"/>
          <p:cNvSpPr txBox="1"/>
          <p:nvPr/>
        </p:nvSpPr>
        <p:spPr>
          <a:xfrm>
            <a:off x="365760" y="3886200"/>
            <a:ext cx="2743200" cy="228600"/>
          </a:xfrm>
          <a:prstGeom prst="rect">
            <a:avLst/>
          </a:prstGeom>
          <a:noFill/>
          <a:ln/>
        </p:spPr>
        <p:txBody>
          <a:bodyPr wrap="square" lIns="0" tIns="0" rIns="0" bIns="0" rtlCol="0" anchor="t"/>
          <a:lstStyle/>
          <a:p>
            <a:pPr indent="0" marL="0">
              <a:buNone/>
            </a:pPr>
            <a:r>
              <a:rPr lang="en-US" sz="1000" b="1" dirty="0">
                <a:solidFill>
                  <a:srgbClr val="1B1B1B"/>
                </a:solidFill>
                <a:latin typeface="Arial" pitchFamily="34" charset="0"/>
                <a:ea typeface="Arial" pitchFamily="34" charset="-122"/>
                <a:cs typeface="Arial" pitchFamily="34" charset="-120"/>
              </a:rPr>
              <a:t>D  THE OPEN PRESS</a:t>
            </a:r>
            <a:endParaRPr lang="en-US" sz="1000" dirty="0"/>
          </a:p>
        </p:txBody>
      </p:sp>
      <p:sp>
        <p:nvSpPr>
          <p:cNvPr id="137" name="Shape 135"/>
          <p:cNvSpPr/>
          <p:nvPr/>
        </p:nvSpPr>
        <p:spPr>
          <a:xfrm>
            <a:off x="365760" y="4160520"/>
            <a:ext cx="2212848" cy="2286000"/>
          </a:xfrm>
          <a:prstGeom prst="rect">
            <a:avLst/>
          </a:prstGeom>
          <a:solidFill>
            <a:srgbClr val="FFFFFF"/>
          </a:solidFill>
          <a:ln w="6350">
            <a:solidFill>
              <a:srgbClr val="D9D9D9"/>
            </a:solidFill>
            <a:prstDash val="solid"/>
          </a:ln>
        </p:spPr>
      </p:sp>
      <p:sp>
        <p:nvSpPr>
          <p:cNvPr id="138" name="Text 136"/>
          <p:cNvSpPr txBox="1"/>
          <p:nvPr/>
        </p:nvSpPr>
        <p:spPr>
          <a:xfrm>
            <a:off x="438912" y="421538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01  </a:t>
            </a:r>
            <a:pPr indent="0" marL="0">
              <a:buNone/>
            </a:pPr>
            <a:r>
              <a:rPr lang="en-US" sz="750" b="1" spc="50" kern="0" dirty="0">
                <a:solidFill>
                  <a:srgbClr val="1B1B1B"/>
                </a:solidFill>
                <a:latin typeface="Arial" pitchFamily="34" charset="0"/>
                <a:ea typeface="Arial" pitchFamily="34" charset="-122"/>
                <a:cs typeface="Arial" pitchFamily="34" charset="-120"/>
              </a:rPr>
              <a:t>EXISTING FOOTPRINT</a:t>
            </a:r>
            <a:endParaRPr lang="en-US" sz="750" dirty="0"/>
          </a:p>
        </p:txBody>
      </p:sp>
      <p:sp>
        <p:nvSpPr>
          <p:cNvPr id="139" name="Shape 137"/>
          <p:cNvSpPr/>
          <p:nvPr/>
        </p:nvSpPr>
        <p:spPr>
          <a:xfrm>
            <a:off x="585954" y="4853213"/>
            <a:ext cx="1772461" cy="1110926"/>
          </a:xfrm>
          <a:custGeom>
            <a:avLst/>
            <a:gdLst/>
            <a:ahLst/>
            <a:cxnLst/>
            <a:rect l="l" t="t" r="r" b="b"/>
            <a:pathLst>
              <a:path w="1772461" h="1110926">
                <a:moveTo>
                  <a:pt x="1754463" y="942025"/>
                </a:moveTo>
                <a:lnTo>
                  <a:pt x="1731120" y="981655"/>
                </a:lnTo>
                <a:lnTo>
                  <a:pt x="1698520" y="1016615"/>
                </a:lnTo>
                <a:lnTo>
                  <a:pt x="1657020" y="1046523"/>
                </a:lnTo>
                <a:lnTo>
                  <a:pt x="1607075" y="1071050"/>
                </a:lnTo>
                <a:lnTo>
                  <a:pt x="1549233" y="1089929"/>
                </a:lnTo>
                <a:lnTo>
                  <a:pt x="1484126" y="1102952"/>
                </a:lnTo>
                <a:lnTo>
                  <a:pt x="1412469" y="1109977"/>
                </a:lnTo>
                <a:lnTo>
                  <a:pt x="1335046" y="1110926"/>
                </a:lnTo>
                <a:lnTo>
                  <a:pt x="1252706" y="1105789"/>
                </a:lnTo>
                <a:lnTo>
                  <a:pt x="1166351" y="1094623"/>
                </a:lnTo>
                <a:lnTo>
                  <a:pt x="1076927" y="1077550"/>
                </a:lnTo>
                <a:lnTo>
                  <a:pt x="985413" y="1054757"/>
                </a:lnTo>
                <a:lnTo>
                  <a:pt x="892813" y="1026493"/>
                </a:lnTo>
                <a:lnTo>
                  <a:pt x="800141" y="993069"/>
                </a:lnTo>
                <a:lnTo>
                  <a:pt x="708412" y="954850"/>
                </a:lnTo>
                <a:lnTo>
                  <a:pt x="618631" y="912255"/>
                </a:lnTo>
                <a:lnTo>
                  <a:pt x="531782" y="865752"/>
                </a:lnTo>
                <a:lnTo>
                  <a:pt x="448816" y="815848"/>
                </a:lnTo>
                <a:lnTo>
                  <a:pt x="370643" y="763092"/>
                </a:lnTo>
                <a:lnTo>
                  <a:pt x="298119" y="708061"/>
                </a:lnTo>
                <a:lnTo>
                  <a:pt x="232038" y="651358"/>
                </a:lnTo>
                <a:lnTo>
                  <a:pt x="173124" y="593605"/>
                </a:lnTo>
                <a:lnTo>
                  <a:pt x="122024" y="535433"/>
                </a:lnTo>
                <a:lnTo>
                  <a:pt x="79296" y="477481"/>
                </a:lnTo>
                <a:lnTo>
                  <a:pt x="45409" y="420384"/>
                </a:lnTo>
                <a:lnTo>
                  <a:pt x="20735" y="364766"/>
                </a:lnTo>
                <a:lnTo>
                  <a:pt x="5543" y="311238"/>
                </a:lnTo>
                <a:lnTo>
                  <a:pt x="0" y="260385"/>
                </a:lnTo>
                <a:lnTo>
                  <a:pt x="4167" y="212766"/>
                </a:lnTo>
                <a:lnTo>
                  <a:pt x="17998" y="168901"/>
                </a:lnTo>
                <a:lnTo>
                  <a:pt x="41341" y="129271"/>
                </a:lnTo>
                <a:lnTo>
                  <a:pt x="73941" y="94311"/>
                </a:lnTo>
                <a:lnTo>
                  <a:pt x="115441" y="64403"/>
                </a:lnTo>
                <a:lnTo>
                  <a:pt x="165386" y="39876"/>
                </a:lnTo>
                <a:lnTo>
                  <a:pt x="223228" y="20997"/>
                </a:lnTo>
                <a:lnTo>
                  <a:pt x="288334" y="7974"/>
                </a:lnTo>
                <a:lnTo>
                  <a:pt x="359992" y="949"/>
                </a:lnTo>
                <a:lnTo>
                  <a:pt x="437414" y="0"/>
                </a:lnTo>
                <a:lnTo>
                  <a:pt x="519754" y="5137"/>
                </a:lnTo>
                <a:lnTo>
                  <a:pt x="606109" y="16303"/>
                </a:lnTo>
                <a:lnTo>
                  <a:pt x="695534" y="33376"/>
                </a:lnTo>
                <a:lnTo>
                  <a:pt x="787047" y="56169"/>
                </a:lnTo>
                <a:lnTo>
                  <a:pt x="879647" y="84433"/>
                </a:lnTo>
                <a:lnTo>
                  <a:pt x="972320" y="117857"/>
                </a:lnTo>
                <a:lnTo>
                  <a:pt x="1064049" y="156076"/>
                </a:lnTo>
                <a:lnTo>
                  <a:pt x="1153830" y="198671"/>
                </a:lnTo>
                <a:lnTo>
                  <a:pt x="1240679" y="245174"/>
                </a:lnTo>
                <a:lnTo>
                  <a:pt x="1323644" y="295078"/>
                </a:lnTo>
                <a:lnTo>
                  <a:pt x="1401818" y="347834"/>
                </a:lnTo>
                <a:lnTo>
                  <a:pt x="1474342" y="402865"/>
                </a:lnTo>
                <a:lnTo>
                  <a:pt x="1540423" y="459568"/>
                </a:lnTo>
                <a:lnTo>
                  <a:pt x="1599336" y="517321"/>
                </a:lnTo>
                <a:lnTo>
                  <a:pt x="1650437" y="575492"/>
                </a:lnTo>
                <a:lnTo>
                  <a:pt x="1693164" y="633444"/>
                </a:lnTo>
                <a:lnTo>
                  <a:pt x="1727051" y="690542"/>
                </a:lnTo>
                <a:lnTo>
                  <a:pt x="1751726" y="746160"/>
                </a:lnTo>
                <a:lnTo>
                  <a:pt x="1766918" y="799688"/>
                </a:lnTo>
                <a:lnTo>
                  <a:pt x="1772461" y="850541"/>
                </a:lnTo>
                <a:lnTo>
                  <a:pt x="1768294" y="898160"/>
                </a:lnTo>
                <a:close/>
              </a:path>
            </a:pathLst>
          </a:custGeom>
          <a:solidFill>
            <a:srgbClr val="E4E4E4"/>
          </a:solidFill>
          <a:ln w="12700"/>
        </p:spPr>
      </p:sp>
      <p:sp>
        <p:nvSpPr>
          <p:cNvPr id="140" name="Shape 138"/>
          <p:cNvSpPr/>
          <p:nvPr/>
        </p:nvSpPr>
        <p:spPr>
          <a:xfrm>
            <a:off x="420624" y="4976394"/>
            <a:ext cx="183327" cy="45720"/>
          </a:xfrm>
          <a:custGeom>
            <a:avLst/>
            <a:gdLst/>
            <a:ahLst/>
            <a:cxnLst/>
            <a:rect l="l" t="t" r="r" b="b"/>
            <a:pathLst>
              <a:path w="183327" h="45720">
                <a:moveTo>
                  <a:pt x="183327" y="45720"/>
                </a:moveTo>
                <a:lnTo>
                  <a:pt x="0" y="0"/>
                </a:lnTo>
              </a:path>
            </a:pathLst>
          </a:custGeom>
          <a:ln w="76200">
            <a:solidFill>
              <a:srgbClr val="E4E4E4"/>
            </a:solidFill>
            <a:prstDash val="solid"/>
          </a:ln>
        </p:spPr>
      </p:sp>
      <p:sp>
        <p:nvSpPr>
          <p:cNvPr id="141" name="Shape 139"/>
          <p:cNvSpPr/>
          <p:nvPr/>
        </p:nvSpPr>
        <p:spPr>
          <a:xfrm>
            <a:off x="2340417" y="5795238"/>
            <a:ext cx="183327" cy="45720"/>
          </a:xfrm>
          <a:custGeom>
            <a:avLst/>
            <a:gdLst/>
            <a:ahLst/>
            <a:cxnLst/>
            <a:rect l="l" t="t" r="r" b="b"/>
            <a:pathLst>
              <a:path w="183327" h="45720">
                <a:moveTo>
                  <a:pt x="0" y="0"/>
                </a:moveTo>
                <a:lnTo>
                  <a:pt x="183327" y="45720"/>
                </a:lnTo>
              </a:path>
            </a:pathLst>
          </a:custGeom>
          <a:ln w="76200">
            <a:solidFill>
              <a:srgbClr val="E4E4E4"/>
            </a:solidFill>
            <a:prstDash val="solid"/>
          </a:ln>
        </p:spPr>
      </p:sp>
      <p:sp>
        <p:nvSpPr>
          <p:cNvPr id="142" name="Shape 140"/>
          <p:cNvSpPr/>
          <p:nvPr/>
        </p:nvSpPr>
        <p:spPr>
          <a:xfrm>
            <a:off x="733659" y="4945790"/>
            <a:ext cx="1477051" cy="925772"/>
          </a:xfrm>
          <a:custGeom>
            <a:avLst/>
            <a:gdLst/>
            <a:ahLst/>
            <a:cxnLst/>
            <a:rect l="l" t="t" r="r" b="b"/>
            <a:pathLst>
              <a:path w="1477051" h="925772">
                <a:moveTo>
                  <a:pt x="1462053" y="785021"/>
                </a:moveTo>
                <a:lnTo>
                  <a:pt x="1442600" y="818046"/>
                </a:lnTo>
                <a:lnTo>
                  <a:pt x="1415433" y="847179"/>
                </a:lnTo>
                <a:lnTo>
                  <a:pt x="1380850" y="872102"/>
                </a:lnTo>
                <a:lnTo>
                  <a:pt x="1339229" y="892542"/>
                </a:lnTo>
                <a:lnTo>
                  <a:pt x="1291027" y="908274"/>
                </a:lnTo>
                <a:lnTo>
                  <a:pt x="1236772" y="919127"/>
                </a:lnTo>
                <a:lnTo>
                  <a:pt x="1177058" y="924981"/>
                </a:lnTo>
                <a:lnTo>
                  <a:pt x="1112539" y="925772"/>
                </a:lnTo>
                <a:lnTo>
                  <a:pt x="1043922" y="921491"/>
                </a:lnTo>
                <a:lnTo>
                  <a:pt x="971959" y="912186"/>
                </a:lnTo>
                <a:lnTo>
                  <a:pt x="897439" y="897958"/>
                </a:lnTo>
                <a:lnTo>
                  <a:pt x="821178" y="878964"/>
                </a:lnTo>
                <a:lnTo>
                  <a:pt x="744011" y="855411"/>
                </a:lnTo>
                <a:lnTo>
                  <a:pt x="666784" y="827557"/>
                </a:lnTo>
                <a:lnTo>
                  <a:pt x="590343" y="795708"/>
                </a:lnTo>
                <a:lnTo>
                  <a:pt x="515526" y="760213"/>
                </a:lnTo>
                <a:lnTo>
                  <a:pt x="443151" y="721460"/>
                </a:lnTo>
                <a:lnTo>
                  <a:pt x="374013" y="679874"/>
                </a:lnTo>
                <a:lnTo>
                  <a:pt x="308869" y="635910"/>
                </a:lnTo>
                <a:lnTo>
                  <a:pt x="248432" y="590051"/>
                </a:lnTo>
                <a:lnTo>
                  <a:pt x="193365" y="542799"/>
                </a:lnTo>
                <a:lnTo>
                  <a:pt x="144270" y="494671"/>
                </a:lnTo>
                <a:lnTo>
                  <a:pt x="101687" y="446195"/>
                </a:lnTo>
                <a:lnTo>
                  <a:pt x="66080" y="397901"/>
                </a:lnTo>
                <a:lnTo>
                  <a:pt x="37841" y="350320"/>
                </a:lnTo>
                <a:lnTo>
                  <a:pt x="17279" y="303972"/>
                </a:lnTo>
                <a:lnTo>
                  <a:pt x="4619" y="259365"/>
                </a:lnTo>
                <a:lnTo>
                  <a:pt x="0" y="216988"/>
                </a:lnTo>
                <a:lnTo>
                  <a:pt x="3472" y="177305"/>
                </a:lnTo>
                <a:lnTo>
                  <a:pt x="14998" y="140751"/>
                </a:lnTo>
                <a:lnTo>
                  <a:pt x="34451" y="107726"/>
                </a:lnTo>
                <a:lnTo>
                  <a:pt x="61618" y="78592"/>
                </a:lnTo>
                <a:lnTo>
                  <a:pt x="96201" y="53669"/>
                </a:lnTo>
                <a:lnTo>
                  <a:pt x="137821" y="33230"/>
                </a:lnTo>
                <a:lnTo>
                  <a:pt x="186023" y="17497"/>
                </a:lnTo>
                <a:lnTo>
                  <a:pt x="240279" y="6645"/>
                </a:lnTo>
                <a:lnTo>
                  <a:pt x="299993" y="791"/>
                </a:lnTo>
                <a:lnTo>
                  <a:pt x="364512" y="0"/>
                </a:lnTo>
                <a:lnTo>
                  <a:pt x="433128" y="4280"/>
                </a:lnTo>
                <a:lnTo>
                  <a:pt x="505091" y="13585"/>
                </a:lnTo>
                <a:lnTo>
                  <a:pt x="579611" y="27813"/>
                </a:lnTo>
                <a:lnTo>
                  <a:pt x="655873" y="46808"/>
                </a:lnTo>
                <a:lnTo>
                  <a:pt x="733039" y="70361"/>
                </a:lnTo>
                <a:lnTo>
                  <a:pt x="810266" y="98214"/>
                </a:lnTo>
                <a:lnTo>
                  <a:pt x="886707" y="130063"/>
                </a:lnTo>
                <a:lnTo>
                  <a:pt x="961525" y="165559"/>
                </a:lnTo>
                <a:lnTo>
                  <a:pt x="1033899" y="204312"/>
                </a:lnTo>
                <a:lnTo>
                  <a:pt x="1103037" y="245898"/>
                </a:lnTo>
                <a:lnTo>
                  <a:pt x="1168181" y="289861"/>
                </a:lnTo>
                <a:lnTo>
                  <a:pt x="1228618" y="335721"/>
                </a:lnTo>
                <a:lnTo>
                  <a:pt x="1283686" y="382973"/>
                </a:lnTo>
                <a:lnTo>
                  <a:pt x="1332780" y="431101"/>
                </a:lnTo>
                <a:lnTo>
                  <a:pt x="1375364" y="479577"/>
                </a:lnTo>
                <a:lnTo>
                  <a:pt x="1410970" y="527870"/>
                </a:lnTo>
                <a:lnTo>
                  <a:pt x="1439209" y="575452"/>
                </a:lnTo>
                <a:lnTo>
                  <a:pt x="1459771" y="621800"/>
                </a:lnTo>
                <a:lnTo>
                  <a:pt x="1472431" y="666407"/>
                </a:lnTo>
                <a:lnTo>
                  <a:pt x="1477051" y="708784"/>
                </a:lnTo>
                <a:lnTo>
                  <a:pt x="1473578" y="748467"/>
                </a:lnTo>
                <a:close/>
              </a:path>
            </a:pathLst>
          </a:custGeom>
          <a:solidFill>
            <a:srgbClr val="FFFFFF"/>
          </a:solidFill>
          <a:ln w="19050">
            <a:solidFill>
              <a:srgbClr val="1B1B1B"/>
            </a:solidFill>
            <a:prstDash val="solid"/>
          </a:ln>
        </p:spPr>
      </p:sp>
      <p:sp>
        <p:nvSpPr>
          <p:cNvPr id="143" name="Shape 141"/>
          <p:cNvSpPr/>
          <p:nvPr/>
        </p:nvSpPr>
        <p:spPr>
          <a:xfrm>
            <a:off x="1020208" y="5090971"/>
            <a:ext cx="1063476" cy="666556"/>
          </a:xfrm>
          <a:custGeom>
            <a:avLst/>
            <a:gdLst/>
            <a:ahLst/>
            <a:cxnLst/>
            <a:rect l="l" t="t" r="r" b="b"/>
            <a:pathLst>
              <a:path w="1063476" h="666556">
                <a:moveTo>
                  <a:pt x="1052678" y="565215"/>
                </a:moveTo>
                <a:lnTo>
                  <a:pt x="1038672" y="588993"/>
                </a:lnTo>
                <a:lnTo>
                  <a:pt x="1019112" y="609969"/>
                </a:lnTo>
                <a:lnTo>
                  <a:pt x="994212" y="627914"/>
                </a:lnTo>
                <a:lnTo>
                  <a:pt x="964245" y="642630"/>
                </a:lnTo>
                <a:lnTo>
                  <a:pt x="929540" y="653957"/>
                </a:lnTo>
                <a:lnTo>
                  <a:pt x="890476" y="661771"/>
                </a:lnTo>
                <a:lnTo>
                  <a:pt x="847481" y="665986"/>
                </a:lnTo>
                <a:lnTo>
                  <a:pt x="801028" y="666556"/>
                </a:lnTo>
                <a:lnTo>
                  <a:pt x="751624" y="663474"/>
                </a:lnTo>
                <a:lnTo>
                  <a:pt x="699811" y="656774"/>
                </a:lnTo>
                <a:lnTo>
                  <a:pt x="646156" y="646530"/>
                </a:lnTo>
                <a:lnTo>
                  <a:pt x="591248" y="632854"/>
                </a:lnTo>
                <a:lnTo>
                  <a:pt x="535688" y="615896"/>
                </a:lnTo>
                <a:lnTo>
                  <a:pt x="480085" y="595841"/>
                </a:lnTo>
                <a:lnTo>
                  <a:pt x="425047" y="572910"/>
                </a:lnTo>
                <a:lnTo>
                  <a:pt x="371178" y="547353"/>
                </a:lnTo>
                <a:lnTo>
                  <a:pt x="319069" y="519451"/>
                </a:lnTo>
                <a:lnTo>
                  <a:pt x="269290" y="489509"/>
                </a:lnTo>
                <a:lnTo>
                  <a:pt x="222386" y="457855"/>
                </a:lnTo>
                <a:lnTo>
                  <a:pt x="178871" y="424837"/>
                </a:lnTo>
                <a:lnTo>
                  <a:pt x="139223" y="390815"/>
                </a:lnTo>
                <a:lnTo>
                  <a:pt x="103875" y="356163"/>
                </a:lnTo>
                <a:lnTo>
                  <a:pt x="73214" y="321260"/>
                </a:lnTo>
                <a:lnTo>
                  <a:pt x="47578" y="286489"/>
                </a:lnTo>
                <a:lnTo>
                  <a:pt x="27246" y="252230"/>
                </a:lnTo>
                <a:lnTo>
                  <a:pt x="12441" y="218860"/>
                </a:lnTo>
                <a:lnTo>
                  <a:pt x="3326" y="186743"/>
                </a:lnTo>
                <a:lnTo>
                  <a:pt x="0" y="156231"/>
                </a:lnTo>
                <a:lnTo>
                  <a:pt x="2500" y="127659"/>
                </a:lnTo>
                <a:lnTo>
                  <a:pt x="10799" y="101341"/>
                </a:lnTo>
                <a:lnTo>
                  <a:pt x="24805" y="77563"/>
                </a:lnTo>
                <a:lnTo>
                  <a:pt x="44365" y="56587"/>
                </a:lnTo>
                <a:lnTo>
                  <a:pt x="69265" y="38642"/>
                </a:lnTo>
                <a:lnTo>
                  <a:pt x="99231" y="23925"/>
                </a:lnTo>
                <a:lnTo>
                  <a:pt x="133937" y="12598"/>
                </a:lnTo>
                <a:lnTo>
                  <a:pt x="173001" y="4784"/>
                </a:lnTo>
                <a:lnTo>
                  <a:pt x="215995" y="570"/>
                </a:lnTo>
                <a:lnTo>
                  <a:pt x="262449" y="0"/>
                </a:lnTo>
                <a:lnTo>
                  <a:pt x="311853" y="3082"/>
                </a:lnTo>
                <a:lnTo>
                  <a:pt x="363666" y="9782"/>
                </a:lnTo>
                <a:lnTo>
                  <a:pt x="417320" y="20025"/>
                </a:lnTo>
                <a:lnTo>
                  <a:pt x="472228" y="33701"/>
                </a:lnTo>
                <a:lnTo>
                  <a:pt x="527788" y="50660"/>
                </a:lnTo>
                <a:lnTo>
                  <a:pt x="583392" y="70714"/>
                </a:lnTo>
                <a:lnTo>
                  <a:pt x="638429" y="93646"/>
                </a:lnTo>
                <a:lnTo>
                  <a:pt x="692298" y="119202"/>
                </a:lnTo>
                <a:lnTo>
                  <a:pt x="744407" y="147105"/>
                </a:lnTo>
                <a:lnTo>
                  <a:pt x="794187" y="177047"/>
                </a:lnTo>
                <a:lnTo>
                  <a:pt x="841091" y="208700"/>
                </a:lnTo>
                <a:lnTo>
                  <a:pt x="884605" y="241719"/>
                </a:lnTo>
                <a:lnTo>
                  <a:pt x="924254" y="275741"/>
                </a:lnTo>
                <a:lnTo>
                  <a:pt x="959602" y="310393"/>
                </a:lnTo>
                <a:lnTo>
                  <a:pt x="990262" y="345295"/>
                </a:lnTo>
                <a:lnTo>
                  <a:pt x="1015899" y="380067"/>
                </a:lnTo>
                <a:lnTo>
                  <a:pt x="1036231" y="414325"/>
                </a:lnTo>
                <a:lnTo>
                  <a:pt x="1051035" y="447696"/>
                </a:lnTo>
                <a:lnTo>
                  <a:pt x="1060151" y="479813"/>
                </a:lnTo>
                <a:lnTo>
                  <a:pt x="1063476" y="510324"/>
                </a:lnTo>
                <a:lnTo>
                  <a:pt x="1060976" y="538896"/>
                </a:lnTo>
                <a:close/>
              </a:path>
            </a:pathLst>
          </a:custGeom>
          <a:ln w="6350">
            <a:solidFill>
              <a:srgbClr val="4F7A43"/>
            </a:solidFill>
            <a:prstDash val="dash"/>
          </a:ln>
        </p:spPr>
      </p:sp>
      <p:sp>
        <p:nvSpPr>
          <p:cNvPr id="144" name="Shape 142"/>
          <p:cNvSpPr/>
          <p:nvPr/>
        </p:nvSpPr>
        <p:spPr>
          <a:xfrm>
            <a:off x="1212224" y="5211321"/>
            <a:ext cx="679443" cy="425855"/>
          </a:xfrm>
          <a:custGeom>
            <a:avLst/>
            <a:gdLst/>
            <a:ahLst/>
            <a:cxnLst/>
            <a:rect l="l" t="t" r="r" b="b"/>
            <a:pathLst>
              <a:path w="679443" h="425855">
                <a:moveTo>
                  <a:pt x="672544" y="361110"/>
                </a:moveTo>
                <a:lnTo>
                  <a:pt x="663596" y="376301"/>
                </a:lnTo>
                <a:lnTo>
                  <a:pt x="651099" y="389702"/>
                </a:lnTo>
                <a:lnTo>
                  <a:pt x="635191" y="401167"/>
                </a:lnTo>
                <a:lnTo>
                  <a:pt x="616045" y="410569"/>
                </a:lnTo>
                <a:lnTo>
                  <a:pt x="593873" y="417806"/>
                </a:lnTo>
                <a:lnTo>
                  <a:pt x="568915" y="422798"/>
                </a:lnTo>
                <a:lnTo>
                  <a:pt x="541446" y="425491"/>
                </a:lnTo>
                <a:lnTo>
                  <a:pt x="511768" y="425855"/>
                </a:lnTo>
                <a:lnTo>
                  <a:pt x="480204" y="423886"/>
                </a:lnTo>
                <a:lnTo>
                  <a:pt x="447101" y="419606"/>
                </a:lnTo>
                <a:lnTo>
                  <a:pt x="412822" y="413061"/>
                </a:lnTo>
                <a:lnTo>
                  <a:pt x="377742" y="404323"/>
                </a:lnTo>
                <a:lnTo>
                  <a:pt x="342245" y="393489"/>
                </a:lnTo>
                <a:lnTo>
                  <a:pt x="306721" y="380676"/>
                </a:lnTo>
                <a:lnTo>
                  <a:pt x="271558" y="366026"/>
                </a:lnTo>
                <a:lnTo>
                  <a:pt x="237142" y="349698"/>
                </a:lnTo>
                <a:lnTo>
                  <a:pt x="203850" y="331871"/>
                </a:lnTo>
                <a:lnTo>
                  <a:pt x="172046" y="312742"/>
                </a:lnTo>
                <a:lnTo>
                  <a:pt x="142080" y="292519"/>
                </a:lnTo>
                <a:lnTo>
                  <a:pt x="114279" y="271423"/>
                </a:lnTo>
                <a:lnTo>
                  <a:pt x="88948" y="249687"/>
                </a:lnTo>
                <a:lnTo>
                  <a:pt x="66364" y="227549"/>
                </a:lnTo>
                <a:lnTo>
                  <a:pt x="46776" y="205249"/>
                </a:lnTo>
                <a:lnTo>
                  <a:pt x="30397" y="183035"/>
                </a:lnTo>
                <a:lnTo>
                  <a:pt x="17407" y="161147"/>
                </a:lnTo>
                <a:lnTo>
                  <a:pt x="7948" y="139827"/>
                </a:lnTo>
                <a:lnTo>
                  <a:pt x="2125" y="119308"/>
                </a:lnTo>
                <a:lnTo>
                  <a:pt x="0" y="99814"/>
                </a:lnTo>
                <a:lnTo>
                  <a:pt x="1597" y="81560"/>
                </a:lnTo>
                <a:lnTo>
                  <a:pt x="6899" y="64745"/>
                </a:lnTo>
                <a:lnTo>
                  <a:pt x="15847" y="49554"/>
                </a:lnTo>
                <a:lnTo>
                  <a:pt x="28344" y="36153"/>
                </a:lnTo>
                <a:lnTo>
                  <a:pt x="44252" y="24688"/>
                </a:lnTo>
                <a:lnTo>
                  <a:pt x="63398" y="15286"/>
                </a:lnTo>
                <a:lnTo>
                  <a:pt x="85571" y="8049"/>
                </a:lnTo>
                <a:lnTo>
                  <a:pt x="110528" y="3057"/>
                </a:lnTo>
                <a:lnTo>
                  <a:pt x="137997" y="364"/>
                </a:lnTo>
                <a:lnTo>
                  <a:pt x="167675" y="0"/>
                </a:lnTo>
                <a:lnTo>
                  <a:pt x="199239" y="1969"/>
                </a:lnTo>
                <a:lnTo>
                  <a:pt x="232342" y="6249"/>
                </a:lnTo>
                <a:lnTo>
                  <a:pt x="266621" y="12794"/>
                </a:lnTo>
                <a:lnTo>
                  <a:pt x="301701" y="21531"/>
                </a:lnTo>
                <a:lnTo>
                  <a:pt x="337198" y="32366"/>
                </a:lnTo>
                <a:lnTo>
                  <a:pt x="372723" y="45179"/>
                </a:lnTo>
                <a:lnTo>
                  <a:pt x="407885" y="59829"/>
                </a:lnTo>
                <a:lnTo>
                  <a:pt x="442301" y="76157"/>
                </a:lnTo>
                <a:lnTo>
                  <a:pt x="475594" y="93983"/>
                </a:lnTo>
                <a:lnTo>
                  <a:pt x="507397" y="113113"/>
                </a:lnTo>
                <a:lnTo>
                  <a:pt x="537363" y="133336"/>
                </a:lnTo>
                <a:lnTo>
                  <a:pt x="565164" y="154431"/>
                </a:lnTo>
                <a:lnTo>
                  <a:pt x="590495" y="176168"/>
                </a:lnTo>
                <a:lnTo>
                  <a:pt x="613079" y="198306"/>
                </a:lnTo>
                <a:lnTo>
                  <a:pt x="632667" y="220605"/>
                </a:lnTo>
                <a:lnTo>
                  <a:pt x="649046" y="242820"/>
                </a:lnTo>
                <a:lnTo>
                  <a:pt x="662036" y="264708"/>
                </a:lnTo>
                <a:lnTo>
                  <a:pt x="671495" y="286028"/>
                </a:lnTo>
                <a:lnTo>
                  <a:pt x="677318" y="306547"/>
                </a:lnTo>
                <a:lnTo>
                  <a:pt x="679443" y="326041"/>
                </a:lnTo>
                <a:lnTo>
                  <a:pt x="677846" y="344295"/>
                </a:lnTo>
                <a:close/>
              </a:path>
            </a:pathLst>
          </a:custGeom>
          <a:ln w="6350">
            <a:solidFill>
              <a:srgbClr val="4F7A43"/>
            </a:solidFill>
            <a:prstDash val="dash"/>
          </a:ln>
        </p:spPr>
      </p:sp>
      <p:sp>
        <p:nvSpPr>
          <p:cNvPr id="145" name="Shape 143"/>
          <p:cNvSpPr/>
          <p:nvPr/>
        </p:nvSpPr>
        <p:spPr>
          <a:xfrm>
            <a:off x="1389470" y="5322414"/>
            <a:ext cx="324951" cy="203670"/>
          </a:xfrm>
          <a:custGeom>
            <a:avLst/>
            <a:gdLst/>
            <a:ahLst/>
            <a:cxnLst/>
            <a:rect l="l" t="t" r="r" b="b"/>
            <a:pathLst>
              <a:path w="324951" h="203670">
                <a:moveTo>
                  <a:pt x="321652" y="172705"/>
                </a:moveTo>
                <a:lnTo>
                  <a:pt x="317372" y="179970"/>
                </a:lnTo>
                <a:lnTo>
                  <a:pt x="311395" y="186379"/>
                </a:lnTo>
                <a:lnTo>
                  <a:pt x="303787" y="191863"/>
                </a:lnTo>
                <a:lnTo>
                  <a:pt x="294630" y="196359"/>
                </a:lnTo>
                <a:lnTo>
                  <a:pt x="284026" y="199820"/>
                </a:lnTo>
                <a:lnTo>
                  <a:pt x="272090" y="202208"/>
                </a:lnTo>
                <a:lnTo>
                  <a:pt x="258953" y="203496"/>
                </a:lnTo>
                <a:lnTo>
                  <a:pt x="244759" y="203670"/>
                </a:lnTo>
                <a:lnTo>
                  <a:pt x="229663" y="202728"/>
                </a:lnTo>
                <a:lnTo>
                  <a:pt x="213831" y="200681"/>
                </a:lnTo>
                <a:lnTo>
                  <a:pt x="197437" y="197551"/>
                </a:lnTo>
                <a:lnTo>
                  <a:pt x="180659" y="193372"/>
                </a:lnTo>
                <a:lnTo>
                  <a:pt x="163682" y="188190"/>
                </a:lnTo>
                <a:lnTo>
                  <a:pt x="146692" y="182063"/>
                </a:lnTo>
                <a:lnTo>
                  <a:pt x="129875" y="175056"/>
                </a:lnTo>
                <a:lnTo>
                  <a:pt x="113416" y="167247"/>
                </a:lnTo>
                <a:lnTo>
                  <a:pt x="97493" y="158721"/>
                </a:lnTo>
                <a:lnTo>
                  <a:pt x="82283" y="149572"/>
                </a:lnTo>
                <a:lnTo>
                  <a:pt x="67951" y="139900"/>
                </a:lnTo>
                <a:lnTo>
                  <a:pt x="54655" y="129811"/>
                </a:lnTo>
                <a:lnTo>
                  <a:pt x="42540" y="119416"/>
                </a:lnTo>
                <a:lnTo>
                  <a:pt x="31739" y="108828"/>
                </a:lnTo>
                <a:lnTo>
                  <a:pt x="22371" y="98163"/>
                </a:lnTo>
                <a:lnTo>
                  <a:pt x="14538" y="87538"/>
                </a:lnTo>
                <a:lnTo>
                  <a:pt x="8325" y="77070"/>
                </a:lnTo>
                <a:lnTo>
                  <a:pt x="3801" y="66874"/>
                </a:lnTo>
                <a:lnTo>
                  <a:pt x="1016" y="57060"/>
                </a:lnTo>
                <a:lnTo>
                  <a:pt x="0" y="47737"/>
                </a:lnTo>
                <a:lnTo>
                  <a:pt x="764" y="39007"/>
                </a:lnTo>
                <a:lnTo>
                  <a:pt x="3300" y="30965"/>
                </a:lnTo>
                <a:lnTo>
                  <a:pt x="7579" y="23700"/>
                </a:lnTo>
                <a:lnTo>
                  <a:pt x="13556" y="17290"/>
                </a:lnTo>
                <a:lnTo>
                  <a:pt x="21164" y="11807"/>
                </a:lnTo>
                <a:lnTo>
                  <a:pt x="30321" y="7311"/>
                </a:lnTo>
                <a:lnTo>
                  <a:pt x="40925" y="3849"/>
                </a:lnTo>
                <a:lnTo>
                  <a:pt x="52861" y="1462"/>
                </a:lnTo>
                <a:lnTo>
                  <a:pt x="65998" y="174"/>
                </a:lnTo>
                <a:lnTo>
                  <a:pt x="80193" y="0"/>
                </a:lnTo>
                <a:lnTo>
                  <a:pt x="95288" y="942"/>
                </a:lnTo>
                <a:lnTo>
                  <a:pt x="111120" y="2989"/>
                </a:lnTo>
                <a:lnTo>
                  <a:pt x="127514" y="6119"/>
                </a:lnTo>
                <a:lnTo>
                  <a:pt x="144292" y="10298"/>
                </a:lnTo>
                <a:lnTo>
                  <a:pt x="161269" y="15479"/>
                </a:lnTo>
                <a:lnTo>
                  <a:pt x="178259" y="21607"/>
                </a:lnTo>
                <a:lnTo>
                  <a:pt x="195076" y="28614"/>
                </a:lnTo>
                <a:lnTo>
                  <a:pt x="211535" y="36423"/>
                </a:lnTo>
                <a:lnTo>
                  <a:pt x="227458" y="44949"/>
                </a:lnTo>
                <a:lnTo>
                  <a:pt x="242668" y="54098"/>
                </a:lnTo>
                <a:lnTo>
                  <a:pt x="257000" y="63770"/>
                </a:lnTo>
                <a:lnTo>
                  <a:pt x="270296" y="73859"/>
                </a:lnTo>
                <a:lnTo>
                  <a:pt x="282411" y="84254"/>
                </a:lnTo>
                <a:lnTo>
                  <a:pt x="293212" y="94842"/>
                </a:lnTo>
                <a:lnTo>
                  <a:pt x="302580" y="105507"/>
                </a:lnTo>
                <a:lnTo>
                  <a:pt x="310413" y="116131"/>
                </a:lnTo>
                <a:lnTo>
                  <a:pt x="316626" y="126599"/>
                </a:lnTo>
                <a:lnTo>
                  <a:pt x="321150" y="136796"/>
                </a:lnTo>
                <a:lnTo>
                  <a:pt x="323935" y="146609"/>
                </a:lnTo>
                <a:lnTo>
                  <a:pt x="324951" y="155932"/>
                </a:lnTo>
                <a:lnTo>
                  <a:pt x="324187" y="164663"/>
                </a:lnTo>
                <a:close/>
              </a:path>
            </a:pathLst>
          </a:custGeom>
          <a:ln w="6350">
            <a:solidFill>
              <a:srgbClr val="4F7A43"/>
            </a:solidFill>
            <a:prstDash val="dash"/>
          </a:ln>
        </p:spPr>
      </p:sp>
      <p:sp>
        <p:nvSpPr>
          <p:cNvPr id="146" name="Shape 144"/>
          <p:cNvSpPr/>
          <p:nvPr/>
        </p:nvSpPr>
        <p:spPr>
          <a:xfrm>
            <a:off x="2085207" y="5668474"/>
            <a:ext cx="47362" cy="47362"/>
          </a:xfrm>
          <a:prstGeom prst="ellipse">
            <a:avLst/>
          </a:prstGeom>
          <a:solidFill>
            <a:srgbClr val="FFFFFF"/>
          </a:solidFill>
          <a:ln w="7620">
            <a:solidFill>
              <a:srgbClr val="4F7A43"/>
            </a:solidFill>
            <a:prstDash val="solid"/>
          </a:ln>
        </p:spPr>
      </p:sp>
      <p:sp>
        <p:nvSpPr>
          <p:cNvPr id="147" name="Shape 145"/>
          <p:cNvSpPr/>
          <p:nvPr/>
        </p:nvSpPr>
        <p:spPr>
          <a:xfrm>
            <a:off x="2019261" y="5741718"/>
            <a:ext cx="47362" cy="47362"/>
          </a:xfrm>
          <a:prstGeom prst="ellipse">
            <a:avLst/>
          </a:prstGeom>
          <a:solidFill>
            <a:srgbClr val="FFFFFF"/>
          </a:solidFill>
          <a:ln w="7620">
            <a:solidFill>
              <a:srgbClr val="4F7A43"/>
            </a:solidFill>
            <a:prstDash val="solid"/>
          </a:ln>
        </p:spPr>
      </p:sp>
      <p:sp>
        <p:nvSpPr>
          <p:cNvPr id="148" name="Shape 146"/>
          <p:cNvSpPr/>
          <p:nvPr/>
        </p:nvSpPr>
        <p:spPr>
          <a:xfrm>
            <a:off x="1903436" y="5783788"/>
            <a:ext cx="47362" cy="47362"/>
          </a:xfrm>
          <a:prstGeom prst="ellipse">
            <a:avLst/>
          </a:prstGeom>
          <a:solidFill>
            <a:srgbClr val="FFFFFF"/>
          </a:solidFill>
          <a:ln w="7620">
            <a:solidFill>
              <a:srgbClr val="4F7A43"/>
            </a:solidFill>
            <a:prstDash val="solid"/>
          </a:ln>
        </p:spPr>
      </p:sp>
      <p:sp>
        <p:nvSpPr>
          <p:cNvPr id="149" name="Shape 147"/>
          <p:cNvSpPr/>
          <p:nvPr/>
        </p:nvSpPr>
        <p:spPr>
          <a:xfrm>
            <a:off x="1747854" y="5791008"/>
            <a:ext cx="47362" cy="47362"/>
          </a:xfrm>
          <a:prstGeom prst="ellipse">
            <a:avLst/>
          </a:prstGeom>
          <a:solidFill>
            <a:srgbClr val="FFFFFF"/>
          </a:solidFill>
          <a:ln w="7620">
            <a:solidFill>
              <a:srgbClr val="4F7A43"/>
            </a:solidFill>
            <a:prstDash val="solid"/>
          </a:ln>
        </p:spPr>
      </p:sp>
      <p:sp>
        <p:nvSpPr>
          <p:cNvPr id="150" name="Shape 148"/>
          <p:cNvSpPr/>
          <p:nvPr/>
        </p:nvSpPr>
        <p:spPr>
          <a:xfrm>
            <a:off x="1566112" y="5762745"/>
            <a:ext cx="47362" cy="47362"/>
          </a:xfrm>
          <a:prstGeom prst="ellipse">
            <a:avLst/>
          </a:prstGeom>
          <a:solidFill>
            <a:srgbClr val="FFFFFF"/>
          </a:solidFill>
          <a:ln w="7620">
            <a:solidFill>
              <a:srgbClr val="4F7A43"/>
            </a:solidFill>
            <a:prstDash val="solid"/>
          </a:ln>
        </p:spPr>
      </p:sp>
      <p:sp>
        <p:nvSpPr>
          <p:cNvPr id="151" name="Shape 149"/>
          <p:cNvSpPr/>
          <p:nvPr/>
        </p:nvSpPr>
        <p:spPr>
          <a:xfrm>
            <a:off x="1374092" y="5701471"/>
            <a:ext cx="47362" cy="47362"/>
          </a:xfrm>
          <a:prstGeom prst="ellipse">
            <a:avLst/>
          </a:prstGeom>
          <a:solidFill>
            <a:srgbClr val="FFFFFF"/>
          </a:solidFill>
          <a:ln w="7620">
            <a:solidFill>
              <a:srgbClr val="4F7A43"/>
            </a:solidFill>
            <a:prstDash val="solid"/>
          </a:ln>
        </p:spPr>
      </p:sp>
      <p:sp>
        <p:nvSpPr>
          <p:cNvPr id="152" name="Shape 150"/>
          <p:cNvSpPr/>
          <p:nvPr/>
        </p:nvSpPr>
        <p:spPr>
          <a:xfrm>
            <a:off x="1188574" y="5612540"/>
            <a:ext cx="47362" cy="47362"/>
          </a:xfrm>
          <a:prstGeom prst="ellipse">
            <a:avLst/>
          </a:prstGeom>
          <a:solidFill>
            <a:srgbClr val="FFFFFF"/>
          </a:solidFill>
          <a:ln w="7620">
            <a:solidFill>
              <a:srgbClr val="4F7A43"/>
            </a:solidFill>
            <a:prstDash val="solid"/>
          </a:ln>
        </p:spPr>
      </p:sp>
      <p:sp>
        <p:nvSpPr>
          <p:cNvPr id="153" name="Shape 151"/>
          <p:cNvSpPr/>
          <p:nvPr/>
        </p:nvSpPr>
        <p:spPr>
          <a:xfrm>
            <a:off x="1025772" y="5503724"/>
            <a:ext cx="47362" cy="47362"/>
          </a:xfrm>
          <a:prstGeom prst="ellipse">
            <a:avLst/>
          </a:prstGeom>
          <a:solidFill>
            <a:srgbClr val="FFFFFF"/>
          </a:solidFill>
          <a:ln w="7620">
            <a:solidFill>
              <a:srgbClr val="4F7A43"/>
            </a:solidFill>
            <a:prstDash val="solid"/>
          </a:ln>
        </p:spPr>
      </p:sp>
      <p:sp>
        <p:nvSpPr>
          <p:cNvPr id="154" name="Shape 152"/>
          <p:cNvSpPr/>
          <p:nvPr/>
        </p:nvSpPr>
        <p:spPr>
          <a:xfrm>
            <a:off x="899913" y="5384532"/>
            <a:ext cx="47362" cy="47362"/>
          </a:xfrm>
          <a:prstGeom prst="ellipse">
            <a:avLst/>
          </a:prstGeom>
          <a:solidFill>
            <a:srgbClr val="FFFFFF"/>
          </a:solidFill>
          <a:ln w="7620">
            <a:solidFill>
              <a:srgbClr val="4F7A43"/>
            </a:solidFill>
            <a:prstDash val="solid"/>
          </a:ln>
        </p:spPr>
      </p:sp>
      <p:sp>
        <p:nvSpPr>
          <p:cNvPr id="155" name="Shape 153"/>
          <p:cNvSpPr/>
          <p:nvPr/>
        </p:nvSpPr>
        <p:spPr>
          <a:xfrm>
            <a:off x="821995" y="5265380"/>
            <a:ext cx="47362" cy="47362"/>
          </a:xfrm>
          <a:prstGeom prst="ellipse">
            <a:avLst/>
          </a:prstGeom>
          <a:solidFill>
            <a:srgbClr val="FFFFFF"/>
          </a:solidFill>
          <a:ln w="7620">
            <a:solidFill>
              <a:srgbClr val="4F7A43"/>
            </a:solidFill>
            <a:prstDash val="solid"/>
          </a:ln>
        </p:spPr>
      </p:sp>
      <p:sp>
        <p:nvSpPr>
          <p:cNvPr id="156" name="Shape 154"/>
          <p:cNvSpPr/>
          <p:nvPr/>
        </p:nvSpPr>
        <p:spPr>
          <a:xfrm>
            <a:off x="798828" y="5156682"/>
            <a:ext cx="47362" cy="47362"/>
          </a:xfrm>
          <a:prstGeom prst="ellipse">
            <a:avLst/>
          </a:prstGeom>
          <a:solidFill>
            <a:srgbClr val="FFFFFF"/>
          </a:solidFill>
          <a:ln w="7620">
            <a:solidFill>
              <a:srgbClr val="4F7A43"/>
            </a:solidFill>
            <a:prstDash val="solid"/>
          </a:ln>
        </p:spPr>
      </p:sp>
      <p:sp>
        <p:nvSpPr>
          <p:cNvPr id="157" name="Shape 155"/>
          <p:cNvSpPr/>
          <p:nvPr/>
        </p:nvSpPr>
        <p:spPr>
          <a:xfrm>
            <a:off x="832437" y="5067936"/>
            <a:ext cx="47362" cy="47362"/>
          </a:xfrm>
          <a:prstGeom prst="ellipse">
            <a:avLst/>
          </a:prstGeom>
          <a:solidFill>
            <a:srgbClr val="FFFFFF"/>
          </a:solidFill>
          <a:ln w="7620">
            <a:solidFill>
              <a:srgbClr val="4F7A43"/>
            </a:solidFill>
            <a:prstDash val="solid"/>
          </a:ln>
        </p:spPr>
      </p:sp>
      <p:sp>
        <p:nvSpPr>
          <p:cNvPr id="158" name="Shape 156"/>
          <p:cNvSpPr/>
          <p:nvPr/>
        </p:nvSpPr>
        <p:spPr>
          <a:xfrm>
            <a:off x="919884" y="5006898"/>
            <a:ext cx="47362" cy="47362"/>
          </a:xfrm>
          <a:prstGeom prst="ellipse">
            <a:avLst/>
          </a:prstGeom>
          <a:solidFill>
            <a:srgbClr val="FFFFFF"/>
          </a:solidFill>
          <a:ln w="7620">
            <a:solidFill>
              <a:srgbClr val="4F7A43"/>
            </a:solidFill>
            <a:prstDash val="solid"/>
          </a:ln>
        </p:spPr>
      </p:sp>
      <p:sp>
        <p:nvSpPr>
          <p:cNvPr id="159" name="Shape 157"/>
          <p:cNvSpPr/>
          <p:nvPr/>
        </p:nvSpPr>
        <p:spPr>
          <a:xfrm>
            <a:off x="1053527" y="4978902"/>
            <a:ext cx="47362" cy="47362"/>
          </a:xfrm>
          <a:prstGeom prst="ellipse">
            <a:avLst/>
          </a:prstGeom>
          <a:solidFill>
            <a:srgbClr val="FFFFFF"/>
          </a:solidFill>
          <a:ln w="7620">
            <a:solidFill>
              <a:srgbClr val="4F7A43"/>
            </a:solidFill>
            <a:prstDash val="solid"/>
          </a:ln>
        </p:spPr>
      </p:sp>
      <p:sp>
        <p:nvSpPr>
          <p:cNvPr id="160" name="Shape 158"/>
          <p:cNvSpPr/>
          <p:nvPr/>
        </p:nvSpPr>
        <p:spPr>
          <a:xfrm>
            <a:off x="1221687" y="4986395"/>
            <a:ext cx="47362" cy="47362"/>
          </a:xfrm>
          <a:prstGeom prst="ellipse">
            <a:avLst/>
          </a:prstGeom>
          <a:solidFill>
            <a:srgbClr val="FFFFFF"/>
          </a:solidFill>
          <a:ln w="7620">
            <a:solidFill>
              <a:srgbClr val="4F7A43"/>
            </a:solidFill>
            <a:prstDash val="solid"/>
          </a:ln>
        </p:spPr>
      </p:sp>
      <p:sp>
        <p:nvSpPr>
          <p:cNvPr id="161" name="Shape 159"/>
          <p:cNvSpPr/>
          <p:nvPr/>
        </p:nvSpPr>
        <p:spPr>
          <a:xfrm>
            <a:off x="1409669" y="5028721"/>
            <a:ext cx="47362" cy="47362"/>
          </a:xfrm>
          <a:prstGeom prst="ellipse">
            <a:avLst/>
          </a:prstGeom>
          <a:solidFill>
            <a:srgbClr val="FFFFFF"/>
          </a:solidFill>
          <a:ln w="7620">
            <a:solidFill>
              <a:srgbClr val="4F7A43"/>
            </a:solidFill>
            <a:prstDash val="solid"/>
          </a:ln>
        </p:spPr>
      </p:sp>
      <p:sp>
        <p:nvSpPr>
          <p:cNvPr id="162" name="Shape 160"/>
          <p:cNvSpPr/>
          <p:nvPr/>
        </p:nvSpPr>
        <p:spPr>
          <a:xfrm>
            <a:off x="1601045" y="5102183"/>
            <a:ext cx="47362" cy="47362"/>
          </a:xfrm>
          <a:prstGeom prst="ellipse">
            <a:avLst/>
          </a:prstGeom>
          <a:solidFill>
            <a:srgbClr val="FFFFFF"/>
          </a:solidFill>
          <a:ln w="7620">
            <a:solidFill>
              <a:srgbClr val="4F7A43"/>
            </a:solidFill>
            <a:prstDash val="solid"/>
          </a:ln>
        </p:spPr>
      </p:sp>
      <p:sp>
        <p:nvSpPr>
          <p:cNvPr id="163" name="Shape 161"/>
          <p:cNvSpPr/>
          <p:nvPr/>
        </p:nvSpPr>
        <p:spPr>
          <a:xfrm>
            <a:off x="1779090" y="5200360"/>
            <a:ext cx="47362" cy="47362"/>
          </a:xfrm>
          <a:prstGeom prst="ellipse">
            <a:avLst/>
          </a:prstGeom>
          <a:solidFill>
            <a:srgbClr val="FFFFFF"/>
          </a:solidFill>
          <a:ln w="7620">
            <a:solidFill>
              <a:srgbClr val="4F7A43"/>
            </a:solidFill>
            <a:prstDash val="solid"/>
          </a:ln>
        </p:spPr>
      </p:sp>
      <p:sp>
        <p:nvSpPr>
          <p:cNvPr id="164" name="Shape 162"/>
          <p:cNvSpPr/>
          <p:nvPr/>
        </p:nvSpPr>
        <p:spPr>
          <a:xfrm>
            <a:off x="1928244" y="5314672"/>
            <a:ext cx="47362" cy="47362"/>
          </a:xfrm>
          <a:prstGeom prst="ellipse">
            <a:avLst/>
          </a:prstGeom>
          <a:solidFill>
            <a:srgbClr val="FFFFFF"/>
          </a:solidFill>
          <a:ln w="7620">
            <a:solidFill>
              <a:srgbClr val="4F7A43"/>
            </a:solidFill>
            <a:prstDash val="solid"/>
          </a:ln>
        </p:spPr>
      </p:sp>
      <p:sp>
        <p:nvSpPr>
          <p:cNvPr id="165" name="Shape 163"/>
          <p:cNvSpPr/>
          <p:nvPr/>
        </p:nvSpPr>
        <p:spPr>
          <a:xfrm>
            <a:off x="2035474" y="5435130"/>
            <a:ext cx="47362" cy="47362"/>
          </a:xfrm>
          <a:prstGeom prst="ellipse">
            <a:avLst/>
          </a:prstGeom>
          <a:solidFill>
            <a:srgbClr val="FFFFFF"/>
          </a:solidFill>
          <a:ln w="7620">
            <a:solidFill>
              <a:srgbClr val="4F7A43"/>
            </a:solidFill>
            <a:prstDash val="solid"/>
          </a:ln>
        </p:spPr>
      </p:sp>
      <p:sp>
        <p:nvSpPr>
          <p:cNvPr id="166" name="Shape 164"/>
          <p:cNvSpPr/>
          <p:nvPr/>
        </p:nvSpPr>
        <p:spPr>
          <a:xfrm>
            <a:off x="2091409" y="5551206"/>
            <a:ext cx="47362" cy="47362"/>
          </a:xfrm>
          <a:prstGeom prst="ellipse">
            <a:avLst/>
          </a:prstGeom>
          <a:solidFill>
            <a:srgbClr val="FFFFFF"/>
          </a:solidFill>
          <a:ln w="7620">
            <a:solidFill>
              <a:srgbClr val="4F7A43"/>
            </a:solidFill>
            <a:prstDash val="solid"/>
          </a:ln>
        </p:spPr>
      </p:sp>
      <p:sp>
        <p:nvSpPr>
          <p:cNvPr id="167" name="Shape 165"/>
          <p:cNvSpPr/>
          <p:nvPr/>
        </p:nvSpPr>
        <p:spPr>
          <a:xfrm>
            <a:off x="2091159" y="5652757"/>
            <a:ext cx="47362" cy="47362"/>
          </a:xfrm>
          <a:prstGeom prst="ellipse">
            <a:avLst/>
          </a:prstGeom>
          <a:solidFill>
            <a:srgbClr val="FFFFFF"/>
          </a:solidFill>
          <a:ln w="7620">
            <a:solidFill>
              <a:srgbClr val="4F7A43"/>
            </a:solidFill>
            <a:prstDash val="solid"/>
          </a:ln>
        </p:spPr>
      </p:sp>
      <p:sp>
        <p:nvSpPr>
          <p:cNvPr id="168" name="Shape 166"/>
          <p:cNvSpPr/>
          <p:nvPr/>
        </p:nvSpPr>
        <p:spPr>
          <a:xfrm>
            <a:off x="438912" y="4407408"/>
            <a:ext cx="731520" cy="146304"/>
          </a:xfrm>
          <a:prstGeom prst="rect">
            <a:avLst/>
          </a:prstGeom>
          <a:solidFill>
            <a:srgbClr val="FFFFFF"/>
          </a:solidFill>
          <a:ln/>
        </p:spPr>
      </p:sp>
      <p:sp>
        <p:nvSpPr>
          <p:cNvPr id="169" name="Text 167"/>
          <p:cNvSpPr txBox="1"/>
          <p:nvPr/>
        </p:nvSpPr>
        <p:spPr>
          <a:xfrm>
            <a:off x="438912" y="4407408"/>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Egerton / Abbot jn.</a:t>
            </a:r>
            <a:endParaRPr lang="en-US" sz="550" dirty="0"/>
          </a:p>
        </p:txBody>
      </p:sp>
      <p:sp>
        <p:nvSpPr>
          <p:cNvPr id="170" name="Shape 168"/>
          <p:cNvSpPr/>
          <p:nvPr/>
        </p:nvSpPr>
        <p:spPr>
          <a:xfrm>
            <a:off x="1773936" y="6263640"/>
            <a:ext cx="731520" cy="146304"/>
          </a:xfrm>
          <a:prstGeom prst="rect">
            <a:avLst/>
          </a:prstGeom>
          <a:solidFill>
            <a:srgbClr val="FFFFFF"/>
          </a:solidFill>
          <a:ln/>
        </p:spPr>
      </p:sp>
      <p:sp>
        <p:nvSpPr>
          <p:cNvPr id="171" name="Text 169"/>
          <p:cNvSpPr txBox="1"/>
          <p:nvPr/>
        </p:nvSpPr>
        <p:spPr>
          <a:xfrm>
            <a:off x="1773936" y="6263640"/>
            <a:ext cx="73152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Davis / Durand jn.</a:t>
            </a:r>
            <a:endParaRPr lang="en-US" sz="550" dirty="0"/>
          </a:p>
        </p:txBody>
      </p:sp>
      <p:sp>
        <p:nvSpPr>
          <p:cNvPr id="172" name="Shape 170"/>
          <p:cNvSpPr/>
          <p:nvPr/>
        </p:nvSpPr>
        <p:spPr>
          <a:xfrm rot="1440000">
            <a:off x="1507772" y="5419853"/>
            <a:ext cx="255024" cy="218592"/>
          </a:xfrm>
          <a:prstGeom prst="rect">
            <a:avLst/>
          </a:prstGeom>
          <a:solidFill>
            <a:srgbClr val="D9D9D9"/>
          </a:solidFill>
          <a:ln w="9525">
            <a:solidFill>
              <a:srgbClr val="1B1B1B"/>
            </a:solidFill>
            <a:prstDash val="dash"/>
          </a:ln>
        </p:spPr>
      </p:sp>
      <p:sp>
        <p:nvSpPr>
          <p:cNvPr id="173" name="Shape 171"/>
          <p:cNvSpPr/>
          <p:nvPr/>
        </p:nvSpPr>
        <p:spPr>
          <a:xfrm>
            <a:off x="1132364" y="5619940"/>
            <a:ext cx="1005840" cy="146304"/>
          </a:xfrm>
          <a:prstGeom prst="rect">
            <a:avLst/>
          </a:prstGeom>
          <a:solidFill>
            <a:srgbClr val="FFFFFF"/>
          </a:solidFill>
          <a:ln/>
        </p:spPr>
      </p:sp>
      <p:sp>
        <p:nvSpPr>
          <p:cNvPr id="174" name="Text 172"/>
          <p:cNvSpPr txBox="1"/>
          <p:nvPr/>
        </p:nvSpPr>
        <p:spPr>
          <a:xfrm>
            <a:off x="1132364" y="5619940"/>
            <a:ext cx="1005840"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existing Press Club (locate)</a:t>
            </a:r>
            <a:endParaRPr lang="en-US" sz="550" dirty="0"/>
          </a:p>
        </p:txBody>
      </p:sp>
      <p:sp>
        <p:nvSpPr>
          <p:cNvPr id="175" name="Shape 173"/>
          <p:cNvSpPr/>
          <p:nvPr/>
        </p:nvSpPr>
        <p:spPr>
          <a:xfrm>
            <a:off x="2569464" y="529894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176" name="Shape 174"/>
          <p:cNvSpPr/>
          <p:nvPr/>
        </p:nvSpPr>
        <p:spPr>
          <a:xfrm>
            <a:off x="2670048" y="4160520"/>
            <a:ext cx="2212848" cy="2286000"/>
          </a:xfrm>
          <a:prstGeom prst="rect">
            <a:avLst/>
          </a:prstGeom>
          <a:solidFill>
            <a:srgbClr val="FFFFFF"/>
          </a:solidFill>
          <a:ln w="6350">
            <a:solidFill>
              <a:srgbClr val="D9D9D9"/>
            </a:solidFill>
            <a:prstDash val="solid"/>
          </a:ln>
        </p:spPr>
      </p:sp>
      <p:sp>
        <p:nvSpPr>
          <p:cNvPr id="177" name="Text 175"/>
          <p:cNvSpPr txBox="1"/>
          <p:nvPr/>
        </p:nvSpPr>
        <p:spPr>
          <a:xfrm>
            <a:off x="2743200" y="421538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02  </a:t>
            </a:r>
            <a:pPr indent="0" marL="0">
              <a:buNone/>
            </a:pPr>
            <a:r>
              <a:rPr lang="en-US" sz="750" b="1" spc="50" kern="0" dirty="0">
                <a:solidFill>
                  <a:srgbClr val="1B1B1B"/>
                </a:solidFill>
                <a:latin typeface="Arial" pitchFamily="34" charset="0"/>
                <a:ea typeface="Arial" pitchFamily="34" charset="-122"/>
                <a:cs typeface="Arial" pitchFamily="34" charset="-120"/>
              </a:rPr>
              <a:t>COMPACT BLOCK</a:t>
            </a:r>
            <a:endParaRPr lang="en-US" sz="750" dirty="0"/>
          </a:p>
        </p:txBody>
      </p:sp>
      <p:sp>
        <p:nvSpPr>
          <p:cNvPr id="178" name="Shape 176"/>
          <p:cNvSpPr/>
          <p:nvPr/>
        </p:nvSpPr>
        <p:spPr>
          <a:xfrm>
            <a:off x="2890242" y="4853213"/>
            <a:ext cx="1772461" cy="1110926"/>
          </a:xfrm>
          <a:custGeom>
            <a:avLst/>
            <a:gdLst/>
            <a:ahLst/>
            <a:cxnLst/>
            <a:rect l="l" t="t" r="r" b="b"/>
            <a:pathLst>
              <a:path w="1772461" h="1110926">
                <a:moveTo>
                  <a:pt x="1754463" y="942025"/>
                </a:moveTo>
                <a:lnTo>
                  <a:pt x="1731120" y="981655"/>
                </a:lnTo>
                <a:lnTo>
                  <a:pt x="1698520" y="1016615"/>
                </a:lnTo>
                <a:lnTo>
                  <a:pt x="1657020" y="1046523"/>
                </a:lnTo>
                <a:lnTo>
                  <a:pt x="1607075" y="1071050"/>
                </a:lnTo>
                <a:lnTo>
                  <a:pt x="1549233" y="1089929"/>
                </a:lnTo>
                <a:lnTo>
                  <a:pt x="1484126" y="1102952"/>
                </a:lnTo>
                <a:lnTo>
                  <a:pt x="1412469" y="1109977"/>
                </a:lnTo>
                <a:lnTo>
                  <a:pt x="1335046" y="1110926"/>
                </a:lnTo>
                <a:lnTo>
                  <a:pt x="1252706" y="1105789"/>
                </a:lnTo>
                <a:lnTo>
                  <a:pt x="1166351" y="1094623"/>
                </a:lnTo>
                <a:lnTo>
                  <a:pt x="1076927" y="1077550"/>
                </a:lnTo>
                <a:lnTo>
                  <a:pt x="985413" y="1054757"/>
                </a:lnTo>
                <a:lnTo>
                  <a:pt x="892813" y="1026493"/>
                </a:lnTo>
                <a:lnTo>
                  <a:pt x="800141" y="993069"/>
                </a:lnTo>
                <a:lnTo>
                  <a:pt x="708412" y="954850"/>
                </a:lnTo>
                <a:lnTo>
                  <a:pt x="618631" y="912255"/>
                </a:lnTo>
                <a:lnTo>
                  <a:pt x="531782" y="865752"/>
                </a:lnTo>
                <a:lnTo>
                  <a:pt x="448816" y="815848"/>
                </a:lnTo>
                <a:lnTo>
                  <a:pt x="370643" y="763092"/>
                </a:lnTo>
                <a:lnTo>
                  <a:pt x="298119" y="708061"/>
                </a:lnTo>
                <a:lnTo>
                  <a:pt x="232038" y="651358"/>
                </a:lnTo>
                <a:lnTo>
                  <a:pt x="173124" y="593605"/>
                </a:lnTo>
                <a:lnTo>
                  <a:pt x="122024" y="535433"/>
                </a:lnTo>
                <a:lnTo>
                  <a:pt x="79296" y="477481"/>
                </a:lnTo>
                <a:lnTo>
                  <a:pt x="45409" y="420384"/>
                </a:lnTo>
                <a:lnTo>
                  <a:pt x="20735" y="364766"/>
                </a:lnTo>
                <a:lnTo>
                  <a:pt x="5543" y="311238"/>
                </a:lnTo>
                <a:lnTo>
                  <a:pt x="0" y="260385"/>
                </a:lnTo>
                <a:lnTo>
                  <a:pt x="4167" y="212766"/>
                </a:lnTo>
                <a:lnTo>
                  <a:pt x="17998" y="168901"/>
                </a:lnTo>
                <a:lnTo>
                  <a:pt x="41341" y="129271"/>
                </a:lnTo>
                <a:lnTo>
                  <a:pt x="73941" y="94311"/>
                </a:lnTo>
                <a:lnTo>
                  <a:pt x="115441" y="64403"/>
                </a:lnTo>
                <a:lnTo>
                  <a:pt x="165386" y="39876"/>
                </a:lnTo>
                <a:lnTo>
                  <a:pt x="223228" y="20997"/>
                </a:lnTo>
                <a:lnTo>
                  <a:pt x="288334" y="7974"/>
                </a:lnTo>
                <a:lnTo>
                  <a:pt x="359992" y="949"/>
                </a:lnTo>
                <a:lnTo>
                  <a:pt x="437414" y="0"/>
                </a:lnTo>
                <a:lnTo>
                  <a:pt x="519754" y="5137"/>
                </a:lnTo>
                <a:lnTo>
                  <a:pt x="606109" y="16303"/>
                </a:lnTo>
                <a:lnTo>
                  <a:pt x="695534" y="33376"/>
                </a:lnTo>
                <a:lnTo>
                  <a:pt x="787047" y="56169"/>
                </a:lnTo>
                <a:lnTo>
                  <a:pt x="879647" y="84433"/>
                </a:lnTo>
                <a:lnTo>
                  <a:pt x="972320" y="117857"/>
                </a:lnTo>
                <a:lnTo>
                  <a:pt x="1064049" y="156076"/>
                </a:lnTo>
                <a:lnTo>
                  <a:pt x="1153830" y="198671"/>
                </a:lnTo>
                <a:lnTo>
                  <a:pt x="1240679" y="245174"/>
                </a:lnTo>
                <a:lnTo>
                  <a:pt x="1323644" y="295078"/>
                </a:lnTo>
                <a:lnTo>
                  <a:pt x="1401818" y="347834"/>
                </a:lnTo>
                <a:lnTo>
                  <a:pt x="1474342" y="402865"/>
                </a:lnTo>
                <a:lnTo>
                  <a:pt x="1540423" y="459568"/>
                </a:lnTo>
                <a:lnTo>
                  <a:pt x="1599336" y="517321"/>
                </a:lnTo>
                <a:lnTo>
                  <a:pt x="1650437" y="575492"/>
                </a:lnTo>
                <a:lnTo>
                  <a:pt x="1693164" y="633444"/>
                </a:lnTo>
                <a:lnTo>
                  <a:pt x="1727051" y="690542"/>
                </a:lnTo>
                <a:lnTo>
                  <a:pt x="1751726" y="746160"/>
                </a:lnTo>
                <a:lnTo>
                  <a:pt x="1766918" y="799688"/>
                </a:lnTo>
                <a:lnTo>
                  <a:pt x="1772461" y="850541"/>
                </a:lnTo>
                <a:lnTo>
                  <a:pt x="1768294" y="898160"/>
                </a:lnTo>
                <a:close/>
              </a:path>
            </a:pathLst>
          </a:custGeom>
          <a:solidFill>
            <a:srgbClr val="E4E4E4"/>
          </a:solidFill>
          <a:ln w="12700"/>
        </p:spPr>
      </p:sp>
      <p:sp>
        <p:nvSpPr>
          <p:cNvPr id="179" name="Shape 177"/>
          <p:cNvSpPr/>
          <p:nvPr/>
        </p:nvSpPr>
        <p:spPr>
          <a:xfrm>
            <a:off x="2724912" y="4976394"/>
            <a:ext cx="183327" cy="45720"/>
          </a:xfrm>
          <a:custGeom>
            <a:avLst/>
            <a:gdLst/>
            <a:ahLst/>
            <a:cxnLst/>
            <a:rect l="l" t="t" r="r" b="b"/>
            <a:pathLst>
              <a:path w="183327" h="45720">
                <a:moveTo>
                  <a:pt x="183327" y="45720"/>
                </a:moveTo>
                <a:lnTo>
                  <a:pt x="0" y="0"/>
                </a:lnTo>
              </a:path>
            </a:pathLst>
          </a:custGeom>
          <a:ln w="76200">
            <a:solidFill>
              <a:srgbClr val="E4E4E4"/>
            </a:solidFill>
            <a:prstDash val="solid"/>
          </a:ln>
        </p:spPr>
      </p:sp>
      <p:sp>
        <p:nvSpPr>
          <p:cNvPr id="180" name="Shape 178"/>
          <p:cNvSpPr/>
          <p:nvPr/>
        </p:nvSpPr>
        <p:spPr>
          <a:xfrm>
            <a:off x="4644705" y="5795238"/>
            <a:ext cx="183327" cy="45720"/>
          </a:xfrm>
          <a:custGeom>
            <a:avLst/>
            <a:gdLst/>
            <a:ahLst/>
            <a:cxnLst/>
            <a:rect l="l" t="t" r="r" b="b"/>
            <a:pathLst>
              <a:path w="183327" h="45720">
                <a:moveTo>
                  <a:pt x="0" y="0"/>
                </a:moveTo>
                <a:lnTo>
                  <a:pt x="183327" y="45720"/>
                </a:lnTo>
              </a:path>
            </a:pathLst>
          </a:custGeom>
          <a:ln w="76200">
            <a:solidFill>
              <a:srgbClr val="E4E4E4"/>
            </a:solidFill>
            <a:prstDash val="solid"/>
          </a:ln>
        </p:spPr>
      </p:sp>
      <p:sp>
        <p:nvSpPr>
          <p:cNvPr id="181" name="Shape 179"/>
          <p:cNvSpPr/>
          <p:nvPr/>
        </p:nvSpPr>
        <p:spPr>
          <a:xfrm>
            <a:off x="3037947" y="4945790"/>
            <a:ext cx="1477051" cy="925772"/>
          </a:xfrm>
          <a:custGeom>
            <a:avLst/>
            <a:gdLst/>
            <a:ahLst/>
            <a:cxnLst/>
            <a:rect l="l" t="t" r="r" b="b"/>
            <a:pathLst>
              <a:path w="1477051" h="925772">
                <a:moveTo>
                  <a:pt x="1462053" y="785021"/>
                </a:moveTo>
                <a:lnTo>
                  <a:pt x="1442600" y="818046"/>
                </a:lnTo>
                <a:lnTo>
                  <a:pt x="1415433" y="847179"/>
                </a:lnTo>
                <a:lnTo>
                  <a:pt x="1380850" y="872102"/>
                </a:lnTo>
                <a:lnTo>
                  <a:pt x="1339229" y="892542"/>
                </a:lnTo>
                <a:lnTo>
                  <a:pt x="1291027" y="908274"/>
                </a:lnTo>
                <a:lnTo>
                  <a:pt x="1236772" y="919127"/>
                </a:lnTo>
                <a:lnTo>
                  <a:pt x="1177058" y="924981"/>
                </a:lnTo>
                <a:lnTo>
                  <a:pt x="1112539" y="925772"/>
                </a:lnTo>
                <a:lnTo>
                  <a:pt x="1043922" y="921491"/>
                </a:lnTo>
                <a:lnTo>
                  <a:pt x="971959" y="912186"/>
                </a:lnTo>
                <a:lnTo>
                  <a:pt x="897439" y="897958"/>
                </a:lnTo>
                <a:lnTo>
                  <a:pt x="821178" y="878964"/>
                </a:lnTo>
                <a:lnTo>
                  <a:pt x="744011" y="855411"/>
                </a:lnTo>
                <a:lnTo>
                  <a:pt x="666784" y="827557"/>
                </a:lnTo>
                <a:lnTo>
                  <a:pt x="590343" y="795708"/>
                </a:lnTo>
                <a:lnTo>
                  <a:pt x="515526" y="760213"/>
                </a:lnTo>
                <a:lnTo>
                  <a:pt x="443151" y="721460"/>
                </a:lnTo>
                <a:lnTo>
                  <a:pt x="374013" y="679874"/>
                </a:lnTo>
                <a:lnTo>
                  <a:pt x="308869" y="635910"/>
                </a:lnTo>
                <a:lnTo>
                  <a:pt x="248432" y="590051"/>
                </a:lnTo>
                <a:lnTo>
                  <a:pt x="193365" y="542799"/>
                </a:lnTo>
                <a:lnTo>
                  <a:pt x="144270" y="494671"/>
                </a:lnTo>
                <a:lnTo>
                  <a:pt x="101687" y="446195"/>
                </a:lnTo>
                <a:lnTo>
                  <a:pt x="66080" y="397901"/>
                </a:lnTo>
                <a:lnTo>
                  <a:pt x="37841" y="350320"/>
                </a:lnTo>
                <a:lnTo>
                  <a:pt x="17279" y="303972"/>
                </a:lnTo>
                <a:lnTo>
                  <a:pt x="4619" y="259365"/>
                </a:lnTo>
                <a:lnTo>
                  <a:pt x="0" y="216988"/>
                </a:lnTo>
                <a:lnTo>
                  <a:pt x="3472" y="177305"/>
                </a:lnTo>
                <a:lnTo>
                  <a:pt x="14998" y="140751"/>
                </a:lnTo>
                <a:lnTo>
                  <a:pt x="34451" y="107726"/>
                </a:lnTo>
                <a:lnTo>
                  <a:pt x="61618" y="78592"/>
                </a:lnTo>
                <a:lnTo>
                  <a:pt x="96201" y="53669"/>
                </a:lnTo>
                <a:lnTo>
                  <a:pt x="137821" y="33230"/>
                </a:lnTo>
                <a:lnTo>
                  <a:pt x="186023" y="17497"/>
                </a:lnTo>
                <a:lnTo>
                  <a:pt x="240279" y="6645"/>
                </a:lnTo>
                <a:lnTo>
                  <a:pt x="299993" y="791"/>
                </a:lnTo>
                <a:lnTo>
                  <a:pt x="364512" y="0"/>
                </a:lnTo>
                <a:lnTo>
                  <a:pt x="433128" y="4280"/>
                </a:lnTo>
                <a:lnTo>
                  <a:pt x="505091" y="13585"/>
                </a:lnTo>
                <a:lnTo>
                  <a:pt x="579611" y="27813"/>
                </a:lnTo>
                <a:lnTo>
                  <a:pt x="655873" y="46808"/>
                </a:lnTo>
                <a:lnTo>
                  <a:pt x="733039" y="70361"/>
                </a:lnTo>
                <a:lnTo>
                  <a:pt x="810266" y="98214"/>
                </a:lnTo>
                <a:lnTo>
                  <a:pt x="886707" y="130063"/>
                </a:lnTo>
                <a:lnTo>
                  <a:pt x="961525" y="165559"/>
                </a:lnTo>
                <a:lnTo>
                  <a:pt x="1033899" y="204312"/>
                </a:lnTo>
                <a:lnTo>
                  <a:pt x="1103037" y="245898"/>
                </a:lnTo>
                <a:lnTo>
                  <a:pt x="1168181" y="289861"/>
                </a:lnTo>
                <a:lnTo>
                  <a:pt x="1228618" y="335721"/>
                </a:lnTo>
                <a:lnTo>
                  <a:pt x="1283686" y="382973"/>
                </a:lnTo>
                <a:lnTo>
                  <a:pt x="1332780" y="431101"/>
                </a:lnTo>
                <a:lnTo>
                  <a:pt x="1375364" y="479577"/>
                </a:lnTo>
                <a:lnTo>
                  <a:pt x="1410970" y="527870"/>
                </a:lnTo>
                <a:lnTo>
                  <a:pt x="1439209" y="575452"/>
                </a:lnTo>
                <a:lnTo>
                  <a:pt x="1459771" y="621800"/>
                </a:lnTo>
                <a:lnTo>
                  <a:pt x="1472431" y="666407"/>
                </a:lnTo>
                <a:lnTo>
                  <a:pt x="1477051" y="708784"/>
                </a:lnTo>
                <a:lnTo>
                  <a:pt x="1473578" y="748467"/>
                </a:lnTo>
                <a:close/>
              </a:path>
            </a:pathLst>
          </a:custGeom>
          <a:solidFill>
            <a:srgbClr val="FFFFFF"/>
          </a:solidFill>
          <a:ln w="19050">
            <a:solidFill>
              <a:srgbClr val="1B1B1B"/>
            </a:solidFill>
            <a:prstDash val="solid"/>
          </a:ln>
        </p:spPr>
      </p:sp>
      <p:sp>
        <p:nvSpPr>
          <p:cNvPr id="182" name="Shape 180"/>
          <p:cNvSpPr/>
          <p:nvPr/>
        </p:nvSpPr>
        <p:spPr>
          <a:xfrm>
            <a:off x="3324496" y="5090971"/>
            <a:ext cx="1063476" cy="666556"/>
          </a:xfrm>
          <a:custGeom>
            <a:avLst/>
            <a:gdLst/>
            <a:ahLst/>
            <a:cxnLst/>
            <a:rect l="l" t="t" r="r" b="b"/>
            <a:pathLst>
              <a:path w="1063476" h="666556">
                <a:moveTo>
                  <a:pt x="1052678" y="565215"/>
                </a:moveTo>
                <a:lnTo>
                  <a:pt x="1038672" y="588993"/>
                </a:lnTo>
                <a:lnTo>
                  <a:pt x="1019112" y="609969"/>
                </a:lnTo>
                <a:lnTo>
                  <a:pt x="994212" y="627914"/>
                </a:lnTo>
                <a:lnTo>
                  <a:pt x="964245" y="642630"/>
                </a:lnTo>
                <a:lnTo>
                  <a:pt x="929540" y="653957"/>
                </a:lnTo>
                <a:lnTo>
                  <a:pt x="890476" y="661771"/>
                </a:lnTo>
                <a:lnTo>
                  <a:pt x="847481" y="665986"/>
                </a:lnTo>
                <a:lnTo>
                  <a:pt x="801028" y="666556"/>
                </a:lnTo>
                <a:lnTo>
                  <a:pt x="751624" y="663474"/>
                </a:lnTo>
                <a:lnTo>
                  <a:pt x="699811" y="656774"/>
                </a:lnTo>
                <a:lnTo>
                  <a:pt x="646156" y="646530"/>
                </a:lnTo>
                <a:lnTo>
                  <a:pt x="591248" y="632854"/>
                </a:lnTo>
                <a:lnTo>
                  <a:pt x="535688" y="615896"/>
                </a:lnTo>
                <a:lnTo>
                  <a:pt x="480085" y="595841"/>
                </a:lnTo>
                <a:lnTo>
                  <a:pt x="425047" y="572910"/>
                </a:lnTo>
                <a:lnTo>
                  <a:pt x="371178" y="547353"/>
                </a:lnTo>
                <a:lnTo>
                  <a:pt x="319069" y="519451"/>
                </a:lnTo>
                <a:lnTo>
                  <a:pt x="269290" y="489509"/>
                </a:lnTo>
                <a:lnTo>
                  <a:pt x="222386" y="457855"/>
                </a:lnTo>
                <a:lnTo>
                  <a:pt x="178871" y="424837"/>
                </a:lnTo>
                <a:lnTo>
                  <a:pt x="139223" y="390815"/>
                </a:lnTo>
                <a:lnTo>
                  <a:pt x="103875" y="356163"/>
                </a:lnTo>
                <a:lnTo>
                  <a:pt x="73214" y="321260"/>
                </a:lnTo>
                <a:lnTo>
                  <a:pt x="47578" y="286489"/>
                </a:lnTo>
                <a:lnTo>
                  <a:pt x="27246" y="252230"/>
                </a:lnTo>
                <a:lnTo>
                  <a:pt x="12441" y="218860"/>
                </a:lnTo>
                <a:lnTo>
                  <a:pt x="3326" y="186743"/>
                </a:lnTo>
                <a:lnTo>
                  <a:pt x="0" y="156231"/>
                </a:lnTo>
                <a:lnTo>
                  <a:pt x="2500" y="127659"/>
                </a:lnTo>
                <a:lnTo>
                  <a:pt x="10799" y="101341"/>
                </a:lnTo>
                <a:lnTo>
                  <a:pt x="24805" y="77563"/>
                </a:lnTo>
                <a:lnTo>
                  <a:pt x="44365" y="56587"/>
                </a:lnTo>
                <a:lnTo>
                  <a:pt x="69265" y="38642"/>
                </a:lnTo>
                <a:lnTo>
                  <a:pt x="99231" y="23925"/>
                </a:lnTo>
                <a:lnTo>
                  <a:pt x="133937" y="12598"/>
                </a:lnTo>
                <a:lnTo>
                  <a:pt x="173001" y="4784"/>
                </a:lnTo>
                <a:lnTo>
                  <a:pt x="215995" y="570"/>
                </a:lnTo>
                <a:lnTo>
                  <a:pt x="262449" y="0"/>
                </a:lnTo>
                <a:lnTo>
                  <a:pt x="311853" y="3082"/>
                </a:lnTo>
                <a:lnTo>
                  <a:pt x="363666" y="9782"/>
                </a:lnTo>
                <a:lnTo>
                  <a:pt x="417320" y="20025"/>
                </a:lnTo>
                <a:lnTo>
                  <a:pt x="472228" y="33701"/>
                </a:lnTo>
                <a:lnTo>
                  <a:pt x="527788" y="50660"/>
                </a:lnTo>
                <a:lnTo>
                  <a:pt x="583392" y="70714"/>
                </a:lnTo>
                <a:lnTo>
                  <a:pt x="638429" y="93646"/>
                </a:lnTo>
                <a:lnTo>
                  <a:pt x="692298" y="119202"/>
                </a:lnTo>
                <a:lnTo>
                  <a:pt x="744407" y="147105"/>
                </a:lnTo>
                <a:lnTo>
                  <a:pt x="794187" y="177047"/>
                </a:lnTo>
                <a:lnTo>
                  <a:pt x="841091" y="208700"/>
                </a:lnTo>
                <a:lnTo>
                  <a:pt x="884605" y="241719"/>
                </a:lnTo>
                <a:lnTo>
                  <a:pt x="924254" y="275741"/>
                </a:lnTo>
                <a:lnTo>
                  <a:pt x="959602" y="310393"/>
                </a:lnTo>
                <a:lnTo>
                  <a:pt x="990262" y="345295"/>
                </a:lnTo>
                <a:lnTo>
                  <a:pt x="1015899" y="380067"/>
                </a:lnTo>
                <a:lnTo>
                  <a:pt x="1036231" y="414325"/>
                </a:lnTo>
                <a:lnTo>
                  <a:pt x="1051035" y="447696"/>
                </a:lnTo>
                <a:lnTo>
                  <a:pt x="1060151" y="479813"/>
                </a:lnTo>
                <a:lnTo>
                  <a:pt x="1063476" y="510324"/>
                </a:lnTo>
                <a:lnTo>
                  <a:pt x="1060976" y="538896"/>
                </a:lnTo>
                <a:close/>
              </a:path>
            </a:pathLst>
          </a:custGeom>
          <a:ln w="6350">
            <a:solidFill>
              <a:srgbClr val="4F7A43"/>
            </a:solidFill>
            <a:prstDash val="dash"/>
          </a:ln>
        </p:spPr>
      </p:sp>
      <p:sp>
        <p:nvSpPr>
          <p:cNvPr id="183" name="Shape 181"/>
          <p:cNvSpPr/>
          <p:nvPr/>
        </p:nvSpPr>
        <p:spPr>
          <a:xfrm>
            <a:off x="3516512" y="5211321"/>
            <a:ext cx="679443" cy="425855"/>
          </a:xfrm>
          <a:custGeom>
            <a:avLst/>
            <a:gdLst/>
            <a:ahLst/>
            <a:cxnLst/>
            <a:rect l="l" t="t" r="r" b="b"/>
            <a:pathLst>
              <a:path w="679443" h="425855">
                <a:moveTo>
                  <a:pt x="672544" y="361110"/>
                </a:moveTo>
                <a:lnTo>
                  <a:pt x="663596" y="376301"/>
                </a:lnTo>
                <a:lnTo>
                  <a:pt x="651099" y="389702"/>
                </a:lnTo>
                <a:lnTo>
                  <a:pt x="635191" y="401167"/>
                </a:lnTo>
                <a:lnTo>
                  <a:pt x="616045" y="410569"/>
                </a:lnTo>
                <a:lnTo>
                  <a:pt x="593873" y="417806"/>
                </a:lnTo>
                <a:lnTo>
                  <a:pt x="568915" y="422798"/>
                </a:lnTo>
                <a:lnTo>
                  <a:pt x="541446" y="425491"/>
                </a:lnTo>
                <a:lnTo>
                  <a:pt x="511768" y="425855"/>
                </a:lnTo>
                <a:lnTo>
                  <a:pt x="480204" y="423886"/>
                </a:lnTo>
                <a:lnTo>
                  <a:pt x="447101" y="419606"/>
                </a:lnTo>
                <a:lnTo>
                  <a:pt x="412822" y="413061"/>
                </a:lnTo>
                <a:lnTo>
                  <a:pt x="377742" y="404323"/>
                </a:lnTo>
                <a:lnTo>
                  <a:pt x="342245" y="393489"/>
                </a:lnTo>
                <a:lnTo>
                  <a:pt x="306721" y="380676"/>
                </a:lnTo>
                <a:lnTo>
                  <a:pt x="271558" y="366026"/>
                </a:lnTo>
                <a:lnTo>
                  <a:pt x="237142" y="349698"/>
                </a:lnTo>
                <a:lnTo>
                  <a:pt x="203850" y="331871"/>
                </a:lnTo>
                <a:lnTo>
                  <a:pt x="172046" y="312742"/>
                </a:lnTo>
                <a:lnTo>
                  <a:pt x="142080" y="292519"/>
                </a:lnTo>
                <a:lnTo>
                  <a:pt x="114279" y="271423"/>
                </a:lnTo>
                <a:lnTo>
                  <a:pt x="88948" y="249687"/>
                </a:lnTo>
                <a:lnTo>
                  <a:pt x="66364" y="227549"/>
                </a:lnTo>
                <a:lnTo>
                  <a:pt x="46776" y="205249"/>
                </a:lnTo>
                <a:lnTo>
                  <a:pt x="30397" y="183035"/>
                </a:lnTo>
                <a:lnTo>
                  <a:pt x="17407" y="161147"/>
                </a:lnTo>
                <a:lnTo>
                  <a:pt x="7948" y="139827"/>
                </a:lnTo>
                <a:lnTo>
                  <a:pt x="2125" y="119308"/>
                </a:lnTo>
                <a:lnTo>
                  <a:pt x="0" y="99814"/>
                </a:lnTo>
                <a:lnTo>
                  <a:pt x="1597" y="81560"/>
                </a:lnTo>
                <a:lnTo>
                  <a:pt x="6899" y="64745"/>
                </a:lnTo>
                <a:lnTo>
                  <a:pt x="15847" y="49554"/>
                </a:lnTo>
                <a:lnTo>
                  <a:pt x="28344" y="36153"/>
                </a:lnTo>
                <a:lnTo>
                  <a:pt x="44252" y="24688"/>
                </a:lnTo>
                <a:lnTo>
                  <a:pt x="63398" y="15286"/>
                </a:lnTo>
                <a:lnTo>
                  <a:pt x="85571" y="8049"/>
                </a:lnTo>
                <a:lnTo>
                  <a:pt x="110528" y="3057"/>
                </a:lnTo>
                <a:lnTo>
                  <a:pt x="137997" y="364"/>
                </a:lnTo>
                <a:lnTo>
                  <a:pt x="167675" y="0"/>
                </a:lnTo>
                <a:lnTo>
                  <a:pt x="199239" y="1969"/>
                </a:lnTo>
                <a:lnTo>
                  <a:pt x="232342" y="6249"/>
                </a:lnTo>
                <a:lnTo>
                  <a:pt x="266621" y="12794"/>
                </a:lnTo>
                <a:lnTo>
                  <a:pt x="301701" y="21531"/>
                </a:lnTo>
                <a:lnTo>
                  <a:pt x="337198" y="32366"/>
                </a:lnTo>
                <a:lnTo>
                  <a:pt x="372723" y="45179"/>
                </a:lnTo>
                <a:lnTo>
                  <a:pt x="407885" y="59829"/>
                </a:lnTo>
                <a:lnTo>
                  <a:pt x="442301" y="76157"/>
                </a:lnTo>
                <a:lnTo>
                  <a:pt x="475594" y="93983"/>
                </a:lnTo>
                <a:lnTo>
                  <a:pt x="507397" y="113113"/>
                </a:lnTo>
                <a:lnTo>
                  <a:pt x="537363" y="133336"/>
                </a:lnTo>
                <a:lnTo>
                  <a:pt x="565164" y="154431"/>
                </a:lnTo>
                <a:lnTo>
                  <a:pt x="590495" y="176168"/>
                </a:lnTo>
                <a:lnTo>
                  <a:pt x="613079" y="198306"/>
                </a:lnTo>
                <a:lnTo>
                  <a:pt x="632667" y="220605"/>
                </a:lnTo>
                <a:lnTo>
                  <a:pt x="649046" y="242820"/>
                </a:lnTo>
                <a:lnTo>
                  <a:pt x="662036" y="264708"/>
                </a:lnTo>
                <a:lnTo>
                  <a:pt x="671495" y="286028"/>
                </a:lnTo>
                <a:lnTo>
                  <a:pt x="677318" y="306547"/>
                </a:lnTo>
                <a:lnTo>
                  <a:pt x="679443" y="326041"/>
                </a:lnTo>
                <a:lnTo>
                  <a:pt x="677846" y="344295"/>
                </a:lnTo>
                <a:close/>
              </a:path>
            </a:pathLst>
          </a:custGeom>
          <a:ln w="6350">
            <a:solidFill>
              <a:srgbClr val="4F7A43"/>
            </a:solidFill>
            <a:prstDash val="dash"/>
          </a:ln>
        </p:spPr>
      </p:sp>
      <p:sp>
        <p:nvSpPr>
          <p:cNvPr id="184" name="Shape 182"/>
          <p:cNvSpPr/>
          <p:nvPr/>
        </p:nvSpPr>
        <p:spPr>
          <a:xfrm>
            <a:off x="3693758" y="5322414"/>
            <a:ext cx="324951" cy="203670"/>
          </a:xfrm>
          <a:custGeom>
            <a:avLst/>
            <a:gdLst/>
            <a:ahLst/>
            <a:cxnLst/>
            <a:rect l="l" t="t" r="r" b="b"/>
            <a:pathLst>
              <a:path w="324951" h="203670">
                <a:moveTo>
                  <a:pt x="321652" y="172705"/>
                </a:moveTo>
                <a:lnTo>
                  <a:pt x="317372" y="179970"/>
                </a:lnTo>
                <a:lnTo>
                  <a:pt x="311395" y="186379"/>
                </a:lnTo>
                <a:lnTo>
                  <a:pt x="303787" y="191863"/>
                </a:lnTo>
                <a:lnTo>
                  <a:pt x="294630" y="196359"/>
                </a:lnTo>
                <a:lnTo>
                  <a:pt x="284026" y="199820"/>
                </a:lnTo>
                <a:lnTo>
                  <a:pt x="272090" y="202208"/>
                </a:lnTo>
                <a:lnTo>
                  <a:pt x="258953" y="203496"/>
                </a:lnTo>
                <a:lnTo>
                  <a:pt x="244759" y="203670"/>
                </a:lnTo>
                <a:lnTo>
                  <a:pt x="229663" y="202728"/>
                </a:lnTo>
                <a:lnTo>
                  <a:pt x="213831" y="200681"/>
                </a:lnTo>
                <a:lnTo>
                  <a:pt x="197437" y="197551"/>
                </a:lnTo>
                <a:lnTo>
                  <a:pt x="180659" y="193372"/>
                </a:lnTo>
                <a:lnTo>
                  <a:pt x="163682" y="188190"/>
                </a:lnTo>
                <a:lnTo>
                  <a:pt x="146692" y="182063"/>
                </a:lnTo>
                <a:lnTo>
                  <a:pt x="129875" y="175056"/>
                </a:lnTo>
                <a:lnTo>
                  <a:pt x="113416" y="167247"/>
                </a:lnTo>
                <a:lnTo>
                  <a:pt x="97493" y="158721"/>
                </a:lnTo>
                <a:lnTo>
                  <a:pt x="82283" y="149572"/>
                </a:lnTo>
                <a:lnTo>
                  <a:pt x="67951" y="139900"/>
                </a:lnTo>
                <a:lnTo>
                  <a:pt x="54655" y="129811"/>
                </a:lnTo>
                <a:lnTo>
                  <a:pt x="42540" y="119416"/>
                </a:lnTo>
                <a:lnTo>
                  <a:pt x="31739" y="108828"/>
                </a:lnTo>
                <a:lnTo>
                  <a:pt x="22371" y="98163"/>
                </a:lnTo>
                <a:lnTo>
                  <a:pt x="14538" y="87538"/>
                </a:lnTo>
                <a:lnTo>
                  <a:pt x="8325" y="77070"/>
                </a:lnTo>
                <a:lnTo>
                  <a:pt x="3801" y="66874"/>
                </a:lnTo>
                <a:lnTo>
                  <a:pt x="1016" y="57060"/>
                </a:lnTo>
                <a:lnTo>
                  <a:pt x="0" y="47737"/>
                </a:lnTo>
                <a:lnTo>
                  <a:pt x="764" y="39007"/>
                </a:lnTo>
                <a:lnTo>
                  <a:pt x="3300" y="30965"/>
                </a:lnTo>
                <a:lnTo>
                  <a:pt x="7579" y="23700"/>
                </a:lnTo>
                <a:lnTo>
                  <a:pt x="13556" y="17290"/>
                </a:lnTo>
                <a:lnTo>
                  <a:pt x="21164" y="11807"/>
                </a:lnTo>
                <a:lnTo>
                  <a:pt x="30321" y="7311"/>
                </a:lnTo>
                <a:lnTo>
                  <a:pt x="40925" y="3849"/>
                </a:lnTo>
                <a:lnTo>
                  <a:pt x="52861" y="1462"/>
                </a:lnTo>
                <a:lnTo>
                  <a:pt x="65998" y="174"/>
                </a:lnTo>
                <a:lnTo>
                  <a:pt x="80193" y="0"/>
                </a:lnTo>
                <a:lnTo>
                  <a:pt x="95288" y="942"/>
                </a:lnTo>
                <a:lnTo>
                  <a:pt x="111120" y="2989"/>
                </a:lnTo>
                <a:lnTo>
                  <a:pt x="127514" y="6119"/>
                </a:lnTo>
                <a:lnTo>
                  <a:pt x="144292" y="10298"/>
                </a:lnTo>
                <a:lnTo>
                  <a:pt x="161269" y="15479"/>
                </a:lnTo>
                <a:lnTo>
                  <a:pt x="178259" y="21607"/>
                </a:lnTo>
                <a:lnTo>
                  <a:pt x="195076" y="28614"/>
                </a:lnTo>
                <a:lnTo>
                  <a:pt x="211535" y="36423"/>
                </a:lnTo>
                <a:lnTo>
                  <a:pt x="227458" y="44949"/>
                </a:lnTo>
                <a:lnTo>
                  <a:pt x="242668" y="54098"/>
                </a:lnTo>
                <a:lnTo>
                  <a:pt x="257000" y="63770"/>
                </a:lnTo>
                <a:lnTo>
                  <a:pt x="270296" y="73859"/>
                </a:lnTo>
                <a:lnTo>
                  <a:pt x="282411" y="84254"/>
                </a:lnTo>
                <a:lnTo>
                  <a:pt x="293212" y="94842"/>
                </a:lnTo>
                <a:lnTo>
                  <a:pt x="302580" y="105507"/>
                </a:lnTo>
                <a:lnTo>
                  <a:pt x="310413" y="116131"/>
                </a:lnTo>
                <a:lnTo>
                  <a:pt x="316626" y="126599"/>
                </a:lnTo>
                <a:lnTo>
                  <a:pt x="321150" y="136796"/>
                </a:lnTo>
                <a:lnTo>
                  <a:pt x="323935" y="146609"/>
                </a:lnTo>
                <a:lnTo>
                  <a:pt x="324951" y="155932"/>
                </a:lnTo>
                <a:lnTo>
                  <a:pt x="324187" y="164663"/>
                </a:lnTo>
                <a:close/>
              </a:path>
            </a:pathLst>
          </a:custGeom>
          <a:ln w="6350">
            <a:solidFill>
              <a:srgbClr val="4F7A43"/>
            </a:solidFill>
            <a:prstDash val="dash"/>
          </a:ln>
        </p:spPr>
      </p:sp>
      <p:sp>
        <p:nvSpPr>
          <p:cNvPr id="185" name="Shape 183"/>
          <p:cNvSpPr/>
          <p:nvPr/>
        </p:nvSpPr>
        <p:spPr>
          <a:xfrm>
            <a:off x="4389495" y="5668474"/>
            <a:ext cx="47362" cy="47362"/>
          </a:xfrm>
          <a:prstGeom prst="ellipse">
            <a:avLst/>
          </a:prstGeom>
          <a:solidFill>
            <a:srgbClr val="FFFFFF"/>
          </a:solidFill>
          <a:ln w="7620">
            <a:solidFill>
              <a:srgbClr val="4F7A43"/>
            </a:solidFill>
            <a:prstDash val="solid"/>
          </a:ln>
        </p:spPr>
      </p:sp>
      <p:sp>
        <p:nvSpPr>
          <p:cNvPr id="186" name="Shape 184"/>
          <p:cNvSpPr/>
          <p:nvPr/>
        </p:nvSpPr>
        <p:spPr>
          <a:xfrm>
            <a:off x="4323549" y="5741718"/>
            <a:ext cx="47362" cy="47362"/>
          </a:xfrm>
          <a:prstGeom prst="ellipse">
            <a:avLst/>
          </a:prstGeom>
          <a:solidFill>
            <a:srgbClr val="FFFFFF"/>
          </a:solidFill>
          <a:ln w="7620">
            <a:solidFill>
              <a:srgbClr val="4F7A43"/>
            </a:solidFill>
            <a:prstDash val="solid"/>
          </a:ln>
        </p:spPr>
      </p:sp>
      <p:sp>
        <p:nvSpPr>
          <p:cNvPr id="187" name="Shape 185"/>
          <p:cNvSpPr/>
          <p:nvPr/>
        </p:nvSpPr>
        <p:spPr>
          <a:xfrm>
            <a:off x="4207724" y="5783788"/>
            <a:ext cx="47362" cy="47362"/>
          </a:xfrm>
          <a:prstGeom prst="ellipse">
            <a:avLst/>
          </a:prstGeom>
          <a:solidFill>
            <a:srgbClr val="FFFFFF"/>
          </a:solidFill>
          <a:ln w="7620">
            <a:solidFill>
              <a:srgbClr val="4F7A43"/>
            </a:solidFill>
            <a:prstDash val="solid"/>
          </a:ln>
        </p:spPr>
      </p:sp>
      <p:sp>
        <p:nvSpPr>
          <p:cNvPr id="188" name="Shape 186"/>
          <p:cNvSpPr/>
          <p:nvPr/>
        </p:nvSpPr>
        <p:spPr>
          <a:xfrm>
            <a:off x="4052142" y="5791008"/>
            <a:ext cx="47362" cy="47362"/>
          </a:xfrm>
          <a:prstGeom prst="ellipse">
            <a:avLst/>
          </a:prstGeom>
          <a:solidFill>
            <a:srgbClr val="FFFFFF"/>
          </a:solidFill>
          <a:ln w="7620">
            <a:solidFill>
              <a:srgbClr val="4F7A43"/>
            </a:solidFill>
            <a:prstDash val="solid"/>
          </a:ln>
        </p:spPr>
      </p:sp>
      <p:sp>
        <p:nvSpPr>
          <p:cNvPr id="189" name="Shape 187"/>
          <p:cNvSpPr/>
          <p:nvPr/>
        </p:nvSpPr>
        <p:spPr>
          <a:xfrm>
            <a:off x="3870400" y="5762745"/>
            <a:ext cx="47362" cy="47362"/>
          </a:xfrm>
          <a:prstGeom prst="ellipse">
            <a:avLst/>
          </a:prstGeom>
          <a:solidFill>
            <a:srgbClr val="FFFFFF"/>
          </a:solidFill>
          <a:ln w="7620">
            <a:solidFill>
              <a:srgbClr val="4F7A43"/>
            </a:solidFill>
            <a:prstDash val="solid"/>
          </a:ln>
        </p:spPr>
      </p:sp>
      <p:sp>
        <p:nvSpPr>
          <p:cNvPr id="190" name="Shape 188"/>
          <p:cNvSpPr/>
          <p:nvPr/>
        </p:nvSpPr>
        <p:spPr>
          <a:xfrm>
            <a:off x="3678380" y="5701471"/>
            <a:ext cx="47362" cy="47362"/>
          </a:xfrm>
          <a:prstGeom prst="ellipse">
            <a:avLst/>
          </a:prstGeom>
          <a:solidFill>
            <a:srgbClr val="FFFFFF"/>
          </a:solidFill>
          <a:ln w="7620">
            <a:solidFill>
              <a:srgbClr val="4F7A43"/>
            </a:solidFill>
            <a:prstDash val="solid"/>
          </a:ln>
        </p:spPr>
      </p:sp>
      <p:sp>
        <p:nvSpPr>
          <p:cNvPr id="191" name="Shape 189"/>
          <p:cNvSpPr/>
          <p:nvPr/>
        </p:nvSpPr>
        <p:spPr>
          <a:xfrm>
            <a:off x="3492862" y="5612540"/>
            <a:ext cx="47362" cy="47362"/>
          </a:xfrm>
          <a:prstGeom prst="ellipse">
            <a:avLst/>
          </a:prstGeom>
          <a:solidFill>
            <a:srgbClr val="FFFFFF"/>
          </a:solidFill>
          <a:ln w="7620">
            <a:solidFill>
              <a:srgbClr val="4F7A43"/>
            </a:solidFill>
            <a:prstDash val="solid"/>
          </a:ln>
        </p:spPr>
      </p:sp>
      <p:sp>
        <p:nvSpPr>
          <p:cNvPr id="192" name="Shape 190"/>
          <p:cNvSpPr/>
          <p:nvPr/>
        </p:nvSpPr>
        <p:spPr>
          <a:xfrm>
            <a:off x="3330060" y="5503724"/>
            <a:ext cx="47362" cy="47362"/>
          </a:xfrm>
          <a:prstGeom prst="ellipse">
            <a:avLst/>
          </a:prstGeom>
          <a:solidFill>
            <a:srgbClr val="FFFFFF"/>
          </a:solidFill>
          <a:ln w="7620">
            <a:solidFill>
              <a:srgbClr val="4F7A43"/>
            </a:solidFill>
            <a:prstDash val="solid"/>
          </a:ln>
        </p:spPr>
      </p:sp>
      <p:sp>
        <p:nvSpPr>
          <p:cNvPr id="193" name="Shape 191"/>
          <p:cNvSpPr/>
          <p:nvPr/>
        </p:nvSpPr>
        <p:spPr>
          <a:xfrm>
            <a:off x="3204201" y="5384532"/>
            <a:ext cx="47362" cy="47362"/>
          </a:xfrm>
          <a:prstGeom prst="ellipse">
            <a:avLst/>
          </a:prstGeom>
          <a:solidFill>
            <a:srgbClr val="FFFFFF"/>
          </a:solidFill>
          <a:ln w="7620">
            <a:solidFill>
              <a:srgbClr val="4F7A43"/>
            </a:solidFill>
            <a:prstDash val="solid"/>
          </a:ln>
        </p:spPr>
      </p:sp>
      <p:sp>
        <p:nvSpPr>
          <p:cNvPr id="194" name="Shape 192"/>
          <p:cNvSpPr/>
          <p:nvPr/>
        </p:nvSpPr>
        <p:spPr>
          <a:xfrm>
            <a:off x="3126283" y="5265380"/>
            <a:ext cx="47362" cy="47362"/>
          </a:xfrm>
          <a:prstGeom prst="ellipse">
            <a:avLst/>
          </a:prstGeom>
          <a:solidFill>
            <a:srgbClr val="FFFFFF"/>
          </a:solidFill>
          <a:ln w="7620">
            <a:solidFill>
              <a:srgbClr val="4F7A43"/>
            </a:solidFill>
            <a:prstDash val="solid"/>
          </a:ln>
        </p:spPr>
      </p:sp>
      <p:sp>
        <p:nvSpPr>
          <p:cNvPr id="195" name="Shape 193"/>
          <p:cNvSpPr/>
          <p:nvPr/>
        </p:nvSpPr>
        <p:spPr>
          <a:xfrm>
            <a:off x="3103116" y="5156682"/>
            <a:ext cx="47362" cy="47362"/>
          </a:xfrm>
          <a:prstGeom prst="ellipse">
            <a:avLst/>
          </a:prstGeom>
          <a:solidFill>
            <a:srgbClr val="FFFFFF"/>
          </a:solidFill>
          <a:ln w="7620">
            <a:solidFill>
              <a:srgbClr val="4F7A43"/>
            </a:solidFill>
            <a:prstDash val="solid"/>
          </a:ln>
        </p:spPr>
      </p:sp>
      <p:sp>
        <p:nvSpPr>
          <p:cNvPr id="196" name="Shape 194"/>
          <p:cNvSpPr/>
          <p:nvPr/>
        </p:nvSpPr>
        <p:spPr>
          <a:xfrm>
            <a:off x="3136725" y="5067936"/>
            <a:ext cx="47362" cy="47362"/>
          </a:xfrm>
          <a:prstGeom prst="ellipse">
            <a:avLst/>
          </a:prstGeom>
          <a:solidFill>
            <a:srgbClr val="FFFFFF"/>
          </a:solidFill>
          <a:ln w="7620">
            <a:solidFill>
              <a:srgbClr val="4F7A43"/>
            </a:solidFill>
            <a:prstDash val="solid"/>
          </a:ln>
        </p:spPr>
      </p:sp>
      <p:sp>
        <p:nvSpPr>
          <p:cNvPr id="197" name="Shape 195"/>
          <p:cNvSpPr/>
          <p:nvPr/>
        </p:nvSpPr>
        <p:spPr>
          <a:xfrm>
            <a:off x="3224172" y="5006898"/>
            <a:ext cx="47362" cy="47362"/>
          </a:xfrm>
          <a:prstGeom prst="ellipse">
            <a:avLst/>
          </a:prstGeom>
          <a:solidFill>
            <a:srgbClr val="FFFFFF"/>
          </a:solidFill>
          <a:ln w="7620">
            <a:solidFill>
              <a:srgbClr val="4F7A43"/>
            </a:solidFill>
            <a:prstDash val="solid"/>
          </a:ln>
        </p:spPr>
      </p:sp>
      <p:sp>
        <p:nvSpPr>
          <p:cNvPr id="198" name="Shape 196"/>
          <p:cNvSpPr/>
          <p:nvPr/>
        </p:nvSpPr>
        <p:spPr>
          <a:xfrm>
            <a:off x="3357815" y="4978902"/>
            <a:ext cx="47362" cy="47362"/>
          </a:xfrm>
          <a:prstGeom prst="ellipse">
            <a:avLst/>
          </a:prstGeom>
          <a:solidFill>
            <a:srgbClr val="FFFFFF"/>
          </a:solidFill>
          <a:ln w="7620">
            <a:solidFill>
              <a:srgbClr val="4F7A43"/>
            </a:solidFill>
            <a:prstDash val="solid"/>
          </a:ln>
        </p:spPr>
      </p:sp>
      <p:sp>
        <p:nvSpPr>
          <p:cNvPr id="199" name="Shape 197"/>
          <p:cNvSpPr/>
          <p:nvPr/>
        </p:nvSpPr>
        <p:spPr>
          <a:xfrm>
            <a:off x="3525975" y="4986395"/>
            <a:ext cx="47362" cy="47362"/>
          </a:xfrm>
          <a:prstGeom prst="ellipse">
            <a:avLst/>
          </a:prstGeom>
          <a:solidFill>
            <a:srgbClr val="FFFFFF"/>
          </a:solidFill>
          <a:ln w="7620">
            <a:solidFill>
              <a:srgbClr val="4F7A43"/>
            </a:solidFill>
            <a:prstDash val="solid"/>
          </a:ln>
        </p:spPr>
      </p:sp>
      <p:sp>
        <p:nvSpPr>
          <p:cNvPr id="200" name="Shape 198"/>
          <p:cNvSpPr/>
          <p:nvPr/>
        </p:nvSpPr>
        <p:spPr>
          <a:xfrm>
            <a:off x="3713957" y="5028721"/>
            <a:ext cx="47362" cy="47362"/>
          </a:xfrm>
          <a:prstGeom prst="ellipse">
            <a:avLst/>
          </a:prstGeom>
          <a:solidFill>
            <a:srgbClr val="FFFFFF"/>
          </a:solidFill>
          <a:ln w="7620">
            <a:solidFill>
              <a:srgbClr val="4F7A43"/>
            </a:solidFill>
            <a:prstDash val="solid"/>
          </a:ln>
        </p:spPr>
      </p:sp>
      <p:sp>
        <p:nvSpPr>
          <p:cNvPr id="201" name="Shape 199"/>
          <p:cNvSpPr/>
          <p:nvPr/>
        </p:nvSpPr>
        <p:spPr>
          <a:xfrm>
            <a:off x="3905333" y="5102183"/>
            <a:ext cx="47362" cy="47362"/>
          </a:xfrm>
          <a:prstGeom prst="ellipse">
            <a:avLst/>
          </a:prstGeom>
          <a:solidFill>
            <a:srgbClr val="FFFFFF"/>
          </a:solidFill>
          <a:ln w="7620">
            <a:solidFill>
              <a:srgbClr val="4F7A43"/>
            </a:solidFill>
            <a:prstDash val="solid"/>
          </a:ln>
        </p:spPr>
      </p:sp>
      <p:sp>
        <p:nvSpPr>
          <p:cNvPr id="202" name="Shape 200"/>
          <p:cNvSpPr/>
          <p:nvPr/>
        </p:nvSpPr>
        <p:spPr>
          <a:xfrm>
            <a:off x="4083378" y="5200360"/>
            <a:ext cx="47362" cy="47362"/>
          </a:xfrm>
          <a:prstGeom prst="ellipse">
            <a:avLst/>
          </a:prstGeom>
          <a:solidFill>
            <a:srgbClr val="FFFFFF"/>
          </a:solidFill>
          <a:ln w="7620">
            <a:solidFill>
              <a:srgbClr val="4F7A43"/>
            </a:solidFill>
            <a:prstDash val="solid"/>
          </a:ln>
        </p:spPr>
      </p:sp>
      <p:sp>
        <p:nvSpPr>
          <p:cNvPr id="203" name="Shape 201"/>
          <p:cNvSpPr/>
          <p:nvPr/>
        </p:nvSpPr>
        <p:spPr>
          <a:xfrm>
            <a:off x="4232532" y="5314672"/>
            <a:ext cx="47362" cy="47362"/>
          </a:xfrm>
          <a:prstGeom prst="ellipse">
            <a:avLst/>
          </a:prstGeom>
          <a:solidFill>
            <a:srgbClr val="FFFFFF"/>
          </a:solidFill>
          <a:ln w="7620">
            <a:solidFill>
              <a:srgbClr val="4F7A43"/>
            </a:solidFill>
            <a:prstDash val="solid"/>
          </a:ln>
        </p:spPr>
      </p:sp>
      <p:sp>
        <p:nvSpPr>
          <p:cNvPr id="204" name="Shape 202"/>
          <p:cNvSpPr/>
          <p:nvPr/>
        </p:nvSpPr>
        <p:spPr>
          <a:xfrm>
            <a:off x="4339762" y="5435130"/>
            <a:ext cx="47362" cy="47362"/>
          </a:xfrm>
          <a:prstGeom prst="ellipse">
            <a:avLst/>
          </a:prstGeom>
          <a:solidFill>
            <a:srgbClr val="FFFFFF"/>
          </a:solidFill>
          <a:ln w="7620">
            <a:solidFill>
              <a:srgbClr val="4F7A43"/>
            </a:solidFill>
            <a:prstDash val="solid"/>
          </a:ln>
        </p:spPr>
      </p:sp>
      <p:sp>
        <p:nvSpPr>
          <p:cNvPr id="205" name="Shape 203"/>
          <p:cNvSpPr/>
          <p:nvPr/>
        </p:nvSpPr>
        <p:spPr>
          <a:xfrm>
            <a:off x="4395697" y="5551206"/>
            <a:ext cx="47362" cy="47362"/>
          </a:xfrm>
          <a:prstGeom prst="ellipse">
            <a:avLst/>
          </a:prstGeom>
          <a:solidFill>
            <a:srgbClr val="FFFFFF"/>
          </a:solidFill>
          <a:ln w="7620">
            <a:solidFill>
              <a:srgbClr val="4F7A43"/>
            </a:solidFill>
            <a:prstDash val="solid"/>
          </a:ln>
        </p:spPr>
      </p:sp>
      <p:sp>
        <p:nvSpPr>
          <p:cNvPr id="206" name="Shape 204"/>
          <p:cNvSpPr/>
          <p:nvPr/>
        </p:nvSpPr>
        <p:spPr>
          <a:xfrm>
            <a:off x="4395447" y="5652757"/>
            <a:ext cx="47362" cy="47362"/>
          </a:xfrm>
          <a:prstGeom prst="ellipse">
            <a:avLst/>
          </a:prstGeom>
          <a:solidFill>
            <a:srgbClr val="FFFFFF"/>
          </a:solidFill>
          <a:ln w="7620">
            <a:solidFill>
              <a:srgbClr val="4F7A43"/>
            </a:solidFill>
            <a:prstDash val="solid"/>
          </a:ln>
        </p:spPr>
      </p:sp>
      <p:sp>
        <p:nvSpPr>
          <p:cNvPr id="207" name="Shape 205"/>
          <p:cNvSpPr/>
          <p:nvPr/>
        </p:nvSpPr>
        <p:spPr>
          <a:xfrm rot="1440000">
            <a:off x="3757412" y="5346989"/>
            <a:ext cx="364320" cy="364320"/>
          </a:xfrm>
          <a:prstGeom prst="rect">
            <a:avLst/>
          </a:prstGeom>
          <a:solidFill>
            <a:srgbClr val="1B1B1B"/>
          </a:solidFill>
          <a:ln/>
        </p:spPr>
      </p:sp>
      <p:sp>
        <p:nvSpPr>
          <p:cNvPr id="208" name="Shape 206"/>
          <p:cNvSpPr/>
          <p:nvPr/>
        </p:nvSpPr>
        <p:spPr>
          <a:xfrm>
            <a:off x="4873752" y="529894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209" name="Shape 207"/>
          <p:cNvSpPr/>
          <p:nvPr/>
        </p:nvSpPr>
        <p:spPr>
          <a:xfrm>
            <a:off x="4974336" y="4160520"/>
            <a:ext cx="2212848" cy="2286000"/>
          </a:xfrm>
          <a:prstGeom prst="rect">
            <a:avLst/>
          </a:prstGeom>
          <a:solidFill>
            <a:srgbClr val="FFFFFF"/>
          </a:solidFill>
          <a:ln w="6350">
            <a:solidFill>
              <a:srgbClr val="D9D9D9"/>
            </a:solidFill>
            <a:prstDash val="solid"/>
          </a:ln>
        </p:spPr>
      </p:sp>
      <p:sp>
        <p:nvSpPr>
          <p:cNvPr id="210" name="Text 208"/>
          <p:cNvSpPr txBox="1"/>
          <p:nvPr/>
        </p:nvSpPr>
        <p:spPr>
          <a:xfrm>
            <a:off x="5047488" y="421538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03  </a:t>
            </a:r>
            <a:pPr indent="0" marL="0">
              <a:buNone/>
            </a:pPr>
            <a:r>
              <a:rPr lang="en-US" sz="750" b="1" spc="50" kern="0" dirty="0">
                <a:solidFill>
                  <a:srgbClr val="1B1B1B"/>
                </a:solidFill>
                <a:latin typeface="Arial" pitchFamily="34" charset="0"/>
                <a:ea typeface="Arial" pitchFamily="34" charset="-122"/>
                <a:cs typeface="Arial" pitchFamily="34" charset="-120"/>
              </a:rPr>
              <a:t>CARVE VOID</a:t>
            </a:r>
            <a:endParaRPr lang="en-US" sz="750" dirty="0"/>
          </a:p>
        </p:txBody>
      </p:sp>
      <p:sp>
        <p:nvSpPr>
          <p:cNvPr id="211" name="Shape 209"/>
          <p:cNvSpPr/>
          <p:nvPr/>
        </p:nvSpPr>
        <p:spPr>
          <a:xfrm>
            <a:off x="5029200" y="6125017"/>
            <a:ext cx="2103120" cy="9144"/>
          </a:xfrm>
          <a:custGeom>
            <a:avLst/>
            <a:gdLst/>
            <a:ahLst/>
            <a:cxnLst/>
            <a:rect l="l" t="t" r="r" b="b"/>
            <a:pathLst>
              <a:path w="2103120" h="9144">
                <a:moveTo>
                  <a:pt x="0" y="4572"/>
                </a:moveTo>
                <a:lnTo>
                  <a:pt x="2103120" y="4572"/>
                </a:lnTo>
              </a:path>
            </a:pathLst>
          </a:custGeom>
          <a:ln w="15875">
            <a:solidFill>
              <a:srgbClr val="1B1B1B"/>
            </a:solidFill>
            <a:prstDash val="solid"/>
          </a:ln>
        </p:spPr>
      </p:sp>
      <p:sp>
        <p:nvSpPr>
          <p:cNvPr id="212" name="Shape 210"/>
          <p:cNvSpPr/>
          <p:nvPr/>
        </p:nvSpPr>
        <p:spPr>
          <a:xfrm>
            <a:off x="5554980" y="4767864"/>
            <a:ext cx="1051560" cy="1361724"/>
          </a:xfrm>
          <a:prstGeom prst="rect">
            <a:avLst/>
          </a:prstGeom>
          <a:solidFill>
            <a:srgbClr val="FFFFFF"/>
          </a:solidFill>
          <a:ln w="12700">
            <a:solidFill>
              <a:srgbClr val="1B1B1B"/>
            </a:solidFill>
            <a:prstDash val="solid"/>
          </a:ln>
        </p:spPr>
      </p:sp>
      <p:sp>
        <p:nvSpPr>
          <p:cNvPr id="213" name="Shape 211"/>
          <p:cNvSpPr/>
          <p:nvPr/>
        </p:nvSpPr>
        <p:spPr>
          <a:xfrm>
            <a:off x="5554980" y="5852672"/>
            <a:ext cx="1051560" cy="9144"/>
          </a:xfrm>
          <a:custGeom>
            <a:avLst/>
            <a:gdLst/>
            <a:ahLst/>
            <a:cxnLst/>
            <a:rect l="l" t="t" r="r" b="b"/>
            <a:pathLst>
              <a:path w="1051560" h="9144">
                <a:moveTo>
                  <a:pt x="0" y="4572"/>
                </a:moveTo>
                <a:lnTo>
                  <a:pt x="1051560" y="4572"/>
                </a:lnTo>
              </a:path>
            </a:pathLst>
          </a:custGeom>
          <a:ln w="6350">
            <a:solidFill>
              <a:srgbClr val="D9D9D9"/>
            </a:solidFill>
            <a:prstDash val="solid"/>
          </a:ln>
        </p:spPr>
      </p:sp>
      <p:sp>
        <p:nvSpPr>
          <p:cNvPr id="214" name="Shape 212"/>
          <p:cNvSpPr/>
          <p:nvPr/>
        </p:nvSpPr>
        <p:spPr>
          <a:xfrm>
            <a:off x="5554980" y="5580327"/>
            <a:ext cx="1051560" cy="9144"/>
          </a:xfrm>
          <a:custGeom>
            <a:avLst/>
            <a:gdLst/>
            <a:ahLst/>
            <a:cxnLst/>
            <a:rect l="l" t="t" r="r" b="b"/>
            <a:pathLst>
              <a:path w="1051560" h="9144">
                <a:moveTo>
                  <a:pt x="0" y="4572"/>
                </a:moveTo>
                <a:lnTo>
                  <a:pt x="1051560" y="4572"/>
                </a:lnTo>
              </a:path>
            </a:pathLst>
          </a:custGeom>
          <a:ln w="6350">
            <a:solidFill>
              <a:srgbClr val="D9D9D9"/>
            </a:solidFill>
            <a:prstDash val="solid"/>
          </a:ln>
        </p:spPr>
      </p:sp>
      <p:sp>
        <p:nvSpPr>
          <p:cNvPr id="215" name="Shape 213"/>
          <p:cNvSpPr/>
          <p:nvPr/>
        </p:nvSpPr>
        <p:spPr>
          <a:xfrm>
            <a:off x="5554980" y="5307982"/>
            <a:ext cx="1051560" cy="9144"/>
          </a:xfrm>
          <a:custGeom>
            <a:avLst/>
            <a:gdLst/>
            <a:ahLst/>
            <a:cxnLst/>
            <a:rect l="l" t="t" r="r" b="b"/>
            <a:pathLst>
              <a:path w="1051560" h="9144">
                <a:moveTo>
                  <a:pt x="0" y="4572"/>
                </a:moveTo>
                <a:lnTo>
                  <a:pt x="1051560" y="4572"/>
                </a:lnTo>
              </a:path>
            </a:pathLst>
          </a:custGeom>
          <a:ln w="6350">
            <a:solidFill>
              <a:srgbClr val="D9D9D9"/>
            </a:solidFill>
            <a:prstDash val="solid"/>
          </a:ln>
        </p:spPr>
      </p:sp>
      <p:sp>
        <p:nvSpPr>
          <p:cNvPr id="216" name="Shape 214"/>
          <p:cNvSpPr/>
          <p:nvPr/>
        </p:nvSpPr>
        <p:spPr>
          <a:xfrm>
            <a:off x="5554980" y="5035637"/>
            <a:ext cx="1051560" cy="9144"/>
          </a:xfrm>
          <a:custGeom>
            <a:avLst/>
            <a:gdLst/>
            <a:ahLst/>
            <a:cxnLst/>
            <a:rect l="l" t="t" r="r" b="b"/>
            <a:pathLst>
              <a:path w="1051560" h="9144">
                <a:moveTo>
                  <a:pt x="0" y="4572"/>
                </a:moveTo>
                <a:lnTo>
                  <a:pt x="1051560" y="4572"/>
                </a:lnTo>
              </a:path>
            </a:pathLst>
          </a:custGeom>
          <a:ln w="6350">
            <a:solidFill>
              <a:srgbClr val="D9D9D9"/>
            </a:solidFill>
            <a:prstDash val="solid"/>
          </a:ln>
        </p:spPr>
      </p:sp>
      <p:sp>
        <p:nvSpPr>
          <p:cNvPr id="217" name="Shape 215"/>
          <p:cNvSpPr/>
          <p:nvPr/>
        </p:nvSpPr>
        <p:spPr>
          <a:xfrm>
            <a:off x="5870448" y="4767864"/>
            <a:ext cx="420624" cy="1361724"/>
          </a:xfrm>
          <a:prstGeom prst="rect">
            <a:avLst/>
          </a:prstGeom>
          <a:solidFill>
            <a:srgbClr val="FFFFFF"/>
          </a:solidFill>
          <a:ln w="12700">
            <a:solidFill>
              <a:srgbClr val="C4262E"/>
            </a:solidFill>
            <a:prstDash val="dash"/>
          </a:ln>
        </p:spPr>
      </p:sp>
      <p:sp>
        <p:nvSpPr>
          <p:cNvPr id="218" name="Text 216"/>
          <p:cNvSpPr txBox="1"/>
          <p:nvPr/>
        </p:nvSpPr>
        <p:spPr>
          <a:xfrm>
            <a:off x="5715000" y="4612416"/>
            <a:ext cx="731520" cy="146304"/>
          </a:xfrm>
          <a:prstGeom prst="rect">
            <a:avLst/>
          </a:prstGeom>
          <a:noFill/>
          <a:ln/>
        </p:spPr>
        <p:txBody>
          <a:bodyPr wrap="square" lIns="0" tIns="0" rIns="0" bIns="0" rtlCol="0" anchor="ctr"/>
          <a:lstStyle/>
          <a:p>
            <a:pPr algn="ctr" indent="0" marL="0">
              <a:buNone/>
            </a:pPr>
            <a:r>
              <a:rPr lang="en-US" sz="550" dirty="0">
                <a:solidFill>
                  <a:srgbClr val="C4262E"/>
                </a:solidFill>
                <a:latin typeface="Arial" pitchFamily="34" charset="0"/>
                <a:ea typeface="Arial" pitchFamily="34" charset="-122"/>
                <a:cs typeface="Arial" pitchFamily="34" charset="-120"/>
              </a:rPr>
              <a:t>carved void</a:t>
            </a:r>
            <a:endParaRPr lang="en-US" sz="550" dirty="0"/>
          </a:p>
        </p:txBody>
      </p:sp>
      <p:sp>
        <p:nvSpPr>
          <p:cNvPr id="219" name="Text 217"/>
          <p:cNvSpPr txBox="1"/>
          <p:nvPr/>
        </p:nvSpPr>
        <p:spPr>
          <a:xfrm>
            <a:off x="6606540" y="5384719"/>
            <a:ext cx="54864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4–5 floors</a:t>
            </a:r>
            <a:endParaRPr lang="en-US" sz="550" dirty="0"/>
          </a:p>
        </p:txBody>
      </p:sp>
      <p:sp>
        <p:nvSpPr>
          <p:cNvPr id="220" name="Shape 218"/>
          <p:cNvSpPr/>
          <p:nvPr/>
        </p:nvSpPr>
        <p:spPr>
          <a:xfrm>
            <a:off x="7178040" y="529894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221" name="Shape 219"/>
          <p:cNvSpPr/>
          <p:nvPr/>
        </p:nvSpPr>
        <p:spPr>
          <a:xfrm>
            <a:off x="7278624" y="4160520"/>
            <a:ext cx="2212848" cy="2286000"/>
          </a:xfrm>
          <a:prstGeom prst="rect">
            <a:avLst/>
          </a:prstGeom>
          <a:solidFill>
            <a:srgbClr val="FFFFFF"/>
          </a:solidFill>
          <a:ln w="6350">
            <a:solidFill>
              <a:srgbClr val="D9D9D9"/>
            </a:solidFill>
            <a:prstDash val="solid"/>
          </a:ln>
        </p:spPr>
      </p:sp>
      <p:sp>
        <p:nvSpPr>
          <p:cNvPr id="222" name="Text 220"/>
          <p:cNvSpPr txBox="1"/>
          <p:nvPr/>
        </p:nvSpPr>
        <p:spPr>
          <a:xfrm>
            <a:off x="7351776" y="421538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04  </a:t>
            </a:r>
            <a:pPr indent="0" marL="0">
              <a:buNone/>
            </a:pPr>
            <a:r>
              <a:rPr lang="en-US" sz="750" b="1" spc="50" kern="0" dirty="0">
                <a:solidFill>
                  <a:srgbClr val="1B1B1B"/>
                </a:solidFill>
                <a:latin typeface="Arial" pitchFamily="34" charset="0"/>
                <a:ea typeface="Arial" pitchFamily="34" charset="-122"/>
                <a:cs typeface="Arial" pitchFamily="34" charset="-120"/>
              </a:rPr>
              <a:t>WRAP WORK</a:t>
            </a:r>
            <a:endParaRPr lang="en-US" sz="750" dirty="0"/>
          </a:p>
        </p:txBody>
      </p:sp>
      <p:sp>
        <p:nvSpPr>
          <p:cNvPr id="223" name="Shape 221"/>
          <p:cNvSpPr/>
          <p:nvPr/>
        </p:nvSpPr>
        <p:spPr>
          <a:xfrm>
            <a:off x="7463881" y="4487509"/>
            <a:ext cx="1842333" cy="1842333"/>
          </a:xfrm>
          <a:prstGeom prst="rect">
            <a:avLst/>
          </a:prstGeom>
          <a:solidFill>
            <a:srgbClr val="9A9A9A"/>
          </a:solidFill>
          <a:ln/>
        </p:spPr>
      </p:sp>
      <p:sp>
        <p:nvSpPr>
          <p:cNvPr id="224" name="Shape 222"/>
          <p:cNvSpPr/>
          <p:nvPr/>
        </p:nvSpPr>
        <p:spPr>
          <a:xfrm>
            <a:off x="7970523" y="4994151"/>
            <a:ext cx="829050" cy="829050"/>
          </a:xfrm>
          <a:prstGeom prst="rect">
            <a:avLst/>
          </a:prstGeom>
          <a:solidFill>
            <a:srgbClr val="C4262E"/>
          </a:solidFill>
          <a:ln/>
        </p:spPr>
      </p:sp>
      <p:sp>
        <p:nvSpPr>
          <p:cNvPr id="225" name="Text 223"/>
          <p:cNvSpPr txBox="1"/>
          <p:nvPr/>
        </p:nvSpPr>
        <p:spPr>
          <a:xfrm>
            <a:off x="7970523" y="4994151"/>
            <a:ext cx="829050" cy="829050"/>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PUBLIC HALL</a:t>
            </a:r>
            <a:endParaRPr lang="en-US" sz="500" dirty="0"/>
          </a:p>
          <a:p>
            <a:pPr algn="ctr" indent="0" marL="0">
              <a:buNone/>
            </a:pPr>
            <a:r>
              <a:rPr lang="en-US" sz="500" b="1" dirty="0">
                <a:solidFill>
                  <a:srgbClr val="FFFFFF"/>
                </a:solidFill>
                <a:latin typeface="Arial" pitchFamily="34" charset="0"/>
                <a:ea typeface="Arial" pitchFamily="34" charset="-122"/>
                <a:cs typeface="Arial" pitchFamily="34" charset="-120"/>
              </a:rPr>
              <a:t>forum · exhibition</a:t>
            </a:r>
            <a:endParaRPr lang="en-US" sz="500" dirty="0"/>
          </a:p>
        </p:txBody>
      </p:sp>
      <p:sp>
        <p:nvSpPr>
          <p:cNvPr id="226" name="Text 224"/>
          <p:cNvSpPr txBox="1"/>
          <p:nvPr/>
        </p:nvSpPr>
        <p:spPr>
          <a:xfrm>
            <a:off x="8019288" y="4663072"/>
            <a:ext cx="731520" cy="146304"/>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NEWSROOM</a:t>
            </a:r>
            <a:endParaRPr lang="en-US" sz="500" dirty="0"/>
          </a:p>
        </p:txBody>
      </p:sp>
      <p:sp>
        <p:nvSpPr>
          <p:cNvPr id="227" name="Text 225"/>
          <p:cNvSpPr txBox="1"/>
          <p:nvPr/>
        </p:nvSpPr>
        <p:spPr>
          <a:xfrm>
            <a:off x="8691740" y="5335524"/>
            <a:ext cx="731520" cy="146304"/>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RECORDING</a:t>
            </a:r>
            <a:endParaRPr lang="en-US" sz="500" dirty="0"/>
          </a:p>
        </p:txBody>
      </p:sp>
      <p:sp>
        <p:nvSpPr>
          <p:cNvPr id="228" name="Text 226"/>
          <p:cNvSpPr txBox="1"/>
          <p:nvPr/>
        </p:nvSpPr>
        <p:spPr>
          <a:xfrm>
            <a:off x="8019288" y="6007976"/>
            <a:ext cx="731520" cy="146304"/>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PUBLISHING</a:t>
            </a:r>
            <a:endParaRPr lang="en-US" sz="500" dirty="0"/>
          </a:p>
        </p:txBody>
      </p:sp>
      <p:sp>
        <p:nvSpPr>
          <p:cNvPr id="229" name="Text 227"/>
          <p:cNvSpPr txBox="1"/>
          <p:nvPr/>
        </p:nvSpPr>
        <p:spPr>
          <a:xfrm>
            <a:off x="7346836" y="5335524"/>
            <a:ext cx="731520" cy="146304"/>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LIBRARY</a:t>
            </a:r>
            <a:endParaRPr lang="en-US" sz="500" dirty="0"/>
          </a:p>
        </p:txBody>
      </p:sp>
      <p:sp>
        <p:nvSpPr>
          <p:cNvPr id="230" name="Shape 228"/>
          <p:cNvSpPr/>
          <p:nvPr/>
        </p:nvSpPr>
        <p:spPr>
          <a:xfrm>
            <a:off x="7537575" y="4561203"/>
            <a:ext cx="184233" cy="184233"/>
          </a:xfrm>
          <a:prstGeom prst="rect">
            <a:avLst/>
          </a:prstGeom>
          <a:solidFill>
            <a:srgbClr val="1B1B1B"/>
          </a:solidFill>
          <a:ln/>
        </p:spPr>
      </p:sp>
      <p:sp>
        <p:nvSpPr>
          <p:cNvPr id="231" name="Shape 229"/>
          <p:cNvSpPr/>
          <p:nvPr/>
        </p:nvSpPr>
        <p:spPr>
          <a:xfrm>
            <a:off x="9048288" y="4561203"/>
            <a:ext cx="184233" cy="184233"/>
          </a:xfrm>
          <a:prstGeom prst="rect">
            <a:avLst/>
          </a:prstGeom>
          <a:solidFill>
            <a:srgbClr val="1B1B1B"/>
          </a:solidFill>
          <a:ln/>
        </p:spPr>
      </p:sp>
      <p:sp>
        <p:nvSpPr>
          <p:cNvPr id="232" name="Shape 230"/>
          <p:cNvSpPr/>
          <p:nvPr/>
        </p:nvSpPr>
        <p:spPr>
          <a:xfrm>
            <a:off x="9048288" y="6071916"/>
            <a:ext cx="184233" cy="184233"/>
          </a:xfrm>
          <a:prstGeom prst="rect">
            <a:avLst/>
          </a:prstGeom>
          <a:solidFill>
            <a:srgbClr val="1B1B1B"/>
          </a:solidFill>
          <a:ln/>
        </p:spPr>
      </p:sp>
      <p:sp>
        <p:nvSpPr>
          <p:cNvPr id="233" name="Shape 231"/>
          <p:cNvSpPr/>
          <p:nvPr/>
        </p:nvSpPr>
        <p:spPr>
          <a:xfrm>
            <a:off x="7537575" y="6071916"/>
            <a:ext cx="184233" cy="184233"/>
          </a:xfrm>
          <a:prstGeom prst="rect">
            <a:avLst/>
          </a:prstGeom>
          <a:solidFill>
            <a:srgbClr val="1B1B1B"/>
          </a:solidFill>
          <a:ln/>
        </p:spPr>
      </p:sp>
      <p:sp>
        <p:nvSpPr>
          <p:cNvPr id="234" name="Shape 232"/>
          <p:cNvSpPr/>
          <p:nvPr/>
        </p:nvSpPr>
        <p:spPr>
          <a:xfrm>
            <a:off x="9482328" y="5298948"/>
            <a:ext cx="109728" cy="9144"/>
          </a:xfrm>
          <a:custGeom>
            <a:avLst/>
            <a:gdLst/>
            <a:ahLst/>
            <a:cxnLst/>
            <a:rect l="l" t="t" r="r" b="b"/>
            <a:pathLst>
              <a:path w="109728" h="9144">
                <a:moveTo>
                  <a:pt x="0" y="4572"/>
                </a:moveTo>
                <a:lnTo>
                  <a:pt x="109728" y="4572"/>
                </a:lnTo>
              </a:path>
            </a:pathLst>
          </a:custGeom>
          <a:ln w="12700">
            <a:solidFill>
              <a:srgbClr val="1B1B1B"/>
            </a:solidFill>
            <a:prstDash val="solid"/>
            <a:tailEnd type="triangle"/>
          </a:ln>
        </p:spPr>
      </p:sp>
      <p:sp>
        <p:nvSpPr>
          <p:cNvPr id="235" name="Shape 233"/>
          <p:cNvSpPr/>
          <p:nvPr/>
        </p:nvSpPr>
        <p:spPr>
          <a:xfrm>
            <a:off x="9582912" y="4160520"/>
            <a:ext cx="2212848" cy="2286000"/>
          </a:xfrm>
          <a:prstGeom prst="rect">
            <a:avLst/>
          </a:prstGeom>
          <a:solidFill>
            <a:srgbClr val="FFFFFF"/>
          </a:solidFill>
          <a:ln w="6350">
            <a:solidFill>
              <a:srgbClr val="D9D9D9"/>
            </a:solidFill>
            <a:prstDash val="solid"/>
          </a:ln>
        </p:spPr>
      </p:sp>
      <p:sp>
        <p:nvSpPr>
          <p:cNvPr id="236" name="Text 234"/>
          <p:cNvSpPr txBox="1"/>
          <p:nvPr/>
        </p:nvSpPr>
        <p:spPr>
          <a:xfrm>
            <a:off x="9656064" y="4215384"/>
            <a:ext cx="2066544" cy="164592"/>
          </a:xfrm>
          <a:prstGeom prst="rect">
            <a:avLst/>
          </a:prstGeom>
          <a:noFill/>
          <a:ln/>
        </p:spPr>
        <p:txBody>
          <a:bodyPr wrap="square" lIns="0" tIns="0" rIns="0" bIns="0" rtlCol="0" anchor="t"/>
          <a:lstStyle/>
          <a:p>
            <a:pPr indent="0" marL="0">
              <a:buNone/>
            </a:pPr>
            <a:r>
              <a:rPr lang="en-US" sz="750" b="1" spc="50" kern="0" dirty="0">
                <a:solidFill>
                  <a:srgbClr val="C4262E"/>
                </a:solidFill>
                <a:latin typeface="Arial" pitchFamily="34" charset="0"/>
                <a:ea typeface="Arial" pitchFamily="34" charset="-122"/>
                <a:cs typeface="Arial" pitchFamily="34" charset="-120"/>
              </a:rPr>
              <a:t>05  </a:t>
            </a:r>
            <a:pPr indent="0" marL="0">
              <a:buNone/>
            </a:pPr>
            <a:r>
              <a:rPr lang="en-US" sz="750" b="1" spc="50" kern="0" dirty="0">
                <a:solidFill>
                  <a:srgbClr val="1B1B1B"/>
                </a:solidFill>
                <a:latin typeface="Arial" pitchFamily="34" charset="0"/>
                <a:ea typeface="Arial" pitchFamily="34" charset="-122"/>
                <a:cs typeface="Arial" pitchFamily="34" charset="-120"/>
              </a:rPr>
              <a:t>OPEN TO HILL</a:t>
            </a:r>
            <a:endParaRPr lang="en-US" sz="750" dirty="0"/>
          </a:p>
        </p:txBody>
      </p:sp>
      <p:sp>
        <p:nvSpPr>
          <p:cNvPr id="237" name="Shape 235"/>
          <p:cNvSpPr/>
          <p:nvPr/>
        </p:nvSpPr>
        <p:spPr>
          <a:xfrm>
            <a:off x="9803106" y="4853213"/>
            <a:ext cx="1772461" cy="1110926"/>
          </a:xfrm>
          <a:custGeom>
            <a:avLst/>
            <a:gdLst/>
            <a:ahLst/>
            <a:cxnLst/>
            <a:rect l="l" t="t" r="r" b="b"/>
            <a:pathLst>
              <a:path w="1772461" h="1110926">
                <a:moveTo>
                  <a:pt x="1754463" y="942025"/>
                </a:moveTo>
                <a:lnTo>
                  <a:pt x="1731120" y="981655"/>
                </a:lnTo>
                <a:lnTo>
                  <a:pt x="1698520" y="1016615"/>
                </a:lnTo>
                <a:lnTo>
                  <a:pt x="1657020" y="1046523"/>
                </a:lnTo>
                <a:lnTo>
                  <a:pt x="1607075" y="1071050"/>
                </a:lnTo>
                <a:lnTo>
                  <a:pt x="1549233" y="1089929"/>
                </a:lnTo>
                <a:lnTo>
                  <a:pt x="1484126" y="1102952"/>
                </a:lnTo>
                <a:lnTo>
                  <a:pt x="1412469" y="1109977"/>
                </a:lnTo>
                <a:lnTo>
                  <a:pt x="1335046" y="1110926"/>
                </a:lnTo>
                <a:lnTo>
                  <a:pt x="1252706" y="1105789"/>
                </a:lnTo>
                <a:lnTo>
                  <a:pt x="1166351" y="1094623"/>
                </a:lnTo>
                <a:lnTo>
                  <a:pt x="1076927" y="1077550"/>
                </a:lnTo>
                <a:lnTo>
                  <a:pt x="985413" y="1054757"/>
                </a:lnTo>
                <a:lnTo>
                  <a:pt x="892813" y="1026493"/>
                </a:lnTo>
                <a:lnTo>
                  <a:pt x="800141" y="993069"/>
                </a:lnTo>
                <a:lnTo>
                  <a:pt x="708412" y="954850"/>
                </a:lnTo>
                <a:lnTo>
                  <a:pt x="618631" y="912255"/>
                </a:lnTo>
                <a:lnTo>
                  <a:pt x="531782" y="865752"/>
                </a:lnTo>
                <a:lnTo>
                  <a:pt x="448816" y="815848"/>
                </a:lnTo>
                <a:lnTo>
                  <a:pt x="370643" y="763092"/>
                </a:lnTo>
                <a:lnTo>
                  <a:pt x="298119" y="708061"/>
                </a:lnTo>
                <a:lnTo>
                  <a:pt x="232038" y="651358"/>
                </a:lnTo>
                <a:lnTo>
                  <a:pt x="173124" y="593605"/>
                </a:lnTo>
                <a:lnTo>
                  <a:pt x="122024" y="535433"/>
                </a:lnTo>
                <a:lnTo>
                  <a:pt x="79296" y="477481"/>
                </a:lnTo>
                <a:lnTo>
                  <a:pt x="45409" y="420384"/>
                </a:lnTo>
                <a:lnTo>
                  <a:pt x="20735" y="364766"/>
                </a:lnTo>
                <a:lnTo>
                  <a:pt x="5543" y="311238"/>
                </a:lnTo>
                <a:lnTo>
                  <a:pt x="0" y="260385"/>
                </a:lnTo>
                <a:lnTo>
                  <a:pt x="4167" y="212766"/>
                </a:lnTo>
                <a:lnTo>
                  <a:pt x="17998" y="168901"/>
                </a:lnTo>
                <a:lnTo>
                  <a:pt x="41341" y="129271"/>
                </a:lnTo>
                <a:lnTo>
                  <a:pt x="73941" y="94311"/>
                </a:lnTo>
                <a:lnTo>
                  <a:pt x="115441" y="64403"/>
                </a:lnTo>
                <a:lnTo>
                  <a:pt x="165386" y="39876"/>
                </a:lnTo>
                <a:lnTo>
                  <a:pt x="223228" y="20997"/>
                </a:lnTo>
                <a:lnTo>
                  <a:pt x="288334" y="7974"/>
                </a:lnTo>
                <a:lnTo>
                  <a:pt x="359992" y="949"/>
                </a:lnTo>
                <a:lnTo>
                  <a:pt x="437414" y="0"/>
                </a:lnTo>
                <a:lnTo>
                  <a:pt x="519754" y="5137"/>
                </a:lnTo>
                <a:lnTo>
                  <a:pt x="606109" y="16303"/>
                </a:lnTo>
                <a:lnTo>
                  <a:pt x="695534" y="33376"/>
                </a:lnTo>
                <a:lnTo>
                  <a:pt x="787047" y="56169"/>
                </a:lnTo>
                <a:lnTo>
                  <a:pt x="879647" y="84433"/>
                </a:lnTo>
                <a:lnTo>
                  <a:pt x="972320" y="117857"/>
                </a:lnTo>
                <a:lnTo>
                  <a:pt x="1064049" y="156076"/>
                </a:lnTo>
                <a:lnTo>
                  <a:pt x="1153830" y="198671"/>
                </a:lnTo>
                <a:lnTo>
                  <a:pt x="1240679" y="245174"/>
                </a:lnTo>
                <a:lnTo>
                  <a:pt x="1323644" y="295078"/>
                </a:lnTo>
                <a:lnTo>
                  <a:pt x="1401818" y="347834"/>
                </a:lnTo>
                <a:lnTo>
                  <a:pt x="1474342" y="402865"/>
                </a:lnTo>
                <a:lnTo>
                  <a:pt x="1540423" y="459568"/>
                </a:lnTo>
                <a:lnTo>
                  <a:pt x="1599336" y="517321"/>
                </a:lnTo>
                <a:lnTo>
                  <a:pt x="1650437" y="575492"/>
                </a:lnTo>
                <a:lnTo>
                  <a:pt x="1693164" y="633444"/>
                </a:lnTo>
                <a:lnTo>
                  <a:pt x="1727051" y="690542"/>
                </a:lnTo>
                <a:lnTo>
                  <a:pt x="1751726" y="746160"/>
                </a:lnTo>
                <a:lnTo>
                  <a:pt x="1766918" y="799688"/>
                </a:lnTo>
                <a:lnTo>
                  <a:pt x="1772461" y="850541"/>
                </a:lnTo>
                <a:lnTo>
                  <a:pt x="1768294" y="898160"/>
                </a:lnTo>
                <a:close/>
              </a:path>
            </a:pathLst>
          </a:custGeom>
          <a:solidFill>
            <a:srgbClr val="E4E4E4"/>
          </a:solidFill>
          <a:ln w="12700"/>
        </p:spPr>
      </p:sp>
      <p:sp>
        <p:nvSpPr>
          <p:cNvPr id="238" name="Shape 236"/>
          <p:cNvSpPr/>
          <p:nvPr/>
        </p:nvSpPr>
        <p:spPr>
          <a:xfrm>
            <a:off x="9637776" y="4976394"/>
            <a:ext cx="183327" cy="45720"/>
          </a:xfrm>
          <a:custGeom>
            <a:avLst/>
            <a:gdLst/>
            <a:ahLst/>
            <a:cxnLst/>
            <a:rect l="l" t="t" r="r" b="b"/>
            <a:pathLst>
              <a:path w="183327" h="45720">
                <a:moveTo>
                  <a:pt x="183327" y="45720"/>
                </a:moveTo>
                <a:lnTo>
                  <a:pt x="0" y="0"/>
                </a:lnTo>
              </a:path>
            </a:pathLst>
          </a:custGeom>
          <a:ln w="76200">
            <a:solidFill>
              <a:srgbClr val="E4E4E4"/>
            </a:solidFill>
            <a:prstDash val="solid"/>
          </a:ln>
        </p:spPr>
      </p:sp>
      <p:sp>
        <p:nvSpPr>
          <p:cNvPr id="239" name="Shape 237"/>
          <p:cNvSpPr/>
          <p:nvPr/>
        </p:nvSpPr>
        <p:spPr>
          <a:xfrm>
            <a:off x="11557569" y="5795238"/>
            <a:ext cx="183327" cy="45720"/>
          </a:xfrm>
          <a:custGeom>
            <a:avLst/>
            <a:gdLst/>
            <a:ahLst/>
            <a:cxnLst/>
            <a:rect l="l" t="t" r="r" b="b"/>
            <a:pathLst>
              <a:path w="183327" h="45720">
                <a:moveTo>
                  <a:pt x="0" y="0"/>
                </a:moveTo>
                <a:lnTo>
                  <a:pt x="183327" y="45720"/>
                </a:lnTo>
              </a:path>
            </a:pathLst>
          </a:custGeom>
          <a:ln w="76200">
            <a:solidFill>
              <a:srgbClr val="E4E4E4"/>
            </a:solidFill>
            <a:prstDash val="solid"/>
          </a:ln>
        </p:spPr>
      </p:sp>
      <p:sp>
        <p:nvSpPr>
          <p:cNvPr id="240" name="Shape 238"/>
          <p:cNvSpPr/>
          <p:nvPr/>
        </p:nvSpPr>
        <p:spPr>
          <a:xfrm>
            <a:off x="9950811" y="4945790"/>
            <a:ext cx="1477051" cy="925772"/>
          </a:xfrm>
          <a:custGeom>
            <a:avLst/>
            <a:gdLst/>
            <a:ahLst/>
            <a:cxnLst/>
            <a:rect l="l" t="t" r="r" b="b"/>
            <a:pathLst>
              <a:path w="1477051" h="925772">
                <a:moveTo>
                  <a:pt x="1462053" y="785021"/>
                </a:moveTo>
                <a:lnTo>
                  <a:pt x="1442600" y="818046"/>
                </a:lnTo>
                <a:lnTo>
                  <a:pt x="1415433" y="847179"/>
                </a:lnTo>
                <a:lnTo>
                  <a:pt x="1380850" y="872102"/>
                </a:lnTo>
                <a:lnTo>
                  <a:pt x="1339229" y="892542"/>
                </a:lnTo>
                <a:lnTo>
                  <a:pt x="1291027" y="908274"/>
                </a:lnTo>
                <a:lnTo>
                  <a:pt x="1236772" y="919127"/>
                </a:lnTo>
                <a:lnTo>
                  <a:pt x="1177058" y="924981"/>
                </a:lnTo>
                <a:lnTo>
                  <a:pt x="1112539" y="925772"/>
                </a:lnTo>
                <a:lnTo>
                  <a:pt x="1043922" y="921491"/>
                </a:lnTo>
                <a:lnTo>
                  <a:pt x="971959" y="912186"/>
                </a:lnTo>
                <a:lnTo>
                  <a:pt x="897439" y="897958"/>
                </a:lnTo>
                <a:lnTo>
                  <a:pt x="821178" y="878964"/>
                </a:lnTo>
                <a:lnTo>
                  <a:pt x="744011" y="855411"/>
                </a:lnTo>
                <a:lnTo>
                  <a:pt x="666784" y="827557"/>
                </a:lnTo>
                <a:lnTo>
                  <a:pt x="590343" y="795708"/>
                </a:lnTo>
                <a:lnTo>
                  <a:pt x="515526" y="760213"/>
                </a:lnTo>
                <a:lnTo>
                  <a:pt x="443151" y="721460"/>
                </a:lnTo>
                <a:lnTo>
                  <a:pt x="374013" y="679874"/>
                </a:lnTo>
                <a:lnTo>
                  <a:pt x="308869" y="635910"/>
                </a:lnTo>
                <a:lnTo>
                  <a:pt x="248432" y="590051"/>
                </a:lnTo>
                <a:lnTo>
                  <a:pt x="193365" y="542799"/>
                </a:lnTo>
                <a:lnTo>
                  <a:pt x="144270" y="494671"/>
                </a:lnTo>
                <a:lnTo>
                  <a:pt x="101687" y="446195"/>
                </a:lnTo>
                <a:lnTo>
                  <a:pt x="66080" y="397901"/>
                </a:lnTo>
                <a:lnTo>
                  <a:pt x="37841" y="350320"/>
                </a:lnTo>
                <a:lnTo>
                  <a:pt x="17279" y="303972"/>
                </a:lnTo>
                <a:lnTo>
                  <a:pt x="4619" y="259365"/>
                </a:lnTo>
                <a:lnTo>
                  <a:pt x="0" y="216988"/>
                </a:lnTo>
                <a:lnTo>
                  <a:pt x="3472" y="177305"/>
                </a:lnTo>
                <a:lnTo>
                  <a:pt x="14998" y="140751"/>
                </a:lnTo>
                <a:lnTo>
                  <a:pt x="34451" y="107726"/>
                </a:lnTo>
                <a:lnTo>
                  <a:pt x="61618" y="78592"/>
                </a:lnTo>
                <a:lnTo>
                  <a:pt x="96201" y="53669"/>
                </a:lnTo>
                <a:lnTo>
                  <a:pt x="137821" y="33230"/>
                </a:lnTo>
                <a:lnTo>
                  <a:pt x="186023" y="17497"/>
                </a:lnTo>
                <a:lnTo>
                  <a:pt x="240279" y="6645"/>
                </a:lnTo>
                <a:lnTo>
                  <a:pt x="299993" y="791"/>
                </a:lnTo>
                <a:lnTo>
                  <a:pt x="364512" y="0"/>
                </a:lnTo>
                <a:lnTo>
                  <a:pt x="433128" y="4280"/>
                </a:lnTo>
                <a:lnTo>
                  <a:pt x="505091" y="13585"/>
                </a:lnTo>
                <a:lnTo>
                  <a:pt x="579611" y="27813"/>
                </a:lnTo>
                <a:lnTo>
                  <a:pt x="655873" y="46808"/>
                </a:lnTo>
                <a:lnTo>
                  <a:pt x="733039" y="70361"/>
                </a:lnTo>
                <a:lnTo>
                  <a:pt x="810266" y="98214"/>
                </a:lnTo>
                <a:lnTo>
                  <a:pt x="886707" y="130063"/>
                </a:lnTo>
                <a:lnTo>
                  <a:pt x="961525" y="165559"/>
                </a:lnTo>
                <a:lnTo>
                  <a:pt x="1033899" y="204312"/>
                </a:lnTo>
                <a:lnTo>
                  <a:pt x="1103037" y="245898"/>
                </a:lnTo>
                <a:lnTo>
                  <a:pt x="1168181" y="289861"/>
                </a:lnTo>
                <a:lnTo>
                  <a:pt x="1228618" y="335721"/>
                </a:lnTo>
                <a:lnTo>
                  <a:pt x="1283686" y="382973"/>
                </a:lnTo>
                <a:lnTo>
                  <a:pt x="1332780" y="431101"/>
                </a:lnTo>
                <a:lnTo>
                  <a:pt x="1375364" y="479577"/>
                </a:lnTo>
                <a:lnTo>
                  <a:pt x="1410970" y="527870"/>
                </a:lnTo>
                <a:lnTo>
                  <a:pt x="1439209" y="575452"/>
                </a:lnTo>
                <a:lnTo>
                  <a:pt x="1459771" y="621800"/>
                </a:lnTo>
                <a:lnTo>
                  <a:pt x="1472431" y="666407"/>
                </a:lnTo>
                <a:lnTo>
                  <a:pt x="1477051" y="708784"/>
                </a:lnTo>
                <a:lnTo>
                  <a:pt x="1473578" y="748467"/>
                </a:lnTo>
                <a:close/>
              </a:path>
            </a:pathLst>
          </a:custGeom>
          <a:solidFill>
            <a:srgbClr val="FFFFFF"/>
          </a:solidFill>
          <a:ln w="19050">
            <a:solidFill>
              <a:srgbClr val="1B1B1B"/>
            </a:solidFill>
            <a:prstDash val="solid"/>
          </a:ln>
        </p:spPr>
      </p:sp>
      <p:sp>
        <p:nvSpPr>
          <p:cNvPr id="241" name="Shape 239"/>
          <p:cNvSpPr/>
          <p:nvPr/>
        </p:nvSpPr>
        <p:spPr>
          <a:xfrm>
            <a:off x="10237360" y="5090971"/>
            <a:ext cx="1063476" cy="666556"/>
          </a:xfrm>
          <a:custGeom>
            <a:avLst/>
            <a:gdLst/>
            <a:ahLst/>
            <a:cxnLst/>
            <a:rect l="l" t="t" r="r" b="b"/>
            <a:pathLst>
              <a:path w="1063476" h="666556">
                <a:moveTo>
                  <a:pt x="1052678" y="565215"/>
                </a:moveTo>
                <a:lnTo>
                  <a:pt x="1038672" y="588993"/>
                </a:lnTo>
                <a:lnTo>
                  <a:pt x="1019112" y="609969"/>
                </a:lnTo>
                <a:lnTo>
                  <a:pt x="994212" y="627914"/>
                </a:lnTo>
                <a:lnTo>
                  <a:pt x="964245" y="642630"/>
                </a:lnTo>
                <a:lnTo>
                  <a:pt x="929540" y="653957"/>
                </a:lnTo>
                <a:lnTo>
                  <a:pt x="890476" y="661771"/>
                </a:lnTo>
                <a:lnTo>
                  <a:pt x="847481" y="665986"/>
                </a:lnTo>
                <a:lnTo>
                  <a:pt x="801028" y="666556"/>
                </a:lnTo>
                <a:lnTo>
                  <a:pt x="751624" y="663474"/>
                </a:lnTo>
                <a:lnTo>
                  <a:pt x="699811" y="656774"/>
                </a:lnTo>
                <a:lnTo>
                  <a:pt x="646156" y="646530"/>
                </a:lnTo>
                <a:lnTo>
                  <a:pt x="591248" y="632854"/>
                </a:lnTo>
                <a:lnTo>
                  <a:pt x="535688" y="615896"/>
                </a:lnTo>
                <a:lnTo>
                  <a:pt x="480085" y="595841"/>
                </a:lnTo>
                <a:lnTo>
                  <a:pt x="425047" y="572910"/>
                </a:lnTo>
                <a:lnTo>
                  <a:pt x="371178" y="547353"/>
                </a:lnTo>
                <a:lnTo>
                  <a:pt x="319069" y="519451"/>
                </a:lnTo>
                <a:lnTo>
                  <a:pt x="269290" y="489509"/>
                </a:lnTo>
                <a:lnTo>
                  <a:pt x="222386" y="457855"/>
                </a:lnTo>
                <a:lnTo>
                  <a:pt x="178871" y="424837"/>
                </a:lnTo>
                <a:lnTo>
                  <a:pt x="139223" y="390815"/>
                </a:lnTo>
                <a:lnTo>
                  <a:pt x="103875" y="356163"/>
                </a:lnTo>
                <a:lnTo>
                  <a:pt x="73214" y="321260"/>
                </a:lnTo>
                <a:lnTo>
                  <a:pt x="47578" y="286489"/>
                </a:lnTo>
                <a:lnTo>
                  <a:pt x="27246" y="252230"/>
                </a:lnTo>
                <a:lnTo>
                  <a:pt x="12441" y="218860"/>
                </a:lnTo>
                <a:lnTo>
                  <a:pt x="3326" y="186743"/>
                </a:lnTo>
                <a:lnTo>
                  <a:pt x="0" y="156231"/>
                </a:lnTo>
                <a:lnTo>
                  <a:pt x="2500" y="127659"/>
                </a:lnTo>
                <a:lnTo>
                  <a:pt x="10799" y="101341"/>
                </a:lnTo>
                <a:lnTo>
                  <a:pt x="24805" y="77563"/>
                </a:lnTo>
                <a:lnTo>
                  <a:pt x="44365" y="56587"/>
                </a:lnTo>
                <a:lnTo>
                  <a:pt x="69265" y="38642"/>
                </a:lnTo>
                <a:lnTo>
                  <a:pt x="99231" y="23925"/>
                </a:lnTo>
                <a:lnTo>
                  <a:pt x="133937" y="12598"/>
                </a:lnTo>
                <a:lnTo>
                  <a:pt x="173001" y="4784"/>
                </a:lnTo>
                <a:lnTo>
                  <a:pt x="215995" y="570"/>
                </a:lnTo>
                <a:lnTo>
                  <a:pt x="262449" y="0"/>
                </a:lnTo>
                <a:lnTo>
                  <a:pt x="311853" y="3082"/>
                </a:lnTo>
                <a:lnTo>
                  <a:pt x="363666" y="9782"/>
                </a:lnTo>
                <a:lnTo>
                  <a:pt x="417320" y="20025"/>
                </a:lnTo>
                <a:lnTo>
                  <a:pt x="472228" y="33701"/>
                </a:lnTo>
                <a:lnTo>
                  <a:pt x="527788" y="50660"/>
                </a:lnTo>
                <a:lnTo>
                  <a:pt x="583392" y="70714"/>
                </a:lnTo>
                <a:lnTo>
                  <a:pt x="638429" y="93646"/>
                </a:lnTo>
                <a:lnTo>
                  <a:pt x="692298" y="119202"/>
                </a:lnTo>
                <a:lnTo>
                  <a:pt x="744407" y="147105"/>
                </a:lnTo>
                <a:lnTo>
                  <a:pt x="794187" y="177047"/>
                </a:lnTo>
                <a:lnTo>
                  <a:pt x="841091" y="208700"/>
                </a:lnTo>
                <a:lnTo>
                  <a:pt x="884605" y="241719"/>
                </a:lnTo>
                <a:lnTo>
                  <a:pt x="924254" y="275741"/>
                </a:lnTo>
                <a:lnTo>
                  <a:pt x="959602" y="310393"/>
                </a:lnTo>
                <a:lnTo>
                  <a:pt x="990262" y="345295"/>
                </a:lnTo>
                <a:lnTo>
                  <a:pt x="1015899" y="380067"/>
                </a:lnTo>
                <a:lnTo>
                  <a:pt x="1036231" y="414325"/>
                </a:lnTo>
                <a:lnTo>
                  <a:pt x="1051035" y="447696"/>
                </a:lnTo>
                <a:lnTo>
                  <a:pt x="1060151" y="479813"/>
                </a:lnTo>
                <a:lnTo>
                  <a:pt x="1063476" y="510324"/>
                </a:lnTo>
                <a:lnTo>
                  <a:pt x="1060976" y="538896"/>
                </a:lnTo>
                <a:close/>
              </a:path>
            </a:pathLst>
          </a:custGeom>
          <a:ln w="6350">
            <a:solidFill>
              <a:srgbClr val="4F7A43"/>
            </a:solidFill>
            <a:prstDash val="dash"/>
          </a:ln>
        </p:spPr>
      </p:sp>
      <p:sp>
        <p:nvSpPr>
          <p:cNvPr id="242" name="Shape 240"/>
          <p:cNvSpPr/>
          <p:nvPr/>
        </p:nvSpPr>
        <p:spPr>
          <a:xfrm>
            <a:off x="10429376" y="5211321"/>
            <a:ext cx="679443" cy="425855"/>
          </a:xfrm>
          <a:custGeom>
            <a:avLst/>
            <a:gdLst/>
            <a:ahLst/>
            <a:cxnLst/>
            <a:rect l="l" t="t" r="r" b="b"/>
            <a:pathLst>
              <a:path w="679443" h="425855">
                <a:moveTo>
                  <a:pt x="672544" y="361110"/>
                </a:moveTo>
                <a:lnTo>
                  <a:pt x="663596" y="376301"/>
                </a:lnTo>
                <a:lnTo>
                  <a:pt x="651099" y="389702"/>
                </a:lnTo>
                <a:lnTo>
                  <a:pt x="635191" y="401167"/>
                </a:lnTo>
                <a:lnTo>
                  <a:pt x="616045" y="410569"/>
                </a:lnTo>
                <a:lnTo>
                  <a:pt x="593873" y="417806"/>
                </a:lnTo>
                <a:lnTo>
                  <a:pt x="568915" y="422798"/>
                </a:lnTo>
                <a:lnTo>
                  <a:pt x="541446" y="425491"/>
                </a:lnTo>
                <a:lnTo>
                  <a:pt x="511768" y="425855"/>
                </a:lnTo>
                <a:lnTo>
                  <a:pt x="480204" y="423886"/>
                </a:lnTo>
                <a:lnTo>
                  <a:pt x="447101" y="419606"/>
                </a:lnTo>
                <a:lnTo>
                  <a:pt x="412822" y="413061"/>
                </a:lnTo>
                <a:lnTo>
                  <a:pt x="377742" y="404323"/>
                </a:lnTo>
                <a:lnTo>
                  <a:pt x="342245" y="393489"/>
                </a:lnTo>
                <a:lnTo>
                  <a:pt x="306721" y="380676"/>
                </a:lnTo>
                <a:lnTo>
                  <a:pt x="271558" y="366026"/>
                </a:lnTo>
                <a:lnTo>
                  <a:pt x="237142" y="349698"/>
                </a:lnTo>
                <a:lnTo>
                  <a:pt x="203850" y="331871"/>
                </a:lnTo>
                <a:lnTo>
                  <a:pt x="172046" y="312742"/>
                </a:lnTo>
                <a:lnTo>
                  <a:pt x="142080" y="292519"/>
                </a:lnTo>
                <a:lnTo>
                  <a:pt x="114279" y="271423"/>
                </a:lnTo>
                <a:lnTo>
                  <a:pt x="88948" y="249687"/>
                </a:lnTo>
                <a:lnTo>
                  <a:pt x="66364" y="227549"/>
                </a:lnTo>
                <a:lnTo>
                  <a:pt x="46776" y="205249"/>
                </a:lnTo>
                <a:lnTo>
                  <a:pt x="30397" y="183035"/>
                </a:lnTo>
                <a:lnTo>
                  <a:pt x="17407" y="161147"/>
                </a:lnTo>
                <a:lnTo>
                  <a:pt x="7948" y="139827"/>
                </a:lnTo>
                <a:lnTo>
                  <a:pt x="2125" y="119308"/>
                </a:lnTo>
                <a:lnTo>
                  <a:pt x="0" y="99814"/>
                </a:lnTo>
                <a:lnTo>
                  <a:pt x="1597" y="81560"/>
                </a:lnTo>
                <a:lnTo>
                  <a:pt x="6899" y="64745"/>
                </a:lnTo>
                <a:lnTo>
                  <a:pt x="15847" y="49554"/>
                </a:lnTo>
                <a:lnTo>
                  <a:pt x="28344" y="36153"/>
                </a:lnTo>
                <a:lnTo>
                  <a:pt x="44252" y="24688"/>
                </a:lnTo>
                <a:lnTo>
                  <a:pt x="63398" y="15286"/>
                </a:lnTo>
                <a:lnTo>
                  <a:pt x="85571" y="8049"/>
                </a:lnTo>
                <a:lnTo>
                  <a:pt x="110528" y="3057"/>
                </a:lnTo>
                <a:lnTo>
                  <a:pt x="137997" y="364"/>
                </a:lnTo>
                <a:lnTo>
                  <a:pt x="167675" y="0"/>
                </a:lnTo>
                <a:lnTo>
                  <a:pt x="199239" y="1969"/>
                </a:lnTo>
                <a:lnTo>
                  <a:pt x="232342" y="6249"/>
                </a:lnTo>
                <a:lnTo>
                  <a:pt x="266621" y="12794"/>
                </a:lnTo>
                <a:lnTo>
                  <a:pt x="301701" y="21531"/>
                </a:lnTo>
                <a:lnTo>
                  <a:pt x="337198" y="32366"/>
                </a:lnTo>
                <a:lnTo>
                  <a:pt x="372723" y="45179"/>
                </a:lnTo>
                <a:lnTo>
                  <a:pt x="407885" y="59829"/>
                </a:lnTo>
                <a:lnTo>
                  <a:pt x="442301" y="76157"/>
                </a:lnTo>
                <a:lnTo>
                  <a:pt x="475594" y="93983"/>
                </a:lnTo>
                <a:lnTo>
                  <a:pt x="507397" y="113113"/>
                </a:lnTo>
                <a:lnTo>
                  <a:pt x="537363" y="133336"/>
                </a:lnTo>
                <a:lnTo>
                  <a:pt x="565164" y="154431"/>
                </a:lnTo>
                <a:lnTo>
                  <a:pt x="590495" y="176168"/>
                </a:lnTo>
                <a:lnTo>
                  <a:pt x="613079" y="198306"/>
                </a:lnTo>
                <a:lnTo>
                  <a:pt x="632667" y="220605"/>
                </a:lnTo>
                <a:lnTo>
                  <a:pt x="649046" y="242820"/>
                </a:lnTo>
                <a:lnTo>
                  <a:pt x="662036" y="264708"/>
                </a:lnTo>
                <a:lnTo>
                  <a:pt x="671495" y="286028"/>
                </a:lnTo>
                <a:lnTo>
                  <a:pt x="677318" y="306547"/>
                </a:lnTo>
                <a:lnTo>
                  <a:pt x="679443" y="326041"/>
                </a:lnTo>
                <a:lnTo>
                  <a:pt x="677846" y="344295"/>
                </a:lnTo>
                <a:close/>
              </a:path>
            </a:pathLst>
          </a:custGeom>
          <a:ln w="6350">
            <a:solidFill>
              <a:srgbClr val="4F7A43"/>
            </a:solidFill>
            <a:prstDash val="dash"/>
          </a:ln>
        </p:spPr>
      </p:sp>
      <p:sp>
        <p:nvSpPr>
          <p:cNvPr id="243" name="Shape 241"/>
          <p:cNvSpPr/>
          <p:nvPr/>
        </p:nvSpPr>
        <p:spPr>
          <a:xfrm>
            <a:off x="10606622" y="5322414"/>
            <a:ext cx="324951" cy="203670"/>
          </a:xfrm>
          <a:custGeom>
            <a:avLst/>
            <a:gdLst/>
            <a:ahLst/>
            <a:cxnLst/>
            <a:rect l="l" t="t" r="r" b="b"/>
            <a:pathLst>
              <a:path w="324951" h="203670">
                <a:moveTo>
                  <a:pt x="321652" y="172705"/>
                </a:moveTo>
                <a:lnTo>
                  <a:pt x="317372" y="179970"/>
                </a:lnTo>
                <a:lnTo>
                  <a:pt x="311395" y="186379"/>
                </a:lnTo>
                <a:lnTo>
                  <a:pt x="303787" y="191863"/>
                </a:lnTo>
                <a:lnTo>
                  <a:pt x="294630" y="196359"/>
                </a:lnTo>
                <a:lnTo>
                  <a:pt x="284026" y="199820"/>
                </a:lnTo>
                <a:lnTo>
                  <a:pt x="272090" y="202208"/>
                </a:lnTo>
                <a:lnTo>
                  <a:pt x="258953" y="203496"/>
                </a:lnTo>
                <a:lnTo>
                  <a:pt x="244759" y="203670"/>
                </a:lnTo>
                <a:lnTo>
                  <a:pt x="229663" y="202728"/>
                </a:lnTo>
                <a:lnTo>
                  <a:pt x="213831" y="200681"/>
                </a:lnTo>
                <a:lnTo>
                  <a:pt x="197437" y="197551"/>
                </a:lnTo>
                <a:lnTo>
                  <a:pt x="180659" y="193372"/>
                </a:lnTo>
                <a:lnTo>
                  <a:pt x="163682" y="188190"/>
                </a:lnTo>
                <a:lnTo>
                  <a:pt x="146692" y="182063"/>
                </a:lnTo>
                <a:lnTo>
                  <a:pt x="129875" y="175056"/>
                </a:lnTo>
                <a:lnTo>
                  <a:pt x="113416" y="167247"/>
                </a:lnTo>
                <a:lnTo>
                  <a:pt x="97493" y="158721"/>
                </a:lnTo>
                <a:lnTo>
                  <a:pt x="82283" y="149572"/>
                </a:lnTo>
                <a:lnTo>
                  <a:pt x="67951" y="139900"/>
                </a:lnTo>
                <a:lnTo>
                  <a:pt x="54655" y="129811"/>
                </a:lnTo>
                <a:lnTo>
                  <a:pt x="42540" y="119416"/>
                </a:lnTo>
                <a:lnTo>
                  <a:pt x="31739" y="108828"/>
                </a:lnTo>
                <a:lnTo>
                  <a:pt x="22371" y="98163"/>
                </a:lnTo>
                <a:lnTo>
                  <a:pt x="14538" y="87538"/>
                </a:lnTo>
                <a:lnTo>
                  <a:pt x="8325" y="77070"/>
                </a:lnTo>
                <a:lnTo>
                  <a:pt x="3801" y="66874"/>
                </a:lnTo>
                <a:lnTo>
                  <a:pt x="1016" y="57060"/>
                </a:lnTo>
                <a:lnTo>
                  <a:pt x="0" y="47737"/>
                </a:lnTo>
                <a:lnTo>
                  <a:pt x="764" y="39007"/>
                </a:lnTo>
                <a:lnTo>
                  <a:pt x="3300" y="30965"/>
                </a:lnTo>
                <a:lnTo>
                  <a:pt x="7579" y="23700"/>
                </a:lnTo>
                <a:lnTo>
                  <a:pt x="13556" y="17290"/>
                </a:lnTo>
                <a:lnTo>
                  <a:pt x="21164" y="11807"/>
                </a:lnTo>
                <a:lnTo>
                  <a:pt x="30321" y="7311"/>
                </a:lnTo>
                <a:lnTo>
                  <a:pt x="40925" y="3849"/>
                </a:lnTo>
                <a:lnTo>
                  <a:pt x="52861" y="1462"/>
                </a:lnTo>
                <a:lnTo>
                  <a:pt x="65998" y="174"/>
                </a:lnTo>
                <a:lnTo>
                  <a:pt x="80193" y="0"/>
                </a:lnTo>
                <a:lnTo>
                  <a:pt x="95288" y="942"/>
                </a:lnTo>
                <a:lnTo>
                  <a:pt x="111120" y="2989"/>
                </a:lnTo>
                <a:lnTo>
                  <a:pt x="127514" y="6119"/>
                </a:lnTo>
                <a:lnTo>
                  <a:pt x="144292" y="10298"/>
                </a:lnTo>
                <a:lnTo>
                  <a:pt x="161269" y="15479"/>
                </a:lnTo>
                <a:lnTo>
                  <a:pt x="178259" y="21607"/>
                </a:lnTo>
                <a:lnTo>
                  <a:pt x="195076" y="28614"/>
                </a:lnTo>
                <a:lnTo>
                  <a:pt x="211535" y="36423"/>
                </a:lnTo>
                <a:lnTo>
                  <a:pt x="227458" y="44949"/>
                </a:lnTo>
                <a:lnTo>
                  <a:pt x="242668" y="54098"/>
                </a:lnTo>
                <a:lnTo>
                  <a:pt x="257000" y="63770"/>
                </a:lnTo>
                <a:lnTo>
                  <a:pt x="270296" y="73859"/>
                </a:lnTo>
                <a:lnTo>
                  <a:pt x="282411" y="84254"/>
                </a:lnTo>
                <a:lnTo>
                  <a:pt x="293212" y="94842"/>
                </a:lnTo>
                <a:lnTo>
                  <a:pt x="302580" y="105507"/>
                </a:lnTo>
                <a:lnTo>
                  <a:pt x="310413" y="116131"/>
                </a:lnTo>
                <a:lnTo>
                  <a:pt x="316626" y="126599"/>
                </a:lnTo>
                <a:lnTo>
                  <a:pt x="321150" y="136796"/>
                </a:lnTo>
                <a:lnTo>
                  <a:pt x="323935" y="146609"/>
                </a:lnTo>
                <a:lnTo>
                  <a:pt x="324951" y="155932"/>
                </a:lnTo>
                <a:lnTo>
                  <a:pt x="324187" y="164663"/>
                </a:lnTo>
                <a:close/>
              </a:path>
            </a:pathLst>
          </a:custGeom>
          <a:ln w="6350">
            <a:solidFill>
              <a:srgbClr val="4F7A43"/>
            </a:solidFill>
            <a:prstDash val="dash"/>
          </a:ln>
        </p:spPr>
      </p:sp>
      <p:sp>
        <p:nvSpPr>
          <p:cNvPr id="244" name="Shape 242"/>
          <p:cNvSpPr/>
          <p:nvPr/>
        </p:nvSpPr>
        <p:spPr>
          <a:xfrm>
            <a:off x="11302359" y="5668474"/>
            <a:ext cx="47362" cy="47362"/>
          </a:xfrm>
          <a:prstGeom prst="ellipse">
            <a:avLst/>
          </a:prstGeom>
          <a:solidFill>
            <a:srgbClr val="FFFFFF"/>
          </a:solidFill>
          <a:ln w="7620">
            <a:solidFill>
              <a:srgbClr val="4F7A43"/>
            </a:solidFill>
            <a:prstDash val="solid"/>
          </a:ln>
        </p:spPr>
      </p:sp>
      <p:sp>
        <p:nvSpPr>
          <p:cNvPr id="245" name="Shape 243"/>
          <p:cNvSpPr/>
          <p:nvPr/>
        </p:nvSpPr>
        <p:spPr>
          <a:xfrm>
            <a:off x="11236413" y="5741718"/>
            <a:ext cx="47362" cy="47362"/>
          </a:xfrm>
          <a:prstGeom prst="ellipse">
            <a:avLst/>
          </a:prstGeom>
          <a:solidFill>
            <a:srgbClr val="FFFFFF"/>
          </a:solidFill>
          <a:ln w="7620">
            <a:solidFill>
              <a:srgbClr val="4F7A43"/>
            </a:solidFill>
            <a:prstDash val="solid"/>
          </a:ln>
        </p:spPr>
      </p:sp>
      <p:sp>
        <p:nvSpPr>
          <p:cNvPr id="246" name="Shape 244"/>
          <p:cNvSpPr/>
          <p:nvPr/>
        </p:nvSpPr>
        <p:spPr>
          <a:xfrm>
            <a:off x="11120588" y="5783788"/>
            <a:ext cx="47362" cy="47362"/>
          </a:xfrm>
          <a:prstGeom prst="ellipse">
            <a:avLst/>
          </a:prstGeom>
          <a:solidFill>
            <a:srgbClr val="FFFFFF"/>
          </a:solidFill>
          <a:ln w="7620">
            <a:solidFill>
              <a:srgbClr val="4F7A43"/>
            </a:solidFill>
            <a:prstDash val="solid"/>
          </a:ln>
        </p:spPr>
      </p:sp>
      <p:sp>
        <p:nvSpPr>
          <p:cNvPr id="247" name="Shape 245"/>
          <p:cNvSpPr/>
          <p:nvPr/>
        </p:nvSpPr>
        <p:spPr>
          <a:xfrm>
            <a:off x="10965006" y="5791008"/>
            <a:ext cx="47362" cy="47362"/>
          </a:xfrm>
          <a:prstGeom prst="ellipse">
            <a:avLst/>
          </a:prstGeom>
          <a:solidFill>
            <a:srgbClr val="FFFFFF"/>
          </a:solidFill>
          <a:ln w="7620">
            <a:solidFill>
              <a:srgbClr val="4F7A43"/>
            </a:solidFill>
            <a:prstDash val="solid"/>
          </a:ln>
        </p:spPr>
      </p:sp>
      <p:sp>
        <p:nvSpPr>
          <p:cNvPr id="248" name="Shape 246"/>
          <p:cNvSpPr/>
          <p:nvPr/>
        </p:nvSpPr>
        <p:spPr>
          <a:xfrm>
            <a:off x="10783264" y="5762745"/>
            <a:ext cx="47362" cy="47362"/>
          </a:xfrm>
          <a:prstGeom prst="ellipse">
            <a:avLst/>
          </a:prstGeom>
          <a:solidFill>
            <a:srgbClr val="FFFFFF"/>
          </a:solidFill>
          <a:ln w="7620">
            <a:solidFill>
              <a:srgbClr val="4F7A43"/>
            </a:solidFill>
            <a:prstDash val="solid"/>
          </a:ln>
        </p:spPr>
      </p:sp>
      <p:sp>
        <p:nvSpPr>
          <p:cNvPr id="249" name="Shape 247"/>
          <p:cNvSpPr/>
          <p:nvPr/>
        </p:nvSpPr>
        <p:spPr>
          <a:xfrm>
            <a:off x="10591244" y="5701471"/>
            <a:ext cx="47362" cy="47362"/>
          </a:xfrm>
          <a:prstGeom prst="ellipse">
            <a:avLst/>
          </a:prstGeom>
          <a:solidFill>
            <a:srgbClr val="FFFFFF"/>
          </a:solidFill>
          <a:ln w="7620">
            <a:solidFill>
              <a:srgbClr val="4F7A43"/>
            </a:solidFill>
            <a:prstDash val="solid"/>
          </a:ln>
        </p:spPr>
      </p:sp>
      <p:sp>
        <p:nvSpPr>
          <p:cNvPr id="250" name="Shape 248"/>
          <p:cNvSpPr/>
          <p:nvPr/>
        </p:nvSpPr>
        <p:spPr>
          <a:xfrm>
            <a:off x="10405726" y="5612540"/>
            <a:ext cx="47362" cy="47362"/>
          </a:xfrm>
          <a:prstGeom prst="ellipse">
            <a:avLst/>
          </a:prstGeom>
          <a:solidFill>
            <a:srgbClr val="FFFFFF"/>
          </a:solidFill>
          <a:ln w="7620">
            <a:solidFill>
              <a:srgbClr val="4F7A43"/>
            </a:solidFill>
            <a:prstDash val="solid"/>
          </a:ln>
        </p:spPr>
      </p:sp>
      <p:sp>
        <p:nvSpPr>
          <p:cNvPr id="251" name="Shape 249"/>
          <p:cNvSpPr/>
          <p:nvPr/>
        </p:nvSpPr>
        <p:spPr>
          <a:xfrm>
            <a:off x="10242924" y="5503724"/>
            <a:ext cx="47362" cy="47362"/>
          </a:xfrm>
          <a:prstGeom prst="ellipse">
            <a:avLst/>
          </a:prstGeom>
          <a:solidFill>
            <a:srgbClr val="FFFFFF"/>
          </a:solidFill>
          <a:ln w="7620">
            <a:solidFill>
              <a:srgbClr val="4F7A43"/>
            </a:solidFill>
            <a:prstDash val="solid"/>
          </a:ln>
        </p:spPr>
      </p:sp>
      <p:sp>
        <p:nvSpPr>
          <p:cNvPr id="252" name="Shape 250"/>
          <p:cNvSpPr/>
          <p:nvPr/>
        </p:nvSpPr>
        <p:spPr>
          <a:xfrm>
            <a:off x="10117065" y="5384532"/>
            <a:ext cx="47362" cy="47362"/>
          </a:xfrm>
          <a:prstGeom prst="ellipse">
            <a:avLst/>
          </a:prstGeom>
          <a:solidFill>
            <a:srgbClr val="FFFFFF"/>
          </a:solidFill>
          <a:ln w="7620">
            <a:solidFill>
              <a:srgbClr val="4F7A43"/>
            </a:solidFill>
            <a:prstDash val="solid"/>
          </a:ln>
        </p:spPr>
      </p:sp>
      <p:sp>
        <p:nvSpPr>
          <p:cNvPr id="253" name="Shape 251"/>
          <p:cNvSpPr/>
          <p:nvPr/>
        </p:nvSpPr>
        <p:spPr>
          <a:xfrm>
            <a:off x="10039147" y="5265380"/>
            <a:ext cx="47362" cy="47362"/>
          </a:xfrm>
          <a:prstGeom prst="ellipse">
            <a:avLst/>
          </a:prstGeom>
          <a:solidFill>
            <a:srgbClr val="FFFFFF"/>
          </a:solidFill>
          <a:ln w="7620">
            <a:solidFill>
              <a:srgbClr val="4F7A43"/>
            </a:solidFill>
            <a:prstDash val="solid"/>
          </a:ln>
        </p:spPr>
      </p:sp>
      <p:sp>
        <p:nvSpPr>
          <p:cNvPr id="254" name="Shape 252"/>
          <p:cNvSpPr/>
          <p:nvPr/>
        </p:nvSpPr>
        <p:spPr>
          <a:xfrm>
            <a:off x="10015980" y="5156682"/>
            <a:ext cx="47362" cy="47362"/>
          </a:xfrm>
          <a:prstGeom prst="ellipse">
            <a:avLst/>
          </a:prstGeom>
          <a:solidFill>
            <a:srgbClr val="FFFFFF"/>
          </a:solidFill>
          <a:ln w="7620">
            <a:solidFill>
              <a:srgbClr val="4F7A43"/>
            </a:solidFill>
            <a:prstDash val="solid"/>
          </a:ln>
        </p:spPr>
      </p:sp>
      <p:sp>
        <p:nvSpPr>
          <p:cNvPr id="255" name="Shape 253"/>
          <p:cNvSpPr/>
          <p:nvPr/>
        </p:nvSpPr>
        <p:spPr>
          <a:xfrm>
            <a:off x="10049589" y="5067936"/>
            <a:ext cx="47362" cy="47362"/>
          </a:xfrm>
          <a:prstGeom prst="ellipse">
            <a:avLst/>
          </a:prstGeom>
          <a:solidFill>
            <a:srgbClr val="FFFFFF"/>
          </a:solidFill>
          <a:ln w="7620">
            <a:solidFill>
              <a:srgbClr val="4F7A43"/>
            </a:solidFill>
            <a:prstDash val="solid"/>
          </a:ln>
        </p:spPr>
      </p:sp>
      <p:sp>
        <p:nvSpPr>
          <p:cNvPr id="256" name="Shape 254"/>
          <p:cNvSpPr/>
          <p:nvPr/>
        </p:nvSpPr>
        <p:spPr>
          <a:xfrm>
            <a:off x="10137036" y="5006898"/>
            <a:ext cx="47362" cy="47362"/>
          </a:xfrm>
          <a:prstGeom prst="ellipse">
            <a:avLst/>
          </a:prstGeom>
          <a:solidFill>
            <a:srgbClr val="FFFFFF"/>
          </a:solidFill>
          <a:ln w="7620">
            <a:solidFill>
              <a:srgbClr val="4F7A43"/>
            </a:solidFill>
            <a:prstDash val="solid"/>
          </a:ln>
        </p:spPr>
      </p:sp>
      <p:sp>
        <p:nvSpPr>
          <p:cNvPr id="257" name="Shape 255"/>
          <p:cNvSpPr/>
          <p:nvPr/>
        </p:nvSpPr>
        <p:spPr>
          <a:xfrm>
            <a:off x="10270679" y="4978902"/>
            <a:ext cx="47362" cy="47362"/>
          </a:xfrm>
          <a:prstGeom prst="ellipse">
            <a:avLst/>
          </a:prstGeom>
          <a:solidFill>
            <a:srgbClr val="FFFFFF"/>
          </a:solidFill>
          <a:ln w="7620">
            <a:solidFill>
              <a:srgbClr val="4F7A43"/>
            </a:solidFill>
            <a:prstDash val="solid"/>
          </a:ln>
        </p:spPr>
      </p:sp>
      <p:sp>
        <p:nvSpPr>
          <p:cNvPr id="258" name="Shape 256"/>
          <p:cNvSpPr/>
          <p:nvPr/>
        </p:nvSpPr>
        <p:spPr>
          <a:xfrm>
            <a:off x="10438839" y="4986395"/>
            <a:ext cx="47362" cy="47362"/>
          </a:xfrm>
          <a:prstGeom prst="ellipse">
            <a:avLst/>
          </a:prstGeom>
          <a:solidFill>
            <a:srgbClr val="FFFFFF"/>
          </a:solidFill>
          <a:ln w="7620">
            <a:solidFill>
              <a:srgbClr val="4F7A43"/>
            </a:solidFill>
            <a:prstDash val="solid"/>
          </a:ln>
        </p:spPr>
      </p:sp>
      <p:sp>
        <p:nvSpPr>
          <p:cNvPr id="259" name="Shape 257"/>
          <p:cNvSpPr/>
          <p:nvPr/>
        </p:nvSpPr>
        <p:spPr>
          <a:xfrm>
            <a:off x="10626821" y="5028721"/>
            <a:ext cx="47362" cy="47362"/>
          </a:xfrm>
          <a:prstGeom prst="ellipse">
            <a:avLst/>
          </a:prstGeom>
          <a:solidFill>
            <a:srgbClr val="FFFFFF"/>
          </a:solidFill>
          <a:ln w="7620">
            <a:solidFill>
              <a:srgbClr val="4F7A43"/>
            </a:solidFill>
            <a:prstDash val="solid"/>
          </a:ln>
        </p:spPr>
      </p:sp>
      <p:sp>
        <p:nvSpPr>
          <p:cNvPr id="260" name="Shape 258"/>
          <p:cNvSpPr/>
          <p:nvPr/>
        </p:nvSpPr>
        <p:spPr>
          <a:xfrm>
            <a:off x="10818197" y="5102183"/>
            <a:ext cx="47362" cy="47362"/>
          </a:xfrm>
          <a:prstGeom prst="ellipse">
            <a:avLst/>
          </a:prstGeom>
          <a:solidFill>
            <a:srgbClr val="FFFFFF"/>
          </a:solidFill>
          <a:ln w="7620">
            <a:solidFill>
              <a:srgbClr val="4F7A43"/>
            </a:solidFill>
            <a:prstDash val="solid"/>
          </a:ln>
        </p:spPr>
      </p:sp>
      <p:sp>
        <p:nvSpPr>
          <p:cNvPr id="261" name="Shape 259"/>
          <p:cNvSpPr/>
          <p:nvPr/>
        </p:nvSpPr>
        <p:spPr>
          <a:xfrm>
            <a:off x="10996242" y="5200360"/>
            <a:ext cx="47362" cy="47362"/>
          </a:xfrm>
          <a:prstGeom prst="ellipse">
            <a:avLst/>
          </a:prstGeom>
          <a:solidFill>
            <a:srgbClr val="FFFFFF"/>
          </a:solidFill>
          <a:ln w="7620">
            <a:solidFill>
              <a:srgbClr val="4F7A43"/>
            </a:solidFill>
            <a:prstDash val="solid"/>
          </a:ln>
        </p:spPr>
      </p:sp>
      <p:sp>
        <p:nvSpPr>
          <p:cNvPr id="262" name="Shape 260"/>
          <p:cNvSpPr/>
          <p:nvPr/>
        </p:nvSpPr>
        <p:spPr>
          <a:xfrm>
            <a:off x="11145396" y="5314672"/>
            <a:ext cx="47362" cy="47362"/>
          </a:xfrm>
          <a:prstGeom prst="ellipse">
            <a:avLst/>
          </a:prstGeom>
          <a:solidFill>
            <a:srgbClr val="FFFFFF"/>
          </a:solidFill>
          <a:ln w="7620">
            <a:solidFill>
              <a:srgbClr val="4F7A43"/>
            </a:solidFill>
            <a:prstDash val="solid"/>
          </a:ln>
        </p:spPr>
      </p:sp>
      <p:sp>
        <p:nvSpPr>
          <p:cNvPr id="263" name="Shape 261"/>
          <p:cNvSpPr/>
          <p:nvPr/>
        </p:nvSpPr>
        <p:spPr>
          <a:xfrm>
            <a:off x="11252626" y="5435130"/>
            <a:ext cx="47362" cy="47362"/>
          </a:xfrm>
          <a:prstGeom prst="ellipse">
            <a:avLst/>
          </a:prstGeom>
          <a:solidFill>
            <a:srgbClr val="FFFFFF"/>
          </a:solidFill>
          <a:ln w="7620">
            <a:solidFill>
              <a:srgbClr val="4F7A43"/>
            </a:solidFill>
            <a:prstDash val="solid"/>
          </a:ln>
        </p:spPr>
      </p:sp>
      <p:sp>
        <p:nvSpPr>
          <p:cNvPr id="264" name="Shape 262"/>
          <p:cNvSpPr/>
          <p:nvPr/>
        </p:nvSpPr>
        <p:spPr>
          <a:xfrm>
            <a:off x="11308561" y="5551206"/>
            <a:ext cx="47362" cy="47362"/>
          </a:xfrm>
          <a:prstGeom prst="ellipse">
            <a:avLst/>
          </a:prstGeom>
          <a:solidFill>
            <a:srgbClr val="FFFFFF"/>
          </a:solidFill>
          <a:ln w="7620">
            <a:solidFill>
              <a:srgbClr val="4F7A43"/>
            </a:solidFill>
            <a:prstDash val="solid"/>
          </a:ln>
        </p:spPr>
      </p:sp>
      <p:sp>
        <p:nvSpPr>
          <p:cNvPr id="265" name="Shape 263"/>
          <p:cNvSpPr/>
          <p:nvPr/>
        </p:nvSpPr>
        <p:spPr>
          <a:xfrm>
            <a:off x="11308311" y="5652757"/>
            <a:ext cx="47362" cy="47362"/>
          </a:xfrm>
          <a:prstGeom prst="ellipse">
            <a:avLst/>
          </a:prstGeom>
          <a:solidFill>
            <a:srgbClr val="FFFFFF"/>
          </a:solidFill>
          <a:ln w="7620">
            <a:solidFill>
              <a:srgbClr val="4F7A43"/>
            </a:solidFill>
            <a:prstDash val="solid"/>
          </a:ln>
        </p:spPr>
      </p:sp>
      <p:sp>
        <p:nvSpPr>
          <p:cNvPr id="266" name="Shape 264"/>
          <p:cNvSpPr/>
          <p:nvPr/>
        </p:nvSpPr>
        <p:spPr>
          <a:xfrm rot="1440000">
            <a:off x="10670276" y="5346989"/>
            <a:ext cx="364320" cy="364320"/>
          </a:xfrm>
          <a:prstGeom prst="rect">
            <a:avLst/>
          </a:prstGeom>
          <a:solidFill>
            <a:srgbClr val="1B1B1B"/>
          </a:solidFill>
          <a:ln/>
        </p:spPr>
      </p:sp>
      <p:sp>
        <p:nvSpPr>
          <p:cNvPr id="267" name="Shape 265"/>
          <p:cNvSpPr/>
          <p:nvPr/>
        </p:nvSpPr>
        <p:spPr>
          <a:xfrm rot="1440000">
            <a:off x="10779572" y="5456285"/>
            <a:ext cx="145728" cy="145728"/>
          </a:xfrm>
          <a:prstGeom prst="rect">
            <a:avLst/>
          </a:prstGeom>
          <a:solidFill>
            <a:srgbClr val="C4262E"/>
          </a:solidFill>
          <a:ln/>
        </p:spPr>
      </p:sp>
      <p:sp>
        <p:nvSpPr>
          <p:cNvPr id="268" name="Shape 266"/>
          <p:cNvSpPr/>
          <p:nvPr/>
        </p:nvSpPr>
        <p:spPr>
          <a:xfrm>
            <a:off x="9821103" y="5022114"/>
            <a:ext cx="721933" cy="354924"/>
          </a:xfrm>
          <a:custGeom>
            <a:avLst/>
            <a:gdLst/>
            <a:ahLst/>
            <a:cxnLst/>
            <a:rect l="l" t="t" r="r" b="b"/>
            <a:pathLst>
              <a:path w="721933" h="354924">
                <a:moveTo>
                  <a:pt x="0" y="0"/>
                </a:moveTo>
                <a:lnTo>
                  <a:pt x="721933" y="354924"/>
                </a:lnTo>
              </a:path>
            </a:pathLst>
          </a:custGeom>
          <a:ln w="15875">
            <a:solidFill>
              <a:srgbClr val="C4262E"/>
            </a:solidFill>
            <a:prstDash val="solid"/>
            <a:tailEnd type="triangle"/>
          </a:ln>
        </p:spPr>
      </p:sp>
      <p:sp>
        <p:nvSpPr>
          <p:cNvPr id="269" name="Shape 267"/>
          <p:cNvSpPr/>
          <p:nvPr/>
        </p:nvSpPr>
        <p:spPr>
          <a:xfrm>
            <a:off x="11061492" y="5643761"/>
            <a:ext cx="487798" cy="267430"/>
          </a:xfrm>
          <a:custGeom>
            <a:avLst/>
            <a:gdLst/>
            <a:ahLst/>
            <a:cxnLst/>
            <a:rect l="l" t="t" r="r" b="b"/>
            <a:pathLst>
              <a:path w="487798" h="267430">
                <a:moveTo>
                  <a:pt x="487798" y="267430"/>
                </a:moveTo>
                <a:lnTo>
                  <a:pt x="0" y="0"/>
                </a:lnTo>
              </a:path>
            </a:pathLst>
          </a:custGeom>
          <a:ln w="15875">
            <a:solidFill>
              <a:srgbClr val="C4262E"/>
            </a:solidFill>
            <a:prstDash val="solid"/>
            <a:tailEnd type="triangle"/>
          </a:ln>
        </p:spPr>
      </p:sp>
      <p:sp>
        <p:nvSpPr>
          <p:cNvPr id="270" name="Shape 268"/>
          <p:cNvSpPr/>
          <p:nvPr/>
        </p:nvSpPr>
        <p:spPr>
          <a:xfrm>
            <a:off x="10898040" y="5090357"/>
            <a:ext cx="106410" cy="307154"/>
          </a:xfrm>
          <a:custGeom>
            <a:avLst/>
            <a:gdLst/>
            <a:ahLst/>
            <a:cxnLst/>
            <a:rect l="l" t="t" r="r" b="b"/>
            <a:pathLst>
              <a:path w="106410" h="307154">
                <a:moveTo>
                  <a:pt x="106410" y="0"/>
                </a:moveTo>
                <a:lnTo>
                  <a:pt x="0" y="307154"/>
                </a:lnTo>
              </a:path>
            </a:pathLst>
          </a:custGeom>
          <a:ln w="15875">
            <a:solidFill>
              <a:srgbClr val="C4262E"/>
            </a:solidFill>
            <a:prstDash val="solid"/>
            <a:tailEnd type="triangle"/>
          </a:ln>
        </p:spPr>
      </p:sp>
      <p:sp>
        <p:nvSpPr>
          <p:cNvPr id="271" name="Shape 269"/>
          <p:cNvSpPr/>
          <p:nvPr/>
        </p:nvSpPr>
        <p:spPr>
          <a:xfrm>
            <a:off x="10728576" y="5641815"/>
            <a:ext cx="86702" cy="262889"/>
          </a:xfrm>
          <a:custGeom>
            <a:avLst/>
            <a:gdLst/>
            <a:ahLst/>
            <a:cxnLst/>
            <a:rect l="l" t="t" r="r" b="b"/>
            <a:pathLst>
              <a:path w="86702" h="262889">
                <a:moveTo>
                  <a:pt x="0" y="262889"/>
                </a:moveTo>
                <a:lnTo>
                  <a:pt x="86702" y="0"/>
                </a:lnTo>
              </a:path>
            </a:pathLst>
          </a:custGeom>
          <a:ln w="15875">
            <a:solidFill>
              <a:srgbClr val="C4262E"/>
            </a:solidFill>
            <a:prstDash val="solid"/>
            <a:tailEnd type="triangle"/>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DIRECTION C — SPATIAL EXPERIENCE</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What a person actually goes through, from the road to the top of Shimla Pahari.</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13</a:t>
            </a:r>
            <a:endParaRPr lang="en-US" sz="3400" dirty="0"/>
          </a:p>
        </p:txBody>
      </p:sp>
      <p:sp>
        <p:nvSpPr>
          <p:cNvPr id="6" name="Shape 4"/>
          <p:cNvSpPr/>
          <p:nvPr/>
        </p:nvSpPr>
        <p:spPr>
          <a:xfrm>
            <a:off x="10241280" y="896112"/>
            <a:ext cx="1554480" cy="182880"/>
          </a:xfrm>
          <a:prstGeom prst="roundRect">
            <a:avLst>
              <a:gd name="adj" fmla="val 20000"/>
            </a:avLst>
          </a:prstGeom>
          <a:solidFill>
            <a:srgbClr val="C4262E"/>
          </a:solidFill>
          <a:ln w="9525">
            <a:solidFill>
              <a:srgbClr val="C4262E"/>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sp>
        <p:nvSpPr>
          <p:cNvPr id="8" name="Shape 6"/>
          <p:cNvSpPr/>
          <p:nvPr/>
        </p:nvSpPr>
        <p:spPr>
          <a:xfrm>
            <a:off x="365760" y="2470977"/>
            <a:ext cx="11430000" cy="1689543"/>
          </a:xfrm>
          <a:custGeom>
            <a:avLst/>
            <a:gdLst/>
            <a:ahLst/>
            <a:cxnLst/>
            <a:rect l="l" t="t" r="r" b="b"/>
            <a:pathLst>
              <a:path w="11430000" h="1689543">
                <a:moveTo>
                  <a:pt x="0" y="1267090"/>
                </a:moveTo>
                <a:lnTo>
                  <a:pt x="190500" y="1267090"/>
                </a:lnTo>
                <a:lnTo>
                  <a:pt x="381000" y="1267090"/>
                </a:lnTo>
                <a:lnTo>
                  <a:pt x="571500" y="1267090"/>
                </a:lnTo>
                <a:lnTo>
                  <a:pt x="762000" y="1267090"/>
                </a:lnTo>
                <a:lnTo>
                  <a:pt x="952500" y="1267090"/>
                </a:lnTo>
                <a:lnTo>
                  <a:pt x="1143000" y="1267090"/>
                </a:lnTo>
                <a:lnTo>
                  <a:pt x="1333500" y="1266018"/>
                </a:lnTo>
                <a:lnTo>
                  <a:pt x="1524000" y="1253999"/>
                </a:lnTo>
                <a:lnTo>
                  <a:pt x="1714500" y="1228875"/>
                </a:lnTo>
                <a:lnTo>
                  <a:pt x="1905000" y="1191176"/>
                </a:lnTo>
                <a:lnTo>
                  <a:pt x="2095500" y="1141700"/>
                </a:lnTo>
                <a:lnTo>
                  <a:pt x="2286000" y="1081490"/>
                </a:lnTo>
                <a:lnTo>
                  <a:pt x="2476500" y="1011818"/>
                </a:lnTo>
                <a:lnTo>
                  <a:pt x="2667000" y="934156"/>
                </a:lnTo>
                <a:lnTo>
                  <a:pt x="2857500" y="850142"/>
                </a:lnTo>
                <a:lnTo>
                  <a:pt x="3048000" y="761552"/>
                </a:lnTo>
                <a:lnTo>
                  <a:pt x="3238500" y="670256"/>
                </a:lnTo>
                <a:lnTo>
                  <a:pt x="3429000" y="578182"/>
                </a:lnTo>
                <a:lnTo>
                  <a:pt x="3619500" y="487275"/>
                </a:lnTo>
                <a:lnTo>
                  <a:pt x="3810000" y="399453"/>
                </a:lnTo>
                <a:lnTo>
                  <a:pt x="4000500" y="316572"/>
                </a:lnTo>
                <a:lnTo>
                  <a:pt x="4191000" y="240381"/>
                </a:lnTo>
                <a:lnTo>
                  <a:pt x="4381500" y="172490"/>
                </a:lnTo>
                <a:lnTo>
                  <a:pt x="4572000" y="114332"/>
                </a:lnTo>
                <a:lnTo>
                  <a:pt x="4762500" y="67135"/>
                </a:lnTo>
                <a:lnTo>
                  <a:pt x="4953000" y="31896"/>
                </a:lnTo>
                <a:lnTo>
                  <a:pt x="5143500" y="9359"/>
                </a:lnTo>
                <a:lnTo>
                  <a:pt x="5334000" y="0"/>
                </a:lnTo>
                <a:lnTo>
                  <a:pt x="5524500" y="4017"/>
                </a:lnTo>
                <a:lnTo>
                  <a:pt x="5715000" y="21324"/>
                </a:lnTo>
                <a:lnTo>
                  <a:pt x="5905500" y="51557"/>
                </a:lnTo>
                <a:lnTo>
                  <a:pt x="6096000" y="94076"/>
                </a:lnTo>
                <a:lnTo>
                  <a:pt x="6286500" y="147985"/>
                </a:lnTo>
                <a:lnTo>
                  <a:pt x="6477000" y="212144"/>
                </a:lnTo>
                <a:lnTo>
                  <a:pt x="6667500" y="285199"/>
                </a:lnTo>
                <a:lnTo>
                  <a:pt x="6858000" y="365607"/>
                </a:lnTo>
                <a:lnTo>
                  <a:pt x="7048500" y="451670"/>
                </a:lnTo>
                <a:lnTo>
                  <a:pt x="7239000" y="541571"/>
                </a:lnTo>
                <a:lnTo>
                  <a:pt x="7429500" y="633411"/>
                </a:lnTo>
                <a:lnTo>
                  <a:pt x="7620000" y="725251"/>
                </a:lnTo>
                <a:lnTo>
                  <a:pt x="7810500" y="815152"/>
                </a:lnTo>
                <a:lnTo>
                  <a:pt x="8001000" y="901216"/>
                </a:lnTo>
                <a:lnTo>
                  <a:pt x="8191500" y="981624"/>
                </a:lnTo>
                <a:lnTo>
                  <a:pt x="8382000" y="1054678"/>
                </a:lnTo>
                <a:lnTo>
                  <a:pt x="8572500" y="1118838"/>
                </a:lnTo>
                <a:lnTo>
                  <a:pt x="8763000" y="1172746"/>
                </a:lnTo>
                <a:lnTo>
                  <a:pt x="8953500" y="1215266"/>
                </a:lnTo>
                <a:lnTo>
                  <a:pt x="9144000" y="1245498"/>
                </a:lnTo>
                <a:lnTo>
                  <a:pt x="9334500" y="1262806"/>
                </a:lnTo>
                <a:lnTo>
                  <a:pt x="9525000" y="1267090"/>
                </a:lnTo>
                <a:lnTo>
                  <a:pt x="9715500" y="1267090"/>
                </a:lnTo>
                <a:lnTo>
                  <a:pt x="9906000" y="1267090"/>
                </a:lnTo>
                <a:lnTo>
                  <a:pt x="10096500" y="1267090"/>
                </a:lnTo>
                <a:lnTo>
                  <a:pt x="10287000" y="1267090"/>
                </a:lnTo>
                <a:lnTo>
                  <a:pt x="10477500" y="1267090"/>
                </a:lnTo>
                <a:lnTo>
                  <a:pt x="10668000" y="1267090"/>
                </a:lnTo>
                <a:lnTo>
                  <a:pt x="10858500" y="1267090"/>
                </a:lnTo>
                <a:lnTo>
                  <a:pt x="11049000" y="1267090"/>
                </a:lnTo>
                <a:lnTo>
                  <a:pt x="11239500" y="1267090"/>
                </a:lnTo>
                <a:lnTo>
                  <a:pt x="11430000" y="1267090"/>
                </a:lnTo>
                <a:lnTo>
                  <a:pt x="11430000" y="1689543"/>
                </a:lnTo>
                <a:lnTo>
                  <a:pt x="0" y="1689543"/>
                </a:lnTo>
                <a:close/>
              </a:path>
            </a:pathLst>
          </a:custGeom>
          <a:solidFill>
            <a:srgbClr val="E3ECDC"/>
          </a:solidFill>
          <a:ln w="12700"/>
        </p:spPr>
      </p:sp>
      <p:sp>
        <p:nvSpPr>
          <p:cNvPr id="9" name="Shape 7"/>
          <p:cNvSpPr/>
          <p:nvPr/>
        </p:nvSpPr>
        <p:spPr>
          <a:xfrm>
            <a:off x="365760" y="2470977"/>
            <a:ext cx="11430000" cy="1267090"/>
          </a:xfrm>
          <a:custGeom>
            <a:avLst/>
            <a:gdLst/>
            <a:ahLst/>
            <a:cxnLst/>
            <a:rect l="l" t="t" r="r" b="b"/>
            <a:pathLst>
              <a:path w="11430000" h="1267090">
                <a:moveTo>
                  <a:pt x="0" y="1267090"/>
                </a:moveTo>
                <a:lnTo>
                  <a:pt x="190500" y="1267090"/>
                </a:lnTo>
                <a:lnTo>
                  <a:pt x="381000" y="1267090"/>
                </a:lnTo>
                <a:lnTo>
                  <a:pt x="571500" y="1267090"/>
                </a:lnTo>
                <a:lnTo>
                  <a:pt x="762000" y="1267090"/>
                </a:lnTo>
                <a:lnTo>
                  <a:pt x="952500" y="1267090"/>
                </a:lnTo>
                <a:lnTo>
                  <a:pt x="1143000" y="1267090"/>
                </a:lnTo>
                <a:lnTo>
                  <a:pt x="1333500" y="1266018"/>
                </a:lnTo>
                <a:lnTo>
                  <a:pt x="1524000" y="1253999"/>
                </a:lnTo>
                <a:lnTo>
                  <a:pt x="1714500" y="1228875"/>
                </a:lnTo>
                <a:lnTo>
                  <a:pt x="1905000" y="1191176"/>
                </a:lnTo>
                <a:lnTo>
                  <a:pt x="2095500" y="1141700"/>
                </a:lnTo>
                <a:lnTo>
                  <a:pt x="2286000" y="1081490"/>
                </a:lnTo>
                <a:lnTo>
                  <a:pt x="2476500" y="1011818"/>
                </a:lnTo>
                <a:lnTo>
                  <a:pt x="2667000" y="934156"/>
                </a:lnTo>
                <a:lnTo>
                  <a:pt x="2857500" y="850142"/>
                </a:lnTo>
                <a:lnTo>
                  <a:pt x="3048000" y="761552"/>
                </a:lnTo>
                <a:lnTo>
                  <a:pt x="3238500" y="670256"/>
                </a:lnTo>
                <a:lnTo>
                  <a:pt x="3429000" y="578182"/>
                </a:lnTo>
                <a:lnTo>
                  <a:pt x="3619500" y="487275"/>
                </a:lnTo>
                <a:lnTo>
                  <a:pt x="3810000" y="399453"/>
                </a:lnTo>
                <a:lnTo>
                  <a:pt x="4000500" y="316572"/>
                </a:lnTo>
                <a:lnTo>
                  <a:pt x="4191000" y="240381"/>
                </a:lnTo>
                <a:lnTo>
                  <a:pt x="4381500" y="172490"/>
                </a:lnTo>
                <a:lnTo>
                  <a:pt x="4572000" y="114332"/>
                </a:lnTo>
                <a:lnTo>
                  <a:pt x="4762500" y="67135"/>
                </a:lnTo>
                <a:lnTo>
                  <a:pt x="4953000" y="31896"/>
                </a:lnTo>
                <a:lnTo>
                  <a:pt x="5143500" y="9359"/>
                </a:lnTo>
                <a:lnTo>
                  <a:pt x="5334000" y="0"/>
                </a:lnTo>
                <a:lnTo>
                  <a:pt x="5524500" y="4017"/>
                </a:lnTo>
                <a:lnTo>
                  <a:pt x="5715000" y="21324"/>
                </a:lnTo>
                <a:lnTo>
                  <a:pt x="5905500" y="51557"/>
                </a:lnTo>
                <a:lnTo>
                  <a:pt x="6096000" y="94076"/>
                </a:lnTo>
                <a:lnTo>
                  <a:pt x="6286500" y="147985"/>
                </a:lnTo>
                <a:lnTo>
                  <a:pt x="6477000" y="212144"/>
                </a:lnTo>
                <a:lnTo>
                  <a:pt x="6667500" y="285199"/>
                </a:lnTo>
                <a:lnTo>
                  <a:pt x="6858000" y="365607"/>
                </a:lnTo>
                <a:lnTo>
                  <a:pt x="7048500" y="451670"/>
                </a:lnTo>
                <a:lnTo>
                  <a:pt x="7239000" y="541571"/>
                </a:lnTo>
                <a:lnTo>
                  <a:pt x="7429500" y="633411"/>
                </a:lnTo>
                <a:lnTo>
                  <a:pt x="7620000" y="725251"/>
                </a:lnTo>
                <a:lnTo>
                  <a:pt x="7810500" y="815152"/>
                </a:lnTo>
                <a:lnTo>
                  <a:pt x="8001000" y="901216"/>
                </a:lnTo>
                <a:lnTo>
                  <a:pt x="8191500" y="981624"/>
                </a:lnTo>
                <a:lnTo>
                  <a:pt x="8382000" y="1054678"/>
                </a:lnTo>
                <a:lnTo>
                  <a:pt x="8572500" y="1118838"/>
                </a:lnTo>
                <a:lnTo>
                  <a:pt x="8763000" y="1172746"/>
                </a:lnTo>
                <a:lnTo>
                  <a:pt x="8953500" y="1215266"/>
                </a:lnTo>
                <a:lnTo>
                  <a:pt x="9144000" y="1245498"/>
                </a:lnTo>
                <a:lnTo>
                  <a:pt x="9334500" y="1262806"/>
                </a:lnTo>
                <a:lnTo>
                  <a:pt x="9525000" y="1267090"/>
                </a:lnTo>
                <a:lnTo>
                  <a:pt x="9715500" y="1267090"/>
                </a:lnTo>
                <a:lnTo>
                  <a:pt x="9906000" y="1267090"/>
                </a:lnTo>
                <a:lnTo>
                  <a:pt x="10096500" y="1267090"/>
                </a:lnTo>
                <a:lnTo>
                  <a:pt x="10287000" y="1267090"/>
                </a:lnTo>
                <a:lnTo>
                  <a:pt x="10477500" y="1267090"/>
                </a:lnTo>
                <a:lnTo>
                  <a:pt x="10668000" y="1267090"/>
                </a:lnTo>
                <a:lnTo>
                  <a:pt x="10858500" y="1267090"/>
                </a:lnTo>
                <a:lnTo>
                  <a:pt x="11049000" y="1267090"/>
                </a:lnTo>
                <a:lnTo>
                  <a:pt x="11239500" y="1267090"/>
                </a:lnTo>
                <a:lnTo>
                  <a:pt x="11430000" y="1267090"/>
                </a:lnTo>
              </a:path>
            </a:pathLst>
          </a:custGeom>
          <a:ln w="15875">
            <a:solidFill>
              <a:srgbClr val="1B1B1B"/>
            </a:solidFill>
            <a:prstDash val="solid"/>
          </a:ln>
        </p:spPr>
      </p:sp>
      <p:sp>
        <p:nvSpPr>
          <p:cNvPr id="10" name="Text 8"/>
          <p:cNvSpPr txBox="1"/>
          <p:nvPr/>
        </p:nvSpPr>
        <p:spPr>
          <a:xfrm>
            <a:off x="822960" y="3747211"/>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1" name="Text 9"/>
          <p:cNvSpPr txBox="1"/>
          <p:nvPr/>
        </p:nvSpPr>
        <p:spPr>
          <a:xfrm>
            <a:off x="10881360" y="3747211"/>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12" name="Shape 10"/>
          <p:cNvSpPr/>
          <p:nvPr/>
        </p:nvSpPr>
        <p:spPr>
          <a:xfrm>
            <a:off x="2647188" y="3387875"/>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13" name="Shape 11"/>
          <p:cNvSpPr/>
          <p:nvPr/>
        </p:nvSpPr>
        <p:spPr>
          <a:xfrm>
            <a:off x="2596896" y="3296435"/>
            <a:ext cx="109728" cy="109728"/>
          </a:xfrm>
          <a:prstGeom prst="ellipse">
            <a:avLst/>
          </a:prstGeom>
          <a:solidFill>
            <a:srgbClr val="FFFFFF"/>
          </a:solidFill>
          <a:ln w="7620">
            <a:solidFill>
              <a:srgbClr val="4F7A43"/>
            </a:solidFill>
            <a:prstDash val="solid"/>
          </a:ln>
        </p:spPr>
      </p:sp>
      <p:sp>
        <p:nvSpPr>
          <p:cNvPr id="14" name="Shape 12"/>
          <p:cNvSpPr/>
          <p:nvPr/>
        </p:nvSpPr>
        <p:spPr>
          <a:xfrm>
            <a:off x="3561588" y="2995025"/>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15" name="Shape 13"/>
          <p:cNvSpPr/>
          <p:nvPr/>
        </p:nvSpPr>
        <p:spPr>
          <a:xfrm>
            <a:off x="3511296" y="2903585"/>
            <a:ext cx="109728" cy="109728"/>
          </a:xfrm>
          <a:prstGeom prst="ellipse">
            <a:avLst/>
          </a:prstGeom>
          <a:solidFill>
            <a:srgbClr val="FFFFFF"/>
          </a:solidFill>
          <a:ln w="7620">
            <a:solidFill>
              <a:srgbClr val="4F7A43"/>
            </a:solidFill>
            <a:prstDash val="solid"/>
          </a:ln>
        </p:spPr>
      </p:sp>
      <p:sp>
        <p:nvSpPr>
          <p:cNvPr id="16" name="Shape 14"/>
          <p:cNvSpPr/>
          <p:nvPr/>
        </p:nvSpPr>
        <p:spPr>
          <a:xfrm>
            <a:off x="8590788" y="3303259"/>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17" name="Shape 15"/>
          <p:cNvSpPr/>
          <p:nvPr/>
        </p:nvSpPr>
        <p:spPr>
          <a:xfrm>
            <a:off x="8540496" y="3211819"/>
            <a:ext cx="109728" cy="109728"/>
          </a:xfrm>
          <a:prstGeom prst="ellipse">
            <a:avLst/>
          </a:prstGeom>
          <a:solidFill>
            <a:srgbClr val="FFFFFF"/>
          </a:solidFill>
          <a:ln w="7620">
            <a:solidFill>
              <a:srgbClr val="4F7A43"/>
            </a:solidFill>
            <a:prstDash val="solid"/>
          </a:ln>
        </p:spPr>
      </p:sp>
      <p:sp>
        <p:nvSpPr>
          <p:cNvPr id="18" name="Shape 16"/>
          <p:cNvSpPr/>
          <p:nvPr/>
        </p:nvSpPr>
        <p:spPr>
          <a:xfrm>
            <a:off x="9505188" y="3551883"/>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19" name="Shape 17"/>
          <p:cNvSpPr/>
          <p:nvPr/>
        </p:nvSpPr>
        <p:spPr>
          <a:xfrm>
            <a:off x="9454896" y="3460443"/>
            <a:ext cx="109728" cy="109728"/>
          </a:xfrm>
          <a:prstGeom prst="ellipse">
            <a:avLst/>
          </a:prstGeom>
          <a:solidFill>
            <a:srgbClr val="FFFFFF"/>
          </a:solidFill>
          <a:ln w="7620">
            <a:solidFill>
              <a:srgbClr val="4F7A43"/>
            </a:solidFill>
            <a:prstDash val="solid"/>
          </a:ln>
        </p:spPr>
      </p:sp>
      <p:sp>
        <p:nvSpPr>
          <p:cNvPr id="20" name="Shape 18"/>
          <p:cNvSpPr/>
          <p:nvPr/>
        </p:nvSpPr>
        <p:spPr>
          <a:xfrm>
            <a:off x="1588770" y="3445349"/>
            <a:ext cx="754380" cy="181051"/>
          </a:xfrm>
          <a:prstGeom prst="rect">
            <a:avLst/>
          </a:prstGeom>
          <a:solidFill>
            <a:srgbClr val="C4262E"/>
          </a:solidFill>
          <a:ln/>
        </p:spPr>
      </p:sp>
      <p:sp>
        <p:nvSpPr>
          <p:cNvPr id="21" name="Shape 19"/>
          <p:cNvSpPr/>
          <p:nvPr/>
        </p:nvSpPr>
        <p:spPr>
          <a:xfrm>
            <a:off x="1553223" y="3271613"/>
            <a:ext cx="825475" cy="146304"/>
          </a:xfrm>
          <a:prstGeom prst="rect">
            <a:avLst/>
          </a:prstGeom>
          <a:solidFill>
            <a:srgbClr val="FFFFFF"/>
          </a:solidFill>
          <a:ln/>
        </p:spPr>
      </p:sp>
      <p:sp>
        <p:nvSpPr>
          <p:cNvPr id="22" name="Text 20"/>
          <p:cNvSpPr txBox="1"/>
          <p:nvPr/>
        </p:nvSpPr>
        <p:spPr>
          <a:xfrm>
            <a:off x="1553223" y="3271613"/>
            <a:ext cx="825475" cy="146304"/>
          </a:xfrm>
          <a:prstGeom prst="rect">
            <a:avLst/>
          </a:prstGeom>
          <a:noFill/>
          <a:ln/>
        </p:spPr>
        <p:txBody>
          <a:bodyPr wrap="square" lIns="0" tIns="0" rIns="0" bIns="0" rtlCol="0" anchor="ctr"/>
          <a:lstStyle/>
          <a:p>
            <a:pPr algn="ctr" indent="0" marL="0">
              <a:buNone/>
            </a:pPr>
            <a:r>
              <a:rPr lang="en-US" sz="650" b="1" dirty="0">
                <a:solidFill>
                  <a:srgbClr val="C4262E"/>
                </a:solidFill>
                <a:latin typeface="Arial" pitchFamily="34" charset="0"/>
                <a:ea typeface="Arial" pitchFamily="34" charset="-122"/>
                <a:cs typeface="Arial" pitchFamily="34" charset="-120"/>
              </a:rPr>
              <a:t>FORUM · PRESS</a:t>
            </a:r>
            <a:endParaRPr lang="en-US" sz="650" dirty="0"/>
          </a:p>
        </p:txBody>
      </p:sp>
      <p:sp>
        <p:nvSpPr>
          <p:cNvPr id="23" name="Shape 21"/>
          <p:cNvSpPr/>
          <p:nvPr/>
        </p:nvSpPr>
        <p:spPr>
          <a:xfrm>
            <a:off x="3022092" y="2805064"/>
            <a:ext cx="490347" cy="362102"/>
          </a:xfrm>
          <a:prstGeom prst="rect">
            <a:avLst/>
          </a:prstGeom>
          <a:solidFill>
            <a:srgbClr val="F0B9BC"/>
          </a:solidFill>
          <a:ln w="6350">
            <a:solidFill>
              <a:srgbClr val="1B1B1B"/>
            </a:solidFill>
            <a:prstDash val="solid"/>
          </a:ln>
        </p:spPr>
      </p:sp>
      <p:sp>
        <p:nvSpPr>
          <p:cNvPr id="24" name="Shape 22"/>
          <p:cNvSpPr/>
          <p:nvPr/>
        </p:nvSpPr>
        <p:spPr>
          <a:xfrm>
            <a:off x="3091072" y="3167167"/>
            <a:ext cx="9144" cy="210851"/>
          </a:xfrm>
          <a:custGeom>
            <a:avLst/>
            <a:gdLst/>
            <a:ahLst/>
            <a:cxnLst/>
            <a:rect l="l" t="t" r="r" b="b"/>
            <a:pathLst>
              <a:path w="9144" h="210851">
                <a:moveTo>
                  <a:pt x="4572" y="0"/>
                </a:moveTo>
                <a:lnTo>
                  <a:pt x="4572" y="210851"/>
                </a:lnTo>
              </a:path>
            </a:pathLst>
          </a:custGeom>
          <a:ln w="9525">
            <a:solidFill>
              <a:srgbClr val="1B1B1B"/>
            </a:solidFill>
            <a:prstDash val="solid"/>
          </a:ln>
        </p:spPr>
      </p:sp>
      <p:sp>
        <p:nvSpPr>
          <p:cNvPr id="25" name="Shape 23"/>
          <p:cNvSpPr/>
          <p:nvPr/>
        </p:nvSpPr>
        <p:spPr>
          <a:xfrm>
            <a:off x="3262694" y="3167167"/>
            <a:ext cx="9144" cy="133828"/>
          </a:xfrm>
          <a:custGeom>
            <a:avLst/>
            <a:gdLst/>
            <a:ahLst/>
            <a:cxnLst/>
            <a:rect l="l" t="t" r="r" b="b"/>
            <a:pathLst>
              <a:path w="9144" h="133828">
                <a:moveTo>
                  <a:pt x="4572" y="0"/>
                </a:moveTo>
                <a:lnTo>
                  <a:pt x="4572" y="133828"/>
                </a:lnTo>
              </a:path>
            </a:pathLst>
          </a:custGeom>
          <a:ln w="9525">
            <a:solidFill>
              <a:srgbClr val="1B1B1B"/>
            </a:solidFill>
            <a:prstDash val="solid"/>
          </a:ln>
        </p:spPr>
      </p:sp>
      <p:sp>
        <p:nvSpPr>
          <p:cNvPr id="26" name="Shape 24"/>
          <p:cNvSpPr/>
          <p:nvPr/>
        </p:nvSpPr>
        <p:spPr>
          <a:xfrm>
            <a:off x="3434315" y="3167167"/>
            <a:ext cx="9144" cy="53434"/>
          </a:xfrm>
          <a:custGeom>
            <a:avLst/>
            <a:gdLst/>
            <a:ahLst/>
            <a:cxnLst/>
            <a:rect l="l" t="t" r="r" b="b"/>
            <a:pathLst>
              <a:path w="9144" h="53434">
                <a:moveTo>
                  <a:pt x="4572" y="0"/>
                </a:moveTo>
                <a:lnTo>
                  <a:pt x="4572" y="53434"/>
                </a:lnTo>
              </a:path>
            </a:pathLst>
          </a:custGeom>
          <a:ln w="9525">
            <a:solidFill>
              <a:srgbClr val="1B1B1B"/>
            </a:solidFill>
            <a:prstDash val="solid"/>
          </a:ln>
        </p:spPr>
      </p:sp>
      <p:sp>
        <p:nvSpPr>
          <p:cNvPr id="27" name="Shape 25"/>
          <p:cNvSpPr/>
          <p:nvPr/>
        </p:nvSpPr>
        <p:spPr>
          <a:xfrm>
            <a:off x="3023921" y="2631328"/>
            <a:ext cx="486689" cy="146304"/>
          </a:xfrm>
          <a:prstGeom prst="rect">
            <a:avLst/>
          </a:prstGeom>
          <a:solidFill>
            <a:srgbClr val="FFFFFF"/>
          </a:solidFill>
          <a:ln/>
        </p:spPr>
      </p:sp>
      <p:sp>
        <p:nvSpPr>
          <p:cNvPr id="28" name="Text 26"/>
          <p:cNvSpPr txBox="1"/>
          <p:nvPr/>
        </p:nvSpPr>
        <p:spPr>
          <a:xfrm>
            <a:off x="3023921" y="2631328"/>
            <a:ext cx="486689" cy="146304"/>
          </a:xfrm>
          <a:prstGeom prst="rect">
            <a:avLst/>
          </a:prstGeom>
          <a:noFill/>
          <a:ln/>
        </p:spPr>
        <p:txBody>
          <a:bodyPr wrap="square" lIns="0" tIns="0" rIns="0" bIns="0" rtlCol="0" anchor="ctr"/>
          <a:lstStyle/>
          <a:p>
            <a:pPr algn="ctr" indent="0" marL="0">
              <a:buNone/>
            </a:pPr>
            <a:r>
              <a:rPr lang="en-US" sz="650" b="1" dirty="0">
                <a:solidFill>
                  <a:srgbClr val="1B1B1B"/>
                </a:solidFill>
                <a:latin typeface="Arial" pitchFamily="34" charset="0"/>
                <a:ea typeface="Arial" pitchFamily="34" charset="-122"/>
                <a:cs typeface="Arial" pitchFamily="34" charset="-120"/>
              </a:rPr>
              <a:t>LIBRARY</a:t>
            </a:r>
            <a:endParaRPr lang="en-US" sz="650" dirty="0"/>
          </a:p>
        </p:txBody>
      </p:sp>
      <p:sp>
        <p:nvSpPr>
          <p:cNvPr id="29" name="Shape 27"/>
          <p:cNvSpPr/>
          <p:nvPr/>
        </p:nvSpPr>
        <p:spPr>
          <a:xfrm>
            <a:off x="3851910" y="2433361"/>
            <a:ext cx="452628" cy="362102"/>
          </a:xfrm>
          <a:prstGeom prst="rect">
            <a:avLst/>
          </a:prstGeom>
          <a:solidFill>
            <a:srgbClr val="1B1B1B"/>
          </a:solidFill>
          <a:ln/>
        </p:spPr>
      </p:sp>
      <p:sp>
        <p:nvSpPr>
          <p:cNvPr id="30" name="Shape 28"/>
          <p:cNvSpPr/>
          <p:nvPr/>
        </p:nvSpPr>
        <p:spPr>
          <a:xfrm>
            <a:off x="3915232" y="2795463"/>
            <a:ext cx="9144" cy="193772"/>
          </a:xfrm>
          <a:custGeom>
            <a:avLst/>
            <a:gdLst/>
            <a:ahLst/>
            <a:cxnLst/>
            <a:rect l="l" t="t" r="r" b="b"/>
            <a:pathLst>
              <a:path w="9144" h="193772">
                <a:moveTo>
                  <a:pt x="4572" y="0"/>
                </a:moveTo>
                <a:lnTo>
                  <a:pt x="4572" y="193772"/>
                </a:lnTo>
              </a:path>
            </a:pathLst>
          </a:custGeom>
          <a:ln w="9525">
            <a:solidFill>
              <a:srgbClr val="1B1B1B"/>
            </a:solidFill>
            <a:prstDash val="solid"/>
          </a:ln>
        </p:spPr>
      </p:sp>
      <p:sp>
        <p:nvSpPr>
          <p:cNvPr id="31" name="Shape 29"/>
          <p:cNvSpPr/>
          <p:nvPr/>
        </p:nvSpPr>
        <p:spPr>
          <a:xfrm>
            <a:off x="4073652" y="2795463"/>
            <a:ext cx="9144" cy="119429"/>
          </a:xfrm>
          <a:custGeom>
            <a:avLst/>
            <a:gdLst/>
            <a:ahLst/>
            <a:cxnLst/>
            <a:rect l="l" t="t" r="r" b="b"/>
            <a:pathLst>
              <a:path w="9144" h="119429">
                <a:moveTo>
                  <a:pt x="4572" y="0"/>
                </a:moveTo>
                <a:lnTo>
                  <a:pt x="4572" y="119429"/>
                </a:lnTo>
              </a:path>
            </a:pathLst>
          </a:custGeom>
          <a:ln w="9525">
            <a:solidFill>
              <a:srgbClr val="1B1B1B"/>
            </a:solidFill>
            <a:prstDash val="solid"/>
          </a:ln>
        </p:spPr>
      </p:sp>
      <p:sp>
        <p:nvSpPr>
          <p:cNvPr id="32" name="Shape 30"/>
          <p:cNvSpPr/>
          <p:nvPr/>
        </p:nvSpPr>
        <p:spPr>
          <a:xfrm>
            <a:off x="4232072" y="2795463"/>
            <a:ext cx="9144" cy="47854"/>
          </a:xfrm>
          <a:custGeom>
            <a:avLst/>
            <a:gdLst/>
            <a:ahLst/>
            <a:cxnLst/>
            <a:rect l="l" t="t" r="r" b="b"/>
            <a:pathLst>
              <a:path w="9144" h="47854">
                <a:moveTo>
                  <a:pt x="4572" y="0"/>
                </a:moveTo>
                <a:lnTo>
                  <a:pt x="4572" y="47854"/>
                </a:lnTo>
              </a:path>
            </a:pathLst>
          </a:custGeom>
          <a:ln w="9525">
            <a:solidFill>
              <a:srgbClr val="1B1B1B"/>
            </a:solidFill>
            <a:prstDash val="solid"/>
          </a:ln>
        </p:spPr>
      </p:sp>
      <p:sp>
        <p:nvSpPr>
          <p:cNvPr id="33" name="Shape 31"/>
          <p:cNvSpPr/>
          <p:nvPr/>
        </p:nvSpPr>
        <p:spPr>
          <a:xfrm>
            <a:off x="3524326" y="2259625"/>
            <a:ext cx="1107796" cy="146304"/>
          </a:xfrm>
          <a:prstGeom prst="rect">
            <a:avLst/>
          </a:prstGeom>
          <a:solidFill>
            <a:srgbClr val="FFFFFF"/>
          </a:solidFill>
          <a:ln/>
        </p:spPr>
      </p:sp>
      <p:sp>
        <p:nvSpPr>
          <p:cNvPr id="34" name="Text 32"/>
          <p:cNvSpPr txBox="1"/>
          <p:nvPr/>
        </p:nvSpPr>
        <p:spPr>
          <a:xfrm>
            <a:off x="3524326" y="2259625"/>
            <a:ext cx="1107796" cy="146304"/>
          </a:xfrm>
          <a:prstGeom prst="rect">
            <a:avLst/>
          </a:prstGeom>
          <a:noFill/>
          <a:ln/>
        </p:spPr>
        <p:txBody>
          <a:bodyPr wrap="square" lIns="0" tIns="0" rIns="0" bIns="0" rtlCol="0" anchor="ctr"/>
          <a:lstStyle/>
          <a:p>
            <a:pPr algn="ctr" indent="0" marL="0">
              <a:buNone/>
            </a:pPr>
            <a:r>
              <a:rPr lang="en-US" sz="650" b="1" dirty="0">
                <a:solidFill>
                  <a:srgbClr val="1B1B1B"/>
                </a:solidFill>
                <a:latin typeface="Arial" pitchFamily="34" charset="0"/>
                <a:ea typeface="Arial" pitchFamily="34" charset="-122"/>
                <a:cs typeface="Arial" pitchFamily="34" charset="-120"/>
              </a:rPr>
              <a:t>ARCHIVE · RESEARCH</a:t>
            </a:r>
            <a:endParaRPr lang="en-US" sz="650" dirty="0"/>
          </a:p>
        </p:txBody>
      </p:sp>
      <p:sp>
        <p:nvSpPr>
          <p:cNvPr id="35" name="Shape 33"/>
          <p:cNvSpPr/>
          <p:nvPr/>
        </p:nvSpPr>
        <p:spPr>
          <a:xfrm>
            <a:off x="4606290" y="2182832"/>
            <a:ext cx="414909" cy="362102"/>
          </a:xfrm>
          <a:prstGeom prst="rect">
            <a:avLst/>
          </a:prstGeom>
          <a:solidFill>
            <a:srgbClr val="9A9A9A"/>
          </a:solidFill>
          <a:ln/>
        </p:spPr>
      </p:sp>
      <p:sp>
        <p:nvSpPr>
          <p:cNvPr id="36" name="Shape 34"/>
          <p:cNvSpPr/>
          <p:nvPr/>
        </p:nvSpPr>
        <p:spPr>
          <a:xfrm>
            <a:off x="4663954" y="2544935"/>
            <a:ext cx="9144" cy="125489"/>
          </a:xfrm>
          <a:custGeom>
            <a:avLst/>
            <a:gdLst/>
            <a:ahLst/>
            <a:cxnLst/>
            <a:rect l="l" t="t" r="r" b="b"/>
            <a:pathLst>
              <a:path w="9144" h="125489">
                <a:moveTo>
                  <a:pt x="4572" y="0"/>
                </a:moveTo>
                <a:lnTo>
                  <a:pt x="4572" y="125489"/>
                </a:lnTo>
              </a:path>
            </a:pathLst>
          </a:custGeom>
          <a:ln w="9525">
            <a:solidFill>
              <a:srgbClr val="1B1B1B"/>
            </a:solidFill>
            <a:prstDash val="solid"/>
          </a:ln>
        </p:spPr>
      </p:sp>
      <p:sp>
        <p:nvSpPr>
          <p:cNvPr id="37" name="Shape 35"/>
          <p:cNvSpPr/>
          <p:nvPr/>
        </p:nvSpPr>
        <p:spPr>
          <a:xfrm>
            <a:off x="4809172" y="2544935"/>
            <a:ext cx="9144" cy="77062"/>
          </a:xfrm>
          <a:custGeom>
            <a:avLst/>
            <a:gdLst/>
            <a:ahLst/>
            <a:cxnLst/>
            <a:rect l="l" t="t" r="r" b="b"/>
            <a:pathLst>
              <a:path w="9144" h="77062">
                <a:moveTo>
                  <a:pt x="4572" y="0"/>
                </a:moveTo>
                <a:lnTo>
                  <a:pt x="4572" y="77062"/>
                </a:lnTo>
              </a:path>
            </a:pathLst>
          </a:custGeom>
          <a:ln w="9525">
            <a:solidFill>
              <a:srgbClr val="1B1B1B"/>
            </a:solidFill>
            <a:prstDash val="solid"/>
          </a:ln>
        </p:spPr>
      </p:sp>
      <p:sp>
        <p:nvSpPr>
          <p:cNvPr id="38" name="Shape 36"/>
          <p:cNvSpPr/>
          <p:nvPr/>
        </p:nvSpPr>
        <p:spPr>
          <a:xfrm>
            <a:off x="4954391" y="2544935"/>
            <a:ext cx="9144" cy="34558"/>
          </a:xfrm>
          <a:custGeom>
            <a:avLst/>
            <a:gdLst/>
            <a:ahLst/>
            <a:cxnLst/>
            <a:rect l="l" t="t" r="r" b="b"/>
            <a:pathLst>
              <a:path w="9144" h="34558">
                <a:moveTo>
                  <a:pt x="4572" y="0"/>
                </a:moveTo>
                <a:lnTo>
                  <a:pt x="4572" y="34558"/>
                </a:lnTo>
              </a:path>
            </a:pathLst>
          </a:custGeom>
          <a:ln w="9525">
            <a:solidFill>
              <a:srgbClr val="1B1B1B"/>
            </a:solidFill>
            <a:prstDash val="solid"/>
          </a:ln>
        </p:spPr>
      </p:sp>
      <p:sp>
        <p:nvSpPr>
          <p:cNvPr id="39" name="Shape 37"/>
          <p:cNvSpPr/>
          <p:nvPr/>
        </p:nvSpPr>
        <p:spPr>
          <a:xfrm>
            <a:off x="4401007" y="2009096"/>
            <a:ext cx="825475" cy="146304"/>
          </a:xfrm>
          <a:prstGeom prst="rect">
            <a:avLst/>
          </a:prstGeom>
          <a:solidFill>
            <a:srgbClr val="FFFFFF"/>
          </a:solidFill>
          <a:ln/>
        </p:spPr>
      </p:sp>
      <p:sp>
        <p:nvSpPr>
          <p:cNvPr id="40" name="Text 38"/>
          <p:cNvSpPr txBox="1"/>
          <p:nvPr/>
        </p:nvSpPr>
        <p:spPr>
          <a:xfrm>
            <a:off x="4401007" y="2009096"/>
            <a:ext cx="825475" cy="146304"/>
          </a:xfrm>
          <a:prstGeom prst="rect">
            <a:avLst/>
          </a:prstGeom>
          <a:noFill/>
          <a:ln/>
        </p:spPr>
        <p:txBody>
          <a:bodyPr wrap="square" lIns="0" tIns="0" rIns="0" bIns="0" rtlCol="0" anchor="ctr"/>
          <a:lstStyle/>
          <a:p>
            <a:pPr algn="ctr" indent="0" marL="0">
              <a:buNone/>
            </a:pPr>
            <a:r>
              <a:rPr lang="en-US" sz="650" b="1" dirty="0">
                <a:solidFill>
                  <a:srgbClr val="1B1B1B"/>
                </a:solidFill>
                <a:latin typeface="Arial" pitchFamily="34" charset="0"/>
                <a:ea typeface="Arial" pitchFamily="34" charset="-122"/>
                <a:cs typeface="Arial" pitchFamily="34" charset="-120"/>
              </a:rPr>
              <a:t>MEDIA · PUBL.</a:t>
            </a:r>
            <a:endParaRPr lang="en-US" sz="650" dirty="0"/>
          </a:p>
        </p:txBody>
      </p:sp>
      <p:sp>
        <p:nvSpPr>
          <p:cNvPr id="41" name="Shape 39"/>
          <p:cNvSpPr/>
          <p:nvPr/>
        </p:nvSpPr>
        <p:spPr>
          <a:xfrm>
            <a:off x="9893808" y="3520440"/>
            <a:ext cx="754380" cy="181051"/>
          </a:xfrm>
          <a:prstGeom prst="rect">
            <a:avLst/>
          </a:prstGeom>
          <a:solidFill>
            <a:srgbClr val="9A9A9A"/>
          </a:solidFill>
          <a:ln/>
        </p:spPr>
      </p:sp>
      <p:sp>
        <p:nvSpPr>
          <p:cNvPr id="42" name="Shape 40"/>
          <p:cNvSpPr/>
          <p:nvPr/>
        </p:nvSpPr>
        <p:spPr>
          <a:xfrm>
            <a:off x="9773564" y="3346704"/>
            <a:ext cx="994867" cy="146304"/>
          </a:xfrm>
          <a:prstGeom prst="rect">
            <a:avLst/>
          </a:prstGeom>
          <a:solidFill>
            <a:srgbClr val="FFFFFF"/>
          </a:solidFill>
          <a:ln/>
        </p:spPr>
      </p:sp>
      <p:sp>
        <p:nvSpPr>
          <p:cNvPr id="43" name="Text 41"/>
          <p:cNvSpPr txBox="1"/>
          <p:nvPr/>
        </p:nvSpPr>
        <p:spPr>
          <a:xfrm>
            <a:off x="9773564" y="3346704"/>
            <a:ext cx="994867" cy="146304"/>
          </a:xfrm>
          <a:prstGeom prst="rect">
            <a:avLst/>
          </a:prstGeom>
          <a:noFill/>
          <a:ln/>
        </p:spPr>
        <p:txBody>
          <a:bodyPr wrap="square" lIns="0" tIns="0" rIns="0" bIns="0" rtlCol="0" anchor="ctr"/>
          <a:lstStyle/>
          <a:p>
            <a:pPr algn="ctr" indent="0" marL="0">
              <a:buNone/>
            </a:pPr>
            <a:r>
              <a:rPr lang="en-US" sz="650" b="1" dirty="0">
                <a:solidFill>
                  <a:srgbClr val="1B1B1B"/>
                </a:solidFill>
                <a:latin typeface="Arial" pitchFamily="34" charset="0"/>
                <a:ea typeface="Arial" pitchFamily="34" charset="-122"/>
                <a:cs typeface="Arial" pitchFamily="34" charset="-120"/>
              </a:rPr>
              <a:t>PRINT · DISPATCH</a:t>
            </a:r>
            <a:endParaRPr lang="en-US" sz="650" dirty="0"/>
          </a:p>
        </p:txBody>
      </p:sp>
      <p:sp>
        <p:nvSpPr>
          <p:cNvPr id="44" name="Shape 42"/>
          <p:cNvSpPr/>
          <p:nvPr/>
        </p:nvSpPr>
        <p:spPr>
          <a:xfrm>
            <a:off x="5285232" y="2447849"/>
            <a:ext cx="905256" cy="9144"/>
          </a:xfrm>
          <a:custGeom>
            <a:avLst/>
            <a:gdLst/>
            <a:ahLst/>
            <a:cxnLst/>
            <a:rect l="l" t="t" r="r" b="b"/>
            <a:pathLst>
              <a:path w="905256" h="9144">
                <a:moveTo>
                  <a:pt x="0" y="4572"/>
                </a:moveTo>
                <a:lnTo>
                  <a:pt x="905256" y="4572"/>
                </a:lnTo>
              </a:path>
            </a:pathLst>
          </a:custGeom>
          <a:ln w="38100">
            <a:solidFill>
              <a:srgbClr val="C4262E"/>
            </a:solidFill>
            <a:prstDash val="solid"/>
          </a:ln>
        </p:spPr>
      </p:sp>
      <p:sp>
        <p:nvSpPr>
          <p:cNvPr id="45" name="Shape 43"/>
          <p:cNvSpPr/>
          <p:nvPr/>
        </p:nvSpPr>
        <p:spPr>
          <a:xfrm>
            <a:off x="5360670" y="2230770"/>
            <a:ext cx="754380" cy="9144"/>
          </a:xfrm>
          <a:custGeom>
            <a:avLst/>
            <a:gdLst/>
            <a:ahLst/>
            <a:cxnLst/>
            <a:rect l="l" t="t" r="r" b="b"/>
            <a:pathLst>
              <a:path w="754380" h="9144">
                <a:moveTo>
                  <a:pt x="0" y="4572"/>
                </a:moveTo>
                <a:lnTo>
                  <a:pt x="754380" y="4572"/>
                </a:lnTo>
              </a:path>
            </a:pathLst>
          </a:custGeom>
          <a:ln w="19050">
            <a:solidFill>
              <a:srgbClr val="1B1B1B"/>
            </a:solidFill>
            <a:prstDash val="solid"/>
          </a:ln>
        </p:spPr>
      </p:sp>
      <p:sp>
        <p:nvSpPr>
          <p:cNvPr id="46" name="Shape 44"/>
          <p:cNvSpPr/>
          <p:nvPr/>
        </p:nvSpPr>
        <p:spPr>
          <a:xfrm>
            <a:off x="5431536" y="2235342"/>
            <a:ext cx="9144" cy="217079"/>
          </a:xfrm>
          <a:custGeom>
            <a:avLst/>
            <a:gdLst/>
            <a:ahLst/>
            <a:cxnLst/>
            <a:rect l="l" t="t" r="r" b="b"/>
            <a:pathLst>
              <a:path w="9144" h="217079">
                <a:moveTo>
                  <a:pt x="4572" y="0"/>
                </a:moveTo>
                <a:lnTo>
                  <a:pt x="4572" y="217079"/>
                </a:lnTo>
              </a:path>
            </a:pathLst>
          </a:custGeom>
          <a:ln w="9525">
            <a:solidFill>
              <a:srgbClr val="1B1B1B"/>
            </a:solidFill>
            <a:prstDash val="solid"/>
          </a:ln>
        </p:spPr>
      </p:sp>
      <p:sp>
        <p:nvSpPr>
          <p:cNvPr id="47" name="Shape 45"/>
          <p:cNvSpPr/>
          <p:nvPr/>
        </p:nvSpPr>
        <p:spPr>
          <a:xfrm>
            <a:off x="6035040" y="2235342"/>
            <a:ext cx="9144" cy="217079"/>
          </a:xfrm>
          <a:custGeom>
            <a:avLst/>
            <a:gdLst/>
            <a:ahLst/>
            <a:cxnLst/>
            <a:rect l="l" t="t" r="r" b="b"/>
            <a:pathLst>
              <a:path w="9144" h="217079">
                <a:moveTo>
                  <a:pt x="4572" y="0"/>
                </a:moveTo>
                <a:lnTo>
                  <a:pt x="4572" y="217079"/>
                </a:lnTo>
              </a:path>
            </a:pathLst>
          </a:custGeom>
          <a:ln w="9525">
            <a:solidFill>
              <a:srgbClr val="1B1B1B"/>
            </a:solidFill>
            <a:prstDash val="solid"/>
          </a:ln>
        </p:spPr>
      </p:sp>
      <p:sp>
        <p:nvSpPr>
          <p:cNvPr id="48" name="Shape 46"/>
          <p:cNvSpPr/>
          <p:nvPr/>
        </p:nvSpPr>
        <p:spPr>
          <a:xfrm>
            <a:off x="5409819" y="2052462"/>
            <a:ext cx="656082" cy="146304"/>
          </a:xfrm>
          <a:prstGeom prst="rect">
            <a:avLst/>
          </a:prstGeom>
          <a:solidFill>
            <a:srgbClr val="FFFFFF"/>
          </a:solidFill>
          <a:ln/>
        </p:spPr>
      </p:sp>
      <p:sp>
        <p:nvSpPr>
          <p:cNvPr id="49" name="Text 47"/>
          <p:cNvSpPr txBox="1"/>
          <p:nvPr/>
        </p:nvSpPr>
        <p:spPr>
          <a:xfrm>
            <a:off x="5409819" y="2052462"/>
            <a:ext cx="656082" cy="146304"/>
          </a:xfrm>
          <a:prstGeom prst="rect">
            <a:avLst/>
          </a:prstGeom>
          <a:noFill/>
          <a:ln/>
        </p:spPr>
        <p:txBody>
          <a:bodyPr wrap="square" lIns="0" tIns="0" rIns="0" bIns="0" rtlCol="0" anchor="ctr"/>
          <a:lstStyle/>
          <a:p>
            <a:pPr algn="ctr" indent="0" marL="0">
              <a:buNone/>
            </a:pPr>
            <a:r>
              <a:rPr lang="en-US" sz="650" b="1" dirty="0">
                <a:solidFill>
                  <a:srgbClr val="C4262E"/>
                </a:solidFill>
                <a:latin typeface="Arial" pitchFamily="34" charset="0"/>
                <a:ea typeface="Arial" pitchFamily="34" charset="-122"/>
                <a:cs typeface="Arial" pitchFamily="34" charset="-120"/>
              </a:rPr>
              <a:t>OPEN FORUM</a:t>
            </a:r>
            <a:endParaRPr lang="en-US" sz="650" dirty="0"/>
          </a:p>
        </p:txBody>
      </p:sp>
      <p:sp>
        <p:nvSpPr>
          <p:cNvPr id="50" name="Shape 48"/>
          <p:cNvSpPr/>
          <p:nvPr/>
        </p:nvSpPr>
        <p:spPr>
          <a:xfrm>
            <a:off x="1513332" y="2443277"/>
            <a:ext cx="4224528" cy="1267358"/>
          </a:xfrm>
          <a:custGeom>
            <a:avLst/>
            <a:gdLst/>
            <a:ahLst/>
            <a:cxnLst/>
            <a:rect l="l" t="t" r="r" b="b"/>
            <a:pathLst>
              <a:path w="4224528" h="1267358">
                <a:moveTo>
                  <a:pt x="0" y="1267358"/>
                </a:moveTo>
                <a:lnTo>
                  <a:pt x="176022" y="1266547"/>
                </a:lnTo>
                <a:lnTo>
                  <a:pt x="352044" y="1256545"/>
                </a:lnTo>
                <a:lnTo>
                  <a:pt x="528066" y="1235310"/>
                </a:lnTo>
                <a:lnTo>
                  <a:pt x="704088" y="1203226"/>
                </a:lnTo>
                <a:lnTo>
                  <a:pt x="880110" y="1160871"/>
                </a:lnTo>
                <a:lnTo>
                  <a:pt x="1056132" y="1109009"/>
                </a:lnTo>
                <a:lnTo>
                  <a:pt x="1232154" y="1048575"/>
                </a:lnTo>
                <a:lnTo>
                  <a:pt x="1408176" y="980659"/>
                </a:lnTo>
                <a:lnTo>
                  <a:pt x="1584198" y="906485"/>
                </a:lnTo>
                <a:lnTo>
                  <a:pt x="1760220" y="827392"/>
                </a:lnTo>
                <a:lnTo>
                  <a:pt x="1936242" y="744805"/>
                </a:lnTo>
                <a:lnTo>
                  <a:pt x="2112264" y="660215"/>
                </a:lnTo>
                <a:lnTo>
                  <a:pt x="2288286" y="575146"/>
                </a:lnTo>
                <a:lnTo>
                  <a:pt x="2464308" y="491132"/>
                </a:lnTo>
                <a:lnTo>
                  <a:pt x="2640330" y="409690"/>
                </a:lnTo>
                <a:lnTo>
                  <a:pt x="2816352" y="332286"/>
                </a:lnTo>
                <a:lnTo>
                  <a:pt x="2992374" y="260318"/>
                </a:lnTo>
                <a:lnTo>
                  <a:pt x="3168396" y="195082"/>
                </a:lnTo>
                <a:lnTo>
                  <a:pt x="3344418" y="137757"/>
                </a:lnTo>
                <a:lnTo>
                  <a:pt x="3520440" y="89374"/>
                </a:lnTo>
                <a:lnTo>
                  <a:pt x="3696462" y="50807"/>
                </a:lnTo>
                <a:lnTo>
                  <a:pt x="3872484" y="22752"/>
                </a:lnTo>
                <a:lnTo>
                  <a:pt x="4048506" y="5714"/>
                </a:lnTo>
                <a:lnTo>
                  <a:pt x="4224528" y="0"/>
                </a:lnTo>
              </a:path>
            </a:pathLst>
          </a:custGeom>
          <a:ln w="22225">
            <a:solidFill>
              <a:srgbClr val="C4262E"/>
            </a:solidFill>
            <a:prstDash val="solid"/>
            <a:tailEnd type="triangle"/>
          </a:ln>
        </p:spPr>
      </p:sp>
      <p:sp>
        <p:nvSpPr>
          <p:cNvPr id="51" name="Shape 49"/>
          <p:cNvSpPr/>
          <p:nvPr/>
        </p:nvSpPr>
        <p:spPr>
          <a:xfrm>
            <a:off x="2041398" y="2508730"/>
            <a:ext cx="3319272" cy="1201906"/>
          </a:xfrm>
          <a:custGeom>
            <a:avLst/>
            <a:gdLst/>
            <a:ahLst/>
            <a:cxnLst/>
            <a:rect l="l" t="t" r="r" b="b"/>
            <a:pathLst>
              <a:path w="3319272" h="1201906">
                <a:moveTo>
                  <a:pt x="0" y="1201906"/>
                </a:moveTo>
                <a:lnTo>
                  <a:pt x="3319272" y="0"/>
                </a:lnTo>
              </a:path>
            </a:pathLst>
          </a:custGeom>
          <a:ln w="15875">
            <a:solidFill>
              <a:srgbClr val="1B1B1B"/>
            </a:solidFill>
            <a:prstDash val="dash"/>
          </a:ln>
        </p:spPr>
      </p:sp>
      <p:sp>
        <p:nvSpPr>
          <p:cNvPr id="52" name="Text 50"/>
          <p:cNvSpPr txBox="1"/>
          <p:nvPr/>
        </p:nvSpPr>
        <p:spPr>
          <a:xfrm>
            <a:off x="4176522" y="3293852"/>
            <a:ext cx="1463040" cy="146304"/>
          </a:xfrm>
          <a:prstGeom prst="rect">
            <a:avLst/>
          </a:prstGeom>
          <a:noFill/>
          <a:ln/>
        </p:spPr>
        <p:txBody>
          <a:bodyPr wrap="square" lIns="0" tIns="0" rIns="0" bIns="0" rtlCol="0" anchor="ctr"/>
          <a:lstStyle/>
          <a:p>
            <a:pPr algn="ctr" indent="0" marL="0">
              <a:buNone/>
            </a:pPr>
            <a:r>
              <a:rPr lang="en-US" sz="650" dirty="0">
                <a:solidFill>
                  <a:srgbClr val="1B1B1B"/>
                </a:solidFill>
                <a:latin typeface="Arial" pitchFamily="34" charset="0"/>
                <a:ea typeface="Arial" pitchFamily="34" charset="-122"/>
                <a:cs typeface="Arial" pitchFamily="34" charset="-120"/>
              </a:rPr>
              <a:t>working spine (stair + lift)</a:t>
            </a:r>
            <a:endParaRPr lang="en-US" sz="650" dirty="0"/>
          </a:p>
        </p:txBody>
      </p:sp>
      <p:sp>
        <p:nvSpPr>
          <p:cNvPr id="53" name="Shape 51"/>
          <p:cNvSpPr/>
          <p:nvPr/>
        </p:nvSpPr>
        <p:spPr>
          <a:xfrm>
            <a:off x="609905" y="3536899"/>
            <a:ext cx="60350" cy="60350"/>
          </a:xfrm>
          <a:prstGeom prst="ellipse">
            <a:avLst/>
          </a:prstGeom>
          <a:solidFill>
            <a:srgbClr val="C4262E"/>
          </a:solidFill>
          <a:ln/>
        </p:spPr>
      </p:sp>
      <p:sp>
        <p:nvSpPr>
          <p:cNvPr id="54" name="Shape 52"/>
          <p:cNvSpPr/>
          <p:nvPr/>
        </p:nvSpPr>
        <p:spPr>
          <a:xfrm>
            <a:off x="613928" y="3601273"/>
            <a:ext cx="52304" cy="136794"/>
          </a:xfrm>
          <a:prstGeom prst="roundRect">
            <a:avLst>
              <a:gd name="adj" fmla="val 34965"/>
            </a:avLst>
          </a:prstGeom>
          <a:solidFill>
            <a:srgbClr val="C4262E"/>
          </a:solidFill>
          <a:ln/>
        </p:spPr>
      </p:sp>
      <p:sp>
        <p:nvSpPr>
          <p:cNvPr id="55" name="Shape 53"/>
          <p:cNvSpPr/>
          <p:nvPr/>
        </p:nvSpPr>
        <p:spPr>
          <a:xfrm>
            <a:off x="1044245" y="3536899"/>
            <a:ext cx="60350" cy="60350"/>
          </a:xfrm>
          <a:prstGeom prst="ellipse">
            <a:avLst/>
          </a:prstGeom>
          <a:solidFill>
            <a:srgbClr val="C4262E"/>
          </a:solidFill>
          <a:ln/>
        </p:spPr>
      </p:sp>
      <p:sp>
        <p:nvSpPr>
          <p:cNvPr id="56" name="Shape 54"/>
          <p:cNvSpPr/>
          <p:nvPr/>
        </p:nvSpPr>
        <p:spPr>
          <a:xfrm>
            <a:off x="1048268" y="3601273"/>
            <a:ext cx="52304" cy="136794"/>
          </a:xfrm>
          <a:prstGeom prst="roundRect">
            <a:avLst>
              <a:gd name="adj" fmla="val 34965"/>
            </a:avLst>
          </a:prstGeom>
          <a:solidFill>
            <a:srgbClr val="C4262E"/>
          </a:solidFill>
          <a:ln/>
        </p:spPr>
      </p:sp>
      <p:sp>
        <p:nvSpPr>
          <p:cNvPr id="57" name="Shape 55"/>
          <p:cNvSpPr/>
          <p:nvPr/>
        </p:nvSpPr>
        <p:spPr>
          <a:xfrm>
            <a:off x="1615745" y="3536899"/>
            <a:ext cx="60350" cy="60350"/>
          </a:xfrm>
          <a:prstGeom prst="ellipse">
            <a:avLst/>
          </a:prstGeom>
          <a:solidFill>
            <a:srgbClr val="C4262E"/>
          </a:solidFill>
          <a:ln/>
        </p:spPr>
      </p:sp>
      <p:sp>
        <p:nvSpPr>
          <p:cNvPr id="58" name="Shape 56"/>
          <p:cNvSpPr/>
          <p:nvPr/>
        </p:nvSpPr>
        <p:spPr>
          <a:xfrm>
            <a:off x="1619768" y="3601273"/>
            <a:ext cx="52304" cy="136794"/>
          </a:xfrm>
          <a:prstGeom prst="roundRect">
            <a:avLst>
              <a:gd name="adj" fmla="val 34965"/>
            </a:avLst>
          </a:prstGeom>
          <a:solidFill>
            <a:srgbClr val="C4262E"/>
          </a:solidFill>
          <a:ln/>
        </p:spPr>
      </p:sp>
      <p:sp>
        <p:nvSpPr>
          <p:cNvPr id="59" name="Shape 57"/>
          <p:cNvSpPr/>
          <p:nvPr/>
        </p:nvSpPr>
        <p:spPr>
          <a:xfrm>
            <a:off x="566928" y="3207715"/>
            <a:ext cx="237744" cy="237744"/>
          </a:xfrm>
          <a:prstGeom prst="ellipse">
            <a:avLst/>
          </a:prstGeom>
          <a:solidFill>
            <a:srgbClr val="C4262E"/>
          </a:solidFill>
          <a:ln/>
        </p:spPr>
      </p:sp>
      <p:sp>
        <p:nvSpPr>
          <p:cNvPr id="60" name="Text 58"/>
          <p:cNvSpPr txBox="1"/>
          <p:nvPr/>
        </p:nvSpPr>
        <p:spPr>
          <a:xfrm>
            <a:off x="566928" y="3207715"/>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61" name="Shape 59"/>
          <p:cNvSpPr/>
          <p:nvPr/>
        </p:nvSpPr>
        <p:spPr>
          <a:xfrm>
            <a:off x="1092708" y="3344875"/>
            <a:ext cx="237744" cy="237744"/>
          </a:xfrm>
          <a:prstGeom prst="ellipse">
            <a:avLst/>
          </a:prstGeom>
          <a:solidFill>
            <a:srgbClr val="C4262E"/>
          </a:solidFill>
          <a:ln/>
        </p:spPr>
      </p:sp>
      <p:sp>
        <p:nvSpPr>
          <p:cNvPr id="62" name="Text 60"/>
          <p:cNvSpPr txBox="1"/>
          <p:nvPr/>
        </p:nvSpPr>
        <p:spPr>
          <a:xfrm>
            <a:off x="1092708" y="3344875"/>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63" name="Shape 61"/>
          <p:cNvSpPr/>
          <p:nvPr/>
        </p:nvSpPr>
        <p:spPr>
          <a:xfrm>
            <a:off x="1922526" y="3756355"/>
            <a:ext cx="237744" cy="237744"/>
          </a:xfrm>
          <a:prstGeom prst="ellipse">
            <a:avLst/>
          </a:prstGeom>
          <a:solidFill>
            <a:srgbClr val="C4262E"/>
          </a:solidFill>
          <a:ln/>
        </p:spPr>
      </p:sp>
      <p:sp>
        <p:nvSpPr>
          <p:cNvPr id="64" name="Text 62"/>
          <p:cNvSpPr txBox="1"/>
          <p:nvPr/>
        </p:nvSpPr>
        <p:spPr>
          <a:xfrm>
            <a:off x="1922526" y="3756355"/>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65" name="Shape 63"/>
          <p:cNvSpPr/>
          <p:nvPr/>
        </p:nvSpPr>
        <p:spPr>
          <a:xfrm>
            <a:off x="2601468" y="3546690"/>
            <a:ext cx="237744" cy="237744"/>
          </a:xfrm>
          <a:prstGeom prst="ellipse">
            <a:avLst/>
          </a:prstGeom>
          <a:solidFill>
            <a:srgbClr val="C4262E"/>
          </a:solidFill>
          <a:ln/>
        </p:spPr>
      </p:sp>
      <p:sp>
        <p:nvSpPr>
          <p:cNvPr id="66" name="Text 64"/>
          <p:cNvSpPr txBox="1"/>
          <p:nvPr/>
        </p:nvSpPr>
        <p:spPr>
          <a:xfrm>
            <a:off x="2601468" y="3546690"/>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4</a:t>
            </a:r>
            <a:endParaRPr lang="en-US" sz="800" dirty="0"/>
          </a:p>
        </p:txBody>
      </p:sp>
      <p:sp>
        <p:nvSpPr>
          <p:cNvPr id="67" name="Shape 65"/>
          <p:cNvSpPr/>
          <p:nvPr/>
        </p:nvSpPr>
        <p:spPr>
          <a:xfrm>
            <a:off x="3544443" y="3130971"/>
            <a:ext cx="237744" cy="237744"/>
          </a:xfrm>
          <a:prstGeom prst="ellipse">
            <a:avLst/>
          </a:prstGeom>
          <a:solidFill>
            <a:srgbClr val="C4262E"/>
          </a:solidFill>
          <a:ln/>
        </p:spPr>
      </p:sp>
      <p:sp>
        <p:nvSpPr>
          <p:cNvPr id="68" name="Text 66"/>
          <p:cNvSpPr txBox="1"/>
          <p:nvPr/>
        </p:nvSpPr>
        <p:spPr>
          <a:xfrm>
            <a:off x="3544443" y="3130971"/>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5</a:t>
            </a:r>
            <a:endParaRPr lang="en-US" sz="800" dirty="0"/>
          </a:p>
        </p:txBody>
      </p:sp>
      <p:sp>
        <p:nvSpPr>
          <p:cNvPr id="69" name="Shape 67"/>
          <p:cNvSpPr/>
          <p:nvPr/>
        </p:nvSpPr>
        <p:spPr>
          <a:xfrm>
            <a:off x="4562856" y="2684079"/>
            <a:ext cx="237744" cy="237744"/>
          </a:xfrm>
          <a:prstGeom prst="ellipse">
            <a:avLst/>
          </a:prstGeom>
          <a:solidFill>
            <a:srgbClr val="C4262E"/>
          </a:solidFill>
          <a:ln/>
        </p:spPr>
      </p:sp>
      <p:sp>
        <p:nvSpPr>
          <p:cNvPr id="70" name="Text 68"/>
          <p:cNvSpPr txBox="1"/>
          <p:nvPr/>
        </p:nvSpPr>
        <p:spPr>
          <a:xfrm>
            <a:off x="4562856" y="2684079"/>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6</a:t>
            </a:r>
            <a:endParaRPr lang="en-US" sz="800" dirty="0"/>
          </a:p>
        </p:txBody>
      </p:sp>
      <p:sp>
        <p:nvSpPr>
          <p:cNvPr id="71" name="Shape 69"/>
          <p:cNvSpPr/>
          <p:nvPr/>
        </p:nvSpPr>
        <p:spPr>
          <a:xfrm>
            <a:off x="5390388" y="1848917"/>
            <a:ext cx="237744" cy="237744"/>
          </a:xfrm>
          <a:prstGeom prst="ellipse">
            <a:avLst/>
          </a:prstGeom>
          <a:solidFill>
            <a:srgbClr val="C4262E"/>
          </a:solidFill>
          <a:ln/>
        </p:spPr>
      </p:sp>
      <p:sp>
        <p:nvSpPr>
          <p:cNvPr id="72" name="Text 70"/>
          <p:cNvSpPr txBox="1"/>
          <p:nvPr/>
        </p:nvSpPr>
        <p:spPr>
          <a:xfrm>
            <a:off x="5390388" y="1848917"/>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7</a:t>
            </a:r>
            <a:endParaRPr lang="en-US" sz="800" dirty="0"/>
          </a:p>
        </p:txBody>
      </p:sp>
      <p:sp>
        <p:nvSpPr>
          <p:cNvPr id="73" name="Shape 71"/>
          <p:cNvSpPr/>
          <p:nvPr/>
        </p:nvSpPr>
        <p:spPr>
          <a:xfrm>
            <a:off x="6939153" y="2168957"/>
            <a:ext cx="237744" cy="237744"/>
          </a:xfrm>
          <a:prstGeom prst="ellipse">
            <a:avLst/>
          </a:prstGeom>
          <a:solidFill>
            <a:srgbClr val="C4262E"/>
          </a:solidFill>
          <a:ln/>
        </p:spPr>
      </p:sp>
      <p:sp>
        <p:nvSpPr>
          <p:cNvPr id="74" name="Text 72"/>
          <p:cNvSpPr txBox="1"/>
          <p:nvPr/>
        </p:nvSpPr>
        <p:spPr>
          <a:xfrm>
            <a:off x="6939153" y="2168957"/>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8</a:t>
            </a:r>
            <a:endParaRPr lang="en-US" sz="800" dirty="0"/>
          </a:p>
        </p:txBody>
      </p:sp>
      <p:sp>
        <p:nvSpPr>
          <p:cNvPr id="75" name="Shape 73"/>
          <p:cNvSpPr/>
          <p:nvPr/>
        </p:nvSpPr>
        <p:spPr>
          <a:xfrm>
            <a:off x="6115050" y="2424989"/>
            <a:ext cx="1885950" cy="320040"/>
          </a:xfrm>
          <a:custGeom>
            <a:avLst/>
            <a:gdLst/>
            <a:ahLst/>
            <a:cxnLst/>
            <a:rect l="l" t="t" r="r" b="b"/>
            <a:pathLst>
              <a:path w="1885950" h="320040">
                <a:moveTo>
                  <a:pt x="0" y="0"/>
                </a:moveTo>
                <a:lnTo>
                  <a:pt x="1885950" y="320040"/>
                </a:lnTo>
              </a:path>
            </a:pathLst>
          </a:custGeom>
          <a:ln w="15875">
            <a:solidFill>
              <a:srgbClr val="4F7A43"/>
            </a:solidFill>
            <a:prstDash val="dash"/>
            <a:tailEnd type="triangle"/>
          </a:ln>
        </p:spPr>
      </p:sp>
      <p:sp>
        <p:nvSpPr>
          <p:cNvPr id="76" name="Text 74"/>
          <p:cNvSpPr txBox="1"/>
          <p:nvPr/>
        </p:nvSpPr>
        <p:spPr>
          <a:xfrm>
            <a:off x="7075170" y="2315261"/>
            <a:ext cx="1097280" cy="146304"/>
          </a:xfrm>
          <a:prstGeom prst="rect">
            <a:avLst/>
          </a:prstGeom>
          <a:noFill/>
          <a:ln/>
        </p:spPr>
        <p:txBody>
          <a:bodyPr wrap="square" lIns="0" tIns="0" rIns="0" bIns="0" rtlCol="0" anchor="ctr"/>
          <a:lstStyle/>
          <a:p>
            <a:pPr algn="ctr" indent="0" marL="0">
              <a:buNone/>
            </a:pPr>
            <a:r>
              <a:rPr lang="en-US" sz="650" dirty="0">
                <a:solidFill>
                  <a:srgbClr val="4F7A43"/>
                </a:solidFill>
                <a:latin typeface="Arial" pitchFamily="34" charset="0"/>
                <a:ea typeface="Arial" pitchFamily="34" charset="-122"/>
                <a:cs typeface="Arial" pitchFamily="34" charset="-120"/>
              </a:rPr>
              <a:t>view over the city</a:t>
            </a:r>
            <a:endParaRPr lang="en-US" sz="650" dirty="0"/>
          </a:p>
        </p:txBody>
      </p:sp>
      <p:sp>
        <p:nvSpPr>
          <p:cNvPr id="77" name="Shape 75"/>
          <p:cNvSpPr/>
          <p:nvPr/>
        </p:nvSpPr>
        <p:spPr>
          <a:xfrm>
            <a:off x="374904" y="4306824"/>
            <a:ext cx="219456" cy="219456"/>
          </a:xfrm>
          <a:prstGeom prst="ellipse">
            <a:avLst/>
          </a:prstGeom>
          <a:solidFill>
            <a:srgbClr val="C4262E"/>
          </a:solidFill>
          <a:ln/>
        </p:spPr>
      </p:sp>
      <p:sp>
        <p:nvSpPr>
          <p:cNvPr id="78" name="Text 76"/>
          <p:cNvSpPr txBox="1"/>
          <p:nvPr/>
        </p:nvSpPr>
        <p:spPr>
          <a:xfrm>
            <a:off x="374904" y="430682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79" name="Text 77"/>
          <p:cNvSpPr txBox="1"/>
          <p:nvPr/>
        </p:nvSpPr>
        <p:spPr>
          <a:xfrm>
            <a:off x="640080" y="4315968"/>
            <a:ext cx="1097280" cy="219456"/>
          </a:xfrm>
          <a:prstGeom prst="rect">
            <a:avLst/>
          </a:prstGeom>
          <a:noFill/>
          <a:ln/>
        </p:spPr>
        <p:txBody>
          <a:bodyPr wrap="square" lIns="0" tIns="0" rIns="0" bIns="0" rtlCol="0" anchor="ctr"/>
          <a:lstStyle/>
          <a:p>
            <a:pPr indent="0" marL="0">
              <a:buNone/>
            </a:pPr>
            <a:r>
              <a:rPr lang="en-US" sz="800" b="1" dirty="0">
                <a:solidFill>
                  <a:srgbClr val="1B1B1B"/>
                </a:solidFill>
                <a:latin typeface="Arial" pitchFamily="34" charset="0"/>
                <a:ea typeface="Arial" pitchFamily="34" charset="-122"/>
                <a:cs typeface="Arial" pitchFamily="34" charset="-120"/>
              </a:rPr>
              <a:t>ARRIVAL</a:t>
            </a:r>
            <a:endParaRPr lang="en-US" sz="800" dirty="0"/>
          </a:p>
        </p:txBody>
      </p:sp>
      <p:sp>
        <p:nvSpPr>
          <p:cNvPr id="80" name="Text 78"/>
          <p:cNvSpPr txBox="1"/>
          <p:nvPr/>
        </p:nvSpPr>
        <p:spPr>
          <a:xfrm>
            <a:off x="365760" y="4617720"/>
            <a:ext cx="1371600" cy="118872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From the road you reach a forum under the existing trees — shade, crowd, cameras. No gate, no step up.</a:t>
            </a:r>
            <a:endParaRPr lang="en-US" sz="750" dirty="0"/>
          </a:p>
        </p:txBody>
      </p:sp>
      <p:sp>
        <p:nvSpPr>
          <p:cNvPr id="81" name="Shape 79"/>
          <p:cNvSpPr/>
          <p:nvPr/>
        </p:nvSpPr>
        <p:spPr>
          <a:xfrm>
            <a:off x="1810512" y="4306824"/>
            <a:ext cx="219456" cy="219456"/>
          </a:xfrm>
          <a:prstGeom prst="ellipse">
            <a:avLst/>
          </a:prstGeom>
          <a:solidFill>
            <a:srgbClr val="C4262E"/>
          </a:solidFill>
          <a:ln/>
        </p:spPr>
      </p:sp>
      <p:sp>
        <p:nvSpPr>
          <p:cNvPr id="82" name="Text 80"/>
          <p:cNvSpPr txBox="1"/>
          <p:nvPr/>
        </p:nvSpPr>
        <p:spPr>
          <a:xfrm>
            <a:off x="1810512" y="430682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83" name="Text 81"/>
          <p:cNvSpPr txBox="1"/>
          <p:nvPr/>
        </p:nvSpPr>
        <p:spPr>
          <a:xfrm>
            <a:off x="2075688" y="4315968"/>
            <a:ext cx="1097280" cy="219456"/>
          </a:xfrm>
          <a:prstGeom prst="rect">
            <a:avLst/>
          </a:prstGeom>
          <a:noFill/>
          <a:ln/>
        </p:spPr>
        <p:txBody>
          <a:bodyPr wrap="square" lIns="0" tIns="0" rIns="0" bIns="0" rtlCol="0" anchor="ctr"/>
          <a:lstStyle/>
          <a:p>
            <a:pPr indent="0" marL="0">
              <a:buNone/>
            </a:pPr>
            <a:r>
              <a:rPr lang="en-US" sz="800" b="1" dirty="0">
                <a:solidFill>
                  <a:srgbClr val="1B1B1B"/>
                </a:solidFill>
                <a:latin typeface="Arial" pitchFamily="34" charset="0"/>
                <a:ea typeface="Arial" pitchFamily="34" charset="-122"/>
                <a:cs typeface="Arial" pitchFamily="34" charset="-120"/>
              </a:rPr>
              <a:t>THRESHOLD</a:t>
            </a:r>
            <a:endParaRPr lang="en-US" sz="800" dirty="0"/>
          </a:p>
        </p:txBody>
      </p:sp>
      <p:sp>
        <p:nvSpPr>
          <p:cNvPr id="84" name="Text 82"/>
          <p:cNvSpPr txBox="1"/>
          <p:nvPr/>
        </p:nvSpPr>
        <p:spPr>
          <a:xfrm>
            <a:off x="1801368" y="4617720"/>
            <a:ext cx="1371600" cy="118872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The edge bar's deep overhang: a compressed covered strip between street noise and the institution.</a:t>
            </a:r>
            <a:endParaRPr lang="en-US" sz="750" dirty="0"/>
          </a:p>
        </p:txBody>
      </p:sp>
      <p:sp>
        <p:nvSpPr>
          <p:cNvPr id="85" name="Shape 83"/>
          <p:cNvSpPr/>
          <p:nvPr/>
        </p:nvSpPr>
        <p:spPr>
          <a:xfrm>
            <a:off x="3246120" y="4306824"/>
            <a:ext cx="219456" cy="219456"/>
          </a:xfrm>
          <a:prstGeom prst="ellipse">
            <a:avLst/>
          </a:prstGeom>
          <a:solidFill>
            <a:srgbClr val="C4262E"/>
          </a:solidFill>
          <a:ln/>
        </p:spPr>
      </p:sp>
      <p:sp>
        <p:nvSpPr>
          <p:cNvPr id="86" name="Text 84"/>
          <p:cNvSpPr txBox="1"/>
          <p:nvPr/>
        </p:nvSpPr>
        <p:spPr>
          <a:xfrm>
            <a:off x="3246120" y="430682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87" name="Text 85"/>
          <p:cNvSpPr txBox="1"/>
          <p:nvPr/>
        </p:nvSpPr>
        <p:spPr>
          <a:xfrm>
            <a:off x="3511296" y="4315968"/>
            <a:ext cx="1097280" cy="219456"/>
          </a:xfrm>
          <a:prstGeom prst="rect">
            <a:avLst/>
          </a:prstGeom>
          <a:noFill/>
          <a:ln/>
        </p:spPr>
        <p:txBody>
          <a:bodyPr wrap="square" lIns="0" tIns="0" rIns="0" bIns="0" rtlCol="0" anchor="ctr"/>
          <a:lstStyle/>
          <a:p>
            <a:pPr indent="0" marL="0">
              <a:buNone/>
            </a:pPr>
            <a:r>
              <a:rPr lang="en-US" sz="800" b="1" dirty="0">
                <a:solidFill>
                  <a:srgbClr val="1B1B1B"/>
                </a:solidFill>
                <a:latin typeface="Arial" pitchFamily="34" charset="0"/>
                <a:ea typeface="Arial" pitchFamily="34" charset="-122"/>
                <a:cs typeface="Arial" pitchFamily="34" charset="-120"/>
              </a:rPr>
              <a:t>PUBLIC SPACE</a:t>
            </a:r>
            <a:endParaRPr lang="en-US" sz="800" dirty="0"/>
          </a:p>
        </p:txBody>
      </p:sp>
      <p:sp>
        <p:nvSpPr>
          <p:cNvPr id="88" name="Text 86"/>
          <p:cNvSpPr txBox="1"/>
          <p:nvPr/>
        </p:nvSpPr>
        <p:spPr>
          <a:xfrm>
            <a:off x="3236976" y="4617720"/>
            <a:ext cx="1371600" cy="118872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Exhibition, press room and auditorium open onto the forum; you can watch a press conference from outside.</a:t>
            </a:r>
            <a:endParaRPr lang="en-US" sz="750" dirty="0"/>
          </a:p>
        </p:txBody>
      </p:sp>
      <p:sp>
        <p:nvSpPr>
          <p:cNvPr id="89" name="Shape 87"/>
          <p:cNvSpPr/>
          <p:nvPr/>
        </p:nvSpPr>
        <p:spPr>
          <a:xfrm>
            <a:off x="4681728" y="4306824"/>
            <a:ext cx="219456" cy="219456"/>
          </a:xfrm>
          <a:prstGeom prst="ellipse">
            <a:avLst/>
          </a:prstGeom>
          <a:solidFill>
            <a:srgbClr val="C4262E"/>
          </a:solidFill>
          <a:ln/>
        </p:spPr>
      </p:sp>
      <p:sp>
        <p:nvSpPr>
          <p:cNvPr id="90" name="Text 88"/>
          <p:cNvSpPr txBox="1"/>
          <p:nvPr/>
        </p:nvSpPr>
        <p:spPr>
          <a:xfrm>
            <a:off x="4681728" y="430682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4</a:t>
            </a:r>
            <a:endParaRPr lang="en-US" sz="750" dirty="0"/>
          </a:p>
        </p:txBody>
      </p:sp>
      <p:sp>
        <p:nvSpPr>
          <p:cNvPr id="91" name="Text 89"/>
          <p:cNvSpPr txBox="1"/>
          <p:nvPr/>
        </p:nvSpPr>
        <p:spPr>
          <a:xfrm>
            <a:off x="4946904" y="4315968"/>
            <a:ext cx="1097280" cy="219456"/>
          </a:xfrm>
          <a:prstGeom prst="rect">
            <a:avLst/>
          </a:prstGeom>
          <a:noFill/>
          <a:ln/>
        </p:spPr>
        <p:txBody>
          <a:bodyPr wrap="square" lIns="0" tIns="0" rIns="0" bIns="0" rtlCol="0" anchor="ctr"/>
          <a:lstStyle/>
          <a:p>
            <a:pPr indent="0" marL="0">
              <a:buNone/>
            </a:pPr>
            <a:r>
              <a:rPr lang="en-US" sz="800" b="1" dirty="0">
                <a:solidFill>
                  <a:srgbClr val="1B1B1B"/>
                </a:solidFill>
                <a:latin typeface="Arial" pitchFamily="34" charset="0"/>
                <a:ea typeface="Arial" pitchFamily="34" charset="-122"/>
                <a:cs typeface="Arial" pitchFamily="34" charset="-120"/>
              </a:rPr>
              <a:t>INTERACTION</a:t>
            </a:r>
            <a:endParaRPr lang="en-US" sz="800" dirty="0"/>
          </a:p>
        </p:txBody>
      </p:sp>
      <p:sp>
        <p:nvSpPr>
          <p:cNvPr id="92" name="Text 90"/>
          <p:cNvSpPr txBox="1"/>
          <p:nvPr/>
        </p:nvSpPr>
        <p:spPr>
          <a:xfrm>
            <a:off x="4672584" y="4617720"/>
            <a:ext cx="1371600" cy="118872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The route narrows past the library; reading room windows face the path; workshops open to it.</a:t>
            </a:r>
            <a:endParaRPr lang="en-US" sz="750" dirty="0"/>
          </a:p>
        </p:txBody>
      </p:sp>
      <p:sp>
        <p:nvSpPr>
          <p:cNvPr id="93" name="Shape 91"/>
          <p:cNvSpPr/>
          <p:nvPr/>
        </p:nvSpPr>
        <p:spPr>
          <a:xfrm>
            <a:off x="6117336" y="4306824"/>
            <a:ext cx="219456" cy="219456"/>
          </a:xfrm>
          <a:prstGeom prst="ellipse">
            <a:avLst/>
          </a:prstGeom>
          <a:solidFill>
            <a:srgbClr val="C4262E"/>
          </a:solidFill>
          <a:ln/>
        </p:spPr>
      </p:sp>
      <p:sp>
        <p:nvSpPr>
          <p:cNvPr id="94" name="Text 92"/>
          <p:cNvSpPr txBox="1"/>
          <p:nvPr/>
        </p:nvSpPr>
        <p:spPr>
          <a:xfrm>
            <a:off x="6117336" y="430682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5</a:t>
            </a:r>
            <a:endParaRPr lang="en-US" sz="750" dirty="0"/>
          </a:p>
        </p:txBody>
      </p:sp>
      <p:sp>
        <p:nvSpPr>
          <p:cNvPr id="95" name="Text 93"/>
          <p:cNvSpPr txBox="1"/>
          <p:nvPr/>
        </p:nvSpPr>
        <p:spPr>
          <a:xfrm>
            <a:off x="6382512" y="4315968"/>
            <a:ext cx="1097280" cy="219456"/>
          </a:xfrm>
          <a:prstGeom prst="rect">
            <a:avLst/>
          </a:prstGeom>
          <a:noFill/>
          <a:ln/>
        </p:spPr>
        <p:txBody>
          <a:bodyPr wrap="square" lIns="0" tIns="0" rIns="0" bIns="0" rtlCol="0" anchor="ctr"/>
          <a:lstStyle/>
          <a:p>
            <a:pPr indent="0" marL="0">
              <a:buNone/>
            </a:pPr>
            <a:r>
              <a:rPr lang="en-US" sz="800" b="1" dirty="0">
                <a:solidFill>
                  <a:srgbClr val="1B1B1B"/>
                </a:solidFill>
                <a:latin typeface="Arial" pitchFamily="34" charset="0"/>
                <a:ea typeface="Arial" pitchFamily="34" charset="-122"/>
                <a:cs typeface="Arial" pitchFamily="34" charset="-120"/>
              </a:rPr>
              <a:t>KNOWLEDGE</a:t>
            </a:r>
            <a:endParaRPr lang="en-US" sz="800" dirty="0"/>
          </a:p>
        </p:txBody>
      </p:sp>
      <p:sp>
        <p:nvSpPr>
          <p:cNvPr id="96" name="Text 94"/>
          <p:cNvSpPr txBox="1"/>
          <p:nvPr/>
        </p:nvSpPr>
        <p:spPr>
          <a:xfrm>
            <a:off x="6108192" y="4617720"/>
            <a:ext cx="1371600" cy="118872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Mid-hill: heavy brick archive, quiet. Consultation room on the route side; stores sealed behind.</a:t>
            </a:r>
            <a:endParaRPr lang="en-US" sz="750" dirty="0"/>
          </a:p>
        </p:txBody>
      </p:sp>
      <p:sp>
        <p:nvSpPr>
          <p:cNvPr id="97" name="Shape 95"/>
          <p:cNvSpPr/>
          <p:nvPr/>
        </p:nvSpPr>
        <p:spPr>
          <a:xfrm>
            <a:off x="7552944" y="4306824"/>
            <a:ext cx="219456" cy="219456"/>
          </a:xfrm>
          <a:prstGeom prst="ellipse">
            <a:avLst/>
          </a:prstGeom>
          <a:solidFill>
            <a:srgbClr val="C4262E"/>
          </a:solidFill>
          <a:ln/>
        </p:spPr>
      </p:sp>
      <p:sp>
        <p:nvSpPr>
          <p:cNvPr id="98" name="Text 96"/>
          <p:cNvSpPr txBox="1"/>
          <p:nvPr/>
        </p:nvSpPr>
        <p:spPr>
          <a:xfrm>
            <a:off x="7552944" y="430682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6</a:t>
            </a:r>
            <a:endParaRPr lang="en-US" sz="750" dirty="0"/>
          </a:p>
        </p:txBody>
      </p:sp>
      <p:sp>
        <p:nvSpPr>
          <p:cNvPr id="99" name="Text 97"/>
          <p:cNvSpPr txBox="1"/>
          <p:nvPr/>
        </p:nvSpPr>
        <p:spPr>
          <a:xfrm>
            <a:off x="7818120" y="4315968"/>
            <a:ext cx="1097280" cy="219456"/>
          </a:xfrm>
          <a:prstGeom prst="rect">
            <a:avLst/>
          </a:prstGeom>
          <a:noFill/>
          <a:ln/>
        </p:spPr>
        <p:txBody>
          <a:bodyPr wrap="square" lIns="0" tIns="0" rIns="0" bIns="0" rtlCol="0" anchor="ctr"/>
          <a:lstStyle/>
          <a:p>
            <a:pPr indent="0" marL="0">
              <a:buNone/>
            </a:pPr>
            <a:r>
              <a:rPr lang="en-US" sz="800" b="1" dirty="0">
                <a:solidFill>
                  <a:srgbClr val="1B1B1B"/>
                </a:solidFill>
                <a:latin typeface="Arial" pitchFamily="34" charset="0"/>
                <a:ea typeface="Arial" pitchFamily="34" charset="-122"/>
                <a:cs typeface="Arial" pitchFamily="34" charset="-120"/>
              </a:rPr>
              <a:t>PRODUCTION</a:t>
            </a:r>
            <a:endParaRPr lang="en-US" sz="800" dirty="0"/>
          </a:p>
        </p:txBody>
      </p:sp>
      <p:sp>
        <p:nvSpPr>
          <p:cNvPr id="100" name="Text 98"/>
          <p:cNvSpPr txBox="1"/>
          <p:nvPr/>
        </p:nvSpPr>
        <p:spPr>
          <a:xfrm>
            <a:off x="7543800" y="4617720"/>
            <a:ext cx="1371600" cy="118872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Upper bars: studios and editorial behind brick screens; you glimpse recording and editing at work.</a:t>
            </a:r>
            <a:endParaRPr lang="en-US" sz="750" dirty="0"/>
          </a:p>
        </p:txBody>
      </p:sp>
      <p:sp>
        <p:nvSpPr>
          <p:cNvPr id="101" name="Shape 99"/>
          <p:cNvSpPr/>
          <p:nvPr/>
        </p:nvSpPr>
        <p:spPr>
          <a:xfrm>
            <a:off x="8988552" y="4306824"/>
            <a:ext cx="219456" cy="219456"/>
          </a:xfrm>
          <a:prstGeom prst="ellipse">
            <a:avLst/>
          </a:prstGeom>
          <a:solidFill>
            <a:srgbClr val="C4262E"/>
          </a:solidFill>
          <a:ln/>
        </p:spPr>
      </p:sp>
      <p:sp>
        <p:nvSpPr>
          <p:cNvPr id="102" name="Text 100"/>
          <p:cNvSpPr txBox="1"/>
          <p:nvPr/>
        </p:nvSpPr>
        <p:spPr>
          <a:xfrm>
            <a:off x="8988552" y="430682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7</a:t>
            </a:r>
            <a:endParaRPr lang="en-US" sz="750" dirty="0"/>
          </a:p>
        </p:txBody>
      </p:sp>
      <p:sp>
        <p:nvSpPr>
          <p:cNvPr id="103" name="Text 101"/>
          <p:cNvSpPr txBox="1"/>
          <p:nvPr/>
        </p:nvSpPr>
        <p:spPr>
          <a:xfrm>
            <a:off x="9253728" y="4315968"/>
            <a:ext cx="1097280" cy="219456"/>
          </a:xfrm>
          <a:prstGeom prst="rect">
            <a:avLst/>
          </a:prstGeom>
          <a:noFill/>
          <a:ln/>
        </p:spPr>
        <p:txBody>
          <a:bodyPr wrap="square" lIns="0" tIns="0" rIns="0" bIns="0" rtlCol="0" anchor="ctr"/>
          <a:lstStyle/>
          <a:p>
            <a:pPr indent="0" marL="0">
              <a:buNone/>
            </a:pPr>
            <a:r>
              <a:rPr lang="en-US" sz="800" b="1" dirty="0">
                <a:solidFill>
                  <a:srgbClr val="1B1B1B"/>
                </a:solidFill>
                <a:latin typeface="Arial" pitchFamily="34" charset="0"/>
                <a:ea typeface="Arial" pitchFamily="34" charset="-122"/>
                <a:cs typeface="Arial" pitchFamily="34" charset="-120"/>
              </a:rPr>
              <a:t>PUBLIC DISCUSSION</a:t>
            </a:r>
            <a:endParaRPr lang="en-US" sz="800" dirty="0"/>
          </a:p>
        </p:txBody>
      </p:sp>
      <p:sp>
        <p:nvSpPr>
          <p:cNvPr id="104" name="Text 102"/>
          <p:cNvSpPr txBox="1"/>
          <p:nvPr/>
        </p:nvSpPr>
        <p:spPr>
          <a:xfrm>
            <a:off x="8979408" y="4617720"/>
            <a:ext cx="1371600" cy="118872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The top opens: an unbuilt forum under a light canopy, where anyone can speak.</a:t>
            </a:r>
            <a:endParaRPr lang="en-US" sz="750" dirty="0"/>
          </a:p>
        </p:txBody>
      </p:sp>
      <p:sp>
        <p:nvSpPr>
          <p:cNvPr id="105" name="Shape 103"/>
          <p:cNvSpPr/>
          <p:nvPr/>
        </p:nvSpPr>
        <p:spPr>
          <a:xfrm>
            <a:off x="10424160" y="4306824"/>
            <a:ext cx="219456" cy="219456"/>
          </a:xfrm>
          <a:prstGeom prst="ellipse">
            <a:avLst/>
          </a:prstGeom>
          <a:solidFill>
            <a:srgbClr val="C4262E"/>
          </a:solidFill>
          <a:ln/>
        </p:spPr>
      </p:sp>
      <p:sp>
        <p:nvSpPr>
          <p:cNvPr id="106" name="Text 104"/>
          <p:cNvSpPr txBox="1"/>
          <p:nvPr/>
        </p:nvSpPr>
        <p:spPr>
          <a:xfrm>
            <a:off x="10424160" y="4306824"/>
            <a:ext cx="2194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8</a:t>
            </a:r>
            <a:endParaRPr lang="en-US" sz="750" dirty="0"/>
          </a:p>
        </p:txBody>
      </p:sp>
      <p:sp>
        <p:nvSpPr>
          <p:cNvPr id="107" name="Text 105"/>
          <p:cNvSpPr txBox="1"/>
          <p:nvPr/>
        </p:nvSpPr>
        <p:spPr>
          <a:xfrm>
            <a:off x="10689336" y="4315968"/>
            <a:ext cx="1097280" cy="219456"/>
          </a:xfrm>
          <a:prstGeom prst="rect">
            <a:avLst/>
          </a:prstGeom>
          <a:noFill/>
          <a:ln/>
        </p:spPr>
        <p:txBody>
          <a:bodyPr wrap="square" lIns="0" tIns="0" rIns="0" bIns="0" rtlCol="0" anchor="ctr"/>
          <a:lstStyle/>
          <a:p>
            <a:pPr indent="0" marL="0">
              <a:buNone/>
            </a:pPr>
            <a:r>
              <a:rPr lang="en-US" sz="800" b="1" dirty="0">
                <a:solidFill>
                  <a:srgbClr val="1B1B1B"/>
                </a:solidFill>
                <a:latin typeface="Arial" pitchFamily="34" charset="0"/>
                <a:ea typeface="Arial" pitchFamily="34" charset="-122"/>
                <a:cs typeface="Arial" pitchFamily="34" charset="-120"/>
              </a:rPr>
              <a:t>LANDSCAPE / CITY</a:t>
            </a:r>
            <a:endParaRPr lang="en-US" sz="800" dirty="0"/>
          </a:p>
        </p:txBody>
      </p:sp>
      <p:sp>
        <p:nvSpPr>
          <p:cNvPr id="108" name="Text 106"/>
          <p:cNvSpPr txBox="1"/>
          <p:nvPr/>
        </p:nvSpPr>
        <p:spPr>
          <a:xfrm>
            <a:off x="10415016" y="4617720"/>
            <a:ext cx="1371600" cy="118872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Release: the city spreads out below — the road you came from, and the roads towards the Assembly.</a:t>
            </a:r>
            <a:endParaRPr lang="en-US" sz="750" dirty="0"/>
          </a:p>
        </p:txBody>
      </p:sp>
      <p:sp>
        <p:nvSpPr>
          <p:cNvPr id="109" name="Text 107"/>
          <p:cNvSpPr txBox="1"/>
          <p:nvPr/>
        </p:nvSpPr>
        <p:spPr>
          <a:xfrm>
            <a:off x="365760" y="5989320"/>
            <a:ext cx="11430000" cy="411480"/>
          </a:xfrm>
          <a:prstGeom prst="rect">
            <a:avLst/>
          </a:prstGeom>
          <a:noFill/>
          <a:ln/>
        </p:spPr>
        <p:txBody>
          <a:bodyPr wrap="square" lIns="0" tIns="0" rIns="0" bIns="0" rtlCol="0" anchor="t"/>
          <a:lstStyle/>
          <a:p>
            <a:pPr indent="0" marL="0">
              <a:buNone/>
            </a:pPr>
            <a:r>
              <a:rPr lang="en-US" sz="800" b="1" dirty="0">
                <a:solidFill>
                  <a:srgbClr val="C4262E"/>
                </a:solidFill>
                <a:latin typeface="Arial" pitchFamily="34" charset="0"/>
                <a:ea typeface="Arial" pitchFamily="34" charset="-122"/>
                <a:cs typeface="Arial" pitchFamily="34" charset="-120"/>
              </a:rPr>
              <a:t>Architectural means:  </a:t>
            </a:r>
            <a:pPr indent="0" marL="0">
              <a:buNone/>
            </a:pPr>
            <a:r>
              <a:rPr lang="en-US" sz="800" dirty="0">
                <a:solidFill>
                  <a:srgbClr val="1B1B1B"/>
                </a:solidFill>
                <a:latin typeface="Arial" pitchFamily="34" charset="0"/>
                <a:ea typeface="Arial" pitchFamily="34" charset="-122"/>
                <a:cs typeface="Arial" pitchFamily="34" charset="-120"/>
              </a:rPr>
              <a:t>compression under the edge bar → release at the forum · enclosure in the archive → openness at the summit · views controlled by bar gaps · filtered light through brick screens · movement slows on the route, speeds on the spine.</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64592"/>
            <a:ext cx="8229600" cy="228600"/>
          </a:xfrm>
          <a:prstGeom prst="rect">
            <a:avLst/>
          </a:prstGeom>
          <a:noFill/>
          <a:ln/>
        </p:spPr>
        <p:txBody>
          <a:bodyPr wrap="square" lIns="0" tIns="0" rIns="0" bIns="0" rtlCol="0" anchor="t"/>
          <a:lstStyle/>
          <a:p>
            <a:pPr indent="0" marL="0">
              <a:buNone/>
            </a:pPr>
            <a:r>
              <a:rPr lang="en-US" sz="900" b="1" spc="100" kern="0" dirty="0">
                <a:solidFill>
                  <a:srgbClr val="6B6B6B"/>
                </a:solidFill>
                <a:latin typeface="Arial" pitchFamily="34" charset="0"/>
                <a:ea typeface="Arial" pitchFamily="34" charset="-122"/>
                <a:cs typeface="Arial" pitchFamily="34" charset="-120"/>
              </a:rPr>
              <a:t>BOARD LAYOUT (A1 landscape, scaled) — THE PUBLIC ASCENT</a:t>
            </a:r>
            <a:endParaRPr lang="en-US" sz="900" dirty="0"/>
          </a:p>
        </p:txBody>
      </p:sp>
      <p:sp>
        <p:nvSpPr>
          <p:cNvPr id="3" name="Shape 1"/>
          <p:cNvSpPr/>
          <p:nvPr/>
        </p:nvSpPr>
        <p:spPr>
          <a:xfrm>
            <a:off x="274320" y="411480"/>
            <a:ext cx="11640312" cy="6309360"/>
          </a:xfrm>
          <a:prstGeom prst="rect">
            <a:avLst/>
          </a:prstGeom>
          <a:ln w="9525">
            <a:solidFill>
              <a:srgbClr val="1B1B1B"/>
            </a:solidFill>
            <a:prstDash val="solid"/>
          </a:ln>
        </p:spPr>
      </p:sp>
      <p:sp>
        <p:nvSpPr>
          <p:cNvPr id="4" name="Text 2"/>
          <p:cNvSpPr txBox="1"/>
          <p:nvPr/>
        </p:nvSpPr>
        <p:spPr>
          <a:xfrm>
            <a:off x="457200" y="548640"/>
            <a:ext cx="4572000" cy="365760"/>
          </a:xfrm>
          <a:prstGeom prst="rect">
            <a:avLst/>
          </a:prstGeom>
          <a:noFill/>
          <a:ln/>
        </p:spPr>
        <p:txBody>
          <a:bodyPr wrap="square" lIns="0" tIns="0" rIns="0" bIns="0" rtlCol="0" anchor="t"/>
          <a:lstStyle/>
          <a:p>
            <a:pPr indent="0" marL="0">
              <a:buNone/>
            </a:pPr>
            <a:r>
              <a:rPr lang="en-US" sz="2000" b="1" dirty="0">
                <a:solidFill>
                  <a:srgbClr val="1B1B1B"/>
                </a:solidFill>
                <a:latin typeface="Arial" pitchFamily="34" charset="0"/>
                <a:ea typeface="Arial" pitchFamily="34" charset="-122"/>
                <a:cs typeface="Arial" pitchFamily="34" charset="-120"/>
              </a:rPr>
              <a:t>THE PUBLIC ASCENT</a:t>
            </a:r>
            <a:endParaRPr lang="en-US" sz="2000" dirty="0"/>
          </a:p>
        </p:txBody>
      </p:sp>
      <p:sp>
        <p:nvSpPr>
          <p:cNvPr id="5" name="Text 3"/>
          <p:cNvSpPr txBox="1"/>
          <p:nvPr/>
        </p:nvSpPr>
        <p:spPr>
          <a:xfrm>
            <a:off x="5029200" y="548640"/>
            <a:ext cx="6675120" cy="502920"/>
          </a:xfrm>
          <a:prstGeom prst="rect">
            <a:avLst/>
          </a:prstGeom>
          <a:noFill/>
          <a:ln/>
        </p:spPr>
        <p:txBody>
          <a:bodyPr wrap="square" lIns="0" tIns="0" rIns="0" bIns="0" rtlCol="0" anchor="t"/>
          <a:lstStyle/>
          <a:p>
            <a:pPr indent="0" marL="0">
              <a:buNone/>
            </a:pPr>
            <a:r>
              <a:rPr lang="en-US" sz="800" dirty="0">
                <a:solidFill>
                  <a:srgbClr val="1B1B1B"/>
                </a:solidFill>
                <a:latin typeface="Arial" pitchFamily="34" charset="0"/>
                <a:ea typeface="Arial" pitchFamily="34" charset="-122"/>
                <a:cs typeface="Arial" pitchFamily="34" charset="-120"/>
              </a:rPr>
              <a:t>Because the brief asks who can reach, see and question knowledge, and because the site is a contoured public landmark with a protest edge, a public route climbs Shimla Pahari from the edge to the summit. The rooms of knowledge sit along it on the contours; the top of the landmark stays public.</a:t>
            </a:r>
            <a:endParaRPr lang="en-US" sz="800" dirty="0"/>
          </a:p>
        </p:txBody>
      </p:sp>
      <p:sp>
        <p:nvSpPr>
          <p:cNvPr id="6" name="Shape 4"/>
          <p:cNvSpPr/>
          <p:nvPr/>
        </p:nvSpPr>
        <p:spPr>
          <a:xfrm>
            <a:off x="457200" y="1188720"/>
            <a:ext cx="2743200" cy="1828800"/>
          </a:xfrm>
          <a:prstGeom prst="rect">
            <a:avLst/>
          </a:prstGeom>
          <a:solidFill>
            <a:srgbClr val="FFFFFF"/>
          </a:solidFill>
          <a:ln w="6350">
            <a:solidFill>
              <a:srgbClr val="D9D9D9"/>
            </a:solidFill>
            <a:prstDash val="solid"/>
          </a:ln>
        </p:spPr>
      </p:sp>
      <p:sp>
        <p:nvSpPr>
          <p:cNvPr id="7" name="Text 5"/>
          <p:cNvSpPr txBox="1"/>
          <p:nvPr/>
        </p:nvSpPr>
        <p:spPr>
          <a:xfrm>
            <a:off x="530352" y="1243584"/>
            <a:ext cx="2596896"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01  </a:t>
            </a:r>
            <a:pPr indent="0" marL="0">
              <a:buNone/>
            </a:pPr>
            <a:r>
              <a:rPr lang="en-US" sz="650" b="1" spc="50" kern="0" dirty="0">
                <a:solidFill>
                  <a:srgbClr val="1B1B1B"/>
                </a:solidFill>
                <a:latin typeface="Arial" pitchFamily="34" charset="0"/>
                <a:ea typeface="Arial" pitchFamily="34" charset="-122"/>
                <a:cs typeface="Arial" pitchFamily="34" charset="-120"/>
              </a:rPr>
              <a:t>CONCEPT</a:t>
            </a:r>
            <a:endParaRPr lang="en-US" sz="650" dirty="0"/>
          </a:p>
        </p:txBody>
      </p:sp>
      <p:sp>
        <p:nvSpPr>
          <p:cNvPr id="8" name="Shape 6"/>
          <p:cNvSpPr/>
          <p:nvPr/>
        </p:nvSpPr>
        <p:spPr>
          <a:xfrm>
            <a:off x="790491" y="1557494"/>
            <a:ext cx="2076619" cy="1301563"/>
          </a:xfrm>
          <a:custGeom>
            <a:avLst/>
            <a:gdLst/>
            <a:ahLst/>
            <a:cxnLst/>
            <a:rect l="l" t="t" r="r" b="b"/>
            <a:pathLst>
              <a:path w="2076619" h="1301563">
                <a:moveTo>
                  <a:pt x="2055533" y="1103679"/>
                </a:moveTo>
                <a:lnTo>
                  <a:pt x="2028184" y="1150109"/>
                </a:lnTo>
                <a:lnTo>
                  <a:pt x="1989989" y="1191068"/>
                </a:lnTo>
                <a:lnTo>
                  <a:pt x="1941368" y="1226108"/>
                </a:lnTo>
                <a:lnTo>
                  <a:pt x="1882853" y="1254845"/>
                </a:lnTo>
                <a:lnTo>
                  <a:pt x="1815084" y="1276963"/>
                </a:lnTo>
                <a:lnTo>
                  <a:pt x="1738806" y="1292221"/>
                </a:lnTo>
                <a:lnTo>
                  <a:pt x="1654852" y="1300451"/>
                </a:lnTo>
                <a:lnTo>
                  <a:pt x="1564143" y="1301563"/>
                </a:lnTo>
                <a:lnTo>
                  <a:pt x="1467674" y="1295545"/>
                </a:lnTo>
                <a:lnTo>
                  <a:pt x="1366500" y="1282463"/>
                </a:lnTo>
                <a:lnTo>
                  <a:pt x="1261730" y="1262460"/>
                </a:lnTo>
                <a:lnTo>
                  <a:pt x="1154513" y="1235755"/>
                </a:lnTo>
                <a:lnTo>
                  <a:pt x="1046022" y="1202642"/>
                </a:lnTo>
                <a:lnTo>
                  <a:pt x="937447" y="1163482"/>
                </a:lnTo>
                <a:lnTo>
                  <a:pt x="829977" y="1118704"/>
                </a:lnTo>
                <a:lnTo>
                  <a:pt x="724789" y="1068800"/>
                </a:lnTo>
                <a:lnTo>
                  <a:pt x="623037" y="1014317"/>
                </a:lnTo>
                <a:lnTo>
                  <a:pt x="525834" y="955850"/>
                </a:lnTo>
                <a:lnTo>
                  <a:pt x="434246" y="894041"/>
                </a:lnTo>
                <a:lnTo>
                  <a:pt x="349276" y="829566"/>
                </a:lnTo>
                <a:lnTo>
                  <a:pt x="271856" y="763133"/>
                </a:lnTo>
                <a:lnTo>
                  <a:pt x="202833" y="695469"/>
                </a:lnTo>
                <a:lnTo>
                  <a:pt x="142963" y="627315"/>
                </a:lnTo>
                <a:lnTo>
                  <a:pt x="92904" y="559418"/>
                </a:lnTo>
                <a:lnTo>
                  <a:pt x="53202" y="492523"/>
                </a:lnTo>
                <a:lnTo>
                  <a:pt x="24293" y="427361"/>
                </a:lnTo>
                <a:lnTo>
                  <a:pt x="6494" y="364647"/>
                </a:lnTo>
                <a:lnTo>
                  <a:pt x="0" y="305068"/>
                </a:lnTo>
                <a:lnTo>
                  <a:pt x="4882" y="249277"/>
                </a:lnTo>
                <a:lnTo>
                  <a:pt x="21086" y="197885"/>
                </a:lnTo>
                <a:lnTo>
                  <a:pt x="48435" y="151454"/>
                </a:lnTo>
                <a:lnTo>
                  <a:pt x="86630" y="110495"/>
                </a:lnTo>
                <a:lnTo>
                  <a:pt x="135251" y="75455"/>
                </a:lnTo>
                <a:lnTo>
                  <a:pt x="193766" y="46718"/>
                </a:lnTo>
                <a:lnTo>
                  <a:pt x="261534" y="24600"/>
                </a:lnTo>
                <a:lnTo>
                  <a:pt x="337813" y="9342"/>
                </a:lnTo>
                <a:lnTo>
                  <a:pt x="421767" y="1112"/>
                </a:lnTo>
                <a:lnTo>
                  <a:pt x="512475" y="0"/>
                </a:lnTo>
                <a:lnTo>
                  <a:pt x="608945" y="6018"/>
                </a:lnTo>
                <a:lnTo>
                  <a:pt x="710119" y="19100"/>
                </a:lnTo>
                <a:lnTo>
                  <a:pt x="814889" y="39103"/>
                </a:lnTo>
                <a:lnTo>
                  <a:pt x="922106" y="65808"/>
                </a:lnTo>
                <a:lnTo>
                  <a:pt x="1030597" y="98922"/>
                </a:lnTo>
                <a:lnTo>
                  <a:pt x="1139172" y="138082"/>
                </a:lnTo>
                <a:lnTo>
                  <a:pt x="1246642" y="182859"/>
                </a:lnTo>
                <a:lnTo>
                  <a:pt x="1351830" y="232763"/>
                </a:lnTo>
                <a:lnTo>
                  <a:pt x="1453582" y="287247"/>
                </a:lnTo>
                <a:lnTo>
                  <a:pt x="1550785" y="345714"/>
                </a:lnTo>
                <a:lnTo>
                  <a:pt x="1642373" y="407523"/>
                </a:lnTo>
                <a:lnTo>
                  <a:pt x="1727342" y="471997"/>
                </a:lnTo>
                <a:lnTo>
                  <a:pt x="1804763" y="538430"/>
                </a:lnTo>
                <a:lnTo>
                  <a:pt x="1873786" y="606095"/>
                </a:lnTo>
                <a:lnTo>
                  <a:pt x="1933655" y="674248"/>
                </a:lnTo>
                <a:lnTo>
                  <a:pt x="1983715" y="742145"/>
                </a:lnTo>
                <a:lnTo>
                  <a:pt x="2023417" y="809041"/>
                </a:lnTo>
                <a:lnTo>
                  <a:pt x="2052326" y="874202"/>
                </a:lnTo>
                <a:lnTo>
                  <a:pt x="2070125" y="936916"/>
                </a:lnTo>
                <a:lnTo>
                  <a:pt x="2076619" y="996495"/>
                </a:lnTo>
                <a:lnTo>
                  <a:pt x="2071737" y="1052286"/>
                </a:lnTo>
                <a:close/>
              </a:path>
            </a:pathLst>
          </a:custGeom>
          <a:solidFill>
            <a:srgbClr val="E4E4E4"/>
          </a:solidFill>
          <a:ln w="12700"/>
        </p:spPr>
      </p:sp>
      <p:sp>
        <p:nvSpPr>
          <p:cNvPr id="9" name="Shape 7"/>
          <p:cNvSpPr/>
          <p:nvPr/>
        </p:nvSpPr>
        <p:spPr>
          <a:xfrm>
            <a:off x="512064" y="1709659"/>
            <a:ext cx="299513" cy="45720"/>
          </a:xfrm>
          <a:custGeom>
            <a:avLst/>
            <a:gdLst/>
            <a:ahLst/>
            <a:cxnLst/>
            <a:rect l="l" t="t" r="r" b="b"/>
            <a:pathLst>
              <a:path w="299513" h="45720">
                <a:moveTo>
                  <a:pt x="299513" y="45720"/>
                </a:moveTo>
                <a:lnTo>
                  <a:pt x="0" y="0"/>
                </a:lnTo>
              </a:path>
            </a:pathLst>
          </a:custGeom>
          <a:ln w="76200">
            <a:solidFill>
              <a:srgbClr val="E4E4E4"/>
            </a:solidFill>
            <a:prstDash val="solid"/>
          </a:ln>
        </p:spPr>
      </p:sp>
      <p:sp>
        <p:nvSpPr>
          <p:cNvPr id="10" name="Shape 8"/>
          <p:cNvSpPr/>
          <p:nvPr/>
        </p:nvSpPr>
        <p:spPr>
          <a:xfrm>
            <a:off x="2846023" y="2661173"/>
            <a:ext cx="299513" cy="45720"/>
          </a:xfrm>
          <a:custGeom>
            <a:avLst/>
            <a:gdLst/>
            <a:ahLst/>
            <a:cxnLst/>
            <a:rect l="l" t="t" r="r" b="b"/>
            <a:pathLst>
              <a:path w="299513" h="45720">
                <a:moveTo>
                  <a:pt x="0" y="0"/>
                </a:moveTo>
                <a:lnTo>
                  <a:pt x="299513" y="45720"/>
                </a:lnTo>
              </a:path>
            </a:pathLst>
          </a:custGeom>
          <a:ln w="76200">
            <a:solidFill>
              <a:srgbClr val="E4E4E4"/>
            </a:solidFill>
            <a:prstDash val="solid"/>
          </a:ln>
        </p:spPr>
      </p:sp>
      <p:sp>
        <p:nvSpPr>
          <p:cNvPr id="11" name="Shape 9"/>
          <p:cNvSpPr/>
          <p:nvPr/>
        </p:nvSpPr>
        <p:spPr>
          <a:xfrm>
            <a:off x="963542" y="1665958"/>
            <a:ext cx="1730516" cy="1084636"/>
          </a:xfrm>
          <a:custGeom>
            <a:avLst/>
            <a:gdLst/>
            <a:ahLst/>
            <a:cxnLst/>
            <a:rect l="l" t="t" r="r" b="b"/>
            <a:pathLst>
              <a:path w="1730516" h="1084636">
                <a:moveTo>
                  <a:pt x="1712944" y="919732"/>
                </a:moveTo>
                <a:lnTo>
                  <a:pt x="1690153" y="958424"/>
                </a:lnTo>
                <a:lnTo>
                  <a:pt x="1658324" y="992557"/>
                </a:lnTo>
                <a:lnTo>
                  <a:pt x="1617807" y="1021757"/>
                </a:lnTo>
                <a:lnTo>
                  <a:pt x="1569044" y="1045704"/>
                </a:lnTo>
                <a:lnTo>
                  <a:pt x="1512570" y="1064136"/>
                </a:lnTo>
                <a:lnTo>
                  <a:pt x="1449005" y="1076851"/>
                </a:lnTo>
                <a:lnTo>
                  <a:pt x="1379043" y="1083709"/>
                </a:lnTo>
                <a:lnTo>
                  <a:pt x="1303453" y="1084636"/>
                </a:lnTo>
                <a:lnTo>
                  <a:pt x="1223061" y="1079621"/>
                </a:lnTo>
                <a:lnTo>
                  <a:pt x="1138750" y="1068719"/>
                </a:lnTo>
                <a:lnTo>
                  <a:pt x="1051442" y="1052050"/>
                </a:lnTo>
                <a:lnTo>
                  <a:pt x="962094" y="1029796"/>
                </a:lnTo>
                <a:lnTo>
                  <a:pt x="871685" y="1002201"/>
                </a:lnTo>
                <a:lnTo>
                  <a:pt x="781206" y="969568"/>
                </a:lnTo>
                <a:lnTo>
                  <a:pt x="691647" y="932254"/>
                </a:lnTo>
                <a:lnTo>
                  <a:pt x="603991" y="890667"/>
                </a:lnTo>
                <a:lnTo>
                  <a:pt x="519197" y="845264"/>
                </a:lnTo>
                <a:lnTo>
                  <a:pt x="438195" y="796541"/>
                </a:lnTo>
                <a:lnTo>
                  <a:pt x="361872" y="745034"/>
                </a:lnTo>
                <a:lnTo>
                  <a:pt x="291064" y="691305"/>
                </a:lnTo>
                <a:lnTo>
                  <a:pt x="226547" y="635944"/>
                </a:lnTo>
                <a:lnTo>
                  <a:pt x="169027" y="579557"/>
                </a:lnTo>
                <a:lnTo>
                  <a:pt x="119136" y="522762"/>
                </a:lnTo>
                <a:lnTo>
                  <a:pt x="77420" y="466182"/>
                </a:lnTo>
                <a:lnTo>
                  <a:pt x="44335" y="410436"/>
                </a:lnTo>
                <a:lnTo>
                  <a:pt x="20244" y="356134"/>
                </a:lnTo>
                <a:lnTo>
                  <a:pt x="5412" y="303873"/>
                </a:lnTo>
                <a:lnTo>
                  <a:pt x="0" y="254223"/>
                </a:lnTo>
                <a:lnTo>
                  <a:pt x="4068" y="207731"/>
                </a:lnTo>
                <a:lnTo>
                  <a:pt x="17572" y="164904"/>
                </a:lnTo>
                <a:lnTo>
                  <a:pt x="40363" y="126212"/>
                </a:lnTo>
                <a:lnTo>
                  <a:pt x="72191" y="92079"/>
                </a:lnTo>
                <a:lnTo>
                  <a:pt x="112709" y="62879"/>
                </a:lnTo>
                <a:lnTo>
                  <a:pt x="161472" y="38932"/>
                </a:lnTo>
                <a:lnTo>
                  <a:pt x="217945" y="20500"/>
                </a:lnTo>
                <a:lnTo>
                  <a:pt x="281511" y="7785"/>
                </a:lnTo>
                <a:lnTo>
                  <a:pt x="351472" y="927"/>
                </a:lnTo>
                <a:lnTo>
                  <a:pt x="427063" y="0"/>
                </a:lnTo>
                <a:lnTo>
                  <a:pt x="507454" y="5015"/>
                </a:lnTo>
                <a:lnTo>
                  <a:pt x="591766" y="15917"/>
                </a:lnTo>
                <a:lnTo>
                  <a:pt x="679074" y="32586"/>
                </a:lnTo>
                <a:lnTo>
                  <a:pt x="768422" y="54840"/>
                </a:lnTo>
                <a:lnTo>
                  <a:pt x="858831" y="82435"/>
                </a:lnTo>
                <a:lnTo>
                  <a:pt x="949310" y="115068"/>
                </a:lnTo>
                <a:lnTo>
                  <a:pt x="1038868" y="152382"/>
                </a:lnTo>
                <a:lnTo>
                  <a:pt x="1126525" y="193969"/>
                </a:lnTo>
                <a:lnTo>
                  <a:pt x="1211318" y="239372"/>
                </a:lnTo>
                <a:lnTo>
                  <a:pt x="1292321" y="288095"/>
                </a:lnTo>
                <a:lnTo>
                  <a:pt x="1368644" y="339602"/>
                </a:lnTo>
                <a:lnTo>
                  <a:pt x="1439452" y="393331"/>
                </a:lnTo>
                <a:lnTo>
                  <a:pt x="1503969" y="448692"/>
                </a:lnTo>
                <a:lnTo>
                  <a:pt x="1561488" y="505079"/>
                </a:lnTo>
                <a:lnTo>
                  <a:pt x="1611380" y="561874"/>
                </a:lnTo>
                <a:lnTo>
                  <a:pt x="1653096" y="618454"/>
                </a:lnTo>
                <a:lnTo>
                  <a:pt x="1686181" y="674200"/>
                </a:lnTo>
                <a:lnTo>
                  <a:pt x="1710271" y="728502"/>
                </a:lnTo>
                <a:lnTo>
                  <a:pt x="1725104" y="780764"/>
                </a:lnTo>
                <a:lnTo>
                  <a:pt x="1730516" y="830413"/>
                </a:lnTo>
                <a:lnTo>
                  <a:pt x="1726448" y="876905"/>
                </a:lnTo>
                <a:close/>
              </a:path>
            </a:pathLst>
          </a:custGeom>
          <a:solidFill>
            <a:srgbClr val="FFFFFF"/>
          </a:solidFill>
          <a:ln w="19050">
            <a:solidFill>
              <a:srgbClr val="1B1B1B"/>
            </a:solidFill>
            <a:prstDash val="solid"/>
          </a:ln>
        </p:spPr>
      </p:sp>
      <p:sp>
        <p:nvSpPr>
          <p:cNvPr id="12" name="Shape 10"/>
          <p:cNvSpPr/>
          <p:nvPr/>
        </p:nvSpPr>
        <p:spPr>
          <a:xfrm>
            <a:off x="1299264" y="1836052"/>
            <a:ext cx="1245971" cy="780938"/>
          </a:xfrm>
          <a:custGeom>
            <a:avLst/>
            <a:gdLst/>
            <a:ahLst/>
            <a:cxnLst/>
            <a:rect l="l" t="t" r="r" b="b"/>
            <a:pathLst>
              <a:path w="1245971" h="780938">
                <a:moveTo>
                  <a:pt x="1233320" y="662207"/>
                </a:moveTo>
                <a:lnTo>
                  <a:pt x="1216910" y="690065"/>
                </a:lnTo>
                <a:lnTo>
                  <a:pt x="1193994" y="714641"/>
                </a:lnTo>
                <a:lnTo>
                  <a:pt x="1164821" y="735665"/>
                </a:lnTo>
                <a:lnTo>
                  <a:pt x="1129712" y="752907"/>
                </a:lnTo>
                <a:lnTo>
                  <a:pt x="1089051" y="766178"/>
                </a:lnTo>
                <a:lnTo>
                  <a:pt x="1043283" y="775333"/>
                </a:lnTo>
                <a:lnTo>
                  <a:pt x="992911" y="780271"/>
                </a:lnTo>
                <a:lnTo>
                  <a:pt x="938486" y="780938"/>
                </a:lnTo>
                <a:lnTo>
                  <a:pt x="880604" y="777327"/>
                </a:lnTo>
                <a:lnTo>
                  <a:pt x="819900" y="769478"/>
                </a:lnTo>
                <a:lnTo>
                  <a:pt x="757038" y="757476"/>
                </a:lnTo>
                <a:lnTo>
                  <a:pt x="692708" y="741453"/>
                </a:lnTo>
                <a:lnTo>
                  <a:pt x="627613" y="721585"/>
                </a:lnTo>
                <a:lnTo>
                  <a:pt x="562468" y="698089"/>
                </a:lnTo>
                <a:lnTo>
                  <a:pt x="497986" y="671223"/>
                </a:lnTo>
                <a:lnTo>
                  <a:pt x="434874" y="641280"/>
                </a:lnTo>
                <a:lnTo>
                  <a:pt x="373822" y="608590"/>
                </a:lnTo>
                <a:lnTo>
                  <a:pt x="315500" y="573510"/>
                </a:lnTo>
                <a:lnTo>
                  <a:pt x="260548" y="536424"/>
                </a:lnTo>
                <a:lnTo>
                  <a:pt x="209566" y="497740"/>
                </a:lnTo>
                <a:lnTo>
                  <a:pt x="163114" y="457880"/>
                </a:lnTo>
                <a:lnTo>
                  <a:pt x="121700" y="417281"/>
                </a:lnTo>
                <a:lnTo>
                  <a:pt x="85778" y="376389"/>
                </a:lnTo>
                <a:lnTo>
                  <a:pt x="55742" y="335651"/>
                </a:lnTo>
                <a:lnTo>
                  <a:pt x="31921" y="295514"/>
                </a:lnTo>
                <a:lnTo>
                  <a:pt x="14576" y="256417"/>
                </a:lnTo>
                <a:lnTo>
                  <a:pt x="3896" y="218788"/>
                </a:lnTo>
                <a:lnTo>
                  <a:pt x="0" y="183041"/>
                </a:lnTo>
                <a:lnTo>
                  <a:pt x="2929" y="149566"/>
                </a:lnTo>
                <a:lnTo>
                  <a:pt x="12652" y="118731"/>
                </a:lnTo>
                <a:lnTo>
                  <a:pt x="29061" y="90873"/>
                </a:lnTo>
                <a:lnTo>
                  <a:pt x="51978" y="66297"/>
                </a:lnTo>
                <a:lnTo>
                  <a:pt x="81150" y="45273"/>
                </a:lnTo>
                <a:lnTo>
                  <a:pt x="116260" y="28031"/>
                </a:lnTo>
                <a:lnTo>
                  <a:pt x="156921" y="14760"/>
                </a:lnTo>
                <a:lnTo>
                  <a:pt x="202688" y="5605"/>
                </a:lnTo>
                <a:lnTo>
                  <a:pt x="253060" y="667"/>
                </a:lnTo>
                <a:lnTo>
                  <a:pt x="307485" y="0"/>
                </a:lnTo>
                <a:lnTo>
                  <a:pt x="365367" y="3611"/>
                </a:lnTo>
                <a:lnTo>
                  <a:pt x="426071" y="11460"/>
                </a:lnTo>
                <a:lnTo>
                  <a:pt x="488933" y="23462"/>
                </a:lnTo>
                <a:lnTo>
                  <a:pt x="553264" y="39485"/>
                </a:lnTo>
                <a:lnTo>
                  <a:pt x="618358" y="59353"/>
                </a:lnTo>
                <a:lnTo>
                  <a:pt x="683503" y="82849"/>
                </a:lnTo>
                <a:lnTo>
                  <a:pt x="747985" y="109715"/>
                </a:lnTo>
                <a:lnTo>
                  <a:pt x="811098" y="139658"/>
                </a:lnTo>
                <a:lnTo>
                  <a:pt x="872149" y="172348"/>
                </a:lnTo>
                <a:lnTo>
                  <a:pt x="930471" y="207428"/>
                </a:lnTo>
                <a:lnTo>
                  <a:pt x="985424" y="244514"/>
                </a:lnTo>
                <a:lnTo>
                  <a:pt x="1036405" y="283198"/>
                </a:lnTo>
                <a:lnTo>
                  <a:pt x="1082858" y="323058"/>
                </a:lnTo>
                <a:lnTo>
                  <a:pt x="1124272" y="363657"/>
                </a:lnTo>
                <a:lnTo>
                  <a:pt x="1160193" y="404549"/>
                </a:lnTo>
                <a:lnTo>
                  <a:pt x="1190229" y="445287"/>
                </a:lnTo>
                <a:lnTo>
                  <a:pt x="1214050" y="485424"/>
                </a:lnTo>
                <a:lnTo>
                  <a:pt x="1231395" y="524521"/>
                </a:lnTo>
                <a:lnTo>
                  <a:pt x="1242075" y="562150"/>
                </a:lnTo>
                <a:lnTo>
                  <a:pt x="1245971" y="597897"/>
                </a:lnTo>
                <a:lnTo>
                  <a:pt x="1243042" y="631372"/>
                </a:lnTo>
                <a:close/>
              </a:path>
            </a:pathLst>
          </a:custGeom>
          <a:ln w="6350">
            <a:solidFill>
              <a:srgbClr val="4F7A43"/>
            </a:solidFill>
            <a:prstDash val="dash"/>
          </a:ln>
        </p:spPr>
      </p:sp>
      <p:sp>
        <p:nvSpPr>
          <p:cNvPr id="13" name="Shape 11"/>
          <p:cNvSpPr/>
          <p:nvPr/>
        </p:nvSpPr>
        <p:spPr>
          <a:xfrm>
            <a:off x="1524231" y="1977054"/>
            <a:ext cx="796037" cy="498933"/>
          </a:xfrm>
          <a:custGeom>
            <a:avLst/>
            <a:gdLst/>
            <a:ahLst/>
            <a:cxnLst/>
            <a:rect l="l" t="t" r="r" b="b"/>
            <a:pathLst>
              <a:path w="796037" h="498933">
                <a:moveTo>
                  <a:pt x="787954" y="423077"/>
                </a:moveTo>
                <a:lnTo>
                  <a:pt x="777470" y="440875"/>
                </a:lnTo>
                <a:lnTo>
                  <a:pt x="762829" y="456576"/>
                </a:lnTo>
                <a:lnTo>
                  <a:pt x="744191" y="470008"/>
                </a:lnTo>
                <a:lnTo>
                  <a:pt x="721760" y="481024"/>
                </a:lnTo>
                <a:lnTo>
                  <a:pt x="695782" y="489503"/>
                </a:lnTo>
                <a:lnTo>
                  <a:pt x="666542" y="495351"/>
                </a:lnTo>
                <a:lnTo>
                  <a:pt x="634360" y="498506"/>
                </a:lnTo>
                <a:lnTo>
                  <a:pt x="599588" y="498933"/>
                </a:lnTo>
                <a:lnTo>
                  <a:pt x="562608" y="496626"/>
                </a:lnTo>
                <a:lnTo>
                  <a:pt x="523825" y="491611"/>
                </a:lnTo>
                <a:lnTo>
                  <a:pt x="483663" y="483943"/>
                </a:lnTo>
                <a:lnTo>
                  <a:pt x="442563" y="473706"/>
                </a:lnTo>
                <a:lnTo>
                  <a:pt x="400975" y="461013"/>
                </a:lnTo>
                <a:lnTo>
                  <a:pt x="359355" y="446001"/>
                </a:lnTo>
                <a:lnTo>
                  <a:pt x="318158" y="428837"/>
                </a:lnTo>
                <a:lnTo>
                  <a:pt x="277836" y="409707"/>
                </a:lnTo>
                <a:lnTo>
                  <a:pt x="238831" y="388821"/>
                </a:lnTo>
                <a:lnTo>
                  <a:pt x="201570" y="366409"/>
                </a:lnTo>
                <a:lnTo>
                  <a:pt x="166461" y="342716"/>
                </a:lnTo>
                <a:lnTo>
                  <a:pt x="133889" y="318000"/>
                </a:lnTo>
                <a:lnTo>
                  <a:pt x="104211" y="292534"/>
                </a:lnTo>
                <a:lnTo>
                  <a:pt x="77753" y="266596"/>
                </a:lnTo>
                <a:lnTo>
                  <a:pt x="54803" y="240471"/>
                </a:lnTo>
                <a:lnTo>
                  <a:pt x="35613" y="214444"/>
                </a:lnTo>
                <a:lnTo>
                  <a:pt x="20394" y="188800"/>
                </a:lnTo>
                <a:lnTo>
                  <a:pt x="9312" y="163822"/>
                </a:lnTo>
                <a:lnTo>
                  <a:pt x="2489" y="139781"/>
                </a:lnTo>
                <a:lnTo>
                  <a:pt x="0" y="116943"/>
                </a:lnTo>
                <a:lnTo>
                  <a:pt x="1871" y="95556"/>
                </a:lnTo>
                <a:lnTo>
                  <a:pt x="8083" y="75856"/>
                </a:lnTo>
                <a:lnTo>
                  <a:pt x="18567" y="58058"/>
                </a:lnTo>
                <a:lnTo>
                  <a:pt x="33208" y="42356"/>
                </a:lnTo>
                <a:lnTo>
                  <a:pt x="51846" y="28924"/>
                </a:lnTo>
                <a:lnTo>
                  <a:pt x="74277" y="17909"/>
                </a:lnTo>
                <a:lnTo>
                  <a:pt x="100255" y="9430"/>
                </a:lnTo>
                <a:lnTo>
                  <a:pt x="129495" y="3581"/>
                </a:lnTo>
                <a:lnTo>
                  <a:pt x="161677" y="426"/>
                </a:lnTo>
                <a:lnTo>
                  <a:pt x="196449" y="0"/>
                </a:lnTo>
                <a:lnTo>
                  <a:pt x="233429" y="2307"/>
                </a:lnTo>
                <a:lnTo>
                  <a:pt x="272212" y="7322"/>
                </a:lnTo>
                <a:lnTo>
                  <a:pt x="312374" y="14990"/>
                </a:lnTo>
                <a:lnTo>
                  <a:pt x="353474" y="25226"/>
                </a:lnTo>
                <a:lnTo>
                  <a:pt x="395062" y="37920"/>
                </a:lnTo>
                <a:lnTo>
                  <a:pt x="436683" y="52931"/>
                </a:lnTo>
                <a:lnTo>
                  <a:pt x="477879" y="70096"/>
                </a:lnTo>
                <a:lnTo>
                  <a:pt x="518201" y="89226"/>
                </a:lnTo>
                <a:lnTo>
                  <a:pt x="557206" y="110111"/>
                </a:lnTo>
                <a:lnTo>
                  <a:pt x="594468" y="132524"/>
                </a:lnTo>
                <a:lnTo>
                  <a:pt x="629576" y="156217"/>
                </a:lnTo>
                <a:lnTo>
                  <a:pt x="662148" y="180932"/>
                </a:lnTo>
                <a:lnTo>
                  <a:pt x="691826" y="206398"/>
                </a:lnTo>
                <a:lnTo>
                  <a:pt x="718285" y="232336"/>
                </a:lnTo>
                <a:lnTo>
                  <a:pt x="741235" y="258462"/>
                </a:lnTo>
                <a:lnTo>
                  <a:pt x="760424" y="284489"/>
                </a:lnTo>
                <a:lnTo>
                  <a:pt x="775643" y="310132"/>
                </a:lnTo>
                <a:lnTo>
                  <a:pt x="786725" y="335111"/>
                </a:lnTo>
                <a:lnTo>
                  <a:pt x="793548" y="359151"/>
                </a:lnTo>
                <a:lnTo>
                  <a:pt x="796037" y="381990"/>
                </a:lnTo>
                <a:lnTo>
                  <a:pt x="794166" y="403376"/>
                </a:lnTo>
                <a:close/>
              </a:path>
            </a:pathLst>
          </a:custGeom>
          <a:ln w="6350">
            <a:solidFill>
              <a:srgbClr val="4F7A43"/>
            </a:solidFill>
            <a:prstDash val="dash"/>
          </a:ln>
        </p:spPr>
      </p:sp>
      <p:sp>
        <p:nvSpPr>
          <p:cNvPr id="14" name="Shape 12"/>
          <p:cNvSpPr/>
          <p:nvPr/>
        </p:nvSpPr>
        <p:spPr>
          <a:xfrm>
            <a:off x="1731892" y="2107211"/>
            <a:ext cx="380713" cy="238620"/>
          </a:xfrm>
          <a:custGeom>
            <a:avLst/>
            <a:gdLst/>
            <a:ahLst/>
            <a:cxnLst/>
            <a:rect l="l" t="t" r="r" b="b"/>
            <a:pathLst>
              <a:path w="380713" h="238620">
                <a:moveTo>
                  <a:pt x="376848" y="202341"/>
                </a:moveTo>
                <a:lnTo>
                  <a:pt x="371834" y="210853"/>
                </a:lnTo>
                <a:lnTo>
                  <a:pt x="364831" y="218363"/>
                </a:lnTo>
                <a:lnTo>
                  <a:pt x="355917" y="224787"/>
                </a:lnTo>
                <a:lnTo>
                  <a:pt x="345190" y="230055"/>
                </a:lnTo>
                <a:lnTo>
                  <a:pt x="332765" y="234110"/>
                </a:lnTo>
                <a:lnTo>
                  <a:pt x="318781" y="236907"/>
                </a:lnTo>
                <a:lnTo>
                  <a:pt x="303390" y="238416"/>
                </a:lnTo>
                <a:lnTo>
                  <a:pt x="286760" y="238620"/>
                </a:lnTo>
                <a:lnTo>
                  <a:pt x="269074" y="237517"/>
                </a:lnTo>
                <a:lnTo>
                  <a:pt x="250525" y="235118"/>
                </a:lnTo>
                <a:lnTo>
                  <a:pt x="231317" y="231451"/>
                </a:lnTo>
                <a:lnTo>
                  <a:pt x="211661" y="226555"/>
                </a:lnTo>
                <a:lnTo>
                  <a:pt x="191771" y="220484"/>
                </a:lnTo>
                <a:lnTo>
                  <a:pt x="171865" y="213305"/>
                </a:lnTo>
                <a:lnTo>
                  <a:pt x="152162" y="205096"/>
                </a:lnTo>
                <a:lnTo>
                  <a:pt x="132878" y="195947"/>
                </a:lnTo>
                <a:lnTo>
                  <a:pt x="114223" y="185958"/>
                </a:lnTo>
                <a:lnTo>
                  <a:pt x="96403" y="175239"/>
                </a:lnTo>
                <a:lnTo>
                  <a:pt x="79612" y="163907"/>
                </a:lnTo>
                <a:lnTo>
                  <a:pt x="64034" y="152087"/>
                </a:lnTo>
                <a:lnTo>
                  <a:pt x="49840" y="139908"/>
                </a:lnTo>
                <a:lnTo>
                  <a:pt x="37186" y="127503"/>
                </a:lnTo>
                <a:lnTo>
                  <a:pt x="26210" y="115008"/>
                </a:lnTo>
                <a:lnTo>
                  <a:pt x="17032" y="102560"/>
                </a:lnTo>
                <a:lnTo>
                  <a:pt x="9754" y="90296"/>
                </a:lnTo>
                <a:lnTo>
                  <a:pt x="4454" y="78350"/>
                </a:lnTo>
                <a:lnTo>
                  <a:pt x="1191" y="66852"/>
                </a:lnTo>
                <a:lnTo>
                  <a:pt x="0" y="55929"/>
                </a:lnTo>
                <a:lnTo>
                  <a:pt x="895" y="45701"/>
                </a:lnTo>
                <a:lnTo>
                  <a:pt x="3866" y="36279"/>
                </a:lnTo>
                <a:lnTo>
                  <a:pt x="8880" y="27767"/>
                </a:lnTo>
                <a:lnTo>
                  <a:pt x="15882" y="20257"/>
                </a:lnTo>
                <a:lnTo>
                  <a:pt x="24796" y="13833"/>
                </a:lnTo>
                <a:lnTo>
                  <a:pt x="35524" y="8565"/>
                </a:lnTo>
                <a:lnTo>
                  <a:pt x="47948" y="4510"/>
                </a:lnTo>
                <a:lnTo>
                  <a:pt x="61932" y="1713"/>
                </a:lnTo>
                <a:lnTo>
                  <a:pt x="77324" y="204"/>
                </a:lnTo>
                <a:lnTo>
                  <a:pt x="93954" y="0"/>
                </a:lnTo>
                <a:lnTo>
                  <a:pt x="111640" y="1103"/>
                </a:lnTo>
                <a:lnTo>
                  <a:pt x="130188" y="3502"/>
                </a:lnTo>
                <a:lnTo>
                  <a:pt x="149396" y="7169"/>
                </a:lnTo>
                <a:lnTo>
                  <a:pt x="169053" y="12065"/>
                </a:lnTo>
                <a:lnTo>
                  <a:pt x="188943" y="18136"/>
                </a:lnTo>
                <a:lnTo>
                  <a:pt x="208848" y="25315"/>
                </a:lnTo>
                <a:lnTo>
                  <a:pt x="228551" y="33524"/>
                </a:lnTo>
                <a:lnTo>
                  <a:pt x="247835" y="42673"/>
                </a:lnTo>
                <a:lnTo>
                  <a:pt x="266490" y="52662"/>
                </a:lnTo>
                <a:lnTo>
                  <a:pt x="284311" y="63381"/>
                </a:lnTo>
                <a:lnTo>
                  <a:pt x="301102" y="74713"/>
                </a:lnTo>
                <a:lnTo>
                  <a:pt x="316679" y="86533"/>
                </a:lnTo>
                <a:lnTo>
                  <a:pt x="330873" y="98712"/>
                </a:lnTo>
                <a:lnTo>
                  <a:pt x="343527" y="111117"/>
                </a:lnTo>
                <a:lnTo>
                  <a:pt x="354503" y="123612"/>
                </a:lnTo>
                <a:lnTo>
                  <a:pt x="363681" y="136060"/>
                </a:lnTo>
                <a:lnTo>
                  <a:pt x="370960" y="148324"/>
                </a:lnTo>
                <a:lnTo>
                  <a:pt x="376260" y="160270"/>
                </a:lnTo>
                <a:lnTo>
                  <a:pt x="379523" y="171768"/>
                </a:lnTo>
                <a:lnTo>
                  <a:pt x="380713" y="182691"/>
                </a:lnTo>
                <a:lnTo>
                  <a:pt x="379818" y="192919"/>
                </a:lnTo>
                <a:close/>
              </a:path>
            </a:pathLst>
          </a:custGeom>
          <a:ln w="6350">
            <a:solidFill>
              <a:srgbClr val="4F7A43"/>
            </a:solidFill>
            <a:prstDash val="dash"/>
          </a:ln>
        </p:spPr>
      </p:sp>
      <p:sp>
        <p:nvSpPr>
          <p:cNvPr id="15" name="Shape 13"/>
          <p:cNvSpPr/>
          <p:nvPr/>
        </p:nvSpPr>
        <p:spPr>
          <a:xfrm>
            <a:off x="2547019" y="2512656"/>
            <a:ext cx="55489" cy="55489"/>
          </a:xfrm>
          <a:prstGeom prst="ellipse">
            <a:avLst/>
          </a:prstGeom>
          <a:solidFill>
            <a:srgbClr val="FFFFFF"/>
          </a:solidFill>
          <a:ln w="7620">
            <a:solidFill>
              <a:srgbClr val="4F7A43"/>
            </a:solidFill>
            <a:prstDash val="solid"/>
          </a:ln>
        </p:spPr>
      </p:sp>
      <p:sp>
        <p:nvSpPr>
          <p:cNvPr id="16" name="Shape 14"/>
          <p:cNvSpPr/>
          <p:nvPr/>
        </p:nvSpPr>
        <p:spPr>
          <a:xfrm>
            <a:off x="2469757" y="2598469"/>
            <a:ext cx="55489" cy="55489"/>
          </a:xfrm>
          <a:prstGeom prst="ellipse">
            <a:avLst/>
          </a:prstGeom>
          <a:solidFill>
            <a:srgbClr val="FFFFFF"/>
          </a:solidFill>
          <a:ln w="7620">
            <a:solidFill>
              <a:srgbClr val="4F7A43"/>
            </a:solidFill>
            <a:prstDash val="solid"/>
          </a:ln>
        </p:spPr>
      </p:sp>
      <p:sp>
        <p:nvSpPr>
          <p:cNvPr id="17" name="Shape 15"/>
          <p:cNvSpPr/>
          <p:nvPr/>
        </p:nvSpPr>
        <p:spPr>
          <a:xfrm>
            <a:off x="2334056" y="2647759"/>
            <a:ext cx="55489" cy="55489"/>
          </a:xfrm>
          <a:prstGeom prst="ellipse">
            <a:avLst/>
          </a:prstGeom>
          <a:solidFill>
            <a:srgbClr val="FFFFFF"/>
          </a:solidFill>
          <a:ln w="7620">
            <a:solidFill>
              <a:srgbClr val="4F7A43"/>
            </a:solidFill>
            <a:prstDash val="solid"/>
          </a:ln>
        </p:spPr>
      </p:sp>
      <p:sp>
        <p:nvSpPr>
          <p:cNvPr id="18" name="Shape 16"/>
          <p:cNvSpPr/>
          <p:nvPr/>
        </p:nvSpPr>
        <p:spPr>
          <a:xfrm>
            <a:off x="2151776" y="2656217"/>
            <a:ext cx="55489" cy="55489"/>
          </a:xfrm>
          <a:prstGeom prst="ellipse">
            <a:avLst/>
          </a:prstGeom>
          <a:solidFill>
            <a:srgbClr val="FFFFFF"/>
          </a:solidFill>
          <a:ln w="7620">
            <a:solidFill>
              <a:srgbClr val="4F7A43"/>
            </a:solidFill>
            <a:prstDash val="solid"/>
          </a:ln>
        </p:spPr>
      </p:sp>
      <p:sp>
        <p:nvSpPr>
          <p:cNvPr id="19" name="Shape 17"/>
          <p:cNvSpPr/>
          <p:nvPr/>
        </p:nvSpPr>
        <p:spPr>
          <a:xfrm>
            <a:off x="1938846" y="2623105"/>
            <a:ext cx="55489" cy="55489"/>
          </a:xfrm>
          <a:prstGeom prst="ellipse">
            <a:avLst/>
          </a:prstGeom>
          <a:solidFill>
            <a:srgbClr val="FFFFFF"/>
          </a:solidFill>
          <a:ln w="7620">
            <a:solidFill>
              <a:srgbClr val="4F7A43"/>
            </a:solidFill>
            <a:prstDash val="solid"/>
          </a:ln>
        </p:spPr>
      </p:sp>
      <p:sp>
        <p:nvSpPr>
          <p:cNvPr id="20" name="Shape 18"/>
          <p:cNvSpPr/>
          <p:nvPr/>
        </p:nvSpPr>
        <p:spPr>
          <a:xfrm>
            <a:off x="1713875" y="2551316"/>
            <a:ext cx="55489" cy="55489"/>
          </a:xfrm>
          <a:prstGeom prst="ellipse">
            <a:avLst/>
          </a:prstGeom>
          <a:solidFill>
            <a:srgbClr val="FFFFFF"/>
          </a:solidFill>
          <a:ln w="7620">
            <a:solidFill>
              <a:srgbClr val="4F7A43"/>
            </a:solidFill>
            <a:prstDash val="solid"/>
          </a:ln>
        </p:spPr>
      </p:sp>
      <p:sp>
        <p:nvSpPr>
          <p:cNvPr id="21" name="Shape 19"/>
          <p:cNvSpPr/>
          <p:nvPr/>
        </p:nvSpPr>
        <p:spPr>
          <a:xfrm>
            <a:off x="1496522" y="2447124"/>
            <a:ext cx="55489" cy="55489"/>
          </a:xfrm>
          <a:prstGeom prst="ellipse">
            <a:avLst/>
          </a:prstGeom>
          <a:solidFill>
            <a:srgbClr val="FFFFFF"/>
          </a:solidFill>
          <a:ln w="7620">
            <a:solidFill>
              <a:srgbClr val="4F7A43"/>
            </a:solidFill>
            <a:prstDash val="solid"/>
          </a:ln>
        </p:spPr>
      </p:sp>
      <p:sp>
        <p:nvSpPr>
          <p:cNvPr id="22" name="Shape 20"/>
          <p:cNvSpPr/>
          <p:nvPr/>
        </p:nvSpPr>
        <p:spPr>
          <a:xfrm>
            <a:off x="1305783" y="2319634"/>
            <a:ext cx="55489" cy="55489"/>
          </a:xfrm>
          <a:prstGeom prst="ellipse">
            <a:avLst/>
          </a:prstGeom>
          <a:solidFill>
            <a:srgbClr val="FFFFFF"/>
          </a:solidFill>
          <a:ln w="7620">
            <a:solidFill>
              <a:srgbClr val="4F7A43"/>
            </a:solidFill>
            <a:prstDash val="solid"/>
          </a:ln>
        </p:spPr>
      </p:sp>
      <p:sp>
        <p:nvSpPr>
          <p:cNvPr id="23" name="Shape 21"/>
          <p:cNvSpPr/>
          <p:nvPr/>
        </p:nvSpPr>
        <p:spPr>
          <a:xfrm>
            <a:off x="1158326" y="2179989"/>
            <a:ext cx="55489" cy="55489"/>
          </a:xfrm>
          <a:prstGeom prst="ellipse">
            <a:avLst/>
          </a:prstGeom>
          <a:solidFill>
            <a:srgbClr val="FFFFFF"/>
          </a:solidFill>
          <a:ln w="7620">
            <a:solidFill>
              <a:srgbClr val="4F7A43"/>
            </a:solidFill>
            <a:prstDash val="solid"/>
          </a:ln>
        </p:spPr>
      </p:sp>
      <p:sp>
        <p:nvSpPr>
          <p:cNvPr id="24" name="Shape 22"/>
          <p:cNvSpPr/>
          <p:nvPr/>
        </p:nvSpPr>
        <p:spPr>
          <a:xfrm>
            <a:off x="1067038" y="2040390"/>
            <a:ext cx="55489" cy="55489"/>
          </a:xfrm>
          <a:prstGeom prst="ellipse">
            <a:avLst/>
          </a:prstGeom>
          <a:solidFill>
            <a:srgbClr val="FFFFFF"/>
          </a:solidFill>
          <a:ln w="7620">
            <a:solidFill>
              <a:srgbClr val="4F7A43"/>
            </a:solidFill>
            <a:prstDash val="solid"/>
          </a:ln>
        </p:spPr>
      </p:sp>
      <p:sp>
        <p:nvSpPr>
          <p:cNvPr id="25" name="Shape 23"/>
          <p:cNvSpPr/>
          <p:nvPr/>
        </p:nvSpPr>
        <p:spPr>
          <a:xfrm>
            <a:off x="1039895" y="1913039"/>
            <a:ext cx="55489" cy="55489"/>
          </a:xfrm>
          <a:prstGeom prst="ellipse">
            <a:avLst/>
          </a:prstGeom>
          <a:solidFill>
            <a:srgbClr val="FFFFFF"/>
          </a:solidFill>
          <a:ln w="7620">
            <a:solidFill>
              <a:srgbClr val="4F7A43"/>
            </a:solidFill>
            <a:prstDash val="solid"/>
          </a:ln>
        </p:spPr>
      </p:sp>
      <p:sp>
        <p:nvSpPr>
          <p:cNvPr id="26" name="Shape 24"/>
          <p:cNvSpPr/>
          <p:nvPr/>
        </p:nvSpPr>
        <p:spPr>
          <a:xfrm>
            <a:off x="1079271" y="1809064"/>
            <a:ext cx="55489" cy="55489"/>
          </a:xfrm>
          <a:prstGeom prst="ellipse">
            <a:avLst/>
          </a:prstGeom>
          <a:solidFill>
            <a:srgbClr val="FFFFFF"/>
          </a:solidFill>
          <a:ln w="7620">
            <a:solidFill>
              <a:srgbClr val="4F7A43"/>
            </a:solidFill>
            <a:prstDash val="solid"/>
          </a:ln>
        </p:spPr>
      </p:sp>
      <p:sp>
        <p:nvSpPr>
          <p:cNvPr id="27" name="Shape 25"/>
          <p:cNvSpPr/>
          <p:nvPr/>
        </p:nvSpPr>
        <p:spPr>
          <a:xfrm>
            <a:off x="1181724" y="1737552"/>
            <a:ext cx="55489" cy="55489"/>
          </a:xfrm>
          <a:prstGeom prst="ellipse">
            <a:avLst/>
          </a:prstGeom>
          <a:solidFill>
            <a:srgbClr val="FFFFFF"/>
          </a:solidFill>
          <a:ln w="7620">
            <a:solidFill>
              <a:srgbClr val="4F7A43"/>
            </a:solidFill>
            <a:prstDash val="solid"/>
          </a:ln>
        </p:spPr>
      </p:sp>
      <p:sp>
        <p:nvSpPr>
          <p:cNvPr id="28" name="Shape 26"/>
          <p:cNvSpPr/>
          <p:nvPr/>
        </p:nvSpPr>
        <p:spPr>
          <a:xfrm>
            <a:off x="1338300" y="1704752"/>
            <a:ext cx="55489" cy="55489"/>
          </a:xfrm>
          <a:prstGeom prst="ellipse">
            <a:avLst/>
          </a:prstGeom>
          <a:solidFill>
            <a:srgbClr val="FFFFFF"/>
          </a:solidFill>
          <a:ln w="7620">
            <a:solidFill>
              <a:srgbClr val="4F7A43"/>
            </a:solidFill>
            <a:prstDash val="solid"/>
          </a:ln>
        </p:spPr>
      </p:sp>
      <p:sp>
        <p:nvSpPr>
          <p:cNvPr id="29" name="Shape 27"/>
          <p:cNvSpPr/>
          <p:nvPr/>
        </p:nvSpPr>
        <p:spPr>
          <a:xfrm>
            <a:off x="1535317" y="1713530"/>
            <a:ext cx="55489" cy="55489"/>
          </a:xfrm>
          <a:prstGeom prst="ellipse">
            <a:avLst/>
          </a:prstGeom>
          <a:solidFill>
            <a:srgbClr val="FFFFFF"/>
          </a:solidFill>
          <a:ln w="7620">
            <a:solidFill>
              <a:srgbClr val="4F7A43"/>
            </a:solidFill>
            <a:prstDash val="solid"/>
          </a:ln>
        </p:spPr>
      </p:sp>
      <p:sp>
        <p:nvSpPr>
          <p:cNvPr id="30" name="Shape 28"/>
          <p:cNvSpPr/>
          <p:nvPr/>
        </p:nvSpPr>
        <p:spPr>
          <a:xfrm>
            <a:off x="1755557" y="1763120"/>
            <a:ext cx="55489" cy="55489"/>
          </a:xfrm>
          <a:prstGeom prst="ellipse">
            <a:avLst/>
          </a:prstGeom>
          <a:solidFill>
            <a:srgbClr val="FFFFFF"/>
          </a:solidFill>
          <a:ln w="7620">
            <a:solidFill>
              <a:srgbClr val="4F7A43"/>
            </a:solidFill>
            <a:prstDash val="solid"/>
          </a:ln>
        </p:spPr>
      </p:sp>
      <p:sp>
        <p:nvSpPr>
          <p:cNvPr id="31" name="Shape 29"/>
          <p:cNvSpPr/>
          <p:nvPr/>
        </p:nvSpPr>
        <p:spPr>
          <a:xfrm>
            <a:off x="1979774" y="1849188"/>
            <a:ext cx="55489" cy="55489"/>
          </a:xfrm>
          <a:prstGeom prst="ellipse">
            <a:avLst/>
          </a:prstGeom>
          <a:solidFill>
            <a:srgbClr val="FFFFFF"/>
          </a:solidFill>
          <a:ln w="7620">
            <a:solidFill>
              <a:srgbClr val="4F7A43"/>
            </a:solidFill>
            <a:prstDash val="solid"/>
          </a:ln>
        </p:spPr>
      </p:sp>
      <p:sp>
        <p:nvSpPr>
          <p:cNvPr id="32" name="Shape 30"/>
          <p:cNvSpPr/>
          <p:nvPr/>
        </p:nvSpPr>
        <p:spPr>
          <a:xfrm>
            <a:off x="2188371" y="1964212"/>
            <a:ext cx="55489" cy="55489"/>
          </a:xfrm>
          <a:prstGeom prst="ellipse">
            <a:avLst/>
          </a:prstGeom>
          <a:solidFill>
            <a:srgbClr val="FFFFFF"/>
          </a:solidFill>
          <a:ln w="7620">
            <a:solidFill>
              <a:srgbClr val="4F7A43"/>
            </a:solidFill>
            <a:prstDash val="solid"/>
          </a:ln>
        </p:spPr>
      </p:sp>
      <p:sp>
        <p:nvSpPr>
          <p:cNvPr id="33" name="Shape 31"/>
          <p:cNvSpPr/>
          <p:nvPr/>
        </p:nvSpPr>
        <p:spPr>
          <a:xfrm>
            <a:off x="2363121" y="2098141"/>
            <a:ext cx="55489" cy="55489"/>
          </a:xfrm>
          <a:prstGeom prst="ellipse">
            <a:avLst/>
          </a:prstGeom>
          <a:solidFill>
            <a:srgbClr val="FFFFFF"/>
          </a:solidFill>
          <a:ln w="7620">
            <a:solidFill>
              <a:srgbClr val="4F7A43"/>
            </a:solidFill>
            <a:prstDash val="solid"/>
          </a:ln>
        </p:spPr>
      </p:sp>
      <p:sp>
        <p:nvSpPr>
          <p:cNvPr id="34" name="Shape 32"/>
          <p:cNvSpPr/>
          <p:nvPr/>
        </p:nvSpPr>
        <p:spPr>
          <a:xfrm>
            <a:off x="2488752" y="2239269"/>
            <a:ext cx="55489" cy="55489"/>
          </a:xfrm>
          <a:prstGeom prst="ellipse">
            <a:avLst/>
          </a:prstGeom>
          <a:solidFill>
            <a:srgbClr val="FFFFFF"/>
          </a:solidFill>
          <a:ln w="7620">
            <a:solidFill>
              <a:srgbClr val="4F7A43"/>
            </a:solidFill>
            <a:prstDash val="solid"/>
          </a:ln>
        </p:spPr>
      </p:sp>
      <p:sp>
        <p:nvSpPr>
          <p:cNvPr id="35" name="Shape 33"/>
          <p:cNvSpPr/>
          <p:nvPr/>
        </p:nvSpPr>
        <p:spPr>
          <a:xfrm>
            <a:off x="2554285" y="2375265"/>
            <a:ext cx="55489" cy="55489"/>
          </a:xfrm>
          <a:prstGeom prst="ellipse">
            <a:avLst/>
          </a:prstGeom>
          <a:solidFill>
            <a:srgbClr val="FFFFFF"/>
          </a:solidFill>
          <a:ln w="7620">
            <a:solidFill>
              <a:srgbClr val="4F7A43"/>
            </a:solidFill>
            <a:prstDash val="solid"/>
          </a:ln>
        </p:spPr>
      </p:sp>
      <p:sp>
        <p:nvSpPr>
          <p:cNvPr id="36" name="Shape 34"/>
          <p:cNvSpPr/>
          <p:nvPr/>
        </p:nvSpPr>
        <p:spPr>
          <a:xfrm>
            <a:off x="2553993" y="2494242"/>
            <a:ext cx="55489" cy="55489"/>
          </a:xfrm>
          <a:prstGeom prst="ellipse">
            <a:avLst/>
          </a:prstGeom>
          <a:solidFill>
            <a:srgbClr val="FFFFFF"/>
          </a:solidFill>
          <a:ln w="7620">
            <a:solidFill>
              <a:srgbClr val="4F7A43"/>
            </a:solidFill>
            <a:prstDash val="solid"/>
          </a:ln>
        </p:spPr>
      </p:sp>
      <p:sp>
        <p:nvSpPr>
          <p:cNvPr id="37" name="Shape 35"/>
          <p:cNvSpPr/>
          <p:nvPr/>
        </p:nvSpPr>
        <p:spPr>
          <a:xfrm>
            <a:off x="1883605" y="2530483"/>
            <a:ext cx="862048" cy="252983"/>
          </a:xfrm>
          <a:custGeom>
            <a:avLst/>
            <a:gdLst/>
            <a:ahLst/>
            <a:cxnLst/>
            <a:rect l="l" t="t" r="r" b="b"/>
            <a:pathLst>
              <a:path w="862048" h="252983">
                <a:moveTo>
                  <a:pt x="862048" y="0"/>
                </a:moveTo>
                <a:lnTo>
                  <a:pt x="857659" y="34428"/>
                </a:lnTo>
                <a:lnTo>
                  <a:pt x="848252" y="66895"/>
                </a:lnTo>
                <a:lnTo>
                  <a:pt x="833879" y="97222"/>
                </a:lnTo>
                <a:lnTo>
                  <a:pt x="814618" y="125243"/>
                </a:lnTo>
                <a:lnTo>
                  <a:pt x="790575" y="150802"/>
                </a:lnTo>
                <a:lnTo>
                  <a:pt x="761884" y="173760"/>
                </a:lnTo>
                <a:lnTo>
                  <a:pt x="728701" y="193991"/>
                </a:lnTo>
                <a:lnTo>
                  <a:pt x="691209" y="211382"/>
                </a:lnTo>
                <a:lnTo>
                  <a:pt x="649614" y="225839"/>
                </a:lnTo>
                <a:lnTo>
                  <a:pt x="604145" y="237282"/>
                </a:lnTo>
                <a:lnTo>
                  <a:pt x="555052" y="245648"/>
                </a:lnTo>
                <a:lnTo>
                  <a:pt x="502605" y="250891"/>
                </a:lnTo>
                <a:lnTo>
                  <a:pt x="447093" y="252983"/>
                </a:lnTo>
                <a:lnTo>
                  <a:pt x="388820" y="251911"/>
                </a:lnTo>
                <a:lnTo>
                  <a:pt x="328107" y="247681"/>
                </a:lnTo>
                <a:lnTo>
                  <a:pt x="265289" y="240317"/>
                </a:lnTo>
                <a:lnTo>
                  <a:pt x="200710" y="229860"/>
                </a:lnTo>
                <a:lnTo>
                  <a:pt x="134726" y="216366"/>
                </a:lnTo>
                <a:lnTo>
                  <a:pt x="67700" y="199911"/>
                </a:lnTo>
                <a:lnTo>
                  <a:pt x="0" y="180584"/>
                </a:lnTo>
              </a:path>
            </a:pathLst>
          </a:custGeom>
          <a:ln w="44450">
            <a:solidFill>
              <a:srgbClr val="C4262E"/>
            </a:solidFill>
            <a:prstDash val="solid"/>
          </a:ln>
        </p:spPr>
      </p:sp>
      <p:sp>
        <p:nvSpPr>
          <p:cNvPr id="38" name="Shape 36"/>
          <p:cNvSpPr/>
          <p:nvPr/>
        </p:nvSpPr>
        <p:spPr>
          <a:xfrm>
            <a:off x="1266941" y="1927994"/>
            <a:ext cx="1110385" cy="830839"/>
          </a:xfrm>
          <a:custGeom>
            <a:avLst/>
            <a:gdLst/>
            <a:ahLst/>
            <a:cxnLst/>
            <a:rect l="l" t="t" r="r" b="b"/>
            <a:pathLst>
              <a:path w="1110385" h="830839">
                <a:moveTo>
                  <a:pt x="1110385" y="830839"/>
                </a:moveTo>
                <a:lnTo>
                  <a:pt x="998043" y="821610"/>
                </a:lnTo>
                <a:lnTo>
                  <a:pt x="881552" y="801328"/>
                </a:lnTo>
                <a:lnTo>
                  <a:pt x="763724" y="770923"/>
                </a:lnTo>
                <a:lnTo>
                  <a:pt x="647292" y="731522"/>
                </a:lnTo>
                <a:lnTo>
                  <a:pt x="534847" y="684413"/>
                </a:lnTo>
                <a:lnTo>
                  <a:pt x="428784" y="631013"/>
                </a:lnTo>
                <a:lnTo>
                  <a:pt x="331248" y="572826"/>
                </a:lnTo>
                <a:lnTo>
                  <a:pt x="244096" y="511403"/>
                </a:lnTo>
                <a:lnTo>
                  <a:pt x="168861" y="448310"/>
                </a:lnTo>
                <a:lnTo>
                  <a:pt x="106725" y="385080"/>
                </a:lnTo>
                <a:lnTo>
                  <a:pt x="58506" y="323183"/>
                </a:lnTo>
                <a:lnTo>
                  <a:pt x="24652" y="263992"/>
                </a:lnTo>
                <a:lnTo>
                  <a:pt x="5243" y="208751"/>
                </a:lnTo>
                <a:lnTo>
                  <a:pt x="0" y="158549"/>
                </a:lnTo>
                <a:lnTo>
                  <a:pt x="8313" y="114300"/>
                </a:lnTo>
                <a:lnTo>
                  <a:pt x="29264" y="76728"/>
                </a:lnTo>
                <a:lnTo>
                  <a:pt x="61663" y="46352"/>
                </a:lnTo>
                <a:lnTo>
                  <a:pt x="104092" y="23486"/>
                </a:lnTo>
                <a:lnTo>
                  <a:pt x="154949" y="8234"/>
                </a:lnTo>
                <a:lnTo>
                  <a:pt x="212494" y="501"/>
                </a:lnTo>
                <a:lnTo>
                  <a:pt x="274909" y="0"/>
                </a:lnTo>
                <a:lnTo>
                  <a:pt x="340339" y="6267"/>
                </a:lnTo>
                <a:lnTo>
                  <a:pt x="406952" y="18685"/>
                </a:lnTo>
                <a:lnTo>
                  <a:pt x="472981" y="36501"/>
                </a:lnTo>
                <a:lnTo>
                  <a:pt x="536773" y="58856"/>
                </a:lnTo>
                <a:lnTo>
                  <a:pt x="596833" y="84814"/>
                </a:lnTo>
                <a:lnTo>
                  <a:pt x="651851" y="113388"/>
                </a:lnTo>
                <a:lnTo>
                  <a:pt x="700741" y="143570"/>
                </a:lnTo>
                <a:lnTo>
                  <a:pt x="742657" y="174366"/>
                </a:lnTo>
                <a:lnTo>
                  <a:pt x="777012" y="204818"/>
                </a:lnTo>
                <a:lnTo>
                  <a:pt x="803480" y="234034"/>
                </a:lnTo>
                <a:lnTo>
                  <a:pt x="822003" y="261210"/>
                </a:lnTo>
                <a:lnTo>
                  <a:pt x="832779" y="285655"/>
                </a:lnTo>
                <a:lnTo>
                  <a:pt x="836245" y="306804"/>
                </a:lnTo>
                <a:lnTo>
                  <a:pt x="833059" y="324231"/>
                </a:lnTo>
                <a:lnTo>
                  <a:pt x="824072" y="337663"/>
                </a:lnTo>
                <a:lnTo>
                  <a:pt x="810291" y="346977"/>
                </a:lnTo>
                <a:lnTo>
                  <a:pt x="792848" y="352204"/>
                </a:lnTo>
                <a:lnTo>
                  <a:pt x="772956" y="353524"/>
                </a:lnTo>
                <a:lnTo>
                  <a:pt x="751868" y="351254"/>
                </a:lnTo>
              </a:path>
            </a:pathLst>
          </a:custGeom>
          <a:ln w="25400">
            <a:solidFill>
              <a:srgbClr val="C4262E"/>
            </a:solidFill>
            <a:prstDash val="solid"/>
            <a:tailEnd type="triangle"/>
          </a:ln>
        </p:spPr>
      </p:sp>
      <p:sp>
        <p:nvSpPr>
          <p:cNvPr id="39" name="Shape 37"/>
          <p:cNvSpPr/>
          <p:nvPr/>
        </p:nvSpPr>
        <p:spPr>
          <a:xfrm rot="169550">
            <a:off x="1995597" y="2757859"/>
            <a:ext cx="575303" cy="85368"/>
          </a:xfrm>
          <a:prstGeom prst="rect">
            <a:avLst/>
          </a:prstGeom>
          <a:solidFill>
            <a:srgbClr val="C4262E"/>
          </a:solidFill>
          <a:ln/>
        </p:spPr>
      </p:sp>
      <p:sp>
        <p:nvSpPr>
          <p:cNvPr id="40" name="Shape 38"/>
          <p:cNvSpPr/>
          <p:nvPr/>
        </p:nvSpPr>
        <p:spPr>
          <a:xfrm rot="2669841">
            <a:off x="1011841" y="2227157"/>
            <a:ext cx="510349" cy="85368"/>
          </a:xfrm>
          <a:prstGeom prst="rect">
            <a:avLst/>
          </a:prstGeom>
          <a:solidFill>
            <a:srgbClr val="F0B9BC"/>
          </a:solidFill>
          <a:ln w="6350">
            <a:solidFill>
              <a:srgbClr val="1B1B1B"/>
            </a:solidFill>
            <a:prstDash val="solid"/>
          </a:ln>
        </p:spPr>
      </p:sp>
      <p:sp>
        <p:nvSpPr>
          <p:cNvPr id="41" name="Shape 39"/>
          <p:cNvSpPr/>
          <p:nvPr/>
        </p:nvSpPr>
        <p:spPr>
          <a:xfrm rot="-1236591">
            <a:off x="1196527" y="1835127"/>
            <a:ext cx="426838" cy="85368"/>
          </a:xfrm>
          <a:prstGeom prst="rect">
            <a:avLst/>
          </a:prstGeom>
          <a:solidFill>
            <a:srgbClr val="1B1B1B"/>
          </a:solidFill>
          <a:ln/>
        </p:spPr>
      </p:sp>
      <p:sp>
        <p:nvSpPr>
          <p:cNvPr id="42" name="Shape 40"/>
          <p:cNvSpPr/>
          <p:nvPr/>
        </p:nvSpPr>
        <p:spPr>
          <a:xfrm rot="1650735">
            <a:off x="1863201" y="2019856"/>
            <a:ext cx="334047" cy="85368"/>
          </a:xfrm>
          <a:prstGeom prst="rect">
            <a:avLst/>
          </a:prstGeom>
          <a:solidFill>
            <a:srgbClr val="9A9A9A"/>
          </a:solidFill>
          <a:ln/>
        </p:spPr>
      </p:sp>
      <p:sp>
        <p:nvSpPr>
          <p:cNvPr id="43" name="Shape 41"/>
          <p:cNvSpPr/>
          <p:nvPr/>
        </p:nvSpPr>
        <p:spPr>
          <a:xfrm rot="173647">
            <a:off x="1300356" y="1686954"/>
            <a:ext cx="315489" cy="68294"/>
          </a:xfrm>
          <a:prstGeom prst="rect">
            <a:avLst/>
          </a:prstGeom>
          <a:solidFill>
            <a:srgbClr val="9A9A9A"/>
          </a:solidFill>
          <a:ln/>
        </p:spPr>
      </p:sp>
      <p:sp>
        <p:nvSpPr>
          <p:cNvPr id="44" name="Shape 42"/>
          <p:cNvSpPr/>
          <p:nvPr/>
        </p:nvSpPr>
        <p:spPr>
          <a:xfrm>
            <a:off x="2009228" y="2279248"/>
            <a:ext cx="64247" cy="450506"/>
          </a:xfrm>
          <a:custGeom>
            <a:avLst/>
            <a:gdLst/>
            <a:ahLst/>
            <a:cxnLst/>
            <a:rect l="l" t="t" r="r" b="b"/>
            <a:pathLst>
              <a:path w="64247" h="450506">
                <a:moveTo>
                  <a:pt x="64247" y="450506"/>
                </a:moveTo>
                <a:lnTo>
                  <a:pt x="0" y="226913"/>
                </a:lnTo>
                <a:lnTo>
                  <a:pt x="9580" y="0"/>
                </a:lnTo>
              </a:path>
            </a:pathLst>
          </a:custGeom>
          <a:ln w="19050">
            <a:solidFill>
              <a:srgbClr val="1B1B1B"/>
            </a:solidFill>
            <a:prstDash val="solid"/>
            <a:tailEnd type="triangle"/>
          </a:ln>
        </p:spPr>
      </p:sp>
      <p:sp>
        <p:nvSpPr>
          <p:cNvPr id="45" name="Shape 43"/>
          <p:cNvSpPr/>
          <p:nvPr/>
        </p:nvSpPr>
        <p:spPr>
          <a:xfrm>
            <a:off x="1950514" y="2210954"/>
            <a:ext cx="136588" cy="136588"/>
          </a:xfrm>
          <a:prstGeom prst="ellipse">
            <a:avLst/>
          </a:prstGeom>
          <a:solidFill>
            <a:srgbClr val="FFFFFF"/>
          </a:solidFill>
          <a:ln w="19050">
            <a:solidFill>
              <a:srgbClr val="C4262E"/>
            </a:solidFill>
            <a:prstDash val="solid"/>
          </a:ln>
        </p:spPr>
      </p:sp>
      <p:sp>
        <p:nvSpPr>
          <p:cNvPr id="46" name="Shape 44"/>
          <p:cNvSpPr/>
          <p:nvPr/>
        </p:nvSpPr>
        <p:spPr>
          <a:xfrm>
            <a:off x="2356752" y="2621673"/>
            <a:ext cx="41148" cy="41148"/>
          </a:xfrm>
          <a:prstGeom prst="ellipse">
            <a:avLst/>
          </a:prstGeom>
          <a:solidFill>
            <a:srgbClr val="C4262E"/>
          </a:solidFill>
          <a:ln/>
        </p:spPr>
      </p:sp>
      <p:sp>
        <p:nvSpPr>
          <p:cNvPr id="47" name="Shape 45"/>
          <p:cNvSpPr/>
          <p:nvPr/>
        </p:nvSpPr>
        <p:spPr>
          <a:xfrm>
            <a:off x="2359495" y="2665564"/>
            <a:ext cx="35662" cy="93269"/>
          </a:xfrm>
          <a:prstGeom prst="roundRect">
            <a:avLst>
              <a:gd name="adj" fmla="val 51281"/>
            </a:avLst>
          </a:prstGeom>
          <a:solidFill>
            <a:srgbClr val="C4262E"/>
          </a:solidFill>
          <a:ln/>
        </p:spPr>
      </p:sp>
      <p:sp>
        <p:nvSpPr>
          <p:cNvPr id="48" name="Shape 46"/>
          <p:cNvSpPr/>
          <p:nvPr/>
        </p:nvSpPr>
        <p:spPr>
          <a:xfrm>
            <a:off x="3291840" y="1188720"/>
            <a:ext cx="2743200" cy="1828800"/>
          </a:xfrm>
          <a:prstGeom prst="rect">
            <a:avLst/>
          </a:prstGeom>
          <a:solidFill>
            <a:srgbClr val="FFFFFF"/>
          </a:solidFill>
          <a:ln w="6350">
            <a:solidFill>
              <a:srgbClr val="D9D9D9"/>
            </a:solidFill>
            <a:prstDash val="solid"/>
          </a:ln>
        </p:spPr>
      </p:sp>
      <p:sp>
        <p:nvSpPr>
          <p:cNvPr id="49" name="Text 47"/>
          <p:cNvSpPr txBox="1"/>
          <p:nvPr/>
        </p:nvSpPr>
        <p:spPr>
          <a:xfrm>
            <a:off x="3364992" y="1243584"/>
            <a:ext cx="2596896"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02  </a:t>
            </a:r>
            <a:pPr indent="0" marL="0">
              <a:buNone/>
            </a:pPr>
            <a:r>
              <a:rPr lang="en-US" sz="650" b="1" spc="50" kern="0" dirty="0">
                <a:solidFill>
                  <a:srgbClr val="1B1B1B"/>
                </a:solidFill>
                <a:latin typeface="Arial" pitchFamily="34" charset="0"/>
                <a:ea typeface="Arial" pitchFamily="34" charset="-122"/>
                <a:cs typeface="Arial" pitchFamily="34" charset="-120"/>
              </a:rPr>
              <a:t>SITE RESPONSE</a:t>
            </a:r>
            <a:endParaRPr lang="en-US" sz="650" dirty="0"/>
          </a:p>
        </p:txBody>
      </p:sp>
      <p:sp>
        <p:nvSpPr>
          <p:cNvPr id="50" name="Shape 48"/>
          <p:cNvSpPr/>
          <p:nvPr/>
        </p:nvSpPr>
        <p:spPr>
          <a:xfrm>
            <a:off x="3625131" y="1557494"/>
            <a:ext cx="2076619" cy="1301563"/>
          </a:xfrm>
          <a:custGeom>
            <a:avLst/>
            <a:gdLst/>
            <a:ahLst/>
            <a:cxnLst/>
            <a:rect l="l" t="t" r="r" b="b"/>
            <a:pathLst>
              <a:path w="2076619" h="1301563">
                <a:moveTo>
                  <a:pt x="2055533" y="1103679"/>
                </a:moveTo>
                <a:lnTo>
                  <a:pt x="2028184" y="1150109"/>
                </a:lnTo>
                <a:lnTo>
                  <a:pt x="1989989" y="1191068"/>
                </a:lnTo>
                <a:lnTo>
                  <a:pt x="1941368" y="1226108"/>
                </a:lnTo>
                <a:lnTo>
                  <a:pt x="1882853" y="1254845"/>
                </a:lnTo>
                <a:lnTo>
                  <a:pt x="1815084" y="1276963"/>
                </a:lnTo>
                <a:lnTo>
                  <a:pt x="1738806" y="1292221"/>
                </a:lnTo>
                <a:lnTo>
                  <a:pt x="1654852" y="1300451"/>
                </a:lnTo>
                <a:lnTo>
                  <a:pt x="1564143" y="1301563"/>
                </a:lnTo>
                <a:lnTo>
                  <a:pt x="1467674" y="1295545"/>
                </a:lnTo>
                <a:lnTo>
                  <a:pt x="1366500" y="1282463"/>
                </a:lnTo>
                <a:lnTo>
                  <a:pt x="1261730" y="1262460"/>
                </a:lnTo>
                <a:lnTo>
                  <a:pt x="1154513" y="1235755"/>
                </a:lnTo>
                <a:lnTo>
                  <a:pt x="1046022" y="1202642"/>
                </a:lnTo>
                <a:lnTo>
                  <a:pt x="937447" y="1163482"/>
                </a:lnTo>
                <a:lnTo>
                  <a:pt x="829977" y="1118704"/>
                </a:lnTo>
                <a:lnTo>
                  <a:pt x="724789" y="1068800"/>
                </a:lnTo>
                <a:lnTo>
                  <a:pt x="623037" y="1014317"/>
                </a:lnTo>
                <a:lnTo>
                  <a:pt x="525834" y="955850"/>
                </a:lnTo>
                <a:lnTo>
                  <a:pt x="434246" y="894041"/>
                </a:lnTo>
                <a:lnTo>
                  <a:pt x="349276" y="829566"/>
                </a:lnTo>
                <a:lnTo>
                  <a:pt x="271856" y="763133"/>
                </a:lnTo>
                <a:lnTo>
                  <a:pt x="202833" y="695469"/>
                </a:lnTo>
                <a:lnTo>
                  <a:pt x="142963" y="627315"/>
                </a:lnTo>
                <a:lnTo>
                  <a:pt x="92904" y="559418"/>
                </a:lnTo>
                <a:lnTo>
                  <a:pt x="53202" y="492523"/>
                </a:lnTo>
                <a:lnTo>
                  <a:pt x="24293" y="427361"/>
                </a:lnTo>
                <a:lnTo>
                  <a:pt x="6494" y="364647"/>
                </a:lnTo>
                <a:lnTo>
                  <a:pt x="0" y="305068"/>
                </a:lnTo>
                <a:lnTo>
                  <a:pt x="4882" y="249277"/>
                </a:lnTo>
                <a:lnTo>
                  <a:pt x="21086" y="197885"/>
                </a:lnTo>
                <a:lnTo>
                  <a:pt x="48435" y="151454"/>
                </a:lnTo>
                <a:lnTo>
                  <a:pt x="86630" y="110495"/>
                </a:lnTo>
                <a:lnTo>
                  <a:pt x="135251" y="75455"/>
                </a:lnTo>
                <a:lnTo>
                  <a:pt x="193766" y="46718"/>
                </a:lnTo>
                <a:lnTo>
                  <a:pt x="261534" y="24600"/>
                </a:lnTo>
                <a:lnTo>
                  <a:pt x="337813" y="9342"/>
                </a:lnTo>
                <a:lnTo>
                  <a:pt x="421767" y="1112"/>
                </a:lnTo>
                <a:lnTo>
                  <a:pt x="512475" y="0"/>
                </a:lnTo>
                <a:lnTo>
                  <a:pt x="608945" y="6018"/>
                </a:lnTo>
                <a:lnTo>
                  <a:pt x="710119" y="19100"/>
                </a:lnTo>
                <a:lnTo>
                  <a:pt x="814889" y="39103"/>
                </a:lnTo>
                <a:lnTo>
                  <a:pt x="922106" y="65808"/>
                </a:lnTo>
                <a:lnTo>
                  <a:pt x="1030597" y="98922"/>
                </a:lnTo>
                <a:lnTo>
                  <a:pt x="1139172" y="138082"/>
                </a:lnTo>
                <a:lnTo>
                  <a:pt x="1246642" y="182859"/>
                </a:lnTo>
                <a:lnTo>
                  <a:pt x="1351830" y="232763"/>
                </a:lnTo>
                <a:lnTo>
                  <a:pt x="1453582" y="287247"/>
                </a:lnTo>
                <a:lnTo>
                  <a:pt x="1550785" y="345714"/>
                </a:lnTo>
                <a:lnTo>
                  <a:pt x="1642373" y="407523"/>
                </a:lnTo>
                <a:lnTo>
                  <a:pt x="1727342" y="471997"/>
                </a:lnTo>
                <a:lnTo>
                  <a:pt x="1804763" y="538430"/>
                </a:lnTo>
                <a:lnTo>
                  <a:pt x="1873786" y="606095"/>
                </a:lnTo>
                <a:lnTo>
                  <a:pt x="1933655" y="674248"/>
                </a:lnTo>
                <a:lnTo>
                  <a:pt x="1983715" y="742145"/>
                </a:lnTo>
                <a:lnTo>
                  <a:pt x="2023417" y="809041"/>
                </a:lnTo>
                <a:lnTo>
                  <a:pt x="2052326" y="874202"/>
                </a:lnTo>
                <a:lnTo>
                  <a:pt x="2070125" y="936916"/>
                </a:lnTo>
                <a:lnTo>
                  <a:pt x="2076619" y="996495"/>
                </a:lnTo>
                <a:lnTo>
                  <a:pt x="2071737" y="1052286"/>
                </a:lnTo>
                <a:close/>
              </a:path>
            </a:pathLst>
          </a:custGeom>
          <a:solidFill>
            <a:srgbClr val="E4E4E4"/>
          </a:solidFill>
          <a:ln w="12700"/>
        </p:spPr>
      </p:sp>
      <p:sp>
        <p:nvSpPr>
          <p:cNvPr id="51" name="Shape 49"/>
          <p:cNvSpPr/>
          <p:nvPr/>
        </p:nvSpPr>
        <p:spPr>
          <a:xfrm>
            <a:off x="3346704" y="1709659"/>
            <a:ext cx="299513" cy="45720"/>
          </a:xfrm>
          <a:custGeom>
            <a:avLst/>
            <a:gdLst/>
            <a:ahLst/>
            <a:cxnLst/>
            <a:rect l="l" t="t" r="r" b="b"/>
            <a:pathLst>
              <a:path w="299513" h="45720">
                <a:moveTo>
                  <a:pt x="299513" y="45720"/>
                </a:moveTo>
                <a:lnTo>
                  <a:pt x="0" y="0"/>
                </a:lnTo>
              </a:path>
            </a:pathLst>
          </a:custGeom>
          <a:ln w="76200">
            <a:solidFill>
              <a:srgbClr val="E4E4E4"/>
            </a:solidFill>
            <a:prstDash val="solid"/>
          </a:ln>
        </p:spPr>
      </p:sp>
      <p:sp>
        <p:nvSpPr>
          <p:cNvPr id="52" name="Shape 50"/>
          <p:cNvSpPr/>
          <p:nvPr/>
        </p:nvSpPr>
        <p:spPr>
          <a:xfrm>
            <a:off x="5680663" y="2661173"/>
            <a:ext cx="299513" cy="45720"/>
          </a:xfrm>
          <a:custGeom>
            <a:avLst/>
            <a:gdLst/>
            <a:ahLst/>
            <a:cxnLst/>
            <a:rect l="l" t="t" r="r" b="b"/>
            <a:pathLst>
              <a:path w="299513" h="45720">
                <a:moveTo>
                  <a:pt x="0" y="0"/>
                </a:moveTo>
                <a:lnTo>
                  <a:pt x="299513" y="45720"/>
                </a:lnTo>
              </a:path>
            </a:pathLst>
          </a:custGeom>
          <a:ln w="76200">
            <a:solidFill>
              <a:srgbClr val="E4E4E4"/>
            </a:solidFill>
            <a:prstDash val="solid"/>
          </a:ln>
        </p:spPr>
      </p:sp>
      <p:sp>
        <p:nvSpPr>
          <p:cNvPr id="53" name="Shape 51"/>
          <p:cNvSpPr/>
          <p:nvPr/>
        </p:nvSpPr>
        <p:spPr>
          <a:xfrm>
            <a:off x="3798182" y="1665958"/>
            <a:ext cx="1730516" cy="1084636"/>
          </a:xfrm>
          <a:custGeom>
            <a:avLst/>
            <a:gdLst/>
            <a:ahLst/>
            <a:cxnLst/>
            <a:rect l="l" t="t" r="r" b="b"/>
            <a:pathLst>
              <a:path w="1730516" h="1084636">
                <a:moveTo>
                  <a:pt x="1712944" y="919732"/>
                </a:moveTo>
                <a:lnTo>
                  <a:pt x="1690153" y="958424"/>
                </a:lnTo>
                <a:lnTo>
                  <a:pt x="1658324" y="992557"/>
                </a:lnTo>
                <a:lnTo>
                  <a:pt x="1617807" y="1021757"/>
                </a:lnTo>
                <a:lnTo>
                  <a:pt x="1569044" y="1045704"/>
                </a:lnTo>
                <a:lnTo>
                  <a:pt x="1512570" y="1064136"/>
                </a:lnTo>
                <a:lnTo>
                  <a:pt x="1449005" y="1076851"/>
                </a:lnTo>
                <a:lnTo>
                  <a:pt x="1379043" y="1083709"/>
                </a:lnTo>
                <a:lnTo>
                  <a:pt x="1303453" y="1084636"/>
                </a:lnTo>
                <a:lnTo>
                  <a:pt x="1223061" y="1079621"/>
                </a:lnTo>
                <a:lnTo>
                  <a:pt x="1138750" y="1068719"/>
                </a:lnTo>
                <a:lnTo>
                  <a:pt x="1051442" y="1052050"/>
                </a:lnTo>
                <a:lnTo>
                  <a:pt x="962094" y="1029796"/>
                </a:lnTo>
                <a:lnTo>
                  <a:pt x="871685" y="1002201"/>
                </a:lnTo>
                <a:lnTo>
                  <a:pt x="781206" y="969568"/>
                </a:lnTo>
                <a:lnTo>
                  <a:pt x="691647" y="932254"/>
                </a:lnTo>
                <a:lnTo>
                  <a:pt x="603991" y="890667"/>
                </a:lnTo>
                <a:lnTo>
                  <a:pt x="519197" y="845264"/>
                </a:lnTo>
                <a:lnTo>
                  <a:pt x="438195" y="796541"/>
                </a:lnTo>
                <a:lnTo>
                  <a:pt x="361872" y="745034"/>
                </a:lnTo>
                <a:lnTo>
                  <a:pt x="291064" y="691305"/>
                </a:lnTo>
                <a:lnTo>
                  <a:pt x="226547" y="635944"/>
                </a:lnTo>
                <a:lnTo>
                  <a:pt x="169027" y="579557"/>
                </a:lnTo>
                <a:lnTo>
                  <a:pt x="119136" y="522762"/>
                </a:lnTo>
                <a:lnTo>
                  <a:pt x="77420" y="466182"/>
                </a:lnTo>
                <a:lnTo>
                  <a:pt x="44335" y="410436"/>
                </a:lnTo>
                <a:lnTo>
                  <a:pt x="20244" y="356134"/>
                </a:lnTo>
                <a:lnTo>
                  <a:pt x="5412" y="303873"/>
                </a:lnTo>
                <a:lnTo>
                  <a:pt x="0" y="254223"/>
                </a:lnTo>
                <a:lnTo>
                  <a:pt x="4068" y="207731"/>
                </a:lnTo>
                <a:lnTo>
                  <a:pt x="17572" y="164904"/>
                </a:lnTo>
                <a:lnTo>
                  <a:pt x="40363" y="126212"/>
                </a:lnTo>
                <a:lnTo>
                  <a:pt x="72191" y="92079"/>
                </a:lnTo>
                <a:lnTo>
                  <a:pt x="112709" y="62879"/>
                </a:lnTo>
                <a:lnTo>
                  <a:pt x="161472" y="38932"/>
                </a:lnTo>
                <a:lnTo>
                  <a:pt x="217945" y="20500"/>
                </a:lnTo>
                <a:lnTo>
                  <a:pt x="281511" y="7785"/>
                </a:lnTo>
                <a:lnTo>
                  <a:pt x="351472" y="927"/>
                </a:lnTo>
                <a:lnTo>
                  <a:pt x="427063" y="0"/>
                </a:lnTo>
                <a:lnTo>
                  <a:pt x="507454" y="5015"/>
                </a:lnTo>
                <a:lnTo>
                  <a:pt x="591766" y="15917"/>
                </a:lnTo>
                <a:lnTo>
                  <a:pt x="679074" y="32586"/>
                </a:lnTo>
                <a:lnTo>
                  <a:pt x="768422" y="54840"/>
                </a:lnTo>
                <a:lnTo>
                  <a:pt x="858831" y="82435"/>
                </a:lnTo>
                <a:lnTo>
                  <a:pt x="949310" y="115068"/>
                </a:lnTo>
                <a:lnTo>
                  <a:pt x="1038868" y="152382"/>
                </a:lnTo>
                <a:lnTo>
                  <a:pt x="1126525" y="193969"/>
                </a:lnTo>
                <a:lnTo>
                  <a:pt x="1211318" y="239372"/>
                </a:lnTo>
                <a:lnTo>
                  <a:pt x="1292321" y="288095"/>
                </a:lnTo>
                <a:lnTo>
                  <a:pt x="1368644" y="339602"/>
                </a:lnTo>
                <a:lnTo>
                  <a:pt x="1439452" y="393331"/>
                </a:lnTo>
                <a:lnTo>
                  <a:pt x="1503969" y="448692"/>
                </a:lnTo>
                <a:lnTo>
                  <a:pt x="1561488" y="505079"/>
                </a:lnTo>
                <a:lnTo>
                  <a:pt x="1611380" y="561874"/>
                </a:lnTo>
                <a:lnTo>
                  <a:pt x="1653096" y="618454"/>
                </a:lnTo>
                <a:lnTo>
                  <a:pt x="1686181" y="674200"/>
                </a:lnTo>
                <a:lnTo>
                  <a:pt x="1710271" y="728502"/>
                </a:lnTo>
                <a:lnTo>
                  <a:pt x="1725104" y="780764"/>
                </a:lnTo>
                <a:lnTo>
                  <a:pt x="1730516" y="830413"/>
                </a:lnTo>
                <a:lnTo>
                  <a:pt x="1726448" y="876905"/>
                </a:lnTo>
                <a:close/>
              </a:path>
            </a:pathLst>
          </a:custGeom>
          <a:solidFill>
            <a:srgbClr val="FFFFFF"/>
          </a:solidFill>
          <a:ln w="19050">
            <a:solidFill>
              <a:srgbClr val="1B1B1B"/>
            </a:solidFill>
            <a:prstDash val="solid"/>
          </a:ln>
        </p:spPr>
      </p:sp>
      <p:sp>
        <p:nvSpPr>
          <p:cNvPr id="54" name="Shape 52"/>
          <p:cNvSpPr/>
          <p:nvPr/>
        </p:nvSpPr>
        <p:spPr>
          <a:xfrm>
            <a:off x="4133904" y="1836052"/>
            <a:ext cx="1245971" cy="780938"/>
          </a:xfrm>
          <a:custGeom>
            <a:avLst/>
            <a:gdLst/>
            <a:ahLst/>
            <a:cxnLst/>
            <a:rect l="l" t="t" r="r" b="b"/>
            <a:pathLst>
              <a:path w="1245971" h="780938">
                <a:moveTo>
                  <a:pt x="1233320" y="662207"/>
                </a:moveTo>
                <a:lnTo>
                  <a:pt x="1216910" y="690065"/>
                </a:lnTo>
                <a:lnTo>
                  <a:pt x="1193994" y="714641"/>
                </a:lnTo>
                <a:lnTo>
                  <a:pt x="1164821" y="735665"/>
                </a:lnTo>
                <a:lnTo>
                  <a:pt x="1129712" y="752907"/>
                </a:lnTo>
                <a:lnTo>
                  <a:pt x="1089051" y="766178"/>
                </a:lnTo>
                <a:lnTo>
                  <a:pt x="1043283" y="775333"/>
                </a:lnTo>
                <a:lnTo>
                  <a:pt x="992911" y="780271"/>
                </a:lnTo>
                <a:lnTo>
                  <a:pt x="938486" y="780938"/>
                </a:lnTo>
                <a:lnTo>
                  <a:pt x="880604" y="777327"/>
                </a:lnTo>
                <a:lnTo>
                  <a:pt x="819900" y="769478"/>
                </a:lnTo>
                <a:lnTo>
                  <a:pt x="757038" y="757476"/>
                </a:lnTo>
                <a:lnTo>
                  <a:pt x="692708" y="741453"/>
                </a:lnTo>
                <a:lnTo>
                  <a:pt x="627613" y="721585"/>
                </a:lnTo>
                <a:lnTo>
                  <a:pt x="562468" y="698089"/>
                </a:lnTo>
                <a:lnTo>
                  <a:pt x="497986" y="671223"/>
                </a:lnTo>
                <a:lnTo>
                  <a:pt x="434874" y="641280"/>
                </a:lnTo>
                <a:lnTo>
                  <a:pt x="373822" y="608590"/>
                </a:lnTo>
                <a:lnTo>
                  <a:pt x="315500" y="573510"/>
                </a:lnTo>
                <a:lnTo>
                  <a:pt x="260548" y="536424"/>
                </a:lnTo>
                <a:lnTo>
                  <a:pt x="209566" y="497740"/>
                </a:lnTo>
                <a:lnTo>
                  <a:pt x="163114" y="457880"/>
                </a:lnTo>
                <a:lnTo>
                  <a:pt x="121700" y="417281"/>
                </a:lnTo>
                <a:lnTo>
                  <a:pt x="85778" y="376389"/>
                </a:lnTo>
                <a:lnTo>
                  <a:pt x="55742" y="335651"/>
                </a:lnTo>
                <a:lnTo>
                  <a:pt x="31921" y="295514"/>
                </a:lnTo>
                <a:lnTo>
                  <a:pt x="14576" y="256417"/>
                </a:lnTo>
                <a:lnTo>
                  <a:pt x="3896" y="218788"/>
                </a:lnTo>
                <a:lnTo>
                  <a:pt x="0" y="183041"/>
                </a:lnTo>
                <a:lnTo>
                  <a:pt x="2929" y="149566"/>
                </a:lnTo>
                <a:lnTo>
                  <a:pt x="12652" y="118731"/>
                </a:lnTo>
                <a:lnTo>
                  <a:pt x="29061" y="90873"/>
                </a:lnTo>
                <a:lnTo>
                  <a:pt x="51978" y="66297"/>
                </a:lnTo>
                <a:lnTo>
                  <a:pt x="81150" y="45273"/>
                </a:lnTo>
                <a:lnTo>
                  <a:pt x="116260" y="28031"/>
                </a:lnTo>
                <a:lnTo>
                  <a:pt x="156921" y="14760"/>
                </a:lnTo>
                <a:lnTo>
                  <a:pt x="202688" y="5605"/>
                </a:lnTo>
                <a:lnTo>
                  <a:pt x="253060" y="667"/>
                </a:lnTo>
                <a:lnTo>
                  <a:pt x="307485" y="0"/>
                </a:lnTo>
                <a:lnTo>
                  <a:pt x="365367" y="3611"/>
                </a:lnTo>
                <a:lnTo>
                  <a:pt x="426071" y="11460"/>
                </a:lnTo>
                <a:lnTo>
                  <a:pt x="488933" y="23462"/>
                </a:lnTo>
                <a:lnTo>
                  <a:pt x="553264" y="39485"/>
                </a:lnTo>
                <a:lnTo>
                  <a:pt x="618358" y="59353"/>
                </a:lnTo>
                <a:lnTo>
                  <a:pt x="683503" y="82849"/>
                </a:lnTo>
                <a:lnTo>
                  <a:pt x="747985" y="109715"/>
                </a:lnTo>
                <a:lnTo>
                  <a:pt x="811098" y="139658"/>
                </a:lnTo>
                <a:lnTo>
                  <a:pt x="872149" y="172348"/>
                </a:lnTo>
                <a:lnTo>
                  <a:pt x="930471" y="207428"/>
                </a:lnTo>
                <a:lnTo>
                  <a:pt x="985424" y="244514"/>
                </a:lnTo>
                <a:lnTo>
                  <a:pt x="1036405" y="283198"/>
                </a:lnTo>
                <a:lnTo>
                  <a:pt x="1082858" y="323058"/>
                </a:lnTo>
                <a:lnTo>
                  <a:pt x="1124272" y="363657"/>
                </a:lnTo>
                <a:lnTo>
                  <a:pt x="1160193" y="404549"/>
                </a:lnTo>
                <a:lnTo>
                  <a:pt x="1190229" y="445287"/>
                </a:lnTo>
                <a:lnTo>
                  <a:pt x="1214050" y="485424"/>
                </a:lnTo>
                <a:lnTo>
                  <a:pt x="1231395" y="524521"/>
                </a:lnTo>
                <a:lnTo>
                  <a:pt x="1242075" y="562150"/>
                </a:lnTo>
                <a:lnTo>
                  <a:pt x="1245971" y="597897"/>
                </a:lnTo>
                <a:lnTo>
                  <a:pt x="1243042" y="631372"/>
                </a:lnTo>
                <a:close/>
              </a:path>
            </a:pathLst>
          </a:custGeom>
          <a:ln w="6350">
            <a:solidFill>
              <a:srgbClr val="4F7A43"/>
            </a:solidFill>
            <a:prstDash val="dash"/>
          </a:ln>
        </p:spPr>
      </p:sp>
      <p:sp>
        <p:nvSpPr>
          <p:cNvPr id="55" name="Shape 53"/>
          <p:cNvSpPr/>
          <p:nvPr/>
        </p:nvSpPr>
        <p:spPr>
          <a:xfrm>
            <a:off x="4358871" y="1977054"/>
            <a:ext cx="796037" cy="498933"/>
          </a:xfrm>
          <a:custGeom>
            <a:avLst/>
            <a:gdLst/>
            <a:ahLst/>
            <a:cxnLst/>
            <a:rect l="l" t="t" r="r" b="b"/>
            <a:pathLst>
              <a:path w="796037" h="498933">
                <a:moveTo>
                  <a:pt x="787954" y="423077"/>
                </a:moveTo>
                <a:lnTo>
                  <a:pt x="777470" y="440875"/>
                </a:lnTo>
                <a:lnTo>
                  <a:pt x="762829" y="456576"/>
                </a:lnTo>
                <a:lnTo>
                  <a:pt x="744191" y="470008"/>
                </a:lnTo>
                <a:lnTo>
                  <a:pt x="721760" y="481024"/>
                </a:lnTo>
                <a:lnTo>
                  <a:pt x="695782" y="489503"/>
                </a:lnTo>
                <a:lnTo>
                  <a:pt x="666542" y="495351"/>
                </a:lnTo>
                <a:lnTo>
                  <a:pt x="634360" y="498506"/>
                </a:lnTo>
                <a:lnTo>
                  <a:pt x="599588" y="498933"/>
                </a:lnTo>
                <a:lnTo>
                  <a:pt x="562608" y="496626"/>
                </a:lnTo>
                <a:lnTo>
                  <a:pt x="523825" y="491611"/>
                </a:lnTo>
                <a:lnTo>
                  <a:pt x="483663" y="483943"/>
                </a:lnTo>
                <a:lnTo>
                  <a:pt x="442563" y="473706"/>
                </a:lnTo>
                <a:lnTo>
                  <a:pt x="400975" y="461013"/>
                </a:lnTo>
                <a:lnTo>
                  <a:pt x="359355" y="446001"/>
                </a:lnTo>
                <a:lnTo>
                  <a:pt x="318158" y="428837"/>
                </a:lnTo>
                <a:lnTo>
                  <a:pt x="277836" y="409707"/>
                </a:lnTo>
                <a:lnTo>
                  <a:pt x="238831" y="388821"/>
                </a:lnTo>
                <a:lnTo>
                  <a:pt x="201570" y="366409"/>
                </a:lnTo>
                <a:lnTo>
                  <a:pt x="166461" y="342716"/>
                </a:lnTo>
                <a:lnTo>
                  <a:pt x="133889" y="318000"/>
                </a:lnTo>
                <a:lnTo>
                  <a:pt x="104211" y="292534"/>
                </a:lnTo>
                <a:lnTo>
                  <a:pt x="77753" y="266596"/>
                </a:lnTo>
                <a:lnTo>
                  <a:pt x="54803" y="240471"/>
                </a:lnTo>
                <a:lnTo>
                  <a:pt x="35613" y="214444"/>
                </a:lnTo>
                <a:lnTo>
                  <a:pt x="20394" y="188800"/>
                </a:lnTo>
                <a:lnTo>
                  <a:pt x="9312" y="163822"/>
                </a:lnTo>
                <a:lnTo>
                  <a:pt x="2489" y="139781"/>
                </a:lnTo>
                <a:lnTo>
                  <a:pt x="0" y="116943"/>
                </a:lnTo>
                <a:lnTo>
                  <a:pt x="1871" y="95556"/>
                </a:lnTo>
                <a:lnTo>
                  <a:pt x="8083" y="75856"/>
                </a:lnTo>
                <a:lnTo>
                  <a:pt x="18567" y="58058"/>
                </a:lnTo>
                <a:lnTo>
                  <a:pt x="33208" y="42356"/>
                </a:lnTo>
                <a:lnTo>
                  <a:pt x="51846" y="28924"/>
                </a:lnTo>
                <a:lnTo>
                  <a:pt x="74277" y="17909"/>
                </a:lnTo>
                <a:lnTo>
                  <a:pt x="100255" y="9430"/>
                </a:lnTo>
                <a:lnTo>
                  <a:pt x="129495" y="3581"/>
                </a:lnTo>
                <a:lnTo>
                  <a:pt x="161677" y="426"/>
                </a:lnTo>
                <a:lnTo>
                  <a:pt x="196449" y="0"/>
                </a:lnTo>
                <a:lnTo>
                  <a:pt x="233429" y="2307"/>
                </a:lnTo>
                <a:lnTo>
                  <a:pt x="272212" y="7322"/>
                </a:lnTo>
                <a:lnTo>
                  <a:pt x="312374" y="14990"/>
                </a:lnTo>
                <a:lnTo>
                  <a:pt x="353474" y="25226"/>
                </a:lnTo>
                <a:lnTo>
                  <a:pt x="395062" y="37920"/>
                </a:lnTo>
                <a:lnTo>
                  <a:pt x="436683" y="52931"/>
                </a:lnTo>
                <a:lnTo>
                  <a:pt x="477879" y="70096"/>
                </a:lnTo>
                <a:lnTo>
                  <a:pt x="518201" y="89226"/>
                </a:lnTo>
                <a:lnTo>
                  <a:pt x="557206" y="110111"/>
                </a:lnTo>
                <a:lnTo>
                  <a:pt x="594468" y="132524"/>
                </a:lnTo>
                <a:lnTo>
                  <a:pt x="629576" y="156217"/>
                </a:lnTo>
                <a:lnTo>
                  <a:pt x="662148" y="180932"/>
                </a:lnTo>
                <a:lnTo>
                  <a:pt x="691826" y="206398"/>
                </a:lnTo>
                <a:lnTo>
                  <a:pt x="718285" y="232336"/>
                </a:lnTo>
                <a:lnTo>
                  <a:pt x="741235" y="258462"/>
                </a:lnTo>
                <a:lnTo>
                  <a:pt x="760424" y="284489"/>
                </a:lnTo>
                <a:lnTo>
                  <a:pt x="775643" y="310132"/>
                </a:lnTo>
                <a:lnTo>
                  <a:pt x="786725" y="335111"/>
                </a:lnTo>
                <a:lnTo>
                  <a:pt x="793548" y="359151"/>
                </a:lnTo>
                <a:lnTo>
                  <a:pt x="796037" y="381990"/>
                </a:lnTo>
                <a:lnTo>
                  <a:pt x="794166" y="403376"/>
                </a:lnTo>
                <a:close/>
              </a:path>
            </a:pathLst>
          </a:custGeom>
          <a:ln w="6350">
            <a:solidFill>
              <a:srgbClr val="4F7A43"/>
            </a:solidFill>
            <a:prstDash val="dash"/>
          </a:ln>
        </p:spPr>
      </p:sp>
      <p:sp>
        <p:nvSpPr>
          <p:cNvPr id="56" name="Shape 54"/>
          <p:cNvSpPr/>
          <p:nvPr/>
        </p:nvSpPr>
        <p:spPr>
          <a:xfrm>
            <a:off x="4566532" y="2107211"/>
            <a:ext cx="380713" cy="238620"/>
          </a:xfrm>
          <a:custGeom>
            <a:avLst/>
            <a:gdLst/>
            <a:ahLst/>
            <a:cxnLst/>
            <a:rect l="l" t="t" r="r" b="b"/>
            <a:pathLst>
              <a:path w="380713" h="238620">
                <a:moveTo>
                  <a:pt x="376848" y="202341"/>
                </a:moveTo>
                <a:lnTo>
                  <a:pt x="371834" y="210853"/>
                </a:lnTo>
                <a:lnTo>
                  <a:pt x="364831" y="218363"/>
                </a:lnTo>
                <a:lnTo>
                  <a:pt x="355917" y="224787"/>
                </a:lnTo>
                <a:lnTo>
                  <a:pt x="345190" y="230055"/>
                </a:lnTo>
                <a:lnTo>
                  <a:pt x="332765" y="234110"/>
                </a:lnTo>
                <a:lnTo>
                  <a:pt x="318781" y="236907"/>
                </a:lnTo>
                <a:lnTo>
                  <a:pt x="303390" y="238416"/>
                </a:lnTo>
                <a:lnTo>
                  <a:pt x="286760" y="238620"/>
                </a:lnTo>
                <a:lnTo>
                  <a:pt x="269074" y="237517"/>
                </a:lnTo>
                <a:lnTo>
                  <a:pt x="250525" y="235118"/>
                </a:lnTo>
                <a:lnTo>
                  <a:pt x="231317" y="231451"/>
                </a:lnTo>
                <a:lnTo>
                  <a:pt x="211661" y="226555"/>
                </a:lnTo>
                <a:lnTo>
                  <a:pt x="191771" y="220484"/>
                </a:lnTo>
                <a:lnTo>
                  <a:pt x="171865" y="213305"/>
                </a:lnTo>
                <a:lnTo>
                  <a:pt x="152162" y="205096"/>
                </a:lnTo>
                <a:lnTo>
                  <a:pt x="132878" y="195947"/>
                </a:lnTo>
                <a:lnTo>
                  <a:pt x="114223" y="185958"/>
                </a:lnTo>
                <a:lnTo>
                  <a:pt x="96403" y="175239"/>
                </a:lnTo>
                <a:lnTo>
                  <a:pt x="79612" y="163907"/>
                </a:lnTo>
                <a:lnTo>
                  <a:pt x="64034" y="152087"/>
                </a:lnTo>
                <a:lnTo>
                  <a:pt x="49840" y="139908"/>
                </a:lnTo>
                <a:lnTo>
                  <a:pt x="37186" y="127503"/>
                </a:lnTo>
                <a:lnTo>
                  <a:pt x="26210" y="115008"/>
                </a:lnTo>
                <a:lnTo>
                  <a:pt x="17032" y="102560"/>
                </a:lnTo>
                <a:lnTo>
                  <a:pt x="9754" y="90296"/>
                </a:lnTo>
                <a:lnTo>
                  <a:pt x="4454" y="78350"/>
                </a:lnTo>
                <a:lnTo>
                  <a:pt x="1191" y="66852"/>
                </a:lnTo>
                <a:lnTo>
                  <a:pt x="0" y="55929"/>
                </a:lnTo>
                <a:lnTo>
                  <a:pt x="895" y="45701"/>
                </a:lnTo>
                <a:lnTo>
                  <a:pt x="3866" y="36279"/>
                </a:lnTo>
                <a:lnTo>
                  <a:pt x="8880" y="27767"/>
                </a:lnTo>
                <a:lnTo>
                  <a:pt x="15882" y="20257"/>
                </a:lnTo>
                <a:lnTo>
                  <a:pt x="24796" y="13833"/>
                </a:lnTo>
                <a:lnTo>
                  <a:pt x="35524" y="8565"/>
                </a:lnTo>
                <a:lnTo>
                  <a:pt x="47948" y="4510"/>
                </a:lnTo>
                <a:lnTo>
                  <a:pt x="61932" y="1713"/>
                </a:lnTo>
                <a:lnTo>
                  <a:pt x="77324" y="204"/>
                </a:lnTo>
                <a:lnTo>
                  <a:pt x="93954" y="0"/>
                </a:lnTo>
                <a:lnTo>
                  <a:pt x="111640" y="1103"/>
                </a:lnTo>
                <a:lnTo>
                  <a:pt x="130188" y="3502"/>
                </a:lnTo>
                <a:lnTo>
                  <a:pt x="149396" y="7169"/>
                </a:lnTo>
                <a:lnTo>
                  <a:pt x="169053" y="12065"/>
                </a:lnTo>
                <a:lnTo>
                  <a:pt x="188943" y="18136"/>
                </a:lnTo>
                <a:lnTo>
                  <a:pt x="208848" y="25315"/>
                </a:lnTo>
                <a:lnTo>
                  <a:pt x="228551" y="33524"/>
                </a:lnTo>
                <a:lnTo>
                  <a:pt x="247835" y="42673"/>
                </a:lnTo>
                <a:lnTo>
                  <a:pt x="266490" y="52662"/>
                </a:lnTo>
                <a:lnTo>
                  <a:pt x="284311" y="63381"/>
                </a:lnTo>
                <a:lnTo>
                  <a:pt x="301102" y="74713"/>
                </a:lnTo>
                <a:lnTo>
                  <a:pt x="316679" y="86533"/>
                </a:lnTo>
                <a:lnTo>
                  <a:pt x="330873" y="98712"/>
                </a:lnTo>
                <a:lnTo>
                  <a:pt x="343527" y="111117"/>
                </a:lnTo>
                <a:lnTo>
                  <a:pt x="354503" y="123612"/>
                </a:lnTo>
                <a:lnTo>
                  <a:pt x="363681" y="136060"/>
                </a:lnTo>
                <a:lnTo>
                  <a:pt x="370960" y="148324"/>
                </a:lnTo>
                <a:lnTo>
                  <a:pt x="376260" y="160270"/>
                </a:lnTo>
                <a:lnTo>
                  <a:pt x="379523" y="171768"/>
                </a:lnTo>
                <a:lnTo>
                  <a:pt x="380713" y="182691"/>
                </a:lnTo>
                <a:lnTo>
                  <a:pt x="379818" y="192919"/>
                </a:lnTo>
                <a:close/>
              </a:path>
            </a:pathLst>
          </a:custGeom>
          <a:ln w="6350">
            <a:solidFill>
              <a:srgbClr val="4F7A43"/>
            </a:solidFill>
            <a:prstDash val="dash"/>
          </a:ln>
        </p:spPr>
      </p:sp>
      <p:sp>
        <p:nvSpPr>
          <p:cNvPr id="57" name="Shape 55"/>
          <p:cNvSpPr/>
          <p:nvPr/>
        </p:nvSpPr>
        <p:spPr>
          <a:xfrm>
            <a:off x="5381659" y="2512656"/>
            <a:ext cx="55489" cy="55489"/>
          </a:xfrm>
          <a:prstGeom prst="ellipse">
            <a:avLst/>
          </a:prstGeom>
          <a:solidFill>
            <a:srgbClr val="FFFFFF"/>
          </a:solidFill>
          <a:ln w="7620">
            <a:solidFill>
              <a:srgbClr val="4F7A43"/>
            </a:solidFill>
            <a:prstDash val="solid"/>
          </a:ln>
        </p:spPr>
      </p:sp>
      <p:sp>
        <p:nvSpPr>
          <p:cNvPr id="58" name="Shape 56"/>
          <p:cNvSpPr/>
          <p:nvPr/>
        </p:nvSpPr>
        <p:spPr>
          <a:xfrm>
            <a:off x="5304397" y="2598469"/>
            <a:ext cx="55489" cy="55489"/>
          </a:xfrm>
          <a:prstGeom prst="ellipse">
            <a:avLst/>
          </a:prstGeom>
          <a:solidFill>
            <a:srgbClr val="FFFFFF"/>
          </a:solidFill>
          <a:ln w="7620">
            <a:solidFill>
              <a:srgbClr val="4F7A43"/>
            </a:solidFill>
            <a:prstDash val="solid"/>
          </a:ln>
        </p:spPr>
      </p:sp>
      <p:sp>
        <p:nvSpPr>
          <p:cNvPr id="59" name="Shape 57"/>
          <p:cNvSpPr/>
          <p:nvPr/>
        </p:nvSpPr>
        <p:spPr>
          <a:xfrm>
            <a:off x="5168696" y="2647759"/>
            <a:ext cx="55489" cy="55489"/>
          </a:xfrm>
          <a:prstGeom prst="ellipse">
            <a:avLst/>
          </a:prstGeom>
          <a:solidFill>
            <a:srgbClr val="FFFFFF"/>
          </a:solidFill>
          <a:ln w="7620">
            <a:solidFill>
              <a:srgbClr val="4F7A43"/>
            </a:solidFill>
            <a:prstDash val="solid"/>
          </a:ln>
        </p:spPr>
      </p:sp>
      <p:sp>
        <p:nvSpPr>
          <p:cNvPr id="60" name="Shape 58"/>
          <p:cNvSpPr/>
          <p:nvPr/>
        </p:nvSpPr>
        <p:spPr>
          <a:xfrm>
            <a:off x="4986416" y="2656217"/>
            <a:ext cx="55489" cy="55489"/>
          </a:xfrm>
          <a:prstGeom prst="ellipse">
            <a:avLst/>
          </a:prstGeom>
          <a:solidFill>
            <a:srgbClr val="FFFFFF"/>
          </a:solidFill>
          <a:ln w="7620">
            <a:solidFill>
              <a:srgbClr val="4F7A43"/>
            </a:solidFill>
            <a:prstDash val="solid"/>
          </a:ln>
        </p:spPr>
      </p:sp>
      <p:sp>
        <p:nvSpPr>
          <p:cNvPr id="61" name="Shape 59"/>
          <p:cNvSpPr/>
          <p:nvPr/>
        </p:nvSpPr>
        <p:spPr>
          <a:xfrm>
            <a:off x="4773486" y="2623105"/>
            <a:ext cx="55489" cy="55489"/>
          </a:xfrm>
          <a:prstGeom prst="ellipse">
            <a:avLst/>
          </a:prstGeom>
          <a:solidFill>
            <a:srgbClr val="FFFFFF"/>
          </a:solidFill>
          <a:ln w="7620">
            <a:solidFill>
              <a:srgbClr val="4F7A43"/>
            </a:solidFill>
            <a:prstDash val="solid"/>
          </a:ln>
        </p:spPr>
      </p:sp>
      <p:sp>
        <p:nvSpPr>
          <p:cNvPr id="62" name="Shape 60"/>
          <p:cNvSpPr/>
          <p:nvPr/>
        </p:nvSpPr>
        <p:spPr>
          <a:xfrm>
            <a:off x="4548515" y="2551316"/>
            <a:ext cx="55489" cy="55489"/>
          </a:xfrm>
          <a:prstGeom prst="ellipse">
            <a:avLst/>
          </a:prstGeom>
          <a:solidFill>
            <a:srgbClr val="FFFFFF"/>
          </a:solidFill>
          <a:ln w="7620">
            <a:solidFill>
              <a:srgbClr val="4F7A43"/>
            </a:solidFill>
            <a:prstDash val="solid"/>
          </a:ln>
        </p:spPr>
      </p:sp>
      <p:sp>
        <p:nvSpPr>
          <p:cNvPr id="63" name="Shape 61"/>
          <p:cNvSpPr/>
          <p:nvPr/>
        </p:nvSpPr>
        <p:spPr>
          <a:xfrm>
            <a:off x="4331162" y="2447124"/>
            <a:ext cx="55489" cy="55489"/>
          </a:xfrm>
          <a:prstGeom prst="ellipse">
            <a:avLst/>
          </a:prstGeom>
          <a:solidFill>
            <a:srgbClr val="FFFFFF"/>
          </a:solidFill>
          <a:ln w="7620">
            <a:solidFill>
              <a:srgbClr val="4F7A43"/>
            </a:solidFill>
            <a:prstDash val="solid"/>
          </a:ln>
        </p:spPr>
      </p:sp>
      <p:sp>
        <p:nvSpPr>
          <p:cNvPr id="64" name="Shape 62"/>
          <p:cNvSpPr/>
          <p:nvPr/>
        </p:nvSpPr>
        <p:spPr>
          <a:xfrm>
            <a:off x="4140423" y="2319634"/>
            <a:ext cx="55489" cy="55489"/>
          </a:xfrm>
          <a:prstGeom prst="ellipse">
            <a:avLst/>
          </a:prstGeom>
          <a:solidFill>
            <a:srgbClr val="FFFFFF"/>
          </a:solidFill>
          <a:ln w="7620">
            <a:solidFill>
              <a:srgbClr val="4F7A43"/>
            </a:solidFill>
            <a:prstDash val="solid"/>
          </a:ln>
        </p:spPr>
      </p:sp>
      <p:sp>
        <p:nvSpPr>
          <p:cNvPr id="65" name="Shape 63"/>
          <p:cNvSpPr/>
          <p:nvPr/>
        </p:nvSpPr>
        <p:spPr>
          <a:xfrm>
            <a:off x="3992966" y="2179989"/>
            <a:ext cx="55489" cy="55489"/>
          </a:xfrm>
          <a:prstGeom prst="ellipse">
            <a:avLst/>
          </a:prstGeom>
          <a:solidFill>
            <a:srgbClr val="FFFFFF"/>
          </a:solidFill>
          <a:ln w="7620">
            <a:solidFill>
              <a:srgbClr val="4F7A43"/>
            </a:solidFill>
            <a:prstDash val="solid"/>
          </a:ln>
        </p:spPr>
      </p:sp>
      <p:sp>
        <p:nvSpPr>
          <p:cNvPr id="66" name="Shape 64"/>
          <p:cNvSpPr/>
          <p:nvPr/>
        </p:nvSpPr>
        <p:spPr>
          <a:xfrm>
            <a:off x="3901678" y="2040390"/>
            <a:ext cx="55489" cy="55489"/>
          </a:xfrm>
          <a:prstGeom prst="ellipse">
            <a:avLst/>
          </a:prstGeom>
          <a:solidFill>
            <a:srgbClr val="FFFFFF"/>
          </a:solidFill>
          <a:ln w="7620">
            <a:solidFill>
              <a:srgbClr val="4F7A43"/>
            </a:solidFill>
            <a:prstDash val="solid"/>
          </a:ln>
        </p:spPr>
      </p:sp>
      <p:sp>
        <p:nvSpPr>
          <p:cNvPr id="67" name="Shape 65"/>
          <p:cNvSpPr/>
          <p:nvPr/>
        </p:nvSpPr>
        <p:spPr>
          <a:xfrm>
            <a:off x="3874535" y="1913039"/>
            <a:ext cx="55489" cy="55489"/>
          </a:xfrm>
          <a:prstGeom prst="ellipse">
            <a:avLst/>
          </a:prstGeom>
          <a:solidFill>
            <a:srgbClr val="FFFFFF"/>
          </a:solidFill>
          <a:ln w="7620">
            <a:solidFill>
              <a:srgbClr val="4F7A43"/>
            </a:solidFill>
            <a:prstDash val="solid"/>
          </a:ln>
        </p:spPr>
      </p:sp>
      <p:sp>
        <p:nvSpPr>
          <p:cNvPr id="68" name="Shape 66"/>
          <p:cNvSpPr/>
          <p:nvPr/>
        </p:nvSpPr>
        <p:spPr>
          <a:xfrm>
            <a:off x="3913911" y="1809064"/>
            <a:ext cx="55489" cy="55489"/>
          </a:xfrm>
          <a:prstGeom prst="ellipse">
            <a:avLst/>
          </a:prstGeom>
          <a:solidFill>
            <a:srgbClr val="FFFFFF"/>
          </a:solidFill>
          <a:ln w="7620">
            <a:solidFill>
              <a:srgbClr val="4F7A43"/>
            </a:solidFill>
            <a:prstDash val="solid"/>
          </a:ln>
        </p:spPr>
      </p:sp>
      <p:sp>
        <p:nvSpPr>
          <p:cNvPr id="69" name="Shape 67"/>
          <p:cNvSpPr/>
          <p:nvPr/>
        </p:nvSpPr>
        <p:spPr>
          <a:xfrm>
            <a:off x="4016364" y="1737552"/>
            <a:ext cx="55489" cy="55489"/>
          </a:xfrm>
          <a:prstGeom prst="ellipse">
            <a:avLst/>
          </a:prstGeom>
          <a:solidFill>
            <a:srgbClr val="FFFFFF"/>
          </a:solidFill>
          <a:ln w="7620">
            <a:solidFill>
              <a:srgbClr val="4F7A43"/>
            </a:solidFill>
            <a:prstDash val="solid"/>
          </a:ln>
        </p:spPr>
      </p:sp>
      <p:sp>
        <p:nvSpPr>
          <p:cNvPr id="70" name="Shape 68"/>
          <p:cNvSpPr/>
          <p:nvPr/>
        </p:nvSpPr>
        <p:spPr>
          <a:xfrm>
            <a:off x="4172940" y="1704752"/>
            <a:ext cx="55489" cy="55489"/>
          </a:xfrm>
          <a:prstGeom prst="ellipse">
            <a:avLst/>
          </a:prstGeom>
          <a:solidFill>
            <a:srgbClr val="FFFFFF"/>
          </a:solidFill>
          <a:ln w="7620">
            <a:solidFill>
              <a:srgbClr val="4F7A43"/>
            </a:solidFill>
            <a:prstDash val="solid"/>
          </a:ln>
        </p:spPr>
      </p:sp>
      <p:sp>
        <p:nvSpPr>
          <p:cNvPr id="71" name="Shape 69"/>
          <p:cNvSpPr/>
          <p:nvPr/>
        </p:nvSpPr>
        <p:spPr>
          <a:xfrm>
            <a:off x="4369957" y="1713530"/>
            <a:ext cx="55489" cy="55489"/>
          </a:xfrm>
          <a:prstGeom prst="ellipse">
            <a:avLst/>
          </a:prstGeom>
          <a:solidFill>
            <a:srgbClr val="FFFFFF"/>
          </a:solidFill>
          <a:ln w="7620">
            <a:solidFill>
              <a:srgbClr val="4F7A43"/>
            </a:solidFill>
            <a:prstDash val="solid"/>
          </a:ln>
        </p:spPr>
      </p:sp>
      <p:sp>
        <p:nvSpPr>
          <p:cNvPr id="72" name="Shape 70"/>
          <p:cNvSpPr/>
          <p:nvPr/>
        </p:nvSpPr>
        <p:spPr>
          <a:xfrm>
            <a:off x="4590197" y="1763120"/>
            <a:ext cx="55489" cy="55489"/>
          </a:xfrm>
          <a:prstGeom prst="ellipse">
            <a:avLst/>
          </a:prstGeom>
          <a:solidFill>
            <a:srgbClr val="FFFFFF"/>
          </a:solidFill>
          <a:ln w="7620">
            <a:solidFill>
              <a:srgbClr val="4F7A43"/>
            </a:solidFill>
            <a:prstDash val="solid"/>
          </a:ln>
        </p:spPr>
      </p:sp>
      <p:sp>
        <p:nvSpPr>
          <p:cNvPr id="73" name="Shape 71"/>
          <p:cNvSpPr/>
          <p:nvPr/>
        </p:nvSpPr>
        <p:spPr>
          <a:xfrm>
            <a:off x="4814414" y="1849188"/>
            <a:ext cx="55489" cy="55489"/>
          </a:xfrm>
          <a:prstGeom prst="ellipse">
            <a:avLst/>
          </a:prstGeom>
          <a:solidFill>
            <a:srgbClr val="FFFFFF"/>
          </a:solidFill>
          <a:ln w="7620">
            <a:solidFill>
              <a:srgbClr val="4F7A43"/>
            </a:solidFill>
            <a:prstDash val="solid"/>
          </a:ln>
        </p:spPr>
      </p:sp>
      <p:sp>
        <p:nvSpPr>
          <p:cNvPr id="74" name="Shape 72"/>
          <p:cNvSpPr/>
          <p:nvPr/>
        </p:nvSpPr>
        <p:spPr>
          <a:xfrm>
            <a:off x="5023011" y="1964212"/>
            <a:ext cx="55489" cy="55489"/>
          </a:xfrm>
          <a:prstGeom prst="ellipse">
            <a:avLst/>
          </a:prstGeom>
          <a:solidFill>
            <a:srgbClr val="FFFFFF"/>
          </a:solidFill>
          <a:ln w="7620">
            <a:solidFill>
              <a:srgbClr val="4F7A43"/>
            </a:solidFill>
            <a:prstDash val="solid"/>
          </a:ln>
        </p:spPr>
      </p:sp>
      <p:sp>
        <p:nvSpPr>
          <p:cNvPr id="75" name="Shape 73"/>
          <p:cNvSpPr/>
          <p:nvPr/>
        </p:nvSpPr>
        <p:spPr>
          <a:xfrm>
            <a:off x="5197761" y="2098141"/>
            <a:ext cx="55489" cy="55489"/>
          </a:xfrm>
          <a:prstGeom prst="ellipse">
            <a:avLst/>
          </a:prstGeom>
          <a:solidFill>
            <a:srgbClr val="FFFFFF"/>
          </a:solidFill>
          <a:ln w="7620">
            <a:solidFill>
              <a:srgbClr val="4F7A43"/>
            </a:solidFill>
            <a:prstDash val="solid"/>
          </a:ln>
        </p:spPr>
      </p:sp>
      <p:sp>
        <p:nvSpPr>
          <p:cNvPr id="76" name="Shape 74"/>
          <p:cNvSpPr/>
          <p:nvPr/>
        </p:nvSpPr>
        <p:spPr>
          <a:xfrm>
            <a:off x="5323392" y="2239269"/>
            <a:ext cx="55489" cy="55489"/>
          </a:xfrm>
          <a:prstGeom prst="ellipse">
            <a:avLst/>
          </a:prstGeom>
          <a:solidFill>
            <a:srgbClr val="FFFFFF"/>
          </a:solidFill>
          <a:ln w="7620">
            <a:solidFill>
              <a:srgbClr val="4F7A43"/>
            </a:solidFill>
            <a:prstDash val="solid"/>
          </a:ln>
        </p:spPr>
      </p:sp>
      <p:sp>
        <p:nvSpPr>
          <p:cNvPr id="77" name="Shape 75"/>
          <p:cNvSpPr/>
          <p:nvPr/>
        </p:nvSpPr>
        <p:spPr>
          <a:xfrm>
            <a:off x="5388925" y="2375265"/>
            <a:ext cx="55489" cy="55489"/>
          </a:xfrm>
          <a:prstGeom prst="ellipse">
            <a:avLst/>
          </a:prstGeom>
          <a:solidFill>
            <a:srgbClr val="FFFFFF"/>
          </a:solidFill>
          <a:ln w="7620">
            <a:solidFill>
              <a:srgbClr val="4F7A43"/>
            </a:solidFill>
            <a:prstDash val="solid"/>
          </a:ln>
        </p:spPr>
      </p:sp>
      <p:sp>
        <p:nvSpPr>
          <p:cNvPr id="78" name="Shape 76"/>
          <p:cNvSpPr/>
          <p:nvPr/>
        </p:nvSpPr>
        <p:spPr>
          <a:xfrm>
            <a:off x="5388633" y="2494242"/>
            <a:ext cx="55489" cy="55489"/>
          </a:xfrm>
          <a:prstGeom prst="ellipse">
            <a:avLst/>
          </a:prstGeom>
          <a:solidFill>
            <a:srgbClr val="FFFFFF"/>
          </a:solidFill>
          <a:ln w="7620">
            <a:solidFill>
              <a:srgbClr val="4F7A43"/>
            </a:solidFill>
            <a:prstDash val="solid"/>
          </a:ln>
        </p:spPr>
      </p:sp>
      <p:sp>
        <p:nvSpPr>
          <p:cNvPr id="79" name="Shape 77"/>
          <p:cNvSpPr/>
          <p:nvPr/>
        </p:nvSpPr>
        <p:spPr>
          <a:xfrm>
            <a:off x="4718245" y="2530483"/>
            <a:ext cx="862048" cy="252983"/>
          </a:xfrm>
          <a:custGeom>
            <a:avLst/>
            <a:gdLst/>
            <a:ahLst/>
            <a:cxnLst/>
            <a:rect l="l" t="t" r="r" b="b"/>
            <a:pathLst>
              <a:path w="862048" h="252983">
                <a:moveTo>
                  <a:pt x="862048" y="0"/>
                </a:moveTo>
                <a:lnTo>
                  <a:pt x="857659" y="34428"/>
                </a:lnTo>
                <a:lnTo>
                  <a:pt x="848252" y="66895"/>
                </a:lnTo>
                <a:lnTo>
                  <a:pt x="833879" y="97222"/>
                </a:lnTo>
                <a:lnTo>
                  <a:pt x="814618" y="125243"/>
                </a:lnTo>
                <a:lnTo>
                  <a:pt x="790575" y="150802"/>
                </a:lnTo>
                <a:lnTo>
                  <a:pt x="761884" y="173760"/>
                </a:lnTo>
                <a:lnTo>
                  <a:pt x="728701" y="193991"/>
                </a:lnTo>
                <a:lnTo>
                  <a:pt x="691209" y="211382"/>
                </a:lnTo>
                <a:lnTo>
                  <a:pt x="649614" y="225839"/>
                </a:lnTo>
                <a:lnTo>
                  <a:pt x="604145" y="237282"/>
                </a:lnTo>
                <a:lnTo>
                  <a:pt x="555052" y="245648"/>
                </a:lnTo>
                <a:lnTo>
                  <a:pt x="502605" y="250891"/>
                </a:lnTo>
                <a:lnTo>
                  <a:pt x="447093" y="252983"/>
                </a:lnTo>
                <a:lnTo>
                  <a:pt x="388820" y="251911"/>
                </a:lnTo>
                <a:lnTo>
                  <a:pt x="328107" y="247681"/>
                </a:lnTo>
                <a:lnTo>
                  <a:pt x="265289" y="240317"/>
                </a:lnTo>
                <a:lnTo>
                  <a:pt x="200710" y="229860"/>
                </a:lnTo>
                <a:lnTo>
                  <a:pt x="134726" y="216366"/>
                </a:lnTo>
                <a:lnTo>
                  <a:pt x="67700" y="199911"/>
                </a:lnTo>
                <a:lnTo>
                  <a:pt x="0" y="180584"/>
                </a:lnTo>
              </a:path>
            </a:pathLst>
          </a:custGeom>
          <a:ln w="44450">
            <a:solidFill>
              <a:srgbClr val="C4262E"/>
            </a:solidFill>
            <a:prstDash val="solid"/>
          </a:ln>
        </p:spPr>
      </p:sp>
      <p:sp>
        <p:nvSpPr>
          <p:cNvPr id="80" name="Shape 78"/>
          <p:cNvSpPr/>
          <p:nvPr/>
        </p:nvSpPr>
        <p:spPr>
          <a:xfrm rot="169550">
            <a:off x="4830237" y="2757859"/>
            <a:ext cx="575303" cy="85368"/>
          </a:xfrm>
          <a:prstGeom prst="rect">
            <a:avLst/>
          </a:prstGeom>
          <a:solidFill>
            <a:srgbClr val="1B1B1B"/>
          </a:solidFill>
          <a:ln/>
        </p:spPr>
      </p:sp>
      <p:sp>
        <p:nvSpPr>
          <p:cNvPr id="81" name="Shape 79"/>
          <p:cNvSpPr/>
          <p:nvPr/>
        </p:nvSpPr>
        <p:spPr>
          <a:xfrm rot="2669841">
            <a:off x="3846481" y="2227157"/>
            <a:ext cx="510349" cy="85368"/>
          </a:xfrm>
          <a:prstGeom prst="rect">
            <a:avLst/>
          </a:prstGeom>
          <a:solidFill>
            <a:srgbClr val="1B1B1B"/>
          </a:solidFill>
          <a:ln w="6350">
            <a:solidFill>
              <a:srgbClr val="1B1B1B"/>
            </a:solidFill>
            <a:prstDash val="solid"/>
          </a:ln>
        </p:spPr>
      </p:sp>
      <p:sp>
        <p:nvSpPr>
          <p:cNvPr id="82" name="Shape 80"/>
          <p:cNvSpPr/>
          <p:nvPr/>
        </p:nvSpPr>
        <p:spPr>
          <a:xfrm rot="-1236591">
            <a:off x="4031167" y="1835127"/>
            <a:ext cx="426838" cy="85368"/>
          </a:xfrm>
          <a:prstGeom prst="rect">
            <a:avLst/>
          </a:prstGeom>
          <a:solidFill>
            <a:srgbClr val="1B1B1B"/>
          </a:solidFill>
          <a:ln/>
        </p:spPr>
      </p:sp>
      <p:sp>
        <p:nvSpPr>
          <p:cNvPr id="83" name="Shape 81"/>
          <p:cNvSpPr/>
          <p:nvPr/>
        </p:nvSpPr>
        <p:spPr>
          <a:xfrm rot="1650735">
            <a:off x="4697841" y="2019856"/>
            <a:ext cx="334047" cy="85368"/>
          </a:xfrm>
          <a:prstGeom prst="rect">
            <a:avLst/>
          </a:prstGeom>
          <a:solidFill>
            <a:srgbClr val="1B1B1B"/>
          </a:solidFill>
          <a:ln/>
        </p:spPr>
      </p:sp>
      <p:sp>
        <p:nvSpPr>
          <p:cNvPr id="84" name="Shape 82"/>
          <p:cNvSpPr/>
          <p:nvPr/>
        </p:nvSpPr>
        <p:spPr>
          <a:xfrm rot="173647">
            <a:off x="4134996" y="1686954"/>
            <a:ext cx="315489" cy="68294"/>
          </a:xfrm>
          <a:prstGeom prst="rect">
            <a:avLst/>
          </a:prstGeom>
          <a:solidFill>
            <a:srgbClr val="9A9A9A"/>
          </a:solidFill>
          <a:ln/>
        </p:spPr>
      </p:sp>
      <p:sp>
        <p:nvSpPr>
          <p:cNvPr id="85" name="Shape 83"/>
          <p:cNvSpPr/>
          <p:nvPr/>
        </p:nvSpPr>
        <p:spPr>
          <a:xfrm>
            <a:off x="4133904" y="1836052"/>
            <a:ext cx="1245971" cy="780938"/>
          </a:xfrm>
          <a:custGeom>
            <a:avLst/>
            <a:gdLst/>
            <a:ahLst/>
            <a:cxnLst/>
            <a:rect l="l" t="t" r="r" b="b"/>
            <a:pathLst>
              <a:path w="1245971" h="780938">
                <a:moveTo>
                  <a:pt x="1233320" y="662207"/>
                </a:moveTo>
                <a:lnTo>
                  <a:pt x="1216910" y="690065"/>
                </a:lnTo>
                <a:lnTo>
                  <a:pt x="1193994" y="714641"/>
                </a:lnTo>
                <a:lnTo>
                  <a:pt x="1164821" y="735665"/>
                </a:lnTo>
                <a:lnTo>
                  <a:pt x="1129712" y="752907"/>
                </a:lnTo>
                <a:lnTo>
                  <a:pt x="1089051" y="766178"/>
                </a:lnTo>
                <a:lnTo>
                  <a:pt x="1043283" y="775333"/>
                </a:lnTo>
                <a:lnTo>
                  <a:pt x="992911" y="780271"/>
                </a:lnTo>
                <a:lnTo>
                  <a:pt x="938486" y="780938"/>
                </a:lnTo>
                <a:lnTo>
                  <a:pt x="880604" y="777327"/>
                </a:lnTo>
                <a:lnTo>
                  <a:pt x="819900" y="769478"/>
                </a:lnTo>
                <a:lnTo>
                  <a:pt x="757038" y="757476"/>
                </a:lnTo>
                <a:lnTo>
                  <a:pt x="692708" y="741453"/>
                </a:lnTo>
                <a:lnTo>
                  <a:pt x="627613" y="721585"/>
                </a:lnTo>
                <a:lnTo>
                  <a:pt x="562468" y="698089"/>
                </a:lnTo>
                <a:lnTo>
                  <a:pt x="497986" y="671223"/>
                </a:lnTo>
                <a:lnTo>
                  <a:pt x="434874" y="641280"/>
                </a:lnTo>
                <a:lnTo>
                  <a:pt x="373822" y="608590"/>
                </a:lnTo>
                <a:lnTo>
                  <a:pt x="315500" y="573510"/>
                </a:lnTo>
                <a:lnTo>
                  <a:pt x="260548" y="536424"/>
                </a:lnTo>
                <a:lnTo>
                  <a:pt x="209566" y="497740"/>
                </a:lnTo>
                <a:lnTo>
                  <a:pt x="163114" y="457880"/>
                </a:lnTo>
                <a:lnTo>
                  <a:pt x="121700" y="417281"/>
                </a:lnTo>
                <a:lnTo>
                  <a:pt x="85778" y="376389"/>
                </a:lnTo>
                <a:lnTo>
                  <a:pt x="55742" y="335651"/>
                </a:lnTo>
                <a:lnTo>
                  <a:pt x="31921" y="295514"/>
                </a:lnTo>
                <a:lnTo>
                  <a:pt x="14576" y="256417"/>
                </a:lnTo>
                <a:lnTo>
                  <a:pt x="3896" y="218788"/>
                </a:lnTo>
                <a:lnTo>
                  <a:pt x="0" y="183041"/>
                </a:lnTo>
                <a:lnTo>
                  <a:pt x="2929" y="149566"/>
                </a:lnTo>
                <a:lnTo>
                  <a:pt x="12652" y="118731"/>
                </a:lnTo>
                <a:lnTo>
                  <a:pt x="29061" y="90873"/>
                </a:lnTo>
                <a:lnTo>
                  <a:pt x="51978" y="66297"/>
                </a:lnTo>
                <a:lnTo>
                  <a:pt x="81150" y="45273"/>
                </a:lnTo>
                <a:lnTo>
                  <a:pt x="116260" y="28031"/>
                </a:lnTo>
                <a:lnTo>
                  <a:pt x="156921" y="14760"/>
                </a:lnTo>
                <a:lnTo>
                  <a:pt x="202688" y="5605"/>
                </a:lnTo>
                <a:lnTo>
                  <a:pt x="253060" y="667"/>
                </a:lnTo>
                <a:lnTo>
                  <a:pt x="307485" y="0"/>
                </a:lnTo>
                <a:lnTo>
                  <a:pt x="365367" y="3611"/>
                </a:lnTo>
                <a:lnTo>
                  <a:pt x="426071" y="11460"/>
                </a:lnTo>
                <a:lnTo>
                  <a:pt x="488933" y="23462"/>
                </a:lnTo>
                <a:lnTo>
                  <a:pt x="553264" y="39485"/>
                </a:lnTo>
                <a:lnTo>
                  <a:pt x="618358" y="59353"/>
                </a:lnTo>
                <a:lnTo>
                  <a:pt x="683503" y="82849"/>
                </a:lnTo>
                <a:lnTo>
                  <a:pt x="747985" y="109715"/>
                </a:lnTo>
                <a:lnTo>
                  <a:pt x="811098" y="139658"/>
                </a:lnTo>
                <a:lnTo>
                  <a:pt x="872149" y="172348"/>
                </a:lnTo>
                <a:lnTo>
                  <a:pt x="930471" y="207428"/>
                </a:lnTo>
                <a:lnTo>
                  <a:pt x="985424" y="244514"/>
                </a:lnTo>
                <a:lnTo>
                  <a:pt x="1036405" y="283198"/>
                </a:lnTo>
                <a:lnTo>
                  <a:pt x="1082858" y="323058"/>
                </a:lnTo>
                <a:lnTo>
                  <a:pt x="1124272" y="363657"/>
                </a:lnTo>
                <a:lnTo>
                  <a:pt x="1160193" y="404549"/>
                </a:lnTo>
                <a:lnTo>
                  <a:pt x="1190229" y="445287"/>
                </a:lnTo>
                <a:lnTo>
                  <a:pt x="1214050" y="485424"/>
                </a:lnTo>
                <a:lnTo>
                  <a:pt x="1231395" y="524521"/>
                </a:lnTo>
                <a:lnTo>
                  <a:pt x="1242075" y="562150"/>
                </a:lnTo>
                <a:lnTo>
                  <a:pt x="1245971" y="597897"/>
                </a:lnTo>
                <a:lnTo>
                  <a:pt x="1243042" y="631372"/>
                </a:lnTo>
                <a:close/>
              </a:path>
            </a:pathLst>
          </a:custGeom>
          <a:ln w="15875">
            <a:solidFill>
              <a:srgbClr val="4F7A43"/>
            </a:solidFill>
            <a:prstDash val="dash"/>
          </a:ln>
        </p:spPr>
      </p:sp>
      <p:sp>
        <p:nvSpPr>
          <p:cNvPr id="86" name="Shape 84"/>
          <p:cNvSpPr/>
          <p:nvPr/>
        </p:nvSpPr>
        <p:spPr>
          <a:xfrm>
            <a:off x="3871701" y="1637599"/>
            <a:ext cx="502920" cy="146304"/>
          </a:xfrm>
          <a:prstGeom prst="rect">
            <a:avLst/>
          </a:prstGeom>
          <a:solidFill>
            <a:srgbClr val="FFFFFF"/>
          </a:solidFill>
          <a:ln/>
        </p:spPr>
      </p:sp>
      <p:sp>
        <p:nvSpPr>
          <p:cNvPr id="87" name="Text 85"/>
          <p:cNvSpPr txBox="1"/>
          <p:nvPr/>
        </p:nvSpPr>
        <p:spPr>
          <a:xfrm>
            <a:off x="3871701" y="1637599"/>
            <a:ext cx="502920" cy="146304"/>
          </a:xfrm>
          <a:prstGeom prst="rect">
            <a:avLst/>
          </a:prstGeom>
          <a:noFill/>
          <a:ln/>
        </p:spPr>
        <p:txBody>
          <a:bodyPr wrap="square" lIns="0" tIns="0" rIns="0" bIns="0" rtlCol="0" anchor="ctr"/>
          <a:lstStyle/>
          <a:p>
            <a:pPr algn="ctr" indent="0" marL="0">
              <a:buNone/>
            </a:pPr>
            <a:r>
              <a:rPr lang="en-US" sz="550" b="1" dirty="0">
                <a:solidFill>
                  <a:srgbClr val="4F7A43"/>
                </a:solidFill>
                <a:latin typeface="Arial" pitchFamily="34" charset="0"/>
                <a:ea typeface="Arial" pitchFamily="34" charset="-122"/>
                <a:cs typeface="Arial" pitchFamily="34" charset="-120"/>
              </a:rPr>
              <a:t>trees kept</a:t>
            </a:r>
            <a:endParaRPr lang="en-US" sz="550" dirty="0"/>
          </a:p>
        </p:txBody>
      </p:sp>
      <p:sp>
        <p:nvSpPr>
          <p:cNvPr id="88" name="Shape 86"/>
          <p:cNvSpPr/>
          <p:nvPr/>
        </p:nvSpPr>
        <p:spPr>
          <a:xfrm>
            <a:off x="5121814" y="2736680"/>
            <a:ext cx="274320" cy="146304"/>
          </a:xfrm>
          <a:prstGeom prst="rect">
            <a:avLst/>
          </a:prstGeom>
          <a:solidFill>
            <a:srgbClr val="FFFFFF"/>
          </a:solidFill>
          <a:ln/>
        </p:spPr>
      </p:sp>
      <p:sp>
        <p:nvSpPr>
          <p:cNvPr id="89" name="Text 87"/>
          <p:cNvSpPr txBox="1"/>
          <p:nvPr/>
        </p:nvSpPr>
        <p:spPr>
          <a:xfrm>
            <a:off x="5121814" y="2736680"/>
            <a:ext cx="274320" cy="146304"/>
          </a:xfrm>
          <a:prstGeom prst="rect">
            <a:avLst/>
          </a:prstGeom>
          <a:noFill/>
          <a:ln/>
        </p:spPr>
        <p:txBody>
          <a:bodyPr wrap="square" lIns="0" tIns="0" rIns="0" bIns="0" rtlCol="0" anchor="ctr"/>
          <a:lstStyle/>
          <a:p>
            <a:pPr algn="ctr" indent="0" marL="0">
              <a:buNone/>
            </a:pPr>
            <a:r>
              <a:rPr lang="en-US" sz="550" b="1" dirty="0">
                <a:solidFill>
                  <a:srgbClr val="C4262E"/>
                </a:solidFill>
                <a:latin typeface="Arial" pitchFamily="34" charset="0"/>
                <a:ea typeface="Arial" pitchFamily="34" charset="-122"/>
                <a:cs typeface="Arial" pitchFamily="34" charset="-120"/>
              </a:rPr>
              <a:t>edge</a:t>
            </a:r>
            <a:endParaRPr lang="en-US" sz="550" dirty="0"/>
          </a:p>
        </p:txBody>
      </p:sp>
      <p:sp>
        <p:nvSpPr>
          <p:cNvPr id="90" name="Shape 88"/>
          <p:cNvSpPr/>
          <p:nvPr/>
        </p:nvSpPr>
        <p:spPr>
          <a:xfrm>
            <a:off x="3959905" y="2197997"/>
            <a:ext cx="640080" cy="146304"/>
          </a:xfrm>
          <a:prstGeom prst="rect">
            <a:avLst/>
          </a:prstGeom>
          <a:solidFill>
            <a:srgbClr val="FFFFFF"/>
          </a:solidFill>
          <a:ln/>
        </p:spPr>
      </p:sp>
      <p:sp>
        <p:nvSpPr>
          <p:cNvPr id="91" name="Text 89"/>
          <p:cNvSpPr txBox="1"/>
          <p:nvPr/>
        </p:nvSpPr>
        <p:spPr>
          <a:xfrm>
            <a:off x="3959905" y="2197997"/>
            <a:ext cx="640080" cy="146304"/>
          </a:xfrm>
          <a:prstGeom prst="rect">
            <a:avLst/>
          </a:prstGeom>
          <a:noFill/>
          <a:ln/>
        </p:spPr>
        <p:txBody>
          <a:bodyPr wrap="square" lIns="0" tIns="0" rIns="0" bIns="0" rtlCol="0" anchor="ctr"/>
          <a:lstStyle/>
          <a:p>
            <a:pPr algn="ctr" indent="0" marL="0">
              <a:buNone/>
            </a:pPr>
            <a:r>
              <a:rPr lang="en-US" sz="550" b="1" dirty="0">
                <a:solidFill>
                  <a:srgbClr val="1B1B1B"/>
                </a:solidFill>
                <a:latin typeface="Arial" pitchFamily="34" charset="0"/>
                <a:ea typeface="Arial" pitchFamily="34" charset="-122"/>
                <a:cs typeface="Arial" pitchFamily="34" charset="-120"/>
              </a:rPr>
              <a:t>bars ∥ contours</a:t>
            </a:r>
            <a:endParaRPr lang="en-US" sz="550" dirty="0"/>
          </a:p>
        </p:txBody>
      </p:sp>
      <p:sp>
        <p:nvSpPr>
          <p:cNvPr id="92" name="Shape 90"/>
          <p:cNvSpPr/>
          <p:nvPr/>
        </p:nvSpPr>
        <p:spPr>
          <a:xfrm>
            <a:off x="6126480" y="1188720"/>
            <a:ext cx="2743200" cy="1828800"/>
          </a:xfrm>
          <a:prstGeom prst="rect">
            <a:avLst/>
          </a:prstGeom>
          <a:solidFill>
            <a:srgbClr val="FFFFFF"/>
          </a:solidFill>
          <a:ln w="6350">
            <a:solidFill>
              <a:srgbClr val="D9D9D9"/>
            </a:solidFill>
            <a:prstDash val="solid"/>
          </a:ln>
        </p:spPr>
      </p:sp>
      <p:sp>
        <p:nvSpPr>
          <p:cNvPr id="93" name="Text 91"/>
          <p:cNvSpPr txBox="1"/>
          <p:nvPr/>
        </p:nvSpPr>
        <p:spPr>
          <a:xfrm>
            <a:off x="6199632" y="1243584"/>
            <a:ext cx="2596896"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03  </a:t>
            </a:r>
            <a:pPr indent="0" marL="0">
              <a:buNone/>
            </a:pPr>
            <a:r>
              <a:rPr lang="en-US" sz="650" b="1" spc="50" kern="0" dirty="0">
                <a:solidFill>
                  <a:srgbClr val="1B1B1B"/>
                </a:solidFill>
                <a:latin typeface="Arial" pitchFamily="34" charset="0"/>
                <a:ea typeface="Arial" pitchFamily="34" charset="-122"/>
                <a:cs typeface="Arial" pitchFamily="34" charset="-120"/>
              </a:rPr>
              <a:t>PROGRAM / ZONING</a:t>
            </a:r>
            <a:endParaRPr lang="en-US" sz="650" dirty="0"/>
          </a:p>
        </p:txBody>
      </p:sp>
      <p:sp>
        <p:nvSpPr>
          <p:cNvPr id="94" name="Text 92"/>
          <p:cNvSpPr txBox="1"/>
          <p:nvPr/>
        </p:nvSpPr>
        <p:spPr>
          <a:xfrm>
            <a:off x="6181344" y="1435608"/>
            <a:ext cx="411480" cy="299923"/>
          </a:xfrm>
          <a:prstGeom prst="rect">
            <a:avLst/>
          </a:prstGeom>
          <a:noFill/>
          <a:ln/>
        </p:spPr>
        <p:txBody>
          <a:bodyPr wrap="square" lIns="0" tIns="0" rIns="0" bIns="0" rtlCol="0" anchor="ctr"/>
          <a:lstStyle/>
          <a:p>
            <a:pPr indent="0" marL="0">
              <a:buNone/>
            </a:pPr>
            <a:r>
              <a:rPr lang="en-US" sz="500" b="1" dirty="0">
                <a:solidFill>
                  <a:srgbClr val="6B6B6B"/>
                </a:solidFill>
                <a:latin typeface="Arial" pitchFamily="34" charset="0"/>
                <a:ea typeface="Arial" pitchFamily="34" charset="-122"/>
                <a:cs typeface="Arial" pitchFamily="34" charset="-120"/>
              </a:rPr>
              <a:t>SUMMIT</a:t>
            </a:r>
            <a:endParaRPr lang="en-US" sz="500" dirty="0"/>
          </a:p>
        </p:txBody>
      </p:sp>
      <p:sp>
        <p:nvSpPr>
          <p:cNvPr id="95" name="Shape 93"/>
          <p:cNvSpPr/>
          <p:nvPr/>
        </p:nvSpPr>
        <p:spPr>
          <a:xfrm>
            <a:off x="6665976" y="1472184"/>
            <a:ext cx="2075688" cy="226771"/>
          </a:xfrm>
          <a:prstGeom prst="roundRect">
            <a:avLst>
              <a:gd name="adj" fmla="val 16129"/>
            </a:avLst>
          </a:prstGeom>
          <a:solidFill>
            <a:srgbClr val="FFFFFF"/>
          </a:solidFill>
          <a:ln w="9525">
            <a:solidFill>
              <a:srgbClr val="C4262E"/>
            </a:solidFill>
            <a:prstDash val="solid"/>
          </a:ln>
        </p:spPr>
      </p:sp>
      <p:sp>
        <p:nvSpPr>
          <p:cNvPr id="96" name="Text 94"/>
          <p:cNvSpPr txBox="1"/>
          <p:nvPr/>
        </p:nvSpPr>
        <p:spPr>
          <a:xfrm>
            <a:off x="6665976" y="1472184"/>
            <a:ext cx="2075688" cy="226771"/>
          </a:xfrm>
          <a:prstGeom prst="rect">
            <a:avLst/>
          </a:prstGeom>
          <a:noFill/>
          <a:ln/>
        </p:spPr>
        <p:txBody>
          <a:bodyPr wrap="square" lIns="0" tIns="0" rIns="0" bIns="0" rtlCol="0" anchor="ctr"/>
          <a:lstStyle/>
          <a:p>
            <a:pPr algn="ctr" indent="0" marL="0">
              <a:buNone/>
            </a:pPr>
            <a:r>
              <a:rPr lang="en-US" sz="500" b="1" dirty="0">
                <a:solidFill>
                  <a:srgbClr val="C4262E"/>
                </a:solidFill>
                <a:latin typeface="Arial" pitchFamily="34" charset="0"/>
                <a:ea typeface="Arial" pitchFamily="34" charset="-122"/>
                <a:cs typeface="Arial" pitchFamily="34" charset="-120"/>
              </a:rPr>
              <a:t>OPEN FORUM</a:t>
            </a:r>
            <a:endParaRPr lang="en-US" sz="500" dirty="0"/>
          </a:p>
        </p:txBody>
      </p:sp>
      <p:sp>
        <p:nvSpPr>
          <p:cNvPr id="97" name="Text 95"/>
          <p:cNvSpPr txBox="1"/>
          <p:nvPr/>
        </p:nvSpPr>
        <p:spPr>
          <a:xfrm>
            <a:off x="6181344" y="1735531"/>
            <a:ext cx="411480" cy="299923"/>
          </a:xfrm>
          <a:prstGeom prst="rect">
            <a:avLst/>
          </a:prstGeom>
          <a:noFill/>
          <a:ln/>
        </p:spPr>
        <p:txBody>
          <a:bodyPr wrap="square" lIns="0" tIns="0" rIns="0" bIns="0" rtlCol="0" anchor="ctr"/>
          <a:lstStyle/>
          <a:p>
            <a:pPr indent="0" marL="0">
              <a:buNone/>
            </a:pPr>
            <a:r>
              <a:rPr lang="en-US" sz="500" b="1" dirty="0">
                <a:solidFill>
                  <a:srgbClr val="6B6B6B"/>
                </a:solidFill>
                <a:latin typeface="Arial" pitchFamily="34" charset="0"/>
                <a:ea typeface="Arial" pitchFamily="34" charset="-122"/>
                <a:cs typeface="Arial" pitchFamily="34" charset="-120"/>
              </a:rPr>
              <a:t>UPPER</a:t>
            </a:r>
            <a:endParaRPr lang="en-US" sz="500" dirty="0"/>
          </a:p>
        </p:txBody>
      </p:sp>
      <p:sp>
        <p:nvSpPr>
          <p:cNvPr id="98" name="Shape 96"/>
          <p:cNvSpPr/>
          <p:nvPr/>
        </p:nvSpPr>
        <p:spPr>
          <a:xfrm>
            <a:off x="6665976" y="1772107"/>
            <a:ext cx="1010412" cy="226771"/>
          </a:xfrm>
          <a:prstGeom prst="roundRect">
            <a:avLst>
              <a:gd name="adj" fmla="val 16129"/>
            </a:avLst>
          </a:prstGeom>
          <a:solidFill>
            <a:srgbClr val="9A9A9A"/>
          </a:solidFill>
          <a:ln w="9525">
            <a:solidFill>
              <a:srgbClr val="9A9A9A"/>
            </a:solidFill>
            <a:prstDash val="solid"/>
          </a:ln>
        </p:spPr>
      </p:sp>
      <p:sp>
        <p:nvSpPr>
          <p:cNvPr id="99" name="Text 97"/>
          <p:cNvSpPr txBox="1"/>
          <p:nvPr/>
        </p:nvSpPr>
        <p:spPr>
          <a:xfrm>
            <a:off x="6665976" y="1772107"/>
            <a:ext cx="1010412" cy="226771"/>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MEDIA + RECORDING</a:t>
            </a:r>
            <a:endParaRPr lang="en-US" sz="500" dirty="0"/>
          </a:p>
        </p:txBody>
      </p:sp>
      <p:sp>
        <p:nvSpPr>
          <p:cNvPr id="100" name="Shape 98"/>
          <p:cNvSpPr/>
          <p:nvPr/>
        </p:nvSpPr>
        <p:spPr>
          <a:xfrm>
            <a:off x="7731252" y="1772107"/>
            <a:ext cx="1010412" cy="226771"/>
          </a:xfrm>
          <a:prstGeom prst="roundRect">
            <a:avLst>
              <a:gd name="adj" fmla="val 16129"/>
            </a:avLst>
          </a:prstGeom>
          <a:solidFill>
            <a:srgbClr val="9A9A9A"/>
          </a:solidFill>
          <a:ln w="9525">
            <a:solidFill>
              <a:srgbClr val="9A9A9A"/>
            </a:solidFill>
            <a:prstDash val="solid"/>
          </a:ln>
        </p:spPr>
      </p:sp>
      <p:sp>
        <p:nvSpPr>
          <p:cNvPr id="101" name="Text 99"/>
          <p:cNvSpPr txBox="1"/>
          <p:nvPr/>
        </p:nvSpPr>
        <p:spPr>
          <a:xfrm>
            <a:off x="7731252" y="1772107"/>
            <a:ext cx="1010412" cy="226771"/>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EDITORIAL · PUBLISHING</a:t>
            </a:r>
            <a:endParaRPr lang="en-US" sz="500" dirty="0"/>
          </a:p>
        </p:txBody>
      </p:sp>
      <p:sp>
        <p:nvSpPr>
          <p:cNvPr id="102" name="Text 100"/>
          <p:cNvSpPr txBox="1"/>
          <p:nvPr/>
        </p:nvSpPr>
        <p:spPr>
          <a:xfrm>
            <a:off x="6181344" y="2035454"/>
            <a:ext cx="411480" cy="299923"/>
          </a:xfrm>
          <a:prstGeom prst="rect">
            <a:avLst/>
          </a:prstGeom>
          <a:noFill/>
          <a:ln/>
        </p:spPr>
        <p:txBody>
          <a:bodyPr wrap="square" lIns="0" tIns="0" rIns="0" bIns="0" rtlCol="0" anchor="ctr"/>
          <a:lstStyle/>
          <a:p>
            <a:pPr indent="0" marL="0">
              <a:buNone/>
            </a:pPr>
            <a:r>
              <a:rPr lang="en-US" sz="500" b="1" dirty="0">
                <a:solidFill>
                  <a:srgbClr val="6B6B6B"/>
                </a:solidFill>
                <a:latin typeface="Arial" pitchFamily="34" charset="0"/>
                <a:ea typeface="Arial" pitchFamily="34" charset="-122"/>
                <a:cs typeface="Arial" pitchFamily="34" charset="-120"/>
              </a:rPr>
              <a:t>MIDDLE</a:t>
            </a:r>
            <a:endParaRPr lang="en-US" sz="500" dirty="0"/>
          </a:p>
        </p:txBody>
      </p:sp>
      <p:sp>
        <p:nvSpPr>
          <p:cNvPr id="103" name="Shape 101"/>
          <p:cNvSpPr/>
          <p:nvPr/>
        </p:nvSpPr>
        <p:spPr>
          <a:xfrm>
            <a:off x="6665976" y="2072030"/>
            <a:ext cx="1010412" cy="226771"/>
          </a:xfrm>
          <a:prstGeom prst="roundRect">
            <a:avLst>
              <a:gd name="adj" fmla="val 16129"/>
            </a:avLst>
          </a:prstGeom>
          <a:solidFill>
            <a:srgbClr val="1B1B1B"/>
          </a:solidFill>
          <a:ln w="9525">
            <a:solidFill>
              <a:srgbClr val="1B1B1B"/>
            </a:solidFill>
            <a:prstDash val="solid"/>
          </a:ln>
        </p:spPr>
      </p:sp>
      <p:sp>
        <p:nvSpPr>
          <p:cNvPr id="104" name="Text 102"/>
          <p:cNvSpPr txBox="1"/>
          <p:nvPr/>
        </p:nvSpPr>
        <p:spPr>
          <a:xfrm>
            <a:off x="6665976" y="2072030"/>
            <a:ext cx="1010412" cy="226771"/>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ARCHIVE</a:t>
            </a:r>
            <a:endParaRPr lang="en-US" sz="500" dirty="0"/>
          </a:p>
        </p:txBody>
      </p:sp>
      <p:sp>
        <p:nvSpPr>
          <p:cNvPr id="105" name="Shape 103"/>
          <p:cNvSpPr/>
          <p:nvPr/>
        </p:nvSpPr>
        <p:spPr>
          <a:xfrm>
            <a:off x="7731252" y="2072030"/>
            <a:ext cx="1010412" cy="226771"/>
          </a:xfrm>
          <a:prstGeom prst="roundRect">
            <a:avLst>
              <a:gd name="adj" fmla="val 16129"/>
            </a:avLst>
          </a:prstGeom>
          <a:solidFill>
            <a:srgbClr val="9A9A9A"/>
          </a:solidFill>
          <a:ln w="9525">
            <a:solidFill>
              <a:srgbClr val="9A9A9A"/>
            </a:solidFill>
            <a:prstDash val="solid"/>
          </a:ln>
        </p:spPr>
      </p:sp>
      <p:sp>
        <p:nvSpPr>
          <p:cNvPr id="106" name="Text 104"/>
          <p:cNvSpPr txBox="1"/>
          <p:nvPr/>
        </p:nvSpPr>
        <p:spPr>
          <a:xfrm>
            <a:off x="7731252" y="2072030"/>
            <a:ext cx="1010412" cy="226771"/>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RESEARCH STUDIOS</a:t>
            </a:r>
            <a:endParaRPr lang="en-US" sz="500" dirty="0"/>
          </a:p>
        </p:txBody>
      </p:sp>
      <p:sp>
        <p:nvSpPr>
          <p:cNvPr id="107" name="Text 105"/>
          <p:cNvSpPr txBox="1"/>
          <p:nvPr/>
        </p:nvSpPr>
        <p:spPr>
          <a:xfrm>
            <a:off x="6181344" y="2335378"/>
            <a:ext cx="411480" cy="299923"/>
          </a:xfrm>
          <a:prstGeom prst="rect">
            <a:avLst/>
          </a:prstGeom>
          <a:noFill/>
          <a:ln/>
        </p:spPr>
        <p:txBody>
          <a:bodyPr wrap="square" lIns="0" tIns="0" rIns="0" bIns="0" rtlCol="0" anchor="ctr"/>
          <a:lstStyle/>
          <a:p>
            <a:pPr indent="0" marL="0">
              <a:buNone/>
            </a:pPr>
            <a:r>
              <a:rPr lang="en-US" sz="500" b="1" dirty="0">
                <a:solidFill>
                  <a:srgbClr val="6B6B6B"/>
                </a:solidFill>
                <a:latin typeface="Arial" pitchFamily="34" charset="0"/>
                <a:ea typeface="Arial" pitchFamily="34" charset="-122"/>
                <a:cs typeface="Arial" pitchFamily="34" charset="-120"/>
              </a:rPr>
              <a:t>LOWER</a:t>
            </a:r>
            <a:endParaRPr lang="en-US" sz="500" dirty="0"/>
          </a:p>
        </p:txBody>
      </p:sp>
      <p:sp>
        <p:nvSpPr>
          <p:cNvPr id="108" name="Shape 106"/>
          <p:cNvSpPr/>
          <p:nvPr/>
        </p:nvSpPr>
        <p:spPr>
          <a:xfrm>
            <a:off x="6665976" y="2371954"/>
            <a:ext cx="1010412" cy="226771"/>
          </a:xfrm>
          <a:prstGeom prst="roundRect">
            <a:avLst>
              <a:gd name="adj" fmla="val 16129"/>
            </a:avLst>
          </a:prstGeom>
          <a:solidFill>
            <a:srgbClr val="F0B9BC"/>
          </a:solidFill>
          <a:ln w="9525">
            <a:solidFill>
              <a:srgbClr val="1B1B1B"/>
            </a:solidFill>
            <a:prstDash val="solid"/>
          </a:ln>
        </p:spPr>
      </p:sp>
      <p:sp>
        <p:nvSpPr>
          <p:cNvPr id="109" name="Text 107"/>
          <p:cNvSpPr txBox="1"/>
          <p:nvPr/>
        </p:nvSpPr>
        <p:spPr>
          <a:xfrm>
            <a:off x="6665976" y="2371954"/>
            <a:ext cx="1010412" cy="226771"/>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LIBRARY + READING</a:t>
            </a:r>
            <a:endParaRPr lang="en-US" sz="500" dirty="0"/>
          </a:p>
        </p:txBody>
      </p:sp>
      <p:sp>
        <p:nvSpPr>
          <p:cNvPr id="110" name="Shape 108"/>
          <p:cNvSpPr/>
          <p:nvPr/>
        </p:nvSpPr>
        <p:spPr>
          <a:xfrm>
            <a:off x="7731252" y="2371954"/>
            <a:ext cx="1010412" cy="226771"/>
          </a:xfrm>
          <a:prstGeom prst="roundRect">
            <a:avLst>
              <a:gd name="adj" fmla="val 16129"/>
            </a:avLst>
          </a:prstGeom>
          <a:solidFill>
            <a:srgbClr val="F0B9BC"/>
          </a:solidFill>
          <a:ln w="9525">
            <a:solidFill>
              <a:srgbClr val="1B1B1B"/>
            </a:solidFill>
            <a:prstDash val="solid"/>
          </a:ln>
        </p:spPr>
      </p:sp>
      <p:sp>
        <p:nvSpPr>
          <p:cNvPr id="111" name="Text 109"/>
          <p:cNvSpPr txBox="1"/>
          <p:nvPr/>
        </p:nvSpPr>
        <p:spPr>
          <a:xfrm>
            <a:off x="7731252" y="2371954"/>
            <a:ext cx="1010412" cy="226771"/>
          </a:xfrm>
          <a:prstGeom prst="rect">
            <a:avLst/>
          </a:prstGeom>
          <a:noFill/>
          <a:ln/>
        </p:spPr>
        <p:txBody>
          <a:bodyPr wrap="square" lIns="0" tIns="0" rIns="0" bIns="0" rtlCol="0" anchor="ctr"/>
          <a:lstStyle/>
          <a:p>
            <a:pPr algn="ctr" indent="0" marL="0">
              <a:buNone/>
            </a:pPr>
            <a:r>
              <a:rPr lang="en-US" sz="500" b="1" dirty="0">
                <a:solidFill>
                  <a:srgbClr val="1B1B1B"/>
                </a:solidFill>
                <a:latin typeface="Arial" pitchFamily="34" charset="0"/>
                <a:ea typeface="Arial" pitchFamily="34" charset="-122"/>
                <a:cs typeface="Arial" pitchFamily="34" charset="-120"/>
              </a:rPr>
              <a:t>WORKSHOPS · EDUCATION</a:t>
            </a:r>
            <a:endParaRPr lang="en-US" sz="500" dirty="0"/>
          </a:p>
        </p:txBody>
      </p:sp>
      <p:sp>
        <p:nvSpPr>
          <p:cNvPr id="112" name="Text 110"/>
          <p:cNvSpPr txBox="1"/>
          <p:nvPr/>
        </p:nvSpPr>
        <p:spPr>
          <a:xfrm>
            <a:off x="6181344" y="2635301"/>
            <a:ext cx="411480" cy="299923"/>
          </a:xfrm>
          <a:prstGeom prst="rect">
            <a:avLst/>
          </a:prstGeom>
          <a:noFill/>
          <a:ln/>
        </p:spPr>
        <p:txBody>
          <a:bodyPr wrap="square" lIns="0" tIns="0" rIns="0" bIns="0" rtlCol="0" anchor="ctr"/>
          <a:lstStyle/>
          <a:p>
            <a:pPr indent="0" marL="0">
              <a:buNone/>
            </a:pPr>
            <a:r>
              <a:rPr lang="en-US" sz="500" b="1" dirty="0">
                <a:solidFill>
                  <a:srgbClr val="6B6B6B"/>
                </a:solidFill>
                <a:latin typeface="Arial" pitchFamily="34" charset="0"/>
                <a:ea typeface="Arial" pitchFamily="34" charset="-122"/>
                <a:cs typeface="Arial" pitchFamily="34" charset="-120"/>
              </a:rPr>
              <a:t>EDGE</a:t>
            </a:r>
            <a:endParaRPr lang="en-US" sz="500" dirty="0"/>
          </a:p>
        </p:txBody>
      </p:sp>
      <p:sp>
        <p:nvSpPr>
          <p:cNvPr id="113" name="Shape 111"/>
          <p:cNvSpPr/>
          <p:nvPr/>
        </p:nvSpPr>
        <p:spPr>
          <a:xfrm>
            <a:off x="6665976" y="2671877"/>
            <a:ext cx="655320" cy="226771"/>
          </a:xfrm>
          <a:prstGeom prst="roundRect">
            <a:avLst>
              <a:gd name="adj" fmla="val 16129"/>
            </a:avLst>
          </a:prstGeom>
          <a:solidFill>
            <a:srgbClr val="C4262E"/>
          </a:solidFill>
          <a:ln w="9525">
            <a:solidFill>
              <a:srgbClr val="C4262E"/>
            </a:solidFill>
            <a:prstDash val="solid"/>
          </a:ln>
        </p:spPr>
      </p:sp>
      <p:sp>
        <p:nvSpPr>
          <p:cNvPr id="114" name="Text 112"/>
          <p:cNvSpPr txBox="1"/>
          <p:nvPr/>
        </p:nvSpPr>
        <p:spPr>
          <a:xfrm>
            <a:off x="6665976" y="2671877"/>
            <a:ext cx="655320" cy="226771"/>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FORUM · PRESS</a:t>
            </a:r>
            <a:endParaRPr lang="en-US" sz="500" dirty="0"/>
          </a:p>
        </p:txBody>
      </p:sp>
      <p:sp>
        <p:nvSpPr>
          <p:cNvPr id="115" name="Shape 113"/>
          <p:cNvSpPr/>
          <p:nvPr/>
        </p:nvSpPr>
        <p:spPr>
          <a:xfrm>
            <a:off x="7376160" y="2671877"/>
            <a:ext cx="655320" cy="226771"/>
          </a:xfrm>
          <a:prstGeom prst="roundRect">
            <a:avLst>
              <a:gd name="adj" fmla="val 16129"/>
            </a:avLst>
          </a:prstGeom>
          <a:solidFill>
            <a:srgbClr val="C4262E"/>
          </a:solidFill>
          <a:ln w="9525">
            <a:solidFill>
              <a:srgbClr val="C4262E"/>
            </a:solidFill>
            <a:prstDash val="solid"/>
          </a:ln>
        </p:spPr>
      </p:sp>
      <p:sp>
        <p:nvSpPr>
          <p:cNvPr id="116" name="Text 114"/>
          <p:cNvSpPr txBox="1"/>
          <p:nvPr/>
        </p:nvSpPr>
        <p:spPr>
          <a:xfrm>
            <a:off x="7376160" y="2671877"/>
            <a:ext cx="655320" cy="226771"/>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EXHIBITION · AUDITORIUM</a:t>
            </a:r>
            <a:endParaRPr lang="en-US" sz="500" dirty="0"/>
          </a:p>
        </p:txBody>
      </p:sp>
      <p:sp>
        <p:nvSpPr>
          <p:cNvPr id="117" name="Shape 115"/>
          <p:cNvSpPr/>
          <p:nvPr/>
        </p:nvSpPr>
        <p:spPr>
          <a:xfrm>
            <a:off x="8086344" y="2671877"/>
            <a:ext cx="655320" cy="226771"/>
          </a:xfrm>
          <a:prstGeom prst="roundRect">
            <a:avLst>
              <a:gd name="adj" fmla="val 16129"/>
            </a:avLst>
          </a:prstGeom>
          <a:solidFill>
            <a:srgbClr val="9A9A9A"/>
          </a:solidFill>
          <a:ln w="9525">
            <a:solidFill>
              <a:srgbClr val="9A9A9A"/>
            </a:solidFill>
            <a:prstDash val="solid"/>
          </a:ln>
        </p:spPr>
      </p:sp>
      <p:sp>
        <p:nvSpPr>
          <p:cNvPr id="118" name="Text 116"/>
          <p:cNvSpPr txBox="1"/>
          <p:nvPr/>
        </p:nvSpPr>
        <p:spPr>
          <a:xfrm>
            <a:off x="8086344" y="2671877"/>
            <a:ext cx="655320" cy="226771"/>
          </a:xfrm>
          <a:prstGeom prst="rect">
            <a:avLst/>
          </a:prstGeom>
          <a:no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PRINT · DISPATCH</a:t>
            </a:r>
            <a:endParaRPr lang="en-US" sz="500" dirty="0"/>
          </a:p>
        </p:txBody>
      </p:sp>
      <p:sp>
        <p:nvSpPr>
          <p:cNvPr id="119" name="Shape 117"/>
          <p:cNvSpPr/>
          <p:nvPr/>
        </p:nvSpPr>
        <p:spPr>
          <a:xfrm>
            <a:off x="8791956" y="1481328"/>
            <a:ext cx="9144" cy="1453896"/>
          </a:xfrm>
          <a:custGeom>
            <a:avLst/>
            <a:gdLst/>
            <a:ahLst/>
            <a:cxnLst/>
            <a:rect l="l" t="t" r="r" b="b"/>
            <a:pathLst>
              <a:path w="9144" h="1453896">
                <a:moveTo>
                  <a:pt x="4572" y="1453896"/>
                </a:moveTo>
                <a:lnTo>
                  <a:pt x="4572" y="0"/>
                </a:lnTo>
              </a:path>
            </a:pathLst>
          </a:custGeom>
          <a:ln w="15875">
            <a:solidFill>
              <a:srgbClr val="C4262E"/>
            </a:solidFill>
            <a:prstDash val="solid"/>
            <a:tailEnd type="triangle"/>
          </a:ln>
        </p:spPr>
      </p:sp>
      <p:sp>
        <p:nvSpPr>
          <p:cNvPr id="120" name="Shape 118"/>
          <p:cNvSpPr/>
          <p:nvPr/>
        </p:nvSpPr>
        <p:spPr>
          <a:xfrm>
            <a:off x="8961120" y="1188720"/>
            <a:ext cx="2743200" cy="1828800"/>
          </a:xfrm>
          <a:prstGeom prst="rect">
            <a:avLst/>
          </a:prstGeom>
          <a:solidFill>
            <a:srgbClr val="FFFFFF"/>
          </a:solidFill>
          <a:ln w="6350">
            <a:solidFill>
              <a:srgbClr val="D9D9D9"/>
            </a:solidFill>
            <a:prstDash val="solid"/>
          </a:ln>
        </p:spPr>
      </p:sp>
      <p:sp>
        <p:nvSpPr>
          <p:cNvPr id="121" name="Text 119"/>
          <p:cNvSpPr txBox="1"/>
          <p:nvPr/>
        </p:nvSpPr>
        <p:spPr>
          <a:xfrm>
            <a:off x="9034272" y="1243584"/>
            <a:ext cx="2596896"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04  </a:t>
            </a:r>
            <a:pPr indent="0" marL="0">
              <a:buNone/>
            </a:pPr>
            <a:r>
              <a:rPr lang="en-US" sz="650" b="1" spc="50" kern="0" dirty="0">
                <a:solidFill>
                  <a:srgbClr val="1B1B1B"/>
                </a:solidFill>
                <a:latin typeface="Arial" pitchFamily="34" charset="0"/>
                <a:ea typeface="Arial" pitchFamily="34" charset="-122"/>
                <a:cs typeface="Arial" pitchFamily="34" charset="-120"/>
              </a:rPr>
              <a:t>CIRCULATION</a:t>
            </a:r>
            <a:endParaRPr lang="en-US" sz="650" dirty="0"/>
          </a:p>
        </p:txBody>
      </p:sp>
      <p:sp>
        <p:nvSpPr>
          <p:cNvPr id="122" name="Shape 120"/>
          <p:cNvSpPr/>
          <p:nvPr/>
        </p:nvSpPr>
        <p:spPr>
          <a:xfrm>
            <a:off x="9294411" y="1557494"/>
            <a:ext cx="2076619" cy="1301563"/>
          </a:xfrm>
          <a:custGeom>
            <a:avLst/>
            <a:gdLst/>
            <a:ahLst/>
            <a:cxnLst/>
            <a:rect l="l" t="t" r="r" b="b"/>
            <a:pathLst>
              <a:path w="2076619" h="1301563">
                <a:moveTo>
                  <a:pt x="2055533" y="1103679"/>
                </a:moveTo>
                <a:lnTo>
                  <a:pt x="2028184" y="1150109"/>
                </a:lnTo>
                <a:lnTo>
                  <a:pt x="1989989" y="1191068"/>
                </a:lnTo>
                <a:lnTo>
                  <a:pt x="1941368" y="1226108"/>
                </a:lnTo>
                <a:lnTo>
                  <a:pt x="1882853" y="1254845"/>
                </a:lnTo>
                <a:lnTo>
                  <a:pt x="1815084" y="1276963"/>
                </a:lnTo>
                <a:lnTo>
                  <a:pt x="1738806" y="1292221"/>
                </a:lnTo>
                <a:lnTo>
                  <a:pt x="1654852" y="1300451"/>
                </a:lnTo>
                <a:lnTo>
                  <a:pt x="1564143" y="1301563"/>
                </a:lnTo>
                <a:lnTo>
                  <a:pt x="1467674" y="1295545"/>
                </a:lnTo>
                <a:lnTo>
                  <a:pt x="1366500" y="1282463"/>
                </a:lnTo>
                <a:lnTo>
                  <a:pt x="1261730" y="1262460"/>
                </a:lnTo>
                <a:lnTo>
                  <a:pt x="1154513" y="1235755"/>
                </a:lnTo>
                <a:lnTo>
                  <a:pt x="1046022" y="1202642"/>
                </a:lnTo>
                <a:lnTo>
                  <a:pt x="937447" y="1163482"/>
                </a:lnTo>
                <a:lnTo>
                  <a:pt x="829977" y="1118704"/>
                </a:lnTo>
                <a:lnTo>
                  <a:pt x="724789" y="1068800"/>
                </a:lnTo>
                <a:lnTo>
                  <a:pt x="623037" y="1014317"/>
                </a:lnTo>
                <a:lnTo>
                  <a:pt x="525834" y="955850"/>
                </a:lnTo>
                <a:lnTo>
                  <a:pt x="434246" y="894041"/>
                </a:lnTo>
                <a:lnTo>
                  <a:pt x="349276" y="829566"/>
                </a:lnTo>
                <a:lnTo>
                  <a:pt x="271856" y="763133"/>
                </a:lnTo>
                <a:lnTo>
                  <a:pt x="202833" y="695469"/>
                </a:lnTo>
                <a:lnTo>
                  <a:pt x="142963" y="627315"/>
                </a:lnTo>
                <a:lnTo>
                  <a:pt x="92904" y="559418"/>
                </a:lnTo>
                <a:lnTo>
                  <a:pt x="53202" y="492523"/>
                </a:lnTo>
                <a:lnTo>
                  <a:pt x="24293" y="427361"/>
                </a:lnTo>
                <a:lnTo>
                  <a:pt x="6494" y="364647"/>
                </a:lnTo>
                <a:lnTo>
                  <a:pt x="0" y="305068"/>
                </a:lnTo>
                <a:lnTo>
                  <a:pt x="4882" y="249277"/>
                </a:lnTo>
                <a:lnTo>
                  <a:pt x="21086" y="197885"/>
                </a:lnTo>
                <a:lnTo>
                  <a:pt x="48435" y="151454"/>
                </a:lnTo>
                <a:lnTo>
                  <a:pt x="86630" y="110495"/>
                </a:lnTo>
                <a:lnTo>
                  <a:pt x="135251" y="75455"/>
                </a:lnTo>
                <a:lnTo>
                  <a:pt x="193766" y="46718"/>
                </a:lnTo>
                <a:lnTo>
                  <a:pt x="261534" y="24600"/>
                </a:lnTo>
                <a:lnTo>
                  <a:pt x="337813" y="9342"/>
                </a:lnTo>
                <a:lnTo>
                  <a:pt x="421767" y="1112"/>
                </a:lnTo>
                <a:lnTo>
                  <a:pt x="512475" y="0"/>
                </a:lnTo>
                <a:lnTo>
                  <a:pt x="608945" y="6018"/>
                </a:lnTo>
                <a:lnTo>
                  <a:pt x="710119" y="19100"/>
                </a:lnTo>
                <a:lnTo>
                  <a:pt x="814889" y="39103"/>
                </a:lnTo>
                <a:lnTo>
                  <a:pt x="922106" y="65808"/>
                </a:lnTo>
                <a:lnTo>
                  <a:pt x="1030597" y="98922"/>
                </a:lnTo>
                <a:lnTo>
                  <a:pt x="1139172" y="138082"/>
                </a:lnTo>
                <a:lnTo>
                  <a:pt x="1246642" y="182859"/>
                </a:lnTo>
                <a:lnTo>
                  <a:pt x="1351830" y="232763"/>
                </a:lnTo>
                <a:lnTo>
                  <a:pt x="1453582" y="287247"/>
                </a:lnTo>
                <a:lnTo>
                  <a:pt x="1550785" y="345714"/>
                </a:lnTo>
                <a:lnTo>
                  <a:pt x="1642373" y="407523"/>
                </a:lnTo>
                <a:lnTo>
                  <a:pt x="1727342" y="471997"/>
                </a:lnTo>
                <a:lnTo>
                  <a:pt x="1804763" y="538430"/>
                </a:lnTo>
                <a:lnTo>
                  <a:pt x="1873786" y="606095"/>
                </a:lnTo>
                <a:lnTo>
                  <a:pt x="1933655" y="674248"/>
                </a:lnTo>
                <a:lnTo>
                  <a:pt x="1983715" y="742145"/>
                </a:lnTo>
                <a:lnTo>
                  <a:pt x="2023417" y="809041"/>
                </a:lnTo>
                <a:lnTo>
                  <a:pt x="2052326" y="874202"/>
                </a:lnTo>
                <a:lnTo>
                  <a:pt x="2070125" y="936916"/>
                </a:lnTo>
                <a:lnTo>
                  <a:pt x="2076619" y="996495"/>
                </a:lnTo>
                <a:lnTo>
                  <a:pt x="2071737" y="1052286"/>
                </a:lnTo>
                <a:close/>
              </a:path>
            </a:pathLst>
          </a:custGeom>
          <a:solidFill>
            <a:srgbClr val="E4E4E4"/>
          </a:solidFill>
          <a:ln w="12700"/>
        </p:spPr>
      </p:sp>
      <p:sp>
        <p:nvSpPr>
          <p:cNvPr id="123" name="Shape 121"/>
          <p:cNvSpPr/>
          <p:nvPr/>
        </p:nvSpPr>
        <p:spPr>
          <a:xfrm>
            <a:off x="9015984" y="1709659"/>
            <a:ext cx="299513" cy="45720"/>
          </a:xfrm>
          <a:custGeom>
            <a:avLst/>
            <a:gdLst/>
            <a:ahLst/>
            <a:cxnLst/>
            <a:rect l="l" t="t" r="r" b="b"/>
            <a:pathLst>
              <a:path w="299513" h="45720">
                <a:moveTo>
                  <a:pt x="299513" y="45720"/>
                </a:moveTo>
                <a:lnTo>
                  <a:pt x="0" y="0"/>
                </a:lnTo>
              </a:path>
            </a:pathLst>
          </a:custGeom>
          <a:ln w="76200">
            <a:solidFill>
              <a:srgbClr val="E4E4E4"/>
            </a:solidFill>
            <a:prstDash val="solid"/>
          </a:ln>
        </p:spPr>
      </p:sp>
      <p:sp>
        <p:nvSpPr>
          <p:cNvPr id="124" name="Shape 122"/>
          <p:cNvSpPr/>
          <p:nvPr/>
        </p:nvSpPr>
        <p:spPr>
          <a:xfrm>
            <a:off x="11349943" y="2661173"/>
            <a:ext cx="299513" cy="45720"/>
          </a:xfrm>
          <a:custGeom>
            <a:avLst/>
            <a:gdLst/>
            <a:ahLst/>
            <a:cxnLst/>
            <a:rect l="l" t="t" r="r" b="b"/>
            <a:pathLst>
              <a:path w="299513" h="45720">
                <a:moveTo>
                  <a:pt x="0" y="0"/>
                </a:moveTo>
                <a:lnTo>
                  <a:pt x="299513" y="45720"/>
                </a:lnTo>
              </a:path>
            </a:pathLst>
          </a:custGeom>
          <a:ln w="76200">
            <a:solidFill>
              <a:srgbClr val="E4E4E4"/>
            </a:solidFill>
            <a:prstDash val="solid"/>
          </a:ln>
        </p:spPr>
      </p:sp>
      <p:sp>
        <p:nvSpPr>
          <p:cNvPr id="125" name="Shape 123"/>
          <p:cNvSpPr/>
          <p:nvPr/>
        </p:nvSpPr>
        <p:spPr>
          <a:xfrm>
            <a:off x="9467462" y="1665958"/>
            <a:ext cx="1730516" cy="1084636"/>
          </a:xfrm>
          <a:custGeom>
            <a:avLst/>
            <a:gdLst/>
            <a:ahLst/>
            <a:cxnLst/>
            <a:rect l="l" t="t" r="r" b="b"/>
            <a:pathLst>
              <a:path w="1730516" h="1084636">
                <a:moveTo>
                  <a:pt x="1712944" y="919732"/>
                </a:moveTo>
                <a:lnTo>
                  <a:pt x="1690153" y="958424"/>
                </a:lnTo>
                <a:lnTo>
                  <a:pt x="1658324" y="992557"/>
                </a:lnTo>
                <a:lnTo>
                  <a:pt x="1617807" y="1021757"/>
                </a:lnTo>
                <a:lnTo>
                  <a:pt x="1569044" y="1045704"/>
                </a:lnTo>
                <a:lnTo>
                  <a:pt x="1512570" y="1064136"/>
                </a:lnTo>
                <a:lnTo>
                  <a:pt x="1449005" y="1076851"/>
                </a:lnTo>
                <a:lnTo>
                  <a:pt x="1379043" y="1083709"/>
                </a:lnTo>
                <a:lnTo>
                  <a:pt x="1303453" y="1084636"/>
                </a:lnTo>
                <a:lnTo>
                  <a:pt x="1223061" y="1079621"/>
                </a:lnTo>
                <a:lnTo>
                  <a:pt x="1138750" y="1068719"/>
                </a:lnTo>
                <a:lnTo>
                  <a:pt x="1051442" y="1052050"/>
                </a:lnTo>
                <a:lnTo>
                  <a:pt x="962094" y="1029796"/>
                </a:lnTo>
                <a:lnTo>
                  <a:pt x="871685" y="1002201"/>
                </a:lnTo>
                <a:lnTo>
                  <a:pt x="781206" y="969568"/>
                </a:lnTo>
                <a:lnTo>
                  <a:pt x="691647" y="932254"/>
                </a:lnTo>
                <a:lnTo>
                  <a:pt x="603991" y="890667"/>
                </a:lnTo>
                <a:lnTo>
                  <a:pt x="519197" y="845264"/>
                </a:lnTo>
                <a:lnTo>
                  <a:pt x="438195" y="796541"/>
                </a:lnTo>
                <a:lnTo>
                  <a:pt x="361872" y="745034"/>
                </a:lnTo>
                <a:lnTo>
                  <a:pt x="291064" y="691305"/>
                </a:lnTo>
                <a:lnTo>
                  <a:pt x="226547" y="635944"/>
                </a:lnTo>
                <a:lnTo>
                  <a:pt x="169027" y="579557"/>
                </a:lnTo>
                <a:lnTo>
                  <a:pt x="119136" y="522762"/>
                </a:lnTo>
                <a:lnTo>
                  <a:pt x="77420" y="466182"/>
                </a:lnTo>
                <a:lnTo>
                  <a:pt x="44335" y="410436"/>
                </a:lnTo>
                <a:lnTo>
                  <a:pt x="20244" y="356134"/>
                </a:lnTo>
                <a:lnTo>
                  <a:pt x="5412" y="303873"/>
                </a:lnTo>
                <a:lnTo>
                  <a:pt x="0" y="254223"/>
                </a:lnTo>
                <a:lnTo>
                  <a:pt x="4068" y="207731"/>
                </a:lnTo>
                <a:lnTo>
                  <a:pt x="17572" y="164904"/>
                </a:lnTo>
                <a:lnTo>
                  <a:pt x="40363" y="126212"/>
                </a:lnTo>
                <a:lnTo>
                  <a:pt x="72191" y="92079"/>
                </a:lnTo>
                <a:lnTo>
                  <a:pt x="112709" y="62879"/>
                </a:lnTo>
                <a:lnTo>
                  <a:pt x="161472" y="38932"/>
                </a:lnTo>
                <a:lnTo>
                  <a:pt x="217945" y="20500"/>
                </a:lnTo>
                <a:lnTo>
                  <a:pt x="281511" y="7785"/>
                </a:lnTo>
                <a:lnTo>
                  <a:pt x="351472" y="927"/>
                </a:lnTo>
                <a:lnTo>
                  <a:pt x="427063" y="0"/>
                </a:lnTo>
                <a:lnTo>
                  <a:pt x="507454" y="5015"/>
                </a:lnTo>
                <a:lnTo>
                  <a:pt x="591766" y="15917"/>
                </a:lnTo>
                <a:lnTo>
                  <a:pt x="679074" y="32586"/>
                </a:lnTo>
                <a:lnTo>
                  <a:pt x="768422" y="54840"/>
                </a:lnTo>
                <a:lnTo>
                  <a:pt x="858831" y="82435"/>
                </a:lnTo>
                <a:lnTo>
                  <a:pt x="949310" y="115068"/>
                </a:lnTo>
                <a:lnTo>
                  <a:pt x="1038868" y="152382"/>
                </a:lnTo>
                <a:lnTo>
                  <a:pt x="1126525" y="193969"/>
                </a:lnTo>
                <a:lnTo>
                  <a:pt x="1211318" y="239372"/>
                </a:lnTo>
                <a:lnTo>
                  <a:pt x="1292321" y="288095"/>
                </a:lnTo>
                <a:lnTo>
                  <a:pt x="1368644" y="339602"/>
                </a:lnTo>
                <a:lnTo>
                  <a:pt x="1439452" y="393331"/>
                </a:lnTo>
                <a:lnTo>
                  <a:pt x="1503969" y="448692"/>
                </a:lnTo>
                <a:lnTo>
                  <a:pt x="1561488" y="505079"/>
                </a:lnTo>
                <a:lnTo>
                  <a:pt x="1611380" y="561874"/>
                </a:lnTo>
                <a:lnTo>
                  <a:pt x="1653096" y="618454"/>
                </a:lnTo>
                <a:lnTo>
                  <a:pt x="1686181" y="674200"/>
                </a:lnTo>
                <a:lnTo>
                  <a:pt x="1710271" y="728502"/>
                </a:lnTo>
                <a:lnTo>
                  <a:pt x="1725104" y="780764"/>
                </a:lnTo>
                <a:lnTo>
                  <a:pt x="1730516" y="830413"/>
                </a:lnTo>
                <a:lnTo>
                  <a:pt x="1726448" y="876905"/>
                </a:lnTo>
                <a:close/>
              </a:path>
            </a:pathLst>
          </a:custGeom>
          <a:solidFill>
            <a:srgbClr val="FFFFFF"/>
          </a:solidFill>
          <a:ln w="19050">
            <a:solidFill>
              <a:srgbClr val="1B1B1B"/>
            </a:solidFill>
            <a:prstDash val="solid"/>
          </a:ln>
        </p:spPr>
      </p:sp>
      <p:sp>
        <p:nvSpPr>
          <p:cNvPr id="126" name="Shape 124"/>
          <p:cNvSpPr/>
          <p:nvPr/>
        </p:nvSpPr>
        <p:spPr>
          <a:xfrm rot="169550">
            <a:off x="10499517" y="2757859"/>
            <a:ext cx="575303" cy="85368"/>
          </a:xfrm>
          <a:prstGeom prst="rect">
            <a:avLst/>
          </a:prstGeom>
          <a:solidFill>
            <a:srgbClr val="C4262E"/>
          </a:solidFill>
          <a:ln/>
        </p:spPr>
      </p:sp>
      <p:sp>
        <p:nvSpPr>
          <p:cNvPr id="127" name="Shape 125"/>
          <p:cNvSpPr/>
          <p:nvPr/>
        </p:nvSpPr>
        <p:spPr>
          <a:xfrm rot="2669841">
            <a:off x="9515761" y="2227157"/>
            <a:ext cx="510349" cy="85368"/>
          </a:xfrm>
          <a:prstGeom prst="rect">
            <a:avLst/>
          </a:prstGeom>
          <a:solidFill>
            <a:srgbClr val="F0B9BC"/>
          </a:solidFill>
          <a:ln w="6350">
            <a:solidFill>
              <a:srgbClr val="1B1B1B"/>
            </a:solidFill>
            <a:prstDash val="solid"/>
          </a:ln>
        </p:spPr>
      </p:sp>
      <p:sp>
        <p:nvSpPr>
          <p:cNvPr id="128" name="Shape 126"/>
          <p:cNvSpPr/>
          <p:nvPr/>
        </p:nvSpPr>
        <p:spPr>
          <a:xfrm rot="-1236591">
            <a:off x="9700447" y="1835127"/>
            <a:ext cx="426838" cy="85368"/>
          </a:xfrm>
          <a:prstGeom prst="rect">
            <a:avLst/>
          </a:prstGeom>
          <a:solidFill>
            <a:srgbClr val="1B1B1B"/>
          </a:solidFill>
          <a:ln/>
        </p:spPr>
      </p:sp>
      <p:sp>
        <p:nvSpPr>
          <p:cNvPr id="129" name="Shape 127"/>
          <p:cNvSpPr/>
          <p:nvPr/>
        </p:nvSpPr>
        <p:spPr>
          <a:xfrm rot="1650735">
            <a:off x="10367121" y="2019856"/>
            <a:ext cx="334047" cy="85368"/>
          </a:xfrm>
          <a:prstGeom prst="rect">
            <a:avLst/>
          </a:prstGeom>
          <a:solidFill>
            <a:srgbClr val="9A9A9A"/>
          </a:solidFill>
          <a:ln/>
        </p:spPr>
      </p:sp>
      <p:sp>
        <p:nvSpPr>
          <p:cNvPr id="130" name="Shape 128"/>
          <p:cNvSpPr/>
          <p:nvPr/>
        </p:nvSpPr>
        <p:spPr>
          <a:xfrm rot="173647">
            <a:off x="9804276" y="1686954"/>
            <a:ext cx="315489" cy="68294"/>
          </a:xfrm>
          <a:prstGeom prst="rect">
            <a:avLst/>
          </a:prstGeom>
          <a:solidFill>
            <a:srgbClr val="9A9A9A"/>
          </a:solidFill>
          <a:ln/>
        </p:spPr>
      </p:sp>
      <p:sp>
        <p:nvSpPr>
          <p:cNvPr id="131" name="Shape 129"/>
          <p:cNvSpPr/>
          <p:nvPr/>
        </p:nvSpPr>
        <p:spPr>
          <a:xfrm>
            <a:off x="9770861" y="1927994"/>
            <a:ext cx="1110385" cy="830839"/>
          </a:xfrm>
          <a:custGeom>
            <a:avLst/>
            <a:gdLst/>
            <a:ahLst/>
            <a:cxnLst/>
            <a:rect l="l" t="t" r="r" b="b"/>
            <a:pathLst>
              <a:path w="1110385" h="830839">
                <a:moveTo>
                  <a:pt x="1110385" y="830839"/>
                </a:moveTo>
                <a:lnTo>
                  <a:pt x="998043" y="821610"/>
                </a:lnTo>
                <a:lnTo>
                  <a:pt x="881552" y="801328"/>
                </a:lnTo>
                <a:lnTo>
                  <a:pt x="763724" y="770923"/>
                </a:lnTo>
                <a:lnTo>
                  <a:pt x="647292" y="731522"/>
                </a:lnTo>
                <a:lnTo>
                  <a:pt x="534847" y="684413"/>
                </a:lnTo>
                <a:lnTo>
                  <a:pt x="428784" y="631013"/>
                </a:lnTo>
                <a:lnTo>
                  <a:pt x="331248" y="572826"/>
                </a:lnTo>
                <a:lnTo>
                  <a:pt x="244096" y="511403"/>
                </a:lnTo>
                <a:lnTo>
                  <a:pt x="168861" y="448310"/>
                </a:lnTo>
                <a:lnTo>
                  <a:pt x="106725" y="385080"/>
                </a:lnTo>
                <a:lnTo>
                  <a:pt x="58506" y="323183"/>
                </a:lnTo>
                <a:lnTo>
                  <a:pt x="24652" y="263992"/>
                </a:lnTo>
                <a:lnTo>
                  <a:pt x="5243" y="208751"/>
                </a:lnTo>
                <a:lnTo>
                  <a:pt x="0" y="158549"/>
                </a:lnTo>
                <a:lnTo>
                  <a:pt x="8313" y="114300"/>
                </a:lnTo>
                <a:lnTo>
                  <a:pt x="29264" y="76728"/>
                </a:lnTo>
                <a:lnTo>
                  <a:pt x="61663" y="46352"/>
                </a:lnTo>
                <a:lnTo>
                  <a:pt x="104092" y="23486"/>
                </a:lnTo>
                <a:lnTo>
                  <a:pt x="154949" y="8234"/>
                </a:lnTo>
                <a:lnTo>
                  <a:pt x="212494" y="501"/>
                </a:lnTo>
                <a:lnTo>
                  <a:pt x="274909" y="0"/>
                </a:lnTo>
                <a:lnTo>
                  <a:pt x="340339" y="6267"/>
                </a:lnTo>
                <a:lnTo>
                  <a:pt x="406952" y="18685"/>
                </a:lnTo>
                <a:lnTo>
                  <a:pt x="472981" y="36501"/>
                </a:lnTo>
                <a:lnTo>
                  <a:pt x="536773" y="58856"/>
                </a:lnTo>
                <a:lnTo>
                  <a:pt x="596833" y="84814"/>
                </a:lnTo>
                <a:lnTo>
                  <a:pt x="651851" y="113388"/>
                </a:lnTo>
                <a:lnTo>
                  <a:pt x="700741" y="143570"/>
                </a:lnTo>
                <a:lnTo>
                  <a:pt x="742657" y="174366"/>
                </a:lnTo>
                <a:lnTo>
                  <a:pt x="777012" y="204818"/>
                </a:lnTo>
                <a:lnTo>
                  <a:pt x="803480" y="234034"/>
                </a:lnTo>
                <a:lnTo>
                  <a:pt x="822003" y="261210"/>
                </a:lnTo>
                <a:lnTo>
                  <a:pt x="832779" y="285655"/>
                </a:lnTo>
                <a:lnTo>
                  <a:pt x="836245" y="306804"/>
                </a:lnTo>
                <a:lnTo>
                  <a:pt x="833059" y="324231"/>
                </a:lnTo>
                <a:lnTo>
                  <a:pt x="824072" y="337663"/>
                </a:lnTo>
                <a:lnTo>
                  <a:pt x="810291" y="346977"/>
                </a:lnTo>
                <a:lnTo>
                  <a:pt x="792848" y="352204"/>
                </a:lnTo>
                <a:lnTo>
                  <a:pt x="772956" y="353524"/>
                </a:lnTo>
                <a:lnTo>
                  <a:pt x="751868" y="351254"/>
                </a:lnTo>
              </a:path>
            </a:pathLst>
          </a:custGeom>
          <a:ln w="25400">
            <a:solidFill>
              <a:srgbClr val="C4262E"/>
            </a:solidFill>
            <a:prstDash val="solid"/>
            <a:tailEnd type="triangle"/>
          </a:ln>
        </p:spPr>
      </p:sp>
      <p:sp>
        <p:nvSpPr>
          <p:cNvPr id="132" name="Shape 130"/>
          <p:cNvSpPr/>
          <p:nvPr/>
        </p:nvSpPr>
        <p:spPr>
          <a:xfrm>
            <a:off x="10454434" y="2210954"/>
            <a:ext cx="136588" cy="136588"/>
          </a:xfrm>
          <a:prstGeom prst="ellipse">
            <a:avLst/>
          </a:prstGeom>
          <a:solidFill>
            <a:srgbClr val="FFFFFF"/>
          </a:solidFill>
          <a:ln w="19050">
            <a:solidFill>
              <a:srgbClr val="C4262E"/>
            </a:solidFill>
            <a:prstDash val="solid"/>
          </a:ln>
        </p:spPr>
      </p:sp>
      <p:sp>
        <p:nvSpPr>
          <p:cNvPr id="133" name="Shape 131"/>
          <p:cNvSpPr/>
          <p:nvPr/>
        </p:nvSpPr>
        <p:spPr>
          <a:xfrm>
            <a:off x="9846980" y="2132180"/>
            <a:ext cx="864139" cy="665577"/>
          </a:xfrm>
          <a:custGeom>
            <a:avLst/>
            <a:gdLst/>
            <a:ahLst/>
            <a:cxnLst/>
            <a:rect l="l" t="t" r="r" b="b"/>
            <a:pathLst>
              <a:path w="864139" h="665577">
                <a:moveTo>
                  <a:pt x="864139" y="665577"/>
                </a:moveTo>
                <a:lnTo>
                  <a:pt x="730415" y="597574"/>
                </a:lnTo>
                <a:lnTo>
                  <a:pt x="666168" y="373981"/>
                </a:lnTo>
                <a:lnTo>
                  <a:pt x="0" y="0"/>
                </a:lnTo>
              </a:path>
            </a:pathLst>
          </a:custGeom>
          <a:ln w="22225">
            <a:solidFill>
              <a:srgbClr val="1B1B1B"/>
            </a:solidFill>
            <a:prstDash val="solid"/>
            <a:tailEnd type="triangle"/>
          </a:ln>
        </p:spPr>
      </p:sp>
      <p:sp>
        <p:nvSpPr>
          <p:cNvPr id="134" name="Shape 132"/>
          <p:cNvSpPr/>
          <p:nvPr/>
        </p:nvSpPr>
        <p:spPr>
          <a:xfrm>
            <a:off x="9704970" y="1970159"/>
            <a:ext cx="808178" cy="783170"/>
          </a:xfrm>
          <a:custGeom>
            <a:avLst/>
            <a:gdLst/>
            <a:ahLst/>
            <a:cxnLst/>
            <a:rect l="l" t="t" r="r" b="b"/>
            <a:pathLst>
              <a:path w="808178" h="783170">
                <a:moveTo>
                  <a:pt x="767214" y="783170"/>
                </a:moveTo>
                <a:lnTo>
                  <a:pt x="808178" y="536002"/>
                </a:lnTo>
                <a:lnTo>
                  <a:pt x="0" y="0"/>
                </a:lnTo>
              </a:path>
            </a:pathLst>
          </a:custGeom>
          <a:ln w="19050">
            <a:solidFill>
              <a:srgbClr val="1B1B1B"/>
            </a:solidFill>
            <a:prstDash val="dash"/>
            <a:tailEnd type="triangle"/>
          </a:ln>
        </p:spPr>
      </p:sp>
      <p:sp>
        <p:nvSpPr>
          <p:cNvPr id="135" name="Shape 133"/>
          <p:cNvSpPr/>
          <p:nvPr/>
        </p:nvSpPr>
        <p:spPr>
          <a:xfrm>
            <a:off x="9941426" y="1550274"/>
            <a:ext cx="49429" cy="143762"/>
          </a:xfrm>
          <a:custGeom>
            <a:avLst/>
            <a:gdLst/>
            <a:ahLst/>
            <a:cxnLst/>
            <a:rect l="l" t="t" r="r" b="b"/>
            <a:pathLst>
              <a:path w="49429" h="143762">
                <a:moveTo>
                  <a:pt x="49429" y="0"/>
                </a:moveTo>
                <a:lnTo>
                  <a:pt x="0" y="143762"/>
                </a:lnTo>
              </a:path>
            </a:pathLst>
          </a:custGeom>
          <a:ln w="25400">
            <a:solidFill>
              <a:srgbClr val="9A9A9A"/>
            </a:solidFill>
            <a:prstDash val="sysDot"/>
            <a:tailEnd type="triangle"/>
          </a:ln>
        </p:spPr>
      </p:sp>
      <p:sp>
        <p:nvSpPr>
          <p:cNvPr id="136" name="Text 134"/>
          <p:cNvSpPr txBox="1"/>
          <p:nvPr/>
        </p:nvSpPr>
        <p:spPr>
          <a:xfrm>
            <a:off x="457200" y="3108960"/>
            <a:ext cx="2743200" cy="182880"/>
          </a:xfrm>
          <a:prstGeom prst="rect">
            <a:avLst/>
          </a:prstGeom>
          <a:noFill/>
          <a:ln/>
        </p:spPr>
        <p:txBody>
          <a:bodyPr wrap="square" lIns="0" tIns="0" rIns="0" bIns="0" rtlCol="0" anchor="t"/>
          <a:lstStyle/>
          <a:p>
            <a:pPr indent="0" marL="0">
              <a:buNone/>
            </a:pPr>
            <a:r>
              <a:rPr lang="en-US" sz="650" b="1" dirty="0">
                <a:solidFill>
                  <a:srgbClr val="C4262E"/>
                </a:solidFill>
                <a:latin typeface="Arial" pitchFamily="34" charset="0"/>
                <a:ea typeface="Arial" pitchFamily="34" charset="-122"/>
                <a:cs typeface="Arial" pitchFamily="34" charset="-120"/>
              </a:rPr>
              <a:t>05  FORM GENERATION</a:t>
            </a:r>
            <a:endParaRPr lang="en-US" sz="650" dirty="0"/>
          </a:p>
        </p:txBody>
      </p:sp>
      <p:sp>
        <p:nvSpPr>
          <p:cNvPr id="137" name="Shape 135"/>
          <p:cNvSpPr/>
          <p:nvPr/>
        </p:nvSpPr>
        <p:spPr>
          <a:xfrm>
            <a:off x="457200" y="3291840"/>
            <a:ext cx="1801368" cy="1325880"/>
          </a:xfrm>
          <a:prstGeom prst="rect">
            <a:avLst/>
          </a:prstGeom>
          <a:solidFill>
            <a:srgbClr val="FFFFFF"/>
          </a:solidFill>
          <a:ln w="6350">
            <a:solidFill>
              <a:srgbClr val="D9D9D9"/>
            </a:solidFill>
            <a:prstDash val="solid"/>
          </a:ln>
        </p:spPr>
      </p:sp>
      <p:sp>
        <p:nvSpPr>
          <p:cNvPr id="138" name="Text 136"/>
          <p:cNvSpPr txBox="1"/>
          <p:nvPr/>
        </p:nvSpPr>
        <p:spPr>
          <a:xfrm>
            <a:off x="530352" y="3346704"/>
            <a:ext cx="1655064" cy="164592"/>
          </a:xfrm>
          <a:prstGeom prst="rect">
            <a:avLst/>
          </a:prstGeom>
          <a:noFill/>
          <a:ln/>
        </p:spPr>
        <p:txBody>
          <a:bodyPr wrap="square" lIns="0" tIns="0" rIns="0" bIns="0" rtlCol="0" anchor="t"/>
          <a:lstStyle/>
          <a:p>
            <a:pPr indent="0" marL="0">
              <a:buNone/>
            </a:pPr>
            <a:r>
              <a:rPr lang="en-US" sz="550" b="1" spc="50" kern="0" dirty="0">
                <a:solidFill>
                  <a:srgbClr val="C4262E"/>
                </a:solidFill>
                <a:latin typeface="Arial" pitchFamily="34" charset="0"/>
                <a:ea typeface="Arial" pitchFamily="34" charset="-122"/>
                <a:cs typeface="Arial" pitchFamily="34" charset="-120"/>
              </a:rPr>
              <a:t>1  </a:t>
            </a:r>
            <a:pPr indent="0" marL="0">
              <a:buNone/>
            </a:pPr>
            <a:r>
              <a:rPr lang="en-US" sz="550" b="1" spc="50" kern="0" dirty="0">
                <a:solidFill>
                  <a:srgbClr val="1B1B1B"/>
                </a:solidFill>
                <a:latin typeface="Arial" pitchFamily="34" charset="0"/>
                <a:ea typeface="Arial" pitchFamily="34" charset="-122"/>
                <a:cs typeface="Arial" pitchFamily="34" charset="-120"/>
              </a:rPr>
              <a:t>EXISTING HILL</a:t>
            </a:r>
            <a:endParaRPr lang="en-US" sz="550" dirty="0"/>
          </a:p>
        </p:txBody>
      </p:sp>
      <p:sp>
        <p:nvSpPr>
          <p:cNvPr id="139" name="Shape 137"/>
          <p:cNvSpPr/>
          <p:nvPr/>
        </p:nvSpPr>
        <p:spPr>
          <a:xfrm>
            <a:off x="657486" y="3620947"/>
            <a:ext cx="1400796" cy="877978"/>
          </a:xfrm>
          <a:custGeom>
            <a:avLst/>
            <a:gdLst/>
            <a:ahLst/>
            <a:cxnLst/>
            <a:rect l="l" t="t" r="r" b="b"/>
            <a:pathLst>
              <a:path w="1400796" h="877978">
                <a:moveTo>
                  <a:pt x="1386572" y="744493"/>
                </a:moveTo>
                <a:lnTo>
                  <a:pt x="1368124" y="775813"/>
                </a:lnTo>
                <a:lnTo>
                  <a:pt x="1342360" y="803443"/>
                </a:lnTo>
                <a:lnTo>
                  <a:pt x="1309562" y="827079"/>
                </a:lnTo>
                <a:lnTo>
                  <a:pt x="1270090" y="846463"/>
                </a:lnTo>
                <a:lnTo>
                  <a:pt x="1224376" y="861384"/>
                </a:lnTo>
                <a:lnTo>
                  <a:pt x="1172922" y="871676"/>
                </a:lnTo>
                <a:lnTo>
                  <a:pt x="1116291" y="877227"/>
                </a:lnTo>
                <a:lnTo>
                  <a:pt x="1055103" y="877978"/>
                </a:lnTo>
                <a:lnTo>
                  <a:pt x="990028" y="873918"/>
                </a:lnTo>
                <a:lnTo>
                  <a:pt x="921781" y="865093"/>
                </a:lnTo>
                <a:lnTo>
                  <a:pt x="851108" y="851600"/>
                </a:lnTo>
                <a:lnTo>
                  <a:pt x="778784" y="833587"/>
                </a:lnTo>
                <a:lnTo>
                  <a:pt x="705601" y="811249"/>
                </a:lnTo>
                <a:lnTo>
                  <a:pt x="632361" y="784834"/>
                </a:lnTo>
                <a:lnTo>
                  <a:pt x="559866" y="754629"/>
                </a:lnTo>
                <a:lnTo>
                  <a:pt x="488911" y="720966"/>
                </a:lnTo>
                <a:lnTo>
                  <a:pt x="420273" y="684214"/>
                </a:lnTo>
                <a:lnTo>
                  <a:pt x="354705" y="644774"/>
                </a:lnTo>
                <a:lnTo>
                  <a:pt x="292923" y="603081"/>
                </a:lnTo>
                <a:lnTo>
                  <a:pt x="235607" y="559589"/>
                </a:lnTo>
                <a:lnTo>
                  <a:pt x="183382" y="514776"/>
                </a:lnTo>
                <a:lnTo>
                  <a:pt x="136822" y="469133"/>
                </a:lnTo>
                <a:lnTo>
                  <a:pt x="96437" y="423159"/>
                </a:lnTo>
                <a:lnTo>
                  <a:pt x="62669" y="377359"/>
                </a:lnTo>
                <a:lnTo>
                  <a:pt x="35888" y="332234"/>
                </a:lnTo>
                <a:lnTo>
                  <a:pt x="16387" y="288279"/>
                </a:lnTo>
                <a:lnTo>
                  <a:pt x="4381" y="245975"/>
                </a:lnTo>
                <a:lnTo>
                  <a:pt x="0" y="205786"/>
                </a:lnTo>
                <a:lnTo>
                  <a:pt x="3293" y="168151"/>
                </a:lnTo>
                <a:lnTo>
                  <a:pt x="14224" y="133484"/>
                </a:lnTo>
                <a:lnTo>
                  <a:pt x="32672" y="102164"/>
                </a:lnTo>
                <a:lnTo>
                  <a:pt x="58437" y="74535"/>
                </a:lnTo>
                <a:lnTo>
                  <a:pt x="91234" y="50899"/>
                </a:lnTo>
                <a:lnTo>
                  <a:pt x="130706" y="31514"/>
                </a:lnTo>
                <a:lnTo>
                  <a:pt x="176420" y="16594"/>
                </a:lnTo>
                <a:lnTo>
                  <a:pt x="227874" y="6302"/>
                </a:lnTo>
                <a:lnTo>
                  <a:pt x="284505" y="750"/>
                </a:lnTo>
                <a:lnTo>
                  <a:pt x="345693" y="0"/>
                </a:lnTo>
                <a:lnTo>
                  <a:pt x="410768" y="4059"/>
                </a:lnTo>
                <a:lnTo>
                  <a:pt x="479015" y="12884"/>
                </a:lnTo>
                <a:lnTo>
                  <a:pt x="549688" y="26377"/>
                </a:lnTo>
                <a:lnTo>
                  <a:pt x="622012" y="44391"/>
                </a:lnTo>
                <a:lnTo>
                  <a:pt x="695195" y="66728"/>
                </a:lnTo>
                <a:lnTo>
                  <a:pt x="768436" y="93144"/>
                </a:lnTo>
                <a:lnTo>
                  <a:pt x="840930" y="123349"/>
                </a:lnTo>
                <a:lnTo>
                  <a:pt x="911885" y="157012"/>
                </a:lnTo>
                <a:lnTo>
                  <a:pt x="980523" y="193764"/>
                </a:lnTo>
                <a:lnTo>
                  <a:pt x="1046092" y="233203"/>
                </a:lnTo>
                <a:lnTo>
                  <a:pt x="1107873" y="274897"/>
                </a:lnTo>
                <a:lnTo>
                  <a:pt x="1165190" y="318389"/>
                </a:lnTo>
                <a:lnTo>
                  <a:pt x="1217414" y="363202"/>
                </a:lnTo>
                <a:lnTo>
                  <a:pt x="1263974" y="408845"/>
                </a:lnTo>
                <a:lnTo>
                  <a:pt x="1304359" y="454818"/>
                </a:lnTo>
                <a:lnTo>
                  <a:pt x="1338127" y="500618"/>
                </a:lnTo>
                <a:lnTo>
                  <a:pt x="1364909" y="545743"/>
                </a:lnTo>
                <a:lnTo>
                  <a:pt x="1384409" y="589699"/>
                </a:lnTo>
                <a:lnTo>
                  <a:pt x="1396415" y="632003"/>
                </a:lnTo>
                <a:lnTo>
                  <a:pt x="1400796" y="672192"/>
                </a:lnTo>
                <a:lnTo>
                  <a:pt x="1397503" y="709826"/>
                </a:lnTo>
                <a:close/>
              </a:path>
            </a:pathLst>
          </a:custGeom>
          <a:solidFill>
            <a:srgbClr val="E4E4E4"/>
          </a:solidFill>
          <a:ln w="12700"/>
        </p:spPr>
      </p:sp>
      <p:sp>
        <p:nvSpPr>
          <p:cNvPr id="140" name="Shape 138"/>
          <p:cNvSpPr/>
          <p:nvPr/>
        </p:nvSpPr>
        <p:spPr>
          <a:xfrm>
            <a:off x="512064" y="3708711"/>
            <a:ext cx="159646" cy="45720"/>
          </a:xfrm>
          <a:custGeom>
            <a:avLst/>
            <a:gdLst/>
            <a:ahLst/>
            <a:cxnLst/>
            <a:rect l="l" t="t" r="r" b="b"/>
            <a:pathLst>
              <a:path w="159646" h="45720">
                <a:moveTo>
                  <a:pt x="159646" y="45720"/>
                </a:moveTo>
                <a:lnTo>
                  <a:pt x="0" y="0"/>
                </a:lnTo>
              </a:path>
            </a:pathLst>
          </a:custGeom>
          <a:ln w="76200">
            <a:solidFill>
              <a:srgbClr val="E4E4E4"/>
            </a:solidFill>
            <a:prstDash val="solid"/>
          </a:ln>
        </p:spPr>
      </p:sp>
      <p:sp>
        <p:nvSpPr>
          <p:cNvPr id="141" name="Shape 139"/>
          <p:cNvSpPr/>
          <p:nvPr/>
        </p:nvSpPr>
        <p:spPr>
          <a:xfrm>
            <a:off x="2044058" y="4365441"/>
            <a:ext cx="159646" cy="45720"/>
          </a:xfrm>
          <a:custGeom>
            <a:avLst/>
            <a:gdLst/>
            <a:ahLst/>
            <a:cxnLst/>
            <a:rect l="l" t="t" r="r" b="b"/>
            <a:pathLst>
              <a:path w="159646" h="45720">
                <a:moveTo>
                  <a:pt x="0" y="0"/>
                </a:moveTo>
                <a:lnTo>
                  <a:pt x="159646" y="45720"/>
                </a:lnTo>
              </a:path>
            </a:pathLst>
          </a:custGeom>
          <a:ln w="76200">
            <a:solidFill>
              <a:srgbClr val="E4E4E4"/>
            </a:solidFill>
            <a:prstDash val="solid"/>
          </a:ln>
        </p:spPr>
      </p:sp>
      <p:sp>
        <p:nvSpPr>
          <p:cNvPr id="142" name="Shape 140"/>
          <p:cNvSpPr/>
          <p:nvPr/>
        </p:nvSpPr>
        <p:spPr>
          <a:xfrm>
            <a:off x="774219" y="3694112"/>
            <a:ext cx="1167330" cy="731648"/>
          </a:xfrm>
          <a:custGeom>
            <a:avLst/>
            <a:gdLst/>
            <a:ahLst/>
            <a:cxnLst/>
            <a:rect l="l" t="t" r="r" b="b"/>
            <a:pathLst>
              <a:path w="1167330" h="731648">
                <a:moveTo>
                  <a:pt x="1155477" y="620411"/>
                </a:moveTo>
                <a:lnTo>
                  <a:pt x="1140103" y="646511"/>
                </a:lnTo>
                <a:lnTo>
                  <a:pt x="1118633" y="669535"/>
                </a:lnTo>
                <a:lnTo>
                  <a:pt x="1091302" y="689233"/>
                </a:lnTo>
                <a:lnTo>
                  <a:pt x="1058408" y="705386"/>
                </a:lnTo>
                <a:lnTo>
                  <a:pt x="1020314" y="717820"/>
                </a:lnTo>
                <a:lnTo>
                  <a:pt x="977435" y="726396"/>
                </a:lnTo>
                <a:lnTo>
                  <a:pt x="930242" y="731023"/>
                </a:lnTo>
                <a:lnTo>
                  <a:pt x="879252" y="731648"/>
                </a:lnTo>
                <a:lnTo>
                  <a:pt x="825024" y="728265"/>
                </a:lnTo>
                <a:lnTo>
                  <a:pt x="768151" y="720911"/>
                </a:lnTo>
                <a:lnTo>
                  <a:pt x="709257" y="709667"/>
                </a:lnTo>
                <a:lnTo>
                  <a:pt x="648986" y="694655"/>
                </a:lnTo>
                <a:lnTo>
                  <a:pt x="588001" y="676041"/>
                </a:lnTo>
                <a:lnTo>
                  <a:pt x="526967" y="654028"/>
                </a:lnTo>
                <a:lnTo>
                  <a:pt x="466555" y="628857"/>
                </a:lnTo>
                <a:lnTo>
                  <a:pt x="407426" y="600805"/>
                </a:lnTo>
                <a:lnTo>
                  <a:pt x="350228" y="570178"/>
                </a:lnTo>
                <a:lnTo>
                  <a:pt x="295587" y="537312"/>
                </a:lnTo>
                <a:lnTo>
                  <a:pt x="244103" y="502567"/>
                </a:lnTo>
                <a:lnTo>
                  <a:pt x="196339" y="466324"/>
                </a:lnTo>
                <a:lnTo>
                  <a:pt x="152818" y="428980"/>
                </a:lnTo>
                <a:lnTo>
                  <a:pt x="114018" y="390944"/>
                </a:lnTo>
                <a:lnTo>
                  <a:pt x="80364" y="352633"/>
                </a:lnTo>
                <a:lnTo>
                  <a:pt x="52224" y="314466"/>
                </a:lnTo>
                <a:lnTo>
                  <a:pt x="29906" y="276862"/>
                </a:lnTo>
                <a:lnTo>
                  <a:pt x="13656" y="240232"/>
                </a:lnTo>
                <a:lnTo>
                  <a:pt x="3651" y="204979"/>
                </a:lnTo>
                <a:lnTo>
                  <a:pt x="0" y="171488"/>
                </a:lnTo>
                <a:lnTo>
                  <a:pt x="2744" y="140126"/>
                </a:lnTo>
                <a:lnTo>
                  <a:pt x="11853" y="111237"/>
                </a:lnTo>
                <a:lnTo>
                  <a:pt x="27227" y="85137"/>
                </a:lnTo>
                <a:lnTo>
                  <a:pt x="48697" y="62113"/>
                </a:lnTo>
                <a:lnTo>
                  <a:pt x="76029" y="42415"/>
                </a:lnTo>
                <a:lnTo>
                  <a:pt x="108922" y="26262"/>
                </a:lnTo>
                <a:lnTo>
                  <a:pt x="147016" y="13828"/>
                </a:lnTo>
                <a:lnTo>
                  <a:pt x="189895" y="5252"/>
                </a:lnTo>
                <a:lnTo>
                  <a:pt x="237088" y="625"/>
                </a:lnTo>
                <a:lnTo>
                  <a:pt x="288078" y="0"/>
                </a:lnTo>
                <a:lnTo>
                  <a:pt x="342306" y="3383"/>
                </a:lnTo>
                <a:lnTo>
                  <a:pt x="399179" y="10737"/>
                </a:lnTo>
                <a:lnTo>
                  <a:pt x="458074" y="21981"/>
                </a:lnTo>
                <a:lnTo>
                  <a:pt x="518344" y="36993"/>
                </a:lnTo>
                <a:lnTo>
                  <a:pt x="579330" y="55607"/>
                </a:lnTo>
                <a:lnTo>
                  <a:pt x="640363" y="77620"/>
                </a:lnTo>
                <a:lnTo>
                  <a:pt x="700775" y="102790"/>
                </a:lnTo>
                <a:lnTo>
                  <a:pt x="759904" y="130843"/>
                </a:lnTo>
                <a:lnTo>
                  <a:pt x="817102" y="161470"/>
                </a:lnTo>
                <a:lnTo>
                  <a:pt x="871743" y="194336"/>
                </a:lnTo>
                <a:lnTo>
                  <a:pt x="923227" y="229081"/>
                </a:lnTo>
                <a:lnTo>
                  <a:pt x="970991" y="265324"/>
                </a:lnTo>
                <a:lnTo>
                  <a:pt x="1014512" y="302668"/>
                </a:lnTo>
                <a:lnTo>
                  <a:pt x="1053312" y="340704"/>
                </a:lnTo>
                <a:lnTo>
                  <a:pt x="1086966" y="379015"/>
                </a:lnTo>
                <a:lnTo>
                  <a:pt x="1115106" y="417182"/>
                </a:lnTo>
                <a:lnTo>
                  <a:pt x="1137424" y="454786"/>
                </a:lnTo>
                <a:lnTo>
                  <a:pt x="1153674" y="491416"/>
                </a:lnTo>
                <a:lnTo>
                  <a:pt x="1163680" y="526669"/>
                </a:lnTo>
                <a:lnTo>
                  <a:pt x="1167330" y="560160"/>
                </a:lnTo>
                <a:lnTo>
                  <a:pt x="1164586" y="591522"/>
                </a:lnTo>
                <a:close/>
              </a:path>
            </a:pathLst>
          </a:custGeom>
          <a:solidFill>
            <a:srgbClr val="FFFFFF"/>
          </a:solidFill>
          <a:ln w="19050">
            <a:solidFill>
              <a:srgbClr val="1B1B1B"/>
            </a:solidFill>
            <a:prstDash val="solid"/>
          </a:ln>
        </p:spPr>
      </p:sp>
      <p:sp>
        <p:nvSpPr>
          <p:cNvPr id="143" name="Shape 141"/>
          <p:cNvSpPr/>
          <p:nvPr/>
        </p:nvSpPr>
        <p:spPr>
          <a:xfrm>
            <a:off x="1000682" y="3808850"/>
            <a:ext cx="840478" cy="526787"/>
          </a:xfrm>
          <a:custGeom>
            <a:avLst/>
            <a:gdLst/>
            <a:ahLst/>
            <a:cxnLst/>
            <a:rect l="l" t="t" r="r" b="b"/>
            <a:pathLst>
              <a:path w="840478" h="526787">
                <a:moveTo>
                  <a:pt x="831943" y="446696"/>
                </a:moveTo>
                <a:lnTo>
                  <a:pt x="820874" y="465488"/>
                </a:lnTo>
                <a:lnTo>
                  <a:pt x="805416" y="482066"/>
                </a:lnTo>
                <a:lnTo>
                  <a:pt x="785737" y="496247"/>
                </a:lnTo>
                <a:lnTo>
                  <a:pt x="762054" y="507878"/>
                </a:lnTo>
                <a:lnTo>
                  <a:pt x="734626" y="516830"/>
                </a:lnTo>
                <a:lnTo>
                  <a:pt x="703753" y="523005"/>
                </a:lnTo>
                <a:lnTo>
                  <a:pt x="669774" y="526336"/>
                </a:lnTo>
                <a:lnTo>
                  <a:pt x="633062" y="526787"/>
                </a:lnTo>
                <a:lnTo>
                  <a:pt x="594017" y="524351"/>
                </a:lnTo>
                <a:lnTo>
                  <a:pt x="553069" y="519056"/>
                </a:lnTo>
                <a:lnTo>
                  <a:pt x="510665" y="510960"/>
                </a:lnTo>
                <a:lnTo>
                  <a:pt x="467270" y="500152"/>
                </a:lnTo>
                <a:lnTo>
                  <a:pt x="423360" y="486750"/>
                </a:lnTo>
                <a:lnTo>
                  <a:pt x="379416" y="470900"/>
                </a:lnTo>
                <a:lnTo>
                  <a:pt x="335920" y="452777"/>
                </a:lnTo>
                <a:lnTo>
                  <a:pt x="293347" y="432580"/>
                </a:lnTo>
                <a:lnTo>
                  <a:pt x="252164" y="410528"/>
                </a:lnTo>
                <a:lnTo>
                  <a:pt x="212823" y="386865"/>
                </a:lnTo>
                <a:lnTo>
                  <a:pt x="175754" y="361848"/>
                </a:lnTo>
                <a:lnTo>
                  <a:pt x="141364" y="335753"/>
                </a:lnTo>
                <a:lnTo>
                  <a:pt x="110029" y="308866"/>
                </a:lnTo>
                <a:lnTo>
                  <a:pt x="82093" y="281480"/>
                </a:lnTo>
                <a:lnTo>
                  <a:pt x="57862" y="253896"/>
                </a:lnTo>
                <a:lnTo>
                  <a:pt x="37601" y="226415"/>
                </a:lnTo>
                <a:lnTo>
                  <a:pt x="21533" y="199341"/>
                </a:lnTo>
                <a:lnTo>
                  <a:pt x="9832" y="172967"/>
                </a:lnTo>
                <a:lnTo>
                  <a:pt x="2628" y="147585"/>
                </a:lnTo>
                <a:lnTo>
                  <a:pt x="0" y="123471"/>
                </a:lnTo>
                <a:lnTo>
                  <a:pt x="1976" y="100891"/>
                </a:lnTo>
                <a:lnTo>
                  <a:pt x="8534" y="80091"/>
                </a:lnTo>
                <a:lnTo>
                  <a:pt x="19603" y="61299"/>
                </a:lnTo>
                <a:lnTo>
                  <a:pt x="35062" y="44721"/>
                </a:lnTo>
                <a:lnTo>
                  <a:pt x="54741" y="30539"/>
                </a:lnTo>
                <a:lnTo>
                  <a:pt x="78424" y="18908"/>
                </a:lnTo>
                <a:lnTo>
                  <a:pt x="105852" y="9956"/>
                </a:lnTo>
                <a:lnTo>
                  <a:pt x="136724" y="3781"/>
                </a:lnTo>
                <a:lnTo>
                  <a:pt x="170703" y="450"/>
                </a:lnTo>
                <a:lnTo>
                  <a:pt x="207416" y="0"/>
                </a:lnTo>
                <a:lnTo>
                  <a:pt x="246461" y="2436"/>
                </a:lnTo>
                <a:lnTo>
                  <a:pt x="287409" y="7730"/>
                </a:lnTo>
                <a:lnTo>
                  <a:pt x="329813" y="15826"/>
                </a:lnTo>
                <a:lnTo>
                  <a:pt x="373207" y="26635"/>
                </a:lnTo>
                <a:lnTo>
                  <a:pt x="417117" y="40037"/>
                </a:lnTo>
                <a:lnTo>
                  <a:pt x="461061" y="55886"/>
                </a:lnTo>
                <a:lnTo>
                  <a:pt x="504558" y="74009"/>
                </a:lnTo>
                <a:lnTo>
                  <a:pt x="547131" y="94207"/>
                </a:lnTo>
                <a:lnTo>
                  <a:pt x="588314" y="116258"/>
                </a:lnTo>
                <a:lnTo>
                  <a:pt x="627655" y="139922"/>
                </a:lnTo>
                <a:lnTo>
                  <a:pt x="664724" y="164938"/>
                </a:lnTo>
                <a:lnTo>
                  <a:pt x="699114" y="191033"/>
                </a:lnTo>
                <a:lnTo>
                  <a:pt x="730448" y="217921"/>
                </a:lnTo>
                <a:lnTo>
                  <a:pt x="758384" y="245307"/>
                </a:lnTo>
                <a:lnTo>
                  <a:pt x="782616" y="272891"/>
                </a:lnTo>
                <a:lnTo>
                  <a:pt x="802876" y="300371"/>
                </a:lnTo>
                <a:lnTo>
                  <a:pt x="818945" y="327446"/>
                </a:lnTo>
                <a:lnTo>
                  <a:pt x="830645" y="353819"/>
                </a:lnTo>
                <a:lnTo>
                  <a:pt x="837849" y="379202"/>
                </a:lnTo>
                <a:lnTo>
                  <a:pt x="840478" y="403315"/>
                </a:lnTo>
                <a:lnTo>
                  <a:pt x="838502" y="425896"/>
                </a:lnTo>
                <a:close/>
              </a:path>
            </a:pathLst>
          </a:custGeom>
          <a:ln w="6350">
            <a:solidFill>
              <a:srgbClr val="4F7A43"/>
            </a:solidFill>
            <a:prstDash val="dash"/>
          </a:ln>
        </p:spPr>
      </p:sp>
      <p:sp>
        <p:nvSpPr>
          <p:cNvPr id="144" name="Shape 142"/>
          <p:cNvSpPr/>
          <p:nvPr/>
        </p:nvSpPr>
        <p:spPr>
          <a:xfrm>
            <a:off x="1152435" y="3903964"/>
            <a:ext cx="536972" cy="336558"/>
          </a:xfrm>
          <a:custGeom>
            <a:avLst/>
            <a:gdLst/>
            <a:ahLst/>
            <a:cxnLst/>
            <a:rect l="l" t="t" r="r" b="b"/>
            <a:pathLst>
              <a:path w="536972" h="336558">
                <a:moveTo>
                  <a:pt x="531519" y="285389"/>
                </a:moveTo>
                <a:lnTo>
                  <a:pt x="524447" y="297395"/>
                </a:lnTo>
                <a:lnTo>
                  <a:pt x="514571" y="307986"/>
                </a:lnTo>
                <a:lnTo>
                  <a:pt x="501999" y="317047"/>
                </a:lnTo>
                <a:lnTo>
                  <a:pt x="486868" y="324478"/>
                </a:lnTo>
                <a:lnTo>
                  <a:pt x="469344" y="330197"/>
                </a:lnTo>
                <a:lnTo>
                  <a:pt x="449620" y="334142"/>
                </a:lnTo>
                <a:lnTo>
                  <a:pt x="427911" y="336271"/>
                </a:lnTo>
                <a:lnTo>
                  <a:pt x="404456" y="336558"/>
                </a:lnTo>
                <a:lnTo>
                  <a:pt x="379511" y="335002"/>
                </a:lnTo>
                <a:lnTo>
                  <a:pt x="353349" y="331619"/>
                </a:lnTo>
                <a:lnTo>
                  <a:pt x="326258" y="326447"/>
                </a:lnTo>
                <a:lnTo>
                  <a:pt x="298534" y="319542"/>
                </a:lnTo>
                <a:lnTo>
                  <a:pt x="270480" y="310979"/>
                </a:lnTo>
                <a:lnTo>
                  <a:pt x="242405" y="300853"/>
                </a:lnTo>
                <a:lnTo>
                  <a:pt x="214615" y="289274"/>
                </a:lnTo>
                <a:lnTo>
                  <a:pt x="187416" y="276370"/>
                </a:lnTo>
                <a:lnTo>
                  <a:pt x="161105" y="262282"/>
                </a:lnTo>
                <a:lnTo>
                  <a:pt x="135970" y="247164"/>
                </a:lnTo>
                <a:lnTo>
                  <a:pt x="112287" y="231181"/>
                </a:lnTo>
                <a:lnTo>
                  <a:pt x="90316" y="214509"/>
                </a:lnTo>
                <a:lnTo>
                  <a:pt x="70296" y="197331"/>
                </a:lnTo>
                <a:lnTo>
                  <a:pt x="52448" y="179834"/>
                </a:lnTo>
                <a:lnTo>
                  <a:pt x="36967" y="162211"/>
                </a:lnTo>
                <a:lnTo>
                  <a:pt x="24023" y="144654"/>
                </a:lnTo>
                <a:lnTo>
                  <a:pt x="13757" y="127356"/>
                </a:lnTo>
                <a:lnTo>
                  <a:pt x="6282" y="110507"/>
                </a:lnTo>
                <a:lnTo>
                  <a:pt x="1679" y="94290"/>
                </a:lnTo>
                <a:lnTo>
                  <a:pt x="0" y="78884"/>
                </a:lnTo>
                <a:lnTo>
                  <a:pt x="1262" y="64458"/>
                </a:lnTo>
                <a:lnTo>
                  <a:pt x="5452" y="51169"/>
                </a:lnTo>
                <a:lnTo>
                  <a:pt x="12524" y="39163"/>
                </a:lnTo>
                <a:lnTo>
                  <a:pt x="22401" y="28572"/>
                </a:lnTo>
                <a:lnTo>
                  <a:pt x="34973" y="19511"/>
                </a:lnTo>
                <a:lnTo>
                  <a:pt x="50104" y="12080"/>
                </a:lnTo>
                <a:lnTo>
                  <a:pt x="67628" y="6361"/>
                </a:lnTo>
                <a:lnTo>
                  <a:pt x="87352" y="2416"/>
                </a:lnTo>
                <a:lnTo>
                  <a:pt x="109060" y="288"/>
                </a:lnTo>
                <a:lnTo>
                  <a:pt x="132516" y="0"/>
                </a:lnTo>
                <a:lnTo>
                  <a:pt x="157461" y="1556"/>
                </a:lnTo>
                <a:lnTo>
                  <a:pt x="183623" y="4939"/>
                </a:lnTo>
                <a:lnTo>
                  <a:pt x="210714" y="10111"/>
                </a:lnTo>
                <a:lnTo>
                  <a:pt x="238438" y="17017"/>
                </a:lnTo>
                <a:lnTo>
                  <a:pt x="266492" y="25579"/>
                </a:lnTo>
                <a:lnTo>
                  <a:pt x="294567" y="35705"/>
                </a:lnTo>
                <a:lnTo>
                  <a:pt x="322357" y="47284"/>
                </a:lnTo>
                <a:lnTo>
                  <a:pt x="349556" y="60188"/>
                </a:lnTo>
                <a:lnTo>
                  <a:pt x="375867" y="74276"/>
                </a:lnTo>
                <a:lnTo>
                  <a:pt x="401002" y="89395"/>
                </a:lnTo>
                <a:lnTo>
                  <a:pt x="424685" y="105377"/>
                </a:lnTo>
                <a:lnTo>
                  <a:pt x="446656" y="122049"/>
                </a:lnTo>
                <a:lnTo>
                  <a:pt x="466675" y="139227"/>
                </a:lnTo>
                <a:lnTo>
                  <a:pt x="484523" y="156724"/>
                </a:lnTo>
                <a:lnTo>
                  <a:pt x="500004" y="174347"/>
                </a:lnTo>
                <a:lnTo>
                  <a:pt x="512949" y="191904"/>
                </a:lnTo>
                <a:lnTo>
                  <a:pt x="523215" y="209202"/>
                </a:lnTo>
                <a:lnTo>
                  <a:pt x="530690" y="226051"/>
                </a:lnTo>
                <a:lnTo>
                  <a:pt x="535293" y="242268"/>
                </a:lnTo>
                <a:lnTo>
                  <a:pt x="536972" y="257674"/>
                </a:lnTo>
                <a:lnTo>
                  <a:pt x="535710" y="272100"/>
                </a:lnTo>
                <a:close/>
              </a:path>
            </a:pathLst>
          </a:custGeom>
          <a:ln w="6350">
            <a:solidFill>
              <a:srgbClr val="4F7A43"/>
            </a:solidFill>
            <a:prstDash val="dash"/>
          </a:ln>
        </p:spPr>
      </p:sp>
      <p:sp>
        <p:nvSpPr>
          <p:cNvPr id="145" name="Shape 143"/>
          <p:cNvSpPr/>
          <p:nvPr/>
        </p:nvSpPr>
        <p:spPr>
          <a:xfrm>
            <a:off x="1292514" y="3991762"/>
            <a:ext cx="256813" cy="160963"/>
          </a:xfrm>
          <a:custGeom>
            <a:avLst/>
            <a:gdLst/>
            <a:ahLst/>
            <a:cxnLst/>
            <a:rect l="l" t="t" r="r" b="b"/>
            <a:pathLst>
              <a:path w="256813" h="160963">
                <a:moveTo>
                  <a:pt x="254205" y="136490"/>
                </a:moveTo>
                <a:lnTo>
                  <a:pt x="250823" y="142232"/>
                </a:lnTo>
                <a:lnTo>
                  <a:pt x="246099" y="147298"/>
                </a:lnTo>
                <a:lnTo>
                  <a:pt x="240086" y="151631"/>
                </a:lnTo>
                <a:lnTo>
                  <a:pt x="232850" y="155185"/>
                </a:lnTo>
                <a:lnTo>
                  <a:pt x="224469" y="157920"/>
                </a:lnTo>
                <a:lnTo>
                  <a:pt x="215036" y="159807"/>
                </a:lnTo>
                <a:lnTo>
                  <a:pt x="204653" y="160825"/>
                </a:lnTo>
                <a:lnTo>
                  <a:pt x="193435" y="160963"/>
                </a:lnTo>
                <a:lnTo>
                  <a:pt x="181505" y="160218"/>
                </a:lnTo>
                <a:lnTo>
                  <a:pt x="168993" y="158600"/>
                </a:lnTo>
                <a:lnTo>
                  <a:pt x="156036" y="156127"/>
                </a:lnTo>
                <a:lnTo>
                  <a:pt x="142777" y="152824"/>
                </a:lnTo>
                <a:lnTo>
                  <a:pt x="129360" y="148729"/>
                </a:lnTo>
                <a:lnTo>
                  <a:pt x="115933" y="143886"/>
                </a:lnTo>
                <a:lnTo>
                  <a:pt x="102642" y="138349"/>
                </a:lnTo>
                <a:lnTo>
                  <a:pt x="89634" y="132177"/>
                </a:lnTo>
                <a:lnTo>
                  <a:pt x="77050" y="125439"/>
                </a:lnTo>
                <a:lnTo>
                  <a:pt x="65029" y="118209"/>
                </a:lnTo>
                <a:lnTo>
                  <a:pt x="53703" y="110565"/>
                </a:lnTo>
                <a:lnTo>
                  <a:pt x="43195" y="102591"/>
                </a:lnTo>
                <a:lnTo>
                  <a:pt x="33620" y="94376"/>
                </a:lnTo>
                <a:lnTo>
                  <a:pt x="25084" y="86008"/>
                </a:lnTo>
                <a:lnTo>
                  <a:pt x="17680" y="77579"/>
                </a:lnTo>
                <a:lnTo>
                  <a:pt x="11489" y="69183"/>
                </a:lnTo>
                <a:lnTo>
                  <a:pt x="6579" y="60910"/>
                </a:lnTo>
                <a:lnTo>
                  <a:pt x="3004" y="52851"/>
                </a:lnTo>
                <a:lnTo>
                  <a:pt x="803" y="45095"/>
                </a:lnTo>
                <a:lnTo>
                  <a:pt x="0" y="37727"/>
                </a:lnTo>
                <a:lnTo>
                  <a:pt x="604" y="30828"/>
                </a:lnTo>
                <a:lnTo>
                  <a:pt x="2608" y="24472"/>
                </a:lnTo>
                <a:lnTo>
                  <a:pt x="5990" y="18730"/>
                </a:lnTo>
                <a:lnTo>
                  <a:pt x="10713" y="13665"/>
                </a:lnTo>
                <a:lnTo>
                  <a:pt x="16726" y="9331"/>
                </a:lnTo>
                <a:lnTo>
                  <a:pt x="23963" y="5778"/>
                </a:lnTo>
                <a:lnTo>
                  <a:pt x="32344" y="3042"/>
                </a:lnTo>
                <a:lnTo>
                  <a:pt x="41777" y="1155"/>
                </a:lnTo>
                <a:lnTo>
                  <a:pt x="52159" y="138"/>
                </a:lnTo>
                <a:lnTo>
                  <a:pt x="63377" y="0"/>
                </a:lnTo>
                <a:lnTo>
                  <a:pt x="75307" y="744"/>
                </a:lnTo>
                <a:lnTo>
                  <a:pt x="87819" y="2362"/>
                </a:lnTo>
                <a:lnTo>
                  <a:pt x="100776" y="4836"/>
                </a:lnTo>
                <a:lnTo>
                  <a:pt x="114036" y="8138"/>
                </a:lnTo>
                <a:lnTo>
                  <a:pt x="127453" y="12233"/>
                </a:lnTo>
                <a:lnTo>
                  <a:pt x="140880" y="17076"/>
                </a:lnTo>
                <a:lnTo>
                  <a:pt x="154171" y="22614"/>
                </a:lnTo>
                <a:lnTo>
                  <a:pt x="167179" y="28785"/>
                </a:lnTo>
                <a:lnTo>
                  <a:pt x="179763" y="35523"/>
                </a:lnTo>
                <a:lnTo>
                  <a:pt x="191783" y="42754"/>
                </a:lnTo>
                <a:lnTo>
                  <a:pt x="203110" y="50398"/>
                </a:lnTo>
                <a:lnTo>
                  <a:pt x="213618" y="58371"/>
                </a:lnTo>
                <a:lnTo>
                  <a:pt x="223193" y="66587"/>
                </a:lnTo>
                <a:lnTo>
                  <a:pt x="231729" y="74955"/>
                </a:lnTo>
                <a:lnTo>
                  <a:pt x="239133" y="83383"/>
                </a:lnTo>
                <a:lnTo>
                  <a:pt x="245323" y="91780"/>
                </a:lnTo>
                <a:lnTo>
                  <a:pt x="250233" y="100053"/>
                </a:lnTo>
                <a:lnTo>
                  <a:pt x="253808" y="108111"/>
                </a:lnTo>
                <a:lnTo>
                  <a:pt x="256009" y="115867"/>
                </a:lnTo>
                <a:lnTo>
                  <a:pt x="256813" y="123235"/>
                </a:lnTo>
                <a:lnTo>
                  <a:pt x="256209" y="130135"/>
                </a:lnTo>
                <a:close/>
              </a:path>
            </a:pathLst>
          </a:custGeom>
          <a:ln w="6350">
            <a:solidFill>
              <a:srgbClr val="4F7A43"/>
            </a:solidFill>
            <a:prstDash val="dash"/>
          </a:ln>
        </p:spPr>
      </p:sp>
      <p:sp>
        <p:nvSpPr>
          <p:cNvPr id="146" name="Shape 144"/>
          <p:cNvSpPr/>
          <p:nvPr/>
        </p:nvSpPr>
        <p:spPr>
          <a:xfrm>
            <a:off x="1840505" y="4263399"/>
            <a:ext cx="41148" cy="41148"/>
          </a:xfrm>
          <a:prstGeom prst="ellipse">
            <a:avLst/>
          </a:prstGeom>
          <a:solidFill>
            <a:srgbClr val="FFFFFF"/>
          </a:solidFill>
          <a:ln w="7620">
            <a:solidFill>
              <a:srgbClr val="4F7A43"/>
            </a:solidFill>
            <a:prstDash val="solid"/>
          </a:ln>
        </p:spPr>
      </p:sp>
      <p:sp>
        <p:nvSpPr>
          <p:cNvPr id="147" name="Shape 145"/>
          <p:cNvSpPr/>
          <p:nvPr/>
        </p:nvSpPr>
        <p:spPr>
          <a:xfrm>
            <a:off x="1788386" y="4321284"/>
            <a:ext cx="41148" cy="41148"/>
          </a:xfrm>
          <a:prstGeom prst="ellipse">
            <a:avLst/>
          </a:prstGeom>
          <a:solidFill>
            <a:srgbClr val="FFFFFF"/>
          </a:solidFill>
          <a:ln w="7620">
            <a:solidFill>
              <a:srgbClr val="4F7A43"/>
            </a:solidFill>
            <a:prstDash val="solid"/>
          </a:ln>
        </p:spPr>
      </p:sp>
      <p:sp>
        <p:nvSpPr>
          <p:cNvPr id="148" name="Shape 146"/>
          <p:cNvSpPr/>
          <p:nvPr/>
        </p:nvSpPr>
        <p:spPr>
          <a:xfrm>
            <a:off x="1696849" y="4354533"/>
            <a:ext cx="41148" cy="41148"/>
          </a:xfrm>
          <a:prstGeom prst="ellipse">
            <a:avLst/>
          </a:prstGeom>
          <a:solidFill>
            <a:srgbClr val="FFFFFF"/>
          </a:solidFill>
          <a:ln w="7620">
            <a:solidFill>
              <a:srgbClr val="4F7A43"/>
            </a:solidFill>
            <a:prstDash val="solid"/>
          </a:ln>
        </p:spPr>
      </p:sp>
      <p:sp>
        <p:nvSpPr>
          <p:cNvPr id="149" name="Shape 147"/>
          <p:cNvSpPr/>
          <p:nvPr/>
        </p:nvSpPr>
        <p:spPr>
          <a:xfrm>
            <a:off x="1573890" y="4360238"/>
            <a:ext cx="41148" cy="41148"/>
          </a:xfrm>
          <a:prstGeom prst="ellipse">
            <a:avLst/>
          </a:prstGeom>
          <a:solidFill>
            <a:srgbClr val="FFFFFF"/>
          </a:solidFill>
          <a:ln w="7620">
            <a:solidFill>
              <a:srgbClr val="4F7A43"/>
            </a:solidFill>
            <a:prstDash val="solid"/>
          </a:ln>
        </p:spPr>
      </p:sp>
      <p:sp>
        <p:nvSpPr>
          <p:cNvPr id="150" name="Shape 148"/>
          <p:cNvSpPr/>
          <p:nvPr/>
        </p:nvSpPr>
        <p:spPr>
          <a:xfrm>
            <a:off x="1430257" y="4337902"/>
            <a:ext cx="41148" cy="41148"/>
          </a:xfrm>
          <a:prstGeom prst="ellipse">
            <a:avLst/>
          </a:prstGeom>
          <a:solidFill>
            <a:srgbClr val="FFFFFF"/>
          </a:solidFill>
          <a:ln w="7620">
            <a:solidFill>
              <a:srgbClr val="4F7A43"/>
            </a:solidFill>
            <a:prstDash val="solid"/>
          </a:ln>
        </p:spPr>
      </p:sp>
      <p:sp>
        <p:nvSpPr>
          <p:cNvPr id="151" name="Shape 149"/>
          <p:cNvSpPr/>
          <p:nvPr/>
        </p:nvSpPr>
        <p:spPr>
          <a:xfrm>
            <a:off x="1278502" y="4289477"/>
            <a:ext cx="41148" cy="41148"/>
          </a:xfrm>
          <a:prstGeom prst="ellipse">
            <a:avLst/>
          </a:prstGeom>
          <a:solidFill>
            <a:srgbClr val="FFFFFF"/>
          </a:solidFill>
          <a:ln w="7620">
            <a:solidFill>
              <a:srgbClr val="4F7A43"/>
            </a:solidFill>
            <a:prstDash val="solid"/>
          </a:ln>
        </p:spPr>
      </p:sp>
      <p:sp>
        <p:nvSpPr>
          <p:cNvPr id="152" name="Shape 150"/>
          <p:cNvSpPr/>
          <p:nvPr/>
        </p:nvSpPr>
        <p:spPr>
          <a:xfrm>
            <a:off x="1131885" y="4219193"/>
            <a:ext cx="41148" cy="41148"/>
          </a:xfrm>
          <a:prstGeom prst="ellipse">
            <a:avLst/>
          </a:prstGeom>
          <a:solidFill>
            <a:srgbClr val="FFFFFF"/>
          </a:solidFill>
          <a:ln w="7620">
            <a:solidFill>
              <a:srgbClr val="4F7A43"/>
            </a:solidFill>
            <a:prstDash val="solid"/>
          </a:ln>
        </p:spPr>
      </p:sp>
      <p:sp>
        <p:nvSpPr>
          <p:cNvPr id="153" name="Shape 151"/>
          <p:cNvSpPr/>
          <p:nvPr/>
        </p:nvSpPr>
        <p:spPr>
          <a:xfrm>
            <a:off x="1003221" y="4133195"/>
            <a:ext cx="41148" cy="41148"/>
          </a:xfrm>
          <a:prstGeom prst="ellipse">
            <a:avLst/>
          </a:prstGeom>
          <a:solidFill>
            <a:srgbClr val="FFFFFF"/>
          </a:solidFill>
          <a:ln w="7620">
            <a:solidFill>
              <a:srgbClr val="4F7A43"/>
            </a:solidFill>
            <a:prstDash val="solid"/>
          </a:ln>
        </p:spPr>
      </p:sp>
      <p:sp>
        <p:nvSpPr>
          <p:cNvPr id="154" name="Shape 152"/>
          <p:cNvSpPr/>
          <p:nvPr/>
        </p:nvSpPr>
        <p:spPr>
          <a:xfrm>
            <a:off x="903753" y="4038996"/>
            <a:ext cx="41148" cy="41148"/>
          </a:xfrm>
          <a:prstGeom prst="ellipse">
            <a:avLst/>
          </a:prstGeom>
          <a:solidFill>
            <a:srgbClr val="FFFFFF"/>
          </a:solidFill>
          <a:ln w="7620">
            <a:solidFill>
              <a:srgbClr val="4F7A43"/>
            </a:solidFill>
            <a:prstDash val="solid"/>
          </a:ln>
        </p:spPr>
      </p:sp>
      <p:sp>
        <p:nvSpPr>
          <p:cNvPr id="155" name="Shape 153"/>
          <p:cNvSpPr/>
          <p:nvPr/>
        </p:nvSpPr>
        <p:spPr>
          <a:xfrm>
            <a:off x="842174" y="3944829"/>
            <a:ext cx="41148" cy="41148"/>
          </a:xfrm>
          <a:prstGeom prst="ellipse">
            <a:avLst/>
          </a:prstGeom>
          <a:solidFill>
            <a:srgbClr val="FFFFFF"/>
          </a:solidFill>
          <a:ln w="7620">
            <a:solidFill>
              <a:srgbClr val="4F7A43"/>
            </a:solidFill>
            <a:prstDash val="solid"/>
          </a:ln>
        </p:spPr>
      </p:sp>
      <p:sp>
        <p:nvSpPr>
          <p:cNvPr id="156" name="Shape 154"/>
          <p:cNvSpPr/>
          <p:nvPr/>
        </p:nvSpPr>
        <p:spPr>
          <a:xfrm>
            <a:off x="823864" y="3858923"/>
            <a:ext cx="41148" cy="41148"/>
          </a:xfrm>
          <a:prstGeom prst="ellipse">
            <a:avLst/>
          </a:prstGeom>
          <a:solidFill>
            <a:srgbClr val="FFFFFF"/>
          </a:solidFill>
          <a:ln w="7620">
            <a:solidFill>
              <a:srgbClr val="4F7A43"/>
            </a:solidFill>
            <a:prstDash val="solid"/>
          </a:ln>
        </p:spPr>
      </p:sp>
      <p:sp>
        <p:nvSpPr>
          <p:cNvPr id="157" name="Shape 155"/>
          <p:cNvSpPr/>
          <p:nvPr/>
        </p:nvSpPr>
        <p:spPr>
          <a:xfrm>
            <a:off x="850426" y="3788786"/>
            <a:ext cx="41148" cy="41148"/>
          </a:xfrm>
          <a:prstGeom prst="ellipse">
            <a:avLst/>
          </a:prstGeom>
          <a:solidFill>
            <a:srgbClr val="FFFFFF"/>
          </a:solidFill>
          <a:ln w="7620">
            <a:solidFill>
              <a:srgbClr val="4F7A43"/>
            </a:solidFill>
            <a:prstDash val="solid"/>
          </a:ln>
        </p:spPr>
      </p:sp>
      <p:sp>
        <p:nvSpPr>
          <p:cNvPr id="158" name="Shape 156"/>
          <p:cNvSpPr/>
          <p:nvPr/>
        </p:nvSpPr>
        <p:spPr>
          <a:xfrm>
            <a:off x="919536" y="3740547"/>
            <a:ext cx="41148" cy="41148"/>
          </a:xfrm>
          <a:prstGeom prst="ellipse">
            <a:avLst/>
          </a:prstGeom>
          <a:solidFill>
            <a:srgbClr val="FFFFFF"/>
          </a:solidFill>
          <a:ln w="7620">
            <a:solidFill>
              <a:srgbClr val="4F7A43"/>
            </a:solidFill>
            <a:prstDash val="solid"/>
          </a:ln>
        </p:spPr>
      </p:sp>
      <p:sp>
        <p:nvSpPr>
          <p:cNvPr id="159" name="Shape 157"/>
          <p:cNvSpPr/>
          <p:nvPr/>
        </p:nvSpPr>
        <p:spPr>
          <a:xfrm>
            <a:off x="1025156" y="3718422"/>
            <a:ext cx="41148" cy="41148"/>
          </a:xfrm>
          <a:prstGeom prst="ellipse">
            <a:avLst/>
          </a:prstGeom>
          <a:solidFill>
            <a:srgbClr val="FFFFFF"/>
          </a:solidFill>
          <a:ln w="7620">
            <a:solidFill>
              <a:srgbClr val="4F7A43"/>
            </a:solidFill>
            <a:prstDash val="solid"/>
          </a:ln>
        </p:spPr>
      </p:sp>
      <p:sp>
        <p:nvSpPr>
          <p:cNvPr id="160" name="Shape 158"/>
          <p:cNvSpPr/>
          <p:nvPr/>
        </p:nvSpPr>
        <p:spPr>
          <a:xfrm>
            <a:off x="1158055" y="3724343"/>
            <a:ext cx="41148" cy="41148"/>
          </a:xfrm>
          <a:prstGeom prst="ellipse">
            <a:avLst/>
          </a:prstGeom>
          <a:solidFill>
            <a:srgbClr val="FFFFFF"/>
          </a:solidFill>
          <a:ln w="7620">
            <a:solidFill>
              <a:srgbClr val="4F7A43"/>
            </a:solidFill>
            <a:prstDash val="solid"/>
          </a:ln>
        </p:spPr>
      </p:sp>
      <p:sp>
        <p:nvSpPr>
          <p:cNvPr id="161" name="Shape 159"/>
          <p:cNvSpPr/>
          <p:nvPr/>
        </p:nvSpPr>
        <p:spPr>
          <a:xfrm>
            <a:off x="1306619" y="3757795"/>
            <a:ext cx="41148" cy="41148"/>
          </a:xfrm>
          <a:prstGeom prst="ellipse">
            <a:avLst/>
          </a:prstGeom>
          <a:solidFill>
            <a:srgbClr val="FFFFFF"/>
          </a:solidFill>
          <a:ln w="7620">
            <a:solidFill>
              <a:srgbClr val="4F7A43"/>
            </a:solidFill>
            <a:prstDash val="solid"/>
          </a:ln>
        </p:spPr>
      </p:sp>
      <p:sp>
        <p:nvSpPr>
          <p:cNvPr id="162" name="Shape 160"/>
          <p:cNvSpPr/>
          <p:nvPr/>
        </p:nvSpPr>
        <p:spPr>
          <a:xfrm>
            <a:off x="1457865" y="3815852"/>
            <a:ext cx="41148" cy="41148"/>
          </a:xfrm>
          <a:prstGeom prst="ellipse">
            <a:avLst/>
          </a:prstGeom>
          <a:solidFill>
            <a:srgbClr val="FFFFFF"/>
          </a:solidFill>
          <a:ln w="7620">
            <a:solidFill>
              <a:srgbClr val="4F7A43"/>
            </a:solidFill>
            <a:prstDash val="solid"/>
          </a:ln>
        </p:spPr>
      </p:sp>
      <p:sp>
        <p:nvSpPr>
          <p:cNvPr id="163" name="Shape 161"/>
          <p:cNvSpPr/>
          <p:nvPr/>
        </p:nvSpPr>
        <p:spPr>
          <a:xfrm>
            <a:off x="1598576" y="3893443"/>
            <a:ext cx="41148" cy="41148"/>
          </a:xfrm>
          <a:prstGeom prst="ellipse">
            <a:avLst/>
          </a:prstGeom>
          <a:solidFill>
            <a:srgbClr val="FFFFFF"/>
          </a:solidFill>
          <a:ln w="7620">
            <a:solidFill>
              <a:srgbClr val="4F7A43"/>
            </a:solidFill>
            <a:prstDash val="solid"/>
          </a:ln>
        </p:spPr>
      </p:sp>
      <p:sp>
        <p:nvSpPr>
          <p:cNvPr id="164" name="Shape 162"/>
          <p:cNvSpPr/>
          <p:nvPr/>
        </p:nvSpPr>
        <p:spPr>
          <a:xfrm>
            <a:off x="1716455" y="3983785"/>
            <a:ext cx="41148" cy="41148"/>
          </a:xfrm>
          <a:prstGeom prst="ellipse">
            <a:avLst/>
          </a:prstGeom>
          <a:solidFill>
            <a:srgbClr val="FFFFFF"/>
          </a:solidFill>
          <a:ln w="7620">
            <a:solidFill>
              <a:srgbClr val="4F7A43"/>
            </a:solidFill>
            <a:prstDash val="solid"/>
          </a:ln>
        </p:spPr>
      </p:sp>
      <p:sp>
        <p:nvSpPr>
          <p:cNvPr id="165" name="Shape 163"/>
          <p:cNvSpPr/>
          <p:nvPr/>
        </p:nvSpPr>
        <p:spPr>
          <a:xfrm>
            <a:off x="1801200" y="4078984"/>
            <a:ext cx="41148" cy="41148"/>
          </a:xfrm>
          <a:prstGeom prst="ellipse">
            <a:avLst/>
          </a:prstGeom>
          <a:solidFill>
            <a:srgbClr val="FFFFFF"/>
          </a:solidFill>
          <a:ln w="7620">
            <a:solidFill>
              <a:srgbClr val="4F7A43"/>
            </a:solidFill>
            <a:prstDash val="solid"/>
          </a:ln>
        </p:spPr>
      </p:sp>
      <p:sp>
        <p:nvSpPr>
          <p:cNvPr id="166" name="Shape 164"/>
          <p:cNvSpPr/>
          <p:nvPr/>
        </p:nvSpPr>
        <p:spPr>
          <a:xfrm>
            <a:off x="1845406" y="4170720"/>
            <a:ext cx="41148" cy="41148"/>
          </a:xfrm>
          <a:prstGeom prst="ellipse">
            <a:avLst/>
          </a:prstGeom>
          <a:solidFill>
            <a:srgbClr val="FFFFFF"/>
          </a:solidFill>
          <a:ln w="7620">
            <a:solidFill>
              <a:srgbClr val="4F7A43"/>
            </a:solidFill>
            <a:prstDash val="solid"/>
          </a:ln>
        </p:spPr>
      </p:sp>
      <p:sp>
        <p:nvSpPr>
          <p:cNvPr id="167" name="Shape 165"/>
          <p:cNvSpPr/>
          <p:nvPr/>
        </p:nvSpPr>
        <p:spPr>
          <a:xfrm>
            <a:off x="1845208" y="4250977"/>
            <a:ext cx="41148" cy="41148"/>
          </a:xfrm>
          <a:prstGeom prst="ellipse">
            <a:avLst/>
          </a:prstGeom>
          <a:solidFill>
            <a:srgbClr val="FFFFFF"/>
          </a:solidFill>
          <a:ln w="7620">
            <a:solidFill>
              <a:srgbClr val="4F7A43"/>
            </a:solidFill>
            <a:prstDash val="solid"/>
          </a:ln>
        </p:spPr>
      </p:sp>
      <p:sp>
        <p:nvSpPr>
          <p:cNvPr id="168" name="Shape 166"/>
          <p:cNvSpPr/>
          <p:nvPr/>
        </p:nvSpPr>
        <p:spPr>
          <a:xfrm>
            <a:off x="2350008" y="3291840"/>
            <a:ext cx="1801368" cy="1325880"/>
          </a:xfrm>
          <a:prstGeom prst="rect">
            <a:avLst/>
          </a:prstGeom>
          <a:solidFill>
            <a:srgbClr val="FFFFFF"/>
          </a:solidFill>
          <a:ln w="6350">
            <a:solidFill>
              <a:srgbClr val="D9D9D9"/>
            </a:solidFill>
            <a:prstDash val="solid"/>
          </a:ln>
        </p:spPr>
      </p:sp>
      <p:sp>
        <p:nvSpPr>
          <p:cNvPr id="169" name="Text 167"/>
          <p:cNvSpPr txBox="1"/>
          <p:nvPr/>
        </p:nvSpPr>
        <p:spPr>
          <a:xfrm>
            <a:off x="2423160" y="3346704"/>
            <a:ext cx="1655064" cy="164592"/>
          </a:xfrm>
          <a:prstGeom prst="rect">
            <a:avLst/>
          </a:prstGeom>
          <a:noFill/>
          <a:ln/>
        </p:spPr>
        <p:txBody>
          <a:bodyPr wrap="square" lIns="0" tIns="0" rIns="0" bIns="0" rtlCol="0" anchor="t"/>
          <a:lstStyle/>
          <a:p>
            <a:pPr indent="0" marL="0">
              <a:buNone/>
            </a:pPr>
            <a:r>
              <a:rPr lang="en-US" sz="550" b="1" spc="50" kern="0" dirty="0">
                <a:solidFill>
                  <a:srgbClr val="C4262E"/>
                </a:solidFill>
                <a:latin typeface="Arial" pitchFamily="34" charset="0"/>
                <a:ea typeface="Arial" pitchFamily="34" charset="-122"/>
                <a:cs typeface="Arial" pitchFamily="34" charset="-120"/>
              </a:rPr>
              <a:t>2  </a:t>
            </a:r>
            <a:pPr indent="0" marL="0">
              <a:buNone/>
            </a:pPr>
            <a:r>
              <a:rPr lang="en-US" sz="550" b="1" spc="50" kern="0" dirty="0">
                <a:solidFill>
                  <a:srgbClr val="1B1B1B"/>
                </a:solidFill>
                <a:latin typeface="Arial" pitchFamily="34" charset="0"/>
                <a:ea typeface="Arial" pitchFamily="34" charset="-122"/>
                <a:cs typeface="Arial" pitchFamily="34" charset="-120"/>
              </a:rPr>
              <a:t>TWO PUBLIC CLAIMS</a:t>
            </a:r>
            <a:endParaRPr lang="en-US" sz="550" dirty="0"/>
          </a:p>
        </p:txBody>
      </p:sp>
      <p:sp>
        <p:nvSpPr>
          <p:cNvPr id="170" name="Shape 168"/>
          <p:cNvSpPr/>
          <p:nvPr/>
        </p:nvSpPr>
        <p:spPr>
          <a:xfrm>
            <a:off x="2550294" y="3620947"/>
            <a:ext cx="1400796" cy="877978"/>
          </a:xfrm>
          <a:custGeom>
            <a:avLst/>
            <a:gdLst/>
            <a:ahLst/>
            <a:cxnLst/>
            <a:rect l="l" t="t" r="r" b="b"/>
            <a:pathLst>
              <a:path w="1400796" h="877978">
                <a:moveTo>
                  <a:pt x="1386572" y="744493"/>
                </a:moveTo>
                <a:lnTo>
                  <a:pt x="1368124" y="775813"/>
                </a:lnTo>
                <a:lnTo>
                  <a:pt x="1342360" y="803443"/>
                </a:lnTo>
                <a:lnTo>
                  <a:pt x="1309562" y="827079"/>
                </a:lnTo>
                <a:lnTo>
                  <a:pt x="1270090" y="846463"/>
                </a:lnTo>
                <a:lnTo>
                  <a:pt x="1224376" y="861384"/>
                </a:lnTo>
                <a:lnTo>
                  <a:pt x="1172922" y="871676"/>
                </a:lnTo>
                <a:lnTo>
                  <a:pt x="1116291" y="877227"/>
                </a:lnTo>
                <a:lnTo>
                  <a:pt x="1055103" y="877978"/>
                </a:lnTo>
                <a:lnTo>
                  <a:pt x="990028" y="873918"/>
                </a:lnTo>
                <a:lnTo>
                  <a:pt x="921781" y="865093"/>
                </a:lnTo>
                <a:lnTo>
                  <a:pt x="851108" y="851600"/>
                </a:lnTo>
                <a:lnTo>
                  <a:pt x="778784" y="833587"/>
                </a:lnTo>
                <a:lnTo>
                  <a:pt x="705601" y="811249"/>
                </a:lnTo>
                <a:lnTo>
                  <a:pt x="632361" y="784834"/>
                </a:lnTo>
                <a:lnTo>
                  <a:pt x="559866" y="754629"/>
                </a:lnTo>
                <a:lnTo>
                  <a:pt x="488911" y="720966"/>
                </a:lnTo>
                <a:lnTo>
                  <a:pt x="420273" y="684214"/>
                </a:lnTo>
                <a:lnTo>
                  <a:pt x="354705" y="644774"/>
                </a:lnTo>
                <a:lnTo>
                  <a:pt x="292923" y="603081"/>
                </a:lnTo>
                <a:lnTo>
                  <a:pt x="235607" y="559589"/>
                </a:lnTo>
                <a:lnTo>
                  <a:pt x="183382" y="514776"/>
                </a:lnTo>
                <a:lnTo>
                  <a:pt x="136822" y="469133"/>
                </a:lnTo>
                <a:lnTo>
                  <a:pt x="96437" y="423159"/>
                </a:lnTo>
                <a:lnTo>
                  <a:pt x="62669" y="377359"/>
                </a:lnTo>
                <a:lnTo>
                  <a:pt x="35888" y="332234"/>
                </a:lnTo>
                <a:lnTo>
                  <a:pt x="16387" y="288279"/>
                </a:lnTo>
                <a:lnTo>
                  <a:pt x="4381" y="245975"/>
                </a:lnTo>
                <a:lnTo>
                  <a:pt x="0" y="205786"/>
                </a:lnTo>
                <a:lnTo>
                  <a:pt x="3293" y="168151"/>
                </a:lnTo>
                <a:lnTo>
                  <a:pt x="14224" y="133484"/>
                </a:lnTo>
                <a:lnTo>
                  <a:pt x="32672" y="102164"/>
                </a:lnTo>
                <a:lnTo>
                  <a:pt x="58437" y="74535"/>
                </a:lnTo>
                <a:lnTo>
                  <a:pt x="91234" y="50899"/>
                </a:lnTo>
                <a:lnTo>
                  <a:pt x="130706" y="31514"/>
                </a:lnTo>
                <a:lnTo>
                  <a:pt x="176420" y="16594"/>
                </a:lnTo>
                <a:lnTo>
                  <a:pt x="227874" y="6302"/>
                </a:lnTo>
                <a:lnTo>
                  <a:pt x="284505" y="750"/>
                </a:lnTo>
                <a:lnTo>
                  <a:pt x="345693" y="0"/>
                </a:lnTo>
                <a:lnTo>
                  <a:pt x="410768" y="4059"/>
                </a:lnTo>
                <a:lnTo>
                  <a:pt x="479015" y="12884"/>
                </a:lnTo>
                <a:lnTo>
                  <a:pt x="549688" y="26377"/>
                </a:lnTo>
                <a:lnTo>
                  <a:pt x="622012" y="44391"/>
                </a:lnTo>
                <a:lnTo>
                  <a:pt x="695195" y="66728"/>
                </a:lnTo>
                <a:lnTo>
                  <a:pt x="768436" y="93144"/>
                </a:lnTo>
                <a:lnTo>
                  <a:pt x="840930" y="123349"/>
                </a:lnTo>
                <a:lnTo>
                  <a:pt x="911885" y="157012"/>
                </a:lnTo>
                <a:lnTo>
                  <a:pt x="980523" y="193764"/>
                </a:lnTo>
                <a:lnTo>
                  <a:pt x="1046092" y="233203"/>
                </a:lnTo>
                <a:lnTo>
                  <a:pt x="1107873" y="274897"/>
                </a:lnTo>
                <a:lnTo>
                  <a:pt x="1165190" y="318389"/>
                </a:lnTo>
                <a:lnTo>
                  <a:pt x="1217414" y="363202"/>
                </a:lnTo>
                <a:lnTo>
                  <a:pt x="1263974" y="408845"/>
                </a:lnTo>
                <a:lnTo>
                  <a:pt x="1304359" y="454818"/>
                </a:lnTo>
                <a:lnTo>
                  <a:pt x="1338127" y="500618"/>
                </a:lnTo>
                <a:lnTo>
                  <a:pt x="1364909" y="545743"/>
                </a:lnTo>
                <a:lnTo>
                  <a:pt x="1384409" y="589699"/>
                </a:lnTo>
                <a:lnTo>
                  <a:pt x="1396415" y="632003"/>
                </a:lnTo>
                <a:lnTo>
                  <a:pt x="1400796" y="672192"/>
                </a:lnTo>
                <a:lnTo>
                  <a:pt x="1397503" y="709826"/>
                </a:lnTo>
                <a:close/>
              </a:path>
            </a:pathLst>
          </a:custGeom>
          <a:solidFill>
            <a:srgbClr val="E4E4E4"/>
          </a:solidFill>
          <a:ln w="12700"/>
        </p:spPr>
      </p:sp>
      <p:sp>
        <p:nvSpPr>
          <p:cNvPr id="171" name="Shape 169"/>
          <p:cNvSpPr/>
          <p:nvPr/>
        </p:nvSpPr>
        <p:spPr>
          <a:xfrm>
            <a:off x="2404872" y="3708711"/>
            <a:ext cx="159646" cy="45720"/>
          </a:xfrm>
          <a:custGeom>
            <a:avLst/>
            <a:gdLst/>
            <a:ahLst/>
            <a:cxnLst/>
            <a:rect l="l" t="t" r="r" b="b"/>
            <a:pathLst>
              <a:path w="159646" h="45720">
                <a:moveTo>
                  <a:pt x="159646" y="45720"/>
                </a:moveTo>
                <a:lnTo>
                  <a:pt x="0" y="0"/>
                </a:lnTo>
              </a:path>
            </a:pathLst>
          </a:custGeom>
          <a:ln w="76200">
            <a:solidFill>
              <a:srgbClr val="E4E4E4"/>
            </a:solidFill>
            <a:prstDash val="solid"/>
          </a:ln>
        </p:spPr>
      </p:sp>
      <p:sp>
        <p:nvSpPr>
          <p:cNvPr id="172" name="Shape 170"/>
          <p:cNvSpPr/>
          <p:nvPr/>
        </p:nvSpPr>
        <p:spPr>
          <a:xfrm>
            <a:off x="3936866" y="4365441"/>
            <a:ext cx="159646" cy="45720"/>
          </a:xfrm>
          <a:custGeom>
            <a:avLst/>
            <a:gdLst/>
            <a:ahLst/>
            <a:cxnLst/>
            <a:rect l="l" t="t" r="r" b="b"/>
            <a:pathLst>
              <a:path w="159646" h="45720">
                <a:moveTo>
                  <a:pt x="0" y="0"/>
                </a:moveTo>
                <a:lnTo>
                  <a:pt x="159646" y="45720"/>
                </a:lnTo>
              </a:path>
            </a:pathLst>
          </a:custGeom>
          <a:ln w="76200">
            <a:solidFill>
              <a:srgbClr val="E4E4E4"/>
            </a:solidFill>
            <a:prstDash val="solid"/>
          </a:ln>
        </p:spPr>
      </p:sp>
      <p:sp>
        <p:nvSpPr>
          <p:cNvPr id="173" name="Shape 171"/>
          <p:cNvSpPr/>
          <p:nvPr/>
        </p:nvSpPr>
        <p:spPr>
          <a:xfrm>
            <a:off x="2667027" y="3694112"/>
            <a:ext cx="1167330" cy="731648"/>
          </a:xfrm>
          <a:custGeom>
            <a:avLst/>
            <a:gdLst/>
            <a:ahLst/>
            <a:cxnLst/>
            <a:rect l="l" t="t" r="r" b="b"/>
            <a:pathLst>
              <a:path w="1167330" h="731648">
                <a:moveTo>
                  <a:pt x="1155477" y="620411"/>
                </a:moveTo>
                <a:lnTo>
                  <a:pt x="1140103" y="646511"/>
                </a:lnTo>
                <a:lnTo>
                  <a:pt x="1118633" y="669535"/>
                </a:lnTo>
                <a:lnTo>
                  <a:pt x="1091302" y="689233"/>
                </a:lnTo>
                <a:lnTo>
                  <a:pt x="1058408" y="705386"/>
                </a:lnTo>
                <a:lnTo>
                  <a:pt x="1020314" y="717820"/>
                </a:lnTo>
                <a:lnTo>
                  <a:pt x="977435" y="726396"/>
                </a:lnTo>
                <a:lnTo>
                  <a:pt x="930242" y="731023"/>
                </a:lnTo>
                <a:lnTo>
                  <a:pt x="879252" y="731648"/>
                </a:lnTo>
                <a:lnTo>
                  <a:pt x="825024" y="728265"/>
                </a:lnTo>
                <a:lnTo>
                  <a:pt x="768151" y="720911"/>
                </a:lnTo>
                <a:lnTo>
                  <a:pt x="709257" y="709667"/>
                </a:lnTo>
                <a:lnTo>
                  <a:pt x="648986" y="694655"/>
                </a:lnTo>
                <a:lnTo>
                  <a:pt x="588001" y="676041"/>
                </a:lnTo>
                <a:lnTo>
                  <a:pt x="526967" y="654028"/>
                </a:lnTo>
                <a:lnTo>
                  <a:pt x="466555" y="628857"/>
                </a:lnTo>
                <a:lnTo>
                  <a:pt x="407426" y="600805"/>
                </a:lnTo>
                <a:lnTo>
                  <a:pt x="350228" y="570178"/>
                </a:lnTo>
                <a:lnTo>
                  <a:pt x="295587" y="537312"/>
                </a:lnTo>
                <a:lnTo>
                  <a:pt x="244103" y="502567"/>
                </a:lnTo>
                <a:lnTo>
                  <a:pt x="196339" y="466324"/>
                </a:lnTo>
                <a:lnTo>
                  <a:pt x="152818" y="428980"/>
                </a:lnTo>
                <a:lnTo>
                  <a:pt x="114018" y="390944"/>
                </a:lnTo>
                <a:lnTo>
                  <a:pt x="80364" y="352633"/>
                </a:lnTo>
                <a:lnTo>
                  <a:pt x="52224" y="314466"/>
                </a:lnTo>
                <a:lnTo>
                  <a:pt x="29906" y="276862"/>
                </a:lnTo>
                <a:lnTo>
                  <a:pt x="13656" y="240232"/>
                </a:lnTo>
                <a:lnTo>
                  <a:pt x="3651" y="204979"/>
                </a:lnTo>
                <a:lnTo>
                  <a:pt x="0" y="171488"/>
                </a:lnTo>
                <a:lnTo>
                  <a:pt x="2744" y="140126"/>
                </a:lnTo>
                <a:lnTo>
                  <a:pt x="11853" y="111237"/>
                </a:lnTo>
                <a:lnTo>
                  <a:pt x="27227" y="85137"/>
                </a:lnTo>
                <a:lnTo>
                  <a:pt x="48697" y="62113"/>
                </a:lnTo>
                <a:lnTo>
                  <a:pt x="76029" y="42415"/>
                </a:lnTo>
                <a:lnTo>
                  <a:pt x="108922" y="26262"/>
                </a:lnTo>
                <a:lnTo>
                  <a:pt x="147016" y="13828"/>
                </a:lnTo>
                <a:lnTo>
                  <a:pt x="189895" y="5252"/>
                </a:lnTo>
                <a:lnTo>
                  <a:pt x="237088" y="625"/>
                </a:lnTo>
                <a:lnTo>
                  <a:pt x="288078" y="0"/>
                </a:lnTo>
                <a:lnTo>
                  <a:pt x="342306" y="3383"/>
                </a:lnTo>
                <a:lnTo>
                  <a:pt x="399179" y="10737"/>
                </a:lnTo>
                <a:lnTo>
                  <a:pt x="458074" y="21981"/>
                </a:lnTo>
                <a:lnTo>
                  <a:pt x="518344" y="36993"/>
                </a:lnTo>
                <a:lnTo>
                  <a:pt x="579330" y="55607"/>
                </a:lnTo>
                <a:lnTo>
                  <a:pt x="640363" y="77620"/>
                </a:lnTo>
                <a:lnTo>
                  <a:pt x="700775" y="102790"/>
                </a:lnTo>
                <a:lnTo>
                  <a:pt x="759904" y="130843"/>
                </a:lnTo>
                <a:lnTo>
                  <a:pt x="817102" y="161470"/>
                </a:lnTo>
                <a:lnTo>
                  <a:pt x="871743" y="194336"/>
                </a:lnTo>
                <a:lnTo>
                  <a:pt x="923227" y="229081"/>
                </a:lnTo>
                <a:lnTo>
                  <a:pt x="970991" y="265324"/>
                </a:lnTo>
                <a:lnTo>
                  <a:pt x="1014512" y="302668"/>
                </a:lnTo>
                <a:lnTo>
                  <a:pt x="1053312" y="340704"/>
                </a:lnTo>
                <a:lnTo>
                  <a:pt x="1086966" y="379015"/>
                </a:lnTo>
                <a:lnTo>
                  <a:pt x="1115106" y="417182"/>
                </a:lnTo>
                <a:lnTo>
                  <a:pt x="1137424" y="454786"/>
                </a:lnTo>
                <a:lnTo>
                  <a:pt x="1153674" y="491416"/>
                </a:lnTo>
                <a:lnTo>
                  <a:pt x="1163680" y="526669"/>
                </a:lnTo>
                <a:lnTo>
                  <a:pt x="1167330" y="560160"/>
                </a:lnTo>
                <a:lnTo>
                  <a:pt x="1164586" y="591522"/>
                </a:lnTo>
                <a:close/>
              </a:path>
            </a:pathLst>
          </a:custGeom>
          <a:solidFill>
            <a:srgbClr val="FFFFFF"/>
          </a:solidFill>
          <a:ln w="19050">
            <a:solidFill>
              <a:srgbClr val="1B1B1B"/>
            </a:solidFill>
            <a:prstDash val="solid"/>
          </a:ln>
        </p:spPr>
      </p:sp>
      <p:sp>
        <p:nvSpPr>
          <p:cNvPr id="174" name="Shape 172"/>
          <p:cNvSpPr/>
          <p:nvPr/>
        </p:nvSpPr>
        <p:spPr>
          <a:xfrm>
            <a:off x="2893490" y="3808850"/>
            <a:ext cx="840478" cy="526787"/>
          </a:xfrm>
          <a:custGeom>
            <a:avLst/>
            <a:gdLst/>
            <a:ahLst/>
            <a:cxnLst/>
            <a:rect l="l" t="t" r="r" b="b"/>
            <a:pathLst>
              <a:path w="840478" h="526787">
                <a:moveTo>
                  <a:pt x="831943" y="446696"/>
                </a:moveTo>
                <a:lnTo>
                  <a:pt x="820874" y="465488"/>
                </a:lnTo>
                <a:lnTo>
                  <a:pt x="805416" y="482066"/>
                </a:lnTo>
                <a:lnTo>
                  <a:pt x="785737" y="496247"/>
                </a:lnTo>
                <a:lnTo>
                  <a:pt x="762054" y="507878"/>
                </a:lnTo>
                <a:lnTo>
                  <a:pt x="734626" y="516830"/>
                </a:lnTo>
                <a:lnTo>
                  <a:pt x="703753" y="523005"/>
                </a:lnTo>
                <a:lnTo>
                  <a:pt x="669774" y="526336"/>
                </a:lnTo>
                <a:lnTo>
                  <a:pt x="633062" y="526787"/>
                </a:lnTo>
                <a:lnTo>
                  <a:pt x="594017" y="524351"/>
                </a:lnTo>
                <a:lnTo>
                  <a:pt x="553069" y="519056"/>
                </a:lnTo>
                <a:lnTo>
                  <a:pt x="510665" y="510960"/>
                </a:lnTo>
                <a:lnTo>
                  <a:pt x="467270" y="500152"/>
                </a:lnTo>
                <a:lnTo>
                  <a:pt x="423360" y="486750"/>
                </a:lnTo>
                <a:lnTo>
                  <a:pt x="379416" y="470900"/>
                </a:lnTo>
                <a:lnTo>
                  <a:pt x="335920" y="452777"/>
                </a:lnTo>
                <a:lnTo>
                  <a:pt x="293347" y="432580"/>
                </a:lnTo>
                <a:lnTo>
                  <a:pt x="252164" y="410528"/>
                </a:lnTo>
                <a:lnTo>
                  <a:pt x="212823" y="386865"/>
                </a:lnTo>
                <a:lnTo>
                  <a:pt x="175754" y="361848"/>
                </a:lnTo>
                <a:lnTo>
                  <a:pt x="141364" y="335753"/>
                </a:lnTo>
                <a:lnTo>
                  <a:pt x="110029" y="308866"/>
                </a:lnTo>
                <a:lnTo>
                  <a:pt x="82093" y="281480"/>
                </a:lnTo>
                <a:lnTo>
                  <a:pt x="57862" y="253896"/>
                </a:lnTo>
                <a:lnTo>
                  <a:pt x="37601" y="226415"/>
                </a:lnTo>
                <a:lnTo>
                  <a:pt x="21533" y="199341"/>
                </a:lnTo>
                <a:lnTo>
                  <a:pt x="9832" y="172967"/>
                </a:lnTo>
                <a:lnTo>
                  <a:pt x="2628" y="147585"/>
                </a:lnTo>
                <a:lnTo>
                  <a:pt x="0" y="123471"/>
                </a:lnTo>
                <a:lnTo>
                  <a:pt x="1976" y="100891"/>
                </a:lnTo>
                <a:lnTo>
                  <a:pt x="8534" y="80091"/>
                </a:lnTo>
                <a:lnTo>
                  <a:pt x="19603" y="61299"/>
                </a:lnTo>
                <a:lnTo>
                  <a:pt x="35062" y="44721"/>
                </a:lnTo>
                <a:lnTo>
                  <a:pt x="54741" y="30539"/>
                </a:lnTo>
                <a:lnTo>
                  <a:pt x="78424" y="18908"/>
                </a:lnTo>
                <a:lnTo>
                  <a:pt x="105852" y="9956"/>
                </a:lnTo>
                <a:lnTo>
                  <a:pt x="136724" y="3781"/>
                </a:lnTo>
                <a:lnTo>
                  <a:pt x="170703" y="450"/>
                </a:lnTo>
                <a:lnTo>
                  <a:pt x="207416" y="0"/>
                </a:lnTo>
                <a:lnTo>
                  <a:pt x="246461" y="2436"/>
                </a:lnTo>
                <a:lnTo>
                  <a:pt x="287409" y="7730"/>
                </a:lnTo>
                <a:lnTo>
                  <a:pt x="329813" y="15826"/>
                </a:lnTo>
                <a:lnTo>
                  <a:pt x="373207" y="26635"/>
                </a:lnTo>
                <a:lnTo>
                  <a:pt x="417117" y="40037"/>
                </a:lnTo>
                <a:lnTo>
                  <a:pt x="461061" y="55886"/>
                </a:lnTo>
                <a:lnTo>
                  <a:pt x="504558" y="74009"/>
                </a:lnTo>
                <a:lnTo>
                  <a:pt x="547131" y="94207"/>
                </a:lnTo>
                <a:lnTo>
                  <a:pt x="588314" y="116258"/>
                </a:lnTo>
                <a:lnTo>
                  <a:pt x="627655" y="139922"/>
                </a:lnTo>
                <a:lnTo>
                  <a:pt x="664724" y="164938"/>
                </a:lnTo>
                <a:lnTo>
                  <a:pt x="699114" y="191033"/>
                </a:lnTo>
                <a:lnTo>
                  <a:pt x="730448" y="217921"/>
                </a:lnTo>
                <a:lnTo>
                  <a:pt x="758384" y="245307"/>
                </a:lnTo>
                <a:lnTo>
                  <a:pt x="782616" y="272891"/>
                </a:lnTo>
                <a:lnTo>
                  <a:pt x="802876" y="300371"/>
                </a:lnTo>
                <a:lnTo>
                  <a:pt x="818945" y="327446"/>
                </a:lnTo>
                <a:lnTo>
                  <a:pt x="830645" y="353819"/>
                </a:lnTo>
                <a:lnTo>
                  <a:pt x="837849" y="379202"/>
                </a:lnTo>
                <a:lnTo>
                  <a:pt x="840478" y="403315"/>
                </a:lnTo>
                <a:lnTo>
                  <a:pt x="838502" y="425896"/>
                </a:lnTo>
                <a:close/>
              </a:path>
            </a:pathLst>
          </a:custGeom>
          <a:ln w="6350">
            <a:solidFill>
              <a:srgbClr val="4F7A43"/>
            </a:solidFill>
            <a:prstDash val="dash"/>
          </a:ln>
        </p:spPr>
      </p:sp>
      <p:sp>
        <p:nvSpPr>
          <p:cNvPr id="175" name="Shape 173"/>
          <p:cNvSpPr/>
          <p:nvPr/>
        </p:nvSpPr>
        <p:spPr>
          <a:xfrm>
            <a:off x="3045243" y="3903964"/>
            <a:ext cx="536972" cy="336558"/>
          </a:xfrm>
          <a:custGeom>
            <a:avLst/>
            <a:gdLst/>
            <a:ahLst/>
            <a:cxnLst/>
            <a:rect l="l" t="t" r="r" b="b"/>
            <a:pathLst>
              <a:path w="536972" h="336558">
                <a:moveTo>
                  <a:pt x="531519" y="285389"/>
                </a:moveTo>
                <a:lnTo>
                  <a:pt x="524447" y="297395"/>
                </a:lnTo>
                <a:lnTo>
                  <a:pt x="514571" y="307986"/>
                </a:lnTo>
                <a:lnTo>
                  <a:pt x="501999" y="317047"/>
                </a:lnTo>
                <a:lnTo>
                  <a:pt x="486868" y="324478"/>
                </a:lnTo>
                <a:lnTo>
                  <a:pt x="469344" y="330197"/>
                </a:lnTo>
                <a:lnTo>
                  <a:pt x="449620" y="334142"/>
                </a:lnTo>
                <a:lnTo>
                  <a:pt x="427911" y="336271"/>
                </a:lnTo>
                <a:lnTo>
                  <a:pt x="404456" y="336558"/>
                </a:lnTo>
                <a:lnTo>
                  <a:pt x="379511" y="335002"/>
                </a:lnTo>
                <a:lnTo>
                  <a:pt x="353349" y="331619"/>
                </a:lnTo>
                <a:lnTo>
                  <a:pt x="326258" y="326447"/>
                </a:lnTo>
                <a:lnTo>
                  <a:pt x="298534" y="319542"/>
                </a:lnTo>
                <a:lnTo>
                  <a:pt x="270480" y="310979"/>
                </a:lnTo>
                <a:lnTo>
                  <a:pt x="242405" y="300853"/>
                </a:lnTo>
                <a:lnTo>
                  <a:pt x="214615" y="289274"/>
                </a:lnTo>
                <a:lnTo>
                  <a:pt x="187416" y="276370"/>
                </a:lnTo>
                <a:lnTo>
                  <a:pt x="161105" y="262282"/>
                </a:lnTo>
                <a:lnTo>
                  <a:pt x="135970" y="247164"/>
                </a:lnTo>
                <a:lnTo>
                  <a:pt x="112287" y="231181"/>
                </a:lnTo>
                <a:lnTo>
                  <a:pt x="90316" y="214509"/>
                </a:lnTo>
                <a:lnTo>
                  <a:pt x="70296" y="197331"/>
                </a:lnTo>
                <a:lnTo>
                  <a:pt x="52448" y="179834"/>
                </a:lnTo>
                <a:lnTo>
                  <a:pt x="36967" y="162211"/>
                </a:lnTo>
                <a:lnTo>
                  <a:pt x="24023" y="144654"/>
                </a:lnTo>
                <a:lnTo>
                  <a:pt x="13757" y="127356"/>
                </a:lnTo>
                <a:lnTo>
                  <a:pt x="6282" y="110507"/>
                </a:lnTo>
                <a:lnTo>
                  <a:pt x="1679" y="94290"/>
                </a:lnTo>
                <a:lnTo>
                  <a:pt x="0" y="78884"/>
                </a:lnTo>
                <a:lnTo>
                  <a:pt x="1262" y="64458"/>
                </a:lnTo>
                <a:lnTo>
                  <a:pt x="5452" y="51169"/>
                </a:lnTo>
                <a:lnTo>
                  <a:pt x="12524" y="39163"/>
                </a:lnTo>
                <a:lnTo>
                  <a:pt x="22401" y="28572"/>
                </a:lnTo>
                <a:lnTo>
                  <a:pt x="34973" y="19511"/>
                </a:lnTo>
                <a:lnTo>
                  <a:pt x="50104" y="12080"/>
                </a:lnTo>
                <a:lnTo>
                  <a:pt x="67628" y="6361"/>
                </a:lnTo>
                <a:lnTo>
                  <a:pt x="87352" y="2416"/>
                </a:lnTo>
                <a:lnTo>
                  <a:pt x="109060" y="288"/>
                </a:lnTo>
                <a:lnTo>
                  <a:pt x="132516" y="0"/>
                </a:lnTo>
                <a:lnTo>
                  <a:pt x="157461" y="1556"/>
                </a:lnTo>
                <a:lnTo>
                  <a:pt x="183623" y="4939"/>
                </a:lnTo>
                <a:lnTo>
                  <a:pt x="210714" y="10111"/>
                </a:lnTo>
                <a:lnTo>
                  <a:pt x="238438" y="17017"/>
                </a:lnTo>
                <a:lnTo>
                  <a:pt x="266492" y="25579"/>
                </a:lnTo>
                <a:lnTo>
                  <a:pt x="294567" y="35705"/>
                </a:lnTo>
                <a:lnTo>
                  <a:pt x="322357" y="47284"/>
                </a:lnTo>
                <a:lnTo>
                  <a:pt x="349556" y="60188"/>
                </a:lnTo>
                <a:lnTo>
                  <a:pt x="375867" y="74276"/>
                </a:lnTo>
                <a:lnTo>
                  <a:pt x="401002" y="89395"/>
                </a:lnTo>
                <a:lnTo>
                  <a:pt x="424685" y="105377"/>
                </a:lnTo>
                <a:lnTo>
                  <a:pt x="446656" y="122049"/>
                </a:lnTo>
                <a:lnTo>
                  <a:pt x="466675" y="139227"/>
                </a:lnTo>
                <a:lnTo>
                  <a:pt x="484523" y="156724"/>
                </a:lnTo>
                <a:lnTo>
                  <a:pt x="500004" y="174347"/>
                </a:lnTo>
                <a:lnTo>
                  <a:pt x="512949" y="191904"/>
                </a:lnTo>
                <a:lnTo>
                  <a:pt x="523215" y="209202"/>
                </a:lnTo>
                <a:lnTo>
                  <a:pt x="530690" y="226051"/>
                </a:lnTo>
                <a:lnTo>
                  <a:pt x="535293" y="242268"/>
                </a:lnTo>
                <a:lnTo>
                  <a:pt x="536972" y="257674"/>
                </a:lnTo>
                <a:lnTo>
                  <a:pt x="535710" y="272100"/>
                </a:lnTo>
                <a:close/>
              </a:path>
            </a:pathLst>
          </a:custGeom>
          <a:ln w="6350">
            <a:solidFill>
              <a:srgbClr val="4F7A43"/>
            </a:solidFill>
            <a:prstDash val="dash"/>
          </a:ln>
        </p:spPr>
      </p:sp>
      <p:sp>
        <p:nvSpPr>
          <p:cNvPr id="176" name="Shape 174"/>
          <p:cNvSpPr/>
          <p:nvPr/>
        </p:nvSpPr>
        <p:spPr>
          <a:xfrm>
            <a:off x="3185322" y="3991762"/>
            <a:ext cx="256813" cy="160963"/>
          </a:xfrm>
          <a:custGeom>
            <a:avLst/>
            <a:gdLst/>
            <a:ahLst/>
            <a:cxnLst/>
            <a:rect l="l" t="t" r="r" b="b"/>
            <a:pathLst>
              <a:path w="256813" h="160963">
                <a:moveTo>
                  <a:pt x="254205" y="136490"/>
                </a:moveTo>
                <a:lnTo>
                  <a:pt x="250823" y="142232"/>
                </a:lnTo>
                <a:lnTo>
                  <a:pt x="246099" y="147298"/>
                </a:lnTo>
                <a:lnTo>
                  <a:pt x="240086" y="151631"/>
                </a:lnTo>
                <a:lnTo>
                  <a:pt x="232850" y="155185"/>
                </a:lnTo>
                <a:lnTo>
                  <a:pt x="224469" y="157920"/>
                </a:lnTo>
                <a:lnTo>
                  <a:pt x="215036" y="159807"/>
                </a:lnTo>
                <a:lnTo>
                  <a:pt x="204653" y="160825"/>
                </a:lnTo>
                <a:lnTo>
                  <a:pt x="193435" y="160963"/>
                </a:lnTo>
                <a:lnTo>
                  <a:pt x="181505" y="160218"/>
                </a:lnTo>
                <a:lnTo>
                  <a:pt x="168993" y="158600"/>
                </a:lnTo>
                <a:lnTo>
                  <a:pt x="156036" y="156127"/>
                </a:lnTo>
                <a:lnTo>
                  <a:pt x="142777" y="152824"/>
                </a:lnTo>
                <a:lnTo>
                  <a:pt x="129360" y="148729"/>
                </a:lnTo>
                <a:lnTo>
                  <a:pt x="115933" y="143886"/>
                </a:lnTo>
                <a:lnTo>
                  <a:pt x="102642" y="138349"/>
                </a:lnTo>
                <a:lnTo>
                  <a:pt x="89634" y="132177"/>
                </a:lnTo>
                <a:lnTo>
                  <a:pt x="77050" y="125439"/>
                </a:lnTo>
                <a:lnTo>
                  <a:pt x="65029" y="118209"/>
                </a:lnTo>
                <a:lnTo>
                  <a:pt x="53703" y="110565"/>
                </a:lnTo>
                <a:lnTo>
                  <a:pt x="43195" y="102591"/>
                </a:lnTo>
                <a:lnTo>
                  <a:pt x="33620" y="94376"/>
                </a:lnTo>
                <a:lnTo>
                  <a:pt x="25084" y="86008"/>
                </a:lnTo>
                <a:lnTo>
                  <a:pt x="17680" y="77579"/>
                </a:lnTo>
                <a:lnTo>
                  <a:pt x="11489" y="69183"/>
                </a:lnTo>
                <a:lnTo>
                  <a:pt x="6579" y="60910"/>
                </a:lnTo>
                <a:lnTo>
                  <a:pt x="3004" y="52851"/>
                </a:lnTo>
                <a:lnTo>
                  <a:pt x="803" y="45095"/>
                </a:lnTo>
                <a:lnTo>
                  <a:pt x="0" y="37727"/>
                </a:lnTo>
                <a:lnTo>
                  <a:pt x="604" y="30828"/>
                </a:lnTo>
                <a:lnTo>
                  <a:pt x="2608" y="24472"/>
                </a:lnTo>
                <a:lnTo>
                  <a:pt x="5990" y="18730"/>
                </a:lnTo>
                <a:lnTo>
                  <a:pt x="10713" y="13665"/>
                </a:lnTo>
                <a:lnTo>
                  <a:pt x="16726" y="9331"/>
                </a:lnTo>
                <a:lnTo>
                  <a:pt x="23963" y="5778"/>
                </a:lnTo>
                <a:lnTo>
                  <a:pt x="32344" y="3042"/>
                </a:lnTo>
                <a:lnTo>
                  <a:pt x="41777" y="1155"/>
                </a:lnTo>
                <a:lnTo>
                  <a:pt x="52159" y="138"/>
                </a:lnTo>
                <a:lnTo>
                  <a:pt x="63377" y="0"/>
                </a:lnTo>
                <a:lnTo>
                  <a:pt x="75307" y="744"/>
                </a:lnTo>
                <a:lnTo>
                  <a:pt x="87819" y="2362"/>
                </a:lnTo>
                <a:lnTo>
                  <a:pt x="100776" y="4836"/>
                </a:lnTo>
                <a:lnTo>
                  <a:pt x="114036" y="8138"/>
                </a:lnTo>
                <a:lnTo>
                  <a:pt x="127453" y="12233"/>
                </a:lnTo>
                <a:lnTo>
                  <a:pt x="140880" y="17076"/>
                </a:lnTo>
                <a:lnTo>
                  <a:pt x="154171" y="22614"/>
                </a:lnTo>
                <a:lnTo>
                  <a:pt x="167179" y="28785"/>
                </a:lnTo>
                <a:lnTo>
                  <a:pt x="179763" y="35523"/>
                </a:lnTo>
                <a:lnTo>
                  <a:pt x="191783" y="42754"/>
                </a:lnTo>
                <a:lnTo>
                  <a:pt x="203110" y="50398"/>
                </a:lnTo>
                <a:lnTo>
                  <a:pt x="213618" y="58371"/>
                </a:lnTo>
                <a:lnTo>
                  <a:pt x="223193" y="66587"/>
                </a:lnTo>
                <a:lnTo>
                  <a:pt x="231729" y="74955"/>
                </a:lnTo>
                <a:lnTo>
                  <a:pt x="239133" y="83383"/>
                </a:lnTo>
                <a:lnTo>
                  <a:pt x="245323" y="91780"/>
                </a:lnTo>
                <a:lnTo>
                  <a:pt x="250233" y="100053"/>
                </a:lnTo>
                <a:lnTo>
                  <a:pt x="253808" y="108111"/>
                </a:lnTo>
                <a:lnTo>
                  <a:pt x="256009" y="115867"/>
                </a:lnTo>
                <a:lnTo>
                  <a:pt x="256813" y="123235"/>
                </a:lnTo>
                <a:lnTo>
                  <a:pt x="256209" y="130135"/>
                </a:lnTo>
                <a:close/>
              </a:path>
            </a:pathLst>
          </a:custGeom>
          <a:ln w="6350">
            <a:solidFill>
              <a:srgbClr val="4F7A43"/>
            </a:solidFill>
            <a:prstDash val="dash"/>
          </a:ln>
        </p:spPr>
      </p:sp>
      <p:sp>
        <p:nvSpPr>
          <p:cNvPr id="177" name="Shape 175"/>
          <p:cNvSpPr/>
          <p:nvPr/>
        </p:nvSpPr>
        <p:spPr>
          <a:xfrm>
            <a:off x="3733313" y="4263399"/>
            <a:ext cx="41148" cy="41148"/>
          </a:xfrm>
          <a:prstGeom prst="ellipse">
            <a:avLst/>
          </a:prstGeom>
          <a:solidFill>
            <a:srgbClr val="FFFFFF"/>
          </a:solidFill>
          <a:ln w="7620">
            <a:solidFill>
              <a:srgbClr val="4F7A43"/>
            </a:solidFill>
            <a:prstDash val="solid"/>
          </a:ln>
        </p:spPr>
      </p:sp>
      <p:sp>
        <p:nvSpPr>
          <p:cNvPr id="178" name="Shape 176"/>
          <p:cNvSpPr/>
          <p:nvPr/>
        </p:nvSpPr>
        <p:spPr>
          <a:xfrm>
            <a:off x="3681194" y="4321284"/>
            <a:ext cx="41148" cy="41148"/>
          </a:xfrm>
          <a:prstGeom prst="ellipse">
            <a:avLst/>
          </a:prstGeom>
          <a:solidFill>
            <a:srgbClr val="FFFFFF"/>
          </a:solidFill>
          <a:ln w="7620">
            <a:solidFill>
              <a:srgbClr val="4F7A43"/>
            </a:solidFill>
            <a:prstDash val="solid"/>
          </a:ln>
        </p:spPr>
      </p:sp>
      <p:sp>
        <p:nvSpPr>
          <p:cNvPr id="179" name="Shape 177"/>
          <p:cNvSpPr/>
          <p:nvPr/>
        </p:nvSpPr>
        <p:spPr>
          <a:xfrm>
            <a:off x="3589657" y="4354533"/>
            <a:ext cx="41148" cy="41148"/>
          </a:xfrm>
          <a:prstGeom prst="ellipse">
            <a:avLst/>
          </a:prstGeom>
          <a:solidFill>
            <a:srgbClr val="FFFFFF"/>
          </a:solidFill>
          <a:ln w="7620">
            <a:solidFill>
              <a:srgbClr val="4F7A43"/>
            </a:solidFill>
            <a:prstDash val="solid"/>
          </a:ln>
        </p:spPr>
      </p:sp>
      <p:sp>
        <p:nvSpPr>
          <p:cNvPr id="180" name="Shape 178"/>
          <p:cNvSpPr/>
          <p:nvPr/>
        </p:nvSpPr>
        <p:spPr>
          <a:xfrm>
            <a:off x="3466698" y="4360238"/>
            <a:ext cx="41148" cy="41148"/>
          </a:xfrm>
          <a:prstGeom prst="ellipse">
            <a:avLst/>
          </a:prstGeom>
          <a:solidFill>
            <a:srgbClr val="FFFFFF"/>
          </a:solidFill>
          <a:ln w="7620">
            <a:solidFill>
              <a:srgbClr val="4F7A43"/>
            </a:solidFill>
            <a:prstDash val="solid"/>
          </a:ln>
        </p:spPr>
      </p:sp>
      <p:sp>
        <p:nvSpPr>
          <p:cNvPr id="181" name="Shape 179"/>
          <p:cNvSpPr/>
          <p:nvPr/>
        </p:nvSpPr>
        <p:spPr>
          <a:xfrm>
            <a:off x="3323065" y="4337902"/>
            <a:ext cx="41148" cy="41148"/>
          </a:xfrm>
          <a:prstGeom prst="ellipse">
            <a:avLst/>
          </a:prstGeom>
          <a:solidFill>
            <a:srgbClr val="FFFFFF"/>
          </a:solidFill>
          <a:ln w="7620">
            <a:solidFill>
              <a:srgbClr val="4F7A43"/>
            </a:solidFill>
            <a:prstDash val="solid"/>
          </a:ln>
        </p:spPr>
      </p:sp>
      <p:sp>
        <p:nvSpPr>
          <p:cNvPr id="182" name="Shape 180"/>
          <p:cNvSpPr/>
          <p:nvPr/>
        </p:nvSpPr>
        <p:spPr>
          <a:xfrm>
            <a:off x="3171310" y="4289477"/>
            <a:ext cx="41148" cy="41148"/>
          </a:xfrm>
          <a:prstGeom prst="ellipse">
            <a:avLst/>
          </a:prstGeom>
          <a:solidFill>
            <a:srgbClr val="FFFFFF"/>
          </a:solidFill>
          <a:ln w="7620">
            <a:solidFill>
              <a:srgbClr val="4F7A43"/>
            </a:solidFill>
            <a:prstDash val="solid"/>
          </a:ln>
        </p:spPr>
      </p:sp>
      <p:sp>
        <p:nvSpPr>
          <p:cNvPr id="183" name="Shape 181"/>
          <p:cNvSpPr/>
          <p:nvPr/>
        </p:nvSpPr>
        <p:spPr>
          <a:xfrm>
            <a:off x="3024693" y="4219193"/>
            <a:ext cx="41148" cy="41148"/>
          </a:xfrm>
          <a:prstGeom prst="ellipse">
            <a:avLst/>
          </a:prstGeom>
          <a:solidFill>
            <a:srgbClr val="FFFFFF"/>
          </a:solidFill>
          <a:ln w="7620">
            <a:solidFill>
              <a:srgbClr val="4F7A43"/>
            </a:solidFill>
            <a:prstDash val="solid"/>
          </a:ln>
        </p:spPr>
      </p:sp>
      <p:sp>
        <p:nvSpPr>
          <p:cNvPr id="184" name="Shape 182"/>
          <p:cNvSpPr/>
          <p:nvPr/>
        </p:nvSpPr>
        <p:spPr>
          <a:xfrm>
            <a:off x="2896029" y="4133195"/>
            <a:ext cx="41148" cy="41148"/>
          </a:xfrm>
          <a:prstGeom prst="ellipse">
            <a:avLst/>
          </a:prstGeom>
          <a:solidFill>
            <a:srgbClr val="FFFFFF"/>
          </a:solidFill>
          <a:ln w="7620">
            <a:solidFill>
              <a:srgbClr val="4F7A43"/>
            </a:solidFill>
            <a:prstDash val="solid"/>
          </a:ln>
        </p:spPr>
      </p:sp>
      <p:sp>
        <p:nvSpPr>
          <p:cNvPr id="185" name="Shape 183"/>
          <p:cNvSpPr/>
          <p:nvPr/>
        </p:nvSpPr>
        <p:spPr>
          <a:xfrm>
            <a:off x="2796561" y="4038996"/>
            <a:ext cx="41148" cy="41148"/>
          </a:xfrm>
          <a:prstGeom prst="ellipse">
            <a:avLst/>
          </a:prstGeom>
          <a:solidFill>
            <a:srgbClr val="FFFFFF"/>
          </a:solidFill>
          <a:ln w="7620">
            <a:solidFill>
              <a:srgbClr val="4F7A43"/>
            </a:solidFill>
            <a:prstDash val="solid"/>
          </a:ln>
        </p:spPr>
      </p:sp>
      <p:sp>
        <p:nvSpPr>
          <p:cNvPr id="186" name="Shape 184"/>
          <p:cNvSpPr/>
          <p:nvPr/>
        </p:nvSpPr>
        <p:spPr>
          <a:xfrm>
            <a:off x="2734982" y="3944829"/>
            <a:ext cx="41148" cy="41148"/>
          </a:xfrm>
          <a:prstGeom prst="ellipse">
            <a:avLst/>
          </a:prstGeom>
          <a:solidFill>
            <a:srgbClr val="FFFFFF"/>
          </a:solidFill>
          <a:ln w="7620">
            <a:solidFill>
              <a:srgbClr val="4F7A43"/>
            </a:solidFill>
            <a:prstDash val="solid"/>
          </a:ln>
        </p:spPr>
      </p:sp>
      <p:sp>
        <p:nvSpPr>
          <p:cNvPr id="187" name="Shape 185"/>
          <p:cNvSpPr/>
          <p:nvPr/>
        </p:nvSpPr>
        <p:spPr>
          <a:xfrm>
            <a:off x="2716672" y="3858923"/>
            <a:ext cx="41148" cy="41148"/>
          </a:xfrm>
          <a:prstGeom prst="ellipse">
            <a:avLst/>
          </a:prstGeom>
          <a:solidFill>
            <a:srgbClr val="FFFFFF"/>
          </a:solidFill>
          <a:ln w="7620">
            <a:solidFill>
              <a:srgbClr val="4F7A43"/>
            </a:solidFill>
            <a:prstDash val="solid"/>
          </a:ln>
        </p:spPr>
      </p:sp>
      <p:sp>
        <p:nvSpPr>
          <p:cNvPr id="188" name="Shape 186"/>
          <p:cNvSpPr/>
          <p:nvPr/>
        </p:nvSpPr>
        <p:spPr>
          <a:xfrm>
            <a:off x="2743234" y="3788786"/>
            <a:ext cx="41148" cy="41148"/>
          </a:xfrm>
          <a:prstGeom prst="ellipse">
            <a:avLst/>
          </a:prstGeom>
          <a:solidFill>
            <a:srgbClr val="FFFFFF"/>
          </a:solidFill>
          <a:ln w="7620">
            <a:solidFill>
              <a:srgbClr val="4F7A43"/>
            </a:solidFill>
            <a:prstDash val="solid"/>
          </a:ln>
        </p:spPr>
      </p:sp>
      <p:sp>
        <p:nvSpPr>
          <p:cNvPr id="189" name="Shape 187"/>
          <p:cNvSpPr/>
          <p:nvPr/>
        </p:nvSpPr>
        <p:spPr>
          <a:xfrm>
            <a:off x="2812344" y="3740547"/>
            <a:ext cx="41148" cy="41148"/>
          </a:xfrm>
          <a:prstGeom prst="ellipse">
            <a:avLst/>
          </a:prstGeom>
          <a:solidFill>
            <a:srgbClr val="FFFFFF"/>
          </a:solidFill>
          <a:ln w="7620">
            <a:solidFill>
              <a:srgbClr val="4F7A43"/>
            </a:solidFill>
            <a:prstDash val="solid"/>
          </a:ln>
        </p:spPr>
      </p:sp>
      <p:sp>
        <p:nvSpPr>
          <p:cNvPr id="190" name="Shape 188"/>
          <p:cNvSpPr/>
          <p:nvPr/>
        </p:nvSpPr>
        <p:spPr>
          <a:xfrm>
            <a:off x="2917964" y="3718422"/>
            <a:ext cx="41148" cy="41148"/>
          </a:xfrm>
          <a:prstGeom prst="ellipse">
            <a:avLst/>
          </a:prstGeom>
          <a:solidFill>
            <a:srgbClr val="FFFFFF"/>
          </a:solidFill>
          <a:ln w="7620">
            <a:solidFill>
              <a:srgbClr val="4F7A43"/>
            </a:solidFill>
            <a:prstDash val="solid"/>
          </a:ln>
        </p:spPr>
      </p:sp>
      <p:sp>
        <p:nvSpPr>
          <p:cNvPr id="191" name="Shape 189"/>
          <p:cNvSpPr/>
          <p:nvPr/>
        </p:nvSpPr>
        <p:spPr>
          <a:xfrm>
            <a:off x="3050863" y="3724343"/>
            <a:ext cx="41148" cy="41148"/>
          </a:xfrm>
          <a:prstGeom prst="ellipse">
            <a:avLst/>
          </a:prstGeom>
          <a:solidFill>
            <a:srgbClr val="FFFFFF"/>
          </a:solidFill>
          <a:ln w="7620">
            <a:solidFill>
              <a:srgbClr val="4F7A43"/>
            </a:solidFill>
            <a:prstDash val="solid"/>
          </a:ln>
        </p:spPr>
      </p:sp>
      <p:sp>
        <p:nvSpPr>
          <p:cNvPr id="192" name="Shape 190"/>
          <p:cNvSpPr/>
          <p:nvPr/>
        </p:nvSpPr>
        <p:spPr>
          <a:xfrm>
            <a:off x="3199427" y="3757795"/>
            <a:ext cx="41148" cy="41148"/>
          </a:xfrm>
          <a:prstGeom prst="ellipse">
            <a:avLst/>
          </a:prstGeom>
          <a:solidFill>
            <a:srgbClr val="FFFFFF"/>
          </a:solidFill>
          <a:ln w="7620">
            <a:solidFill>
              <a:srgbClr val="4F7A43"/>
            </a:solidFill>
            <a:prstDash val="solid"/>
          </a:ln>
        </p:spPr>
      </p:sp>
      <p:sp>
        <p:nvSpPr>
          <p:cNvPr id="193" name="Shape 191"/>
          <p:cNvSpPr/>
          <p:nvPr/>
        </p:nvSpPr>
        <p:spPr>
          <a:xfrm>
            <a:off x="3350673" y="3815852"/>
            <a:ext cx="41148" cy="41148"/>
          </a:xfrm>
          <a:prstGeom prst="ellipse">
            <a:avLst/>
          </a:prstGeom>
          <a:solidFill>
            <a:srgbClr val="FFFFFF"/>
          </a:solidFill>
          <a:ln w="7620">
            <a:solidFill>
              <a:srgbClr val="4F7A43"/>
            </a:solidFill>
            <a:prstDash val="solid"/>
          </a:ln>
        </p:spPr>
      </p:sp>
      <p:sp>
        <p:nvSpPr>
          <p:cNvPr id="194" name="Shape 192"/>
          <p:cNvSpPr/>
          <p:nvPr/>
        </p:nvSpPr>
        <p:spPr>
          <a:xfrm>
            <a:off x="3491384" y="3893443"/>
            <a:ext cx="41148" cy="41148"/>
          </a:xfrm>
          <a:prstGeom prst="ellipse">
            <a:avLst/>
          </a:prstGeom>
          <a:solidFill>
            <a:srgbClr val="FFFFFF"/>
          </a:solidFill>
          <a:ln w="7620">
            <a:solidFill>
              <a:srgbClr val="4F7A43"/>
            </a:solidFill>
            <a:prstDash val="solid"/>
          </a:ln>
        </p:spPr>
      </p:sp>
      <p:sp>
        <p:nvSpPr>
          <p:cNvPr id="195" name="Shape 193"/>
          <p:cNvSpPr/>
          <p:nvPr/>
        </p:nvSpPr>
        <p:spPr>
          <a:xfrm>
            <a:off x="3609263" y="3983785"/>
            <a:ext cx="41148" cy="41148"/>
          </a:xfrm>
          <a:prstGeom prst="ellipse">
            <a:avLst/>
          </a:prstGeom>
          <a:solidFill>
            <a:srgbClr val="FFFFFF"/>
          </a:solidFill>
          <a:ln w="7620">
            <a:solidFill>
              <a:srgbClr val="4F7A43"/>
            </a:solidFill>
            <a:prstDash val="solid"/>
          </a:ln>
        </p:spPr>
      </p:sp>
      <p:sp>
        <p:nvSpPr>
          <p:cNvPr id="196" name="Shape 194"/>
          <p:cNvSpPr/>
          <p:nvPr/>
        </p:nvSpPr>
        <p:spPr>
          <a:xfrm>
            <a:off x="3694008" y="4078984"/>
            <a:ext cx="41148" cy="41148"/>
          </a:xfrm>
          <a:prstGeom prst="ellipse">
            <a:avLst/>
          </a:prstGeom>
          <a:solidFill>
            <a:srgbClr val="FFFFFF"/>
          </a:solidFill>
          <a:ln w="7620">
            <a:solidFill>
              <a:srgbClr val="4F7A43"/>
            </a:solidFill>
            <a:prstDash val="solid"/>
          </a:ln>
        </p:spPr>
      </p:sp>
      <p:sp>
        <p:nvSpPr>
          <p:cNvPr id="197" name="Shape 195"/>
          <p:cNvSpPr/>
          <p:nvPr/>
        </p:nvSpPr>
        <p:spPr>
          <a:xfrm>
            <a:off x="3738214" y="4170720"/>
            <a:ext cx="41148" cy="41148"/>
          </a:xfrm>
          <a:prstGeom prst="ellipse">
            <a:avLst/>
          </a:prstGeom>
          <a:solidFill>
            <a:srgbClr val="FFFFFF"/>
          </a:solidFill>
          <a:ln w="7620">
            <a:solidFill>
              <a:srgbClr val="4F7A43"/>
            </a:solidFill>
            <a:prstDash val="solid"/>
          </a:ln>
        </p:spPr>
      </p:sp>
      <p:sp>
        <p:nvSpPr>
          <p:cNvPr id="198" name="Shape 196"/>
          <p:cNvSpPr/>
          <p:nvPr/>
        </p:nvSpPr>
        <p:spPr>
          <a:xfrm>
            <a:off x="3738016" y="4250977"/>
            <a:ext cx="41148" cy="41148"/>
          </a:xfrm>
          <a:prstGeom prst="ellipse">
            <a:avLst/>
          </a:prstGeom>
          <a:solidFill>
            <a:srgbClr val="FFFFFF"/>
          </a:solidFill>
          <a:ln w="7620">
            <a:solidFill>
              <a:srgbClr val="4F7A43"/>
            </a:solidFill>
            <a:prstDash val="solid"/>
          </a:ln>
        </p:spPr>
      </p:sp>
      <p:sp>
        <p:nvSpPr>
          <p:cNvPr id="199" name="Shape 197"/>
          <p:cNvSpPr/>
          <p:nvPr/>
        </p:nvSpPr>
        <p:spPr>
          <a:xfrm>
            <a:off x="3287661" y="4277283"/>
            <a:ext cx="581500" cy="170651"/>
          </a:xfrm>
          <a:custGeom>
            <a:avLst/>
            <a:gdLst/>
            <a:ahLst/>
            <a:cxnLst/>
            <a:rect l="l" t="t" r="r" b="b"/>
            <a:pathLst>
              <a:path w="581500" h="170651">
                <a:moveTo>
                  <a:pt x="581500" y="0"/>
                </a:moveTo>
                <a:lnTo>
                  <a:pt x="578539" y="23224"/>
                </a:lnTo>
                <a:lnTo>
                  <a:pt x="572194" y="45125"/>
                </a:lnTo>
                <a:lnTo>
                  <a:pt x="562498" y="65582"/>
                </a:lnTo>
                <a:lnTo>
                  <a:pt x="549506" y="84483"/>
                </a:lnTo>
                <a:lnTo>
                  <a:pt x="533288" y="101724"/>
                </a:lnTo>
                <a:lnTo>
                  <a:pt x="513933" y="117211"/>
                </a:lnTo>
                <a:lnTo>
                  <a:pt x="491550" y="130858"/>
                </a:lnTo>
                <a:lnTo>
                  <a:pt x="466259" y="142589"/>
                </a:lnTo>
                <a:lnTo>
                  <a:pt x="438201" y="152341"/>
                </a:lnTo>
                <a:lnTo>
                  <a:pt x="407530" y="160060"/>
                </a:lnTo>
                <a:lnTo>
                  <a:pt x="374414" y="165704"/>
                </a:lnTo>
                <a:lnTo>
                  <a:pt x="339035" y="169240"/>
                </a:lnTo>
                <a:lnTo>
                  <a:pt x="301589" y="170651"/>
                </a:lnTo>
                <a:lnTo>
                  <a:pt x="262281" y="169928"/>
                </a:lnTo>
                <a:lnTo>
                  <a:pt x="221327" y="167075"/>
                </a:lnTo>
                <a:lnTo>
                  <a:pt x="178952" y="162108"/>
                </a:lnTo>
                <a:lnTo>
                  <a:pt x="135390" y="155053"/>
                </a:lnTo>
                <a:lnTo>
                  <a:pt x="90881" y="145951"/>
                </a:lnTo>
                <a:lnTo>
                  <a:pt x="45667" y="134851"/>
                </a:lnTo>
                <a:lnTo>
                  <a:pt x="0" y="121814"/>
                </a:lnTo>
              </a:path>
            </a:pathLst>
          </a:custGeom>
          <a:ln w="44450">
            <a:solidFill>
              <a:srgbClr val="C4262E"/>
            </a:solidFill>
            <a:prstDash val="solid"/>
          </a:ln>
        </p:spPr>
      </p:sp>
      <p:sp>
        <p:nvSpPr>
          <p:cNvPr id="200" name="Shape 198"/>
          <p:cNvSpPr/>
          <p:nvPr/>
        </p:nvSpPr>
        <p:spPr>
          <a:xfrm>
            <a:off x="3323999" y="4052946"/>
            <a:ext cx="109728" cy="109728"/>
          </a:xfrm>
          <a:prstGeom prst="ellipse">
            <a:avLst/>
          </a:prstGeom>
          <a:solidFill>
            <a:srgbClr val="FFFFFF"/>
          </a:solidFill>
          <a:ln w="19050">
            <a:solidFill>
              <a:srgbClr val="C4262E"/>
            </a:solidFill>
            <a:prstDash val="solid"/>
          </a:ln>
        </p:spPr>
      </p:sp>
      <p:sp>
        <p:nvSpPr>
          <p:cNvPr id="201" name="Shape 199"/>
          <p:cNvSpPr/>
          <p:nvPr/>
        </p:nvSpPr>
        <p:spPr>
          <a:xfrm>
            <a:off x="4242816" y="3291840"/>
            <a:ext cx="1801368" cy="1325880"/>
          </a:xfrm>
          <a:prstGeom prst="rect">
            <a:avLst/>
          </a:prstGeom>
          <a:solidFill>
            <a:srgbClr val="FFFFFF"/>
          </a:solidFill>
          <a:ln w="6350">
            <a:solidFill>
              <a:srgbClr val="D9D9D9"/>
            </a:solidFill>
            <a:prstDash val="solid"/>
          </a:ln>
        </p:spPr>
      </p:sp>
      <p:sp>
        <p:nvSpPr>
          <p:cNvPr id="202" name="Text 200"/>
          <p:cNvSpPr txBox="1"/>
          <p:nvPr/>
        </p:nvSpPr>
        <p:spPr>
          <a:xfrm>
            <a:off x="4315968" y="3346704"/>
            <a:ext cx="1655064" cy="164592"/>
          </a:xfrm>
          <a:prstGeom prst="rect">
            <a:avLst/>
          </a:prstGeom>
          <a:noFill/>
          <a:ln/>
        </p:spPr>
        <p:txBody>
          <a:bodyPr wrap="square" lIns="0" tIns="0" rIns="0" bIns="0" rtlCol="0" anchor="t"/>
          <a:lstStyle/>
          <a:p>
            <a:pPr indent="0" marL="0">
              <a:buNone/>
            </a:pPr>
            <a:r>
              <a:rPr lang="en-US" sz="550" b="1" spc="50" kern="0" dirty="0">
                <a:solidFill>
                  <a:srgbClr val="C4262E"/>
                </a:solidFill>
                <a:latin typeface="Arial" pitchFamily="34" charset="0"/>
                <a:ea typeface="Arial" pitchFamily="34" charset="-122"/>
                <a:cs typeface="Arial" pitchFamily="34" charset="-120"/>
              </a:rPr>
              <a:t>3  </a:t>
            </a:r>
            <a:pPr indent="0" marL="0">
              <a:buNone/>
            </a:pPr>
            <a:r>
              <a:rPr lang="en-US" sz="550" b="1" spc="50" kern="0" dirty="0">
                <a:solidFill>
                  <a:srgbClr val="1B1B1B"/>
                </a:solidFill>
                <a:latin typeface="Arial" pitchFamily="34" charset="0"/>
                <a:ea typeface="Arial" pitchFamily="34" charset="-122"/>
                <a:cs typeface="Arial" pitchFamily="34" charset="-120"/>
              </a:rPr>
              <a:t>DRAW THE ROUTE</a:t>
            </a:r>
            <a:endParaRPr lang="en-US" sz="550" dirty="0"/>
          </a:p>
        </p:txBody>
      </p:sp>
      <p:sp>
        <p:nvSpPr>
          <p:cNvPr id="203" name="Shape 201"/>
          <p:cNvSpPr/>
          <p:nvPr/>
        </p:nvSpPr>
        <p:spPr>
          <a:xfrm>
            <a:off x="4443102" y="3620947"/>
            <a:ext cx="1400796" cy="877978"/>
          </a:xfrm>
          <a:custGeom>
            <a:avLst/>
            <a:gdLst/>
            <a:ahLst/>
            <a:cxnLst/>
            <a:rect l="l" t="t" r="r" b="b"/>
            <a:pathLst>
              <a:path w="1400796" h="877978">
                <a:moveTo>
                  <a:pt x="1386572" y="744493"/>
                </a:moveTo>
                <a:lnTo>
                  <a:pt x="1368124" y="775813"/>
                </a:lnTo>
                <a:lnTo>
                  <a:pt x="1342360" y="803443"/>
                </a:lnTo>
                <a:lnTo>
                  <a:pt x="1309562" y="827079"/>
                </a:lnTo>
                <a:lnTo>
                  <a:pt x="1270090" y="846463"/>
                </a:lnTo>
                <a:lnTo>
                  <a:pt x="1224376" y="861384"/>
                </a:lnTo>
                <a:lnTo>
                  <a:pt x="1172922" y="871676"/>
                </a:lnTo>
                <a:lnTo>
                  <a:pt x="1116291" y="877227"/>
                </a:lnTo>
                <a:lnTo>
                  <a:pt x="1055103" y="877978"/>
                </a:lnTo>
                <a:lnTo>
                  <a:pt x="990028" y="873918"/>
                </a:lnTo>
                <a:lnTo>
                  <a:pt x="921781" y="865093"/>
                </a:lnTo>
                <a:lnTo>
                  <a:pt x="851108" y="851600"/>
                </a:lnTo>
                <a:lnTo>
                  <a:pt x="778784" y="833587"/>
                </a:lnTo>
                <a:lnTo>
                  <a:pt x="705601" y="811249"/>
                </a:lnTo>
                <a:lnTo>
                  <a:pt x="632361" y="784834"/>
                </a:lnTo>
                <a:lnTo>
                  <a:pt x="559866" y="754629"/>
                </a:lnTo>
                <a:lnTo>
                  <a:pt x="488911" y="720966"/>
                </a:lnTo>
                <a:lnTo>
                  <a:pt x="420273" y="684214"/>
                </a:lnTo>
                <a:lnTo>
                  <a:pt x="354705" y="644774"/>
                </a:lnTo>
                <a:lnTo>
                  <a:pt x="292923" y="603081"/>
                </a:lnTo>
                <a:lnTo>
                  <a:pt x="235607" y="559589"/>
                </a:lnTo>
                <a:lnTo>
                  <a:pt x="183382" y="514776"/>
                </a:lnTo>
                <a:lnTo>
                  <a:pt x="136822" y="469133"/>
                </a:lnTo>
                <a:lnTo>
                  <a:pt x="96437" y="423159"/>
                </a:lnTo>
                <a:lnTo>
                  <a:pt x="62669" y="377359"/>
                </a:lnTo>
                <a:lnTo>
                  <a:pt x="35888" y="332234"/>
                </a:lnTo>
                <a:lnTo>
                  <a:pt x="16387" y="288279"/>
                </a:lnTo>
                <a:lnTo>
                  <a:pt x="4381" y="245975"/>
                </a:lnTo>
                <a:lnTo>
                  <a:pt x="0" y="205786"/>
                </a:lnTo>
                <a:lnTo>
                  <a:pt x="3293" y="168151"/>
                </a:lnTo>
                <a:lnTo>
                  <a:pt x="14224" y="133484"/>
                </a:lnTo>
                <a:lnTo>
                  <a:pt x="32672" y="102164"/>
                </a:lnTo>
                <a:lnTo>
                  <a:pt x="58437" y="74535"/>
                </a:lnTo>
                <a:lnTo>
                  <a:pt x="91234" y="50899"/>
                </a:lnTo>
                <a:lnTo>
                  <a:pt x="130706" y="31514"/>
                </a:lnTo>
                <a:lnTo>
                  <a:pt x="176420" y="16594"/>
                </a:lnTo>
                <a:lnTo>
                  <a:pt x="227874" y="6302"/>
                </a:lnTo>
                <a:lnTo>
                  <a:pt x="284505" y="750"/>
                </a:lnTo>
                <a:lnTo>
                  <a:pt x="345693" y="0"/>
                </a:lnTo>
                <a:lnTo>
                  <a:pt x="410768" y="4059"/>
                </a:lnTo>
                <a:lnTo>
                  <a:pt x="479015" y="12884"/>
                </a:lnTo>
                <a:lnTo>
                  <a:pt x="549688" y="26377"/>
                </a:lnTo>
                <a:lnTo>
                  <a:pt x="622012" y="44391"/>
                </a:lnTo>
                <a:lnTo>
                  <a:pt x="695195" y="66728"/>
                </a:lnTo>
                <a:lnTo>
                  <a:pt x="768436" y="93144"/>
                </a:lnTo>
                <a:lnTo>
                  <a:pt x="840930" y="123349"/>
                </a:lnTo>
                <a:lnTo>
                  <a:pt x="911885" y="157012"/>
                </a:lnTo>
                <a:lnTo>
                  <a:pt x="980523" y="193764"/>
                </a:lnTo>
                <a:lnTo>
                  <a:pt x="1046092" y="233203"/>
                </a:lnTo>
                <a:lnTo>
                  <a:pt x="1107873" y="274897"/>
                </a:lnTo>
                <a:lnTo>
                  <a:pt x="1165190" y="318389"/>
                </a:lnTo>
                <a:lnTo>
                  <a:pt x="1217414" y="363202"/>
                </a:lnTo>
                <a:lnTo>
                  <a:pt x="1263974" y="408845"/>
                </a:lnTo>
                <a:lnTo>
                  <a:pt x="1304359" y="454818"/>
                </a:lnTo>
                <a:lnTo>
                  <a:pt x="1338127" y="500618"/>
                </a:lnTo>
                <a:lnTo>
                  <a:pt x="1364909" y="545743"/>
                </a:lnTo>
                <a:lnTo>
                  <a:pt x="1384409" y="589699"/>
                </a:lnTo>
                <a:lnTo>
                  <a:pt x="1396415" y="632003"/>
                </a:lnTo>
                <a:lnTo>
                  <a:pt x="1400796" y="672192"/>
                </a:lnTo>
                <a:lnTo>
                  <a:pt x="1397503" y="709826"/>
                </a:lnTo>
                <a:close/>
              </a:path>
            </a:pathLst>
          </a:custGeom>
          <a:solidFill>
            <a:srgbClr val="E4E4E4"/>
          </a:solidFill>
          <a:ln w="12700"/>
        </p:spPr>
      </p:sp>
      <p:sp>
        <p:nvSpPr>
          <p:cNvPr id="204" name="Shape 202"/>
          <p:cNvSpPr/>
          <p:nvPr/>
        </p:nvSpPr>
        <p:spPr>
          <a:xfrm>
            <a:off x="4297680" y="3708711"/>
            <a:ext cx="159646" cy="45720"/>
          </a:xfrm>
          <a:custGeom>
            <a:avLst/>
            <a:gdLst/>
            <a:ahLst/>
            <a:cxnLst/>
            <a:rect l="l" t="t" r="r" b="b"/>
            <a:pathLst>
              <a:path w="159646" h="45720">
                <a:moveTo>
                  <a:pt x="159646" y="45720"/>
                </a:moveTo>
                <a:lnTo>
                  <a:pt x="0" y="0"/>
                </a:lnTo>
              </a:path>
            </a:pathLst>
          </a:custGeom>
          <a:ln w="76200">
            <a:solidFill>
              <a:srgbClr val="E4E4E4"/>
            </a:solidFill>
            <a:prstDash val="solid"/>
          </a:ln>
        </p:spPr>
      </p:sp>
      <p:sp>
        <p:nvSpPr>
          <p:cNvPr id="205" name="Shape 203"/>
          <p:cNvSpPr/>
          <p:nvPr/>
        </p:nvSpPr>
        <p:spPr>
          <a:xfrm>
            <a:off x="5829674" y="4365441"/>
            <a:ext cx="159646" cy="45720"/>
          </a:xfrm>
          <a:custGeom>
            <a:avLst/>
            <a:gdLst/>
            <a:ahLst/>
            <a:cxnLst/>
            <a:rect l="l" t="t" r="r" b="b"/>
            <a:pathLst>
              <a:path w="159646" h="45720">
                <a:moveTo>
                  <a:pt x="0" y="0"/>
                </a:moveTo>
                <a:lnTo>
                  <a:pt x="159646" y="45720"/>
                </a:lnTo>
              </a:path>
            </a:pathLst>
          </a:custGeom>
          <a:ln w="76200">
            <a:solidFill>
              <a:srgbClr val="E4E4E4"/>
            </a:solidFill>
            <a:prstDash val="solid"/>
          </a:ln>
        </p:spPr>
      </p:sp>
      <p:sp>
        <p:nvSpPr>
          <p:cNvPr id="206" name="Shape 204"/>
          <p:cNvSpPr/>
          <p:nvPr/>
        </p:nvSpPr>
        <p:spPr>
          <a:xfrm>
            <a:off x="4559835" y="3694112"/>
            <a:ext cx="1167330" cy="731648"/>
          </a:xfrm>
          <a:custGeom>
            <a:avLst/>
            <a:gdLst/>
            <a:ahLst/>
            <a:cxnLst/>
            <a:rect l="l" t="t" r="r" b="b"/>
            <a:pathLst>
              <a:path w="1167330" h="731648">
                <a:moveTo>
                  <a:pt x="1155477" y="620411"/>
                </a:moveTo>
                <a:lnTo>
                  <a:pt x="1140103" y="646511"/>
                </a:lnTo>
                <a:lnTo>
                  <a:pt x="1118633" y="669535"/>
                </a:lnTo>
                <a:lnTo>
                  <a:pt x="1091302" y="689233"/>
                </a:lnTo>
                <a:lnTo>
                  <a:pt x="1058408" y="705386"/>
                </a:lnTo>
                <a:lnTo>
                  <a:pt x="1020314" y="717820"/>
                </a:lnTo>
                <a:lnTo>
                  <a:pt x="977435" y="726396"/>
                </a:lnTo>
                <a:lnTo>
                  <a:pt x="930242" y="731023"/>
                </a:lnTo>
                <a:lnTo>
                  <a:pt x="879252" y="731648"/>
                </a:lnTo>
                <a:lnTo>
                  <a:pt x="825024" y="728265"/>
                </a:lnTo>
                <a:lnTo>
                  <a:pt x="768151" y="720911"/>
                </a:lnTo>
                <a:lnTo>
                  <a:pt x="709257" y="709667"/>
                </a:lnTo>
                <a:lnTo>
                  <a:pt x="648986" y="694655"/>
                </a:lnTo>
                <a:lnTo>
                  <a:pt x="588001" y="676041"/>
                </a:lnTo>
                <a:lnTo>
                  <a:pt x="526967" y="654028"/>
                </a:lnTo>
                <a:lnTo>
                  <a:pt x="466555" y="628857"/>
                </a:lnTo>
                <a:lnTo>
                  <a:pt x="407426" y="600805"/>
                </a:lnTo>
                <a:lnTo>
                  <a:pt x="350228" y="570178"/>
                </a:lnTo>
                <a:lnTo>
                  <a:pt x="295587" y="537312"/>
                </a:lnTo>
                <a:lnTo>
                  <a:pt x="244103" y="502567"/>
                </a:lnTo>
                <a:lnTo>
                  <a:pt x="196339" y="466324"/>
                </a:lnTo>
                <a:lnTo>
                  <a:pt x="152818" y="428980"/>
                </a:lnTo>
                <a:lnTo>
                  <a:pt x="114018" y="390944"/>
                </a:lnTo>
                <a:lnTo>
                  <a:pt x="80364" y="352633"/>
                </a:lnTo>
                <a:lnTo>
                  <a:pt x="52224" y="314466"/>
                </a:lnTo>
                <a:lnTo>
                  <a:pt x="29906" y="276862"/>
                </a:lnTo>
                <a:lnTo>
                  <a:pt x="13656" y="240232"/>
                </a:lnTo>
                <a:lnTo>
                  <a:pt x="3651" y="204979"/>
                </a:lnTo>
                <a:lnTo>
                  <a:pt x="0" y="171488"/>
                </a:lnTo>
                <a:lnTo>
                  <a:pt x="2744" y="140126"/>
                </a:lnTo>
                <a:lnTo>
                  <a:pt x="11853" y="111237"/>
                </a:lnTo>
                <a:lnTo>
                  <a:pt x="27227" y="85137"/>
                </a:lnTo>
                <a:lnTo>
                  <a:pt x="48697" y="62113"/>
                </a:lnTo>
                <a:lnTo>
                  <a:pt x="76029" y="42415"/>
                </a:lnTo>
                <a:lnTo>
                  <a:pt x="108922" y="26262"/>
                </a:lnTo>
                <a:lnTo>
                  <a:pt x="147016" y="13828"/>
                </a:lnTo>
                <a:lnTo>
                  <a:pt x="189895" y="5252"/>
                </a:lnTo>
                <a:lnTo>
                  <a:pt x="237088" y="625"/>
                </a:lnTo>
                <a:lnTo>
                  <a:pt x="288078" y="0"/>
                </a:lnTo>
                <a:lnTo>
                  <a:pt x="342306" y="3383"/>
                </a:lnTo>
                <a:lnTo>
                  <a:pt x="399179" y="10737"/>
                </a:lnTo>
                <a:lnTo>
                  <a:pt x="458074" y="21981"/>
                </a:lnTo>
                <a:lnTo>
                  <a:pt x="518344" y="36993"/>
                </a:lnTo>
                <a:lnTo>
                  <a:pt x="579330" y="55607"/>
                </a:lnTo>
                <a:lnTo>
                  <a:pt x="640363" y="77620"/>
                </a:lnTo>
                <a:lnTo>
                  <a:pt x="700775" y="102790"/>
                </a:lnTo>
                <a:lnTo>
                  <a:pt x="759904" y="130843"/>
                </a:lnTo>
                <a:lnTo>
                  <a:pt x="817102" y="161470"/>
                </a:lnTo>
                <a:lnTo>
                  <a:pt x="871743" y="194336"/>
                </a:lnTo>
                <a:lnTo>
                  <a:pt x="923227" y="229081"/>
                </a:lnTo>
                <a:lnTo>
                  <a:pt x="970991" y="265324"/>
                </a:lnTo>
                <a:lnTo>
                  <a:pt x="1014512" y="302668"/>
                </a:lnTo>
                <a:lnTo>
                  <a:pt x="1053312" y="340704"/>
                </a:lnTo>
                <a:lnTo>
                  <a:pt x="1086966" y="379015"/>
                </a:lnTo>
                <a:lnTo>
                  <a:pt x="1115106" y="417182"/>
                </a:lnTo>
                <a:lnTo>
                  <a:pt x="1137424" y="454786"/>
                </a:lnTo>
                <a:lnTo>
                  <a:pt x="1153674" y="491416"/>
                </a:lnTo>
                <a:lnTo>
                  <a:pt x="1163680" y="526669"/>
                </a:lnTo>
                <a:lnTo>
                  <a:pt x="1167330" y="560160"/>
                </a:lnTo>
                <a:lnTo>
                  <a:pt x="1164586" y="591522"/>
                </a:lnTo>
                <a:close/>
              </a:path>
            </a:pathLst>
          </a:custGeom>
          <a:solidFill>
            <a:srgbClr val="FFFFFF"/>
          </a:solidFill>
          <a:ln w="19050">
            <a:solidFill>
              <a:srgbClr val="1B1B1B"/>
            </a:solidFill>
            <a:prstDash val="solid"/>
          </a:ln>
        </p:spPr>
      </p:sp>
      <p:sp>
        <p:nvSpPr>
          <p:cNvPr id="207" name="Shape 205"/>
          <p:cNvSpPr/>
          <p:nvPr/>
        </p:nvSpPr>
        <p:spPr>
          <a:xfrm>
            <a:off x="4786298" y="3808850"/>
            <a:ext cx="840478" cy="526787"/>
          </a:xfrm>
          <a:custGeom>
            <a:avLst/>
            <a:gdLst/>
            <a:ahLst/>
            <a:cxnLst/>
            <a:rect l="l" t="t" r="r" b="b"/>
            <a:pathLst>
              <a:path w="840478" h="526787">
                <a:moveTo>
                  <a:pt x="831943" y="446696"/>
                </a:moveTo>
                <a:lnTo>
                  <a:pt x="820874" y="465488"/>
                </a:lnTo>
                <a:lnTo>
                  <a:pt x="805416" y="482066"/>
                </a:lnTo>
                <a:lnTo>
                  <a:pt x="785737" y="496247"/>
                </a:lnTo>
                <a:lnTo>
                  <a:pt x="762054" y="507878"/>
                </a:lnTo>
                <a:lnTo>
                  <a:pt x="734626" y="516830"/>
                </a:lnTo>
                <a:lnTo>
                  <a:pt x="703753" y="523005"/>
                </a:lnTo>
                <a:lnTo>
                  <a:pt x="669774" y="526336"/>
                </a:lnTo>
                <a:lnTo>
                  <a:pt x="633062" y="526787"/>
                </a:lnTo>
                <a:lnTo>
                  <a:pt x="594017" y="524351"/>
                </a:lnTo>
                <a:lnTo>
                  <a:pt x="553069" y="519056"/>
                </a:lnTo>
                <a:lnTo>
                  <a:pt x="510665" y="510960"/>
                </a:lnTo>
                <a:lnTo>
                  <a:pt x="467270" y="500152"/>
                </a:lnTo>
                <a:lnTo>
                  <a:pt x="423360" y="486750"/>
                </a:lnTo>
                <a:lnTo>
                  <a:pt x="379416" y="470900"/>
                </a:lnTo>
                <a:lnTo>
                  <a:pt x="335920" y="452777"/>
                </a:lnTo>
                <a:lnTo>
                  <a:pt x="293347" y="432580"/>
                </a:lnTo>
                <a:lnTo>
                  <a:pt x="252164" y="410528"/>
                </a:lnTo>
                <a:lnTo>
                  <a:pt x="212823" y="386865"/>
                </a:lnTo>
                <a:lnTo>
                  <a:pt x="175754" y="361848"/>
                </a:lnTo>
                <a:lnTo>
                  <a:pt x="141364" y="335753"/>
                </a:lnTo>
                <a:lnTo>
                  <a:pt x="110029" y="308866"/>
                </a:lnTo>
                <a:lnTo>
                  <a:pt x="82093" y="281480"/>
                </a:lnTo>
                <a:lnTo>
                  <a:pt x="57862" y="253896"/>
                </a:lnTo>
                <a:lnTo>
                  <a:pt x="37601" y="226415"/>
                </a:lnTo>
                <a:lnTo>
                  <a:pt x="21533" y="199341"/>
                </a:lnTo>
                <a:lnTo>
                  <a:pt x="9832" y="172967"/>
                </a:lnTo>
                <a:lnTo>
                  <a:pt x="2628" y="147585"/>
                </a:lnTo>
                <a:lnTo>
                  <a:pt x="0" y="123471"/>
                </a:lnTo>
                <a:lnTo>
                  <a:pt x="1976" y="100891"/>
                </a:lnTo>
                <a:lnTo>
                  <a:pt x="8534" y="80091"/>
                </a:lnTo>
                <a:lnTo>
                  <a:pt x="19603" y="61299"/>
                </a:lnTo>
                <a:lnTo>
                  <a:pt x="35062" y="44721"/>
                </a:lnTo>
                <a:lnTo>
                  <a:pt x="54741" y="30539"/>
                </a:lnTo>
                <a:lnTo>
                  <a:pt x="78424" y="18908"/>
                </a:lnTo>
                <a:lnTo>
                  <a:pt x="105852" y="9956"/>
                </a:lnTo>
                <a:lnTo>
                  <a:pt x="136724" y="3781"/>
                </a:lnTo>
                <a:lnTo>
                  <a:pt x="170703" y="450"/>
                </a:lnTo>
                <a:lnTo>
                  <a:pt x="207416" y="0"/>
                </a:lnTo>
                <a:lnTo>
                  <a:pt x="246461" y="2436"/>
                </a:lnTo>
                <a:lnTo>
                  <a:pt x="287409" y="7730"/>
                </a:lnTo>
                <a:lnTo>
                  <a:pt x="329813" y="15826"/>
                </a:lnTo>
                <a:lnTo>
                  <a:pt x="373207" y="26635"/>
                </a:lnTo>
                <a:lnTo>
                  <a:pt x="417117" y="40037"/>
                </a:lnTo>
                <a:lnTo>
                  <a:pt x="461061" y="55886"/>
                </a:lnTo>
                <a:lnTo>
                  <a:pt x="504558" y="74009"/>
                </a:lnTo>
                <a:lnTo>
                  <a:pt x="547131" y="94207"/>
                </a:lnTo>
                <a:lnTo>
                  <a:pt x="588314" y="116258"/>
                </a:lnTo>
                <a:lnTo>
                  <a:pt x="627655" y="139922"/>
                </a:lnTo>
                <a:lnTo>
                  <a:pt x="664724" y="164938"/>
                </a:lnTo>
                <a:lnTo>
                  <a:pt x="699114" y="191033"/>
                </a:lnTo>
                <a:lnTo>
                  <a:pt x="730448" y="217921"/>
                </a:lnTo>
                <a:lnTo>
                  <a:pt x="758384" y="245307"/>
                </a:lnTo>
                <a:lnTo>
                  <a:pt x="782616" y="272891"/>
                </a:lnTo>
                <a:lnTo>
                  <a:pt x="802876" y="300371"/>
                </a:lnTo>
                <a:lnTo>
                  <a:pt x="818945" y="327446"/>
                </a:lnTo>
                <a:lnTo>
                  <a:pt x="830645" y="353819"/>
                </a:lnTo>
                <a:lnTo>
                  <a:pt x="837849" y="379202"/>
                </a:lnTo>
                <a:lnTo>
                  <a:pt x="840478" y="403315"/>
                </a:lnTo>
                <a:lnTo>
                  <a:pt x="838502" y="425896"/>
                </a:lnTo>
                <a:close/>
              </a:path>
            </a:pathLst>
          </a:custGeom>
          <a:ln w="6350">
            <a:solidFill>
              <a:srgbClr val="4F7A43"/>
            </a:solidFill>
            <a:prstDash val="dash"/>
          </a:ln>
        </p:spPr>
      </p:sp>
      <p:sp>
        <p:nvSpPr>
          <p:cNvPr id="208" name="Shape 206"/>
          <p:cNvSpPr/>
          <p:nvPr/>
        </p:nvSpPr>
        <p:spPr>
          <a:xfrm>
            <a:off x="4938051" y="3903964"/>
            <a:ext cx="536972" cy="336558"/>
          </a:xfrm>
          <a:custGeom>
            <a:avLst/>
            <a:gdLst/>
            <a:ahLst/>
            <a:cxnLst/>
            <a:rect l="l" t="t" r="r" b="b"/>
            <a:pathLst>
              <a:path w="536972" h="336558">
                <a:moveTo>
                  <a:pt x="531519" y="285389"/>
                </a:moveTo>
                <a:lnTo>
                  <a:pt x="524447" y="297395"/>
                </a:lnTo>
                <a:lnTo>
                  <a:pt x="514571" y="307986"/>
                </a:lnTo>
                <a:lnTo>
                  <a:pt x="501999" y="317047"/>
                </a:lnTo>
                <a:lnTo>
                  <a:pt x="486868" y="324478"/>
                </a:lnTo>
                <a:lnTo>
                  <a:pt x="469344" y="330197"/>
                </a:lnTo>
                <a:lnTo>
                  <a:pt x="449620" y="334142"/>
                </a:lnTo>
                <a:lnTo>
                  <a:pt x="427911" y="336271"/>
                </a:lnTo>
                <a:lnTo>
                  <a:pt x="404456" y="336558"/>
                </a:lnTo>
                <a:lnTo>
                  <a:pt x="379511" y="335002"/>
                </a:lnTo>
                <a:lnTo>
                  <a:pt x="353349" y="331619"/>
                </a:lnTo>
                <a:lnTo>
                  <a:pt x="326258" y="326447"/>
                </a:lnTo>
                <a:lnTo>
                  <a:pt x="298534" y="319542"/>
                </a:lnTo>
                <a:lnTo>
                  <a:pt x="270480" y="310979"/>
                </a:lnTo>
                <a:lnTo>
                  <a:pt x="242405" y="300853"/>
                </a:lnTo>
                <a:lnTo>
                  <a:pt x="214615" y="289274"/>
                </a:lnTo>
                <a:lnTo>
                  <a:pt x="187416" y="276370"/>
                </a:lnTo>
                <a:lnTo>
                  <a:pt x="161105" y="262282"/>
                </a:lnTo>
                <a:lnTo>
                  <a:pt x="135970" y="247164"/>
                </a:lnTo>
                <a:lnTo>
                  <a:pt x="112287" y="231181"/>
                </a:lnTo>
                <a:lnTo>
                  <a:pt x="90316" y="214509"/>
                </a:lnTo>
                <a:lnTo>
                  <a:pt x="70296" y="197331"/>
                </a:lnTo>
                <a:lnTo>
                  <a:pt x="52448" y="179834"/>
                </a:lnTo>
                <a:lnTo>
                  <a:pt x="36967" y="162211"/>
                </a:lnTo>
                <a:lnTo>
                  <a:pt x="24023" y="144654"/>
                </a:lnTo>
                <a:lnTo>
                  <a:pt x="13757" y="127356"/>
                </a:lnTo>
                <a:lnTo>
                  <a:pt x="6282" y="110507"/>
                </a:lnTo>
                <a:lnTo>
                  <a:pt x="1679" y="94290"/>
                </a:lnTo>
                <a:lnTo>
                  <a:pt x="0" y="78884"/>
                </a:lnTo>
                <a:lnTo>
                  <a:pt x="1262" y="64458"/>
                </a:lnTo>
                <a:lnTo>
                  <a:pt x="5452" y="51169"/>
                </a:lnTo>
                <a:lnTo>
                  <a:pt x="12524" y="39163"/>
                </a:lnTo>
                <a:lnTo>
                  <a:pt x="22401" y="28572"/>
                </a:lnTo>
                <a:lnTo>
                  <a:pt x="34973" y="19511"/>
                </a:lnTo>
                <a:lnTo>
                  <a:pt x="50104" y="12080"/>
                </a:lnTo>
                <a:lnTo>
                  <a:pt x="67628" y="6361"/>
                </a:lnTo>
                <a:lnTo>
                  <a:pt x="87352" y="2416"/>
                </a:lnTo>
                <a:lnTo>
                  <a:pt x="109060" y="288"/>
                </a:lnTo>
                <a:lnTo>
                  <a:pt x="132516" y="0"/>
                </a:lnTo>
                <a:lnTo>
                  <a:pt x="157461" y="1556"/>
                </a:lnTo>
                <a:lnTo>
                  <a:pt x="183623" y="4939"/>
                </a:lnTo>
                <a:lnTo>
                  <a:pt x="210714" y="10111"/>
                </a:lnTo>
                <a:lnTo>
                  <a:pt x="238438" y="17017"/>
                </a:lnTo>
                <a:lnTo>
                  <a:pt x="266492" y="25579"/>
                </a:lnTo>
                <a:lnTo>
                  <a:pt x="294567" y="35705"/>
                </a:lnTo>
                <a:lnTo>
                  <a:pt x="322357" y="47284"/>
                </a:lnTo>
                <a:lnTo>
                  <a:pt x="349556" y="60188"/>
                </a:lnTo>
                <a:lnTo>
                  <a:pt x="375867" y="74276"/>
                </a:lnTo>
                <a:lnTo>
                  <a:pt x="401002" y="89395"/>
                </a:lnTo>
                <a:lnTo>
                  <a:pt x="424685" y="105377"/>
                </a:lnTo>
                <a:lnTo>
                  <a:pt x="446656" y="122049"/>
                </a:lnTo>
                <a:lnTo>
                  <a:pt x="466675" y="139227"/>
                </a:lnTo>
                <a:lnTo>
                  <a:pt x="484523" y="156724"/>
                </a:lnTo>
                <a:lnTo>
                  <a:pt x="500004" y="174347"/>
                </a:lnTo>
                <a:lnTo>
                  <a:pt x="512949" y="191904"/>
                </a:lnTo>
                <a:lnTo>
                  <a:pt x="523215" y="209202"/>
                </a:lnTo>
                <a:lnTo>
                  <a:pt x="530690" y="226051"/>
                </a:lnTo>
                <a:lnTo>
                  <a:pt x="535293" y="242268"/>
                </a:lnTo>
                <a:lnTo>
                  <a:pt x="536972" y="257674"/>
                </a:lnTo>
                <a:lnTo>
                  <a:pt x="535710" y="272100"/>
                </a:lnTo>
                <a:close/>
              </a:path>
            </a:pathLst>
          </a:custGeom>
          <a:ln w="6350">
            <a:solidFill>
              <a:srgbClr val="4F7A43"/>
            </a:solidFill>
            <a:prstDash val="dash"/>
          </a:ln>
        </p:spPr>
      </p:sp>
      <p:sp>
        <p:nvSpPr>
          <p:cNvPr id="209" name="Shape 207"/>
          <p:cNvSpPr/>
          <p:nvPr/>
        </p:nvSpPr>
        <p:spPr>
          <a:xfrm>
            <a:off x="5078130" y="3991762"/>
            <a:ext cx="256813" cy="160963"/>
          </a:xfrm>
          <a:custGeom>
            <a:avLst/>
            <a:gdLst/>
            <a:ahLst/>
            <a:cxnLst/>
            <a:rect l="l" t="t" r="r" b="b"/>
            <a:pathLst>
              <a:path w="256813" h="160963">
                <a:moveTo>
                  <a:pt x="254205" y="136490"/>
                </a:moveTo>
                <a:lnTo>
                  <a:pt x="250823" y="142232"/>
                </a:lnTo>
                <a:lnTo>
                  <a:pt x="246099" y="147298"/>
                </a:lnTo>
                <a:lnTo>
                  <a:pt x="240086" y="151631"/>
                </a:lnTo>
                <a:lnTo>
                  <a:pt x="232850" y="155185"/>
                </a:lnTo>
                <a:lnTo>
                  <a:pt x="224469" y="157920"/>
                </a:lnTo>
                <a:lnTo>
                  <a:pt x="215036" y="159807"/>
                </a:lnTo>
                <a:lnTo>
                  <a:pt x="204653" y="160825"/>
                </a:lnTo>
                <a:lnTo>
                  <a:pt x="193435" y="160963"/>
                </a:lnTo>
                <a:lnTo>
                  <a:pt x="181505" y="160218"/>
                </a:lnTo>
                <a:lnTo>
                  <a:pt x="168993" y="158600"/>
                </a:lnTo>
                <a:lnTo>
                  <a:pt x="156036" y="156127"/>
                </a:lnTo>
                <a:lnTo>
                  <a:pt x="142777" y="152824"/>
                </a:lnTo>
                <a:lnTo>
                  <a:pt x="129360" y="148729"/>
                </a:lnTo>
                <a:lnTo>
                  <a:pt x="115933" y="143886"/>
                </a:lnTo>
                <a:lnTo>
                  <a:pt x="102642" y="138349"/>
                </a:lnTo>
                <a:lnTo>
                  <a:pt x="89634" y="132177"/>
                </a:lnTo>
                <a:lnTo>
                  <a:pt x="77050" y="125439"/>
                </a:lnTo>
                <a:lnTo>
                  <a:pt x="65029" y="118209"/>
                </a:lnTo>
                <a:lnTo>
                  <a:pt x="53703" y="110565"/>
                </a:lnTo>
                <a:lnTo>
                  <a:pt x="43195" y="102591"/>
                </a:lnTo>
                <a:lnTo>
                  <a:pt x="33620" y="94376"/>
                </a:lnTo>
                <a:lnTo>
                  <a:pt x="25084" y="86008"/>
                </a:lnTo>
                <a:lnTo>
                  <a:pt x="17680" y="77579"/>
                </a:lnTo>
                <a:lnTo>
                  <a:pt x="11489" y="69183"/>
                </a:lnTo>
                <a:lnTo>
                  <a:pt x="6579" y="60910"/>
                </a:lnTo>
                <a:lnTo>
                  <a:pt x="3004" y="52851"/>
                </a:lnTo>
                <a:lnTo>
                  <a:pt x="803" y="45095"/>
                </a:lnTo>
                <a:lnTo>
                  <a:pt x="0" y="37727"/>
                </a:lnTo>
                <a:lnTo>
                  <a:pt x="604" y="30828"/>
                </a:lnTo>
                <a:lnTo>
                  <a:pt x="2608" y="24472"/>
                </a:lnTo>
                <a:lnTo>
                  <a:pt x="5990" y="18730"/>
                </a:lnTo>
                <a:lnTo>
                  <a:pt x="10713" y="13665"/>
                </a:lnTo>
                <a:lnTo>
                  <a:pt x="16726" y="9331"/>
                </a:lnTo>
                <a:lnTo>
                  <a:pt x="23963" y="5778"/>
                </a:lnTo>
                <a:lnTo>
                  <a:pt x="32344" y="3042"/>
                </a:lnTo>
                <a:lnTo>
                  <a:pt x="41777" y="1155"/>
                </a:lnTo>
                <a:lnTo>
                  <a:pt x="52159" y="138"/>
                </a:lnTo>
                <a:lnTo>
                  <a:pt x="63377" y="0"/>
                </a:lnTo>
                <a:lnTo>
                  <a:pt x="75307" y="744"/>
                </a:lnTo>
                <a:lnTo>
                  <a:pt x="87819" y="2362"/>
                </a:lnTo>
                <a:lnTo>
                  <a:pt x="100776" y="4836"/>
                </a:lnTo>
                <a:lnTo>
                  <a:pt x="114036" y="8138"/>
                </a:lnTo>
                <a:lnTo>
                  <a:pt x="127453" y="12233"/>
                </a:lnTo>
                <a:lnTo>
                  <a:pt x="140880" y="17076"/>
                </a:lnTo>
                <a:lnTo>
                  <a:pt x="154171" y="22614"/>
                </a:lnTo>
                <a:lnTo>
                  <a:pt x="167179" y="28785"/>
                </a:lnTo>
                <a:lnTo>
                  <a:pt x="179763" y="35523"/>
                </a:lnTo>
                <a:lnTo>
                  <a:pt x="191783" y="42754"/>
                </a:lnTo>
                <a:lnTo>
                  <a:pt x="203110" y="50398"/>
                </a:lnTo>
                <a:lnTo>
                  <a:pt x="213618" y="58371"/>
                </a:lnTo>
                <a:lnTo>
                  <a:pt x="223193" y="66587"/>
                </a:lnTo>
                <a:lnTo>
                  <a:pt x="231729" y="74955"/>
                </a:lnTo>
                <a:lnTo>
                  <a:pt x="239133" y="83383"/>
                </a:lnTo>
                <a:lnTo>
                  <a:pt x="245323" y="91780"/>
                </a:lnTo>
                <a:lnTo>
                  <a:pt x="250233" y="100053"/>
                </a:lnTo>
                <a:lnTo>
                  <a:pt x="253808" y="108111"/>
                </a:lnTo>
                <a:lnTo>
                  <a:pt x="256009" y="115867"/>
                </a:lnTo>
                <a:lnTo>
                  <a:pt x="256813" y="123235"/>
                </a:lnTo>
                <a:lnTo>
                  <a:pt x="256209" y="130135"/>
                </a:lnTo>
                <a:close/>
              </a:path>
            </a:pathLst>
          </a:custGeom>
          <a:ln w="6350">
            <a:solidFill>
              <a:srgbClr val="4F7A43"/>
            </a:solidFill>
            <a:prstDash val="dash"/>
          </a:ln>
        </p:spPr>
      </p:sp>
      <p:sp>
        <p:nvSpPr>
          <p:cNvPr id="210" name="Shape 208"/>
          <p:cNvSpPr/>
          <p:nvPr/>
        </p:nvSpPr>
        <p:spPr>
          <a:xfrm>
            <a:off x="5626121" y="4263399"/>
            <a:ext cx="41148" cy="41148"/>
          </a:xfrm>
          <a:prstGeom prst="ellipse">
            <a:avLst/>
          </a:prstGeom>
          <a:solidFill>
            <a:srgbClr val="FFFFFF"/>
          </a:solidFill>
          <a:ln w="7620">
            <a:solidFill>
              <a:srgbClr val="4F7A43"/>
            </a:solidFill>
            <a:prstDash val="solid"/>
          </a:ln>
        </p:spPr>
      </p:sp>
      <p:sp>
        <p:nvSpPr>
          <p:cNvPr id="211" name="Shape 209"/>
          <p:cNvSpPr/>
          <p:nvPr/>
        </p:nvSpPr>
        <p:spPr>
          <a:xfrm>
            <a:off x="5574002" y="4321284"/>
            <a:ext cx="41148" cy="41148"/>
          </a:xfrm>
          <a:prstGeom prst="ellipse">
            <a:avLst/>
          </a:prstGeom>
          <a:solidFill>
            <a:srgbClr val="FFFFFF"/>
          </a:solidFill>
          <a:ln w="7620">
            <a:solidFill>
              <a:srgbClr val="4F7A43"/>
            </a:solidFill>
            <a:prstDash val="solid"/>
          </a:ln>
        </p:spPr>
      </p:sp>
      <p:sp>
        <p:nvSpPr>
          <p:cNvPr id="212" name="Shape 210"/>
          <p:cNvSpPr/>
          <p:nvPr/>
        </p:nvSpPr>
        <p:spPr>
          <a:xfrm>
            <a:off x="5482465" y="4354533"/>
            <a:ext cx="41148" cy="41148"/>
          </a:xfrm>
          <a:prstGeom prst="ellipse">
            <a:avLst/>
          </a:prstGeom>
          <a:solidFill>
            <a:srgbClr val="FFFFFF"/>
          </a:solidFill>
          <a:ln w="7620">
            <a:solidFill>
              <a:srgbClr val="4F7A43"/>
            </a:solidFill>
            <a:prstDash val="solid"/>
          </a:ln>
        </p:spPr>
      </p:sp>
      <p:sp>
        <p:nvSpPr>
          <p:cNvPr id="213" name="Shape 211"/>
          <p:cNvSpPr/>
          <p:nvPr/>
        </p:nvSpPr>
        <p:spPr>
          <a:xfrm>
            <a:off x="5359506" y="4360238"/>
            <a:ext cx="41148" cy="41148"/>
          </a:xfrm>
          <a:prstGeom prst="ellipse">
            <a:avLst/>
          </a:prstGeom>
          <a:solidFill>
            <a:srgbClr val="FFFFFF"/>
          </a:solidFill>
          <a:ln w="7620">
            <a:solidFill>
              <a:srgbClr val="4F7A43"/>
            </a:solidFill>
            <a:prstDash val="solid"/>
          </a:ln>
        </p:spPr>
      </p:sp>
      <p:sp>
        <p:nvSpPr>
          <p:cNvPr id="214" name="Shape 212"/>
          <p:cNvSpPr/>
          <p:nvPr/>
        </p:nvSpPr>
        <p:spPr>
          <a:xfrm>
            <a:off x="5215873" y="4337902"/>
            <a:ext cx="41148" cy="41148"/>
          </a:xfrm>
          <a:prstGeom prst="ellipse">
            <a:avLst/>
          </a:prstGeom>
          <a:solidFill>
            <a:srgbClr val="FFFFFF"/>
          </a:solidFill>
          <a:ln w="7620">
            <a:solidFill>
              <a:srgbClr val="4F7A43"/>
            </a:solidFill>
            <a:prstDash val="solid"/>
          </a:ln>
        </p:spPr>
      </p:sp>
      <p:sp>
        <p:nvSpPr>
          <p:cNvPr id="215" name="Shape 213"/>
          <p:cNvSpPr/>
          <p:nvPr/>
        </p:nvSpPr>
        <p:spPr>
          <a:xfrm>
            <a:off x="5064118" y="4289477"/>
            <a:ext cx="41148" cy="41148"/>
          </a:xfrm>
          <a:prstGeom prst="ellipse">
            <a:avLst/>
          </a:prstGeom>
          <a:solidFill>
            <a:srgbClr val="FFFFFF"/>
          </a:solidFill>
          <a:ln w="7620">
            <a:solidFill>
              <a:srgbClr val="4F7A43"/>
            </a:solidFill>
            <a:prstDash val="solid"/>
          </a:ln>
        </p:spPr>
      </p:sp>
      <p:sp>
        <p:nvSpPr>
          <p:cNvPr id="216" name="Shape 214"/>
          <p:cNvSpPr/>
          <p:nvPr/>
        </p:nvSpPr>
        <p:spPr>
          <a:xfrm>
            <a:off x="4917501" y="4219193"/>
            <a:ext cx="41148" cy="41148"/>
          </a:xfrm>
          <a:prstGeom prst="ellipse">
            <a:avLst/>
          </a:prstGeom>
          <a:solidFill>
            <a:srgbClr val="FFFFFF"/>
          </a:solidFill>
          <a:ln w="7620">
            <a:solidFill>
              <a:srgbClr val="4F7A43"/>
            </a:solidFill>
            <a:prstDash val="solid"/>
          </a:ln>
        </p:spPr>
      </p:sp>
      <p:sp>
        <p:nvSpPr>
          <p:cNvPr id="217" name="Shape 215"/>
          <p:cNvSpPr/>
          <p:nvPr/>
        </p:nvSpPr>
        <p:spPr>
          <a:xfrm>
            <a:off x="4788837" y="4133195"/>
            <a:ext cx="41148" cy="41148"/>
          </a:xfrm>
          <a:prstGeom prst="ellipse">
            <a:avLst/>
          </a:prstGeom>
          <a:solidFill>
            <a:srgbClr val="FFFFFF"/>
          </a:solidFill>
          <a:ln w="7620">
            <a:solidFill>
              <a:srgbClr val="4F7A43"/>
            </a:solidFill>
            <a:prstDash val="solid"/>
          </a:ln>
        </p:spPr>
      </p:sp>
      <p:sp>
        <p:nvSpPr>
          <p:cNvPr id="218" name="Shape 216"/>
          <p:cNvSpPr/>
          <p:nvPr/>
        </p:nvSpPr>
        <p:spPr>
          <a:xfrm>
            <a:off x="4689369" y="4038996"/>
            <a:ext cx="41148" cy="41148"/>
          </a:xfrm>
          <a:prstGeom prst="ellipse">
            <a:avLst/>
          </a:prstGeom>
          <a:solidFill>
            <a:srgbClr val="FFFFFF"/>
          </a:solidFill>
          <a:ln w="7620">
            <a:solidFill>
              <a:srgbClr val="4F7A43"/>
            </a:solidFill>
            <a:prstDash val="solid"/>
          </a:ln>
        </p:spPr>
      </p:sp>
      <p:sp>
        <p:nvSpPr>
          <p:cNvPr id="219" name="Shape 217"/>
          <p:cNvSpPr/>
          <p:nvPr/>
        </p:nvSpPr>
        <p:spPr>
          <a:xfrm>
            <a:off x="4627790" y="3944829"/>
            <a:ext cx="41148" cy="41148"/>
          </a:xfrm>
          <a:prstGeom prst="ellipse">
            <a:avLst/>
          </a:prstGeom>
          <a:solidFill>
            <a:srgbClr val="FFFFFF"/>
          </a:solidFill>
          <a:ln w="7620">
            <a:solidFill>
              <a:srgbClr val="4F7A43"/>
            </a:solidFill>
            <a:prstDash val="solid"/>
          </a:ln>
        </p:spPr>
      </p:sp>
      <p:sp>
        <p:nvSpPr>
          <p:cNvPr id="220" name="Shape 218"/>
          <p:cNvSpPr/>
          <p:nvPr/>
        </p:nvSpPr>
        <p:spPr>
          <a:xfrm>
            <a:off x="4609480" y="3858923"/>
            <a:ext cx="41148" cy="41148"/>
          </a:xfrm>
          <a:prstGeom prst="ellipse">
            <a:avLst/>
          </a:prstGeom>
          <a:solidFill>
            <a:srgbClr val="FFFFFF"/>
          </a:solidFill>
          <a:ln w="7620">
            <a:solidFill>
              <a:srgbClr val="4F7A43"/>
            </a:solidFill>
            <a:prstDash val="solid"/>
          </a:ln>
        </p:spPr>
      </p:sp>
      <p:sp>
        <p:nvSpPr>
          <p:cNvPr id="221" name="Shape 219"/>
          <p:cNvSpPr/>
          <p:nvPr/>
        </p:nvSpPr>
        <p:spPr>
          <a:xfrm>
            <a:off x="4636042" y="3788786"/>
            <a:ext cx="41148" cy="41148"/>
          </a:xfrm>
          <a:prstGeom prst="ellipse">
            <a:avLst/>
          </a:prstGeom>
          <a:solidFill>
            <a:srgbClr val="FFFFFF"/>
          </a:solidFill>
          <a:ln w="7620">
            <a:solidFill>
              <a:srgbClr val="4F7A43"/>
            </a:solidFill>
            <a:prstDash val="solid"/>
          </a:ln>
        </p:spPr>
      </p:sp>
      <p:sp>
        <p:nvSpPr>
          <p:cNvPr id="222" name="Shape 220"/>
          <p:cNvSpPr/>
          <p:nvPr/>
        </p:nvSpPr>
        <p:spPr>
          <a:xfrm>
            <a:off x="4705152" y="3740547"/>
            <a:ext cx="41148" cy="41148"/>
          </a:xfrm>
          <a:prstGeom prst="ellipse">
            <a:avLst/>
          </a:prstGeom>
          <a:solidFill>
            <a:srgbClr val="FFFFFF"/>
          </a:solidFill>
          <a:ln w="7620">
            <a:solidFill>
              <a:srgbClr val="4F7A43"/>
            </a:solidFill>
            <a:prstDash val="solid"/>
          </a:ln>
        </p:spPr>
      </p:sp>
      <p:sp>
        <p:nvSpPr>
          <p:cNvPr id="223" name="Shape 221"/>
          <p:cNvSpPr/>
          <p:nvPr/>
        </p:nvSpPr>
        <p:spPr>
          <a:xfrm>
            <a:off x="4810772" y="3718422"/>
            <a:ext cx="41148" cy="41148"/>
          </a:xfrm>
          <a:prstGeom prst="ellipse">
            <a:avLst/>
          </a:prstGeom>
          <a:solidFill>
            <a:srgbClr val="FFFFFF"/>
          </a:solidFill>
          <a:ln w="7620">
            <a:solidFill>
              <a:srgbClr val="4F7A43"/>
            </a:solidFill>
            <a:prstDash val="solid"/>
          </a:ln>
        </p:spPr>
      </p:sp>
      <p:sp>
        <p:nvSpPr>
          <p:cNvPr id="224" name="Shape 222"/>
          <p:cNvSpPr/>
          <p:nvPr/>
        </p:nvSpPr>
        <p:spPr>
          <a:xfrm>
            <a:off x="4943671" y="3724343"/>
            <a:ext cx="41148" cy="41148"/>
          </a:xfrm>
          <a:prstGeom prst="ellipse">
            <a:avLst/>
          </a:prstGeom>
          <a:solidFill>
            <a:srgbClr val="FFFFFF"/>
          </a:solidFill>
          <a:ln w="7620">
            <a:solidFill>
              <a:srgbClr val="4F7A43"/>
            </a:solidFill>
            <a:prstDash val="solid"/>
          </a:ln>
        </p:spPr>
      </p:sp>
      <p:sp>
        <p:nvSpPr>
          <p:cNvPr id="225" name="Shape 223"/>
          <p:cNvSpPr/>
          <p:nvPr/>
        </p:nvSpPr>
        <p:spPr>
          <a:xfrm>
            <a:off x="5092235" y="3757795"/>
            <a:ext cx="41148" cy="41148"/>
          </a:xfrm>
          <a:prstGeom prst="ellipse">
            <a:avLst/>
          </a:prstGeom>
          <a:solidFill>
            <a:srgbClr val="FFFFFF"/>
          </a:solidFill>
          <a:ln w="7620">
            <a:solidFill>
              <a:srgbClr val="4F7A43"/>
            </a:solidFill>
            <a:prstDash val="solid"/>
          </a:ln>
        </p:spPr>
      </p:sp>
      <p:sp>
        <p:nvSpPr>
          <p:cNvPr id="226" name="Shape 224"/>
          <p:cNvSpPr/>
          <p:nvPr/>
        </p:nvSpPr>
        <p:spPr>
          <a:xfrm>
            <a:off x="5243481" y="3815852"/>
            <a:ext cx="41148" cy="41148"/>
          </a:xfrm>
          <a:prstGeom prst="ellipse">
            <a:avLst/>
          </a:prstGeom>
          <a:solidFill>
            <a:srgbClr val="FFFFFF"/>
          </a:solidFill>
          <a:ln w="7620">
            <a:solidFill>
              <a:srgbClr val="4F7A43"/>
            </a:solidFill>
            <a:prstDash val="solid"/>
          </a:ln>
        </p:spPr>
      </p:sp>
      <p:sp>
        <p:nvSpPr>
          <p:cNvPr id="227" name="Shape 225"/>
          <p:cNvSpPr/>
          <p:nvPr/>
        </p:nvSpPr>
        <p:spPr>
          <a:xfrm>
            <a:off x="5384192" y="3893443"/>
            <a:ext cx="41148" cy="41148"/>
          </a:xfrm>
          <a:prstGeom prst="ellipse">
            <a:avLst/>
          </a:prstGeom>
          <a:solidFill>
            <a:srgbClr val="FFFFFF"/>
          </a:solidFill>
          <a:ln w="7620">
            <a:solidFill>
              <a:srgbClr val="4F7A43"/>
            </a:solidFill>
            <a:prstDash val="solid"/>
          </a:ln>
        </p:spPr>
      </p:sp>
      <p:sp>
        <p:nvSpPr>
          <p:cNvPr id="228" name="Shape 226"/>
          <p:cNvSpPr/>
          <p:nvPr/>
        </p:nvSpPr>
        <p:spPr>
          <a:xfrm>
            <a:off x="5502071" y="3983785"/>
            <a:ext cx="41148" cy="41148"/>
          </a:xfrm>
          <a:prstGeom prst="ellipse">
            <a:avLst/>
          </a:prstGeom>
          <a:solidFill>
            <a:srgbClr val="FFFFFF"/>
          </a:solidFill>
          <a:ln w="7620">
            <a:solidFill>
              <a:srgbClr val="4F7A43"/>
            </a:solidFill>
            <a:prstDash val="solid"/>
          </a:ln>
        </p:spPr>
      </p:sp>
      <p:sp>
        <p:nvSpPr>
          <p:cNvPr id="229" name="Shape 227"/>
          <p:cNvSpPr/>
          <p:nvPr/>
        </p:nvSpPr>
        <p:spPr>
          <a:xfrm>
            <a:off x="5586816" y="4078984"/>
            <a:ext cx="41148" cy="41148"/>
          </a:xfrm>
          <a:prstGeom prst="ellipse">
            <a:avLst/>
          </a:prstGeom>
          <a:solidFill>
            <a:srgbClr val="FFFFFF"/>
          </a:solidFill>
          <a:ln w="7620">
            <a:solidFill>
              <a:srgbClr val="4F7A43"/>
            </a:solidFill>
            <a:prstDash val="solid"/>
          </a:ln>
        </p:spPr>
      </p:sp>
      <p:sp>
        <p:nvSpPr>
          <p:cNvPr id="230" name="Shape 228"/>
          <p:cNvSpPr/>
          <p:nvPr/>
        </p:nvSpPr>
        <p:spPr>
          <a:xfrm>
            <a:off x="5631022" y="4170720"/>
            <a:ext cx="41148" cy="41148"/>
          </a:xfrm>
          <a:prstGeom prst="ellipse">
            <a:avLst/>
          </a:prstGeom>
          <a:solidFill>
            <a:srgbClr val="FFFFFF"/>
          </a:solidFill>
          <a:ln w="7620">
            <a:solidFill>
              <a:srgbClr val="4F7A43"/>
            </a:solidFill>
            <a:prstDash val="solid"/>
          </a:ln>
        </p:spPr>
      </p:sp>
      <p:sp>
        <p:nvSpPr>
          <p:cNvPr id="231" name="Shape 229"/>
          <p:cNvSpPr/>
          <p:nvPr/>
        </p:nvSpPr>
        <p:spPr>
          <a:xfrm>
            <a:off x="5630824" y="4250977"/>
            <a:ext cx="41148" cy="41148"/>
          </a:xfrm>
          <a:prstGeom prst="ellipse">
            <a:avLst/>
          </a:prstGeom>
          <a:solidFill>
            <a:srgbClr val="FFFFFF"/>
          </a:solidFill>
          <a:ln w="7620">
            <a:solidFill>
              <a:srgbClr val="4F7A43"/>
            </a:solidFill>
            <a:prstDash val="solid"/>
          </a:ln>
        </p:spPr>
      </p:sp>
      <p:sp>
        <p:nvSpPr>
          <p:cNvPr id="232" name="Shape 230"/>
          <p:cNvSpPr/>
          <p:nvPr/>
        </p:nvSpPr>
        <p:spPr>
          <a:xfrm>
            <a:off x="4764494" y="3870870"/>
            <a:ext cx="749017" cy="560448"/>
          </a:xfrm>
          <a:custGeom>
            <a:avLst/>
            <a:gdLst/>
            <a:ahLst/>
            <a:cxnLst/>
            <a:rect l="l" t="t" r="r" b="b"/>
            <a:pathLst>
              <a:path w="749017" h="560448">
                <a:moveTo>
                  <a:pt x="749017" y="560448"/>
                </a:moveTo>
                <a:lnTo>
                  <a:pt x="673236" y="554222"/>
                </a:lnTo>
                <a:lnTo>
                  <a:pt x="594657" y="540541"/>
                </a:lnTo>
                <a:lnTo>
                  <a:pt x="515175" y="520031"/>
                </a:lnTo>
                <a:lnTo>
                  <a:pt x="436635" y="493453"/>
                </a:lnTo>
                <a:lnTo>
                  <a:pt x="360785" y="461675"/>
                </a:lnTo>
                <a:lnTo>
                  <a:pt x="289239" y="425654"/>
                </a:lnTo>
                <a:lnTo>
                  <a:pt x="223445" y="386403"/>
                </a:lnTo>
                <a:lnTo>
                  <a:pt x="164657" y="344970"/>
                </a:lnTo>
                <a:lnTo>
                  <a:pt x="113906" y="302410"/>
                </a:lnTo>
                <a:lnTo>
                  <a:pt x="71992" y="259758"/>
                </a:lnTo>
                <a:lnTo>
                  <a:pt x="39466" y="218005"/>
                </a:lnTo>
                <a:lnTo>
                  <a:pt x="16629" y="178078"/>
                </a:lnTo>
                <a:lnTo>
                  <a:pt x="3536" y="140814"/>
                </a:lnTo>
                <a:lnTo>
                  <a:pt x="0" y="106950"/>
                </a:lnTo>
                <a:lnTo>
                  <a:pt x="5608" y="77102"/>
                </a:lnTo>
                <a:lnTo>
                  <a:pt x="19740" y="51757"/>
                </a:lnTo>
                <a:lnTo>
                  <a:pt x="41595" y="31267"/>
                </a:lnTo>
                <a:lnTo>
                  <a:pt x="70216" y="15842"/>
                </a:lnTo>
                <a:lnTo>
                  <a:pt x="104522" y="5554"/>
                </a:lnTo>
                <a:lnTo>
                  <a:pt x="143339" y="338"/>
                </a:lnTo>
                <a:lnTo>
                  <a:pt x="185442" y="0"/>
                </a:lnTo>
                <a:lnTo>
                  <a:pt x="229578" y="4228"/>
                </a:lnTo>
                <a:lnTo>
                  <a:pt x="274512" y="12604"/>
                </a:lnTo>
                <a:lnTo>
                  <a:pt x="319052" y="24622"/>
                </a:lnTo>
                <a:lnTo>
                  <a:pt x="362084" y="39702"/>
                </a:lnTo>
                <a:lnTo>
                  <a:pt x="402597" y="57212"/>
                </a:lnTo>
                <a:lnTo>
                  <a:pt x="439710" y="76486"/>
                </a:lnTo>
                <a:lnTo>
                  <a:pt x="472689" y="96846"/>
                </a:lnTo>
                <a:lnTo>
                  <a:pt x="500964" y="117620"/>
                </a:lnTo>
                <a:lnTo>
                  <a:pt x="524138" y="138161"/>
                </a:lnTo>
                <a:lnTo>
                  <a:pt x="541992" y="157869"/>
                </a:lnTo>
                <a:lnTo>
                  <a:pt x="554488" y="176201"/>
                </a:lnTo>
                <a:lnTo>
                  <a:pt x="561756" y="192691"/>
                </a:lnTo>
                <a:lnTo>
                  <a:pt x="564094" y="206957"/>
                </a:lnTo>
                <a:lnTo>
                  <a:pt x="561945" y="218712"/>
                </a:lnTo>
                <a:lnTo>
                  <a:pt x="555883" y="227773"/>
                </a:lnTo>
                <a:lnTo>
                  <a:pt x="546587" y="234055"/>
                </a:lnTo>
                <a:lnTo>
                  <a:pt x="534820" y="237581"/>
                </a:lnTo>
                <a:lnTo>
                  <a:pt x="521402" y="238472"/>
                </a:lnTo>
                <a:lnTo>
                  <a:pt x="507177" y="236940"/>
                </a:lnTo>
              </a:path>
            </a:pathLst>
          </a:custGeom>
          <a:ln w="25400">
            <a:solidFill>
              <a:srgbClr val="C4262E"/>
            </a:solidFill>
            <a:prstDash val="solid"/>
            <a:tailEnd type="triangle"/>
          </a:ln>
        </p:spPr>
      </p:sp>
      <p:sp>
        <p:nvSpPr>
          <p:cNvPr id="233" name="Shape 231"/>
          <p:cNvSpPr/>
          <p:nvPr/>
        </p:nvSpPr>
        <p:spPr>
          <a:xfrm>
            <a:off x="5216807" y="4052946"/>
            <a:ext cx="109728" cy="109728"/>
          </a:xfrm>
          <a:prstGeom prst="ellipse">
            <a:avLst/>
          </a:prstGeom>
          <a:solidFill>
            <a:srgbClr val="FFFFFF"/>
          </a:solidFill>
          <a:ln w="19050">
            <a:solidFill>
              <a:srgbClr val="C4262E"/>
            </a:solidFill>
            <a:prstDash val="solid"/>
          </a:ln>
        </p:spPr>
      </p:sp>
      <p:sp>
        <p:nvSpPr>
          <p:cNvPr id="234" name="Shape 232"/>
          <p:cNvSpPr/>
          <p:nvPr/>
        </p:nvSpPr>
        <p:spPr>
          <a:xfrm>
            <a:off x="6135624" y="3291840"/>
            <a:ext cx="1801368" cy="1325880"/>
          </a:xfrm>
          <a:prstGeom prst="rect">
            <a:avLst/>
          </a:prstGeom>
          <a:solidFill>
            <a:srgbClr val="FFFFFF"/>
          </a:solidFill>
          <a:ln w="6350">
            <a:solidFill>
              <a:srgbClr val="D9D9D9"/>
            </a:solidFill>
            <a:prstDash val="solid"/>
          </a:ln>
        </p:spPr>
      </p:sp>
      <p:sp>
        <p:nvSpPr>
          <p:cNvPr id="235" name="Text 233"/>
          <p:cNvSpPr txBox="1"/>
          <p:nvPr/>
        </p:nvSpPr>
        <p:spPr>
          <a:xfrm>
            <a:off x="6208776" y="3346704"/>
            <a:ext cx="1655064" cy="164592"/>
          </a:xfrm>
          <a:prstGeom prst="rect">
            <a:avLst/>
          </a:prstGeom>
          <a:noFill/>
          <a:ln/>
        </p:spPr>
        <p:txBody>
          <a:bodyPr wrap="square" lIns="0" tIns="0" rIns="0" bIns="0" rtlCol="0" anchor="t"/>
          <a:lstStyle/>
          <a:p>
            <a:pPr indent="0" marL="0">
              <a:buNone/>
            </a:pPr>
            <a:r>
              <a:rPr lang="en-US" sz="550" b="1" spc="50" kern="0" dirty="0">
                <a:solidFill>
                  <a:srgbClr val="C4262E"/>
                </a:solidFill>
                <a:latin typeface="Arial" pitchFamily="34" charset="0"/>
                <a:ea typeface="Arial" pitchFamily="34" charset="-122"/>
                <a:cs typeface="Arial" pitchFamily="34" charset="-120"/>
              </a:rPr>
              <a:t>4  </a:t>
            </a:r>
            <a:pPr indent="0" marL="0">
              <a:buNone/>
            </a:pPr>
            <a:r>
              <a:rPr lang="en-US" sz="550" b="1" spc="50" kern="0" dirty="0">
                <a:solidFill>
                  <a:srgbClr val="1B1B1B"/>
                </a:solidFill>
                <a:latin typeface="Arial" pitchFamily="34" charset="0"/>
                <a:ea typeface="Arial" pitchFamily="34" charset="-122"/>
                <a:cs typeface="Arial" pitchFamily="34" charset="-120"/>
              </a:rPr>
              <a:t>FIND THE STRIPS</a:t>
            </a:r>
            <a:endParaRPr lang="en-US" sz="550" dirty="0"/>
          </a:p>
        </p:txBody>
      </p:sp>
      <p:sp>
        <p:nvSpPr>
          <p:cNvPr id="236" name="Shape 234"/>
          <p:cNvSpPr/>
          <p:nvPr/>
        </p:nvSpPr>
        <p:spPr>
          <a:xfrm>
            <a:off x="6335910" y="3620947"/>
            <a:ext cx="1400796" cy="877978"/>
          </a:xfrm>
          <a:custGeom>
            <a:avLst/>
            <a:gdLst/>
            <a:ahLst/>
            <a:cxnLst/>
            <a:rect l="l" t="t" r="r" b="b"/>
            <a:pathLst>
              <a:path w="1400796" h="877978">
                <a:moveTo>
                  <a:pt x="1386572" y="744493"/>
                </a:moveTo>
                <a:lnTo>
                  <a:pt x="1368124" y="775813"/>
                </a:lnTo>
                <a:lnTo>
                  <a:pt x="1342360" y="803443"/>
                </a:lnTo>
                <a:lnTo>
                  <a:pt x="1309562" y="827079"/>
                </a:lnTo>
                <a:lnTo>
                  <a:pt x="1270090" y="846463"/>
                </a:lnTo>
                <a:lnTo>
                  <a:pt x="1224376" y="861384"/>
                </a:lnTo>
                <a:lnTo>
                  <a:pt x="1172922" y="871676"/>
                </a:lnTo>
                <a:lnTo>
                  <a:pt x="1116291" y="877227"/>
                </a:lnTo>
                <a:lnTo>
                  <a:pt x="1055103" y="877978"/>
                </a:lnTo>
                <a:lnTo>
                  <a:pt x="990028" y="873918"/>
                </a:lnTo>
                <a:lnTo>
                  <a:pt x="921781" y="865093"/>
                </a:lnTo>
                <a:lnTo>
                  <a:pt x="851108" y="851600"/>
                </a:lnTo>
                <a:lnTo>
                  <a:pt x="778784" y="833587"/>
                </a:lnTo>
                <a:lnTo>
                  <a:pt x="705601" y="811249"/>
                </a:lnTo>
                <a:lnTo>
                  <a:pt x="632361" y="784834"/>
                </a:lnTo>
                <a:lnTo>
                  <a:pt x="559866" y="754629"/>
                </a:lnTo>
                <a:lnTo>
                  <a:pt x="488911" y="720966"/>
                </a:lnTo>
                <a:lnTo>
                  <a:pt x="420273" y="684214"/>
                </a:lnTo>
                <a:lnTo>
                  <a:pt x="354705" y="644774"/>
                </a:lnTo>
                <a:lnTo>
                  <a:pt x="292923" y="603081"/>
                </a:lnTo>
                <a:lnTo>
                  <a:pt x="235607" y="559589"/>
                </a:lnTo>
                <a:lnTo>
                  <a:pt x="183382" y="514776"/>
                </a:lnTo>
                <a:lnTo>
                  <a:pt x="136822" y="469133"/>
                </a:lnTo>
                <a:lnTo>
                  <a:pt x="96437" y="423159"/>
                </a:lnTo>
                <a:lnTo>
                  <a:pt x="62669" y="377359"/>
                </a:lnTo>
                <a:lnTo>
                  <a:pt x="35888" y="332234"/>
                </a:lnTo>
                <a:lnTo>
                  <a:pt x="16387" y="288279"/>
                </a:lnTo>
                <a:lnTo>
                  <a:pt x="4381" y="245975"/>
                </a:lnTo>
                <a:lnTo>
                  <a:pt x="0" y="205786"/>
                </a:lnTo>
                <a:lnTo>
                  <a:pt x="3293" y="168151"/>
                </a:lnTo>
                <a:lnTo>
                  <a:pt x="14224" y="133484"/>
                </a:lnTo>
                <a:lnTo>
                  <a:pt x="32672" y="102164"/>
                </a:lnTo>
                <a:lnTo>
                  <a:pt x="58437" y="74535"/>
                </a:lnTo>
                <a:lnTo>
                  <a:pt x="91234" y="50899"/>
                </a:lnTo>
                <a:lnTo>
                  <a:pt x="130706" y="31514"/>
                </a:lnTo>
                <a:lnTo>
                  <a:pt x="176420" y="16594"/>
                </a:lnTo>
                <a:lnTo>
                  <a:pt x="227874" y="6302"/>
                </a:lnTo>
                <a:lnTo>
                  <a:pt x="284505" y="750"/>
                </a:lnTo>
                <a:lnTo>
                  <a:pt x="345693" y="0"/>
                </a:lnTo>
                <a:lnTo>
                  <a:pt x="410768" y="4059"/>
                </a:lnTo>
                <a:lnTo>
                  <a:pt x="479015" y="12884"/>
                </a:lnTo>
                <a:lnTo>
                  <a:pt x="549688" y="26377"/>
                </a:lnTo>
                <a:lnTo>
                  <a:pt x="622012" y="44391"/>
                </a:lnTo>
                <a:lnTo>
                  <a:pt x="695195" y="66728"/>
                </a:lnTo>
                <a:lnTo>
                  <a:pt x="768436" y="93144"/>
                </a:lnTo>
                <a:lnTo>
                  <a:pt x="840930" y="123349"/>
                </a:lnTo>
                <a:lnTo>
                  <a:pt x="911885" y="157012"/>
                </a:lnTo>
                <a:lnTo>
                  <a:pt x="980523" y="193764"/>
                </a:lnTo>
                <a:lnTo>
                  <a:pt x="1046092" y="233203"/>
                </a:lnTo>
                <a:lnTo>
                  <a:pt x="1107873" y="274897"/>
                </a:lnTo>
                <a:lnTo>
                  <a:pt x="1165190" y="318389"/>
                </a:lnTo>
                <a:lnTo>
                  <a:pt x="1217414" y="363202"/>
                </a:lnTo>
                <a:lnTo>
                  <a:pt x="1263974" y="408845"/>
                </a:lnTo>
                <a:lnTo>
                  <a:pt x="1304359" y="454818"/>
                </a:lnTo>
                <a:lnTo>
                  <a:pt x="1338127" y="500618"/>
                </a:lnTo>
                <a:lnTo>
                  <a:pt x="1364909" y="545743"/>
                </a:lnTo>
                <a:lnTo>
                  <a:pt x="1384409" y="589699"/>
                </a:lnTo>
                <a:lnTo>
                  <a:pt x="1396415" y="632003"/>
                </a:lnTo>
                <a:lnTo>
                  <a:pt x="1400796" y="672192"/>
                </a:lnTo>
                <a:lnTo>
                  <a:pt x="1397503" y="709826"/>
                </a:lnTo>
                <a:close/>
              </a:path>
            </a:pathLst>
          </a:custGeom>
          <a:solidFill>
            <a:srgbClr val="E4E4E4"/>
          </a:solidFill>
          <a:ln w="12700"/>
        </p:spPr>
      </p:sp>
      <p:sp>
        <p:nvSpPr>
          <p:cNvPr id="237" name="Shape 235"/>
          <p:cNvSpPr/>
          <p:nvPr/>
        </p:nvSpPr>
        <p:spPr>
          <a:xfrm>
            <a:off x="6190488" y="3708711"/>
            <a:ext cx="159646" cy="45720"/>
          </a:xfrm>
          <a:custGeom>
            <a:avLst/>
            <a:gdLst/>
            <a:ahLst/>
            <a:cxnLst/>
            <a:rect l="l" t="t" r="r" b="b"/>
            <a:pathLst>
              <a:path w="159646" h="45720">
                <a:moveTo>
                  <a:pt x="159646" y="45720"/>
                </a:moveTo>
                <a:lnTo>
                  <a:pt x="0" y="0"/>
                </a:lnTo>
              </a:path>
            </a:pathLst>
          </a:custGeom>
          <a:ln w="76200">
            <a:solidFill>
              <a:srgbClr val="E4E4E4"/>
            </a:solidFill>
            <a:prstDash val="solid"/>
          </a:ln>
        </p:spPr>
      </p:sp>
      <p:sp>
        <p:nvSpPr>
          <p:cNvPr id="238" name="Shape 236"/>
          <p:cNvSpPr/>
          <p:nvPr/>
        </p:nvSpPr>
        <p:spPr>
          <a:xfrm>
            <a:off x="7722482" y="4365441"/>
            <a:ext cx="159646" cy="45720"/>
          </a:xfrm>
          <a:custGeom>
            <a:avLst/>
            <a:gdLst/>
            <a:ahLst/>
            <a:cxnLst/>
            <a:rect l="l" t="t" r="r" b="b"/>
            <a:pathLst>
              <a:path w="159646" h="45720">
                <a:moveTo>
                  <a:pt x="0" y="0"/>
                </a:moveTo>
                <a:lnTo>
                  <a:pt x="159646" y="45720"/>
                </a:lnTo>
              </a:path>
            </a:pathLst>
          </a:custGeom>
          <a:ln w="76200">
            <a:solidFill>
              <a:srgbClr val="E4E4E4"/>
            </a:solidFill>
            <a:prstDash val="solid"/>
          </a:ln>
        </p:spPr>
      </p:sp>
      <p:sp>
        <p:nvSpPr>
          <p:cNvPr id="239" name="Shape 237"/>
          <p:cNvSpPr/>
          <p:nvPr/>
        </p:nvSpPr>
        <p:spPr>
          <a:xfrm>
            <a:off x="6452643" y="3694112"/>
            <a:ext cx="1167330" cy="731648"/>
          </a:xfrm>
          <a:custGeom>
            <a:avLst/>
            <a:gdLst/>
            <a:ahLst/>
            <a:cxnLst/>
            <a:rect l="l" t="t" r="r" b="b"/>
            <a:pathLst>
              <a:path w="1167330" h="731648">
                <a:moveTo>
                  <a:pt x="1155477" y="620411"/>
                </a:moveTo>
                <a:lnTo>
                  <a:pt x="1140103" y="646511"/>
                </a:lnTo>
                <a:lnTo>
                  <a:pt x="1118633" y="669535"/>
                </a:lnTo>
                <a:lnTo>
                  <a:pt x="1091302" y="689233"/>
                </a:lnTo>
                <a:lnTo>
                  <a:pt x="1058408" y="705386"/>
                </a:lnTo>
                <a:lnTo>
                  <a:pt x="1020314" y="717820"/>
                </a:lnTo>
                <a:lnTo>
                  <a:pt x="977435" y="726396"/>
                </a:lnTo>
                <a:lnTo>
                  <a:pt x="930242" y="731023"/>
                </a:lnTo>
                <a:lnTo>
                  <a:pt x="879252" y="731648"/>
                </a:lnTo>
                <a:lnTo>
                  <a:pt x="825024" y="728265"/>
                </a:lnTo>
                <a:lnTo>
                  <a:pt x="768151" y="720911"/>
                </a:lnTo>
                <a:lnTo>
                  <a:pt x="709257" y="709667"/>
                </a:lnTo>
                <a:lnTo>
                  <a:pt x="648986" y="694655"/>
                </a:lnTo>
                <a:lnTo>
                  <a:pt x="588001" y="676041"/>
                </a:lnTo>
                <a:lnTo>
                  <a:pt x="526967" y="654028"/>
                </a:lnTo>
                <a:lnTo>
                  <a:pt x="466555" y="628857"/>
                </a:lnTo>
                <a:lnTo>
                  <a:pt x="407426" y="600805"/>
                </a:lnTo>
                <a:lnTo>
                  <a:pt x="350228" y="570178"/>
                </a:lnTo>
                <a:lnTo>
                  <a:pt x="295587" y="537312"/>
                </a:lnTo>
                <a:lnTo>
                  <a:pt x="244103" y="502567"/>
                </a:lnTo>
                <a:lnTo>
                  <a:pt x="196339" y="466324"/>
                </a:lnTo>
                <a:lnTo>
                  <a:pt x="152818" y="428980"/>
                </a:lnTo>
                <a:lnTo>
                  <a:pt x="114018" y="390944"/>
                </a:lnTo>
                <a:lnTo>
                  <a:pt x="80364" y="352633"/>
                </a:lnTo>
                <a:lnTo>
                  <a:pt x="52224" y="314466"/>
                </a:lnTo>
                <a:lnTo>
                  <a:pt x="29906" y="276862"/>
                </a:lnTo>
                <a:lnTo>
                  <a:pt x="13656" y="240232"/>
                </a:lnTo>
                <a:lnTo>
                  <a:pt x="3651" y="204979"/>
                </a:lnTo>
                <a:lnTo>
                  <a:pt x="0" y="171488"/>
                </a:lnTo>
                <a:lnTo>
                  <a:pt x="2744" y="140126"/>
                </a:lnTo>
                <a:lnTo>
                  <a:pt x="11853" y="111237"/>
                </a:lnTo>
                <a:lnTo>
                  <a:pt x="27227" y="85137"/>
                </a:lnTo>
                <a:lnTo>
                  <a:pt x="48697" y="62113"/>
                </a:lnTo>
                <a:lnTo>
                  <a:pt x="76029" y="42415"/>
                </a:lnTo>
                <a:lnTo>
                  <a:pt x="108922" y="26262"/>
                </a:lnTo>
                <a:lnTo>
                  <a:pt x="147016" y="13828"/>
                </a:lnTo>
                <a:lnTo>
                  <a:pt x="189895" y="5252"/>
                </a:lnTo>
                <a:lnTo>
                  <a:pt x="237088" y="625"/>
                </a:lnTo>
                <a:lnTo>
                  <a:pt x="288078" y="0"/>
                </a:lnTo>
                <a:lnTo>
                  <a:pt x="342306" y="3383"/>
                </a:lnTo>
                <a:lnTo>
                  <a:pt x="399179" y="10737"/>
                </a:lnTo>
                <a:lnTo>
                  <a:pt x="458074" y="21981"/>
                </a:lnTo>
                <a:lnTo>
                  <a:pt x="518344" y="36993"/>
                </a:lnTo>
                <a:lnTo>
                  <a:pt x="579330" y="55607"/>
                </a:lnTo>
                <a:lnTo>
                  <a:pt x="640363" y="77620"/>
                </a:lnTo>
                <a:lnTo>
                  <a:pt x="700775" y="102790"/>
                </a:lnTo>
                <a:lnTo>
                  <a:pt x="759904" y="130843"/>
                </a:lnTo>
                <a:lnTo>
                  <a:pt x="817102" y="161470"/>
                </a:lnTo>
                <a:lnTo>
                  <a:pt x="871743" y="194336"/>
                </a:lnTo>
                <a:lnTo>
                  <a:pt x="923227" y="229081"/>
                </a:lnTo>
                <a:lnTo>
                  <a:pt x="970991" y="265324"/>
                </a:lnTo>
                <a:lnTo>
                  <a:pt x="1014512" y="302668"/>
                </a:lnTo>
                <a:lnTo>
                  <a:pt x="1053312" y="340704"/>
                </a:lnTo>
                <a:lnTo>
                  <a:pt x="1086966" y="379015"/>
                </a:lnTo>
                <a:lnTo>
                  <a:pt x="1115106" y="417182"/>
                </a:lnTo>
                <a:lnTo>
                  <a:pt x="1137424" y="454786"/>
                </a:lnTo>
                <a:lnTo>
                  <a:pt x="1153674" y="491416"/>
                </a:lnTo>
                <a:lnTo>
                  <a:pt x="1163680" y="526669"/>
                </a:lnTo>
                <a:lnTo>
                  <a:pt x="1167330" y="560160"/>
                </a:lnTo>
                <a:lnTo>
                  <a:pt x="1164586" y="591522"/>
                </a:lnTo>
                <a:close/>
              </a:path>
            </a:pathLst>
          </a:custGeom>
          <a:solidFill>
            <a:srgbClr val="FFFFFF"/>
          </a:solidFill>
          <a:ln w="19050">
            <a:solidFill>
              <a:srgbClr val="1B1B1B"/>
            </a:solidFill>
            <a:prstDash val="solid"/>
          </a:ln>
        </p:spPr>
      </p:sp>
      <p:sp>
        <p:nvSpPr>
          <p:cNvPr id="240" name="Shape 238"/>
          <p:cNvSpPr/>
          <p:nvPr/>
        </p:nvSpPr>
        <p:spPr>
          <a:xfrm>
            <a:off x="6679106" y="3808850"/>
            <a:ext cx="840478" cy="526787"/>
          </a:xfrm>
          <a:custGeom>
            <a:avLst/>
            <a:gdLst/>
            <a:ahLst/>
            <a:cxnLst/>
            <a:rect l="l" t="t" r="r" b="b"/>
            <a:pathLst>
              <a:path w="840478" h="526787">
                <a:moveTo>
                  <a:pt x="831943" y="446696"/>
                </a:moveTo>
                <a:lnTo>
                  <a:pt x="820874" y="465488"/>
                </a:lnTo>
                <a:lnTo>
                  <a:pt x="805416" y="482066"/>
                </a:lnTo>
                <a:lnTo>
                  <a:pt x="785737" y="496247"/>
                </a:lnTo>
                <a:lnTo>
                  <a:pt x="762054" y="507878"/>
                </a:lnTo>
                <a:lnTo>
                  <a:pt x="734626" y="516830"/>
                </a:lnTo>
                <a:lnTo>
                  <a:pt x="703753" y="523005"/>
                </a:lnTo>
                <a:lnTo>
                  <a:pt x="669774" y="526336"/>
                </a:lnTo>
                <a:lnTo>
                  <a:pt x="633062" y="526787"/>
                </a:lnTo>
                <a:lnTo>
                  <a:pt x="594017" y="524351"/>
                </a:lnTo>
                <a:lnTo>
                  <a:pt x="553069" y="519056"/>
                </a:lnTo>
                <a:lnTo>
                  <a:pt x="510665" y="510960"/>
                </a:lnTo>
                <a:lnTo>
                  <a:pt x="467270" y="500152"/>
                </a:lnTo>
                <a:lnTo>
                  <a:pt x="423360" y="486750"/>
                </a:lnTo>
                <a:lnTo>
                  <a:pt x="379416" y="470900"/>
                </a:lnTo>
                <a:lnTo>
                  <a:pt x="335920" y="452777"/>
                </a:lnTo>
                <a:lnTo>
                  <a:pt x="293347" y="432580"/>
                </a:lnTo>
                <a:lnTo>
                  <a:pt x="252164" y="410528"/>
                </a:lnTo>
                <a:lnTo>
                  <a:pt x="212823" y="386865"/>
                </a:lnTo>
                <a:lnTo>
                  <a:pt x="175754" y="361848"/>
                </a:lnTo>
                <a:lnTo>
                  <a:pt x="141364" y="335753"/>
                </a:lnTo>
                <a:lnTo>
                  <a:pt x="110029" y="308866"/>
                </a:lnTo>
                <a:lnTo>
                  <a:pt x="82093" y="281480"/>
                </a:lnTo>
                <a:lnTo>
                  <a:pt x="57862" y="253896"/>
                </a:lnTo>
                <a:lnTo>
                  <a:pt x="37601" y="226415"/>
                </a:lnTo>
                <a:lnTo>
                  <a:pt x="21533" y="199341"/>
                </a:lnTo>
                <a:lnTo>
                  <a:pt x="9832" y="172967"/>
                </a:lnTo>
                <a:lnTo>
                  <a:pt x="2628" y="147585"/>
                </a:lnTo>
                <a:lnTo>
                  <a:pt x="0" y="123471"/>
                </a:lnTo>
                <a:lnTo>
                  <a:pt x="1976" y="100891"/>
                </a:lnTo>
                <a:lnTo>
                  <a:pt x="8534" y="80091"/>
                </a:lnTo>
                <a:lnTo>
                  <a:pt x="19603" y="61299"/>
                </a:lnTo>
                <a:lnTo>
                  <a:pt x="35062" y="44721"/>
                </a:lnTo>
                <a:lnTo>
                  <a:pt x="54741" y="30539"/>
                </a:lnTo>
                <a:lnTo>
                  <a:pt x="78424" y="18908"/>
                </a:lnTo>
                <a:lnTo>
                  <a:pt x="105852" y="9956"/>
                </a:lnTo>
                <a:lnTo>
                  <a:pt x="136724" y="3781"/>
                </a:lnTo>
                <a:lnTo>
                  <a:pt x="170703" y="450"/>
                </a:lnTo>
                <a:lnTo>
                  <a:pt x="207416" y="0"/>
                </a:lnTo>
                <a:lnTo>
                  <a:pt x="246461" y="2436"/>
                </a:lnTo>
                <a:lnTo>
                  <a:pt x="287409" y="7730"/>
                </a:lnTo>
                <a:lnTo>
                  <a:pt x="329813" y="15826"/>
                </a:lnTo>
                <a:lnTo>
                  <a:pt x="373207" y="26635"/>
                </a:lnTo>
                <a:lnTo>
                  <a:pt x="417117" y="40037"/>
                </a:lnTo>
                <a:lnTo>
                  <a:pt x="461061" y="55886"/>
                </a:lnTo>
                <a:lnTo>
                  <a:pt x="504558" y="74009"/>
                </a:lnTo>
                <a:lnTo>
                  <a:pt x="547131" y="94207"/>
                </a:lnTo>
                <a:lnTo>
                  <a:pt x="588314" y="116258"/>
                </a:lnTo>
                <a:lnTo>
                  <a:pt x="627655" y="139922"/>
                </a:lnTo>
                <a:lnTo>
                  <a:pt x="664724" y="164938"/>
                </a:lnTo>
                <a:lnTo>
                  <a:pt x="699114" y="191033"/>
                </a:lnTo>
                <a:lnTo>
                  <a:pt x="730448" y="217921"/>
                </a:lnTo>
                <a:lnTo>
                  <a:pt x="758384" y="245307"/>
                </a:lnTo>
                <a:lnTo>
                  <a:pt x="782616" y="272891"/>
                </a:lnTo>
                <a:lnTo>
                  <a:pt x="802876" y="300371"/>
                </a:lnTo>
                <a:lnTo>
                  <a:pt x="818945" y="327446"/>
                </a:lnTo>
                <a:lnTo>
                  <a:pt x="830645" y="353819"/>
                </a:lnTo>
                <a:lnTo>
                  <a:pt x="837849" y="379202"/>
                </a:lnTo>
                <a:lnTo>
                  <a:pt x="840478" y="403315"/>
                </a:lnTo>
                <a:lnTo>
                  <a:pt x="838502" y="425896"/>
                </a:lnTo>
                <a:close/>
              </a:path>
            </a:pathLst>
          </a:custGeom>
          <a:ln w="6350">
            <a:solidFill>
              <a:srgbClr val="4F7A43"/>
            </a:solidFill>
            <a:prstDash val="dash"/>
          </a:ln>
        </p:spPr>
      </p:sp>
      <p:sp>
        <p:nvSpPr>
          <p:cNvPr id="241" name="Shape 239"/>
          <p:cNvSpPr/>
          <p:nvPr/>
        </p:nvSpPr>
        <p:spPr>
          <a:xfrm>
            <a:off x="6830859" y="3903964"/>
            <a:ext cx="536972" cy="336558"/>
          </a:xfrm>
          <a:custGeom>
            <a:avLst/>
            <a:gdLst/>
            <a:ahLst/>
            <a:cxnLst/>
            <a:rect l="l" t="t" r="r" b="b"/>
            <a:pathLst>
              <a:path w="536972" h="336558">
                <a:moveTo>
                  <a:pt x="531519" y="285389"/>
                </a:moveTo>
                <a:lnTo>
                  <a:pt x="524447" y="297395"/>
                </a:lnTo>
                <a:lnTo>
                  <a:pt x="514571" y="307986"/>
                </a:lnTo>
                <a:lnTo>
                  <a:pt x="501999" y="317047"/>
                </a:lnTo>
                <a:lnTo>
                  <a:pt x="486868" y="324478"/>
                </a:lnTo>
                <a:lnTo>
                  <a:pt x="469344" y="330197"/>
                </a:lnTo>
                <a:lnTo>
                  <a:pt x="449620" y="334142"/>
                </a:lnTo>
                <a:lnTo>
                  <a:pt x="427911" y="336271"/>
                </a:lnTo>
                <a:lnTo>
                  <a:pt x="404456" y="336558"/>
                </a:lnTo>
                <a:lnTo>
                  <a:pt x="379511" y="335002"/>
                </a:lnTo>
                <a:lnTo>
                  <a:pt x="353349" y="331619"/>
                </a:lnTo>
                <a:lnTo>
                  <a:pt x="326258" y="326447"/>
                </a:lnTo>
                <a:lnTo>
                  <a:pt x="298534" y="319542"/>
                </a:lnTo>
                <a:lnTo>
                  <a:pt x="270480" y="310979"/>
                </a:lnTo>
                <a:lnTo>
                  <a:pt x="242405" y="300853"/>
                </a:lnTo>
                <a:lnTo>
                  <a:pt x="214615" y="289274"/>
                </a:lnTo>
                <a:lnTo>
                  <a:pt x="187416" y="276370"/>
                </a:lnTo>
                <a:lnTo>
                  <a:pt x="161105" y="262282"/>
                </a:lnTo>
                <a:lnTo>
                  <a:pt x="135970" y="247164"/>
                </a:lnTo>
                <a:lnTo>
                  <a:pt x="112287" y="231181"/>
                </a:lnTo>
                <a:lnTo>
                  <a:pt x="90316" y="214509"/>
                </a:lnTo>
                <a:lnTo>
                  <a:pt x="70296" y="197331"/>
                </a:lnTo>
                <a:lnTo>
                  <a:pt x="52448" y="179834"/>
                </a:lnTo>
                <a:lnTo>
                  <a:pt x="36967" y="162211"/>
                </a:lnTo>
                <a:lnTo>
                  <a:pt x="24023" y="144654"/>
                </a:lnTo>
                <a:lnTo>
                  <a:pt x="13757" y="127356"/>
                </a:lnTo>
                <a:lnTo>
                  <a:pt x="6282" y="110507"/>
                </a:lnTo>
                <a:lnTo>
                  <a:pt x="1679" y="94290"/>
                </a:lnTo>
                <a:lnTo>
                  <a:pt x="0" y="78884"/>
                </a:lnTo>
                <a:lnTo>
                  <a:pt x="1262" y="64458"/>
                </a:lnTo>
                <a:lnTo>
                  <a:pt x="5452" y="51169"/>
                </a:lnTo>
                <a:lnTo>
                  <a:pt x="12524" y="39163"/>
                </a:lnTo>
                <a:lnTo>
                  <a:pt x="22401" y="28572"/>
                </a:lnTo>
                <a:lnTo>
                  <a:pt x="34973" y="19511"/>
                </a:lnTo>
                <a:lnTo>
                  <a:pt x="50104" y="12080"/>
                </a:lnTo>
                <a:lnTo>
                  <a:pt x="67628" y="6361"/>
                </a:lnTo>
                <a:lnTo>
                  <a:pt x="87352" y="2416"/>
                </a:lnTo>
                <a:lnTo>
                  <a:pt x="109060" y="288"/>
                </a:lnTo>
                <a:lnTo>
                  <a:pt x="132516" y="0"/>
                </a:lnTo>
                <a:lnTo>
                  <a:pt x="157461" y="1556"/>
                </a:lnTo>
                <a:lnTo>
                  <a:pt x="183623" y="4939"/>
                </a:lnTo>
                <a:lnTo>
                  <a:pt x="210714" y="10111"/>
                </a:lnTo>
                <a:lnTo>
                  <a:pt x="238438" y="17017"/>
                </a:lnTo>
                <a:lnTo>
                  <a:pt x="266492" y="25579"/>
                </a:lnTo>
                <a:lnTo>
                  <a:pt x="294567" y="35705"/>
                </a:lnTo>
                <a:lnTo>
                  <a:pt x="322357" y="47284"/>
                </a:lnTo>
                <a:lnTo>
                  <a:pt x="349556" y="60188"/>
                </a:lnTo>
                <a:lnTo>
                  <a:pt x="375867" y="74276"/>
                </a:lnTo>
                <a:lnTo>
                  <a:pt x="401002" y="89395"/>
                </a:lnTo>
                <a:lnTo>
                  <a:pt x="424685" y="105377"/>
                </a:lnTo>
                <a:lnTo>
                  <a:pt x="446656" y="122049"/>
                </a:lnTo>
                <a:lnTo>
                  <a:pt x="466675" y="139227"/>
                </a:lnTo>
                <a:lnTo>
                  <a:pt x="484523" y="156724"/>
                </a:lnTo>
                <a:lnTo>
                  <a:pt x="500004" y="174347"/>
                </a:lnTo>
                <a:lnTo>
                  <a:pt x="512949" y="191904"/>
                </a:lnTo>
                <a:lnTo>
                  <a:pt x="523215" y="209202"/>
                </a:lnTo>
                <a:lnTo>
                  <a:pt x="530690" y="226051"/>
                </a:lnTo>
                <a:lnTo>
                  <a:pt x="535293" y="242268"/>
                </a:lnTo>
                <a:lnTo>
                  <a:pt x="536972" y="257674"/>
                </a:lnTo>
                <a:lnTo>
                  <a:pt x="535710" y="272100"/>
                </a:lnTo>
                <a:close/>
              </a:path>
            </a:pathLst>
          </a:custGeom>
          <a:ln w="6350">
            <a:solidFill>
              <a:srgbClr val="4F7A43"/>
            </a:solidFill>
            <a:prstDash val="dash"/>
          </a:ln>
        </p:spPr>
      </p:sp>
      <p:sp>
        <p:nvSpPr>
          <p:cNvPr id="242" name="Shape 240"/>
          <p:cNvSpPr/>
          <p:nvPr/>
        </p:nvSpPr>
        <p:spPr>
          <a:xfrm>
            <a:off x="6970938" y="3991762"/>
            <a:ext cx="256813" cy="160963"/>
          </a:xfrm>
          <a:custGeom>
            <a:avLst/>
            <a:gdLst/>
            <a:ahLst/>
            <a:cxnLst/>
            <a:rect l="l" t="t" r="r" b="b"/>
            <a:pathLst>
              <a:path w="256813" h="160963">
                <a:moveTo>
                  <a:pt x="254205" y="136490"/>
                </a:moveTo>
                <a:lnTo>
                  <a:pt x="250823" y="142232"/>
                </a:lnTo>
                <a:lnTo>
                  <a:pt x="246099" y="147298"/>
                </a:lnTo>
                <a:lnTo>
                  <a:pt x="240086" y="151631"/>
                </a:lnTo>
                <a:lnTo>
                  <a:pt x="232850" y="155185"/>
                </a:lnTo>
                <a:lnTo>
                  <a:pt x="224469" y="157920"/>
                </a:lnTo>
                <a:lnTo>
                  <a:pt x="215036" y="159807"/>
                </a:lnTo>
                <a:lnTo>
                  <a:pt x="204653" y="160825"/>
                </a:lnTo>
                <a:lnTo>
                  <a:pt x="193435" y="160963"/>
                </a:lnTo>
                <a:lnTo>
                  <a:pt x="181505" y="160218"/>
                </a:lnTo>
                <a:lnTo>
                  <a:pt x="168993" y="158600"/>
                </a:lnTo>
                <a:lnTo>
                  <a:pt x="156036" y="156127"/>
                </a:lnTo>
                <a:lnTo>
                  <a:pt x="142777" y="152824"/>
                </a:lnTo>
                <a:lnTo>
                  <a:pt x="129360" y="148729"/>
                </a:lnTo>
                <a:lnTo>
                  <a:pt x="115933" y="143886"/>
                </a:lnTo>
                <a:lnTo>
                  <a:pt x="102642" y="138349"/>
                </a:lnTo>
                <a:lnTo>
                  <a:pt x="89634" y="132177"/>
                </a:lnTo>
                <a:lnTo>
                  <a:pt x="77050" y="125439"/>
                </a:lnTo>
                <a:lnTo>
                  <a:pt x="65029" y="118209"/>
                </a:lnTo>
                <a:lnTo>
                  <a:pt x="53703" y="110565"/>
                </a:lnTo>
                <a:lnTo>
                  <a:pt x="43195" y="102591"/>
                </a:lnTo>
                <a:lnTo>
                  <a:pt x="33620" y="94376"/>
                </a:lnTo>
                <a:lnTo>
                  <a:pt x="25084" y="86008"/>
                </a:lnTo>
                <a:lnTo>
                  <a:pt x="17680" y="77579"/>
                </a:lnTo>
                <a:lnTo>
                  <a:pt x="11489" y="69183"/>
                </a:lnTo>
                <a:lnTo>
                  <a:pt x="6579" y="60910"/>
                </a:lnTo>
                <a:lnTo>
                  <a:pt x="3004" y="52851"/>
                </a:lnTo>
                <a:lnTo>
                  <a:pt x="803" y="45095"/>
                </a:lnTo>
                <a:lnTo>
                  <a:pt x="0" y="37727"/>
                </a:lnTo>
                <a:lnTo>
                  <a:pt x="604" y="30828"/>
                </a:lnTo>
                <a:lnTo>
                  <a:pt x="2608" y="24472"/>
                </a:lnTo>
                <a:lnTo>
                  <a:pt x="5990" y="18730"/>
                </a:lnTo>
                <a:lnTo>
                  <a:pt x="10713" y="13665"/>
                </a:lnTo>
                <a:lnTo>
                  <a:pt x="16726" y="9331"/>
                </a:lnTo>
                <a:lnTo>
                  <a:pt x="23963" y="5778"/>
                </a:lnTo>
                <a:lnTo>
                  <a:pt x="32344" y="3042"/>
                </a:lnTo>
                <a:lnTo>
                  <a:pt x="41777" y="1155"/>
                </a:lnTo>
                <a:lnTo>
                  <a:pt x="52159" y="138"/>
                </a:lnTo>
                <a:lnTo>
                  <a:pt x="63377" y="0"/>
                </a:lnTo>
                <a:lnTo>
                  <a:pt x="75307" y="744"/>
                </a:lnTo>
                <a:lnTo>
                  <a:pt x="87819" y="2362"/>
                </a:lnTo>
                <a:lnTo>
                  <a:pt x="100776" y="4836"/>
                </a:lnTo>
                <a:lnTo>
                  <a:pt x="114036" y="8138"/>
                </a:lnTo>
                <a:lnTo>
                  <a:pt x="127453" y="12233"/>
                </a:lnTo>
                <a:lnTo>
                  <a:pt x="140880" y="17076"/>
                </a:lnTo>
                <a:lnTo>
                  <a:pt x="154171" y="22614"/>
                </a:lnTo>
                <a:lnTo>
                  <a:pt x="167179" y="28785"/>
                </a:lnTo>
                <a:lnTo>
                  <a:pt x="179763" y="35523"/>
                </a:lnTo>
                <a:lnTo>
                  <a:pt x="191783" y="42754"/>
                </a:lnTo>
                <a:lnTo>
                  <a:pt x="203110" y="50398"/>
                </a:lnTo>
                <a:lnTo>
                  <a:pt x="213618" y="58371"/>
                </a:lnTo>
                <a:lnTo>
                  <a:pt x="223193" y="66587"/>
                </a:lnTo>
                <a:lnTo>
                  <a:pt x="231729" y="74955"/>
                </a:lnTo>
                <a:lnTo>
                  <a:pt x="239133" y="83383"/>
                </a:lnTo>
                <a:lnTo>
                  <a:pt x="245323" y="91780"/>
                </a:lnTo>
                <a:lnTo>
                  <a:pt x="250233" y="100053"/>
                </a:lnTo>
                <a:lnTo>
                  <a:pt x="253808" y="108111"/>
                </a:lnTo>
                <a:lnTo>
                  <a:pt x="256009" y="115867"/>
                </a:lnTo>
                <a:lnTo>
                  <a:pt x="256813" y="123235"/>
                </a:lnTo>
                <a:lnTo>
                  <a:pt x="256209" y="130135"/>
                </a:lnTo>
                <a:close/>
              </a:path>
            </a:pathLst>
          </a:custGeom>
          <a:ln w="6350">
            <a:solidFill>
              <a:srgbClr val="4F7A43"/>
            </a:solidFill>
            <a:prstDash val="dash"/>
          </a:ln>
        </p:spPr>
      </p:sp>
      <p:sp>
        <p:nvSpPr>
          <p:cNvPr id="243" name="Shape 241"/>
          <p:cNvSpPr/>
          <p:nvPr/>
        </p:nvSpPr>
        <p:spPr>
          <a:xfrm>
            <a:off x="7518929" y="4263399"/>
            <a:ext cx="41148" cy="41148"/>
          </a:xfrm>
          <a:prstGeom prst="ellipse">
            <a:avLst/>
          </a:prstGeom>
          <a:solidFill>
            <a:srgbClr val="FFFFFF"/>
          </a:solidFill>
          <a:ln w="7620">
            <a:solidFill>
              <a:srgbClr val="4F7A43"/>
            </a:solidFill>
            <a:prstDash val="solid"/>
          </a:ln>
        </p:spPr>
      </p:sp>
      <p:sp>
        <p:nvSpPr>
          <p:cNvPr id="244" name="Shape 242"/>
          <p:cNvSpPr/>
          <p:nvPr/>
        </p:nvSpPr>
        <p:spPr>
          <a:xfrm>
            <a:off x="7466810" y="4321284"/>
            <a:ext cx="41148" cy="41148"/>
          </a:xfrm>
          <a:prstGeom prst="ellipse">
            <a:avLst/>
          </a:prstGeom>
          <a:solidFill>
            <a:srgbClr val="FFFFFF"/>
          </a:solidFill>
          <a:ln w="7620">
            <a:solidFill>
              <a:srgbClr val="4F7A43"/>
            </a:solidFill>
            <a:prstDash val="solid"/>
          </a:ln>
        </p:spPr>
      </p:sp>
      <p:sp>
        <p:nvSpPr>
          <p:cNvPr id="245" name="Shape 243"/>
          <p:cNvSpPr/>
          <p:nvPr/>
        </p:nvSpPr>
        <p:spPr>
          <a:xfrm>
            <a:off x="7375273" y="4354533"/>
            <a:ext cx="41148" cy="41148"/>
          </a:xfrm>
          <a:prstGeom prst="ellipse">
            <a:avLst/>
          </a:prstGeom>
          <a:solidFill>
            <a:srgbClr val="FFFFFF"/>
          </a:solidFill>
          <a:ln w="7620">
            <a:solidFill>
              <a:srgbClr val="4F7A43"/>
            </a:solidFill>
            <a:prstDash val="solid"/>
          </a:ln>
        </p:spPr>
      </p:sp>
      <p:sp>
        <p:nvSpPr>
          <p:cNvPr id="246" name="Shape 244"/>
          <p:cNvSpPr/>
          <p:nvPr/>
        </p:nvSpPr>
        <p:spPr>
          <a:xfrm>
            <a:off x="7252314" y="4360238"/>
            <a:ext cx="41148" cy="41148"/>
          </a:xfrm>
          <a:prstGeom prst="ellipse">
            <a:avLst/>
          </a:prstGeom>
          <a:solidFill>
            <a:srgbClr val="FFFFFF"/>
          </a:solidFill>
          <a:ln w="7620">
            <a:solidFill>
              <a:srgbClr val="4F7A43"/>
            </a:solidFill>
            <a:prstDash val="solid"/>
          </a:ln>
        </p:spPr>
      </p:sp>
      <p:sp>
        <p:nvSpPr>
          <p:cNvPr id="247" name="Shape 245"/>
          <p:cNvSpPr/>
          <p:nvPr/>
        </p:nvSpPr>
        <p:spPr>
          <a:xfrm>
            <a:off x="7108681" y="4337902"/>
            <a:ext cx="41148" cy="41148"/>
          </a:xfrm>
          <a:prstGeom prst="ellipse">
            <a:avLst/>
          </a:prstGeom>
          <a:solidFill>
            <a:srgbClr val="FFFFFF"/>
          </a:solidFill>
          <a:ln w="7620">
            <a:solidFill>
              <a:srgbClr val="4F7A43"/>
            </a:solidFill>
            <a:prstDash val="solid"/>
          </a:ln>
        </p:spPr>
      </p:sp>
      <p:sp>
        <p:nvSpPr>
          <p:cNvPr id="248" name="Shape 246"/>
          <p:cNvSpPr/>
          <p:nvPr/>
        </p:nvSpPr>
        <p:spPr>
          <a:xfrm>
            <a:off x="6956926" y="4289477"/>
            <a:ext cx="41148" cy="41148"/>
          </a:xfrm>
          <a:prstGeom prst="ellipse">
            <a:avLst/>
          </a:prstGeom>
          <a:solidFill>
            <a:srgbClr val="FFFFFF"/>
          </a:solidFill>
          <a:ln w="7620">
            <a:solidFill>
              <a:srgbClr val="4F7A43"/>
            </a:solidFill>
            <a:prstDash val="solid"/>
          </a:ln>
        </p:spPr>
      </p:sp>
      <p:sp>
        <p:nvSpPr>
          <p:cNvPr id="249" name="Shape 247"/>
          <p:cNvSpPr/>
          <p:nvPr/>
        </p:nvSpPr>
        <p:spPr>
          <a:xfrm>
            <a:off x="6810309" y="4219193"/>
            <a:ext cx="41148" cy="41148"/>
          </a:xfrm>
          <a:prstGeom prst="ellipse">
            <a:avLst/>
          </a:prstGeom>
          <a:solidFill>
            <a:srgbClr val="FFFFFF"/>
          </a:solidFill>
          <a:ln w="7620">
            <a:solidFill>
              <a:srgbClr val="4F7A43"/>
            </a:solidFill>
            <a:prstDash val="solid"/>
          </a:ln>
        </p:spPr>
      </p:sp>
      <p:sp>
        <p:nvSpPr>
          <p:cNvPr id="250" name="Shape 248"/>
          <p:cNvSpPr/>
          <p:nvPr/>
        </p:nvSpPr>
        <p:spPr>
          <a:xfrm>
            <a:off x="6681645" y="4133195"/>
            <a:ext cx="41148" cy="41148"/>
          </a:xfrm>
          <a:prstGeom prst="ellipse">
            <a:avLst/>
          </a:prstGeom>
          <a:solidFill>
            <a:srgbClr val="FFFFFF"/>
          </a:solidFill>
          <a:ln w="7620">
            <a:solidFill>
              <a:srgbClr val="4F7A43"/>
            </a:solidFill>
            <a:prstDash val="solid"/>
          </a:ln>
        </p:spPr>
      </p:sp>
      <p:sp>
        <p:nvSpPr>
          <p:cNvPr id="251" name="Shape 249"/>
          <p:cNvSpPr/>
          <p:nvPr/>
        </p:nvSpPr>
        <p:spPr>
          <a:xfrm>
            <a:off x="6582177" y="4038996"/>
            <a:ext cx="41148" cy="41148"/>
          </a:xfrm>
          <a:prstGeom prst="ellipse">
            <a:avLst/>
          </a:prstGeom>
          <a:solidFill>
            <a:srgbClr val="FFFFFF"/>
          </a:solidFill>
          <a:ln w="7620">
            <a:solidFill>
              <a:srgbClr val="4F7A43"/>
            </a:solidFill>
            <a:prstDash val="solid"/>
          </a:ln>
        </p:spPr>
      </p:sp>
      <p:sp>
        <p:nvSpPr>
          <p:cNvPr id="252" name="Shape 250"/>
          <p:cNvSpPr/>
          <p:nvPr/>
        </p:nvSpPr>
        <p:spPr>
          <a:xfrm>
            <a:off x="6520598" y="3944829"/>
            <a:ext cx="41148" cy="41148"/>
          </a:xfrm>
          <a:prstGeom prst="ellipse">
            <a:avLst/>
          </a:prstGeom>
          <a:solidFill>
            <a:srgbClr val="FFFFFF"/>
          </a:solidFill>
          <a:ln w="7620">
            <a:solidFill>
              <a:srgbClr val="4F7A43"/>
            </a:solidFill>
            <a:prstDash val="solid"/>
          </a:ln>
        </p:spPr>
      </p:sp>
      <p:sp>
        <p:nvSpPr>
          <p:cNvPr id="253" name="Shape 251"/>
          <p:cNvSpPr/>
          <p:nvPr/>
        </p:nvSpPr>
        <p:spPr>
          <a:xfrm>
            <a:off x="6502288" y="3858923"/>
            <a:ext cx="41148" cy="41148"/>
          </a:xfrm>
          <a:prstGeom prst="ellipse">
            <a:avLst/>
          </a:prstGeom>
          <a:solidFill>
            <a:srgbClr val="FFFFFF"/>
          </a:solidFill>
          <a:ln w="7620">
            <a:solidFill>
              <a:srgbClr val="4F7A43"/>
            </a:solidFill>
            <a:prstDash val="solid"/>
          </a:ln>
        </p:spPr>
      </p:sp>
      <p:sp>
        <p:nvSpPr>
          <p:cNvPr id="254" name="Shape 252"/>
          <p:cNvSpPr/>
          <p:nvPr/>
        </p:nvSpPr>
        <p:spPr>
          <a:xfrm>
            <a:off x="6528850" y="3788786"/>
            <a:ext cx="41148" cy="41148"/>
          </a:xfrm>
          <a:prstGeom prst="ellipse">
            <a:avLst/>
          </a:prstGeom>
          <a:solidFill>
            <a:srgbClr val="FFFFFF"/>
          </a:solidFill>
          <a:ln w="7620">
            <a:solidFill>
              <a:srgbClr val="4F7A43"/>
            </a:solidFill>
            <a:prstDash val="solid"/>
          </a:ln>
        </p:spPr>
      </p:sp>
      <p:sp>
        <p:nvSpPr>
          <p:cNvPr id="255" name="Shape 253"/>
          <p:cNvSpPr/>
          <p:nvPr/>
        </p:nvSpPr>
        <p:spPr>
          <a:xfrm>
            <a:off x="6597960" y="3740547"/>
            <a:ext cx="41148" cy="41148"/>
          </a:xfrm>
          <a:prstGeom prst="ellipse">
            <a:avLst/>
          </a:prstGeom>
          <a:solidFill>
            <a:srgbClr val="FFFFFF"/>
          </a:solidFill>
          <a:ln w="7620">
            <a:solidFill>
              <a:srgbClr val="4F7A43"/>
            </a:solidFill>
            <a:prstDash val="solid"/>
          </a:ln>
        </p:spPr>
      </p:sp>
      <p:sp>
        <p:nvSpPr>
          <p:cNvPr id="256" name="Shape 254"/>
          <p:cNvSpPr/>
          <p:nvPr/>
        </p:nvSpPr>
        <p:spPr>
          <a:xfrm>
            <a:off x="6703580" y="3718422"/>
            <a:ext cx="41148" cy="41148"/>
          </a:xfrm>
          <a:prstGeom prst="ellipse">
            <a:avLst/>
          </a:prstGeom>
          <a:solidFill>
            <a:srgbClr val="FFFFFF"/>
          </a:solidFill>
          <a:ln w="7620">
            <a:solidFill>
              <a:srgbClr val="4F7A43"/>
            </a:solidFill>
            <a:prstDash val="solid"/>
          </a:ln>
        </p:spPr>
      </p:sp>
      <p:sp>
        <p:nvSpPr>
          <p:cNvPr id="257" name="Shape 255"/>
          <p:cNvSpPr/>
          <p:nvPr/>
        </p:nvSpPr>
        <p:spPr>
          <a:xfrm>
            <a:off x="6836479" y="3724343"/>
            <a:ext cx="41148" cy="41148"/>
          </a:xfrm>
          <a:prstGeom prst="ellipse">
            <a:avLst/>
          </a:prstGeom>
          <a:solidFill>
            <a:srgbClr val="FFFFFF"/>
          </a:solidFill>
          <a:ln w="7620">
            <a:solidFill>
              <a:srgbClr val="4F7A43"/>
            </a:solidFill>
            <a:prstDash val="solid"/>
          </a:ln>
        </p:spPr>
      </p:sp>
      <p:sp>
        <p:nvSpPr>
          <p:cNvPr id="258" name="Shape 256"/>
          <p:cNvSpPr/>
          <p:nvPr/>
        </p:nvSpPr>
        <p:spPr>
          <a:xfrm>
            <a:off x="6985043" y="3757795"/>
            <a:ext cx="41148" cy="41148"/>
          </a:xfrm>
          <a:prstGeom prst="ellipse">
            <a:avLst/>
          </a:prstGeom>
          <a:solidFill>
            <a:srgbClr val="FFFFFF"/>
          </a:solidFill>
          <a:ln w="7620">
            <a:solidFill>
              <a:srgbClr val="4F7A43"/>
            </a:solidFill>
            <a:prstDash val="solid"/>
          </a:ln>
        </p:spPr>
      </p:sp>
      <p:sp>
        <p:nvSpPr>
          <p:cNvPr id="259" name="Shape 257"/>
          <p:cNvSpPr/>
          <p:nvPr/>
        </p:nvSpPr>
        <p:spPr>
          <a:xfrm>
            <a:off x="7136289" y="3815852"/>
            <a:ext cx="41148" cy="41148"/>
          </a:xfrm>
          <a:prstGeom prst="ellipse">
            <a:avLst/>
          </a:prstGeom>
          <a:solidFill>
            <a:srgbClr val="FFFFFF"/>
          </a:solidFill>
          <a:ln w="7620">
            <a:solidFill>
              <a:srgbClr val="4F7A43"/>
            </a:solidFill>
            <a:prstDash val="solid"/>
          </a:ln>
        </p:spPr>
      </p:sp>
      <p:sp>
        <p:nvSpPr>
          <p:cNvPr id="260" name="Shape 258"/>
          <p:cNvSpPr/>
          <p:nvPr/>
        </p:nvSpPr>
        <p:spPr>
          <a:xfrm>
            <a:off x="7277000" y="3893443"/>
            <a:ext cx="41148" cy="41148"/>
          </a:xfrm>
          <a:prstGeom prst="ellipse">
            <a:avLst/>
          </a:prstGeom>
          <a:solidFill>
            <a:srgbClr val="FFFFFF"/>
          </a:solidFill>
          <a:ln w="7620">
            <a:solidFill>
              <a:srgbClr val="4F7A43"/>
            </a:solidFill>
            <a:prstDash val="solid"/>
          </a:ln>
        </p:spPr>
      </p:sp>
      <p:sp>
        <p:nvSpPr>
          <p:cNvPr id="261" name="Shape 259"/>
          <p:cNvSpPr/>
          <p:nvPr/>
        </p:nvSpPr>
        <p:spPr>
          <a:xfrm>
            <a:off x="7394879" y="3983785"/>
            <a:ext cx="41148" cy="41148"/>
          </a:xfrm>
          <a:prstGeom prst="ellipse">
            <a:avLst/>
          </a:prstGeom>
          <a:solidFill>
            <a:srgbClr val="FFFFFF"/>
          </a:solidFill>
          <a:ln w="7620">
            <a:solidFill>
              <a:srgbClr val="4F7A43"/>
            </a:solidFill>
            <a:prstDash val="solid"/>
          </a:ln>
        </p:spPr>
      </p:sp>
      <p:sp>
        <p:nvSpPr>
          <p:cNvPr id="262" name="Shape 260"/>
          <p:cNvSpPr/>
          <p:nvPr/>
        </p:nvSpPr>
        <p:spPr>
          <a:xfrm>
            <a:off x="7479624" y="4078984"/>
            <a:ext cx="41148" cy="41148"/>
          </a:xfrm>
          <a:prstGeom prst="ellipse">
            <a:avLst/>
          </a:prstGeom>
          <a:solidFill>
            <a:srgbClr val="FFFFFF"/>
          </a:solidFill>
          <a:ln w="7620">
            <a:solidFill>
              <a:srgbClr val="4F7A43"/>
            </a:solidFill>
            <a:prstDash val="solid"/>
          </a:ln>
        </p:spPr>
      </p:sp>
      <p:sp>
        <p:nvSpPr>
          <p:cNvPr id="263" name="Shape 261"/>
          <p:cNvSpPr/>
          <p:nvPr/>
        </p:nvSpPr>
        <p:spPr>
          <a:xfrm>
            <a:off x="7523830" y="4170720"/>
            <a:ext cx="41148" cy="41148"/>
          </a:xfrm>
          <a:prstGeom prst="ellipse">
            <a:avLst/>
          </a:prstGeom>
          <a:solidFill>
            <a:srgbClr val="FFFFFF"/>
          </a:solidFill>
          <a:ln w="7620">
            <a:solidFill>
              <a:srgbClr val="4F7A43"/>
            </a:solidFill>
            <a:prstDash val="solid"/>
          </a:ln>
        </p:spPr>
      </p:sp>
      <p:sp>
        <p:nvSpPr>
          <p:cNvPr id="264" name="Shape 262"/>
          <p:cNvSpPr/>
          <p:nvPr/>
        </p:nvSpPr>
        <p:spPr>
          <a:xfrm>
            <a:off x="7523632" y="4250977"/>
            <a:ext cx="41148" cy="41148"/>
          </a:xfrm>
          <a:prstGeom prst="ellipse">
            <a:avLst/>
          </a:prstGeom>
          <a:solidFill>
            <a:srgbClr val="FFFFFF"/>
          </a:solidFill>
          <a:ln w="7620">
            <a:solidFill>
              <a:srgbClr val="4F7A43"/>
            </a:solidFill>
            <a:prstDash val="solid"/>
          </a:ln>
        </p:spPr>
      </p:sp>
      <p:sp>
        <p:nvSpPr>
          <p:cNvPr id="265" name="Shape 263"/>
          <p:cNvSpPr/>
          <p:nvPr/>
        </p:nvSpPr>
        <p:spPr>
          <a:xfrm>
            <a:off x="6657302" y="3870870"/>
            <a:ext cx="749017" cy="560448"/>
          </a:xfrm>
          <a:custGeom>
            <a:avLst/>
            <a:gdLst/>
            <a:ahLst/>
            <a:cxnLst/>
            <a:rect l="l" t="t" r="r" b="b"/>
            <a:pathLst>
              <a:path w="749017" h="560448">
                <a:moveTo>
                  <a:pt x="749017" y="560448"/>
                </a:moveTo>
                <a:lnTo>
                  <a:pt x="673236" y="554222"/>
                </a:lnTo>
                <a:lnTo>
                  <a:pt x="594657" y="540541"/>
                </a:lnTo>
                <a:lnTo>
                  <a:pt x="515175" y="520031"/>
                </a:lnTo>
                <a:lnTo>
                  <a:pt x="436635" y="493453"/>
                </a:lnTo>
                <a:lnTo>
                  <a:pt x="360785" y="461675"/>
                </a:lnTo>
                <a:lnTo>
                  <a:pt x="289239" y="425654"/>
                </a:lnTo>
                <a:lnTo>
                  <a:pt x="223445" y="386403"/>
                </a:lnTo>
                <a:lnTo>
                  <a:pt x="164657" y="344970"/>
                </a:lnTo>
                <a:lnTo>
                  <a:pt x="113906" y="302410"/>
                </a:lnTo>
                <a:lnTo>
                  <a:pt x="71992" y="259758"/>
                </a:lnTo>
                <a:lnTo>
                  <a:pt x="39466" y="218005"/>
                </a:lnTo>
                <a:lnTo>
                  <a:pt x="16629" y="178078"/>
                </a:lnTo>
                <a:lnTo>
                  <a:pt x="3536" y="140814"/>
                </a:lnTo>
                <a:lnTo>
                  <a:pt x="0" y="106950"/>
                </a:lnTo>
                <a:lnTo>
                  <a:pt x="5608" y="77102"/>
                </a:lnTo>
                <a:lnTo>
                  <a:pt x="19740" y="51757"/>
                </a:lnTo>
                <a:lnTo>
                  <a:pt x="41595" y="31267"/>
                </a:lnTo>
                <a:lnTo>
                  <a:pt x="70216" y="15842"/>
                </a:lnTo>
                <a:lnTo>
                  <a:pt x="104522" y="5554"/>
                </a:lnTo>
                <a:lnTo>
                  <a:pt x="143339" y="338"/>
                </a:lnTo>
                <a:lnTo>
                  <a:pt x="185442" y="0"/>
                </a:lnTo>
                <a:lnTo>
                  <a:pt x="229578" y="4228"/>
                </a:lnTo>
                <a:lnTo>
                  <a:pt x="274512" y="12604"/>
                </a:lnTo>
                <a:lnTo>
                  <a:pt x="319052" y="24622"/>
                </a:lnTo>
                <a:lnTo>
                  <a:pt x="362084" y="39702"/>
                </a:lnTo>
                <a:lnTo>
                  <a:pt x="402597" y="57212"/>
                </a:lnTo>
                <a:lnTo>
                  <a:pt x="439710" y="76486"/>
                </a:lnTo>
                <a:lnTo>
                  <a:pt x="472689" y="96846"/>
                </a:lnTo>
                <a:lnTo>
                  <a:pt x="500964" y="117620"/>
                </a:lnTo>
                <a:lnTo>
                  <a:pt x="524138" y="138161"/>
                </a:lnTo>
                <a:lnTo>
                  <a:pt x="541992" y="157869"/>
                </a:lnTo>
                <a:lnTo>
                  <a:pt x="554488" y="176201"/>
                </a:lnTo>
                <a:lnTo>
                  <a:pt x="561756" y="192691"/>
                </a:lnTo>
                <a:lnTo>
                  <a:pt x="564094" y="206957"/>
                </a:lnTo>
                <a:lnTo>
                  <a:pt x="561945" y="218712"/>
                </a:lnTo>
                <a:lnTo>
                  <a:pt x="555883" y="227773"/>
                </a:lnTo>
                <a:lnTo>
                  <a:pt x="546587" y="234055"/>
                </a:lnTo>
                <a:lnTo>
                  <a:pt x="534820" y="237581"/>
                </a:lnTo>
                <a:lnTo>
                  <a:pt x="521402" y="238472"/>
                </a:lnTo>
                <a:lnTo>
                  <a:pt x="507177" y="236940"/>
                </a:lnTo>
              </a:path>
            </a:pathLst>
          </a:custGeom>
          <a:ln w="12700">
            <a:solidFill>
              <a:srgbClr val="C4262E"/>
            </a:solidFill>
            <a:prstDash val="dash"/>
            <a:tailEnd type="triangle"/>
          </a:ln>
        </p:spPr>
      </p:sp>
      <p:sp>
        <p:nvSpPr>
          <p:cNvPr id="266" name="Shape 264"/>
          <p:cNvSpPr/>
          <p:nvPr/>
        </p:nvSpPr>
        <p:spPr>
          <a:xfrm rot="169550">
            <a:off x="7148822" y="4430660"/>
            <a:ext cx="388074" cy="57585"/>
          </a:xfrm>
          <a:prstGeom prst="rect">
            <a:avLst/>
          </a:prstGeom>
          <a:solidFill>
            <a:srgbClr val="FFFFFF"/>
          </a:solidFill>
          <a:ln/>
        </p:spPr>
      </p:sp>
      <p:sp>
        <p:nvSpPr>
          <p:cNvPr id="267" name="Shape 265"/>
          <p:cNvSpPr/>
          <p:nvPr/>
        </p:nvSpPr>
        <p:spPr>
          <a:xfrm rot="2669841">
            <a:off x="6485223" y="4072672"/>
            <a:ext cx="344259" cy="57585"/>
          </a:xfrm>
          <a:prstGeom prst="rect">
            <a:avLst/>
          </a:prstGeom>
          <a:solidFill>
            <a:srgbClr val="FFFFFF"/>
          </a:solidFill>
          <a:ln/>
        </p:spPr>
      </p:sp>
      <p:sp>
        <p:nvSpPr>
          <p:cNvPr id="268" name="Shape 266"/>
          <p:cNvSpPr/>
          <p:nvPr/>
        </p:nvSpPr>
        <p:spPr>
          <a:xfrm rot="-1236591">
            <a:off x="6609804" y="3808226"/>
            <a:ext cx="287926" cy="57585"/>
          </a:xfrm>
          <a:prstGeom prst="rect">
            <a:avLst/>
          </a:prstGeom>
          <a:solidFill>
            <a:srgbClr val="FFFFFF"/>
          </a:solidFill>
          <a:ln/>
        </p:spPr>
      </p:sp>
      <p:sp>
        <p:nvSpPr>
          <p:cNvPr id="269" name="Shape 267"/>
          <p:cNvSpPr/>
          <p:nvPr/>
        </p:nvSpPr>
        <p:spPr>
          <a:xfrm rot="1650735">
            <a:off x="7059513" y="3932836"/>
            <a:ext cx="225333" cy="57585"/>
          </a:xfrm>
          <a:prstGeom prst="rect">
            <a:avLst/>
          </a:prstGeom>
          <a:solidFill>
            <a:srgbClr val="FFFFFF"/>
          </a:solidFill>
          <a:ln/>
        </p:spPr>
      </p:sp>
      <p:sp>
        <p:nvSpPr>
          <p:cNvPr id="270" name="Shape 268"/>
          <p:cNvSpPr/>
          <p:nvPr/>
        </p:nvSpPr>
        <p:spPr>
          <a:xfrm>
            <a:off x="8028432" y="3291840"/>
            <a:ext cx="1801368" cy="1325880"/>
          </a:xfrm>
          <a:prstGeom prst="rect">
            <a:avLst/>
          </a:prstGeom>
          <a:solidFill>
            <a:srgbClr val="FFFFFF"/>
          </a:solidFill>
          <a:ln w="6350">
            <a:solidFill>
              <a:srgbClr val="D9D9D9"/>
            </a:solidFill>
            <a:prstDash val="solid"/>
          </a:ln>
        </p:spPr>
      </p:sp>
      <p:sp>
        <p:nvSpPr>
          <p:cNvPr id="271" name="Text 269"/>
          <p:cNvSpPr txBox="1"/>
          <p:nvPr/>
        </p:nvSpPr>
        <p:spPr>
          <a:xfrm>
            <a:off x="8101584" y="3346704"/>
            <a:ext cx="1655064" cy="164592"/>
          </a:xfrm>
          <a:prstGeom prst="rect">
            <a:avLst/>
          </a:prstGeom>
          <a:noFill/>
          <a:ln/>
        </p:spPr>
        <p:txBody>
          <a:bodyPr wrap="square" lIns="0" tIns="0" rIns="0" bIns="0" rtlCol="0" anchor="t"/>
          <a:lstStyle/>
          <a:p>
            <a:pPr indent="0" marL="0">
              <a:buNone/>
            </a:pPr>
            <a:r>
              <a:rPr lang="en-US" sz="550" b="1" spc="50" kern="0" dirty="0">
                <a:solidFill>
                  <a:srgbClr val="C4262E"/>
                </a:solidFill>
                <a:latin typeface="Arial" pitchFamily="34" charset="0"/>
                <a:ea typeface="Arial" pitchFamily="34" charset="-122"/>
                <a:cs typeface="Arial" pitchFamily="34" charset="-120"/>
              </a:rPr>
              <a:t>5  </a:t>
            </a:r>
            <a:pPr indent="0" marL="0">
              <a:buNone/>
            </a:pPr>
            <a:r>
              <a:rPr lang="en-US" sz="550" b="1" spc="50" kern="0" dirty="0">
                <a:solidFill>
                  <a:srgbClr val="1B1B1B"/>
                </a:solidFill>
                <a:latin typeface="Arial" pitchFamily="34" charset="0"/>
                <a:ea typeface="Arial" pitchFamily="34" charset="-122"/>
                <a:cs typeface="Arial" pitchFamily="34" charset="-120"/>
              </a:rPr>
              <a:t>PLACE THE PROGRAM</a:t>
            </a:r>
            <a:endParaRPr lang="en-US" sz="550" dirty="0"/>
          </a:p>
        </p:txBody>
      </p:sp>
      <p:sp>
        <p:nvSpPr>
          <p:cNvPr id="272" name="Shape 270"/>
          <p:cNvSpPr/>
          <p:nvPr/>
        </p:nvSpPr>
        <p:spPr>
          <a:xfrm>
            <a:off x="8228718" y="3620947"/>
            <a:ext cx="1400796" cy="877978"/>
          </a:xfrm>
          <a:custGeom>
            <a:avLst/>
            <a:gdLst/>
            <a:ahLst/>
            <a:cxnLst/>
            <a:rect l="l" t="t" r="r" b="b"/>
            <a:pathLst>
              <a:path w="1400796" h="877978">
                <a:moveTo>
                  <a:pt x="1386572" y="744493"/>
                </a:moveTo>
                <a:lnTo>
                  <a:pt x="1368124" y="775813"/>
                </a:lnTo>
                <a:lnTo>
                  <a:pt x="1342360" y="803443"/>
                </a:lnTo>
                <a:lnTo>
                  <a:pt x="1309562" y="827079"/>
                </a:lnTo>
                <a:lnTo>
                  <a:pt x="1270090" y="846463"/>
                </a:lnTo>
                <a:lnTo>
                  <a:pt x="1224376" y="861384"/>
                </a:lnTo>
                <a:lnTo>
                  <a:pt x="1172922" y="871676"/>
                </a:lnTo>
                <a:lnTo>
                  <a:pt x="1116291" y="877227"/>
                </a:lnTo>
                <a:lnTo>
                  <a:pt x="1055103" y="877978"/>
                </a:lnTo>
                <a:lnTo>
                  <a:pt x="990028" y="873918"/>
                </a:lnTo>
                <a:lnTo>
                  <a:pt x="921781" y="865093"/>
                </a:lnTo>
                <a:lnTo>
                  <a:pt x="851108" y="851600"/>
                </a:lnTo>
                <a:lnTo>
                  <a:pt x="778784" y="833587"/>
                </a:lnTo>
                <a:lnTo>
                  <a:pt x="705601" y="811249"/>
                </a:lnTo>
                <a:lnTo>
                  <a:pt x="632361" y="784834"/>
                </a:lnTo>
                <a:lnTo>
                  <a:pt x="559866" y="754629"/>
                </a:lnTo>
                <a:lnTo>
                  <a:pt x="488911" y="720966"/>
                </a:lnTo>
                <a:lnTo>
                  <a:pt x="420273" y="684214"/>
                </a:lnTo>
                <a:lnTo>
                  <a:pt x="354705" y="644774"/>
                </a:lnTo>
                <a:lnTo>
                  <a:pt x="292923" y="603081"/>
                </a:lnTo>
                <a:lnTo>
                  <a:pt x="235607" y="559589"/>
                </a:lnTo>
                <a:lnTo>
                  <a:pt x="183382" y="514776"/>
                </a:lnTo>
                <a:lnTo>
                  <a:pt x="136822" y="469133"/>
                </a:lnTo>
                <a:lnTo>
                  <a:pt x="96437" y="423159"/>
                </a:lnTo>
                <a:lnTo>
                  <a:pt x="62669" y="377359"/>
                </a:lnTo>
                <a:lnTo>
                  <a:pt x="35888" y="332234"/>
                </a:lnTo>
                <a:lnTo>
                  <a:pt x="16387" y="288279"/>
                </a:lnTo>
                <a:lnTo>
                  <a:pt x="4381" y="245975"/>
                </a:lnTo>
                <a:lnTo>
                  <a:pt x="0" y="205786"/>
                </a:lnTo>
                <a:lnTo>
                  <a:pt x="3293" y="168151"/>
                </a:lnTo>
                <a:lnTo>
                  <a:pt x="14224" y="133484"/>
                </a:lnTo>
                <a:lnTo>
                  <a:pt x="32672" y="102164"/>
                </a:lnTo>
                <a:lnTo>
                  <a:pt x="58437" y="74535"/>
                </a:lnTo>
                <a:lnTo>
                  <a:pt x="91234" y="50899"/>
                </a:lnTo>
                <a:lnTo>
                  <a:pt x="130706" y="31514"/>
                </a:lnTo>
                <a:lnTo>
                  <a:pt x="176420" y="16594"/>
                </a:lnTo>
                <a:lnTo>
                  <a:pt x="227874" y="6302"/>
                </a:lnTo>
                <a:lnTo>
                  <a:pt x="284505" y="750"/>
                </a:lnTo>
                <a:lnTo>
                  <a:pt x="345693" y="0"/>
                </a:lnTo>
                <a:lnTo>
                  <a:pt x="410768" y="4059"/>
                </a:lnTo>
                <a:lnTo>
                  <a:pt x="479015" y="12884"/>
                </a:lnTo>
                <a:lnTo>
                  <a:pt x="549688" y="26377"/>
                </a:lnTo>
                <a:lnTo>
                  <a:pt x="622012" y="44391"/>
                </a:lnTo>
                <a:lnTo>
                  <a:pt x="695195" y="66728"/>
                </a:lnTo>
                <a:lnTo>
                  <a:pt x="768436" y="93144"/>
                </a:lnTo>
                <a:lnTo>
                  <a:pt x="840930" y="123349"/>
                </a:lnTo>
                <a:lnTo>
                  <a:pt x="911885" y="157012"/>
                </a:lnTo>
                <a:lnTo>
                  <a:pt x="980523" y="193764"/>
                </a:lnTo>
                <a:lnTo>
                  <a:pt x="1046092" y="233203"/>
                </a:lnTo>
                <a:lnTo>
                  <a:pt x="1107873" y="274897"/>
                </a:lnTo>
                <a:lnTo>
                  <a:pt x="1165190" y="318389"/>
                </a:lnTo>
                <a:lnTo>
                  <a:pt x="1217414" y="363202"/>
                </a:lnTo>
                <a:lnTo>
                  <a:pt x="1263974" y="408845"/>
                </a:lnTo>
                <a:lnTo>
                  <a:pt x="1304359" y="454818"/>
                </a:lnTo>
                <a:lnTo>
                  <a:pt x="1338127" y="500618"/>
                </a:lnTo>
                <a:lnTo>
                  <a:pt x="1364909" y="545743"/>
                </a:lnTo>
                <a:lnTo>
                  <a:pt x="1384409" y="589699"/>
                </a:lnTo>
                <a:lnTo>
                  <a:pt x="1396415" y="632003"/>
                </a:lnTo>
                <a:lnTo>
                  <a:pt x="1400796" y="672192"/>
                </a:lnTo>
                <a:lnTo>
                  <a:pt x="1397503" y="709826"/>
                </a:lnTo>
                <a:close/>
              </a:path>
            </a:pathLst>
          </a:custGeom>
          <a:solidFill>
            <a:srgbClr val="E4E4E4"/>
          </a:solidFill>
          <a:ln w="12700"/>
        </p:spPr>
      </p:sp>
      <p:sp>
        <p:nvSpPr>
          <p:cNvPr id="273" name="Shape 271"/>
          <p:cNvSpPr/>
          <p:nvPr/>
        </p:nvSpPr>
        <p:spPr>
          <a:xfrm>
            <a:off x="8083296" y="3708711"/>
            <a:ext cx="159646" cy="45720"/>
          </a:xfrm>
          <a:custGeom>
            <a:avLst/>
            <a:gdLst/>
            <a:ahLst/>
            <a:cxnLst/>
            <a:rect l="l" t="t" r="r" b="b"/>
            <a:pathLst>
              <a:path w="159646" h="45720">
                <a:moveTo>
                  <a:pt x="159646" y="45720"/>
                </a:moveTo>
                <a:lnTo>
                  <a:pt x="0" y="0"/>
                </a:lnTo>
              </a:path>
            </a:pathLst>
          </a:custGeom>
          <a:ln w="76200">
            <a:solidFill>
              <a:srgbClr val="E4E4E4"/>
            </a:solidFill>
            <a:prstDash val="solid"/>
          </a:ln>
        </p:spPr>
      </p:sp>
      <p:sp>
        <p:nvSpPr>
          <p:cNvPr id="274" name="Shape 272"/>
          <p:cNvSpPr/>
          <p:nvPr/>
        </p:nvSpPr>
        <p:spPr>
          <a:xfrm>
            <a:off x="9615290" y="4365441"/>
            <a:ext cx="159646" cy="45720"/>
          </a:xfrm>
          <a:custGeom>
            <a:avLst/>
            <a:gdLst/>
            <a:ahLst/>
            <a:cxnLst/>
            <a:rect l="l" t="t" r="r" b="b"/>
            <a:pathLst>
              <a:path w="159646" h="45720">
                <a:moveTo>
                  <a:pt x="0" y="0"/>
                </a:moveTo>
                <a:lnTo>
                  <a:pt x="159646" y="45720"/>
                </a:lnTo>
              </a:path>
            </a:pathLst>
          </a:custGeom>
          <a:ln w="76200">
            <a:solidFill>
              <a:srgbClr val="E4E4E4"/>
            </a:solidFill>
            <a:prstDash val="solid"/>
          </a:ln>
        </p:spPr>
      </p:sp>
      <p:sp>
        <p:nvSpPr>
          <p:cNvPr id="275" name="Shape 273"/>
          <p:cNvSpPr/>
          <p:nvPr/>
        </p:nvSpPr>
        <p:spPr>
          <a:xfrm>
            <a:off x="8345451" y="3694112"/>
            <a:ext cx="1167330" cy="731648"/>
          </a:xfrm>
          <a:custGeom>
            <a:avLst/>
            <a:gdLst/>
            <a:ahLst/>
            <a:cxnLst/>
            <a:rect l="l" t="t" r="r" b="b"/>
            <a:pathLst>
              <a:path w="1167330" h="731648">
                <a:moveTo>
                  <a:pt x="1155477" y="620411"/>
                </a:moveTo>
                <a:lnTo>
                  <a:pt x="1140103" y="646511"/>
                </a:lnTo>
                <a:lnTo>
                  <a:pt x="1118633" y="669535"/>
                </a:lnTo>
                <a:lnTo>
                  <a:pt x="1091302" y="689233"/>
                </a:lnTo>
                <a:lnTo>
                  <a:pt x="1058408" y="705386"/>
                </a:lnTo>
                <a:lnTo>
                  <a:pt x="1020314" y="717820"/>
                </a:lnTo>
                <a:lnTo>
                  <a:pt x="977435" y="726396"/>
                </a:lnTo>
                <a:lnTo>
                  <a:pt x="930242" y="731023"/>
                </a:lnTo>
                <a:lnTo>
                  <a:pt x="879252" y="731648"/>
                </a:lnTo>
                <a:lnTo>
                  <a:pt x="825024" y="728265"/>
                </a:lnTo>
                <a:lnTo>
                  <a:pt x="768151" y="720911"/>
                </a:lnTo>
                <a:lnTo>
                  <a:pt x="709257" y="709667"/>
                </a:lnTo>
                <a:lnTo>
                  <a:pt x="648986" y="694655"/>
                </a:lnTo>
                <a:lnTo>
                  <a:pt x="588001" y="676041"/>
                </a:lnTo>
                <a:lnTo>
                  <a:pt x="526967" y="654028"/>
                </a:lnTo>
                <a:lnTo>
                  <a:pt x="466555" y="628857"/>
                </a:lnTo>
                <a:lnTo>
                  <a:pt x="407426" y="600805"/>
                </a:lnTo>
                <a:lnTo>
                  <a:pt x="350228" y="570178"/>
                </a:lnTo>
                <a:lnTo>
                  <a:pt x="295587" y="537312"/>
                </a:lnTo>
                <a:lnTo>
                  <a:pt x="244103" y="502567"/>
                </a:lnTo>
                <a:lnTo>
                  <a:pt x="196339" y="466324"/>
                </a:lnTo>
                <a:lnTo>
                  <a:pt x="152818" y="428980"/>
                </a:lnTo>
                <a:lnTo>
                  <a:pt x="114018" y="390944"/>
                </a:lnTo>
                <a:lnTo>
                  <a:pt x="80364" y="352633"/>
                </a:lnTo>
                <a:lnTo>
                  <a:pt x="52224" y="314466"/>
                </a:lnTo>
                <a:lnTo>
                  <a:pt x="29906" y="276862"/>
                </a:lnTo>
                <a:lnTo>
                  <a:pt x="13656" y="240232"/>
                </a:lnTo>
                <a:lnTo>
                  <a:pt x="3651" y="204979"/>
                </a:lnTo>
                <a:lnTo>
                  <a:pt x="0" y="171488"/>
                </a:lnTo>
                <a:lnTo>
                  <a:pt x="2744" y="140126"/>
                </a:lnTo>
                <a:lnTo>
                  <a:pt x="11853" y="111237"/>
                </a:lnTo>
                <a:lnTo>
                  <a:pt x="27227" y="85137"/>
                </a:lnTo>
                <a:lnTo>
                  <a:pt x="48697" y="62113"/>
                </a:lnTo>
                <a:lnTo>
                  <a:pt x="76029" y="42415"/>
                </a:lnTo>
                <a:lnTo>
                  <a:pt x="108922" y="26262"/>
                </a:lnTo>
                <a:lnTo>
                  <a:pt x="147016" y="13828"/>
                </a:lnTo>
                <a:lnTo>
                  <a:pt x="189895" y="5252"/>
                </a:lnTo>
                <a:lnTo>
                  <a:pt x="237088" y="625"/>
                </a:lnTo>
                <a:lnTo>
                  <a:pt x="288078" y="0"/>
                </a:lnTo>
                <a:lnTo>
                  <a:pt x="342306" y="3383"/>
                </a:lnTo>
                <a:lnTo>
                  <a:pt x="399179" y="10737"/>
                </a:lnTo>
                <a:lnTo>
                  <a:pt x="458074" y="21981"/>
                </a:lnTo>
                <a:lnTo>
                  <a:pt x="518344" y="36993"/>
                </a:lnTo>
                <a:lnTo>
                  <a:pt x="579330" y="55607"/>
                </a:lnTo>
                <a:lnTo>
                  <a:pt x="640363" y="77620"/>
                </a:lnTo>
                <a:lnTo>
                  <a:pt x="700775" y="102790"/>
                </a:lnTo>
                <a:lnTo>
                  <a:pt x="759904" y="130843"/>
                </a:lnTo>
                <a:lnTo>
                  <a:pt x="817102" y="161470"/>
                </a:lnTo>
                <a:lnTo>
                  <a:pt x="871743" y="194336"/>
                </a:lnTo>
                <a:lnTo>
                  <a:pt x="923227" y="229081"/>
                </a:lnTo>
                <a:lnTo>
                  <a:pt x="970991" y="265324"/>
                </a:lnTo>
                <a:lnTo>
                  <a:pt x="1014512" y="302668"/>
                </a:lnTo>
                <a:lnTo>
                  <a:pt x="1053312" y="340704"/>
                </a:lnTo>
                <a:lnTo>
                  <a:pt x="1086966" y="379015"/>
                </a:lnTo>
                <a:lnTo>
                  <a:pt x="1115106" y="417182"/>
                </a:lnTo>
                <a:lnTo>
                  <a:pt x="1137424" y="454786"/>
                </a:lnTo>
                <a:lnTo>
                  <a:pt x="1153674" y="491416"/>
                </a:lnTo>
                <a:lnTo>
                  <a:pt x="1163680" y="526669"/>
                </a:lnTo>
                <a:lnTo>
                  <a:pt x="1167330" y="560160"/>
                </a:lnTo>
                <a:lnTo>
                  <a:pt x="1164586" y="591522"/>
                </a:lnTo>
                <a:close/>
              </a:path>
            </a:pathLst>
          </a:custGeom>
          <a:solidFill>
            <a:srgbClr val="FFFFFF"/>
          </a:solidFill>
          <a:ln w="19050">
            <a:solidFill>
              <a:srgbClr val="1B1B1B"/>
            </a:solidFill>
            <a:prstDash val="solid"/>
          </a:ln>
        </p:spPr>
      </p:sp>
      <p:sp>
        <p:nvSpPr>
          <p:cNvPr id="276" name="Shape 274"/>
          <p:cNvSpPr/>
          <p:nvPr/>
        </p:nvSpPr>
        <p:spPr>
          <a:xfrm>
            <a:off x="8571914" y="3808850"/>
            <a:ext cx="840478" cy="526787"/>
          </a:xfrm>
          <a:custGeom>
            <a:avLst/>
            <a:gdLst/>
            <a:ahLst/>
            <a:cxnLst/>
            <a:rect l="l" t="t" r="r" b="b"/>
            <a:pathLst>
              <a:path w="840478" h="526787">
                <a:moveTo>
                  <a:pt x="831943" y="446696"/>
                </a:moveTo>
                <a:lnTo>
                  <a:pt x="820874" y="465488"/>
                </a:lnTo>
                <a:lnTo>
                  <a:pt x="805416" y="482066"/>
                </a:lnTo>
                <a:lnTo>
                  <a:pt x="785737" y="496247"/>
                </a:lnTo>
                <a:lnTo>
                  <a:pt x="762054" y="507878"/>
                </a:lnTo>
                <a:lnTo>
                  <a:pt x="734626" y="516830"/>
                </a:lnTo>
                <a:lnTo>
                  <a:pt x="703753" y="523005"/>
                </a:lnTo>
                <a:lnTo>
                  <a:pt x="669774" y="526336"/>
                </a:lnTo>
                <a:lnTo>
                  <a:pt x="633062" y="526787"/>
                </a:lnTo>
                <a:lnTo>
                  <a:pt x="594017" y="524351"/>
                </a:lnTo>
                <a:lnTo>
                  <a:pt x="553069" y="519056"/>
                </a:lnTo>
                <a:lnTo>
                  <a:pt x="510665" y="510960"/>
                </a:lnTo>
                <a:lnTo>
                  <a:pt x="467270" y="500152"/>
                </a:lnTo>
                <a:lnTo>
                  <a:pt x="423360" y="486750"/>
                </a:lnTo>
                <a:lnTo>
                  <a:pt x="379416" y="470900"/>
                </a:lnTo>
                <a:lnTo>
                  <a:pt x="335920" y="452777"/>
                </a:lnTo>
                <a:lnTo>
                  <a:pt x="293347" y="432580"/>
                </a:lnTo>
                <a:lnTo>
                  <a:pt x="252164" y="410528"/>
                </a:lnTo>
                <a:lnTo>
                  <a:pt x="212823" y="386865"/>
                </a:lnTo>
                <a:lnTo>
                  <a:pt x="175754" y="361848"/>
                </a:lnTo>
                <a:lnTo>
                  <a:pt x="141364" y="335753"/>
                </a:lnTo>
                <a:lnTo>
                  <a:pt x="110029" y="308866"/>
                </a:lnTo>
                <a:lnTo>
                  <a:pt x="82093" y="281480"/>
                </a:lnTo>
                <a:lnTo>
                  <a:pt x="57862" y="253896"/>
                </a:lnTo>
                <a:lnTo>
                  <a:pt x="37601" y="226415"/>
                </a:lnTo>
                <a:lnTo>
                  <a:pt x="21533" y="199341"/>
                </a:lnTo>
                <a:lnTo>
                  <a:pt x="9832" y="172967"/>
                </a:lnTo>
                <a:lnTo>
                  <a:pt x="2628" y="147585"/>
                </a:lnTo>
                <a:lnTo>
                  <a:pt x="0" y="123471"/>
                </a:lnTo>
                <a:lnTo>
                  <a:pt x="1976" y="100891"/>
                </a:lnTo>
                <a:lnTo>
                  <a:pt x="8534" y="80091"/>
                </a:lnTo>
                <a:lnTo>
                  <a:pt x="19603" y="61299"/>
                </a:lnTo>
                <a:lnTo>
                  <a:pt x="35062" y="44721"/>
                </a:lnTo>
                <a:lnTo>
                  <a:pt x="54741" y="30539"/>
                </a:lnTo>
                <a:lnTo>
                  <a:pt x="78424" y="18908"/>
                </a:lnTo>
                <a:lnTo>
                  <a:pt x="105852" y="9956"/>
                </a:lnTo>
                <a:lnTo>
                  <a:pt x="136724" y="3781"/>
                </a:lnTo>
                <a:lnTo>
                  <a:pt x="170703" y="450"/>
                </a:lnTo>
                <a:lnTo>
                  <a:pt x="207416" y="0"/>
                </a:lnTo>
                <a:lnTo>
                  <a:pt x="246461" y="2436"/>
                </a:lnTo>
                <a:lnTo>
                  <a:pt x="287409" y="7730"/>
                </a:lnTo>
                <a:lnTo>
                  <a:pt x="329813" y="15826"/>
                </a:lnTo>
                <a:lnTo>
                  <a:pt x="373207" y="26635"/>
                </a:lnTo>
                <a:lnTo>
                  <a:pt x="417117" y="40037"/>
                </a:lnTo>
                <a:lnTo>
                  <a:pt x="461061" y="55886"/>
                </a:lnTo>
                <a:lnTo>
                  <a:pt x="504558" y="74009"/>
                </a:lnTo>
                <a:lnTo>
                  <a:pt x="547131" y="94207"/>
                </a:lnTo>
                <a:lnTo>
                  <a:pt x="588314" y="116258"/>
                </a:lnTo>
                <a:lnTo>
                  <a:pt x="627655" y="139922"/>
                </a:lnTo>
                <a:lnTo>
                  <a:pt x="664724" y="164938"/>
                </a:lnTo>
                <a:lnTo>
                  <a:pt x="699114" y="191033"/>
                </a:lnTo>
                <a:lnTo>
                  <a:pt x="730448" y="217921"/>
                </a:lnTo>
                <a:lnTo>
                  <a:pt x="758384" y="245307"/>
                </a:lnTo>
                <a:lnTo>
                  <a:pt x="782616" y="272891"/>
                </a:lnTo>
                <a:lnTo>
                  <a:pt x="802876" y="300371"/>
                </a:lnTo>
                <a:lnTo>
                  <a:pt x="818945" y="327446"/>
                </a:lnTo>
                <a:lnTo>
                  <a:pt x="830645" y="353819"/>
                </a:lnTo>
                <a:lnTo>
                  <a:pt x="837849" y="379202"/>
                </a:lnTo>
                <a:lnTo>
                  <a:pt x="840478" y="403315"/>
                </a:lnTo>
                <a:lnTo>
                  <a:pt x="838502" y="425896"/>
                </a:lnTo>
                <a:close/>
              </a:path>
            </a:pathLst>
          </a:custGeom>
          <a:ln w="6350">
            <a:solidFill>
              <a:srgbClr val="4F7A43"/>
            </a:solidFill>
            <a:prstDash val="dash"/>
          </a:ln>
        </p:spPr>
      </p:sp>
      <p:sp>
        <p:nvSpPr>
          <p:cNvPr id="277" name="Shape 275"/>
          <p:cNvSpPr/>
          <p:nvPr/>
        </p:nvSpPr>
        <p:spPr>
          <a:xfrm>
            <a:off x="8723667" y="3903964"/>
            <a:ext cx="536972" cy="336558"/>
          </a:xfrm>
          <a:custGeom>
            <a:avLst/>
            <a:gdLst/>
            <a:ahLst/>
            <a:cxnLst/>
            <a:rect l="l" t="t" r="r" b="b"/>
            <a:pathLst>
              <a:path w="536972" h="336558">
                <a:moveTo>
                  <a:pt x="531519" y="285389"/>
                </a:moveTo>
                <a:lnTo>
                  <a:pt x="524447" y="297395"/>
                </a:lnTo>
                <a:lnTo>
                  <a:pt x="514571" y="307986"/>
                </a:lnTo>
                <a:lnTo>
                  <a:pt x="501999" y="317047"/>
                </a:lnTo>
                <a:lnTo>
                  <a:pt x="486868" y="324478"/>
                </a:lnTo>
                <a:lnTo>
                  <a:pt x="469344" y="330197"/>
                </a:lnTo>
                <a:lnTo>
                  <a:pt x="449620" y="334142"/>
                </a:lnTo>
                <a:lnTo>
                  <a:pt x="427911" y="336271"/>
                </a:lnTo>
                <a:lnTo>
                  <a:pt x="404456" y="336558"/>
                </a:lnTo>
                <a:lnTo>
                  <a:pt x="379511" y="335002"/>
                </a:lnTo>
                <a:lnTo>
                  <a:pt x="353349" y="331619"/>
                </a:lnTo>
                <a:lnTo>
                  <a:pt x="326258" y="326447"/>
                </a:lnTo>
                <a:lnTo>
                  <a:pt x="298534" y="319542"/>
                </a:lnTo>
                <a:lnTo>
                  <a:pt x="270480" y="310979"/>
                </a:lnTo>
                <a:lnTo>
                  <a:pt x="242405" y="300853"/>
                </a:lnTo>
                <a:lnTo>
                  <a:pt x="214615" y="289274"/>
                </a:lnTo>
                <a:lnTo>
                  <a:pt x="187416" y="276370"/>
                </a:lnTo>
                <a:lnTo>
                  <a:pt x="161105" y="262282"/>
                </a:lnTo>
                <a:lnTo>
                  <a:pt x="135970" y="247164"/>
                </a:lnTo>
                <a:lnTo>
                  <a:pt x="112287" y="231181"/>
                </a:lnTo>
                <a:lnTo>
                  <a:pt x="90316" y="214509"/>
                </a:lnTo>
                <a:lnTo>
                  <a:pt x="70296" y="197331"/>
                </a:lnTo>
                <a:lnTo>
                  <a:pt x="52448" y="179834"/>
                </a:lnTo>
                <a:lnTo>
                  <a:pt x="36967" y="162211"/>
                </a:lnTo>
                <a:lnTo>
                  <a:pt x="24023" y="144654"/>
                </a:lnTo>
                <a:lnTo>
                  <a:pt x="13757" y="127356"/>
                </a:lnTo>
                <a:lnTo>
                  <a:pt x="6282" y="110507"/>
                </a:lnTo>
                <a:lnTo>
                  <a:pt x="1679" y="94290"/>
                </a:lnTo>
                <a:lnTo>
                  <a:pt x="0" y="78884"/>
                </a:lnTo>
                <a:lnTo>
                  <a:pt x="1262" y="64458"/>
                </a:lnTo>
                <a:lnTo>
                  <a:pt x="5452" y="51169"/>
                </a:lnTo>
                <a:lnTo>
                  <a:pt x="12524" y="39163"/>
                </a:lnTo>
                <a:lnTo>
                  <a:pt x="22401" y="28572"/>
                </a:lnTo>
                <a:lnTo>
                  <a:pt x="34973" y="19511"/>
                </a:lnTo>
                <a:lnTo>
                  <a:pt x="50104" y="12080"/>
                </a:lnTo>
                <a:lnTo>
                  <a:pt x="67628" y="6361"/>
                </a:lnTo>
                <a:lnTo>
                  <a:pt x="87352" y="2416"/>
                </a:lnTo>
                <a:lnTo>
                  <a:pt x="109060" y="288"/>
                </a:lnTo>
                <a:lnTo>
                  <a:pt x="132516" y="0"/>
                </a:lnTo>
                <a:lnTo>
                  <a:pt x="157461" y="1556"/>
                </a:lnTo>
                <a:lnTo>
                  <a:pt x="183623" y="4939"/>
                </a:lnTo>
                <a:lnTo>
                  <a:pt x="210714" y="10111"/>
                </a:lnTo>
                <a:lnTo>
                  <a:pt x="238438" y="17017"/>
                </a:lnTo>
                <a:lnTo>
                  <a:pt x="266492" y="25579"/>
                </a:lnTo>
                <a:lnTo>
                  <a:pt x="294567" y="35705"/>
                </a:lnTo>
                <a:lnTo>
                  <a:pt x="322357" y="47284"/>
                </a:lnTo>
                <a:lnTo>
                  <a:pt x="349556" y="60188"/>
                </a:lnTo>
                <a:lnTo>
                  <a:pt x="375867" y="74276"/>
                </a:lnTo>
                <a:lnTo>
                  <a:pt x="401002" y="89395"/>
                </a:lnTo>
                <a:lnTo>
                  <a:pt x="424685" y="105377"/>
                </a:lnTo>
                <a:lnTo>
                  <a:pt x="446656" y="122049"/>
                </a:lnTo>
                <a:lnTo>
                  <a:pt x="466675" y="139227"/>
                </a:lnTo>
                <a:lnTo>
                  <a:pt x="484523" y="156724"/>
                </a:lnTo>
                <a:lnTo>
                  <a:pt x="500004" y="174347"/>
                </a:lnTo>
                <a:lnTo>
                  <a:pt x="512949" y="191904"/>
                </a:lnTo>
                <a:lnTo>
                  <a:pt x="523215" y="209202"/>
                </a:lnTo>
                <a:lnTo>
                  <a:pt x="530690" y="226051"/>
                </a:lnTo>
                <a:lnTo>
                  <a:pt x="535293" y="242268"/>
                </a:lnTo>
                <a:lnTo>
                  <a:pt x="536972" y="257674"/>
                </a:lnTo>
                <a:lnTo>
                  <a:pt x="535710" y="272100"/>
                </a:lnTo>
                <a:close/>
              </a:path>
            </a:pathLst>
          </a:custGeom>
          <a:ln w="6350">
            <a:solidFill>
              <a:srgbClr val="4F7A43"/>
            </a:solidFill>
            <a:prstDash val="dash"/>
          </a:ln>
        </p:spPr>
      </p:sp>
      <p:sp>
        <p:nvSpPr>
          <p:cNvPr id="278" name="Shape 276"/>
          <p:cNvSpPr/>
          <p:nvPr/>
        </p:nvSpPr>
        <p:spPr>
          <a:xfrm>
            <a:off x="8863746" y="3991762"/>
            <a:ext cx="256813" cy="160963"/>
          </a:xfrm>
          <a:custGeom>
            <a:avLst/>
            <a:gdLst/>
            <a:ahLst/>
            <a:cxnLst/>
            <a:rect l="l" t="t" r="r" b="b"/>
            <a:pathLst>
              <a:path w="256813" h="160963">
                <a:moveTo>
                  <a:pt x="254205" y="136490"/>
                </a:moveTo>
                <a:lnTo>
                  <a:pt x="250823" y="142232"/>
                </a:lnTo>
                <a:lnTo>
                  <a:pt x="246099" y="147298"/>
                </a:lnTo>
                <a:lnTo>
                  <a:pt x="240086" y="151631"/>
                </a:lnTo>
                <a:lnTo>
                  <a:pt x="232850" y="155185"/>
                </a:lnTo>
                <a:lnTo>
                  <a:pt x="224469" y="157920"/>
                </a:lnTo>
                <a:lnTo>
                  <a:pt x="215036" y="159807"/>
                </a:lnTo>
                <a:lnTo>
                  <a:pt x="204653" y="160825"/>
                </a:lnTo>
                <a:lnTo>
                  <a:pt x="193435" y="160963"/>
                </a:lnTo>
                <a:lnTo>
                  <a:pt x="181505" y="160218"/>
                </a:lnTo>
                <a:lnTo>
                  <a:pt x="168993" y="158600"/>
                </a:lnTo>
                <a:lnTo>
                  <a:pt x="156036" y="156127"/>
                </a:lnTo>
                <a:lnTo>
                  <a:pt x="142777" y="152824"/>
                </a:lnTo>
                <a:lnTo>
                  <a:pt x="129360" y="148729"/>
                </a:lnTo>
                <a:lnTo>
                  <a:pt x="115933" y="143886"/>
                </a:lnTo>
                <a:lnTo>
                  <a:pt x="102642" y="138349"/>
                </a:lnTo>
                <a:lnTo>
                  <a:pt x="89634" y="132177"/>
                </a:lnTo>
                <a:lnTo>
                  <a:pt x="77050" y="125439"/>
                </a:lnTo>
                <a:lnTo>
                  <a:pt x="65029" y="118209"/>
                </a:lnTo>
                <a:lnTo>
                  <a:pt x="53703" y="110565"/>
                </a:lnTo>
                <a:lnTo>
                  <a:pt x="43195" y="102591"/>
                </a:lnTo>
                <a:lnTo>
                  <a:pt x="33620" y="94376"/>
                </a:lnTo>
                <a:lnTo>
                  <a:pt x="25084" y="86008"/>
                </a:lnTo>
                <a:lnTo>
                  <a:pt x="17680" y="77579"/>
                </a:lnTo>
                <a:lnTo>
                  <a:pt x="11489" y="69183"/>
                </a:lnTo>
                <a:lnTo>
                  <a:pt x="6579" y="60910"/>
                </a:lnTo>
                <a:lnTo>
                  <a:pt x="3004" y="52851"/>
                </a:lnTo>
                <a:lnTo>
                  <a:pt x="803" y="45095"/>
                </a:lnTo>
                <a:lnTo>
                  <a:pt x="0" y="37727"/>
                </a:lnTo>
                <a:lnTo>
                  <a:pt x="604" y="30828"/>
                </a:lnTo>
                <a:lnTo>
                  <a:pt x="2608" y="24472"/>
                </a:lnTo>
                <a:lnTo>
                  <a:pt x="5990" y="18730"/>
                </a:lnTo>
                <a:lnTo>
                  <a:pt x="10713" y="13665"/>
                </a:lnTo>
                <a:lnTo>
                  <a:pt x="16726" y="9331"/>
                </a:lnTo>
                <a:lnTo>
                  <a:pt x="23963" y="5778"/>
                </a:lnTo>
                <a:lnTo>
                  <a:pt x="32344" y="3042"/>
                </a:lnTo>
                <a:lnTo>
                  <a:pt x="41777" y="1155"/>
                </a:lnTo>
                <a:lnTo>
                  <a:pt x="52159" y="138"/>
                </a:lnTo>
                <a:lnTo>
                  <a:pt x="63377" y="0"/>
                </a:lnTo>
                <a:lnTo>
                  <a:pt x="75307" y="744"/>
                </a:lnTo>
                <a:lnTo>
                  <a:pt x="87819" y="2362"/>
                </a:lnTo>
                <a:lnTo>
                  <a:pt x="100776" y="4836"/>
                </a:lnTo>
                <a:lnTo>
                  <a:pt x="114036" y="8138"/>
                </a:lnTo>
                <a:lnTo>
                  <a:pt x="127453" y="12233"/>
                </a:lnTo>
                <a:lnTo>
                  <a:pt x="140880" y="17076"/>
                </a:lnTo>
                <a:lnTo>
                  <a:pt x="154171" y="22614"/>
                </a:lnTo>
                <a:lnTo>
                  <a:pt x="167179" y="28785"/>
                </a:lnTo>
                <a:lnTo>
                  <a:pt x="179763" y="35523"/>
                </a:lnTo>
                <a:lnTo>
                  <a:pt x="191783" y="42754"/>
                </a:lnTo>
                <a:lnTo>
                  <a:pt x="203110" y="50398"/>
                </a:lnTo>
                <a:lnTo>
                  <a:pt x="213618" y="58371"/>
                </a:lnTo>
                <a:lnTo>
                  <a:pt x="223193" y="66587"/>
                </a:lnTo>
                <a:lnTo>
                  <a:pt x="231729" y="74955"/>
                </a:lnTo>
                <a:lnTo>
                  <a:pt x="239133" y="83383"/>
                </a:lnTo>
                <a:lnTo>
                  <a:pt x="245323" y="91780"/>
                </a:lnTo>
                <a:lnTo>
                  <a:pt x="250233" y="100053"/>
                </a:lnTo>
                <a:lnTo>
                  <a:pt x="253808" y="108111"/>
                </a:lnTo>
                <a:lnTo>
                  <a:pt x="256009" y="115867"/>
                </a:lnTo>
                <a:lnTo>
                  <a:pt x="256813" y="123235"/>
                </a:lnTo>
                <a:lnTo>
                  <a:pt x="256209" y="130135"/>
                </a:lnTo>
                <a:close/>
              </a:path>
            </a:pathLst>
          </a:custGeom>
          <a:ln w="6350">
            <a:solidFill>
              <a:srgbClr val="4F7A43"/>
            </a:solidFill>
            <a:prstDash val="dash"/>
          </a:ln>
        </p:spPr>
      </p:sp>
      <p:sp>
        <p:nvSpPr>
          <p:cNvPr id="279" name="Shape 277"/>
          <p:cNvSpPr/>
          <p:nvPr/>
        </p:nvSpPr>
        <p:spPr>
          <a:xfrm>
            <a:off x="8550110" y="3870870"/>
            <a:ext cx="749017" cy="560448"/>
          </a:xfrm>
          <a:custGeom>
            <a:avLst/>
            <a:gdLst/>
            <a:ahLst/>
            <a:cxnLst/>
            <a:rect l="l" t="t" r="r" b="b"/>
            <a:pathLst>
              <a:path w="749017" h="560448">
                <a:moveTo>
                  <a:pt x="749017" y="560448"/>
                </a:moveTo>
                <a:lnTo>
                  <a:pt x="673236" y="554222"/>
                </a:lnTo>
                <a:lnTo>
                  <a:pt x="594657" y="540541"/>
                </a:lnTo>
                <a:lnTo>
                  <a:pt x="515175" y="520031"/>
                </a:lnTo>
                <a:lnTo>
                  <a:pt x="436635" y="493453"/>
                </a:lnTo>
                <a:lnTo>
                  <a:pt x="360785" y="461675"/>
                </a:lnTo>
                <a:lnTo>
                  <a:pt x="289239" y="425654"/>
                </a:lnTo>
                <a:lnTo>
                  <a:pt x="223445" y="386403"/>
                </a:lnTo>
                <a:lnTo>
                  <a:pt x="164657" y="344970"/>
                </a:lnTo>
                <a:lnTo>
                  <a:pt x="113906" y="302410"/>
                </a:lnTo>
                <a:lnTo>
                  <a:pt x="71992" y="259758"/>
                </a:lnTo>
                <a:lnTo>
                  <a:pt x="39466" y="218005"/>
                </a:lnTo>
                <a:lnTo>
                  <a:pt x="16629" y="178078"/>
                </a:lnTo>
                <a:lnTo>
                  <a:pt x="3536" y="140814"/>
                </a:lnTo>
                <a:lnTo>
                  <a:pt x="0" y="106950"/>
                </a:lnTo>
                <a:lnTo>
                  <a:pt x="5608" y="77102"/>
                </a:lnTo>
                <a:lnTo>
                  <a:pt x="19740" y="51757"/>
                </a:lnTo>
                <a:lnTo>
                  <a:pt x="41595" y="31267"/>
                </a:lnTo>
                <a:lnTo>
                  <a:pt x="70216" y="15842"/>
                </a:lnTo>
                <a:lnTo>
                  <a:pt x="104522" y="5554"/>
                </a:lnTo>
                <a:lnTo>
                  <a:pt x="143339" y="338"/>
                </a:lnTo>
                <a:lnTo>
                  <a:pt x="185442" y="0"/>
                </a:lnTo>
                <a:lnTo>
                  <a:pt x="229578" y="4228"/>
                </a:lnTo>
                <a:lnTo>
                  <a:pt x="274512" y="12604"/>
                </a:lnTo>
                <a:lnTo>
                  <a:pt x="319052" y="24622"/>
                </a:lnTo>
                <a:lnTo>
                  <a:pt x="362084" y="39702"/>
                </a:lnTo>
                <a:lnTo>
                  <a:pt x="402597" y="57212"/>
                </a:lnTo>
                <a:lnTo>
                  <a:pt x="439710" y="76486"/>
                </a:lnTo>
                <a:lnTo>
                  <a:pt x="472689" y="96846"/>
                </a:lnTo>
                <a:lnTo>
                  <a:pt x="500964" y="117620"/>
                </a:lnTo>
                <a:lnTo>
                  <a:pt x="524138" y="138161"/>
                </a:lnTo>
                <a:lnTo>
                  <a:pt x="541992" y="157869"/>
                </a:lnTo>
                <a:lnTo>
                  <a:pt x="554488" y="176201"/>
                </a:lnTo>
                <a:lnTo>
                  <a:pt x="561756" y="192691"/>
                </a:lnTo>
                <a:lnTo>
                  <a:pt x="564094" y="206957"/>
                </a:lnTo>
                <a:lnTo>
                  <a:pt x="561945" y="218712"/>
                </a:lnTo>
                <a:lnTo>
                  <a:pt x="555883" y="227773"/>
                </a:lnTo>
                <a:lnTo>
                  <a:pt x="546587" y="234055"/>
                </a:lnTo>
                <a:lnTo>
                  <a:pt x="534820" y="237581"/>
                </a:lnTo>
                <a:lnTo>
                  <a:pt x="521402" y="238472"/>
                </a:lnTo>
                <a:lnTo>
                  <a:pt x="507177" y="236940"/>
                </a:lnTo>
              </a:path>
            </a:pathLst>
          </a:custGeom>
          <a:ln w="12700">
            <a:solidFill>
              <a:srgbClr val="C4262E"/>
            </a:solidFill>
            <a:prstDash val="dash"/>
            <a:tailEnd type="triangle"/>
          </a:ln>
        </p:spPr>
      </p:sp>
      <p:sp>
        <p:nvSpPr>
          <p:cNvPr id="280" name="Shape 278"/>
          <p:cNvSpPr/>
          <p:nvPr/>
        </p:nvSpPr>
        <p:spPr>
          <a:xfrm rot="169550">
            <a:off x="9041630" y="4427449"/>
            <a:ext cx="388074" cy="64008"/>
          </a:xfrm>
          <a:prstGeom prst="rect">
            <a:avLst/>
          </a:prstGeom>
          <a:solidFill>
            <a:srgbClr val="C4262E"/>
          </a:solidFill>
          <a:ln/>
        </p:spPr>
      </p:sp>
      <p:sp>
        <p:nvSpPr>
          <p:cNvPr id="281" name="Shape 279"/>
          <p:cNvSpPr/>
          <p:nvPr/>
        </p:nvSpPr>
        <p:spPr>
          <a:xfrm rot="2669841">
            <a:off x="8378031" y="4069461"/>
            <a:ext cx="344259" cy="64008"/>
          </a:xfrm>
          <a:prstGeom prst="rect">
            <a:avLst/>
          </a:prstGeom>
          <a:solidFill>
            <a:srgbClr val="F0B9BC"/>
          </a:solidFill>
          <a:ln w="6350">
            <a:solidFill>
              <a:srgbClr val="1B1B1B"/>
            </a:solidFill>
            <a:prstDash val="solid"/>
          </a:ln>
        </p:spPr>
      </p:sp>
      <p:sp>
        <p:nvSpPr>
          <p:cNvPr id="282" name="Shape 280"/>
          <p:cNvSpPr/>
          <p:nvPr/>
        </p:nvSpPr>
        <p:spPr>
          <a:xfrm rot="-1236591">
            <a:off x="8502612" y="3805015"/>
            <a:ext cx="287926" cy="64008"/>
          </a:xfrm>
          <a:prstGeom prst="rect">
            <a:avLst/>
          </a:prstGeom>
          <a:solidFill>
            <a:srgbClr val="1B1B1B"/>
          </a:solidFill>
          <a:ln/>
        </p:spPr>
      </p:sp>
      <p:sp>
        <p:nvSpPr>
          <p:cNvPr id="283" name="Shape 281"/>
          <p:cNvSpPr/>
          <p:nvPr/>
        </p:nvSpPr>
        <p:spPr>
          <a:xfrm rot="1650735">
            <a:off x="8952321" y="3929624"/>
            <a:ext cx="225333" cy="64008"/>
          </a:xfrm>
          <a:prstGeom prst="rect">
            <a:avLst/>
          </a:prstGeom>
          <a:solidFill>
            <a:srgbClr val="9A9A9A"/>
          </a:solidFill>
          <a:ln/>
        </p:spPr>
      </p:sp>
      <p:sp>
        <p:nvSpPr>
          <p:cNvPr id="284" name="Shape 282"/>
          <p:cNvSpPr/>
          <p:nvPr/>
        </p:nvSpPr>
        <p:spPr>
          <a:xfrm rot="173647">
            <a:off x="8572651" y="3703877"/>
            <a:ext cx="212815" cy="54864"/>
          </a:xfrm>
          <a:prstGeom prst="rect">
            <a:avLst/>
          </a:prstGeom>
          <a:solidFill>
            <a:srgbClr val="9A9A9A"/>
          </a:solidFill>
          <a:ln/>
        </p:spPr>
      </p:sp>
      <p:sp>
        <p:nvSpPr>
          <p:cNvPr id="285" name="Shape 283"/>
          <p:cNvSpPr/>
          <p:nvPr/>
        </p:nvSpPr>
        <p:spPr>
          <a:xfrm>
            <a:off x="9002423" y="4052946"/>
            <a:ext cx="109728" cy="109728"/>
          </a:xfrm>
          <a:prstGeom prst="ellipse">
            <a:avLst/>
          </a:prstGeom>
          <a:solidFill>
            <a:srgbClr val="FFFFFF"/>
          </a:solidFill>
          <a:ln w="19050">
            <a:solidFill>
              <a:srgbClr val="C4262E"/>
            </a:solidFill>
            <a:prstDash val="solid"/>
          </a:ln>
        </p:spPr>
      </p:sp>
      <p:sp>
        <p:nvSpPr>
          <p:cNvPr id="286" name="Shape 284"/>
          <p:cNvSpPr/>
          <p:nvPr/>
        </p:nvSpPr>
        <p:spPr>
          <a:xfrm>
            <a:off x="9921240" y="3291840"/>
            <a:ext cx="1801368" cy="1325880"/>
          </a:xfrm>
          <a:prstGeom prst="rect">
            <a:avLst/>
          </a:prstGeom>
          <a:solidFill>
            <a:srgbClr val="FFFFFF"/>
          </a:solidFill>
          <a:ln w="6350">
            <a:solidFill>
              <a:srgbClr val="D9D9D9"/>
            </a:solidFill>
            <a:prstDash val="solid"/>
          </a:ln>
        </p:spPr>
      </p:sp>
      <p:sp>
        <p:nvSpPr>
          <p:cNvPr id="287" name="Text 285"/>
          <p:cNvSpPr txBox="1"/>
          <p:nvPr/>
        </p:nvSpPr>
        <p:spPr>
          <a:xfrm>
            <a:off x="9994392" y="3346704"/>
            <a:ext cx="1655064" cy="164592"/>
          </a:xfrm>
          <a:prstGeom prst="rect">
            <a:avLst/>
          </a:prstGeom>
          <a:noFill/>
          <a:ln/>
        </p:spPr>
        <p:txBody>
          <a:bodyPr wrap="square" lIns="0" tIns="0" rIns="0" bIns="0" rtlCol="0" anchor="t"/>
          <a:lstStyle/>
          <a:p>
            <a:pPr indent="0" marL="0">
              <a:buNone/>
            </a:pPr>
            <a:r>
              <a:rPr lang="en-US" sz="550" b="1" spc="50" kern="0" dirty="0">
                <a:solidFill>
                  <a:srgbClr val="C4262E"/>
                </a:solidFill>
                <a:latin typeface="Arial" pitchFamily="34" charset="0"/>
                <a:ea typeface="Arial" pitchFamily="34" charset="-122"/>
                <a:cs typeface="Arial" pitchFamily="34" charset="-120"/>
              </a:rPr>
              <a:t>6  </a:t>
            </a:r>
            <a:pPr indent="0" marL="0">
              <a:buNone/>
            </a:pPr>
            <a:r>
              <a:rPr lang="en-US" sz="550" b="1" spc="50" kern="0" dirty="0">
                <a:solidFill>
                  <a:srgbClr val="1B1B1B"/>
                </a:solidFill>
                <a:latin typeface="Arial" pitchFamily="34" charset="0"/>
                <a:ea typeface="Arial" pitchFamily="34" charset="-122"/>
                <a:cs typeface="Arial" pitchFamily="34" charset="-120"/>
              </a:rPr>
              <a:t>OPEN + CROSS</a:t>
            </a:r>
            <a:endParaRPr lang="en-US" sz="550" dirty="0"/>
          </a:p>
        </p:txBody>
      </p:sp>
      <p:sp>
        <p:nvSpPr>
          <p:cNvPr id="288" name="Shape 286"/>
          <p:cNvSpPr/>
          <p:nvPr/>
        </p:nvSpPr>
        <p:spPr>
          <a:xfrm>
            <a:off x="10121526" y="3620947"/>
            <a:ext cx="1400796" cy="877978"/>
          </a:xfrm>
          <a:custGeom>
            <a:avLst/>
            <a:gdLst/>
            <a:ahLst/>
            <a:cxnLst/>
            <a:rect l="l" t="t" r="r" b="b"/>
            <a:pathLst>
              <a:path w="1400796" h="877978">
                <a:moveTo>
                  <a:pt x="1386572" y="744493"/>
                </a:moveTo>
                <a:lnTo>
                  <a:pt x="1368124" y="775813"/>
                </a:lnTo>
                <a:lnTo>
                  <a:pt x="1342360" y="803443"/>
                </a:lnTo>
                <a:lnTo>
                  <a:pt x="1309562" y="827079"/>
                </a:lnTo>
                <a:lnTo>
                  <a:pt x="1270090" y="846463"/>
                </a:lnTo>
                <a:lnTo>
                  <a:pt x="1224376" y="861384"/>
                </a:lnTo>
                <a:lnTo>
                  <a:pt x="1172922" y="871676"/>
                </a:lnTo>
                <a:lnTo>
                  <a:pt x="1116291" y="877227"/>
                </a:lnTo>
                <a:lnTo>
                  <a:pt x="1055103" y="877978"/>
                </a:lnTo>
                <a:lnTo>
                  <a:pt x="990028" y="873918"/>
                </a:lnTo>
                <a:lnTo>
                  <a:pt x="921781" y="865093"/>
                </a:lnTo>
                <a:lnTo>
                  <a:pt x="851108" y="851600"/>
                </a:lnTo>
                <a:lnTo>
                  <a:pt x="778784" y="833587"/>
                </a:lnTo>
                <a:lnTo>
                  <a:pt x="705601" y="811249"/>
                </a:lnTo>
                <a:lnTo>
                  <a:pt x="632361" y="784834"/>
                </a:lnTo>
                <a:lnTo>
                  <a:pt x="559866" y="754629"/>
                </a:lnTo>
                <a:lnTo>
                  <a:pt x="488911" y="720966"/>
                </a:lnTo>
                <a:lnTo>
                  <a:pt x="420273" y="684214"/>
                </a:lnTo>
                <a:lnTo>
                  <a:pt x="354705" y="644774"/>
                </a:lnTo>
                <a:lnTo>
                  <a:pt x="292923" y="603081"/>
                </a:lnTo>
                <a:lnTo>
                  <a:pt x="235607" y="559589"/>
                </a:lnTo>
                <a:lnTo>
                  <a:pt x="183382" y="514776"/>
                </a:lnTo>
                <a:lnTo>
                  <a:pt x="136822" y="469133"/>
                </a:lnTo>
                <a:lnTo>
                  <a:pt x="96437" y="423159"/>
                </a:lnTo>
                <a:lnTo>
                  <a:pt x="62669" y="377359"/>
                </a:lnTo>
                <a:lnTo>
                  <a:pt x="35888" y="332234"/>
                </a:lnTo>
                <a:lnTo>
                  <a:pt x="16387" y="288279"/>
                </a:lnTo>
                <a:lnTo>
                  <a:pt x="4381" y="245975"/>
                </a:lnTo>
                <a:lnTo>
                  <a:pt x="0" y="205786"/>
                </a:lnTo>
                <a:lnTo>
                  <a:pt x="3293" y="168151"/>
                </a:lnTo>
                <a:lnTo>
                  <a:pt x="14224" y="133484"/>
                </a:lnTo>
                <a:lnTo>
                  <a:pt x="32672" y="102164"/>
                </a:lnTo>
                <a:lnTo>
                  <a:pt x="58437" y="74535"/>
                </a:lnTo>
                <a:lnTo>
                  <a:pt x="91234" y="50899"/>
                </a:lnTo>
                <a:lnTo>
                  <a:pt x="130706" y="31514"/>
                </a:lnTo>
                <a:lnTo>
                  <a:pt x="176420" y="16594"/>
                </a:lnTo>
                <a:lnTo>
                  <a:pt x="227874" y="6302"/>
                </a:lnTo>
                <a:lnTo>
                  <a:pt x="284505" y="750"/>
                </a:lnTo>
                <a:lnTo>
                  <a:pt x="345693" y="0"/>
                </a:lnTo>
                <a:lnTo>
                  <a:pt x="410768" y="4059"/>
                </a:lnTo>
                <a:lnTo>
                  <a:pt x="479015" y="12884"/>
                </a:lnTo>
                <a:lnTo>
                  <a:pt x="549688" y="26377"/>
                </a:lnTo>
                <a:lnTo>
                  <a:pt x="622012" y="44391"/>
                </a:lnTo>
                <a:lnTo>
                  <a:pt x="695195" y="66728"/>
                </a:lnTo>
                <a:lnTo>
                  <a:pt x="768436" y="93144"/>
                </a:lnTo>
                <a:lnTo>
                  <a:pt x="840930" y="123349"/>
                </a:lnTo>
                <a:lnTo>
                  <a:pt x="911885" y="157012"/>
                </a:lnTo>
                <a:lnTo>
                  <a:pt x="980523" y="193764"/>
                </a:lnTo>
                <a:lnTo>
                  <a:pt x="1046092" y="233203"/>
                </a:lnTo>
                <a:lnTo>
                  <a:pt x="1107873" y="274897"/>
                </a:lnTo>
                <a:lnTo>
                  <a:pt x="1165190" y="318389"/>
                </a:lnTo>
                <a:lnTo>
                  <a:pt x="1217414" y="363202"/>
                </a:lnTo>
                <a:lnTo>
                  <a:pt x="1263974" y="408845"/>
                </a:lnTo>
                <a:lnTo>
                  <a:pt x="1304359" y="454818"/>
                </a:lnTo>
                <a:lnTo>
                  <a:pt x="1338127" y="500618"/>
                </a:lnTo>
                <a:lnTo>
                  <a:pt x="1364909" y="545743"/>
                </a:lnTo>
                <a:lnTo>
                  <a:pt x="1384409" y="589699"/>
                </a:lnTo>
                <a:lnTo>
                  <a:pt x="1396415" y="632003"/>
                </a:lnTo>
                <a:lnTo>
                  <a:pt x="1400796" y="672192"/>
                </a:lnTo>
                <a:lnTo>
                  <a:pt x="1397503" y="709826"/>
                </a:lnTo>
                <a:close/>
              </a:path>
            </a:pathLst>
          </a:custGeom>
          <a:solidFill>
            <a:srgbClr val="E4E4E4"/>
          </a:solidFill>
          <a:ln w="12700"/>
        </p:spPr>
      </p:sp>
      <p:sp>
        <p:nvSpPr>
          <p:cNvPr id="289" name="Shape 287"/>
          <p:cNvSpPr/>
          <p:nvPr/>
        </p:nvSpPr>
        <p:spPr>
          <a:xfrm>
            <a:off x="9976104" y="3708711"/>
            <a:ext cx="159646" cy="45720"/>
          </a:xfrm>
          <a:custGeom>
            <a:avLst/>
            <a:gdLst/>
            <a:ahLst/>
            <a:cxnLst/>
            <a:rect l="l" t="t" r="r" b="b"/>
            <a:pathLst>
              <a:path w="159646" h="45720">
                <a:moveTo>
                  <a:pt x="159646" y="45720"/>
                </a:moveTo>
                <a:lnTo>
                  <a:pt x="0" y="0"/>
                </a:lnTo>
              </a:path>
            </a:pathLst>
          </a:custGeom>
          <a:ln w="76200">
            <a:solidFill>
              <a:srgbClr val="E4E4E4"/>
            </a:solidFill>
            <a:prstDash val="solid"/>
          </a:ln>
        </p:spPr>
      </p:sp>
      <p:sp>
        <p:nvSpPr>
          <p:cNvPr id="290" name="Shape 288"/>
          <p:cNvSpPr/>
          <p:nvPr/>
        </p:nvSpPr>
        <p:spPr>
          <a:xfrm>
            <a:off x="11508098" y="4365441"/>
            <a:ext cx="159646" cy="45720"/>
          </a:xfrm>
          <a:custGeom>
            <a:avLst/>
            <a:gdLst/>
            <a:ahLst/>
            <a:cxnLst/>
            <a:rect l="l" t="t" r="r" b="b"/>
            <a:pathLst>
              <a:path w="159646" h="45720">
                <a:moveTo>
                  <a:pt x="0" y="0"/>
                </a:moveTo>
                <a:lnTo>
                  <a:pt x="159646" y="45720"/>
                </a:lnTo>
              </a:path>
            </a:pathLst>
          </a:custGeom>
          <a:ln w="76200">
            <a:solidFill>
              <a:srgbClr val="E4E4E4"/>
            </a:solidFill>
            <a:prstDash val="solid"/>
          </a:ln>
        </p:spPr>
      </p:sp>
      <p:sp>
        <p:nvSpPr>
          <p:cNvPr id="291" name="Shape 289"/>
          <p:cNvSpPr/>
          <p:nvPr/>
        </p:nvSpPr>
        <p:spPr>
          <a:xfrm>
            <a:off x="10238259" y="3694112"/>
            <a:ext cx="1167330" cy="731648"/>
          </a:xfrm>
          <a:custGeom>
            <a:avLst/>
            <a:gdLst/>
            <a:ahLst/>
            <a:cxnLst/>
            <a:rect l="l" t="t" r="r" b="b"/>
            <a:pathLst>
              <a:path w="1167330" h="731648">
                <a:moveTo>
                  <a:pt x="1155477" y="620411"/>
                </a:moveTo>
                <a:lnTo>
                  <a:pt x="1140103" y="646511"/>
                </a:lnTo>
                <a:lnTo>
                  <a:pt x="1118633" y="669535"/>
                </a:lnTo>
                <a:lnTo>
                  <a:pt x="1091302" y="689233"/>
                </a:lnTo>
                <a:lnTo>
                  <a:pt x="1058408" y="705386"/>
                </a:lnTo>
                <a:lnTo>
                  <a:pt x="1020314" y="717820"/>
                </a:lnTo>
                <a:lnTo>
                  <a:pt x="977435" y="726396"/>
                </a:lnTo>
                <a:lnTo>
                  <a:pt x="930242" y="731023"/>
                </a:lnTo>
                <a:lnTo>
                  <a:pt x="879252" y="731648"/>
                </a:lnTo>
                <a:lnTo>
                  <a:pt x="825024" y="728265"/>
                </a:lnTo>
                <a:lnTo>
                  <a:pt x="768151" y="720911"/>
                </a:lnTo>
                <a:lnTo>
                  <a:pt x="709257" y="709667"/>
                </a:lnTo>
                <a:lnTo>
                  <a:pt x="648986" y="694655"/>
                </a:lnTo>
                <a:lnTo>
                  <a:pt x="588001" y="676041"/>
                </a:lnTo>
                <a:lnTo>
                  <a:pt x="526967" y="654028"/>
                </a:lnTo>
                <a:lnTo>
                  <a:pt x="466555" y="628857"/>
                </a:lnTo>
                <a:lnTo>
                  <a:pt x="407426" y="600805"/>
                </a:lnTo>
                <a:lnTo>
                  <a:pt x="350228" y="570178"/>
                </a:lnTo>
                <a:lnTo>
                  <a:pt x="295587" y="537312"/>
                </a:lnTo>
                <a:lnTo>
                  <a:pt x="244103" y="502567"/>
                </a:lnTo>
                <a:lnTo>
                  <a:pt x="196339" y="466324"/>
                </a:lnTo>
                <a:lnTo>
                  <a:pt x="152818" y="428980"/>
                </a:lnTo>
                <a:lnTo>
                  <a:pt x="114018" y="390944"/>
                </a:lnTo>
                <a:lnTo>
                  <a:pt x="80364" y="352633"/>
                </a:lnTo>
                <a:lnTo>
                  <a:pt x="52224" y="314466"/>
                </a:lnTo>
                <a:lnTo>
                  <a:pt x="29906" y="276862"/>
                </a:lnTo>
                <a:lnTo>
                  <a:pt x="13656" y="240232"/>
                </a:lnTo>
                <a:lnTo>
                  <a:pt x="3651" y="204979"/>
                </a:lnTo>
                <a:lnTo>
                  <a:pt x="0" y="171488"/>
                </a:lnTo>
                <a:lnTo>
                  <a:pt x="2744" y="140126"/>
                </a:lnTo>
                <a:lnTo>
                  <a:pt x="11853" y="111237"/>
                </a:lnTo>
                <a:lnTo>
                  <a:pt x="27227" y="85137"/>
                </a:lnTo>
                <a:lnTo>
                  <a:pt x="48697" y="62113"/>
                </a:lnTo>
                <a:lnTo>
                  <a:pt x="76029" y="42415"/>
                </a:lnTo>
                <a:lnTo>
                  <a:pt x="108922" y="26262"/>
                </a:lnTo>
                <a:lnTo>
                  <a:pt x="147016" y="13828"/>
                </a:lnTo>
                <a:lnTo>
                  <a:pt x="189895" y="5252"/>
                </a:lnTo>
                <a:lnTo>
                  <a:pt x="237088" y="625"/>
                </a:lnTo>
                <a:lnTo>
                  <a:pt x="288078" y="0"/>
                </a:lnTo>
                <a:lnTo>
                  <a:pt x="342306" y="3383"/>
                </a:lnTo>
                <a:lnTo>
                  <a:pt x="399179" y="10737"/>
                </a:lnTo>
                <a:lnTo>
                  <a:pt x="458074" y="21981"/>
                </a:lnTo>
                <a:lnTo>
                  <a:pt x="518344" y="36993"/>
                </a:lnTo>
                <a:lnTo>
                  <a:pt x="579330" y="55607"/>
                </a:lnTo>
                <a:lnTo>
                  <a:pt x="640363" y="77620"/>
                </a:lnTo>
                <a:lnTo>
                  <a:pt x="700775" y="102790"/>
                </a:lnTo>
                <a:lnTo>
                  <a:pt x="759904" y="130843"/>
                </a:lnTo>
                <a:lnTo>
                  <a:pt x="817102" y="161470"/>
                </a:lnTo>
                <a:lnTo>
                  <a:pt x="871743" y="194336"/>
                </a:lnTo>
                <a:lnTo>
                  <a:pt x="923227" y="229081"/>
                </a:lnTo>
                <a:lnTo>
                  <a:pt x="970991" y="265324"/>
                </a:lnTo>
                <a:lnTo>
                  <a:pt x="1014512" y="302668"/>
                </a:lnTo>
                <a:lnTo>
                  <a:pt x="1053312" y="340704"/>
                </a:lnTo>
                <a:lnTo>
                  <a:pt x="1086966" y="379015"/>
                </a:lnTo>
                <a:lnTo>
                  <a:pt x="1115106" y="417182"/>
                </a:lnTo>
                <a:lnTo>
                  <a:pt x="1137424" y="454786"/>
                </a:lnTo>
                <a:lnTo>
                  <a:pt x="1153674" y="491416"/>
                </a:lnTo>
                <a:lnTo>
                  <a:pt x="1163680" y="526669"/>
                </a:lnTo>
                <a:lnTo>
                  <a:pt x="1167330" y="560160"/>
                </a:lnTo>
                <a:lnTo>
                  <a:pt x="1164586" y="591522"/>
                </a:lnTo>
                <a:close/>
              </a:path>
            </a:pathLst>
          </a:custGeom>
          <a:solidFill>
            <a:srgbClr val="FFFFFF"/>
          </a:solidFill>
          <a:ln w="19050">
            <a:solidFill>
              <a:srgbClr val="1B1B1B"/>
            </a:solidFill>
            <a:prstDash val="solid"/>
          </a:ln>
        </p:spPr>
      </p:sp>
      <p:sp>
        <p:nvSpPr>
          <p:cNvPr id="292" name="Shape 290"/>
          <p:cNvSpPr/>
          <p:nvPr/>
        </p:nvSpPr>
        <p:spPr>
          <a:xfrm>
            <a:off x="10464722" y="3808850"/>
            <a:ext cx="840478" cy="526787"/>
          </a:xfrm>
          <a:custGeom>
            <a:avLst/>
            <a:gdLst/>
            <a:ahLst/>
            <a:cxnLst/>
            <a:rect l="l" t="t" r="r" b="b"/>
            <a:pathLst>
              <a:path w="840478" h="526787">
                <a:moveTo>
                  <a:pt x="831943" y="446696"/>
                </a:moveTo>
                <a:lnTo>
                  <a:pt x="820874" y="465488"/>
                </a:lnTo>
                <a:lnTo>
                  <a:pt x="805416" y="482066"/>
                </a:lnTo>
                <a:lnTo>
                  <a:pt x="785737" y="496247"/>
                </a:lnTo>
                <a:lnTo>
                  <a:pt x="762054" y="507878"/>
                </a:lnTo>
                <a:lnTo>
                  <a:pt x="734626" y="516830"/>
                </a:lnTo>
                <a:lnTo>
                  <a:pt x="703753" y="523005"/>
                </a:lnTo>
                <a:lnTo>
                  <a:pt x="669774" y="526336"/>
                </a:lnTo>
                <a:lnTo>
                  <a:pt x="633062" y="526787"/>
                </a:lnTo>
                <a:lnTo>
                  <a:pt x="594017" y="524351"/>
                </a:lnTo>
                <a:lnTo>
                  <a:pt x="553069" y="519056"/>
                </a:lnTo>
                <a:lnTo>
                  <a:pt x="510665" y="510960"/>
                </a:lnTo>
                <a:lnTo>
                  <a:pt x="467270" y="500152"/>
                </a:lnTo>
                <a:lnTo>
                  <a:pt x="423360" y="486750"/>
                </a:lnTo>
                <a:lnTo>
                  <a:pt x="379416" y="470900"/>
                </a:lnTo>
                <a:lnTo>
                  <a:pt x="335920" y="452777"/>
                </a:lnTo>
                <a:lnTo>
                  <a:pt x="293347" y="432580"/>
                </a:lnTo>
                <a:lnTo>
                  <a:pt x="252164" y="410528"/>
                </a:lnTo>
                <a:lnTo>
                  <a:pt x="212823" y="386865"/>
                </a:lnTo>
                <a:lnTo>
                  <a:pt x="175754" y="361848"/>
                </a:lnTo>
                <a:lnTo>
                  <a:pt x="141364" y="335753"/>
                </a:lnTo>
                <a:lnTo>
                  <a:pt x="110029" y="308866"/>
                </a:lnTo>
                <a:lnTo>
                  <a:pt x="82093" y="281480"/>
                </a:lnTo>
                <a:lnTo>
                  <a:pt x="57862" y="253896"/>
                </a:lnTo>
                <a:lnTo>
                  <a:pt x="37601" y="226415"/>
                </a:lnTo>
                <a:lnTo>
                  <a:pt x="21533" y="199341"/>
                </a:lnTo>
                <a:lnTo>
                  <a:pt x="9832" y="172967"/>
                </a:lnTo>
                <a:lnTo>
                  <a:pt x="2628" y="147585"/>
                </a:lnTo>
                <a:lnTo>
                  <a:pt x="0" y="123471"/>
                </a:lnTo>
                <a:lnTo>
                  <a:pt x="1976" y="100891"/>
                </a:lnTo>
                <a:lnTo>
                  <a:pt x="8534" y="80091"/>
                </a:lnTo>
                <a:lnTo>
                  <a:pt x="19603" y="61299"/>
                </a:lnTo>
                <a:lnTo>
                  <a:pt x="35062" y="44721"/>
                </a:lnTo>
                <a:lnTo>
                  <a:pt x="54741" y="30539"/>
                </a:lnTo>
                <a:lnTo>
                  <a:pt x="78424" y="18908"/>
                </a:lnTo>
                <a:lnTo>
                  <a:pt x="105852" y="9956"/>
                </a:lnTo>
                <a:lnTo>
                  <a:pt x="136724" y="3781"/>
                </a:lnTo>
                <a:lnTo>
                  <a:pt x="170703" y="450"/>
                </a:lnTo>
                <a:lnTo>
                  <a:pt x="207416" y="0"/>
                </a:lnTo>
                <a:lnTo>
                  <a:pt x="246461" y="2436"/>
                </a:lnTo>
                <a:lnTo>
                  <a:pt x="287409" y="7730"/>
                </a:lnTo>
                <a:lnTo>
                  <a:pt x="329813" y="15826"/>
                </a:lnTo>
                <a:lnTo>
                  <a:pt x="373207" y="26635"/>
                </a:lnTo>
                <a:lnTo>
                  <a:pt x="417117" y="40037"/>
                </a:lnTo>
                <a:lnTo>
                  <a:pt x="461061" y="55886"/>
                </a:lnTo>
                <a:lnTo>
                  <a:pt x="504558" y="74009"/>
                </a:lnTo>
                <a:lnTo>
                  <a:pt x="547131" y="94207"/>
                </a:lnTo>
                <a:lnTo>
                  <a:pt x="588314" y="116258"/>
                </a:lnTo>
                <a:lnTo>
                  <a:pt x="627655" y="139922"/>
                </a:lnTo>
                <a:lnTo>
                  <a:pt x="664724" y="164938"/>
                </a:lnTo>
                <a:lnTo>
                  <a:pt x="699114" y="191033"/>
                </a:lnTo>
                <a:lnTo>
                  <a:pt x="730448" y="217921"/>
                </a:lnTo>
                <a:lnTo>
                  <a:pt x="758384" y="245307"/>
                </a:lnTo>
                <a:lnTo>
                  <a:pt x="782616" y="272891"/>
                </a:lnTo>
                <a:lnTo>
                  <a:pt x="802876" y="300371"/>
                </a:lnTo>
                <a:lnTo>
                  <a:pt x="818945" y="327446"/>
                </a:lnTo>
                <a:lnTo>
                  <a:pt x="830645" y="353819"/>
                </a:lnTo>
                <a:lnTo>
                  <a:pt x="837849" y="379202"/>
                </a:lnTo>
                <a:lnTo>
                  <a:pt x="840478" y="403315"/>
                </a:lnTo>
                <a:lnTo>
                  <a:pt x="838502" y="425896"/>
                </a:lnTo>
                <a:close/>
              </a:path>
            </a:pathLst>
          </a:custGeom>
          <a:ln w="6350">
            <a:solidFill>
              <a:srgbClr val="4F7A43"/>
            </a:solidFill>
            <a:prstDash val="dash"/>
          </a:ln>
        </p:spPr>
      </p:sp>
      <p:sp>
        <p:nvSpPr>
          <p:cNvPr id="293" name="Shape 291"/>
          <p:cNvSpPr/>
          <p:nvPr/>
        </p:nvSpPr>
        <p:spPr>
          <a:xfrm>
            <a:off x="10616475" y="3903964"/>
            <a:ext cx="536972" cy="336558"/>
          </a:xfrm>
          <a:custGeom>
            <a:avLst/>
            <a:gdLst/>
            <a:ahLst/>
            <a:cxnLst/>
            <a:rect l="l" t="t" r="r" b="b"/>
            <a:pathLst>
              <a:path w="536972" h="336558">
                <a:moveTo>
                  <a:pt x="531519" y="285389"/>
                </a:moveTo>
                <a:lnTo>
                  <a:pt x="524447" y="297395"/>
                </a:lnTo>
                <a:lnTo>
                  <a:pt x="514571" y="307986"/>
                </a:lnTo>
                <a:lnTo>
                  <a:pt x="501999" y="317047"/>
                </a:lnTo>
                <a:lnTo>
                  <a:pt x="486868" y="324478"/>
                </a:lnTo>
                <a:lnTo>
                  <a:pt x="469344" y="330197"/>
                </a:lnTo>
                <a:lnTo>
                  <a:pt x="449620" y="334142"/>
                </a:lnTo>
                <a:lnTo>
                  <a:pt x="427911" y="336271"/>
                </a:lnTo>
                <a:lnTo>
                  <a:pt x="404456" y="336558"/>
                </a:lnTo>
                <a:lnTo>
                  <a:pt x="379511" y="335002"/>
                </a:lnTo>
                <a:lnTo>
                  <a:pt x="353349" y="331619"/>
                </a:lnTo>
                <a:lnTo>
                  <a:pt x="326258" y="326447"/>
                </a:lnTo>
                <a:lnTo>
                  <a:pt x="298534" y="319542"/>
                </a:lnTo>
                <a:lnTo>
                  <a:pt x="270480" y="310979"/>
                </a:lnTo>
                <a:lnTo>
                  <a:pt x="242405" y="300853"/>
                </a:lnTo>
                <a:lnTo>
                  <a:pt x="214615" y="289274"/>
                </a:lnTo>
                <a:lnTo>
                  <a:pt x="187416" y="276370"/>
                </a:lnTo>
                <a:lnTo>
                  <a:pt x="161105" y="262282"/>
                </a:lnTo>
                <a:lnTo>
                  <a:pt x="135970" y="247164"/>
                </a:lnTo>
                <a:lnTo>
                  <a:pt x="112287" y="231181"/>
                </a:lnTo>
                <a:lnTo>
                  <a:pt x="90316" y="214509"/>
                </a:lnTo>
                <a:lnTo>
                  <a:pt x="70296" y="197331"/>
                </a:lnTo>
                <a:lnTo>
                  <a:pt x="52448" y="179834"/>
                </a:lnTo>
                <a:lnTo>
                  <a:pt x="36967" y="162211"/>
                </a:lnTo>
                <a:lnTo>
                  <a:pt x="24023" y="144654"/>
                </a:lnTo>
                <a:lnTo>
                  <a:pt x="13757" y="127356"/>
                </a:lnTo>
                <a:lnTo>
                  <a:pt x="6282" y="110507"/>
                </a:lnTo>
                <a:lnTo>
                  <a:pt x="1679" y="94290"/>
                </a:lnTo>
                <a:lnTo>
                  <a:pt x="0" y="78884"/>
                </a:lnTo>
                <a:lnTo>
                  <a:pt x="1262" y="64458"/>
                </a:lnTo>
                <a:lnTo>
                  <a:pt x="5452" y="51169"/>
                </a:lnTo>
                <a:lnTo>
                  <a:pt x="12524" y="39163"/>
                </a:lnTo>
                <a:lnTo>
                  <a:pt x="22401" y="28572"/>
                </a:lnTo>
                <a:lnTo>
                  <a:pt x="34973" y="19511"/>
                </a:lnTo>
                <a:lnTo>
                  <a:pt x="50104" y="12080"/>
                </a:lnTo>
                <a:lnTo>
                  <a:pt x="67628" y="6361"/>
                </a:lnTo>
                <a:lnTo>
                  <a:pt x="87352" y="2416"/>
                </a:lnTo>
                <a:lnTo>
                  <a:pt x="109060" y="288"/>
                </a:lnTo>
                <a:lnTo>
                  <a:pt x="132516" y="0"/>
                </a:lnTo>
                <a:lnTo>
                  <a:pt x="157461" y="1556"/>
                </a:lnTo>
                <a:lnTo>
                  <a:pt x="183623" y="4939"/>
                </a:lnTo>
                <a:lnTo>
                  <a:pt x="210714" y="10111"/>
                </a:lnTo>
                <a:lnTo>
                  <a:pt x="238438" y="17017"/>
                </a:lnTo>
                <a:lnTo>
                  <a:pt x="266492" y="25579"/>
                </a:lnTo>
                <a:lnTo>
                  <a:pt x="294567" y="35705"/>
                </a:lnTo>
                <a:lnTo>
                  <a:pt x="322357" y="47284"/>
                </a:lnTo>
                <a:lnTo>
                  <a:pt x="349556" y="60188"/>
                </a:lnTo>
                <a:lnTo>
                  <a:pt x="375867" y="74276"/>
                </a:lnTo>
                <a:lnTo>
                  <a:pt x="401002" y="89395"/>
                </a:lnTo>
                <a:lnTo>
                  <a:pt x="424685" y="105377"/>
                </a:lnTo>
                <a:lnTo>
                  <a:pt x="446656" y="122049"/>
                </a:lnTo>
                <a:lnTo>
                  <a:pt x="466675" y="139227"/>
                </a:lnTo>
                <a:lnTo>
                  <a:pt x="484523" y="156724"/>
                </a:lnTo>
                <a:lnTo>
                  <a:pt x="500004" y="174347"/>
                </a:lnTo>
                <a:lnTo>
                  <a:pt x="512949" y="191904"/>
                </a:lnTo>
                <a:lnTo>
                  <a:pt x="523215" y="209202"/>
                </a:lnTo>
                <a:lnTo>
                  <a:pt x="530690" y="226051"/>
                </a:lnTo>
                <a:lnTo>
                  <a:pt x="535293" y="242268"/>
                </a:lnTo>
                <a:lnTo>
                  <a:pt x="536972" y="257674"/>
                </a:lnTo>
                <a:lnTo>
                  <a:pt x="535710" y="272100"/>
                </a:lnTo>
                <a:close/>
              </a:path>
            </a:pathLst>
          </a:custGeom>
          <a:ln w="6350">
            <a:solidFill>
              <a:srgbClr val="4F7A43"/>
            </a:solidFill>
            <a:prstDash val="dash"/>
          </a:ln>
        </p:spPr>
      </p:sp>
      <p:sp>
        <p:nvSpPr>
          <p:cNvPr id="294" name="Shape 292"/>
          <p:cNvSpPr/>
          <p:nvPr/>
        </p:nvSpPr>
        <p:spPr>
          <a:xfrm>
            <a:off x="10756554" y="3991762"/>
            <a:ext cx="256813" cy="160963"/>
          </a:xfrm>
          <a:custGeom>
            <a:avLst/>
            <a:gdLst/>
            <a:ahLst/>
            <a:cxnLst/>
            <a:rect l="l" t="t" r="r" b="b"/>
            <a:pathLst>
              <a:path w="256813" h="160963">
                <a:moveTo>
                  <a:pt x="254205" y="136490"/>
                </a:moveTo>
                <a:lnTo>
                  <a:pt x="250823" y="142232"/>
                </a:lnTo>
                <a:lnTo>
                  <a:pt x="246099" y="147298"/>
                </a:lnTo>
                <a:lnTo>
                  <a:pt x="240086" y="151631"/>
                </a:lnTo>
                <a:lnTo>
                  <a:pt x="232850" y="155185"/>
                </a:lnTo>
                <a:lnTo>
                  <a:pt x="224469" y="157920"/>
                </a:lnTo>
                <a:lnTo>
                  <a:pt x="215036" y="159807"/>
                </a:lnTo>
                <a:lnTo>
                  <a:pt x="204653" y="160825"/>
                </a:lnTo>
                <a:lnTo>
                  <a:pt x="193435" y="160963"/>
                </a:lnTo>
                <a:lnTo>
                  <a:pt x="181505" y="160218"/>
                </a:lnTo>
                <a:lnTo>
                  <a:pt x="168993" y="158600"/>
                </a:lnTo>
                <a:lnTo>
                  <a:pt x="156036" y="156127"/>
                </a:lnTo>
                <a:lnTo>
                  <a:pt x="142777" y="152824"/>
                </a:lnTo>
                <a:lnTo>
                  <a:pt x="129360" y="148729"/>
                </a:lnTo>
                <a:lnTo>
                  <a:pt x="115933" y="143886"/>
                </a:lnTo>
                <a:lnTo>
                  <a:pt x="102642" y="138349"/>
                </a:lnTo>
                <a:lnTo>
                  <a:pt x="89634" y="132177"/>
                </a:lnTo>
                <a:lnTo>
                  <a:pt x="77050" y="125439"/>
                </a:lnTo>
                <a:lnTo>
                  <a:pt x="65029" y="118209"/>
                </a:lnTo>
                <a:lnTo>
                  <a:pt x="53703" y="110565"/>
                </a:lnTo>
                <a:lnTo>
                  <a:pt x="43195" y="102591"/>
                </a:lnTo>
                <a:lnTo>
                  <a:pt x="33620" y="94376"/>
                </a:lnTo>
                <a:lnTo>
                  <a:pt x="25084" y="86008"/>
                </a:lnTo>
                <a:lnTo>
                  <a:pt x="17680" y="77579"/>
                </a:lnTo>
                <a:lnTo>
                  <a:pt x="11489" y="69183"/>
                </a:lnTo>
                <a:lnTo>
                  <a:pt x="6579" y="60910"/>
                </a:lnTo>
                <a:lnTo>
                  <a:pt x="3004" y="52851"/>
                </a:lnTo>
                <a:lnTo>
                  <a:pt x="803" y="45095"/>
                </a:lnTo>
                <a:lnTo>
                  <a:pt x="0" y="37727"/>
                </a:lnTo>
                <a:lnTo>
                  <a:pt x="604" y="30828"/>
                </a:lnTo>
                <a:lnTo>
                  <a:pt x="2608" y="24472"/>
                </a:lnTo>
                <a:lnTo>
                  <a:pt x="5990" y="18730"/>
                </a:lnTo>
                <a:lnTo>
                  <a:pt x="10713" y="13665"/>
                </a:lnTo>
                <a:lnTo>
                  <a:pt x="16726" y="9331"/>
                </a:lnTo>
                <a:lnTo>
                  <a:pt x="23963" y="5778"/>
                </a:lnTo>
                <a:lnTo>
                  <a:pt x="32344" y="3042"/>
                </a:lnTo>
                <a:lnTo>
                  <a:pt x="41777" y="1155"/>
                </a:lnTo>
                <a:lnTo>
                  <a:pt x="52159" y="138"/>
                </a:lnTo>
                <a:lnTo>
                  <a:pt x="63377" y="0"/>
                </a:lnTo>
                <a:lnTo>
                  <a:pt x="75307" y="744"/>
                </a:lnTo>
                <a:lnTo>
                  <a:pt x="87819" y="2362"/>
                </a:lnTo>
                <a:lnTo>
                  <a:pt x="100776" y="4836"/>
                </a:lnTo>
                <a:lnTo>
                  <a:pt x="114036" y="8138"/>
                </a:lnTo>
                <a:lnTo>
                  <a:pt x="127453" y="12233"/>
                </a:lnTo>
                <a:lnTo>
                  <a:pt x="140880" y="17076"/>
                </a:lnTo>
                <a:lnTo>
                  <a:pt x="154171" y="22614"/>
                </a:lnTo>
                <a:lnTo>
                  <a:pt x="167179" y="28785"/>
                </a:lnTo>
                <a:lnTo>
                  <a:pt x="179763" y="35523"/>
                </a:lnTo>
                <a:lnTo>
                  <a:pt x="191783" y="42754"/>
                </a:lnTo>
                <a:lnTo>
                  <a:pt x="203110" y="50398"/>
                </a:lnTo>
                <a:lnTo>
                  <a:pt x="213618" y="58371"/>
                </a:lnTo>
                <a:lnTo>
                  <a:pt x="223193" y="66587"/>
                </a:lnTo>
                <a:lnTo>
                  <a:pt x="231729" y="74955"/>
                </a:lnTo>
                <a:lnTo>
                  <a:pt x="239133" y="83383"/>
                </a:lnTo>
                <a:lnTo>
                  <a:pt x="245323" y="91780"/>
                </a:lnTo>
                <a:lnTo>
                  <a:pt x="250233" y="100053"/>
                </a:lnTo>
                <a:lnTo>
                  <a:pt x="253808" y="108111"/>
                </a:lnTo>
                <a:lnTo>
                  <a:pt x="256009" y="115867"/>
                </a:lnTo>
                <a:lnTo>
                  <a:pt x="256813" y="123235"/>
                </a:lnTo>
                <a:lnTo>
                  <a:pt x="256209" y="130135"/>
                </a:lnTo>
                <a:close/>
              </a:path>
            </a:pathLst>
          </a:custGeom>
          <a:ln w="6350">
            <a:solidFill>
              <a:srgbClr val="4F7A43"/>
            </a:solidFill>
            <a:prstDash val="dash"/>
          </a:ln>
        </p:spPr>
      </p:sp>
      <p:sp>
        <p:nvSpPr>
          <p:cNvPr id="295" name="Shape 293"/>
          <p:cNvSpPr/>
          <p:nvPr/>
        </p:nvSpPr>
        <p:spPr>
          <a:xfrm>
            <a:off x="10442918" y="3870870"/>
            <a:ext cx="749017" cy="560448"/>
          </a:xfrm>
          <a:custGeom>
            <a:avLst/>
            <a:gdLst/>
            <a:ahLst/>
            <a:cxnLst/>
            <a:rect l="l" t="t" r="r" b="b"/>
            <a:pathLst>
              <a:path w="749017" h="560448">
                <a:moveTo>
                  <a:pt x="749017" y="560448"/>
                </a:moveTo>
                <a:lnTo>
                  <a:pt x="673236" y="554222"/>
                </a:lnTo>
                <a:lnTo>
                  <a:pt x="594657" y="540541"/>
                </a:lnTo>
                <a:lnTo>
                  <a:pt x="515175" y="520031"/>
                </a:lnTo>
                <a:lnTo>
                  <a:pt x="436635" y="493453"/>
                </a:lnTo>
                <a:lnTo>
                  <a:pt x="360785" y="461675"/>
                </a:lnTo>
                <a:lnTo>
                  <a:pt x="289239" y="425654"/>
                </a:lnTo>
                <a:lnTo>
                  <a:pt x="223445" y="386403"/>
                </a:lnTo>
                <a:lnTo>
                  <a:pt x="164657" y="344970"/>
                </a:lnTo>
                <a:lnTo>
                  <a:pt x="113906" y="302410"/>
                </a:lnTo>
                <a:lnTo>
                  <a:pt x="71992" y="259758"/>
                </a:lnTo>
                <a:lnTo>
                  <a:pt x="39466" y="218005"/>
                </a:lnTo>
                <a:lnTo>
                  <a:pt x="16629" y="178078"/>
                </a:lnTo>
                <a:lnTo>
                  <a:pt x="3536" y="140814"/>
                </a:lnTo>
                <a:lnTo>
                  <a:pt x="0" y="106950"/>
                </a:lnTo>
                <a:lnTo>
                  <a:pt x="5608" y="77102"/>
                </a:lnTo>
                <a:lnTo>
                  <a:pt x="19740" y="51757"/>
                </a:lnTo>
                <a:lnTo>
                  <a:pt x="41595" y="31267"/>
                </a:lnTo>
                <a:lnTo>
                  <a:pt x="70216" y="15842"/>
                </a:lnTo>
                <a:lnTo>
                  <a:pt x="104522" y="5554"/>
                </a:lnTo>
                <a:lnTo>
                  <a:pt x="143339" y="338"/>
                </a:lnTo>
                <a:lnTo>
                  <a:pt x="185442" y="0"/>
                </a:lnTo>
                <a:lnTo>
                  <a:pt x="229578" y="4228"/>
                </a:lnTo>
                <a:lnTo>
                  <a:pt x="274512" y="12604"/>
                </a:lnTo>
                <a:lnTo>
                  <a:pt x="319052" y="24622"/>
                </a:lnTo>
                <a:lnTo>
                  <a:pt x="362084" y="39702"/>
                </a:lnTo>
                <a:lnTo>
                  <a:pt x="402597" y="57212"/>
                </a:lnTo>
                <a:lnTo>
                  <a:pt x="439710" y="76486"/>
                </a:lnTo>
                <a:lnTo>
                  <a:pt x="472689" y="96846"/>
                </a:lnTo>
                <a:lnTo>
                  <a:pt x="500964" y="117620"/>
                </a:lnTo>
                <a:lnTo>
                  <a:pt x="524138" y="138161"/>
                </a:lnTo>
                <a:lnTo>
                  <a:pt x="541992" y="157869"/>
                </a:lnTo>
                <a:lnTo>
                  <a:pt x="554488" y="176201"/>
                </a:lnTo>
                <a:lnTo>
                  <a:pt x="561756" y="192691"/>
                </a:lnTo>
                <a:lnTo>
                  <a:pt x="564094" y="206957"/>
                </a:lnTo>
                <a:lnTo>
                  <a:pt x="561945" y="218712"/>
                </a:lnTo>
                <a:lnTo>
                  <a:pt x="555883" y="227773"/>
                </a:lnTo>
                <a:lnTo>
                  <a:pt x="546587" y="234055"/>
                </a:lnTo>
                <a:lnTo>
                  <a:pt x="534820" y="237581"/>
                </a:lnTo>
                <a:lnTo>
                  <a:pt x="521402" y="238472"/>
                </a:lnTo>
                <a:lnTo>
                  <a:pt x="507177" y="236940"/>
                </a:lnTo>
              </a:path>
            </a:pathLst>
          </a:custGeom>
          <a:ln w="22225">
            <a:solidFill>
              <a:srgbClr val="C4262E"/>
            </a:solidFill>
            <a:prstDash val="solid"/>
            <a:tailEnd type="triangle"/>
          </a:ln>
        </p:spPr>
      </p:sp>
      <p:sp>
        <p:nvSpPr>
          <p:cNvPr id="296" name="Shape 294"/>
          <p:cNvSpPr/>
          <p:nvPr/>
        </p:nvSpPr>
        <p:spPr>
          <a:xfrm rot="169550">
            <a:off x="10934438" y="4427449"/>
            <a:ext cx="388074" cy="64008"/>
          </a:xfrm>
          <a:prstGeom prst="rect">
            <a:avLst/>
          </a:prstGeom>
          <a:solidFill>
            <a:srgbClr val="C4262E"/>
          </a:solidFill>
          <a:ln/>
        </p:spPr>
      </p:sp>
      <p:sp>
        <p:nvSpPr>
          <p:cNvPr id="297" name="Shape 295"/>
          <p:cNvSpPr/>
          <p:nvPr/>
        </p:nvSpPr>
        <p:spPr>
          <a:xfrm rot="2669841">
            <a:off x="10270839" y="4069461"/>
            <a:ext cx="344259" cy="64008"/>
          </a:xfrm>
          <a:prstGeom prst="rect">
            <a:avLst/>
          </a:prstGeom>
          <a:solidFill>
            <a:srgbClr val="F0B9BC"/>
          </a:solidFill>
          <a:ln w="6350">
            <a:solidFill>
              <a:srgbClr val="1B1B1B"/>
            </a:solidFill>
            <a:prstDash val="solid"/>
          </a:ln>
        </p:spPr>
      </p:sp>
      <p:sp>
        <p:nvSpPr>
          <p:cNvPr id="298" name="Shape 296"/>
          <p:cNvSpPr/>
          <p:nvPr/>
        </p:nvSpPr>
        <p:spPr>
          <a:xfrm rot="-1236591">
            <a:off x="10395420" y="3805015"/>
            <a:ext cx="287926" cy="64008"/>
          </a:xfrm>
          <a:prstGeom prst="rect">
            <a:avLst/>
          </a:prstGeom>
          <a:solidFill>
            <a:srgbClr val="1B1B1B"/>
          </a:solidFill>
          <a:ln/>
        </p:spPr>
      </p:sp>
      <p:sp>
        <p:nvSpPr>
          <p:cNvPr id="299" name="Shape 297"/>
          <p:cNvSpPr/>
          <p:nvPr/>
        </p:nvSpPr>
        <p:spPr>
          <a:xfrm rot="1650735">
            <a:off x="10845129" y="3929624"/>
            <a:ext cx="225333" cy="64008"/>
          </a:xfrm>
          <a:prstGeom prst="rect">
            <a:avLst/>
          </a:prstGeom>
          <a:solidFill>
            <a:srgbClr val="9A9A9A"/>
          </a:solidFill>
          <a:ln/>
        </p:spPr>
      </p:sp>
      <p:sp>
        <p:nvSpPr>
          <p:cNvPr id="300" name="Shape 298"/>
          <p:cNvSpPr/>
          <p:nvPr/>
        </p:nvSpPr>
        <p:spPr>
          <a:xfrm rot="173647">
            <a:off x="10465459" y="3703877"/>
            <a:ext cx="212815" cy="54864"/>
          </a:xfrm>
          <a:prstGeom prst="rect">
            <a:avLst/>
          </a:prstGeom>
          <a:solidFill>
            <a:srgbClr val="9A9A9A"/>
          </a:solidFill>
          <a:ln/>
        </p:spPr>
      </p:sp>
      <p:sp>
        <p:nvSpPr>
          <p:cNvPr id="301" name="Shape 299"/>
          <p:cNvSpPr/>
          <p:nvPr/>
        </p:nvSpPr>
        <p:spPr>
          <a:xfrm>
            <a:off x="10943633" y="4107810"/>
            <a:ext cx="43339" cy="303892"/>
          </a:xfrm>
          <a:custGeom>
            <a:avLst/>
            <a:gdLst/>
            <a:ahLst/>
            <a:cxnLst/>
            <a:rect l="l" t="t" r="r" b="b"/>
            <a:pathLst>
              <a:path w="43339" h="303892">
                <a:moveTo>
                  <a:pt x="43339" y="303892"/>
                </a:moveTo>
                <a:lnTo>
                  <a:pt x="0" y="153066"/>
                </a:lnTo>
                <a:lnTo>
                  <a:pt x="6462" y="0"/>
                </a:lnTo>
              </a:path>
            </a:pathLst>
          </a:custGeom>
          <a:ln w="19050">
            <a:solidFill>
              <a:srgbClr val="1B1B1B"/>
            </a:solidFill>
            <a:prstDash val="solid"/>
            <a:tailEnd type="triangle"/>
          </a:ln>
        </p:spPr>
      </p:sp>
      <p:sp>
        <p:nvSpPr>
          <p:cNvPr id="302" name="Shape 300"/>
          <p:cNvSpPr/>
          <p:nvPr/>
        </p:nvSpPr>
        <p:spPr>
          <a:xfrm>
            <a:off x="10895231" y="4052946"/>
            <a:ext cx="109728" cy="109728"/>
          </a:xfrm>
          <a:prstGeom prst="ellipse">
            <a:avLst/>
          </a:prstGeom>
          <a:solidFill>
            <a:srgbClr val="FFFFFF"/>
          </a:solidFill>
          <a:ln w="19050">
            <a:solidFill>
              <a:srgbClr val="C4262E"/>
            </a:solidFill>
            <a:prstDash val="solid"/>
          </a:ln>
        </p:spPr>
      </p:sp>
      <p:sp>
        <p:nvSpPr>
          <p:cNvPr id="303" name="Shape 301"/>
          <p:cNvSpPr/>
          <p:nvPr/>
        </p:nvSpPr>
        <p:spPr>
          <a:xfrm>
            <a:off x="457200" y="4709160"/>
            <a:ext cx="2743200" cy="1874520"/>
          </a:xfrm>
          <a:prstGeom prst="rect">
            <a:avLst/>
          </a:prstGeom>
          <a:solidFill>
            <a:srgbClr val="FFFFFF"/>
          </a:solidFill>
          <a:ln w="6350">
            <a:solidFill>
              <a:srgbClr val="D9D9D9"/>
            </a:solidFill>
            <a:prstDash val="solid"/>
          </a:ln>
        </p:spPr>
      </p:sp>
      <p:sp>
        <p:nvSpPr>
          <p:cNvPr id="304" name="Text 302"/>
          <p:cNvSpPr txBox="1"/>
          <p:nvPr/>
        </p:nvSpPr>
        <p:spPr>
          <a:xfrm>
            <a:off x="530352" y="4764024"/>
            <a:ext cx="2596896"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06  </a:t>
            </a:r>
            <a:pPr indent="0" marL="0">
              <a:buNone/>
            </a:pPr>
            <a:r>
              <a:rPr lang="en-US" sz="650" b="1" spc="50" kern="0" dirty="0">
                <a:solidFill>
                  <a:srgbClr val="1B1B1B"/>
                </a:solidFill>
                <a:latin typeface="Arial" pitchFamily="34" charset="0"/>
                <a:ea typeface="Arial" pitchFamily="34" charset="-122"/>
                <a:cs typeface="Arial" pitchFamily="34" charset="-120"/>
              </a:rPr>
              <a:t>MASSING</a:t>
            </a:r>
            <a:endParaRPr lang="en-US" sz="650" dirty="0"/>
          </a:p>
        </p:txBody>
      </p:sp>
      <p:sp>
        <p:nvSpPr>
          <p:cNvPr id="305" name="Shape 303"/>
          <p:cNvSpPr/>
          <p:nvPr/>
        </p:nvSpPr>
        <p:spPr>
          <a:xfrm>
            <a:off x="512064" y="5751690"/>
            <a:ext cx="2633472" cy="795414"/>
          </a:xfrm>
          <a:custGeom>
            <a:avLst/>
            <a:gdLst/>
            <a:ahLst/>
            <a:cxnLst/>
            <a:rect l="l" t="t" r="r" b="b"/>
            <a:pathLst>
              <a:path w="2633472" h="795414">
                <a:moveTo>
                  <a:pt x="0" y="540845"/>
                </a:moveTo>
                <a:lnTo>
                  <a:pt x="43891" y="540845"/>
                </a:lnTo>
                <a:lnTo>
                  <a:pt x="87782" y="540845"/>
                </a:lnTo>
                <a:lnTo>
                  <a:pt x="131674" y="540845"/>
                </a:lnTo>
                <a:lnTo>
                  <a:pt x="175565" y="540845"/>
                </a:lnTo>
                <a:lnTo>
                  <a:pt x="219456" y="540845"/>
                </a:lnTo>
                <a:lnTo>
                  <a:pt x="263347" y="540845"/>
                </a:lnTo>
                <a:lnTo>
                  <a:pt x="307238" y="540387"/>
                </a:lnTo>
                <a:lnTo>
                  <a:pt x="351130" y="535257"/>
                </a:lnTo>
                <a:lnTo>
                  <a:pt x="395021" y="524533"/>
                </a:lnTo>
                <a:lnTo>
                  <a:pt x="438912" y="508442"/>
                </a:lnTo>
                <a:lnTo>
                  <a:pt x="482803" y="487323"/>
                </a:lnTo>
                <a:lnTo>
                  <a:pt x="526694" y="461623"/>
                </a:lnTo>
                <a:lnTo>
                  <a:pt x="570586" y="431884"/>
                </a:lnTo>
                <a:lnTo>
                  <a:pt x="614477" y="398735"/>
                </a:lnTo>
                <a:lnTo>
                  <a:pt x="658368" y="362875"/>
                </a:lnTo>
                <a:lnTo>
                  <a:pt x="702259" y="325061"/>
                </a:lnTo>
                <a:lnTo>
                  <a:pt x="746150" y="286092"/>
                </a:lnTo>
                <a:lnTo>
                  <a:pt x="790042" y="246791"/>
                </a:lnTo>
                <a:lnTo>
                  <a:pt x="833933" y="207988"/>
                </a:lnTo>
                <a:lnTo>
                  <a:pt x="877824" y="170502"/>
                </a:lnTo>
                <a:lnTo>
                  <a:pt x="921715" y="135125"/>
                </a:lnTo>
                <a:lnTo>
                  <a:pt x="965606" y="102604"/>
                </a:lnTo>
                <a:lnTo>
                  <a:pt x="1009498" y="73625"/>
                </a:lnTo>
                <a:lnTo>
                  <a:pt x="1053389" y="48801"/>
                </a:lnTo>
                <a:lnTo>
                  <a:pt x="1097280" y="28656"/>
                </a:lnTo>
                <a:lnTo>
                  <a:pt x="1141171" y="13614"/>
                </a:lnTo>
                <a:lnTo>
                  <a:pt x="1185062" y="3995"/>
                </a:lnTo>
                <a:lnTo>
                  <a:pt x="1228954" y="0"/>
                </a:lnTo>
                <a:lnTo>
                  <a:pt x="1272845" y="1714"/>
                </a:lnTo>
                <a:lnTo>
                  <a:pt x="1316736" y="9102"/>
                </a:lnTo>
                <a:lnTo>
                  <a:pt x="1360627" y="22006"/>
                </a:lnTo>
                <a:lnTo>
                  <a:pt x="1404518" y="40155"/>
                </a:lnTo>
                <a:lnTo>
                  <a:pt x="1448410" y="63166"/>
                </a:lnTo>
                <a:lnTo>
                  <a:pt x="1492301" y="90551"/>
                </a:lnTo>
                <a:lnTo>
                  <a:pt x="1536192" y="121734"/>
                </a:lnTo>
                <a:lnTo>
                  <a:pt x="1580083" y="156056"/>
                </a:lnTo>
                <a:lnTo>
                  <a:pt x="1623974" y="192791"/>
                </a:lnTo>
                <a:lnTo>
                  <a:pt x="1667866" y="231164"/>
                </a:lnTo>
                <a:lnTo>
                  <a:pt x="1711757" y="270365"/>
                </a:lnTo>
                <a:lnTo>
                  <a:pt x="1755648" y="309566"/>
                </a:lnTo>
                <a:lnTo>
                  <a:pt x="1799539" y="347939"/>
                </a:lnTo>
                <a:lnTo>
                  <a:pt x="1843430" y="384675"/>
                </a:lnTo>
                <a:lnTo>
                  <a:pt x="1887322" y="418996"/>
                </a:lnTo>
                <a:lnTo>
                  <a:pt x="1931213" y="450179"/>
                </a:lnTo>
                <a:lnTo>
                  <a:pt x="1975104" y="477564"/>
                </a:lnTo>
                <a:lnTo>
                  <a:pt x="2018995" y="500575"/>
                </a:lnTo>
                <a:lnTo>
                  <a:pt x="2062886" y="518724"/>
                </a:lnTo>
                <a:lnTo>
                  <a:pt x="2106778" y="531628"/>
                </a:lnTo>
                <a:lnTo>
                  <a:pt x="2150669" y="539016"/>
                </a:lnTo>
                <a:lnTo>
                  <a:pt x="2194560" y="540845"/>
                </a:lnTo>
                <a:lnTo>
                  <a:pt x="2238451" y="540845"/>
                </a:lnTo>
                <a:lnTo>
                  <a:pt x="2282342" y="540845"/>
                </a:lnTo>
                <a:lnTo>
                  <a:pt x="2326234" y="540845"/>
                </a:lnTo>
                <a:lnTo>
                  <a:pt x="2370125" y="540845"/>
                </a:lnTo>
                <a:lnTo>
                  <a:pt x="2414016" y="540845"/>
                </a:lnTo>
                <a:lnTo>
                  <a:pt x="2457907" y="540845"/>
                </a:lnTo>
                <a:lnTo>
                  <a:pt x="2501798" y="540845"/>
                </a:lnTo>
                <a:lnTo>
                  <a:pt x="2545690" y="540845"/>
                </a:lnTo>
                <a:lnTo>
                  <a:pt x="2589581" y="540845"/>
                </a:lnTo>
                <a:lnTo>
                  <a:pt x="2633472" y="540845"/>
                </a:lnTo>
                <a:lnTo>
                  <a:pt x="2633472" y="795414"/>
                </a:lnTo>
                <a:lnTo>
                  <a:pt x="0" y="795414"/>
                </a:lnTo>
                <a:close/>
              </a:path>
            </a:pathLst>
          </a:custGeom>
          <a:solidFill>
            <a:srgbClr val="E3ECDC"/>
          </a:solidFill>
          <a:ln w="12700"/>
        </p:spPr>
      </p:sp>
      <p:sp>
        <p:nvSpPr>
          <p:cNvPr id="306" name="Shape 304"/>
          <p:cNvSpPr/>
          <p:nvPr/>
        </p:nvSpPr>
        <p:spPr>
          <a:xfrm>
            <a:off x="512064" y="5751690"/>
            <a:ext cx="2633472" cy="540845"/>
          </a:xfrm>
          <a:custGeom>
            <a:avLst/>
            <a:gdLst/>
            <a:ahLst/>
            <a:cxnLst/>
            <a:rect l="l" t="t" r="r" b="b"/>
            <a:pathLst>
              <a:path w="2633472" h="540845">
                <a:moveTo>
                  <a:pt x="0" y="540845"/>
                </a:moveTo>
                <a:lnTo>
                  <a:pt x="43891" y="540845"/>
                </a:lnTo>
                <a:lnTo>
                  <a:pt x="87782" y="540845"/>
                </a:lnTo>
                <a:lnTo>
                  <a:pt x="131674" y="540845"/>
                </a:lnTo>
                <a:lnTo>
                  <a:pt x="175565" y="540845"/>
                </a:lnTo>
                <a:lnTo>
                  <a:pt x="219456" y="540845"/>
                </a:lnTo>
                <a:lnTo>
                  <a:pt x="263347" y="540845"/>
                </a:lnTo>
                <a:lnTo>
                  <a:pt x="307238" y="540387"/>
                </a:lnTo>
                <a:lnTo>
                  <a:pt x="351130" y="535257"/>
                </a:lnTo>
                <a:lnTo>
                  <a:pt x="395021" y="524533"/>
                </a:lnTo>
                <a:lnTo>
                  <a:pt x="438912" y="508442"/>
                </a:lnTo>
                <a:lnTo>
                  <a:pt x="482803" y="487323"/>
                </a:lnTo>
                <a:lnTo>
                  <a:pt x="526694" y="461623"/>
                </a:lnTo>
                <a:lnTo>
                  <a:pt x="570586" y="431884"/>
                </a:lnTo>
                <a:lnTo>
                  <a:pt x="614477" y="398735"/>
                </a:lnTo>
                <a:lnTo>
                  <a:pt x="658368" y="362875"/>
                </a:lnTo>
                <a:lnTo>
                  <a:pt x="702259" y="325061"/>
                </a:lnTo>
                <a:lnTo>
                  <a:pt x="746150" y="286092"/>
                </a:lnTo>
                <a:lnTo>
                  <a:pt x="790042" y="246791"/>
                </a:lnTo>
                <a:lnTo>
                  <a:pt x="833933" y="207988"/>
                </a:lnTo>
                <a:lnTo>
                  <a:pt x="877824" y="170502"/>
                </a:lnTo>
                <a:lnTo>
                  <a:pt x="921715" y="135125"/>
                </a:lnTo>
                <a:lnTo>
                  <a:pt x="965606" y="102604"/>
                </a:lnTo>
                <a:lnTo>
                  <a:pt x="1009498" y="73625"/>
                </a:lnTo>
                <a:lnTo>
                  <a:pt x="1053389" y="48801"/>
                </a:lnTo>
                <a:lnTo>
                  <a:pt x="1097280" y="28656"/>
                </a:lnTo>
                <a:lnTo>
                  <a:pt x="1141171" y="13614"/>
                </a:lnTo>
                <a:lnTo>
                  <a:pt x="1185062" y="3995"/>
                </a:lnTo>
                <a:lnTo>
                  <a:pt x="1228954" y="0"/>
                </a:lnTo>
                <a:lnTo>
                  <a:pt x="1272845" y="1714"/>
                </a:lnTo>
                <a:lnTo>
                  <a:pt x="1316736" y="9102"/>
                </a:lnTo>
                <a:lnTo>
                  <a:pt x="1360627" y="22006"/>
                </a:lnTo>
                <a:lnTo>
                  <a:pt x="1404518" y="40155"/>
                </a:lnTo>
                <a:lnTo>
                  <a:pt x="1448410" y="63166"/>
                </a:lnTo>
                <a:lnTo>
                  <a:pt x="1492301" y="90551"/>
                </a:lnTo>
                <a:lnTo>
                  <a:pt x="1536192" y="121734"/>
                </a:lnTo>
                <a:lnTo>
                  <a:pt x="1580083" y="156056"/>
                </a:lnTo>
                <a:lnTo>
                  <a:pt x="1623974" y="192791"/>
                </a:lnTo>
                <a:lnTo>
                  <a:pt x="1667866" y="231164"/>
                </a:lnTo>
                <a:lnTo>
                  <a:pt x="1711757" y="270365"/>
                </a:lnTo>
                <a:lnTo>
                  <a:pt x="1755648" y="309566"/>
                </a:lnTo>
                <a:lnTo>
                  <a:pt x="1799539" y="347939"/>
                </a:lnTo>
                <a:lnTo>
                  <a:pt x="1843430" y="384675"/>
                </a:lnTo>
                <a:lnTo>
                  <a:pt x="1887322" y="418996"/>
                </a:lnTo>
                <a:lnTo>
                  <a:pt x="1931213" y="450179"/>
                </a:lnTo>
                <a:lnTo>
                  <a:pt x="1975104" y="477564"/>
                </a:lnTo>
                <a:lnTo>
                  <a:pt x="2018995" y="500575"/>
                </a:lnTo>
                <a:lnTo>
                  <a:pt x="2062886" y="518724"/>
                </a:lnTo>
                <a:lnTo>
                  <a:pt x="2106778" y="531628"/>
                </a:lnTo>
                <a:lnTo>
                  <a:pt x="2150669" y="539016"/>
                </a:lnTo>
                <a:lnTo>
                  <a:pt x="2194560" y="540845"/>
                </a:lnTo>
                <a:lnTo>
                  <a:pt x="2238451" y="540845"/>
                </a:lnTo>
                <a:lnTo>
                  <a:pt x="2282342" y="540845"/>
                </a:lnTo>
                <a:lnTo>
                  <a:pt x="2326234" y="540845"/>
                </a:lnTo>
                <a:lnTo>
                  <a:pt x="2370125" y="540845"/>
                </a:lnTo>
                <a:lnTo>
                  <a:pt x="2414016" y="540845"/>
                </a:lnTo>
                <a:lnTo>
                  <a:pt x="2457907" y="540845"/>
                </a:lnTo>
                <a:lnTo>
                  <a:pt x="2501798" y="540845"/>
                </a:lnTo>
                <a:lnTo>
                  <a:pt x="2545690" y="540845"/>
                </a:lnTo>
                <a:lnTo>
                  <a:pt x="2589581" y="540845"/>
                </a:lnTo>
                <a:lnTo>
                  <a:pt x="2633472" y="540845"/>
                </a:lnTo>
              </a:path>
            </a:pathLst>
          </a:custGeom>
          <a:ln w="15875">
            <a:solidFill>
              <a:srgbClr val="1B1B1B"/>
            </a:solidFill>
            <a:prstDash val="solid"/>
          </a:ln>
        </p:spPr>
      </p:sp>
      <p:sp>
        <p:nvSpPr>
          <p:cNvPr id="307" name="Text 305"/>
          <p:cNvSpPr txBox="1"/>
          <p:nvPr/>
        </p:nvSpPr>
        <p:spPr>
          <a:xfrm>
            <a:off x="441472" y="6301679"/>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308" name="Text 306"/>
          <p:cNvSpPr txBox="1"/>
          <p:nvPr/>
        </p:nvSpPr>
        <p:spPr>
          <a:xfrm>
            <a:off x="2758928" y="6301679"/>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309" name="Shape 307"/>
          <p:cNvSpPr/>
          <p:nvPr/>
        </p:nvSpPr>
        <p:spPr>
          <a:xfrm>
            <a:off x="793846" y="6115060"/>
            <a:ext cx="173809" cy="119329"/>
          </a:xfrm>
          <a:prstGeom prst="rect">
            <a:avLst/>
          </a:prstGeom>
          <a:solidFill>
            <a:srgbClr val="1B1B1B"/>
          </a:solidFill>
          <a:ln/>
        </p:spPr>
      </p:sp>
      <p:sp>
        <p:nvSpPr>
          <p:cNvPr id="310" name="Shape 308"/>
          <p:cNvSpPr/>
          <p:nvPr/>
        </p:nvSpPr>
        <p:spPr>
          <a:xfrm>
            <a:off x="1124083" y="5799712"/>
            <a:ext cx="112976" cy="238658"/>
          </a:xfrm>
          <a:prstGeom prst="rect">
            <a:avLst/>
          </a:prstGeom>
          <a:solidFill>
            <a:srgbClr val="1B1B1B"/>
          </a:solidFill>
          <a:ln/>
        </p:spPr>
      </p:sp>
      <p:sp>
        <p:nvSpPr>
          <p:cNvPr id="311" name="Shape 309"/>
          <p:cNvSpPr/>
          <p:nvPr/>
        </p:nvSpPr>
        <p:spPr>
          <a:xfrm>
            <a:off x="1136457" y="6038370"/>
            <a:ext cx="9144" cy="100481"/>
          </a:xfrm>
          <a:custGeom>
            <a:avLst/>
            <a:gdLst/>
            <a:ahLst/>
            <a:cxnLst/>
            <a:rect l="l" t="t" r="r" b="b"/>
            <a:pathLst>
              <a:path w="9144" h="100481">
                <a:moveTo>
                  <a:pt x="4572" y="0"/>
                </a:moveTo>
                <a:lnTo>
                  <a:pt x="4572" y="100481"/>
                </a:lnTo>
              </a:path>
            </a:pathLst>
          </a:custGeom>
          <a:ln w="9525">
            <a:solidFill>
              <a:srgbClr val="1B1B1B"/>
            </a:solidFill>
            <a:prstDash val="solid"/>
          </a:ln>
        </p:spPr>
      </p:sp>
      <p:sp>
        <p:nvSpPr>
          <p:cNvPr id="312" name="Shape 310"/>
          <p:cNvSpPr/>
          <p:nvPr/>
        </p:nvSpPr>
        <p:spPr>
          <a:xfrm>
            <a:off x="1175999" y="6038370"/>
            <a:ext cx="9144" cy="67605"/>
          </a:xfrm>
          <a:custGeom>
            <a:avLst/>
            <a:gdLst/>
            <a:ahLst/>
            <a:cxnLst/>
            <a:rect l="l" t="t" r="r" b="b"/>
            <a:pathLst>
              <a:path w="9144" h="67605">
                <a:moveTo>
                  <a:pt x="4572" y="0"/>
                </a:moveTo>
                <a:lnTo>
                  <a:pt x="4572" y="67605"/>
                </a:lnTo>
              </a:path>
            </a:pathLst>
          </a:custGeom>
          <a:ln w="9525">
            <a:solidFill>
              <a:srgbClr val="1B1B1B"/>
            </a:solidFill>
            <a:prstDash val="solid"/>
          </a:ln>
        </p:spPr>
      </p:sp>
      <p:sp>
        <p:nvSpPr>
          <p:cNvPr id="313" name="Shape 311"/>
          <p:cNvSpPr/>
          <p:nvPr/>
        </p:nvSpPr>
        <p:spPr>
          <a:xfrm>
            <a:off x="1215540" y="6038370"/>
            <a:ext cx="9144" cy="33290"/>
          </a:xfrm>
          <a:custGeom>
            <a:avLst/>
            <a:gdLst/>
            <a:ahLst/>
            <a:cxnLst/>
            <a:rect l="l" t="t" r="r" b="b"/>
            <a:pathLst>
              <a:path w="9144" h="33290">
                <a:moveTo>
                  <a:pt x="4572" y="0"/>
                </a:moveTo>
                <a:lnTo>
                  <a:pt x="4572" y="33290"/>
                </a:lnTo>
              </a:path>
            </a:pathLst>
          </a:custGeom>
          <a:ln w="9525">
            <a:solidFill>
              <a:srgbClr val="1B1B1B"/>
            </a:solidFill>
            <a:prstDash val="solid"/>
          </a:ln>
        </p:spPr>
      </p:sp>
      <p:sp>
        <p:nvSpPr>
          <p:cNvPr id="314" name="Shape 312"/>
          <p:cNvSpPr/>
          <p:nvPr/>
        </p:nvSpPr>
        <p:spPr>
          <a:xfrm>
            <a:off x="1315273" y="5641054"/>
            <a:ext cx="104285" cy="238658"/>
          </a:xfrm>
          <a:prstGeom prst="rect">
            <a:avLst/>
          </a:prstGeom>
          <a:solidFill>
            <a:srgbClr val="1B1B1B"/>
          </a:solidFill>
          <a:ln/>
        </p:spPr>
      </p:sp>
      <p:sp>
        <p:nvSpPr>
          <p:cNvPr id="315" name="Shape 313"/>
          <p:cNvSpPr/>
          <p:nvPr/>
        </p:nvSpPr>
        <p:spPr>
          <a:xfrm>
            <a:off x="1326344" y="5879712"/>
            <a:ext cx="9144" cy="93192"/>
          </a:xfrm>
          <a:custGeom>
            <a:avLst/>
            <a:gdLst/>
            <a:ahLst/>
            <a:cxnLst/>
            <a:rect l="l" t="t" r="r" b="b"/>
            <a:pathLst>
              <a:path w="9144" h="93192">
                <a:moveTo>
                  <a:pt x="4572" y="0"/>
                </a:moveTo>
                <a:lnTo>
                  <a:pt x="4572" y="93192"/>
                </a:lnTo>
              </a:path>
            </a:pathLst>
          </a:custGeom>
          <a:ln w="9525">
            <a:solidFill>
              <a:srgbClr val="1B1B1B"/>
            </a:solidFill>
            <a:prstDash val="solid"/>
          </a:ln>
        </p:spPr>
      </p:sp>
      <p:sp>
        <p:nvSpPr>
          <p:cNvPr id="316" name="Shape 314"/>
          <p:cNvSpPr/>
          <p:nvPr/>
        </p:nvSpPr>
        <p:spPr>
          <a:xfrm>
            <a:off x="1362844" y="5879712"/>
            <a:ext cx="9144" cy="61459"/>
          </a:xfrm>
          <a:custGeom>
            <a:avLst/>
            <a:gdLst/>
            <a:ahLst/>
            <a:cxnLst/>
            <a:rect l="l" t="t" r="r" b="b"/>
            <a:pathLst>
              <a:path w="9144" h="61459">
                <a:moveTo>
                  <a:pt x="4572" y="0"/>
                </a:moveTo>
                <a:lnTo>
                  <a:pt x="4572" y="61459"/>
                </a:lnTo>
              </a:path>
            </a:pathLst>
          </a:custGeom>
          <a:ln w="9525">
            <a:solidFill>
              <a:srgbClr val="1B1B1B"/>
            </a:solidFill>
            <a:prstDash val="solid"/>
          </a:ln>
        </p:spPr>
      </p:sp>
      <p:sp>
        <p:nvSpPr>
          <p:cNvPr id="317" name="Shape 315"/>
          <p:cNvSpPr/>
          <p:nvPr/>
        </p:nvSpPr>
        <p:spPr>
          <a:xfrm>
            <a:off x="1399344" y="5879712"/>
            <a:ext cx="9144" cy="30908"/>
          </a:xfrm>
          <a:custGeom>
            <a:avLst/>
            <a:gdLst/>
            <a:ahLst/>
            <a:cxnLst/>
            <a:rect l="l" t="t" r="r" b="b"/>
            <a:pathLst>
              <a:path w="9144" h="30908">
                <a:moveTo>
                  <a:pt x="4572" y="0"/>
                </a:moveTo>
                <a:lnTo>
                  <a:pt x="4572" y="30908"/>
                </a:lnTo>
              </a:path>
            </a:pathLst>
          </a:custGeom>
          <a:ln w="9525">
            <a:solidFill>
              <a:srgbClr val="1B1B1B"/>
            </a:solidFill>
            <a:prstDash val="solid"/>
          </a:ln>
        </p:spPr>
      </p:sp>
      <p:sp>
        <p:nvSpPr>
          <p:cNvPr id="318" name="Shape 316"/>
          <p:cNvSpPr/>
          <p:nvPr/>
        </p:nvSpPr>
        <p:spPr>
          <a:xfrm>
            <a:off x="1489082" y="5534118"/>
            <a:ext cx="95595" cy="238658"/>
          </a:xfrm>
          <a:prstGeom prst="rect">
            <a:avLst/>
          </a:prstGeom>
          <a:solidFill>
            <a:srgbClr val="1B1B1B"/>
          </a:solidFill>
          <a:ln/>
        </p:spPr>
      </p:sp>
      <p:sp>
        <p:nvSpPr>
          <p:cNvPr id="319" name="Shape 317"/>
          <p:cNvSpPr/>
          <p:nvPr/>
        </p:nvSpPr>
        <p:spPr>
          <a:xfrm>
            <a:off x="1498849" y="5772777"/>
            <a:ext cx="9144" cy="64046"/>
          </a:xfrm>
          <a:custGeom>
            <a:avLst/>
            <a:gdLst/>
            <a:ahLst/>
            <a:cxnLst/>
            <a:rect l="l" t="t" r="r" b="b"/>
            <a:pathLst>
              <a:path w="9144" h="64046">
                <a:moveTo>
                  <a:pt x="4572" y="0"/>
                </a:moveTo>
                <a:lnTo>
                  <a:pt x="4572" y="64046"/>
                </a:lnTo>
              </a:path>
            </a:pathLst>
          </a:custGeom>
          <a:ln w="9525">
            <a:solidFill>
              <a:srgbClr val="1B1B1B"/>
            </a:solidFill>
            <a:prstDash val="solid"/>
          </a:ln>
        </p:spPr>
      </p:sp>
      <p:sp>
        <p:nvSpPr>
          <p:cNvPr id="320" name="Shape 318"/>
          <p:cNvSpPr/>
          <p:nvPr/>
        </p:nvSpPr>
        <p:spPr>
          <a:xfrm>
            <a:off x="1532308" y="5772777"/>
            <a:ext cx="9144" cy="43375"/>
          </a:xfrm>
          <a:custGeom>
            <a:avLst/>
            <a:gdLst/>
            <a:ahLst/>
            <a:cxnLst/>
            <a:rect l="l" t="t" r="r" b="b"/>
            <a:pathLst>
              <a:path w="9144" h="43375">
                <a:moveTo>
                  <a:pt x="4572" y="0"/>
                </a:moveTo>
                <a:lnTo>
                  <a:pt x="4572" y="43375"/>
                </a:lnTo>
              </a:path>
            </a:pathLst>
          </a:custGeom>
          <a:ln w="9525">
            <a:solidFill>
              <a:srgbClr val="1B1B1B"/>
            </a:solidFill>
            <a:prstDash val="solid"/>
          </a:ln>
        </p:spPr>
      </p:sp>
      <p:sp>
        <p:nvSpPr>
          <p:cNvPr id="321" name="Shape 319"/>
          <p:cNvSpPr/>
          <p:nvPr/>
        </p:nvSpPr>
        <p:spPr>
          <a:xfrm>
            <a:off x="1565766" y="5772777"/>
            <a:ext cx="9144" cy="25233"/>
          </a:xfrm>
          <a:custGeom>
            <a:avLst/>
            <a:gdLst/>
            <a:ahLst/>
            <a:cxnLst/>
            <a:rect l="l" t="t" r="r" b="b"/>
            <a:pathLst>
              <a:path w="9144" h="25233">
                <a:moveTo>
                  <a:pt x="4572" y="0"/>
                </a:moveTo>
                <a:lnTo>
                  <a:pt x="4572" y="25233"/>
                </a:lnTo>
              </a:path>
            </a:pathLst>
          </a:custGeom>
          <a:ln w="9525">
            <a:solidFill>
              <a:srgbClr val="1B1B1B"/>
            </a:solidFill>
            <a:prstDash val="solid"/>
          </a:ln>
        </p:spPr>
      </p:sp>
      <p:sp>
        <p:nvSpPr>
          <p:cNvPr id="322" name="Shape 320"/>
          <p:cNvSpPr/>
          <p:nvPr/>
        </p:nvSpPr>
        <p:spPr>
          <a:xfrm>
            <a:off x="2707326" y="6136630"/>
            <a:ext cx="173809" cy="119329"/>
          </a:xfrm>
          <a:prstGeom prst="rect">
            <a:avLst/>
          </a:prstGeom>
          <a:solidFill>
            <a:srgbClr val="1B1B1B"/>
          </a:solidFill>
          <a:ln/>
        </p:spPr>
      </p:sp>
      <p:sp>
        <p:nvSpPr>
          <p:cNvPr id="323" name="Shape 321"/>
          <p:cNvSpPr/>
          <p:nvPr/>
        </p:nvSpPr>
        <p:spPr>
          <a:xfrm>
            <a:off x="1645510" y="5728716"/>
            <a:ext cx="208571" cy="9144"/>
          </a:xfrm>
          <a:custGeom>
            <a:avLst/>
            <a:gdLst/>
            <a:ahLst/>
            <a:cxnLst/>
            <a:rect l="l" t="t" r="r" b="b"/>
            <a:pathLst>
              <a:path w="208571" h="9144">
                <a:moveTo>
                  <a:pt x="0" y="4572"/>
                </a:moveTo>
                <a:lnTo>
                  <a:pt x="208571" y="4572"/>
                </a:lnTo>
              </a:path>
            </a:pathLst>
          </a:custGeom>
          <a:ln w="38100">
            <a:solidFill>
              <a:srgbClr val="C4262E"/>
            </a:solidFill>
            <a:prstDash val="solid"/>
          </a:ln>
        </p:spPr>
      </p:sp>
      <p:sp>
        <p:nvSpPr>
          <p:cNvPr id="324" name="Shape 322"/>
          <p:cNvSpPr/>
          <p:nvPr/>
        </p:nvSpPr>
        <p:spPr>
          <a:xfrm>
            <a:off x="1662891" y="5591876"/>
            <a:ext cx="173809" cy="9144"/>
          </a:xfrm>
          <a:custGeom>
            <a:avLst/>
            <a:gdLst/>
            <a:ahLst/>
            <a:cxnLst/>
            <a:rect l="l" t="t" r="r" b="b"/>
            <a:pathLst>
              <a:path w="173809" h="9144">
                <a:moveTo>
                  <a:pt x="0" y="4572"/>
                </a:moveTo>
                <a:lnTo>
                  <a:pt x="173809" y="4572"/>
                </a:lnTo>
              </a:path>
            </a:pathLst>
          </a:custGeom>
          <a:ln w="19050">
            <a:solidFill>
              <a:srgbClr val="1B1B1B"/>
            </a:solidFill>
            <a:prstDash val="solid"/>
          </a:ln>
        </p:spPr>
      </p:sp>
      <p:sp>
        <p:nvSpPr>
          <p:cNvPr id="325" name="Shape 323"/>
          <p:cNvSpPr/>
          <p:nvPr/>
        </p:nvSpPr>
        <p:spPr>
          <a:xfrm>
            <a:off x="1675700" y="5596448"/>
            <a:ext cx="9144" cy="136840"/>
          </a:xfrm>
          <a:custGeom>
            <a:avLst/>
            <a:gdLst/>
            <a:ahLst/>
            <a:cxnLst/>
            <a:rect l="l" t="t" r="r" b="b"/>
            <a:pathLst>
              <a:path w="9144" h="136840">
                <a:moveTo>
                  <a:pt x="4572" y="0"/>
                </a:moveTo>
                <a:lnTo>
                  <a:pt x="4572" y="136840"/>
                </a:lnTo>
              </a:path>
            </a:pathLst>
          </a:custGeom>
          <a:ln w="9525">
            <a:solidFill>
              <a:srgbClr val="1B1B1B"/>
            </a:solidFill>
            <a:prstDash val="solid"/>
          </a:ln>
        </p:spPr>
      </p:sp>
      <p:sp>
        <p:nvSpPr>
          <p:cNvPr id="326" name="Shape 324"/>
          <p:cNvSpPr/>
          <p:nvPr/>
        </p:nvSpPr>
        <p:spPr>
          <a:xfrm>
            <a:off x="1814748" y="5596448"/>
            <a:ext cx="9144" cy="136840"/>
          </a:xfrm>
          <a:custGeom>
            <a:avLst/>
            <a:gdLst/>
            <a:ahLst/>
            <a:cxnLst/>
            <a:rect l="l" t="t" r="r" b="b"/>
            <a:pathLst>
              <a:path w="9144" h="136840">
                <a:moveTo>
                  <a:pt x="4572" y="0"/>
                </a:moveTo>
                <a:lnTo>
                  <a:pt x="4572" y="136840"/>
                </a:lnTo>
              </a:path>
            </a:pathLst>
          </a:custGeom>
          <a:ln w="9525">
            <a:solidFill>
              <a:srgbClr val="1B1B1B"/>
            </a:solidFill>
            <a:prstDash val="solid"/>
          </a:ln>
        </p:spPr>
      </p:sp>
      <p:sp>
        <p:nvSpPr>
          <p:cNvPr id="327" name="Shape 325"/>
          <p:cNvSpPr/>
          <p:nvPr/>
        </p:nvSpPr>
        <p:spPr>
          <a:xfrm>
            <a:off x="793846" y="6092200"/>
            <a:ext cx="173809" cy="9144"/>
          </a:xfrm>
          <a:custGeom>
            <a:avLst/>
            <a:gdLst/>
            <a:ahLst/>
            <a:cxnLst/>
            <a:rect l="l" t="t" r="r" b="b"/>
            <a:pathLst>
              <a:path w="173809" h="9144">
                <a:moveTo>
                  <a:pt x="0" y="4572"/>
                </a:moveTo>
                <a:lnTo>
                  <a:pt x="173809" y="4572"/>
                </a:lnTo>
              </a:path>
            </a:pathLst>
          </a:custGeom>
          <a:ln w="19050">
            <a:solidFill>
              <a:srgbClr val="C4262E"/>
            </a:solidFill>
            <a:prstDash val="solid"/>
          </a:ln>
        </p:spPr>
      </p:sp>
      <p:sp>
        <p:nvSpPr>
          <p:cNvPr id="328" name="Shape 326"/>
          <p:cNvSpPr/>
          <p:nvPr/>
        </p:nvSpPr>
        <p:spPr>
          <a:xfrm>
            <a:off x="1124083" y="5776852"/>
            <a:ext cx="112976" cy="9144"/>
          </a:xfrm>
          <a:custGeom>
            <a:avLst/>
            <a:gdLst/>
            <a:ahLst/>
            <a:cxnLst/>
            <a:rect l="l" t="t" r="r" b="b"/>
            <a:pathLst>
              <a:path w="112976" h="9144">
                <a:moveTo>
                  <a:pt x="0" y="4572"/>
                </a:moveTo>
                <a:lnTo>
                  <a:pt x="112976" y="4572"/>
                </a:lnTo>
              </a:path>
            </a:pathLst>
          </a:custGeom>
          <a:ln w="19050">
            <a:solidFill>
              <a:srgbClr val="C4262E"/>
            </a:solidFill>
            <a:prstDash val="solid"/>
          </a:ln>
        </p:spPr>
      </p:sp>
      <p:sp>
        <p:nvSpPr>
          <p:cNvPr id="329" name="Shape 327"/>
          <p:cNvSpPr/>
          <p:nvPr/>
        </p:nvSpPr>
        <p:spPr>
          <a:xfrm>
            <a:off x="1315273" y="5618194"/>
            <a:ext cx="104285" cy="9144"/>
          </a:xfrm>
          <a:custGeom>
            <a:avLst/>
            <a:gdLst/>
            <a:ahLst/>
            <a:cxnLst/>
            <a:rect l="l" t="t" r="r" b="b"/>
            <a:pathLst>
              <a:path w="104285" h="9144">
                <a:moveTo>
                  <a:pt x="0" y="4572"/>
                </a:moveTo>
                <a:lnTo>
                  <a:pt x="104285" y="4572"/>
                </a:lnTo>
              </a:path>
            </a:pathLst>
          </a:custGeom>
          <a:ln w="19050">
            <a:solidFill>
              <a:srgbClr val="C4262E"/>
            </a:solidFill>
            <a:prstDash val="solid"/>
          </a:ln>
        </p:spPr>
      </p:sp>
      <p:sp>
        <p:nvSpPr>
          <p:cNvPr id="330" name="Shape 328"/>
          <p:cNvSpPr/>
          <p:nvPr/>
        </p:nvSpPr>
        <p:spPr>
          <a:xfrm>
            <a:off x="1489082" y="5511258"/>
            <a:ext cx="95595" cy="9144"/>
          </a:xfrm>
          <a:custGeom>
            <a:avLst/>
            <a:gdLst/>
            <a:ahLst/>
            <a:cxnLst/>
            <a:rect l="l" t="t" r="r" b="b"/>
            <a:pathLst>
              <a:path w="95595" h="9144">
                <a:moveTo>
                  <a:pt x="0" y="4572"/>
                </a:moveTo>
                <a:lnTo>
                  <a:pt x="95595" y="4572"/>
                </a:lnTo>
              </a:path>
            </a:pathLst>
          </a:custGeom>
          <a:ln w="19050">
            <a:solidFill>
              <a:srgbClr val="C4262E"/>
            </a:solidFill>
            <a:prstDash val="solid"/>
          </a:ln>
        </p:spPr>
      </p:sp>
      <p:sp>
        <p:nvSpPr>
          <p:cNvPr id="331" name="Text 329"/>
          <p:cNvSpPr txBox="1"/>
          <p:nvPr/>
        </p:nvSpPr>
        <p:spPr>
          <a:xfrm>
            <a:off x="2319650" y="5687568"/>
            <a:ext cx="914400" cy="146304"/>
          </a:xfrm>
          <a:prstGeom prst="rect">
            <a:avLst/>
          </a:prstGeom>
          <a:noFill/>
          <a:ln/>
        </p:spPr>
        <p:txBody>
          <a:bodyPr wrap="square" lIns="0" tIns="0" rIns="0" bIns="0" rtlCol="0" anchor="ctr"/>
          <a:lstStyle/>
          <a:p>
            <a:pPr algn="ctr" indent="0" marL="0">
              <a:buNone/>
            </a:pPr>
            <a:r>
              <a:rPr lang="en-US" sz="550" dirty="0">
                <a:solidFill>
                  <a:srgbClr val="C4262E"/>
                </a:solidFill>
                <a:latin typeface="Arial" pitchFamily="34" charset="0"/>
                <a:ea typeface="Arial" pitchFamily="34" charset="-122"/>
                <a:cs typeface="Arial" pitchFamily="34" charset="-120"/>
              </a:rPr>
              <a:t>roofs = landings</a:t>
            </a:r>
            <a:endParaRPr lang="en-US" sz="550" dirty="0"/>
          </a:p>
        </p:txBody>
      </p:sp>
      <p:sp>
        <p:nvSpPr>
          <p:cNvPr id="332" name="Shape 330"/>
          <p:cNvSpPr/>
          <p:nvPr/>
        </p:nvSpPr>
        <p:spPr>
          <a:xfrm>
            <a:off x="3291840" y="4709160"/>
            <a:ext cx="5303520" cy="1874520"/>
          </a:xfrm>
          <a:prstGeom prst="rect">
            <a:avLst/>
          </a:prstGeom>
          <a:solidFill>
            <a:srgbClr val="FFFFFF"/>
          </a:solidFill>
          <a:ln w="6350">
            <a:solidFill>
              <a:srgbClr val="D9D9D9"/>
            </a:solidFill>
            <a:prstDash val="solid"/>
          </a:ln>
        </p:spPr>
      </p:sp>
      <p:sp>
        <p:nvSpPr>
          <p:cNvPr id="333" name="Text 331"/>
          <p:cNvSpPr txBox="1"/>
          <p:nvPr/>
        </p:nvSpPr>
        <p:spPr>
          <a:xfrm>
            <a:off x="3364992" y="4764024"/>
            <a:ext cx="5157216"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07  </a:t>
            </a:r>
            <a:pPr indent="0" marL="0">
              <a:buNone/>
            </a:pPr>
            <a:r>
              <a:rPr lang="en-US" sz="650" b="1" spc="50" kern="0" dirty="0">
                <a:solidFill>
                  <a:srgbClr val="1B1B1B"/>
                </a:solidFill>
                <a:latin typeface="Arial" pitchFamily="34" charset="0"/>
                <a:ea typeface="Arial" pitchFamily="34" charset="-122"/>
                <a:cs typeface="Arial" pitchFamily="34" charset="-120"/>
              </a:rPr>
              <a:t>SECTION</a:t>
            </a:r>
            <a:endParaRPr lang="en-US" sz="650" dirty="0"/>
          </a:p>
        </p:txBody>
      </p:sp>
      <p:sp>
        <p:nvSpPr>
          <p:cNvPr id="334" name="Shape 332"/>
          <p:cNvSpPr/>
          <p:nvPr/>
        </p:nvSpPr>
        <p:spPr>
          <a:xfrm>
            <a:off x="3346704" y="5751690"/>
            <a:ext cx="5193792" cy="795414"/>
          </a:xfrm>
          <a:custGeom>
            <a:avLst/>
            <a:gdLst/>
            <a:ahLst/>
            <a:cxnLst/>
            <a:rect l="l" t="t" r="r" b="b"/>
            <a:pathLst>
              <a:path w="5193792" h="795414">
                <a:moveTo>
                  <a:pt x="0" y="540845"/>
                </a:moveTo>
                <a:lnTo>
                  <a:pt x="86563" y="540845"/>
                </a:lnTo>
                <a:lnTo>
                  <a:pt x="173126" y="540845"/>
                </a:lnTo>
                <a:lnTo>
                  <a:pt x="259690" y="540845"/>
                </a:lnTo>
                <a:lnTo>
                  <a:pt x="346253" y="540845"/>
                </a:lnTo>
                <a:lnTo>
                  <a:pt x="432816" y="540845"/>
                </a:lnTo>
                <a:lnTo>
                  <a:pt x="519379" y="540845"/>
                </a:lnTo>
                <a:lnTo>
                  <a:pt x="605942" y="540387"/>
                </a:lnTo>
                <a:lnTo>
                  <a:pt x="692506" y="535257"/>
                </a:lnTo>
                <a:lnTo>
                  <a:pt x="779069" y="524533"/>
                </a:lnTo>
                <a:lnTo>
                  <a:pt x="865632" y="508442"/>
                </a:lnTo>
                <a:lnTo>
                  <a:pt x="952195" y="487323"/>
                </a:lnTo>
                <a:lnTo>
                  <a:pt x="1038758" y="461623"/>
                </a:lnTo>
                <a:lnTo>
                  <a:pt x="1125322" y="431884"/>
                </a:lnTo>
                <a:lnTo>
                  <a:pt x="1211885" y="398735"/>
                </a:lnTo>
                <a:lnTo>
                  <a:pt x="1298448" y="362875"/>
                </a:lnTo>
                <a:lnTo>
                  <a:pt x="1385011" y="325061"/>
                </a:lnTo>
                <a:lnTo>
                  <a:pt x="1471574" y="286092"/>
                </a:lnTo>
                <a:lnTo>
                  <a:pt x="1558138" y="246791"/>
                </a:lnTo>
                <a:lnTo>
                  <a:pt x="1644701" y="207988"/>
                </a:lnTo>
                <a:lnTo>
                  <a:pt x="1731264" y="170502"/>
                </a:lnTo>
                <a:lnTo>
                  <a:pt x="1817827" y="135125"/>
                </a:lnTo>
                <a:lnTo>
                  <a:pt x="1904390" y="102604"/>
                </a:lnTo>
                <a:lnTo>
                  <a:pt x="1990954" y="73625"/>
                </a:lnTo>
                <a:lnTo>
                  <a:pt x="2077517" y="48801"/>
                </a:lnTo>
                <a:lnTo>
                  <a:pt x="2164080" y="28656"/>
                </a:lnTo>
                <a:lnTo>
                  <a:pt x="2250643" y="13614"/>
                </a:lnTo>
                <a:lnTo>
                  <a:pt x="2337206" y="3995"/>
                </a:lnTo>
                <a:lnTo>
                  <a:pt x="2423770" y="0"/>
                </a:lnTo>
                <a:lnTo>
                  <a:pt x="2510333" y="1714"/>
                </a:lnTo>
                <a:lnTo>
                  <a:pt x="2596896" y="9102"/>
                </a:lnTo>
                <a:lnTo>
                  <a:pt x="2683459" y="22006"/>
                </a:lnTo>
                <a:lnTo>
                  <a:pt x="2770022" y="40155"/>
                </a:lnTo>
                <a:lnTo>
                  <a:pt x="2856586" y="63166"/>
                </a:lnTo>
                <a:lnTo>
                  <a:pt x="2943149" y="90551"/>
                </a:lnTo>
                <a:lnTo>
                  <a:pt x="3029712" y="121734"/>
                </a:lnTo>
                <a:lnTo>
                  <a:pt x="3116275" y="156056"/>
                </a:lnTo>
                <a:lnTo>
                  <a:pt x="3202838" y="192791"/>
                </a:lnTo>
                <a:lnTo>
                  <a:pt x="3289402" y="231164"/>
                </a:lnTo>
                <a:lnTo>
                  <a:pt x="3375965" y="270365"/>
                </a:lnTo>
                <a:lnTo>
                  <a:pt x="3462528" y="309566"/>
                </a:lnTo>
                <a:lnTo>
                  <a:pt x="3549091" y="347939"/>
                </a:lnTo>
                <a:lnTo>
                  <a:pt x="3635654" y="384675"/>
                </a:lnTo>
                <a:lnTo>
                  <a:pt x="3722218" y="418996"/>
                </a:lnTo>
                <a:lnTo>
                  <a:pt x="3808781" y="450179"/>
                </a:lnTo>
                <a:lnTo>
                  <a:pt x="3895344" y="477564"/>
                </a:lnTo>
                <a:lnTo>
                  <a:pt x="3981907" y="500575"/>
                </a:lnTo>
                <a:lnTo>
                  <a:pt x="4068470" y="518724"/>
                </a:lnTo>
                <a:lnTo>
                  <a:pt x="4155034" y="531628"/>
                </a:lnTo>
                <a:lnTo>
                  <a:pt x="4241597" y="539016"/>
                </a:lnTo>
                <a:lnTo>
                  <a:pt x="4328160" y="540845"/>
                </a:lnTo>
                <a:lnTo>
                  <a:pt x="4414723" y="540845"/>
                </a:lnTo>
                <a:lnTo>
                  <a:pt x="4501286" y="540845"/>
                </a:lnTo>
                <a:lnTo>
                  <a:pt x="4587850" y="540845"/>
                </a:lnTo>
                <a:lnTo>
                  <a:pt x="4674413" y="540845"/>
                </a:lnTo>
                <a:lnTo>
                  <a:pt x="4760976" y="540845"/>
                </a:lnTo>
                <a:lnTo>
                  <a:pt x="4847539" y="540845"/>
                </a:lnTo>
                <a:lnTo>
                  <a:pt x="4934102" y="540845"/>
                </a:lnTo>
                <a:lnTo>
                  <a:pt x="5020666" y="540845"/>
                </a:lnTo>
                <a:lnTo>
                  <a:pt x="5107229" y="540845"/>
                </a:lnTo>
                <a:lnTo>
                  <a:pt x="5193792" y="540845"/>
                </a:lnTo>
                <a:lnTo>
                  <a:pt x="5193792" y="795414"/>
                </a:lnTo>
                <a:lnTo>
                  <a:pt x="0" y="795414"/>
                </a:lnTo>
                <a:close/>
              </a:path>
            </a:pathLst>
          </a:custGeom>
          <a:solidFill>
            <a:srgbClr val="E3ECDC"/>
          </a:solidFill>
          <a:ln w="12700"/>
        </p:spPr>
      </p:sp>
      <p:sp>
        <p:nvSpPr>
          <p:cNvPr id="335" name="Shape 333"/>
          <p:cNvSpPr/>
          <p:nvPr/>
        </p:nvSpPr>
        <p:spPr>
          <a:xfrm>
            <a:off x="3346704" y="5751690"/>
            <a:ext cx="5193792" cy="540845"/>
          </a:xfrm>
          <a:custGeom>
            <a:avLst/>
            <a:gdLst/>
            <a:ahLst/>
            <a:cxnLst/>
            <a:rect l="l" t="t" r="r" b="b"/>
            <a:pathLst>
              <a:path w="5193792" h="540845">
                <a:moveTo>
                  <a:pt x="0" y="540845"/>
                </a:moveTo>
                <a:lnTo>
                  <a:pt x="86563" y="540845"/>
                </a:lnTo>
                <a:lnTo>
                  <a:pt x="173126" y="540845"/>
                </a:lnTo>
                <a:lnTo>
                  <a:pt x="259690" y="540845"/>
                </a:lnTo>
                <a:lnTo>
                  <a:pt x="346253" y="540845"/>
                </a:lnTo>
                <a:lnTo>
                  <a:pt x="432816" y="540845"/>
                </a:lnTo>
                <a:lnTo>
                  <a:pt x="519379" y="540845"/>
                </a:lnTo>
                <a:lnTo>
                  <a:pt x="605942" y="540387"/>
                </a:lnTo>
                <a:lnTo>
                  <a:pt x="692506" y="535257"/>
                </a:lnTo>
                <a:lnTo>
                  <a:pt x="779069" y="524533"/>
                </a:lnTo>
                <a:lnTo>
                  <a:pt x="865632" y="508442"/>
                </a:lnTo>
                <a:lnTo>
                  <a:pt x="952195" y="487323"/>
                </a:lnTo>
                <a:lnTo>
                  <a:pt x="1038758" y="461623"/>
                </a:lnTo>
                <a:lnTo>
                  <a:pt x="1125322" y="431884"/>
                </a:lnTo>
                <a:lnTo>
                  <a:pt x="1211885" y="398735"/>
                </a:lnTo>
                <a:lnTo>
                  <a:pt x="1298448" y="362875"/>
                </a:lnTo>
                <a:lnTo>
                  <a:pt x="1385011" y="325061"/>
                </a:lnTo>
                <a:lnTo>
                  <a:pt x="1471574" y="286092"/>
                </a:lnTo>
                <a:lnTo>
                  <a:pt x="1558138" y="246791"/>
                </a:lnTo>
                <a:lnTo>
                  <a:pt x="1644701" y="207988"/>
                </a:lnTo>
                <a:lnTo>
                  <a:pt x="1731264" y="170502"/>
                </a:lnTo>
                <a:lnTo>
                  <a:pt x="1817827" y="135125"/>
                </a:lnTo>
                <a:lnTo>
                  <a:pt x="1904390" y="102604"/>
                </a:lnTo>
                <a:lnTo>
                  <a:pt x="1990954" y="73625"/>
                </a:lnTo>
                <a:lnTo>
                  <a:pt x="2077517" y="48801"/>
                </a:lnTo>
                <a:lnTo>
                  <a:pt x="2164080" y="28656"/>
                </a:lnTo>
                <a:lnTo>
                  <a:pt x="2250643" y="13614"/>
                </a:lnTo>
                <a:lnTo>
                  <a:pt x="2337206" y="3995"/>
                </a:lnTo>
                <a:lnTo>
                  <a:pt x="2423770" y="0"/>
                </a:lnTo>
                <a:lnTo>
                  <a:pt x="2510333" y="1714"/>
                </a:lnTo>
                <a:lnTo>
                  <a:pt x="2596896" y="9102"/>
                </a:lnTo>
                <a:lnTo>
                  <a:pt x="2683459" y="22006"/>
                </a:lnTo>
                <a:lnTo>
                  <a:pt x="2770022" y="40155"/>
                </a:lnTo>
                <a:lnTo>
                  <a:pt x="2856586" y="63166"/>
                </a:lnTo>
                <a:lnTo>
                  <a:pt x="2943149" y="90551"/>
                </a:lnTo>
                <a:lnTo>
                  <a:pt x="3029712" y="121734"/>
                </a:lnTo>
                <a:lnTo>
                  <a:pt x="3116275" y="156056"/>
                </a:lnTo>
                <a:lnTo>
                  <a:pt x="3202838" y="192791"/>
                </a:lnTo>
                <a:lnTo>
                  <a:pt x="3289402" y="231164"/>
                </a:lnTo>
                <a:lnTo>
                  <a:pt x="3375965" y="270365"/>
                </a:lnTo>
                <a:lnTo>
                  <a:pt x="3462528" y="309566"/>
                </a:lnTo>
                <a:lnTo>
                  <a:pt x="3549091" y="347939"/>
                </a:lnTo>
                <a:lnTo>
                  <a:pt x="3635654" y="384675"/>
                </a:lnTo>
                <a:lnTo>
                  <a:pt x="3722218" y="418996"/>
                </a:lnTo>
                <a:lnTo>
                  <a:pt x="3808781" y="450179"/>
                </a:lnTo>
                <a:lnTo>
                  <a:pt x="3895344" y="477564"/>
                </a:lnTo>
                <a:lnTo>
                  <a:pt x="3981907" y="500575"/>
                </a:lnTo>
                <a:lnTo>
                  <a:pt x="4068470" y="518724"/>
                </a:lnTo>
                <a:lnTo>
                  <a:pt x="4155034" y="531628"/>
                </a:lnTo>
                <a:lnTo>
                  <a:pt x="4241597" y="539016"/>
                </a:lnTo>
                <a:lnTo>
                  <a:pt x="4328160" y="540845"/>
                </a:lnTo>
                <a:lnTo>
                  <a:pt x="4414723" y="540845"/>
                </a:lnTo>
                <a:lnTo>
                  <a:pt x="4501286" y="540845"/>
                </a:lnTo>
                <a:lnTo>
                  <a:pt x="4587850" y="540845"/>
                </a:lnTo>
                <a:lnTo>
                  <a:pt x="4674413" y="540845"/>
                </a:lnTo>
                <a:lnTo>
                  <a:pt x="4760976" y="540845"/>
                </a:lnTo>
                <a:lnTo>
                  <a:pt x="4847539" y="540845"/>
                </a:lnTo>
                <a:lnTo>
                  <a:pt x="4934102" y="540845"/>
                </a:lnTo>
                <a:lnTo>
                  <a:pt x="5020666" y="540845"/>
                </a:lnTo>
                <a:lnTo>
                  <a:pt x="5107229" y="540845"/>
                </a:lnTo>
                <a:lnTo>
                  <a:pt x="5193792" y="540845"/>
                </a:lnTo>
              </a:path>
            </a:pathLst>
          </a:custGeom>
          <a:ln w="15875">
            <a:solidFill>
              <a:srgbClr val="1B1B1B"/>
            </a:solidFill>
            <a:prstDash val="solid"/>
          </a:ln>
        </p:spPr>
      </p:sp>
      <p:sp>
        <p:nvSpPr>
          <p:cNvPr id="336" name="Text 334"/>
          <p:cNvSpPr txBox="1"/>
          <p:nvPr/>
        </p:nvSpPr>
        <p:spPr>
          <a:xfrm>
            <a:off x="3429732" y="6301679"/>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337" name="Text 335"/>
          <p:cNvSpPr txBox="1"/>
          <p:nvPr/>
        </p:nvSpPr>
        <p:spPr>
          <a:xfrm>
            <a:off x="8000268" y="6301679"/>
            <a:ext cx="457200" cy="146304"/>
          </a:xfrm>
          <a:prstGeom prst="rect">
            <a:avLst/>
          </a:prstGeom>
          <a:noFill/>
          <a:ln/>
        </p:spPr>
        <p:txBody>
          <a:bodyPr wrap="square" lIns="0" tIns="0" rIns="0" bIns="0" rtlCol="0" anchor="ctr"/>
          <a:lstStyle/>
          <a:p>
            <a:pPr algn="ctr" indent="0" marL="0">
              <a:buNone/>
            </a:pPr>
            <a:r>
              <a:rPr lang="en-US" sz="550" dirty="0">
                <a:solidFill>
                  <a:srgbClr val="6B6B6B"/>
                </a:solidFill>
                <a:latin typeface="Arial" pitchFamily="34" charset="0"/>
                <a:ea typeface="Arial" pitchFamily="34" charset="-122"/>
                <a:cs typeface="Arial" pitchFamily="34" charset="-120"/>
              </a:rPr>
              <a:t>ROAD</a:t>
            </a:r>
            <a:endParaRPr lang="en-US" sz="550" dirty="0"/>
          </a:p>
        </p:txBody>
      </p:sp>
      <p:sp>
        <p:nvSpPr>
          <p:cNvPr id="338" name="Shape 336"/>
          <p:cNvSpPr/>
          <p:nvPr/>
        </p:nvSpPr>
        <p:spPr>
          <a:xfrm>
            <a:off x="4380890" y="6048721"/>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339" name="Shape 337"/>
          <p:cNvSpPr/>
          <p:nvPr/>
        </p:nvSpPr>
        <p:spPr>
          <a:xfrm>
            <a:off x="4330598" y="5957281"/>
            <a:ext cx="109728" cy="109728"/>
          </a:xfrm>
          <a:prstGeom prst="ellipse">
            <a:avLst/>
          </a:prstGeom>
          <a:solidFill>
            <a:srgbClr val="FFFFFF"/>
          </a:solidFill>
          <a:ln w="7620">
            <a:solidFill>
              <a:srgbClr val="4F7A43"/>
            </a:solidFill>
            <a:prstDash val="solid"/>
          </a:ln>
        </p:spPr>
      </p:sp>
      <p:sp>
        <p:nvSpPr>
          <p:cNvPr id="340" name="Shape 338"/>
          <p:cNvSpPr/>
          <p:nvPr/>
        </p:nvSpPr>
        <p:spPr>
          <a:xfrm>
            <a:off x="4796394" y="5881037"/>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341" name="Shape 339"/>
          <p:cNvSpPr/>
          <p:nvPr/>
        </p:nvSpPr>
        <p:spPr>
          <a:xfrm>
            <a:off x="4746102" y="5789597"/>
            <a:ext cx="109728" cy="109728"/>
          </a:xfrm>
          <a:prstGeom prst="ellipse">
            <a:avLst/>
          </a:prstGeom>
          <a:solidFill>
            <a:srgbClr val="FFFFFF"/>
          </a:solidFill>
          <a:ln w="7620">
            <a:solidFill>
              <a:srgbClr val="4F7A43"/>
            </a:solidFill>
            <a:prstDash val="solid"/>
          </a:ln>
        </p:spPr>
      </p:sp>
      <p:sp>
        <p:nvSpPr>
          <p:cNvPr id="342" name="Shape 340"/>
          <p:cNvSpPr/>
          <p:nvPr/>
        </p:nvSpPr>
        <p:spPr>
          <a:xfrm>
            <a:off x="7081662" y="6012604"/>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343" name="Shape 341"/>
          <p:cNvSpPr/>
          <p:nvPr/>
        </p:nvSpPr>
        <p:spPr>
          <a:xfrm>
            <a:off x="7031370" y="5921164"/>
            <a:ext cx="109728" cy="109728"/>
          </a:xfrm>
          <a:prstGeom prst="ellipse">
            <a:avLst/>
          </a:prstGeom>
          <a:solidFill>
            <a:srgbClr val="FFFFFF"/>
          </a:solidFill>
          <a:ln w="7620">
            <a:solidFill>
              <a:srgbClr val="4F7A43"/>
            </a:solidFill>
            <a:prstDash val="solid"/>
          </a:ln>
        </p:spPr>
      </p:sp>
      <p:sp>
        <p:nvSpPr>
          <p:cNvPr id="344" name="Shape 342"/>
          <p:cNvSpPr/>
          <p:nvPr/>
        </p:nvSpPr>
        <p:spPr>
          <a:xfrm>
            <a:off x="7497166" y="6118727"/>
            <a:ext cx="9144" cy="164592"/>
          </a:xfrm>
          <a:custGeom>
            <a:avLst/>
            <a:gdLst/>
            <a:ahLst/>
            <a:cxnLst/>
            <a:rect l="l" t="t" r="r" b="b"/>
            <a:pathLst>
              <a:path w="9144" h="164592">
                <a:moveTo>
                  <a:pt x="4572" y="164592"/>
                </a:moveTo>
                <a:lnTo>
                  <a:pt x="4572" y="0"/>
                </a:lnTo>
              </a:path>
            </a:pathLst>
          </a:custGeom>
          <a:ln w="9525">
            <a:solidFill>
              <a:srgbClr val="4F7A43"/>
            </a:solidFill>
            <a:prstDash val="solid"/>
          </a:ln>
        </p:spPr>
      </p:sp>
      <p:sp>
        <p:nvSpPr>
          <p:cNvPr id="345" name="Shape 343"/>
          <p:cNvSpPr/>
          <p:nvPr/>
        </p:nvSpPr>
        <p:spPr>
          <a:xfrm>
            <a:off x="7446874" y="6027287"/>
            <a:ext cx="109728" cy="109728"/>
          </a:xfrm>
          <a:prstGeom prst="ellipse">
            <a:avLst/>
          </a:prstGeom>
          <a:solidFill>
            <a:srgbClr val="FFFFFF"/>
          </a:solidFill>
          <a:ln w="7620">
            <a:solidFill>
              <a:srgbClr val="4F7A43"/>
            </a:solidFill>
            <a:prstDash val="solid"/>
          </a:ln>
        </p:spPr>
      </p:sp>
      <p:sp>
        <p:nvSpPr>
          <p:cNvPr id="346" name="Shape 344"/>
          <p:cNvSpPr/>
          <p:nvPr/>
        </p:nvSpPr>
        <p:spPr>
          <a:xfrm>
            <a:off x="3902440" y="6138926"/>
            <a:ext cx="342790" cy="95463"/>
          </a:xfrm>
          <a:prstGeom prst="rect">
            <a:avLst/>
          </a:prstGeom>
          <a:solidFill>
            <a:srgbClr val="C4262E"/>
          </a:solidFill>
          <a:ln/>
        </p:spPr>
      </p:sp>
      <p:sp>
        <p:nvSpPr>
          <p:cNvPr id="347" name="Shape 345"/>
          <p:cNvSpPr/>
          <p:nvPr/>
        </p:nvSpPr>
        <p:spPr>
          <a:xfrm>
            <a:off x="3996111" y="5933186"/>
            <a:ext cx="155448" cy="155448"/>
          </a:xfrm>
          <a:prstGeom prst="ellipse">
            <a:avLst/>
          </a:prstGeom>
          <a:solidFill>
            <a:srgbClr val="FFFFFF"/>
          </a:solidFill>
          <a:ln w="9525">
            <a:solidFill>
              <a:srgbClr val="1B1B1B"/>
            </a:solidFill>
            <a:prstDash val="solid"/>
          </a:ln>
        </p:spPr>
      </p:sp>
      <p:sp>
        <p:nvSpPr>
          <p:cNvPr id="348" name="Text 346"/>
          <p:cNvSpPr txBox="1"/>
          <p:nvPr/>
        </p:nvSpPr>
        <p:spPr>
          <a:xfrm>
            <a:off x="3996111" y="5933186"/>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1</a:t>
            </a:r>
            <a:endParaRPr lang="en-US" sz="600" dirty="0"/>
          </a:p>
        </p:txBody>
      </p:sp>
      <p:sp>
        <p:nvSpPr>
          <p:cNvPr id="349" name="Shape 347"/>
          <p:cNvSpPr/>
          <p:nvPr/>
        </p:nvSpPr>
        <p:spPr>
          <a:xfrm>
            <a:off x="4553741" y="5847443"/>
            <a:ext cx="222814" cy="190927"/>
          </a:xfrm>
          <a:prstGeom prst="rect">
            <a:avLst/>
          </a:prstGeom>
          <a:solidFill>
            <a:srgbClr val="F0B9BC"/>
          </a:solidFill>
          <a:ln w="6350">
            <a:solidFill>
              <a:srgbClr val="1B1B1B"/>
            </a:solidFill>
            <a:prstDash val="solid"/>
          </a:ln>
        </p:spPr>
      </p:sp>
      <p:sp>
        <p:nvSpPr>
          <p:cNvPr id="350" name="Shape 348"/>
          <p:cNvSpPr/>
          <p:nvPr/>
        </p:nvSpPr>
        <p:spPr>
          <a:xfrm>
            <a:off x="4582591" y="6038370"/>
            <a:ext cx="9144" cy="100481"/>
          </a:xfrm>
          <a:custGeom>
            <a:avLst/>
            <a:gdLst/>
            <a:ahLst/>
            <a:cxnLst/>
            <a:rect l="l" t="t" r="r" b="b"/>
            <a:pathLst>
              <a:path w="9144" h="100481">
                <a:moveTo>
                  <a:pt x="4572" y="0"/>
                </a:moveTo>
                <a:lnTo>
                  <a:pt x="4572" y="100481"/>
                </a:lnTo>
              </a:path>
            </a:pathLst>
          </a:custGeom>
          <a:ln w="9525">
            <a:solidFill>
              <a:srgbClr val="1B1B1B"/>
            </a:solidFill>
            <a:prstDash val="solid"/>
          </a:ln>
        </p:spPr>
      </p:sp>
      <p:sp>
        <p:nvSpPr>
          <p:cNvPr id="351" name="Shape 349"/>
          <p:cNvSpPr/>
          <p:nvPr/>
        </p:nvSpPr>
        <p:spPr>
          <a:xfrm>
            <a:off x="4660576" y="6038370"/>
            <a:ext cx="9144" cy="67605"/>
          </a:xfrm>
          <a:custGeom>
            <a:avLst/>
            <a:gdLst/>
            <a:ahLst/>
            <a:cxnLst/>
            <a:rect l="l" t="t" r="r" b="b"/>
            <a:pathLst>
              <a:path w="9144" h="67605">
                <a:moveTo>
                  <a:pt x="4572" y="0"/>
                </a:moveTo>
                <a:lnTo>
                  <a:pt x="4572" y="67605"/>
                </a:lnTo>
              </a:path>
            </a:pathLst>
          </a:custGeom>
          <a:ln w="9525">
            <a:solidFill>
              <a:srgbClr val="1B1B1B"/>
            </a:solidFill>
            <a:prstDash val="solid"/>
          </a:ln>
        </p:spPr>
      </p:sp>
      <p:sp>
        <p:nvSpPr>
          <p:cNvPr id="352" name="Shape 350"/>
          <p:cNvSpPr/>
          <p:nvPr/>
        </p:nvSpPr>
        <p:spPr>
          <a:xfrm>
            <a:off x="4738561" y="6038370"/>
            <a:ext cx="9144" cy="33290"/>
          </a:xfrm>
          <a:custGeom>
            <a:avLst/>
            <a:gdLst/>
            <a:ahLst/>
            <a:cxnLst/>
            <a:rect l="l" t="t" r="r" b="b"/>
            <a:pathLst>
              <a:path w="9144" h="33290">
                <a:moveTo>
                  <a:pt x="4572" y="0"/>
                </a:moveTo>
                <a:lnTo>
                  <a:pt x="4572" y="33290"/>
                </a:lnTo>
              </a:path>
            </a:pathLst>
          </a:custGeom>
          <a:ln w="9525">
            <a:solidFill>
              <a:srgbClr val="1B1B1B"/>
            </a:solidFill>
            <a:prstDash val="solid"/>
          </a:ln>
        </p:spPr>
      </p:sp>
      <p:sp>
        <p:nvSpPr>
          <p:cNvPr id="353" name="Shape 351"/>
          <p:cNvSpPr/>
          <p:nvPr/>
        </p:nvSpPr>
        <p:spPr>
          <a:xfrm>
            <a:off x="4587424" y="5641703"/>
            <a:ext cx="155448" cy="155448"/>
          </a:xfrm>
          <a:prstGeom prst="ellipse">
            <a:avLst/>
          </a:prstGeom>
          <a:solidFill>
            <a:srgbClr val="FFFFFF"/>
          </a:solidFill>
          <a:ln w="9525">
            <a:solidFill>
              <a:srgbClr val="1B1B1B"/>
            </a:solidFill>
            <a:prstDash val="solid"/>
          </a:ln>
        </p:spPr>
      </p:sp>
      <p:sp>
        <p:nvSpPr>
          <p:cNvPr id="354" name="Text 352"/>
          <p:cNvSpPr txBox="1"/>
          <p:nvPr/>
        </p:nvSpPr>
        <p:spPr>
          <a:xfrm>
            <a:off x="4587424" y="5641703"/>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2</a:t>
            </a:r>
            <a:endParaRPr lang="en-US" sz="600" dirty="0"/>
          </a:p>
        </p:txBody>
      </p:sp>
      <p:sp>
        <p:nvSpPr>
          <p:cNvPr id="355" name="Shape 353"/>
          <p:cNvSpPr/>
          <p:nvPr/>
        </p:nvSpPr>
        <p:spPr>
          <a:xfrm>
            <a:off x="4930811" y="5688785"/>
            <a:ext cx="205674" cy="190927"/>
          </a:xfrm>
          <a:prstGeom prst="rect">
            <a:avLst/>
          </a:prstGeom>
          <a:solidFill>
            <a:srgbClr val="1B1B1B"/>
          </a:solidFill>
          <a:ln/>
        </p:spPr>
      </p:sp>
      <p:sp>
        <p:nvSpPr>
          <p:cNvPr id="356" name="Shape 354"/>
          <p:cNvSpPr/>
          <p:nvPr/>
        </p:nvSpPr>
        <p:spPr>
          <a:xfrm>
            <a:off x="4957090" y="5879712"/>
            <a:ext cx="9144" cy="93192"/>
          </a:xfrm>
          <a:custGeom>
            <a:avLst/>
            <a:gdLst/>
            <a:ahLst/>
            <a:cxnLst/>
            <a:rect l="l" t="t" r="r" b="b"/>
            <a:pathLst>
              <a:path w="9144" h="93192">
                <a:moveTo>
                  <a:pt x="4572" y="0"/>
                </a:moveTo>
                <a:lnTo>
                  <a:pt x="4572" y="93192"/>
                </a:lnTo>
              </a:path>
            </a:pathLst>
          </a:custGeom>
          <a:ln w="9525">
            <a:solidFill>
              <a:srgbClr val="1B1B1B"/>
            </a:solidFill>
            <a:prstDash val="solid"/>
          </a:ln>
        </p:spPr>
      </p:sp>
      <p:sp>
        <p:nvSpPr>
          <p:cNvPr id="357" name="Shape 355"/>
          <p:cNvSpPr/>
          <p:nvPr/>
        </p:nvSpPr>
        <p:spPr>
          <a:xfrm>
            <a:off x="5029076" y="5879712"/>
            <a:ext cx="9144" cy="61459"/>
          </a:xfrm>
          <a:custGeom>
            <a:avLst/>
            <a:gdLst/>
            <a:ahLst/>
            <a:cxnLst/>
            <a:rect l="l" t="t" r="r" b="b"/>
            <a:pathLst>
              <a:path w="9144" h="61459">
                <a:moveTo>
                  <a:pt x="4572" y="0"/>
                </a:moveTo>
                <a:lnTo>
                  <a:pt x="4572" y="61459"/>
                </a:lnTo>
              </a:path>
            </a:pathLst>
          </a:custGeom>
          <a:ln w="9525">
            <a:solidFill>
              <a:srgbClr val="1B1B1B"/>
            </a:solidFill>
            <a:prstDash val="solid"/>
          </a:ln>
        </p:spPr>
      </p:sp>
      <p:sp>
        <p:nvSpPr>
          <p:cNvPr id="358" name="Shape 356"/>
          <p:cNvSpPr/>
          <p:nvPr/>
        </p:nvSpPr>
        <p:spPr>
          <a:xfrm>
            <a:off x="5101062" y="5879712"/>
            <a:ext cx="9144" cy="30908"/>
          </a:xfrm>
          <a:custGeom>
            <a:avLst/>
            <a:gdLst/>
            <a:ahLst/>
            <a:cxnLst/>
            <a:rect l="l" t="t" r="r" b="b"/>
            <a:pathLst>
              <a:path w="9144" h="30908">
                <a:moveTo>
                  <a:pt x="4572" y="0"/>
                </a:moveTo>
                <a:lnTo>
                  <a:pt x="4572" y="30908"/>
                </a:lnTo>
              </a:path>
            </a:pathLst>
          </a:custGeom>
          <a:ln w="9525">
            <a:solidFill>
              <a:srgbClr val="1B1B1B"/>
            </a:solidFill>
            <a:prstDash val="solid"/>
          </a:ln>
        </p:spPr>
      </p:sp>
      <p:sp>
        <p:nvSpPr>
          <p:cNvPr id="359" name="Shape 357"/>
          <p:cNvSpPr/>
          <p:nvPr/>
        </p:nvSpPr>
        <p:spPr>
          <a:xfrm>
            <a:off x="4955924" y="5483045"/>
            <a:ext cx="155448" cy="155448"/>
          </a:xfrm>
          <a:prstGeom prst="ellipse">
            <a:avLst/>
          </a:prstGeom>
          <a:solidFill>
            <a:srgbClr val="FFFFFF"/>
          </a:solidFill>
          <a:ln w="9525">
            <a:solidFill>
              <a:srgbClr val="1B1B1B"/>
            </a:solidFill>
            <a:prstDash val="solid"/>
          </a:ln>
        </p:spPr>
      </p:sp>
      <p:sp>
        <p:nvSpPr>
          <p:cNvPr id="360" name="Text 358"/>
          <p:cNvSpPr txBox="1"/>
          <p:nvPr/>
        </p:nvSpPr>
        <p:spPr>
          <a:xfrm>
            <a:off x="4955924" y="5483045"/>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3</a:t>
            </a:r>
            <a:endParaRPr lang="en-US" sz="600" dirty="0"/>
          </a:p>
        </p:txBody>
      </p:sp>
      <p:sp>
        <p:nvSpPr>
          <p:cNvPr id="361" name="Shape 359"/>
          <p:cNvSpPr/>
          <p:nvPr/>
        </p:nvSpPr>
        <p:spPr>
          <a:xfrm>
            <a:off x="5273601" y="5581850"/>
            <a:ext cx="188535" cy="190927"/>
          </a:xfrm>
          <a:prstGeom prst="rect">
            <a:avLst/>
          </a:prstGeom>
          <a:solidFill>
            <a:srgbClr val="9A9A9A"/>
          </a:solidFill>
          <a:ln/>
        </p:spPr>
      </p:sp>
      <p:sp>
        <p:nvSpPr>
          <p:cNvPr id="362" name="Shape 360"/>
          <p:cNvSpPr/>
          <p:nvPr/>
        </p:nvSpPr>
        <p:spPr>
          <a:xfrm>
            <a:off x="5297309" y="5772777"/>
            <a:ext cx="9144" cy="64046"/>
          </a:xfrm>
          <a:custGeom>
            <a:avLst/>
            <a:gdLst/>
            <a:ahLst/>
            <a:cxnLst/>
            <a:rect l="l" t="t" r="r" b="b"/>
            <a:pathLst>
              <a:path w="9144" h="64046">
                <a:moveTo>
                  <a:pt x="4572" y="0"/>
                </a:moveTo>
                <a:lnTo>
                  <a:pt x="4572" y="64046"/>
                </a:lnTo>
              </a:path>
            </a:pathLst>
          </a:custGeom>
          <a:ln w="9525">
            <a:solidFill>
              <a:srgbClr val="1B1B1B"/>
            </a:solidFill>
            <a:prstDash val="solid"/>
          </a:ln>
        </p:spPr>
      </p:sp>
      <p:sp>
        <p:nvSpPr>
          <p:cNvPr id="363" name="Shape 361"/>
          <p:cNvSpPr/>
          <p:nvPr/>
        </p:nvSpPr>
        <p:spPr>
          <a:xfrm>
            <a:off x="5363296" y="5772777"/>
            <a:ext cx="9144" cy="43375"/>
          </a:xfrm>
          <a:custGeom>
            <a:avLst/>
            <a:gdLst/>
            <a:ahLst/>
            <a:cxnLst/>
            <a:rect l="l" t="t" r="r" b="b"/>
            <a:pathLst>
              <a:path w="9144" h="43375">
                <a:moveTo>
                  <a:pt x="4572" y="0"/>
                </a:moveTo>
                <a:lnTo>
                  <a:pt x="4572" y="43375"/>
                </a:lnTo>
              </a:path>
            </a:pathLst>
          </a:custGeom>
          <a:ln w="9525">
            <a:solidFill>
              <a:srgbClr val="1B1B1B"/>
            </a:solidFill>
            <a:prstDash val="solid"/>
          </a:ln>
        </p:spPr>
      </p:sp>
      <p:sp>
        <p:nvSpPr>
          <p:cNvPr id="364" name="Shape 362"/>
          <p:cNvSpPr/>
          <p:nvPr/>
        </p:nvSpPr>
        <p:spPr>
          <a:xfrm>
            <a:off x="5429283" y="5772777"/>
            <a:ext cx="9144" cy="25233"/>
          </a:xfrm>
          <a:custGeom>
            <a:avLst/>
            <a:gdLst/>
            <a:ahLst/>
            <a:cxnLst/>
            <a:rect l="l" t="t" r="r" b="b"/>
            <a:pathLst>
              <a:path w="9144" h="25233">
                <a:moveTo>
                  <a:pt x="4572" y="0"/>
                </a:moveTo>
                <a:lnTo>
                  <a:pt x="4572" y="25233"/>
                </a:lnTo>
              </a:path>
            </a:pathLst>
          </a:custGeom>
          <a:ln w="9525">
            <a:solidFill>
              <a:srgbClr val="1B1B1B"/>
            </a:solidFill>
            <a:prstDash val="solid"/>
          </a:ln>
        </p:spPr>
      </p:sp>
      <p:sp>
        <p:nvSpPr>
          <p:cNvPr id="365" name="Shape 363"/>
          <p:cNvSpPr/>
          <p:nvPr/>
        </p:nvSpPr>
        <p:spPr>
          <a:xfrm>
            <a:off x="5290144" y="5376110"/>
            <a:ext cx="155448" cy="155448"/>
          </a:xfrm>
          <a:prstGeom prst="ellipse">
            <a:avLst/>
          </a:prstGeom>
          <a:solidFill>
            <a:srgbClr val="FFFFFF"/>
          </a:solidFill>
          <a:ln w="9525">
            <a:solidFill>
              <a:srgbClr val="1B1B1B"/>
            </a:solidFill>
            <a:prstDash val="solid"/>
          </a:ln>
        </p:spPr>
      </p:sp>
      <p:sp>
        <p:nvSpPr>
          <p:cNvPr id="366" name="Text 364"/>
          <p:cNvSpPr txBox="1"/>
          <p:nvPr/>
        </p:nvSpPr>
        <p:spPr>
          <a:xfrm>
            <a:off x="5290144" y="5376110"/>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4</a:t>
            </a:r>
            <a:endParaRPr lang="en-US" sz="600" dirty="0"/>
          </a:p>
        </p:txBody>
      </p:sp>
      <p:sp>
        <p:nvSpPr>
          <p:cNvPr id="367" name="Shape 365"/>
          <p:cNvSpPr/>
          <p:nvPr/>
        </p:nvSpPr>
        <p:spPr>
          <a:xfrm>
            <a:off x="7676249" y="6160496"/>
            <a:ext cx="342790" cy="95463"/>
          </a:xfrm>
          <a:prstGeom prst="rect">
            <a:avLst/>
          </a:prstGeom>
          <a:solidFill>
            <a:srgbClr val="9A9A9A"/>
          </a:solidFill>
          <a:ln/>
        </p:spPr>
      </p:sp>
      <p:sp>
        <p:nvSpPr>
          <p:cNvPr id="368" name="Shape 366"/>
          <p:cNvSpPr/>
          <p:nvPr/>
        </p:nvSpPr>
        <p:spPr>
          <a:xfrm>
            <a:off x="7769920" y="5954756"/>
            <a:ext cx="155448" cy="155448"/>
          </a:xfrm>
          <a:prstGeom prst="ellipse">
            <a:avLst/>
          </a:prstGeom>
          <a:solidFill>
            <a:srgbClr val="FFFFFF"/>
          </a:solidFill>
          <a:ln w="9525">
            <a:solidFill>
              <a:srgbClr val="1B1B1B"/>
            </a:solidFill>
            <a:prstDash val="solid"/>
          </a:ln>
        </p:spPr>
      </p:sp>
      <p:sp>
        <p:nvSpPr>
          <p:cNvPr id="369" name="Text 367"/>
          <p:cNvSpPr txBox="1"/>
          <p:nvPr/>
        </p:nvSpPr>
        <p:spPr>
          <a:xfrm>
            <a:off x="7769920" y="5954756"/>
            <a:ext cx="155448" cy="15544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5</a:t>
            </a:r>
            <a:endParaRPr lang="en-US" sz="600" dirty="0"/>
          </a:p>
        </p:txBody>
      </p:sp>
      <p:sp>
        <p:nvSpPr>
          <p:cNvPr id="370" name="Shape 368"/>
          <p:cNvSpPr/>
          <p:nvPr/>
        </p:nvSpPr>
        <p:spPr>
          <a:xfrm>
            <a:off x="5582112" y="5728716"/>
            <a:ext cx="411348" cy="9144"/>
          </a:xfrm>
          <a:custGeom>
            <a:avLst/>
            <a:gdLst/>
            <a:ahLst/>
            <a:cxnLst/>
            <a:rect l="l" t="t" r="r" b="b"/>
            <a:pathLst>
              <a:path w="411348" h="9144">
                <a:moveTo>
                  <a:pt x="0" y="4572"/>
                </a:moveTo>
                <a:lnTo>
                  <a:pt x="411348" y="4572"/>
                </a:lnTo>
              </a:path>
            </a:pathLst>
          </a:custGeom>
          <a:ln w="38100">
            <a:solidFill>
              <a:srgbClr val="C4262E"/>
            </a:solidFill>
            <a:prstDash val="solid"/>
          </a:ln>
        </p:spPr>
      </p:sp>
      <p:sp>
        <p:nvSpPr>
          <p:cNvPr id="371" name="Shape 369"/>
          <p:cNvSpPr/>
          <p:nvPr/>
        </p:nvSpPr>
        <p:spPr>
          <a:xfrm>
            <a:off x="5616391" y="5622902"/>
            <a:ext cx="342790" cy="9144"/>
          </a:xfrm>
          <a:custGeom>
            <a:avLst/>
            <a:gdLst/>
            <a:ahLst/>
            <a:cxnLst/>
            <a:rect l="l" t="t" r="r" b="b"/>
            <a:pathLst>
              <a:path w="342790" h="9144">
                <a:moveTo>
                  <a:pt x="0" y="4572"/>
                </a:moveTo>
                <a:lnTo>
                  <a:pt x="342790" y="4572"/>
                </a:lnTo>
              </a:path>
            </a:pathLst>
          </a:custGeom>
          <a:ln w="19050">
            <a:solidFill>
              <a:srgbClr val="1B1B1B"/>
            </a:solidFill>
            <a:prstDash val="solid"/>
          </a:ln>
        </p:spPr>
      </p:sp>
      <p:sp>
        <p:nvSpPr>
          <p:cNvPr id="372" name="Shape 370"/>
          <p:cNvSpPr/>
          <p:nvPr/>
        </p:nvSpPr>
        <p:spPr>
          <a:xfrm>
            <a:off x="5646098" y="5627474"/>
            <a:ext cx="9144" cy="105814"/>
          </a:xfrm>
          <a:custGeom>
            <a:avLst/>
            <a:gdLst/>
            <a:ahLst/>
            <a:cxnLst/>
            <a:rect l="l" t="t" r="r" b="b"/>
            <a:pathLst>
              <a:path w="9144" h="105814">
                <a:moveTo>
                  <a:pt x="4572" y="0"/>
                </a:moveTo>
                <a:lnTo>
                  <a:pt x="4572" y="105814"/>
                </a:lnTo>
              </a:path>
            </a:pathLst>
          </a:custGeom>
          <a:ln w="9525">
            <a:solidFill>
              <a:srgbClr val="1B1B1B"/>
            </a:solidFill>
            <a:prstDash val="solid"/>
          </a:ln>
        </p:spPr>
      </p:sp>
      <p:sp>
        <p:nvSpPr>
          <p:cNvPr id="373" name="Shape 371"/>
          <p:cNvSpPr/>
          <p:nvPr/>
        </p:nvSpPr>
        <p:spPr>
          <a:xfrm>
            <a:off x="5920330" y="5627474"/>
            <a:ext cx="9144" cy="105814"/>
          </a:xfrm>
          <a:custGeom>
            <a:avLst/>
            <a:gdLst/>
            <a:ahLst/>
            <a:cxnLst/>
            <a:rect l="l" t="t" r="r" b="b"/>
            <a:pathLst>
              <a:path w="9144" h="105814">
                <a:moveTo>
                  <a:pt x="4572" y="0"/>
                </a:moveTo>
                <a:lnTo>
                  <a:pt x="4572" y="105814"/>
                </a:lnTo>
              </a:path>
            </a:pathLst>
          </a:custGeom>
          <a:ln w="9525">
            <a:solidFill>
              <a:srgbClr val="1B1B1B"/>
            </a:solidFill>
            <a:prstDash val="solid"/>
          </a:ln>
        </p:spPr>
      </p:sp>
      <p:sp>
        <p:nvSpPr>
          <p:cNvPr id="374" name="Shape 372"/>
          <p:cNvSpPr/>
          <p:nvPr/>
        </p:nvSpPr>
        <p:spPr>
          <a:xfrm>
            <a:off x="6124779" y="5444594"/>
            <a:ext cx="525780" cy="146304"/>
          </a:xfrm>
          <a:prstGeom prst="rect">
            <a:avLst/>
          </a:prstGeom>
          <a:solidFill>
            <a:srgbClr val="FFFFFF"/>
          </a:solidFill>
          <a:ln/>
        </p:spPr>
      </p:sp>
      <p:sp>
        <p:nvSpPr>
          <p:cNvPr id="375" name="Text 373"/>
          <p:cNvSpPr txBox="1"/>
          <p:nvPr/>
        </p:nvSpPr>
        <p:spPr>
          <a:xfrm>
            <a:off x="6124779" y="5444594"/>
            <a:ext cx="525780" cy="146304"/>
          </a:xfrm>
          <a:prstGeom prst="rect">
            <a:avLst/>
          </a:prstGeom>
          <a:noFill/>
          <a:ln/>
        </p:spPr>
        <p:txBody>
          <a:bodyPr wrap="square" lIns="0" tIns="0" rIns="0" bIns="0" rtlCol="0" anchor="ctr"/>
          <a:lstStyle/>
          <a:p>
            <a:pPr algn="ctr" indent="0" marL="0">
              <a:buNone/>
            </a:pPr>
            <a:r>
              <a:rPr lang="en-US" sz="500" b="1" dirty="0">
                <a:solidFill>
                  <a:srgbClr val="C4262E"/>
                </a:solidFill>
                <a:latin typeface="Arial" pitchFamily="34" charset="0"/>
                <a:ea typeface="Arial" pitchFamily="34" charset="-122"/>
                <a:cs typeface="Arial" pitchFamily="34" charset="-120"/>
              </a:rPr>
              <a:t>OPEN FORUM</a:t>
            </a:r>
            <a:endParaRPr lang="en-US" sz="500" dirty="0"/>
          </a:p>
        </p:txBody>
      </p:sp>
      <p:sp>
        <p:nvSpPr>
          <p:cNvPr id="376" name="Shape 374"/>
          <p:cNvSpPr/>
          <p:nvPr/>
        </p:nvSpPr>
        <p:spPr>
          <a:xfrm>
            <a:off x="3868161" y="5724144"/>
            <a:ext cx="1919626" cy="540959"/>
          </a:xfrm>
          <a:custGeom>
            <a:avLst/>
            <a:gdLst/>
            <a:ahLst/>
            <a:cxnLst/>
            <a:rect l="l" t="t" r="r" b="b"/>
            <a:pathLst>
              <a:path w="1919626" h="540959">
                <a:moveTo>
                  <a:pt x="0" y="540959"/>
                </a:moveTo>
                <a:lnTo>
                  <a:pt x="79984" y="540613"/>
                </a:lnTo>
                <a:lnTo>
                  <a:pt x="159969" y="536343"/>
                </a:lnTo>
                <a:lnTo>
                  <a:pt x="239953" y="527280"/>
                </a:lnTo>
                <a:lnTo>
                  <a:pt x="319938" y="513585"/>
                </a:lnTo>
                <a:lnTo>
                  <a:pt x="399922" y="495506"/>
                </a:lnTo>
                <a:lnTo>
                  <a:pt x="479906" y="473369"/>
                </a:lnTo>
                <a:lnTo>
                  <a:pt x="559891" y="447574"/>
                </a:lnTo>
                <a:lnTo>
                  <a:pt x="639875" y="418584"/>
                </a:lnTo>
                <a:lnTo>
                  <a:pt x="719860" y="386924"/>
                </a:lnTo>
                <a:lnTo>
                  <a:pt x="799844" y="353164"/>
                </a:lnTo>
                <a:lnTo>
                  <a:pt x="879828" y="317913"/>
                </a:lnTo>
                <a:lnTo>
                  <a:pt x="959813" y="281806"/>
                </a:lnTo>
                <a:lnTo>
                  <a:pt x="1039797" y="245495"/>
                </a:lnTo>
                <a:lnTo>
                  <a:pt x="1119782" y="209635"/>
                </a:lnTo>
                <a:lnTo>
                  <a:pt x="1199766" y="174872"/>
                </a:lnTo>
                <a:lnTo>
                  <a:pt x="1279750" y="141833"/>
                </a:lnTo>
                <a:lnTo>
                  <a:pt x="1359735" y="111114"/>
                </a:lnTo>
                <a:lnTo>
                  <a:pt x="1439719" y="83269"/>
                </a:lnTo>
                <a:lnTo>
                  <a:pt x="1519704" y="58800"/>
                </a:lnTo>
                <a:lnTo>
                  <a:pt x="1599688" y="38148"/>
                </a:lnTo>
                <a:lnTo>
                  <a:pt x="1679672" y="21687"/>
                </a:lnTo>
                <a:lnTo>
                  <a:pt x="1759657" y="9711"/>
                </a:lnTo>
                <a:lnTo>
                  <a:pt x="1839641" y="2439"/>
                </a:lnTo>
                <a:lnTo>
                  <a:pt x="1919626" y="0"/>
                </a:lnTo>
              </a:path>
            </a:pathLst>
          </a:custGeom>
          <a:ln w="22225">
            <a:solidFill>
              <a:srgbClr val="C4262E"/>
            </a:solidFill>
            <a:prstDash val="solid"/>
            <a:tailEnd type="triangle"/>
          </a:ln>
        </p:spPr>
      </p:sp>
      <p:sp>
        <p:nvSpPr>
          <p:cNvPr id="377" name="Text 375"/>
          <p:cNvSpPr txBox="1"/>
          <p:nvPr/>
        </p:nvSpPr>
        <p:spPr>
          <a:xfrm>
            <a:off x="6940296" y="4956048"/>
            <a:ext cx="1737360" cy="566928"/>
          </a:xfrm>
          <a:prstGeom prst="rect">
            <a:avLst/>
          </a:prstGeom>
          <a:noFill/>
          <a:ln/>
        </p:spPr>
        <p:txBody>
          <a:bodyPr wrap="square" lIns="0" tIns="0" rIns="0" bIns="0" rtlCol="0" anchor="t"/>
          <a:lstStyle/>
          <a:p>
            <a:pPr indent="0" marL="0">
              <a:buNone/>
            </a:pPr>
            <a:r>
              <a:rPr lang="en-US" sz="450" dirty="0">
                <a:solidFill>
                  <a:srgbClr val="6B6B6B"/>
                </a:solidFill>
                <a:latin typeface="Arial" pitchFamily="34" charset="0"/>
                <a:ea typeface="Arial" pitchFamily="34" charset="-122"/>
                <a:cs typeface="Arial" pitchFamily="34" charset="-120"/>
              </a:rPr>
              <a:t>1  forum · press · exhibition · auditorium</a:t>
            </a:r>
            <a:endParaRPr lang="en-US" sz="450" dirty="0"/>
          </a:p>
          <a:p>
            <a:pPr indent="0" marL="0">
              <a:buNone/>
            </a:pPr>
            <a:r>
              <a:rPr lang="en-US" sz="450" dirty="0">
                <a:solidFill>
                  <a:srgbClr val="6B6B6B"/>
                </a:solidFill>
                <a:latin typeface="Arial" pitchFamily="34" charset="0"/>
                <a:ea typeface="Arial" pitchFamily="34" charset="-122"/>
                <a:cs typeface="Arial" pitchFamily="34" charset="-120"/>
              </a:rPr>
              <a:t>2  library · workshops · education</a:t>
            </a:r>
            <a:endParaRPr lang="en-US" sz="450" dirty="0"/>
          </a:p>
          <a:p>
            <a:pPr indent="0" marL="0">
              <a:buNone/>
            </a:pPr>
            <a:r>
              <a:rPr lang="en-US" sz="450" dirty="0">
                <a:solidFill>
                  <a:srgbClr val="6B6B6B"/>
                </a:solidFill>
                <a:latin typeface="Arial" pitchFamily="34" charset="0"/>
                <a:ea typeface="Arial" pitchFamily="34" charset="-122"/>
                <a:cs typeface="Arial" pitchFamily="34" charset="-120"/>
              </a:rPr>
              <a:t>3  archive · research</a:t>
            </a:r>
            <a:endParaRPr lang="en-US" sz="450" dirty="0"/>
          </a:p>
          <a:p>
            <a:pPr indent="0" marL="0">
              <a:buNone/>
            </a:pPr>
            <a:r>
              <a:rPr lang="en-US" sz="450" dirty="0">
                <a:solidFill>
                  <a:srgbClr val="6B6B6B"/>
                </a:solidFill>
                <a:latin typeface="Arial" pitchFamily="34" charset="0"/>
                <a:ea typeface="Arial" pitchFamily="34" charset="-122"/>
                <a:cs typeface="Arial" pitchFamily="34" charset="-120"/>
              </a:rPr>
              <a:t>4  media · publishing</a:t>
            </a:r>
            <a:endParaRPr lang="en-US" sz="450" dirty="0"/>
          </a:p>
          <a:p>
            <a:pPr indent="0" marL="0">
              <a:buNone/>
            </a:pPr>
            <a:r>
              <a:rPr lang="en-US" sz="450" dirty="0">
                <a:solidFill>
                  <a:srgbClr val="6B6B6B"/>
                </a:solidFill>
                <a:latin typeface="Arial" pitchFamily="34" charset="0"/>
                <a:ea typeface="Arial" pitchFamily="34" charset="-122"/>
                <a:cs typeface="Arial" pitchFamily="34" charset="-120"/>
              </a:rPr>
              <a:t>5  print · dispatch (service side)</a:t>
            </a:r>
            <a:endParaRPr lang="en-US" sz="450" dirty="0"/>
          </a:p>
        </p:txBody>
      </p:sp>
      <p:sp>
        <p:nvSpPr>
          <p:cNvPr id="378" name="Shape 376"/>
          <p:cNvSpPr/>
          <p:nvPr/>
        </p:nvSpPr>
        <p:spPr>
          <a:xfrm>
            <a:off x="4159532" y="5778624"/>
            <a:ext cx="1542556" cy="495623"/>
          </a:xfrm>
          <a:custGeom>
            <a:avLst/>
            <a:gdLst/>
            <a:ahLst/>
            <a:cxnLst/>
            <a:rect l="l" t="t" r="r" b="b"/>
            <a:pathLst>
              <a:path w="1542556" h="495623">
                <a:moveTo>
                  <a:pt x="0" y="495623"/>
                </a:moveTo>
                <a:lnTo>
                  <a:pt x="1542556" y="0"/>
                </a:lnTo>
              </a:path>
            </a:pathLst>
          </a:custGeom>
          <a:ln w="12700">
            <a:solidFill>
              <a:srgbClr val="1B1B1B"/>
            </a:solidFill>
            <a:prstDash val="dash"/>
          </a:ln>
        </p:spPr>
      </p:sp>
      <p:sp>
        <p:nvSpPr>
          <p:cNvPr id="379" name="Shape 377"/>
          <p:cNvSpPr/>
          <p:nvPr/>
        </p:nvSpPr>
        <p:spPr>
          <a:xfrm>
            <a:off x="8686800" y="4709160"/>
            <a:ext cx="3108960" cy="1874520"/>
          </a:xfrm>
          <a:prstGeom prst="rect">
            <a:avLst/>
          </a:prstGeom>
          <a:solidFill>
            <a:srgbClr val="FFFFFF"/>
          </a:solidFill>
          <a:ln w="6350">
            <a:solidFill>
              <a:srgbClr val="D9D9D9"/>
            </a:solidFill>
            <a:prstDash val="solid"/>
          </a:ln>
        </p:spPr>
      </p:sp>
      <p:sp>
        <p:nvSpPr>
          <p:cNvPr id="380" name="Text 378"/>
          <p:cNvSpPr txBox="1"/>
          <p:nvPr/>
        </p:nvSpPr>
        <p:spPr>
          <a:xfrm>
            <a:off x="8759952" y="4764024"/>
            <a:ext cx="2962656" cy="164592"/>
          </a:xfrm>
          <a:prstGeom prst="rect">
            <a:avLst/>
          </a:prstGeom>
          <a:noFill/>
          <a:ln/>
        </p:spPr>
        <p:txBody>
          <a:bodyPr wrap="square" lIns="0" tIns="0" rIns="0" bIns="0" rtlCol="0" anchor="t"/>
          <a:lstStyle/>
          <a:p>
            <a:pPr indent="0" marL="0">
              <a:buNone/>
            </a:pPr>
            <a:r>
              <a:rPr lang="en-US" sz="650" b="1" spc="50" kern="0" dirty="0">
                <a:solidFill>
                  <a:srgbClr val="C4262E"/>
                </a:solidFill>
                <a:latin typeface="Arial" pitchFamily="34" charset="0"/>
                <a:ea typeface="Arial" pitchFamily="34" charset="-122"/>
                <a:cs typeface="Arial" pitchFamily="34" charset="-120"/>
              </a:rPr>
              <a:t>08  </a:t>
            </a:r>
            <a:pPr indent="0" marL="0">
              <a:buNone/>
            </a:pPr>
            <a:r>
              <a:rPr lang="en-US" sz="650" b="1" spc="50" kern="0" dirty="0">
                <a:solidFill>
                  <a:srgbClr val="1B1B1B"/>
                </a:solidFill>
                <a:latin typeface="Arial" pitchFamily="34" charset="0"/>
                <a:ea typeface="Arial" pitchFamily="34" charset="-122"/>
                <a:cs typeface="Arial" pitchFamily="34" charset="-120"/>
              </a:rPr>
              <a:t>SPATIAL EXPERIENCE</a:t>
            </a:r>
            <a:endParaRPr lang="en-US" sz="650" dirty="0"/>
          </a:p>
        </p:txBody>
      </p:sp>
      <p:sp>
        <p:nvSpPr>
          <p:cNvPr id="381" name="Shape 379"/>
          <p:cNvSpPr/>
          <p:nvPr/>
        </p:nvSpPr>
        <p:spPr>
          <a:xfrm>
            <a:off x="8759952" y="5001768"/>
            <a:ext cx="713232" cy="658368"/>
          </a:xfrm>
          <a:prstGeom prst="rect">
            <a:avLst/>
          </a:prstGeom>
          <a:solidFill>
            <a:srgbClr val="F2F2F2"/>
          </a:solidFill>
          <a:ln/>
        </p:spPr>
      </p:sp>
      <p:sp>
        <p:nvSpPr>
          <p:cNvPr id="382" name="Text 380"/>
          <p:cNvSpPr txBox="1"/>
          <p:nvPr/>
        </p:nvSpPr>
        <p:spPr>
          <a:xfrm>
            <a:off x="8759952" y="5001768"/>
            <a:ext cx="713232" cy="65836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1</a:t>
            </a:r>
            <a:endParaRPr lang="en-US" sz="600" dirty="0"/>
          </a:p>
          <a:p>
            <a:pPr algn="ctr" indent="0" marL="0">
              <a:buNone/>
            </a:pPr>
            <a:r>
              <a:rPr lang="en-US" sz="600" b="1" dirty="0">
                <a:solidFill>
                  <a:srgbClr val="1B1B1B"/>
                </a:solidFill>
                <a:latin typeface="Arial" pitchFamily="34" charset="0"/>
                <a:ea typeface="Arial" pitchFamily="34" charset="-122"/>
                <a:cs typeface="Arial" pitchFamily="34" charset="-120"/>
              </a:rPr>
              <a:t>ARRIVAL</a:t>
            </a:r>
            <a:endParaRPr lang="en-US" sz="600" dirty="0"/>
          </a:p>
        </p:txBody>
      </p:sp>
      <p:sp>
        <p:nvSpPr>
          <p:cNvPr id="383" name="Shape 381"/>
          <p:cNvSpPr/>
          <p:nvPr/>
        </p:nvSpPr>
        <p:spPr>
          <a:xfrm>
            <a:off x="9518904" y="5001768"/>
            <a:ext cx="713232" cy="658368"/>
          </a:xfrm>
          <a:prstGeom prst="rect">
            <a:avLst/>
          </a:prstGeom>
          <a:solidFill>
            <a:srgbClr val="F2F2F2"/>
          </a:solidFill>
          <a:ln/>
        </p:spPr>
      </p:sp>
      <p:sp>
        <p:nvSpPr>
          <p:cNvPr id="384" name="Text 382"/>
          <p:cNvSpPr txBox="1"/>
          <p:nvPr/>
        </p:nvSpPr>
        <p:spPr>
          <a:xfrm>
            <a:off x="9518904" y="5001768"/>
            <a:ext cx="713232" cy="65836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2</a:t>
            </a:r>
            <a:endParaRPr lang="en-US" sz="600" dirty="0"/>
          </a:p>
          <a:p>
            <a:pPr algn="ctr" indent="0" marL="0">
              <a:buNone/>
            </a:pPr>
            <a:r>
              <a:rPr lang="en-US" sz="600" b="1" dirty="0">
                <a:solidFill>
                  <a:srgbClr val="1B1B1B"/>
                </a:solidFill>
                <a:latin typeface="Arial" pitchFamily="34" charset="0"/>
                <a:ea typeface="Arial" pitchFamily="34" charset="-122"/>
                <a:cs typeface="Arial" pitchFamily="34" charset="-120"/>
              </a:rPr>
              <a:t>THRESHOLD</a:t>
            </a:r>
            <a:endParaRPr lang="en-US" sz="600" dirty="0"/>
          </a:p>
        </p:txBody>
      </p:sp>
      <p:sp>
        <p:nvSpPr>
          <p:cNvPr id="385" name="Shape 383"/>
          <p:cNvSpPr/>
          <p:nvPr/>
        </p:nvSpPr>
        <p:spPr>
          <a:xfrm>
            <a:off x="10277856" y="5001768"/>
            <a:ext cx="713232" cy="658368"/>
          </a:xfrm>
          <a:prstGeom prst="rect">
            <a:avLst/>
          </a:prstGeom>
          <a:solidFill>
            <a:srgbClr val="F2F2F2"/>
          </a:solidFill>
          <a:ln/>
        </p:spPr>
      </p:sp>
      <p:sp>
        <p:nvSpPr>
          <p:cNvPr id="386" name="Text 384"/>
          <p:cNvSpPr txBox="1"/>
          <p:nvPr/>
        </p:nvSpPr>
        <p:spPr>
          <a:xfrm>
            <a:off x="10277856" y="5001768"/>
            <a:ext cx="713232" cy="65836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3</a:t>
            </a:r>
            <a:endParaRPr lang="en-US" sz="600" dirty="0"/>
          </a:p>
          <a:p>
            <a:pPr algn="ctr" indent="0" marL="0">
              <a:buNone/>
            </a:pPr>
            <a:r>
              <a:rPr lang="en-US" sz="600" b="1" dirty="0">
                <a:solidFill>
                  <a:srgbClr val="1B1B1B"/>
                </a:solidFill>
                <a:latin typeface="Arial" pitchFamily="34" charset="0"/>
                <a:ea typeface="Arial" pitchFamily="34" charset="-122"/>
                <a:cs typeface="Arial" pitchFamily="34" charset="-120"/>
              </a:rPr>
              <a:t>PUBLIC</a:t>
            </a:r>
            <a:endParaRPr lang="en-US" sz="600" dirty="0"/>
          </a:p>
        </p:txBody>
      </p:sp>
      <p:sp>
        <p:nvSpPr>
          <p:cNvPr id="387" name="Shape 385"/>
          <p:cNvSpPr/>
          <p:nvPr/>
        </p:nvSpPr>
        <p:spPr>
          <a:xfrm>
            <a:off x="11036808" y="5001768"/>
            <a:ext cx="713232" cy="658368"/>
          </a:xfrm>
          <a:prstGeom prst="rect">
            <a:avLst/>
          </a:prstGeom>
          <a:solidFill>
            <a:srgbClr val="F2F2F2"/>
          </a:solidFill>
          <a:ln/>
        </p:spPr>
      </p:sp>
      <p:sp>
        <p:nvSpPr>
          <p:cNvPr id="388" name="Text 386"/>
          <p:cNvSpPr txBox="1"/>
          <p:nvPr/>
        </p:nvSpPr>
        <p:spPr>
          <a:xfrm>
            <a:off x="11036808" y="5001768"/>
            <a:ext cx="713232" cy="65836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4</a:t>
            </a:r>
            <a:endParaRPr lang="en-US" sz="600" dirty="0"/>
          </a:p>
          <a:p>
            <a:pPr algn="ctr" indent="0" marL="0">
              <a:buNone/>
            </a:pPr>
            <a:r>
              <a:rPr lang="en-US" sz="600" b="1" dirty="0">
                <a:solidFill>
                  <a:srgbClr val="1B1B1B"/>
                </a:solidFill>
                <a:latin typeface="Arial" pitchFamily="34" charset="0"/>
                <a:ea typeface="Arial" pitchFamily="34" charset="-122"/>
                <a:cs typeface="Arial" pitchFamily="34" charset="-120"/>
              </a:rPr>
              <a:t>INTERACTION</a:t>
            </a:r>
            <a:endParaRPr lang="en-US" sz="600" dirty="0"/>
          </a:p>
        </p:txBody>
      </p:sp>
      <p:sp>
        <p:nvSpPr>
          <p:cNvPr id="389" name="Shape 387"/>
          <p:cNvSpPr/>
          <p:nvPr/>
        </p:nvSpPr>
        <p:spPr>
          <a:xfrm>
            <a:off x="8759952" y="5779008"/>
            <a:ext cx="713232" cy="658368"/>
          </a:xfrm>
          <a:prstGeom prst="rect">
            <a:avLst/>
          </a:prstGeom>
          <a:solidFill>
            <a:srgbClr val="F2F2F2"/>
          </a:solidFill>
          <a:ln/>
        </p:spPr>
      </p:sp>
      <p:sp>
        <p:nvSpPr>
          <p:cNvPr id="390" name="Text 388"/>
          <p:cNvSpPr txBox="1"/>
          <p:nvPr/>
        </p:nvSpPr>
        <p:spPr>
          <a:xfrm>
            <a:off x="8759952" y="5779008"/>
            <a:ext cx="713232" cy="65836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5</a:t>
            </a:r>
            <a:endParaRPr lang="en-US" sz="600" dirty="0"/>
          </a:p>
          <a:p>
            <a:pPr algn="ctr" indent="0" marL="0">
              <a:buNone/>
            </a:pPr>
            <a:r>
              <a:rPr lang="en-US" sz="600" b="1" dirty="0">
                <a:solidFill>
                  <a:srgbClr val="1B1B1B"/>
                </a:solidFill>
                <a:latin typeface="Arial" pitchFamily="34" charset="0"/>
                <a:ea typeface="Arial" pitchFamily="34" charset="-122"/>
                <a:cs typeface="Arial" pitchFamily="34" charset="-120"/>
              </a:rPr>
              <a:t>KNOWLEDGE</a:t>
            </a:r>
            <a:endParaRPr lang="en-US" sz="600" dirty="0"/>
          </a:p>
        </p:txBody>
      </p:sp>
      <p:sp>
        <p:nvSpPr>
          <p:cNvPr id="391" name="Shape 389"/>
          <p:cNvSpPr/>
          <p:nvPr/>
        </p:nvSpPr>
        <p:spPr>
          <a:xfrm>
            <a:off x="9518904" y="5779008"/>
            <a:ext cx="713232" cy="658368"/>
          </a:xfrm>
          <a:prstGeom prst="rect">
            <a:avLst/>
          </a:prstGeom>
          <a:solidFill>
            <a:srgbClr val="F2F2F2"/>
          </a:solidFill>
          <a:ln/>
        </p:spPr>
      </p:sp>
      <p:sp>
        <p:nvSpPr>
          <p:cNvPr id="392" name="Text 390"/>
          <p:cNvSpPr txBox="1"/>
          <p:nvPr/>
        </p:nvSpPr>
        <p:spPr>
          <a:xfrm>
            <a:off x="9518904" y="5779008"/>
            <a:ext cx="713232" cy="65836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6</a:t>
            </a:r>
            <a:endParaRPr lang="en-US" sz="600" dirty="0"/>
          </a:p>
          <a:p>
            <a:pPr algn="ctr" indent="0" marL="0">
              <a:buNone/>
            </a:pPr>
            <a:r>
              <a:rPr lang="en-US" sz="600" b="1" dirty="0">
                <a:solidFill>
                  <a:srgbClr val="1B1B1B"/>
                </a:solidFill>
                <a:latin typeface="Arial" pitchFamily="34" charset="0"/>
                <a:ea typeface="Arial" pitchFamily="34" charset="-122"/>
                <a:cs typeface="Arial" pitchFamily="34" charset="-120"/>
              </a:rPr>
              <a:t>PRODUCTION</a:t>
            </a:r>
            <a:endParaRPr lang="en-US" sz="600" dirty="0"/>
          </a:p>
        </p:txBody>
      </p:sp>
      <p:sp>
        <p:nvSpPr>
          <p:cNvPr id="393" name="Shape 391"/>
          <p:cNvSpPr/>
          <p:nvPr/>
        </p:nvSpPr>
        <p:spPr>
          <a:xfrm>
            <a:off x="10277856" y="5779008"/>
            <a:ext cx="713232" cy="658368"/>
          </a:xfrm>
          <a:prstGeom prst="rect">
            <a:avLst/>
          </a:prstGeom>
          <a:solidFill>
            <a:srgbClr val="F2F2F2"/>
          </a:solidFill>
          <a:ln/>
        </p:spPr>
      </p:sp>
      <p:sp>
        <p:nvSpPr>
          <p:cNvPr id="394" name="Text 392"/>
          <p:cNvSpPr txBox="1"/>
          <p:nvPr/>
        </p:nvSpPr>
        <p:spPr>
          <a:xfrm>
            <a:off x="10277856" y="5779008"/>
            <a:ext cx="713232" cy="658368"/>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7</a:t>
            </a:r>
            <a:endParaRPr lang="en-US" sz="600" dirty="0"/>
          </a:p>
          <a:p>
            <a:pPr algn="ctr" indent="0" marL="0">
              <a:buNone/>
            </a:pPr>
            <a:r>
              <a:rPr lang="en-US" sz="600" b="1" dirty="0">
                <a:solidFill>
                  <a:srgbClr val="1B1B1B"/>
                </a:solidFill>
                <a:latin typeface="Arial" pitchFamily="34" charset="0"/>
                <a:ea typeface="Arial" pitchFamily="34" charset="-122"/>
                <a:cs typeface="Arial" pitchFamily="34" charset="-120"/>
              </a:rPr>
              <a:t>DISCUSSION</a:t>
            </a:r>
            <a:endParaRPr lang="en-US" sz="600" dirty="0"/>
          </a:p>
        </p:txBody>
      </p:sp>
      <p:sp>
        <p:nvSpPr>
          <p:cNvPr id="395" name="Shape 393"/>
          <p:cNvSpPr/>
          <p:nvPr/>
        </p:nvSpPr>
        <p:spPr>
          <a:xfrm>
            <a:off x="11036808" y="5779008"/>
            <a:ext cx="713232" cy="658368"/>
          </a:xfrm>
          <a:prstGeom prst="rect">
            <a:avLst/>
          </a:prstGeom>
          <a:solidFill>
            <a:srgbClr val="C4262E"/>
          </a:solidFill>
          <a:ln/>
        </p:spPr>
      </p:sp>
      <p:sp>
        <p:nvSpPr>
          <p:cNvPr id="396" name="Text 394"/>
          <p:cNvSpPr txBox="1"/>
          <p:nvPr/>
        </p:nvSpPr>
        <p:spPr>
          <a:xfrm>
            <a:off x="11036808" y="5779008"/>
            <a:ext cx="713232" cy="658368"/>
          </a:xfrm>
          <a:prstGeom prst="rect">
            <a:avLst/>
          </a:prstGeom>
          <a:noFill/>
          <a:ln/>
        </p:spPr>
        <p:txBody>
          <a:bodyPr wrap="square" lIns="0" tIns="0" rIns="0" bIns="0" rtlCol="0" anchor="ctr"/>
          <a:lstStyle/>
          <a:p>
            <a:pPr algn="ctr" indent="0" marL="0">
              <a:buNone/>
            </a:pPr>
            <a:r>
              <a:rPr lang="en-US" sz="600" b="1" dirty="0">
                <a:solidFill>
                  <a:srgbClr val="FFFFFF"/>
                </a:solidFill>
                <a:latin typeface="Arial" pitchFamily="34" charset="0"/>
                <a:ea typeface="Arial" pitchFamily="34" charset="-122"/>
                <a:cs typeface="Arial" pitchFamily="34" charset="-120"/>
              </a:rPr>
              <a:t>8</a:t>
            </a:r>
            <a:endParaRPr lang="en-US" sz="600" dirty="0"/>
          </a:p>
          <a:p>
            <a:pPr algn="ctr" indent="0" marL="0">
              <a:buNone/>
            </a:pPr>
            <a:r>
              <a:rPr lang="en-US" sz="600" b="1" dirty="0">
                <a:solidFill>
                  <a:srgbClr val="FFFFFF"/>
                </a:solidFill>
                <a:latin typeface="Arial" pitchFamily="34" charset="0"/>
                <a:ea typeface="Arial" pitchFamily="34" charset="-122"/>
                <a:cs typeface="Arial" pitchFamily="34" charset="-120"/>
              </a:rPr>
              <a:t>CITY</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01168"/>
            <a:ext cx="9144000" cy="182880"/>
          </a:xfrm>
          <a:prstGeom prst="rect">
            <a:avLst/>
          </a:prstGeom>
          <a:noFill/>
          <a:ln/>
        </p:spPr>
        <p:txBody>
          <a:bodyPr wrap="square" lIns="0" tIns="0" rIns="0" bIns="0" rtlCol="0" anchor="t"/>
          <a:lstStyle/>
          <a:p>
            <a:pPr indent="0" marL="0">
              <a:buNone/>
            </a:pPr>
            <a:r>
              <a:rPr lang="en-US" sz="750" spc="100" kern="0" dirty="0">
                <a:solidFill>
                  <a:srgbClr val="6B6B6B"/>
                </a:solidFill>
                <a:latin typeface="Arial" pitchFamily="34" charset="0"/>
                <a:ea typeface="Arial" pitchFamily="34" charset="-122"/>
                <a:cs typeface="Arial" pitchFamily="34" charset="-120"/>
              </a:rPr>
              <a:t>SITES OF REPRESENTATION  ·  THE CONTEMPORARY PUBLISHING HOUSE  ·  CONCEPT DEVELOPMENT</a:t>
            </a:r>
            <a:endParaRPr lang="en-US" sz="750" dirty="0"/>
          </a:p>
        </p:txBody>
      </p:sp>
      <p:sp>
        <p:nvSpPr>
          <p:cNvPr id="3" name="Text 1"/>
          <p:cNvSpPr txBox="1"/>
          <p:nvPr/>
        </p:nvSpPr>
        <p:spPr>
          <a:xfrm>
            <a:off x="365760" y="365760"/>
            <a:ext cx="9875520" cy="457200"/>
          </a:xfrm>
          <a:prstGeom prst="rect">
            <a:avLst/>
          </a:prstGeom>
          <a:noFill/>
          <a:ln/>
        </p:spPr>
        <p:txBody>
          <a:bodyPr wrap="square" lIns="0" tIns="0" rIns="0" bIns="0" rtlCol="0" anchor="t"/>
          <a:lstStyle/>
          <a:p>
            <a:pPr indent="0" marL="0">
              <a:buNone/>
            </a:pPr>
            <a:r>
              <a:rPr lang="en-US" sz="2200" b="1" dirty="0">
                <a:solidFill>
                  <a:srgbClr val="1B1B1B"/>
                </a:solidFill>
                <a:latin typeface="Arial" pitchFamily="34" charset="0"/>
                <a:ea typeface="Arial" pitchFamily="34" charset="-122"/>
                <a:cs typeface="Arial" pitchFamily="34" charset="-120"/>
              </a:rPr>
              <a:t>BOARD GUIDE — HOW TO DRAW EACH VISUAL</a:t>
            </a:r>
            <a:endParaRPr lang="en-US" sz="2200" dirty="0"/>
          </a:p>
        </p:txBody>
      </p:sp>
      <p:sp>
        <p:nvSpPr>
          <p:cNvPr id="4" name="Text 2"/>
          <p:cNvSpPr txBox="1"/>
          <p:nvPr/>
        </p:nvSpPr>
        <p:spPr>
          <a:xfrm>
            <a:off x="365760" y="822960"/>
            <a:ext cx="10058400" cy="219456"/>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One graphic language throughout: thin black linework, red = public, grey = working, black poché = protected, green = ground + trees.</a:t>
            </a:r>
            <a:endParaRPr lang="en-US" sz="950" dirty="0"/>
          </a:p>
        </p:txBody>
      </p:sp>
      <p:sp>
        <p:nvSpPr>
          <p:cNvPr id="5" name="Text 3"/>
          <p:cNvSpPr txBox="1"/>
          <p:nvPr/>
        </p:nvSpPr>
        <p:spPr>
          <a:xfrm>
            <a:off x="10424160" y="228600"/>
            <a:ext cx="1371600" cy="640080"/>
          </a:xfrm>
          <a:prstGeom prst="rect">
            <a:avLst/>
          </a:prstGeom>
          <a:noFill/>
          <a:ln/>
        </p:spPr>
        <p:txBody>
          <a:bodyPr wrap="square" lIns="0" tIns="0" rIns="0" bIns="0" rtlCol="0" anchor="t"/>
          <a:lstStyle/>
          <a:p>
            <a:pPr algn="r" indent="0" marL="0">
              <a:buNone/>
            </a:pPr>
            <a:r>
              <a:rPr lang="en-US" sz="3400" b="1" dirty="0">
                <a:solidFill>
                  <a:srgbClr val="C4262E"/>
                </a:solidFill>
                <a:latin typeface="Arial" pitchFamily="34" charset="0"/>
                <a:ea typeface="Arial" pitchFamily="34" charset="-122"/>
                <a:cs typeface="Arial" pitchFamily="34" charset="-120"/>
              </a:rPr>
              <a:t>15</a:t>
            </a:r>
            <a:endParaRPr lang="en-US" sz="3400" dirty="0"/>
          </a:p>
        </p:txBody>
      </p:sp>
      <p:sp>
        <p:nvSpPr>
          <p:cNvPr id="6" name="Shape 4"/>
          <p:cNvSpPr/>
          <p:nvPr/>
        </p:nvSpPr>
        <p:spPr>
          <a:xfrm>
            <a:off x="10241280" y="896112"/>
            <a:ext cx="1554480" cy="182880"/>
          </a:xfrm>
          <a:prstGeom prst="roundRect">
            <a:avLst>
              <a:gd name="adj" fmla="val 20000"/>
            </a:avLst>
          </a:prstGeom>
          <a:solidFill>
            <a:srgbClr val="C4262E"/>
          </a:solidFill>
          <a:ln w="9525">
            <a:solidFill>
              <a:srgbClr val="C4262E"/>
            </a:solidFill>
            <a:prstDash val="solid"/>
          </a:ln>
        </p:spPr>
      </p:sp>
      <p:sp>
        <p:nvSpPr>
          <p:cNvPr id="7" name="Text 5"/>
          <p:cNvSpPr txBox="1"/>
          <p:nvPr/>
        </p:nvSpPr>
        <p:spPr>
          <a:xfrm>
            <a:off x="10241280" y="896112"/>
            <a:ext cx="155448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MY CONCEPT</a:t>
            </a:r>
            <a:endParaRPr lang="en-US" sz="6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234440"/>
                <a:gridCol w="1828800"/>
                <a:gridCol w="1508760"/>
                <a:gridCol w="1417320"/>
                <a:gridCol w="1463040"/>
                <a:gridCol w="1280160"/>
                <a:gridCol w="1508760"/>
                <a:gridCol w="1188720"/>
              </a:tblGrid>
              <a:tr h="502920">
                <a:tc>
                  <a:txBody>
                    <a:bodyPr/>
                    <a:lstStyle/>
                    <a:p>
                      <a:pPr indent="0" marL="0">
                        <a:buNone/>
                      </a:pPr>
                      <a:r>
                        <a:rPr lang="en-US" sz="700" b="1" dirty="0">
                          <a:solidFill>
                            <a:srgbClr val="FFFFFF"/>
                          </a:solidFill>
                          <a:latin typeface="Arial" pitchFamily="34" charset="0"/>
                          <a:ea typeface="Arial" pitchFamily="34" charset="-122"/>
                          <a:cs typeface="Arial" pitchFamily="34" charset="-120"/>
                        </a:rPr>
                        <a:t>VISUAL</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1B1B"/>
                    </a:solidFill>
                  </a:tcPr>
                </a:tc>
                <a:tc>
                  <a:txBody>
                    <a:bodyPr/>
                    <a:lstStyle/>
                    <a:p>
                      <a:pPr indent="0" marL="0">
                        <a:buNone/>
                      </a:pPr>
                      <a:r>
                        <a:rPr lang="en-US" sz="700" b="1" dirty="0">
                          <a:solidFill>
                            <a:srgbClr val="FFFFFF"/>
                          </a:solidFill>
                          <a:latin typeface="Arial" pitchFamily="34" charset="0"/>
                          <a:ea typeface="Arial" pitchFamily="34" charset="-122"/>
                          <a:cs typeface="Arial" pitchFamily="34" charset="-120"/>
                        </a:rPr>
                        <a:t>DRAW</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1B1B"/>
                    </a:solidFill>
                  </a:tcPr>
                </a:tc>
                <a:tc>
                  <a:txBody>
                    <a:bodyPr/>
                    <a:lstStyle/>
                    <a:p>
                      <a:pPr indent="0" marL="0">
                        <a:buNone/>
                      </a:pPr>
                      <a:r>
                        <a:rPr lang="en-US" sz="700" b="1" dirty="0">
                          <a:solidFill>
                            <a:srgbClr val="FFFFFF"/>
                          </a:solidFill>
                          <a:latin typeface="Arial" pitchFamily="34" charset="0"/>
                          <a:ea typeface="Arial" pitchFamily="34" charset="-122"/>
                          <a:cs typeface="Arial" pitchFamily="34" charset="-120"/>
                        </a:rPr>
                        <a:t>LABEL</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1B1B"/>
                    </a:solidFill>
                  </a:tcPr>
                </a:tc>
                <a:tc>
                  <a:txBody>
                    <a:bodyPr/>
                    <a:lstStyle/>
                    <a:p>
                      <a:pPr indent="0" marL="0">
                        <a:buNone/>
                      </a:pPr>
                      <a:r>
                        <a:rPr lang="en-US" sz="700" b="1" dirty="0">
                          <a:solidFill>
                            <a:srgbClr val="FFFFFF"/>
                          </a:solidFill>
                          <a:latin typeface="Arial" pitchFamily="34" charset="0"/>
                          <a:ea typeface="Arial" pitchFamily="34" charset="-122"/>
                          <a:cs typeface="Arial" pitchFamily="34" charset="-120"/>
                        </a:rPr>
                        <a:t>ARROWS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1B1B"/>
                    </a:solidFill>
                  </a:tcPr>
                </a:tc>
                <a:tc>
                  <a:txBody>
                    <a:bodyPr/>
                    <a:lstStyle/>
                    <a:p>
                      <a:pPr indent="0" marL="0">
                        <a:buNone/>
                      </a:pPr>
                      <a:r>
                        <a:rPr lang="en-US" sz="700" b="1" dirty="0">
                          <a:solidFill>
                            <a:srgbClr val="FFFFFF"/>
                          </a:solidFill>
                          <a:latin typeface="Arial" pitchFamily="34" charset="0"/>
                          <a:ea typeface="Arial" pitchFamily="34" charset="-122"/>
                          <a:cs typeface="Arial" pitchFamily="34" charset="-120"/>
                        </a:rPr>
                        <a:t>COLOUR</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1B1B"/>
                    </a:solidFill>
                  </a:tcPr>
                </a:tc>
                <a:tc>
                  <a:txBody>
                    <a:bodyPr/>
                    <a:lstStyle/>
                    <a:p>
                      <a:pPr indent="0" marL="0">
                        <a:buNone/>
                      </a:pPr>
                      <a:r>
                        <a:rPr lang="en-US" sz="700" b="1" dirty="0">
                          <a:solidFill>
                            <a:srgbClr val="FFFFFF"/>
                          </a:solidFill>
                          <a:latin typeface="Arial" pitchFamily="34" charset="0"/>
                          <a:ea typeface="Arial" pitchFamily="34" charset="-122"/>
                          <a:cs typeface="Arial" pitchFamily="34" charset="-120"/>
                        </a:rPr>
                        <a:t>SOLID / VOID</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1B1B"/>
                    </a:solidFill>
                  </a:tcPr>
                </a:tc>
                <a:tc>
                  <a:txBody>
                    <a:bodyPr/>
                    <a:lstStyle/>
                    <a:p>
                      <a:pPr indent="0" marL="0">
                        <a:buNone/>
                      </a:pPr>
                      <a:r>
                        <a:rPr lang="en-US" sz="700" b="1" dirty="0">
                          <a:solidFill>
                            <a:srgbClr val="FFFFFF"/>
                          </a:solidFill>
                          <a:latin typeface="Arial" pitchFamily="34" charset="0"/>
                          <a:ea typeface="Arial" pitchFamily="34" charset="-122"/>
                          <a:cs typeface="Arial" pitchFamily="34" charset="-120"/>
                        </a:rPr>
                        <a:t>HIGHLIGHT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1B1B"/>
                    </a:solidFill>
                  </a:tcPr>
                </a:tc>
                <a:tc>
                  <a:txBody>
                    <a:bodyPr/>
                    <a:lstStyle/>
                    <a:p>
                      <a:pPr indent="0" marL="0">
                        <a:buNone/>
                      </a:pPr>
                      <a:r>
                        <a:rPr lang="en-US" sz="700" b="1" dirty="0">
                          <a:solidFill>
                            <a:srgbClr val="FFFFFF"/>
                          </a:solidFill>
                          <a:latin typeface="Arial" pitchFamily="34" charset="0"/>
                          <a:ea typeface="Arial" pitchFamily="34" charset="-122"/>
                          <a:cs typeface="Arial" pitchFamily="34" charset="-120"/>
                        </a:rPr>
                        <a:t>TEXT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1B1B"/>
                    </a:solidFill>
                  </a:tcPr>
                </a:tc>
              </a:tr>
              <a:tr h="502920">
                <a:tc>
                  <a:txBody>
                    <a:bodyPr/>
                    <a:lstStyle/>
                    <a:p>
                      <a:pPr indent="0" marL="0">
                        <a:buNone/>
                      </a:pPr>
                      <a:r>
                        <a:rPr lang="en-US" sz="700" b="1" dirty="0">
                          <a:solidFill>
                            <a:srgbClr val="1B1B1B"/>
                          </a:solidFill>
                          <a:latin typeface="Arial" pitchFamily="34" charset="0"/>
                          <a:ea typeface="Arial" pitchFamily="34" charset="-122"/>
                          <a:cs typeface="Arial" pitchFamily="34" charset="-120"/>
                        </a:rPr>
                        <a:t>Concept statement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Title + 2 lines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black; key phrase red</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“top of the landmark stays public”</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 40 words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indent="0" marL="0">
                        <a:buNone/>
                      </a:pPr>
                      <a:r>
                        <a:rPr lang="en-US" sz="700" b="1" dirty="0">
                          <a:solidFill>
                            <a:srgbClr val="1B1B1B"/>
                          </a:solidFill>
                          <a:latin typeface="Arial" pitchFamily="34" charset="0"/>
                          <a:ea typeface="Arial" pitchFamily="34" charset="-122"/>
                          <a:cs typeface="Arial" pitchFamily="34" charset="-120"/>
                        </a:rPr>
                        <a:t>Concept diagram</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Site oval, route spiral, 4 bars, spine, summit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edge · summit · bars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red route → summit; black spine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red route, grey/black bars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bars solid</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route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1 line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indent="0" marL="0">
                        <a:buNone/>
                      </a:pPr>
                      <a:r>
                        <a:rPr lang="en-US" sz="700" b="1" dirty="0">
                          <a:solidFill>
                            <a:srgbClr val="1B1B1B"/>
                          </a:solidFill>
                          <a:latin typeface="Arial" pitchFamily="34" charset="0"/>
                          <a:ea typeface="Arial" pitchFamily="34" charset="-122"/>
                          <a:cs typeface="Arial" pitchFamily="34" charset="-120"/>
                        </a:rPr>
                        <a:t>Site response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Oval, roads, contours, tree ring, bars ∥ contours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roads, jn., trees, edge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none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green contours + trees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bars solid black</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no-regrade note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1 line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indent="0" marL="0">
                        <a:buNone/>
                      </a:pPr>
                      <a:r>
                        <a:rPr lang="en-US" sz="700" b="1" dirty="0">
                          <a:solidFill>
                            <a:srgbClr val="1B1B1B"/>
                          </a:solidFill>
                          <a:latin typeface="Arial" pitchFamily="34" charset="0"/>
                          <a:ea typeface="Arial" pitchFamily="34" charset="-122"/>
                          <a:cs typeface="Arial" pitchFamily="34" charset="-120"/>
                        </a:rPr>
                        <a:t>Program / zoning</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5 height rows: edge → summit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every program box</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one upward arrow</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public→protected scale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boxes solid</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summit reopens (red)</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1 line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indent="0" marL="0">
                        <a:buNone/>
                      </a:pPr>
                      <a:r>
                        <a:rPr lang="en-US" sz="700" b="1" dirty="0">
                          <a:solidFill>
                            <a:srgbClr val="1B1B1B"/>
                          </a:solidFill>
                          <a:latin typeface="Arial" pitchFamily="34" charset="0"/>
                          <a:ea typeface="Arial" pitchFamily="34" charset="-122"/>
                          <a:cs typeface="Arial" pitchFamily="34" charset="-120"/>
                        </a:rPr>
                        <a:t>Circulation</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Plan with 4 lines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public · journalist · researcher · service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all end in arrowheads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red / black / dashed / grey dotted</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bars light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crossings of route + spine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legend only</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indent="0" marL="0">
                        <a:buNone/>
                      </a:pPr>
                      <a:r>
                        <a:rPr lang="en-US" sz="700" b="1" dirty="0">
                          <a:solidFill>
                            <a:srgbClr val="1B1B1B"/>
                          </a:solidFill>
                          <a:latin typeface="Arial" pitchFamily="34" charset="0"/>
                          <a:ea typeface="Arial" pitchFamily="34" charset="-122"/>
                          <a:cs typeface="Arial" pitchFamily="34" charset="-120"/>
                        </a:rPr>
                        <a:t>Form generation</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6–7 small squares in a row</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step name + driver</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black between steps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red only for the new move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new element solid</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the move of each step</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1 line each</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indent="0" marL="0">
                        <a:buNone/>
                      </a:pPr>
                      <a:r>
                        <a:rPr lang="en-US" sz="700" b="1" dirty="0">
                          <a:solidFill>
                            <a:srgbClr val="1B1B1B"/>
                          </a:solidFill>
                          <a:latin typeface="Arial" pitchFamily="34" charset="0"/>
                          <a:ea typeface="Arial" pitchFamily="34" charset="-122"/>
                          <a:cs typeface="Arial" pitchFamily="34" charset="-120"/>
                        </a:rPr>
                        <a:t>Massing</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Section silhouette, bars on piers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floors (1F/2F), summit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none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black mass, red roofs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bars solid, ground hatch</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roofs = landings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1 line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indent="0" marL="0">
                        <a:buNone/>
                      </a:pPr>
                      <a:r>
                        <a:rPr lang="en-US" sz="700" b="1" dirty="0">
                          <a:solidFill>
                            <a:srgbClr val="1B1B1B"/>
                          </a:solidFill>
                          <a:latin typeface="Arial" pitchFamily="34" charset="0"/>
                          <a:ea typeface="Arial" pitchFamily="34" charset="-122"/>
                          <a:cs typeface="Arial" pitchFamily="34" charset="-120"/>
                        </a:rPr>
                        <a:t>Section</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Long section road → summit → road</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all rooms, spine, route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red route; view arrow</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access colours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poché ground + archive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archive mass; open summit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1–2 lines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indent="0" marL="0">
                        <a:buNone/>
                      </a:pPr>
                      <a:r>
                        <a:rPr lang="en-US" sz="700" b="1" dirty="0">
                          <a:solidFill>
                            <a:srgbClr val="1B1B1B"/>
                          </a:solidFill>
                          <a:latin typeface="Arial" pitchFamily="34" charset="0"/>
                          <a:ea typeface="Arial" pitchFamily="34" charset="-122"/>
                          <a:cs typeface="Arial" pitchFamily="34" charset="-120"/>
                        </a:rPr>
                        <a:t>Spatial experience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8 small frames or numbered section</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8 stage names</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one continuous red line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red at arrival + summit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compression → release</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700" dirty="0">
                          <a:solidFill>
                            <a:srgbClr val="1B1B1B"/>
                          </a:solidFill>
                          <a:latin typeface="Arial" pitchFamily="34" charset="0"/>
                          <a:ea typeface="Arial" pitchFamily="34" charset="-122"/>
                          <a:cs typeface="Arial" pitchFamily="34" charset="-120"/>
                        </a:rPr>
                        <a:t>≤ 20 words each</a:t>
                      </a:r>
                      <a:endParaRPr lang="en-US" sz="700" dirty="0">
                        <a:latin typeface="Arial" charset="0"/>
                        <a:ea typeface="Arial" charset="0"/>
                        <a:cs typeface="Arial"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 Development: The Contemporary Publishing House</dc:title>
  <dc:subject>PptxGenJS Presentation</dc:subject>
  <dc:creator>PptxGenJS</dc:creator>
  <cp:lastModifiedBy>PptxGenJS</cp:lastModifiedBy>
  <cp:revision>1</cp:revision>
  <dcterms:created xsi:type="dcterms:W3CDTF">2026-09-22T18:48:03Z</dcterms:created>
  <dcterms:modified xsi:type="dcterms:W3CDTF">2026-09-22T18:48:03Z</dcterms:modified>
</cp:coreProperties>
</file>